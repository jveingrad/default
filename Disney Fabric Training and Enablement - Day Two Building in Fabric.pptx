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charts/chart2.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8b2b9b8-b694-b6c4-0cae-a95f6cf9b16e}">
          <p14:sldIdLst>
            <p14:sldId id="256"/>
            <p14:sldId id="257"/>
            <p14:sldId id="258"/>
            <p14:sldId id="259"/>
            <p14:sldId id="260"/>
          </p14:sldIdLst>
        </p14:section>
        <p14:section name="Part 3 · Data Engineering in Fabric" id="{676a7a4f-d94e-917b-f9fa-364532ca877c}">
          <p14:sldIdLst>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Lst>
        </p14:section>
        <p14:section name="Part 4 · User Experience &amp; Consumption" id="{52a78d7a-3995-bb35-caf1-96ac80a1a358}">
          <p14:sldIdLst>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Lst>
        </p14:section>
        <p14:section name="Wrap-up" id="{cd62b06e-9402-db3b-2d8d-479ad871aa31}">
          <p14:sldIdLst>
            <p14:sldId id="325"/>
            <p14:sldId id="326"/>
          </p14:sldIdLst>
        </p14:section>
        <p14:section name="Appendix" id="{25e26f2f-d7bc-0eae-0a93-696b10fea7a4}">
          <p14:sldIdLst>
            <p14:sldId id="327"/>
            <p14:sldId id="328"/>
            <p14:sldId id="329"/>
            <p14:sldId id="330"/>
            <p14:sldId id="331"/>
            <p14:sldId id="332"/>
            <p14:sldId id="333"/>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mn-lt"/>
              </a:defRPr>
            </a:pPr>
            <a:r>
              <a:rPr sz="1300" b="0" i="0" u="none" strike="noStrike">
                <a:solidFill>
                  <a:srgbClr val="0B1F3A"/>
                </a:solidFill>
                <a:latin typeface="+mn-lt"/>
              </a:rPr>
              <a:t>Alteryx tools inside each macro</a:t>
            </a:r>
          </a:p>
        </c:rich>
      </c:tx>
      <c:layout/>
      <c:overlay val="0"/>
    </c:title>
    <c:autoTitleDeleted val="0"/>
    <c:plotArea>
      <c:layout/>
      <c:barChart>
        <c:barDir val="bar"/>
        <c:grouping val="clustered"/>
        <c:varyColors val="0"/>
        <c:ser>
          <c:idx val="0"/>
          <c:order val="0"/>
          <c:tx>
            <c:strRef>
              <c:f>Sheet1!$B$1</c:f>
              <c:strCache>
                <c:ptCount val="1"/>
                <c:pt idx="0">
                  <c:v>Tools</c:v>
                </c:pt>
              </c:strCache>
            </c:strRef>
          </c:tx>
          <c:spPr>
            <a:solidFill>
              <a:srgbClr val="1E49E2"/>
            </a:solidFill>
            <a:effectLst/>
          </c:spPr>
          <c:invertIfNegative val="0"/>
          <c:dLbls>
            <c:numFmt formatCode="#,##0" sourceLinked="0"/>
            <c:txPr>
              <a:bodyPr/>
              <a:lstStyle/>
              <a:p>
                <a:pPr>
                  <a:defRPr b="0" i="0" strike="noStrike" sz="1200" u="none">
                    <a:solidFill>
                      <a:srgbClr val="0B1F3A"/>
                    </a:solidFill>
                    <a:latin typeface="+mn-lt"/>
                  </a:defRPr>
                </a:pPr>
              </a:p>
            </c:txPr>
            <c:showLegendKey val="0"/>
            <c:showVal val="1"/>
            <c:showCatName val="0"/>
            <c:showSerName val="0"/>
            <c:showPercent val="0"/>
            <c:showBubbleSize val="0"/>
            <c:showLeaderLines val="0"/>
          </c:dLbls>
          <c:dPt>
            <c:idx val="0"/>
            <c:invertIfNegative val="0"/>
            <c:bubble3D val="0"/>
            <c:spPr>
              <a:solidFill>
                <a:srgbClr val="1E49E2"/>
              </a:solidFill>
              <a:effectLst/>
            </c:spPr>
          </c:dPt>
          <c:dPt>
            <c:idx val="1"/>
            <c:invertIfNegative val="0"/>
            <c:bubble3D val="0"/>
            <c:spPr>
              <a:solidFill>
                <a:srgbClr val="1E49E2"/>
              </a:solidFill>
              <a:effectLst/>
            </c:spPr>
          </c:dPt>
          <c:dPt>
            <c:idx val="2"/>
            <c:invertIfNegative val="0"/>
            <c:bubble3D val="0"/>
            <c:spPr>
              <a:solidFill>
                <a:srgbClr val="F2A900"/>
              </a:solidFill>
              <a:effectLst/>
            </c:spPr>
          </c:dPt>
          <c:dPt>
            <c:idx val="3"/>
            <c:invertIfNegative val="0"/>
            <c:bubble3D val="0"/>
            <c:spPr>
              <a:solidFill>
                <a:srgbClr val="1E49E2"/>
              </a:solidFill>
              <a:effectLst/>
            </c:spPr>
          </c:dPt>
          <c:dPt>
            <c:idx val="4"/>
            <c:invertIfNegative val="0"/>
            <c:bubble3D val="0"/>
            <c:spPr>
              <a:solidFill>
                <a:srgbClr val="1E49E2"/>
              </a:solidFill>
              <a:effectLst/>
            </c:spPr>
          </c:dPt>
          <c:cat>
            <c:multiLvlStrRef>
              <c:f>Sheet1!$A$2:$A$6</c:f>
              <c:multiLvlStrCache>
                <c:ptCount val="5"/>
                <c:lvl>
                  <c:pt idx="0">
                    <c:v>Data Hub push</c:v>
                  </c:pt>
                  <c:pt idx="1">
                    <c:v>Get collection data</c:v>
                  </c:pt>
                  <c:pt idx="2">
                    <c:v>EDP macro</c:v>
                  </c:pt>
                  <c:pt idx="3">
                    <c:v>Confirm published</c:v>
                  </c:pt>
                  <c:pt idx="4">
                    <c:v>Confirm job status</c:v>
                  </c:pt>
                </c:lvl>
              </c:multiLvlStrCache>
            </c:multiLvlStrRef>
          </c:cat>
          <c:val>
            <c:numRef>
              <c:f>Sheet1!$B$2:$B$6</c:f>
              <c:numCache>
                <c:formatCode>General</c:formatCode>
                <c:ptCount val="5"/>
                <c:pt idx="0">
                  <c:v>124</c:v>
                </c:pt>
                <c:pt idx="1">
                  <c:v>46</c:v>
                </c:pt>
                <c:pt idx="2">
                  <c:v>35</c:v>
                </c:pt>
                <c:pt idx="3">
                  <c:v>17</c:v>
                </c:pt>
                <c:pt idx="4">
                  <c:v>14</c:v>
                </c:pt>
              </c:numCache>
            </c:numRef>
          </c:val>
        </c:ser>
        <c:dLbls>
          <c:numFmt formatCode="#,##0" sourceLinked="0"/>
          <c:txPr>
            <a:bodyPr/>
            <a:lstStyle/>
            <a:p>
              <a:pPr>
                <a:defRPr b="0" i="0" strike="noStrike" sz="1200" u="none">
                  <a:solidFill>
                    <a:srgbClr val="0B1F3A"/>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B1F3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Apportioned</c:v>
                </c:pt>
              </c:strCache>
            </c:strRef>
          </c:tx>
          <c:spPr>
            <a:solidFill>
              <a:srgbClr val="1E49E2"/>
            </a:solidFill>
            <a:effectLst/>
          </c:spPr>
          <c:invertIfNegative val="0"/>
          <c:dLbls>
            <c:numFmt formatCode="#,##0.00"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dPt>
            <c:idx val="0"/>
            <c:invertIfNegative val="0"/>
            <c:bubble3D val="0"/>
            <c:spPr>
              <a:solidFill>
                <a:srgbClr val="1E49E2"/>
              </a:solidFill>
              <a:effectLst/>
            </c:spPr>
          </c:dPt>
          <c:dPt>
            <c:idx val="1"/>
            <c:invertIfNegative val="0"/>
            <c:bubble3D val="0"/>
            <c:spPr>
              <a:solidFill>
                <a:srgbClr val="1E49E2"/>
              </a:solidFill>
              <a:effectLst/>
            </c:spPr>
          </c:dPt>
          <c:dPt>
            <c:idx val="2"/>
            <c:invertIfNegative val="0"/>
            <c:bubble3D val="0"/>
            <c:spPr>
              <a:solidFill>
                <a:srgbClr val="00A3A1"/>
              </a:solidFill>
              <a:effectLst/>
            </c:spPr>
          </c:dPt>
          <c:dPt>
            <c:idx val="3"/>
            <c:invertIfNegative val="0"/>
            <c:bubble3D val="0"/>
            <c:spPr>
              <a:solidFill>
                <a:srgbClr val="00A3A1"/>
              </a:solidFill>
              <a:effectLst/>
            </c:spPr>
          </c:dPt>
          <c:cat>
            <c:multiLvlStrRef>
              <c:f>Sheet1!$A$2:$A$5</c:f>
              <c:multiLvlStrCache>
                <c:ptCount val="4"/>
                <c:lvl>
                  <c:pt idx="0">
                    <c:v>Entity A · CA</c:v>
                  </c:pt>
                  <c:pt idx="1">
                    <c:v>Entity A · NY</c:v>
                  </c:pt>
                  <c:pt idx="2">
                    <c:v>Entity B · CA</c:v>
                  </c:pt>
                  <c:pt idx="3">
                    <c:v>Entity B · TX</c:v>
                  </c:pt>
                </c:lvl>
              </c:multiLvlStrCache>
            </c:multiLvlStrRef>
          </c:cat>
          <c:val>
            <c:numRef>
              <c:f>Sheet1!$B$2:$B$5</c:f>
              <c:numCache>
                <c:formatCode>General</c:formatCode>
                <c:ptCount val="4"/>
                <c:pt idx="0">
                  <c:v>6666.67</c:v>
                </c:pt>
                <c:pt idx="1">
                  <c:v>3333.33</c:v>
                </c:pt>
                <c:pt idx="2">
                  <c:v>4000</c:v>
                </c:pt>
                <c:pt idx="3">
                  <c:v>16000</c:v>
                </c:pt>
              </c:numCache>
            </c:numRef>
          </c:val>
        </c:ser>
        <c:dLbls>
          <c:numFmt formatCode="#,##0.00" sourceLinked="0"/>
          <c:txPr>
            <a:bodyPr/>
            <a:lstStyle/>
            <a:p>
              <a:pPr>
                <a:defRPr b="0" i="0" strike="noStrike" sz="1100" u="none">
                  <a:solidFill>
                    <a:srgbClr val="0B1F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B1F3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room back. Yesterday was vocabulary. Today is the build: two parts and two guided labs. Part 3 is how a workflow gets built in Fabric, ending with a lab where you migrate a prepared workflow. Part 4 is how the business reaches what you built, ending with a lab where you give that workflow a front door: inputs, a trigger and an output. Tell the room that today's examples come from the real DST proof of concept that is already running in Disney's Fabric environment, so some slides show actual notebooks and pipelines. Ask for a quick show of hands: who ran Exercise 2 or 3 again last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columns. Part 3 covers notebooks as the primary build pattern, how common Alteryx steps translate into notebook logic, and Lab A, a guided migration of a prepared workflow. Part 4 covers portal-driven execution, where users enter inputs and notebooks run in the background, reporting with Power BI and Power Query, and Lab B, which gives the lab workflow inputs, a trigger and an output. Point out that Lab B builds directly on Lab A: the notebook you finish before lunch becomes the thing you put a front door on after. This mirrors the agreed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two-minute bridge. Each row pairs something from yesterday with what we do with it today. Lakehouse Files and Tables become the places a notebook reads and writes. SQL and PySpark become the way we translate Alteryx logic. Medallion layers become the structure of the notebook. Gates between layers become code that fails the run instead of publishing a wrong number. Workspaces and items become pipelines and reports that other people use. If anyone missed yesterday, reassure them: each module today restates what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outcomes. Each maps to a module, and the two labs are where you prove the outcomes to yourself. Outcome three, migrate and prove it, is the one that matters most to the business: it is not enough to rebuild a workflow, you have to show it gives the same answer. Outcome six is easy to overlook and is what keeps people out of trouble in production: reading run history and being able to repeat a run without making a mess.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labs, and the second builds on the first. Lab A is a guided migration of a prepared workflow: you rebuild it in bronze, silver and gold from a kit of five files, prove it matches the answer key, and leave with a notebook. Lab B puts a front door on that notebook. The kit is invented data shaped like the DST workflow, so nobody is blocked by a one-off workflow issue. Bring-your-own-workflow migration is handled in a separate Disney working session, and platform security and governance sit with Enterprise Technology. Facilitator prep: load the five lab files into Files/raw/dst using the script in the appendix, and confirm everyone can sign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has three working sessions: notebook development, Alteryx to notebooks, and Lab A, the guided migration. Suggested pacing is roughly half of the day, with the code-review exercise after the notebook module and Lab A as the long hands-on block. Adjust to the agreed day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Alteryx one canvas does everything. In Fabric the work is split across three items, and picking the right one is the first design decision. A notebook holds the transformation logic: joins, windows, business rules, anything that needs code. A pipeline holds the order of things: what runs first, with which parameters, on what schedule, with what retries. A Dataflow Gen2 is Power Query in the cloud, best for loading and shaping small reference tables with a low-code tool. The strip at the bottom is real: the DST proof of concept pipeline logs a start, refreshes a dataflow of reference data, then runs the notebook. The activity names are the actual ones from the exported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complex-transforms notebook from the DST proof of concept, shown as its six code cells. It has nine cells in total; the other three are markdown headings. Walk top to bottom. Parameters set by the pipeline. Imports and a Spark session. Seven bronze tables read from OneLake. Aggregations whose comments carry the original Alteryx tool IDs. Percentages and apportioned amounts. A write to a silver table. It follows the same shape as Day One's notebooks: parameters, read, transform, write. The honest observation on the right is that there is no gate before the write yet; we come back to that in the hardening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contract between a pipeline and a notebook. In the notebook, one cell declares the inputs with safe defaults and is marked as the parameter cell, using the cell menu option to toggle the parameter cell. When the pipeline runs the notebook, its base parameters replace those defaults. The right-hand panel is the real notebook activity from the DST pipeline: fiscal year and fiscal period are passed using pipeline expressions. The gap is worth pointing out because it is subtle: the notebook declares run_id, but the pipeline never passes it, so in the captured output the run ID prints blank. The fix is one line: pass the pipeline's own run ID expression.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that cost people an afternoon. On the left, inferSchema: when you let Spark guess types from a CSV, it reads 2025-01 as a date and turns it into a timestamp, which then compares and sorts in surprising ways. We hit exactly this while building the lab. The fix is to declare the schema yourself, one line. On the right, Delta column names: by default they cannot contain spaces or punctuation like parentheses. The POC notebook handles this with a small safe_col function that replaces the offending characters with underscores before it writes the silver table. The table shows the real before and after. A better habit is to choose lower snake case names at the silver boundary and stick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point a notebook at data. A table name, which resolves against the lakehouse attached to the notebook. A relative Files path, which does the same for files. Or a full OneLake path that spells out the workspace and lakehouse IDs. The POC notebook uses the third, with the IDs written into the code; we have masked them on the slide. That works in one workspace, but those IDs belong to one workspace and one lakehouse, so the notebook will keep pointing at the original when it is promoted to TEST or PROD. The first two follow the notebook as long as the lakehouse attachment is set for each environment, which Day Three covers. Use a full path only to reach another workspace, and pass the IDs in as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notebook keeps the original Alteryx tool IDs, which makes every step traceable to the workflow it came from. We checked them against the Alteryx file: tool 39 is the Dynamic Input that runs the Snowflake query; tools 66, 251, 254, 296, 290 and 312 are Text Inputs; 221, 220 and 169 are Summarize tools; 239 and 246 are Formula tools. The bronze tables take their names from those input tools, which is traceable but hard to read: bronze underscore source underscore 66 tells a newcomer nothing. A good compromise is to keep the tool ID in a comment and give the table a name a person can read, in the style we saw yesterday.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Delta gives you three ways to write, and the choice decides whether a rerun is safe. Overwrite replaces the whole table; fine for a table that is rebuilt completely every time, which is what the POC does with silver_transformed. Append adds rows, so running it twice doubles the data. Replace-where replaces only the rows that match a condition: here, one period and one basis. Running the lab for January, then February, then January again leaves exactly one copy of each. The table on the right is the real table history from our lab runs: each write is a version, with the slice it replaced. That history is your audit trail, and Part 4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we said a failed gate should stop the run. This is what that looks like in code, from Lab A. The gate adds up the apportioned amounts per entity and compares them with the revenue. It then writes a row to a run log, with status passed or failed, before it decides. That order matters: a failed run still leaves a record. Then the assert stops the notebook if anything is out of tolerance, so the next cell, which writes gold, never runs. In a pipeline, a failed notebook means a failed run that people can see. The trial balance workflow already works this way. Note the five-cent tolerance: apportioned amounts are rounded to cents, so a tiny difference is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pipeline canvases from the DST proof of concept, exported from Fabric. There are two versions. The simple one sets a status variable, then runs the notebook. The second adds a Dataflow activity between them, which refreshes the reference data before the transforms run. Each arrow is a dependency that means run only if the previous step succeeded. The facts on the right come from the pipeline definition: the first activity sets a variable called pipeline_status to started; the dataflow activity refreshes the reference tables; and the notebook activity passes the fiscal year and period. Retry is zero on each activity, with a thirty-second wait, which we return to in the hardening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declares seven parameters with defaults, but only two of them, fiscal year and fiscal period, are passed to the notebook. The other five, reporting unit, entity, source system, run mode and load mode, are declared and never used. That is normal in a first draft: they look like placeholders for the front door we build in Part 4. The lesson is about parameter hygiene. Declare only what you use. If you declare it, wire it through. And since pipeline parameters arrive as typed values, validate them again in the notebook, because the notebook can also be run by hand. Part 4 returns to this table when we design the inputs for a front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carefully: a proof of concept proves the logic, and these eight items are normal distance between a POC and production, not criticisms. Every one is visible in the files we have been reading. Retries are zero. Nothing runs if the notebook fails. The run ID is not passed. The notebook auto-detects its source table instead of naming it. The workspace and lakehouse IDs are in the code. In the drafted macros, a client secret travels as a function parameter, and the first characters of a token are written to the step log. And there is no tie-out check before the write. Ask the room which two they would fix first. The exercise next uses some of these as review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Hands-on, about 20 minutes, in pairs. The three excerpts are trimmed from the real notebook. Give pairs the four questions and ask them to write down an answer for each, then compare. Question one is about the auto-detect loop: it has no break, so if two tables match, the last one silently wins. Question two compares the denominator with the Alteryx rule: the notebook excludes rows where impressions is null, which is not the same as the Alteryx N/A rule based on region. Question three is the minus sign. Question four invites them to design a gate. Answers are on the next slide. Keep the tone constructive: this is a proof of concept, and reviewing code like this is exactly the skill we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answers. One: the loop never breaks, so the last matching table wins and nothing tells you which one it was; the notebook does print the name it found, which helps, but pinning the source by name is safer. Two: the denominator keeps every row where impressions is not null. The Alteryx rule flags N/A by region: null, N/A or NO REGION, with a publisher-specific variation for the Snowflake data. So the two are not the same rule, and the without-NA denominator in the notebook would still include N/A-region rows. That is exactly the kind of difference a side-by-side comparison catches, which is why Lab A has a compare step. Three: SAP revenue arrives as negative credits, and the Alteryx formula negates the result; the notebook keeps that behaviour. Four: a gate that ties the apportioned total back to the revenue, a row-count check, and a report of unmapped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DST workflow depends on five macros, and the macros notebook is the first draft of their Fabric equivalents. The chart counts the Alteryx tools inside each macro: 124 in the Data Hub push, 46 in the collection reader, 35 in the EDP macro, and 17 and 14 in the two iterative macros that poll for completion. That is 236 tools collapsing into five functions. Statuses are honest: four are drafted, and the EDP macro is still a stub that returns its input with a TODO comment. No run outputs are saved in the notebook, so treat the drafted ones as untested. That matters because the EDP macro is the SAP query, so it is on the critical path. Point out that macros are where the effort hides: the main workflow is 99 logic tools, and the macros add more than double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five macros are iterative: they call an API, check whether a job or a publish has finished, and loop until it has. In Alteryx that takes 14 or 17 tools. In Python it is a for loop with three exits: complete, failed, or timeout. The code is a condensed version of the POC's polling function, with the API call replaced by a function you pass in, which makes it testable. The three rows at the bottom are real test runs with simulated statuses: a job that completes on the third check, a job that fails on the second, and a job that never finishes, which gives up after three attempts. Always give a loop a maximum number of attempts; a loop without an exit is a pipeline that hangs.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macros talk to the Data Hub API, so this is the pattern behind them. Get a token, call the API with that token in the header, check the status code so a failure stops the run rather than being ignored, and page through the results until you have them all. The code is the pagination loop from the Get Collection Data macro, condensed so the API call is a function you pass in. We tested it against simulated pages: it reads 1,203 records in pages of 500 and handles an empty collection. A practical caution: the requests library runs on the driver, one call at a time. That is fine for thousands of records and wrong for millions, where the work belongs in Spark or a pipeline copy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macro, at 124 tools, pushes the results to the Data Hub in thirteen steps. In the draft they are all in one Python function. Two steps are loops that wait for the platform: step 7 polls the processing job and step 13 confirms the publish. Steps 9 and 10 are the ones to look at carefully: the function unpublishes the collection and deletes the old recordsets before it creates the new one in step 11. If step 11 fails, there is no rollback, and the collection is left unpublished and empty. The three options at the bottom are a genuine discussion, not a recommendation. Keep it as a function. Move the calls into the pipeline as web activities. Or retire it: if a Power BI model reads the gold table directly, which is where Part 4 goes, the dashboard no longer needs a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habit when a notebook talks to another system. In the drafted macro the client ID and client secret are plain function parameters, so they have to come from somewhere: a notebook variable, a pipeline parameter, or worse, a cell. And the step log records the first twelve characters of the access token. None of that is malicious; it is what a first draft looks like. The fix is to fetch the secret from a vault at run time. Fabric notebooks have a credentials helper for exactly this: you give it the vault address and the secret name. The rules on the right are worth writing on a whiteboard. Which vault is approved, and who creates the secrets, is a question for Enterprise Technology; Day Three covers the production consent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tools that people expect to be hard and are not. Multi-Row Formula looks at the row above or below: in Spark that is a window function with lag or lead, and a running total is a sum over the same window. The result shows each entity's prior period, the change, and a running total. Cross Tab turns rows into columns: that is a pivot, listing the values you want as columns. Transpose goes the other way, columns back into rows, which Spark calls unpivot. The POC notebook has headings for window functions and pivots, but the code under them does aggregations; this is the real translation. All three were run on a small dataset of totals by entity and period, and the pivot and unpivot round-trip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we covered the six tools that make up four fifths of the logic. These seven are the next group: Text Input, Dynamic Input, Append Fields, Unique, Text to Columns and RegEx, DateTime and Generate Rows. Each has a one-line notebook form. Two are worth a comment. Dynamic Input, which in the DST workflow builds the Snowflake query from the year, becomes an f-string with a parameter. DateTime is the fiscal shift again: add months, with minus three, as in Day One's function. The cheat sheet in the appendix has all of these together. Together with Day One's six tools, this covers the great majority of the tools we counted in the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 hands-on block of the day, about 90 minutes. Everyone builds the same small notebook, in pairs, on the same invented data: two entities, two months and a handful of ad units. The shape is the DST workflow in miniature: read raw files, map ad units to entities, flag the N/A region rows, work out each state's share of its entity, and apportion the revenue. We do it in six steps, each one a cell or two. After every step there is a 'You should see' box, so a pair always knows whether they are on track. The last step compares your result with an answer key, so you finish with a number you can trust and not just a notebook that ran. Suggested pacing: ten minutes for the kit and parameters, twenty-five for bronze and silver, thirty for gold and the gate, fifteen for the write and the comparison, and ten for the debrief. If a pair finishes early, the stretch goals are on the next-to-last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code, agree on the business rules. Each ad unit belongs to one entity, through a mapping table. Some impression rows have no usable region: the region is blank, or it says N/A, or it says NO REGION. Those rows are flagged. The share of each state is its impressions divided by the entity's total impressions, and there are two ways to count the total: with the N/A rows, or without them. That is the denominator parameter. Each state then gets its share of the entity's revenue for the period. Finally, the total apportioned for an entity must equal that entity's revenue, which is the tie-out. The right-hand column shows which lab step does each job. This is a small version of the real logic, with two entities and invented numbers. The real workflow has many more ad units and a Snowflake source, but the shape is the same. One ad unit, mystery_unit, is deliberately missing from the mapping: we want to see it reported, not silently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facilitator loads these five files into the lakehouse before the session, under Files, raw, dst. Walk the table. The two impressions files are the same shape for January and February. The mapping file has only two ad units, so mystery_unit in the impressions is unmapped on purpose. The revenue file has four rows: one per entity per month. The answer key is the odd one out: it is not an Alteryx export. It was calculated independently from the rules on the previous slide, for both denominators and both months, so you can compare your notebook against it. If your team has a real Alteryx output for the same inputs, swap it in. The appendix has a short script that writes all five files, which makes a good facilitator setup step. Ask each pair to open the Files folder and confirm all five are there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is the first cell of the notebook, and it is the one the pipeline will talk to this afternoon. Three values: the period, the denominator, and a run ID. They have safe defaults, and in Part 4 the pipeline overrides them. Below the defaults are two assert lines. They check the shape of the period, four digits, a dash and two digits, and that the denominator is one of the two allowed values. This is validation at the door: if the value is wrong, the run stops before any data moves, with a message that says which value was bad. Ask each pair to create the notebook, attach the lakehouse, paste the cell and mark it as the parameter cell from the cell menu. Then try a bad period on purpose and see the error. It is the quickest way to feel why we validate. Restore the value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Bronze is a faithful copy of the raw files, plus three audit columns: which file each row came from, which run loaded it, and when. One small function does all three loads, so there is one place to fix and one pattern to read. Notice the explicit schema in each call. That is yesterday's lesson and this morning's gotcha: if we let Spark guess, the text 2025-01 can be read as a date. The period stays text, and the impressions stay whole numbers. The first load uses a wildcard, so both months of impressions arrive in one table. It is overwrite, because bronze is reloaded in full each run; the next steps filter to one period. Ask pairs to run it and check the three tables in the lakehouse explorer. The row counts are the quickest check: fourteen, four and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Silver is where the rules start. We read one period out of bronze, join it to the mapping table, and flag the rows with no usable region. The join is a left join on purpose: a row with no match is kept, and its entity becomes the word Unmapped, so nothing disappears quietly. The N/A flag follows the rule on the earlier slide: a blank region, N/A or NO REGION. The state column turns those into the single label N/A, so the next step can group on it. Two writes follow. The first is the clean silver table. The second is a separate table that holds only the unmapped rows, so somebody can look at them and fix the mapping. Both use replaceWhere on the period: only that month is rewritten, so re-running January never touches February. Ask pairs to look at the unmapped table. It should hold exactly one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is the answer. We start from silver, drop the unmapped rows because there is no entity to apportion them to, and, if the denominator is without_na, drop the N/A rows as well. We sum the impressions by entity and state, then divide by the entity's total using a window: each state's share is its impressions over the sum for its entity. Join the revenue for the period, and the apportioned amount is revenue times share, rounded to cents. Two more columns record which denominator was used and which run produced the row. Nothing is written yet: gold is a DataFrame in memory, and the next step checks it before step six writes it. Ask the pairs to display gold and compare it to the numbers on the right. Then change the denominator to with_na, re-run the parameter cell and cells four, and see how the N/A rows appear and the other shares shrink.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gate has two halves. This is the first: measure. We add up the apportioned amounts per entity, join them to the revenue, and compute the difference. The tolerance is five cents, because the amounts are rounded to the cent, so a tiny difference is normal and a big one is a real problem. We count how many entities are out of tolerance, and we count the unmapped rows from the silver table so the run log can report them. The last two lines pick up the grand totals for the log. Nothing here changes any table. Ask pairs to run it and read the check table: both entities should show zero difference. Spend a minute on the unmapped count. The gate does not fail on unmapped rows, it reports them. That is a policy decision, and the stretch goals ask you to turn it into a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the gate writes a row to the run log and then decides. The order is the point. The log row, with status passed or failed, the totals and the unmapped count, is appended first, so even a failed run leaves a trace. Only then does the assert stop the notebook if anything was out of tolerance. In a pipeline a failed notebook is a failed run that someone can see, and gold is untouched. Now break it on purpose. The one-line cell at the bottom scales the revenue by one percent after gold was built, which makes gold disagree with revenue. Run it, then re-run the gate: it fails with the message on the right, and the run log shows a failed row. Remove the line afterwards and the gate passes again. Make sure every pair does this. A gate you have never seen fail is a gate you do not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now does anything reach the gold table. The write replaces just the slice for this period and this denominator: January without N/A does not touch January with N/A, or February. The tiles show the idea: the gold table holds one slice for each period and denominator, and the write swaps exactly one of them. Run it twice and nothing doubles. Ask pairs to run the write, run it again, and count the rows: the number does not change. If gold_dst_apportioned does not exist yet, the first write creates it. That is the idempotent write we talked about in the morning, and it is what makes a re-run safe in a pipeline. Note the gate sits before this cell: if the gate stopped the notebook, this cell never ran, and the table still holds the last good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cell is the comparison with the answer key. It reads the key with an explicit schema, filters it to the same period and denominator, and does a full outer join on period, basis, entity and state. A full outer join is the right choice because it shows rows on either side that the other is missing, not only the differences in amounts. Both amounts are filled with zero if missing, so a missing row shows up as a difference. The last line prints the largest absolute difference: it should be 0.0. Then change the parameters and run the whole notebook again for February and for with_na, and check each time. Four combinations, four zeros. If a pair gets a non-zero difference, look at the state column first: it is usually the N/A rule or the denominator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every pair should reach. Read across a row to see how the denominator changes things. Without N/A, the N/A rows are left out of the denominator, so the states split the whole revenue between them. With N/A, those rows take a share of their own, and every other state gets less. In both cases each entity's rows add up to its revenue: ten thousand for Entity A in January, twenty thousand for Entity B, and so on. That is what the gate checks. The strip at the bottom is what the run log should hold after the four runs: one row per run, all passed, with one unmapped row each time. These numbers were produced by running exactly this code, and matched against an independent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On the left, stretch goals for pairs who finish early. The first one is the most instructive: set the period to a month with no data, say 2025-03, and run the notebook. It stops, but with a confusing TypeError from inside the gate, because there are no totals to log. That is a stop, so nothing wrong is written, but the message does not say why. The fix is a small check before the gate that says there is no data for the period. The other goals are a row-count check between bronze and silver, a threshold for unmapped rows as a parameter, and writing the failure to the run log even when the check comes before the gate. On the right, the four problems we expect. The most common is the lakehouse not being attached, which makes the relative path to Files fail. Most of the others are a cell run out of order, and the fix is almost always to restart the session and run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room back together. On the left is the Delta history of the gold table after four runs. Each write is its own version, with the operation and the slice it replaced. You can see exactly which run changed what, and, if you ever need to, query the table as it was at an earlier version. Alteryx outputs a file and moves on; this keeps the receipts. Use the four questions on the right to discuss. The first is about where the checks live. In Alteryx the tie-out is something people do by eye in a spreadsheet; here it is code that stops the run. The second is about the run log: who would read it, and what would they want to see? The third asks what is still missing before this could be promoted. Expect answers like secrets, a pipeline, tests, the real source system and a reviewer. That list is the bridge to Part 4, where we give this notebook a front door, and to tomorrow, where we ship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turns the notebook from Part 3 into something other people can use. It has three working sessions. First, portal-driven execution: how a person asks for a run, how it starts, and how they find out what happened. Second, reporting and Power BI: how the gold table becomes a model and a report, and how that compares with the Excel workbook the team uses today. Third, Lab B, where each pair gives the Lab A notebook a front door: inputs, a trigger and somewhere the output lands. The through-line is the same business problem as this morning: the people who need the numbers should be able to run the workflow and read the result without asking the team that built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a person sees today when they run the DST workflow from the Alteryx Server gallery. The sketch is drawn from the workflow documentation: a Run Workflow page with a single question, the full UNC path to a shared drive folder, which should match the format of the default value, and a Run button. It is simple, and it works, which is why people use it. But look at what the one answer has to carry. The period is hidden in a folder name, for example 2025, and the main file inside has to end with an underscore DST underscore year. The documentation also says the workflow runs the full year using whatever data is available at run time, so there is no way to ask for a single period. None of this is a criticism of the workflow; it is what a single text box can express. On the right is what a Fabric front door can add: constrained inputs, validation before anything runs, and a status the person can see. We spend the rest of this part building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people say a front door they usually picture the button. A usable front door has five parts. Inputs: how the person says what they want, with choices they cannot get wrong. Trigger: what actually starts the run, and there is more than one way. Status: how the person finds out whether it worked, without asking an engineer. Output: where the result lands, ready to read. Guardrails: what keeps a friendly button from doing something unfriendly, such as running twice or running with a bad value. The pills at the bottom of each card say where we cover it today. Lab B builds the first four with the tools in Fabric and leaves the approvals side of guardrails to Day Three. The takeaway is the point of the module: the button is the easy part. The other four are what make the workflow usable by someone who did not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exported from the proof of concept declares seven parameters: fiscal year, fiscal period, reporting unit, entity, source system, run mode and load mode. Look at the right-hand column. Only the first two are passed to the notebook; the other five are declared but nothing reads them. On a form, that is five questions that change nothing, and a user who changes them will think they changed something. So the rule on the right is first: ask only for what the run uses. Second, constrain the answer: a list of periods is better than a text box, and the denominator has exactly two valid values. Third, validate on both sides: the form checks what it can, and the notebook still asserts, as in step one of Lab A, because notebooks are also run by hand. Lab B follows the rule: two parameters, both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pipeline, four doors. The Run dialog is a person in Fabric choosing Run and filling in the parameters: it needs no build at all and it is how we start the lab. A schedule is the clock: right for a monthly refresh when the timing is known. An event is something upstream happening, like a file landing or a table changing: right when a run should follow a delivery rather than a date. Fabric supports event-driven starts through its eventing features; check the current availability in your tenant before promising it. An API call is another system or a form calling the pipeline with the parameters in the body, which is how a portal for people who are not in Fabric works; the next slide shows the call. The takeaway matters for design: the pipeline and its parameters are the same in every case, so build the pipeline once and add doors to it 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call behind a portal. Fabric exposes a REST endpoint to run an item on demand, and for a pipeline the job type is Pipeline. You post to the workspace and the pipeline's ID, and the parameters go in the body under execution data. If the request is accepted Fabric answers 202, which means queued, not finished, and it returns a Location header: that is the address you poll to find out the status. The code on the left is illustrative. It shows the shape of the call and is not something we run in the lab, because it needs a token for a user or a service principal, and that is an approval and an identity question, which Day Three covers. In practice a Power Automate flow or a small web app makes this call for you. The point to take away is that the form and the pipeline are separate things joined by one well-defined call, so either can change without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pipeline is the back end, the front end is a choice, and it can change later. The first option is Fabric's own Run dialog. There is nothing to build, but users need access to the workspace and they see Fabric, not an app. It is right for the analysts on the team that built the workflow. The second is Power Apps with Power Automate. A form collects the inputs and a flow calls the pipeline. Disney already has a precedent: the Notice Tracker from the AI for Tax work uses a Power Automate flow, a Dataverse table and a Power Apps dashboard for human review. It is the right choice when business users should have a button but should not need to see Fabric. The third is a small web app. It gives the most control over the look and the logic, and it also means the most to host, secure and support. Our recommendation is to start with the Run dialog and add a form when someone outside the team needs a 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button with no feedback is a button people press twice. The run log from Lab A is what a front end can show. Each run writes one row: the run ID, the period, the denominator, the status, the apportioned and revenue totals, the number of unmapped rows and when it finished. The mock-up on the left is what a status card could show from that one row. On the right are the three questions the card answers: what did I ask for, did it work, and can I trust it. The trust question is answered by the tie-out totals and the unmapped count, which is information the Alteryx run never put in front of the user. One practical gap to name: the lab's log does not record who asked for the run. When a form starts the run, pass the requester as a parameter and add a column. The engineers' view is separate: the monitoring hub shows every activity, its duration and any error. Users see the receipt, engineers see the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guardrails, each tied to something you have already built or will. One, safe to press twice: the slice write from Lab A replaces its own slice, so a second press gives the same table, not a doubled one. Two, one at a time per slice: if two people start a run for the same period and denominator at the same moment, the writes can collide. Delta will stop one of them with a conflict rather than corrupt the table, but a good front door checks for a run in progress first and says so. Three, leave a trail: the run log already holds the run ID and parameters; capture who asked as well. Four, the right people only: workspace roles decide who can run and who can read, and the form should use an identity with the least access that works. Five, bad input stops early: choices on the form, and the assert in the notebook. If a guardrail depends on an approval, such as the service identity, it is on the approvals track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notebook you run yourself needs no approval. A front door that other people use, calling Fabric under an identity, sending email or touching production data, is an application, and it goes through the same approvals as any other. We cover this properly on Day Three. The point for today is timing. The BAPPID, which is the ServiceNow configuration record with a named technical owner, and the ESIS request both start in week one. ESIS is five sequential reviews, from service management through engineering, security and legal to operations, and it takes four to eight weeks, so it is the long pole. TEST admin consent gates user acceptance testing: nothing can be tested without it. Production admin consent and email relay onboarding are needed before go-live, not after. If your front door sends an email, the relay is on your critical path. Design the front door with these dates in mind and the surprise goes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ten-minute facilitator demo before Lab B, so everyone has seen the whole loop once. Run it with the finished Lab A notebook wrapped in a pipeline. One: open the pipeline and choose Run; a dialog asks for period and denominator, with their defaults. Two: submit it, open the monitoring hub and find the run; point at the notebook activity and its duration. Three: open the notebook run snapshot from the activity and show that the gate printed its message. Four: query the run log table and find the new row. Five: open the report or the Excel view and refresh, then show the numbers match the expected results slide. If time allows, run it once with a bad period to show the failed run and its log row. Narrate what the user sees at each step, and what the engineer sees. That contrast is the reason the run log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from the notebook to a person reading a number. The gold table is the data: a Delta table in the lakehouse, written by the notebook after the gate passed. The semantic model sits on top of it and holds the meaning: relationships, measures such as apportioned amount, formats, and who can see what. The report and Excel are the look: visuals for readers, pivot tables for analysts. Both read the model, not the table. The reason to care is on the three cards at the bottom. If the logic lives in the model, every report agrees, and when a rule changes you change it in one place. If every report calculates its own share, you get as many answers as there are reports. In Alteryx terms, the model is where the last formula tools used to live, but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semantic model has to decide where its data lives. Import copies the data into the model: it is the fastest to query, but the numbers are only as fresh as the last refresh, and the copy has size limits. DirectQuery leaves the data in the source and asks it a question every time a visual loads: it is always current, but slower, it puts load on the source, and some modelling features are limited. Direct Lake is the Fabric option. The model reads the Delta files in OneLake in place, so there is no copy and no scheduled import, and the speed is close to Import. After a pipeline run writes new data, the model picks up the latest table version. There are guardrails and some situations where a Direct Lake model falls back to DirectQuery, so check the current documentation for your capacity before committing to very large tables. For gold tables in a Fabric lakehouse, Direct Lake is the sensible default. Import still makes sense for small, static or non-Fabric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lab model looks like in the field list. The gold table has eight columns. Four are what a reader slices by: period, basis, entity and state. Four are plumbing or raw numbers that should not be dragged onto a visual: the impressions and apportioned columns, because the measures below do the summing; the share column, because a share must be recalculated for whatever the reader has filtered, not summed; and the run ID. Hiding them is one click each, and it means a person building a pivot can only reach for the right things. The measures are shown in teal. We write them on the next slide. The four cards on the right are the habits that make a model usable: name things for people, hide the plumbing, format once, and describe it. The descriptions show up as tooltips for everyone who uses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measures for the lab model. Apportioned Amount and Impressions are plain sums. The interesting one is Share of Entity: a state's impressions divided by the impressions for its whole entity. To get the entity total we use CALCULATE to run the Impressions measure again with the filter on state removed, using REMOVEFILTERS on the state column. Everything else the reader has chosen, the entity, the period and the basis, still applies. That is why we use REMOVEFILTERS and not ALLEXCEPT: ALLEXCEPT would need us to list every column we want to keep, and it breaks quietly when someone adds a column. One trap to point out: make the basis a single-select slicer. The with_na rows include the without_na rows, so selecting both would double count. Last, Apportioned Amount summed by entity should equal revenue, which is the same tie-out as the gate; if it does not, something is wrong in the model, not in the notebook. These are standard DAX patterns written for the lab table; we did not execute them in the training environment, so test them in Lab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lab report page, drawn from the numbers in Lab A for January without N/A. Look at what is on it besides the chart. Two slicers, period and denominator, the two inputs of the run. Three cards: the total apportioned, the tie-out difference and the number of unmapped rows. And in the corner, a tag that says when the data was produced and whether that run passed. All of that comes from the run log, which the notebook already writes. The chart is the answer people came for: apportioned amount by entity and state. The point of the slide is the right-hand column: freshness, tie-out and unmapped rows are the three things a reader needs to decide whether to believe the chart, and in Alteryx none of them reached the reader. Build the cards from the run log table in Lab B; the chart comes from the measures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Query is the same editor and the same M language in three places, and tax teams already know it from Excel. The first is Dataflow Gen2, Power Query in the cloud. It loads its result to a lakehouse or a warehouse, so everyone gets it. The DST pipeline's Ingest_Reference_Data step is a dataflow. The second is Power Query inside Excel: Get Data and Transform. The DST main file uses it to connect to the large impressions CSV and feed its pivot tables. The third is Power BI Desktop, shaping data before it loads to a model. The rule on the right is the design principle: do the shaping as far upstream as you can. A notebook or SQL first, a dataflow second, Power Query in a report last, because every step further downstream is shaping that only one file can see, and the next person has to rebuild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are not going to stop using Excel, and they should not have to. Here is the contrast. On the left is how the DST main file works today, from the workflow documentation. Alteryx writes the workbook with its revenue and unmapped tabs. The impressions, more than twelve million records, are too big for Excel, so they go to a large CSV, and the main file uses Power Query to read that CSV into pivot tables. A summarized copy is also pushed to the Data Hub for the dashboard. On the right is the Fabric version. The notebook writes gold, with the unmapped rows in their own table. Analyze in Excel connects pivot tables directly to the semantic model, so there is no CSV step and no push; Refresh in Excel reads the latest. And because the measures live in the model, Excel and the report give the same numbers. Analyze in Excel needs permission to build on the model, which is covered on the sharing slide. The message is that analysts keep the tool and the skills; what changes is that the source is governed.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cover most sharing decisions. If someone only needs to read the report, share the report or an app; they do not need access to the workspace. If an analyst wants to build their own pivot tables with Analyze in Excel, or their own reports, they need Build permission on the semantic model; that is the permission that lets them use the model without being able to change it. If different teams may only see their own entity, that is row-level security, defined in the model with a filter on the entity column and assigned to roles; it is the right tool and it is much easier to design in than to retrofit. And the engineers who maintain the notebook and the pipeline need a workspace role, such as Contributor or Member, not a report share. A caution for the room: this is tax data and some of it is sensitive. The policy for who may see what is Disney's and Enterprise Technology's to set; we show what the tools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B builds on Lab A. You already have a notebook that takes a period and a denominator, checks its own work and writes gold. In about ninety minutes each pair gives it a front door with the pieces from the module: a pipeline whose parameters are the inputs, a Notebook activity that passes them on, a way to start it by hand and on a schedule, a status you can read, and an output that people open: a semantic model, a report and an Excel pivot. There are six steps. Steps one to four are the pipeline and the run. Steps five and six are the model and the report. Each has a You should see box. An important design point, which you will meet in step four, is that there are two ways a run can fail: refused at the door because the input was wrong, and failed at the gate because the numbers did not tie. They leave different traces, and you will see both. Suggested pacing: twenty minutes for steps one to three, fifteen for step four, twenty-five for the model and the report, ten for Excel, and ten for the debrief.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data pipeline in your workspace and open its parameters. Add exactly two: period and denominator, both strings. Give them the same safe defaults as the notebook: 2025-01 and without_na. The names must match the notebook's parameter cell exactly, including case, because step two connects them by name. The reason there are two and not seven is the contract slide from earlier: ask only for what the run uses. If a pair asks about a drop-down, say that the pipeline's own Run dialog gives a text box, and that a list of choices is what a front end such as a form adds later; the notebook's assert is what protects us in the meantime. Ask pairs to name the pipeline with their initials so several pipelines can sit in one workspace.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Notebook activity and choose the Lab A notebook. In the settings, open Base parameters and add three rows: period, denominator and run_id. Each takes its value from a pipeline expression: the pipeline's own period parameter, its own denominator parameter, and the pipeline's run ID, which is a system value that identifies this run. The run ID is the one the proof of concept missed: the notebook declared run_id but the pipeline never passed it, so the log said blank. Here we pass it, so every row in bronze, gold and the run log carries the pipeline run's ID, and you can trace a number back to the exact run in the monitoring hub. Remind pairs that for the values to land, the notebook's first cell must be marked as the parameter cell, and the names here must match the notebook's variable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run it. Choose Run on the pipeline. Because the pipeline has parameters, the dialog asks for values. Enter 2025-02 and with_na, so it is different from the defaults and from anything Lab A produced. Then open the monitoring hub and find the run. Expand it to see the Notebook activity and its duration, and open the run details to find the notebook's output. Finally, open the run log table in the lakehouse and find the new row. Its run ID should be the pipeline's run ID, a long identifier, not the word manual. That equality is the point: the monitor and the log describe the same run. The three cards describe what each place is for. Ask pairs to write down one thing each of them tells you that the others do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in this step. First, a schedule: open Schedule on the pipeline, turn it on, set the start time a few minutes ahead, save, and watch the run appear in the monitoring hub. A scheduled run uses the default parameter values, so it runs 2025-01 without N/A; because the write replaces its own slice, running it again is harmless, which is the idempotent write paying off. Turn the schedule off when it has run. Second, cause both kinds of failure. Run the pipeline with the period set to Jan-25: the first cell of the notebook refuses it, the run fails, and no log row is written because the notebook never got that far. Then add the break-it line from Lab A to the notebook, run again with the defaults, and the gate fails: this time there is a failed row in the run log with the totals that did not tie, and the gold table is untouched. Remove the line afterwards. The table on the left is the lesson: both are failed runs, with different traces and different people who need to hear about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lakehouse, create a new semantic model and select the two tables, gold and the run log. That gives a Direct Lake model: it reads the Delta tables in place. Name it, open it for editing and add the three measures from the left: Apportioned Amount, Impressions and Share of Entity. Hide the raw columns so only the right things can be dragged onto a visual. Then check it. Put entity and Apportioned Amount in a table, set period to 2025-02 and basis to with_na, and compare with the expected results: 12,000 for Entity A and 18,000 for Entity B. Then add state and Share of Entity: Entity A, CA should show seventy percent. If basis has both values selected, the numbers double, which is why we make it a single-select slicer. The measures are standard DAX patterns that we have not executed in the training environment, so this is the first real test; if a pair's numbers differ, check the table and column names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report from the model and build the page on the left. Two slicers, period and basis, with basis set to single select. One card for Apportioned Amount. A column chart of Apportioned Amount by entity and state. And a table from the run log with the latest runs: finished at, run ID, period, basis and status, sorted newest first. That table is the trust element: anyone looking at the chart can see which run produced it and whether it passed. Then open Analyze in Excel on the model, build a pivot with entity, state and Apportioned Amount, and compare it with the report. They must agree: the logic is in the model. Switch the basis slicer and watch the shares change while the entity totals stay at ten thousand and twenty thousand for January: that is the tie-out made visible. If Analyze in Excel is greyed out, the person needs build permission on the model, and the tenant setting must allow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checks every pair should be able to tick. The pipeline run for February with N/A succeeds and leaves a log row whose run ID is the pipeline's. The bad period fails and leaves nothing. The gate failure fails and leaves a failed log row. In the model, with period 2025-02 and basis with_na, Entity A is twelve thousand and Entity B eighteen thousand, and Entity A in California has a share of seventy percent. The Excel pivot matches the report. On the right, the problems we expect. By far the most common is parameter names that do not match between the pipeline and the notebook, or a notebook whose first cell is not marked as the parameter cell. In both cases the pipeline succeeds but the notebook silently runs with its defaults, and you can spot it because the log shows the wrong period or the word manual as the run ID. Remind pairs of that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stretch goals, each one moves the front door closer to something a business user could use. One: make the schedule useful. A scheduled run uses the default parameters, so a monthly schedule would run the same period every month. The fix is to let the period default to the word auto, and have the Notebook activity compute last month when it sees auto; the expression on the right does that, using the pipeline's date functions. Check it in the expression builder before using it. Two: add a Semantic model refresh activity after the notebook, so the report is current by the time the run says it passed. Three: write the refusals to the run log too, so a bad input leaves a trace; that means catching the failed assert, writing a refused row and then stopping. Four: add a requested_by parameter and a column in the log, which is the audit trail a form will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room back and go through the five parts of a front door from the start of the module. For each, what did you build, and what is still missing? Inputs: two pipeline parameters, and what is missing is a list of choices or a form. Trigger: the Run dialog and a schedule; missing are an event and an API call. Status: the monitoring hub and the run log; missing is a friendly status page. Output: a model, a report and a pivot; missing is row-level security. Guardrails: validation, the gate and the idempotent write; missing are the concurrency check, the audit of who asked, and the approvals. That list of missing items is the work between a lab and a production service, and the approvals ones are the subject of tomorrow. Then use the three questions to discuss what would you hand to a business user, what happens if two people press Run, and who needs which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six outcomes from the start of the day and read these as the answers, one sentence per module. Ask the room to pick the sentence that surprised them most and the one they are least sure about, and note them for tomorrow's warm-up. If time allows, ask a volunteer to explain the two ways a run can fail, refused at the door and failed at the gate, because that distinction carries into tomorrow's discussion of what has to be approved and monitored. Questions parked today go to the owners named at the start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Day Three, which follows the agreed agenda. The first block is DevOps, governance and deployment: Git fundamentals, assuming no prior experience; deployment patterns, meaning pipelines, environments and promoting between workspaces; and a lab where you put the workflow you built today under source control and promote it. The second block is taking applications to production: the Paved Path, the twelve steps from a working build to production; who you need and when, including BAPPID, ESIS, consents, AI intake and email relay; the long poles, where ESIS is five sequential reviews over four to eight weeks; and UAT through to go-live. Today's pipeline, notebook, model and report are what we ship, so ask everyone to keep them and note their names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slides for participants to keep. Nothing here needs to be presented. Point people to the notebook and pipeline cheat sheets during the labs, and to the lab kit script if a facilitator needs to rebuild the five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Six patterns from today, each a few lines you can lift into your own notebook. The parameters cell and the explicit schema come first because they are the cheapest protection. Audit columns tell you where a row came from. The slice write makes a re-run safe. The gate is only a gate if the log row is written before the assert. The secret pattern is the only safe way to hold a credential; the vault address is a placeholder and the approved vault is Enterprise Technology's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Expressions begin with an at sign and are written in dynamic content boxes. The first two are the ones from Lab B. The date expression is the one from the stretch goals. Always test an expression with a manual run before relying on a schedule; the expression builder lists the system variables and functions available in your 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On the left are the three core measures from the module. On the right are three that make a report trustworthy: when the data was produced, the status of the latest run, and the unmapped count from the latest run. Data As Of is the latest finish time in the run log. Latest Run Status looks up the status for that time. Latest Unmapped Rows takes the top row of the run log by finish time. These are standard patterns written for the lab tables and have not been executed in the training environment, so test them in Lab B before relying on them. If two runs ever finish at the same instant the lookup can be ambiguous; the run ID can be added to the lookup if that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Yesterday's six tools, Formula, Select, Filter, Union, Summarize and Join, are in yesterday's cheat sheet. These twelve are the next group by count, plus the three reshaping tools from this morning. Every line was run against a small Spark dataset, except Sort, which is a plain order by. In Spark, row order is not guaranteed unless you sort, so a Sort tool in Alteryx often matters less in a notebook than people expect, and only matters when you write an ordered output or use a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facilitator. Run these two cells in a notebook attached to the lakehouse before the session. They write the four input files to Files, raw, dst. The data is invented and small on purpose, so every number can be checked by eye. Notice the built-in traps: mystery_unit has no entry in the map, one impressions row has a blank region, and another says NO REGION. Part two writes the answer key. The script was run to check that it produces exactly the files the lab code was verified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facilitator. The answer key is worked out in pandas from the same rules, independently of the Spark notebook the pairs write, so a match means something. It is called alteryx_expected.csv because it stands in for what the Alteryx workflow should produce, but it is not an Alteryx export. If the team has a real Alteryx run on the same inputs, replace this file with that output, keeping the same five columns: period, basis, entity, state and apportioned. The script writes twenty rows: four for each month without N/A and six for each month with 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 Twelve terms introduced today, in plain language, six from the notebook and pipeline side and six from the model and report side. Point people here when a word comes up in the labs, and add your own terms as questions arise.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4"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tx1">
                    <a:alpha val="65000"/>
                  </a:schemeClr>
                </a:solidFill>
              </a:rPr>
              <a:t>KPMG  ·  Disney Tax Data Management &amp; Innovation  ·  Day Two: Building in Fabric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858000" cy="320040"/>
          </a:xfrm>
          <a:prstGeom prst="rect">
            <a:avLst/>
          </a:prstGeom>
          <a:noFill/>
          <a:ln/>
        </p:spPr>
        <p:txBody>
          <a:bodyPr wrap="square" rtlCol="0"/>
          <a:lstStyle>
            <a:lvl1pPr indent="0" marL="0">
              <a:buNone/>
              <a:defRPr lang="en-US" sz="1400" b="1" spc="4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731520" y="1965960"/>
            <a:ext cx="6949440" cy="2011680"/>
          </a:xfrm>
          <a:prstGeom prst="rect">
            <a:avLst/>
          </a:prstGeom>
          <a:noFill/>
          <a:ln/>
        </p:spPr>
        <p:txBody>
          <a:bodyPr wrap="square" rtlCol="0"/>
          <a:lstStyle>
            <a:lvl1pPr indent="0" marL="0">
              <a:buNone/>
              <a:defRPr lang="en-US" sz="5000" b="1" dirty="0">
                <a:solidFill>
                  <a:schemeClr val="bg1"/>
                </a:solidFill>
              </a:defRPr>
            </a:lvl1pPr>
          </a:lstStyle>
          <a:p>
            <a:pPr indent="0" marL="0">
              <a:buNone/>
            </a:pPr>
            <a:endParaRPr lang="en-US" sz="5000" dirty="0"/>
          </a:p>
        </p:txBody>
      </p:sp>
      <p:sp>
        <p:nvSpPr>
          <p:cNvPr id="4" name="Text 0"/>
          <p:cNvSpPr/>
          <p:nvPr>
            <p:ph idx="102" type="body" hasCustomPrompt="1"/>
          </p:nvPr>
        </p:nvSpPr>
        <p:spPr>
          <a:xfrm>
            <a:off x="731520" y="4160520"/>
            <a:ext cx="66751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731520" y="6035040"/>
            <a:ext cx="8229600" cy="274320"/>
          </a:xfrm>
          <a:prstGeom prst="rect">
            <a:avLst/>
          </a:prstGeom>
          <a:noFill/>
          <a:ln/>
        </p:spPr>
        <p:txBody>
          <a:bodyPr wrap="square" lIns="0" tIns="0" rIns="0" bIns="0" rtlCol="0" anchor="ctr"/>
          <a:lstStyle/>
          <a:p>
            <a:pPr indent="0" marL="0">
              <a:buNone/>
            </a:pPr>
            <a:r>
              <a:rPr lang="en-US" sz="1200" dirty="0">
                <a:solidFill>
                  <a:schemeClr val="bg1">
                    <a:alpha val="75000"/>
                  </a:schemeClr>
                </a:solidFill>
              </a:rPr>
              <a:t>KPMG  ·  Disney Tax Data Management &amp; Innovation  ·  October 2026</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rtlCol="0"/>
          <a:lstStyle>
            <a:lvl1pPr indent="0" marL="0">
              <a:buNone/>
              <a:defRPr lang="en-US" sz="1400" b="1" spc="400" kern="0" dirty="0">
                <a:solidFill>
                  <a:schemeClr val="bg2"/>
                </a:solidFill>
              </a:defRPr>
            </a:lvl1pPr>
          </a:lstStyle>
          <a:p>
            <a:pPr indent="0" marL="0">
              <a:buNone/>
            </a:pP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bg1">
                    <a:alpha val="65000"/>
                  </a:schemeClr>
                </a:solidFill>
              </a:rPr>
              <a:t>KPMG  ·  Disney Tax Data Management &amp; Innovation  ·  Day Two: Building in Fabric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rtlCol="0"/>
          <a:lstStyle>
            <a:lvl1pPr indent="0" marL="0">
              <a:buNone/>
              <a:defRPr lang="en-US" sz="1100" b="1" spc="300" kern="0" dirty="0">
                <a:solidFill>
                  <a:schemeClr val="accent2"/>
                </a:solidFill>
              </a:defRPr>
            </a:lvl1pPr>
          </a:lstStyle>
          <a:p>
            <a:pPr indent="0" marL="0">
              <a:buNone/>
            </a:pP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4" name="Text 0"/>
          <p:cNvSpPr/>
          <p:nvPr/>
        </p:nvSpPr>
        <p:spPr>
          <a:xfrm>
            <a:off x="548640" y="6428232"/>
            <a:ext cx="8229600" cy="256032"/>
          </a:xfrm>
          <a:prstGeom prst="rect">
            <a:avLst/>
          </a:prstGeom>
          <a:noFill/>
          <a:ln/>
        </p:spPr>
        <p:txBody>
          <a:bodyPr wrap="square" lIns="0" tIns="0" rIns="0" bIns="0" rtlCol="0" anchor="ctr"/>
          <a:lstStyle/>
          <a:p>
            <a:pPr indent="0" marL="0">
              <a:buNone/>
            </a:pPr>
            <a:r>
              <a:rPr lang="en-US" sz="1000" dirty="0">
                <a:solidFill>
                  <a:schemeClr val="bg1">
                    <a:alpha val="65000"/>
                  </a:schemeClr>
                </a:solidFill>
              </a:rPr>
              <a:t>KPMG  ·  Disney Tax Data Management &amp; Innovation  ·  Day Two: Building in Fabric</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2.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2.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2.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slideLayout" Target="../slideLayouts/slideLayout2.xml"/><Relationship Id="rId7"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2.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2.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554480"/>
            <a:ext cx="6858000" cy="320040"/>
          </a:xfrm>
          <a:prstGeom prst="rect">
            <a:avLst/>
          </a:prstGeom>
          <a:noFill/>
          <a:ln/>
        </p:spPr>
        <p:txBody>
          <a:bodyPr wrap="square" lIns="0" tIns="0" rIns="0" bIns="0" rtlCol="0" anchor="t"/>
          <a:lstStyle/>
          <a:p>
            <a:pPr algn="l" indent="0" marL="0">
              <a:buNone/>
            </a:pPr>
            <a:r>
              <a:rPr lang="en-US" sz="1400" b="1" spc="400" kern="0" dirty="0">
                <a:solidFill>
                  <a:schemeClr val="accent2"/>
                </a:solidFill>
              </a:rPr>
              <a:t>DAY TWO · BUILDING IN FABRIC</a:t>
            </a:r>
            <a:endParaRPr lang="en-US" sz="1400" dirty="0"/>
          </a:p>
        </p:txBody>
      </p:sp>
      <p:sp>
        <p:nvSpPr>
          <p:cNvPr id="3" name="Text 0"/>
          <p:cNvSpPr/>
          <p:nvPr>
            <p:ph idx="101" type="title" hasCustomPrompt="1"/>
          </p:nvPr>
        </p:nvSpPr>
        <p:spPr>
          <a:xfrm>
            <a:off x="731520" y="1965960"/>
            <a:ext cx="6949440" cy="2011680"/>
          </a:xfrm>
          <a:prstGeom prst="rect">
            <a:avLst/>
          </a:prstGeom>
          <a:noFill/>
          <a:ln/>
        </p:spPr>
        <p:txBody>
          <a:bodyPr wrap="square" lIns="0" tIns="0" rIns="0" bIns="0" rtlCol="0" anchor="t"/>
          <a:lstStyle/>
          <a:p>
            <a:pPr algn="l" indent="0" marL="0">
              <a:buNone/>
            </a:pPr>
            <a:r>
              <a:rPr lang="en-US" sz="5000" b="1" dirty="0">
                <a:solidFill>
                  <a:schemeClr val="bg1"/>
                </a:solidFill>
              </a:rPr>
              <a:t>Microsoft Fabric &amp; DevOps enablement</a:t>
            </a:r>
            <a:endParaRPr lang="en-US" sz="5000" dirty="0"/>
          </a:p>
        </p:txBody>
      </p:sp>
      <p:sp>
        <p:nvSpPr>
          <p:cNvPr id="4" name="Text 0"/>
          <p:cNvSpPr/>
          <p:nvPr>
            <p:ph idx="102" type="body" hasCustomPrompt="1"/>
          </p:nvPr>
        </p:nvSpPr>
        <p:spPr>
          <a:xfrm>
            <a:off x="731520" y="4160520"/>
            <a:ext cx="6675120" cy="914400"/>
          </a:xfrm>
          <a:prstGeom prst="rect">
            <a:avLst/>
          </a:prstGeom>
          <a:noFill/>
          <a:ln/>
        </p:spPr>
        <p:txBody>
          <a:bodyPr wrap="square" lIns="0" tIns="0" rIns="0" bIns="0" rtlCol="0" anchor="t"/>
          <a:lstStyle/>
          <a:p>
            <a:pPr algn="l" indent="0" marL="0">
              <a:buNone/>
            </a:pPr>
            <a:r>
              <a:rPr lang="en-US" sz="1800" dirty="0">
                <a:solidFill>
                  <a:schemeClr val="bg2"/>
                </a:solidFill>
              </a:rPr>
              <a:t>Part 3: Data Engineering in Fabric</a:t>
            </a:r>
            <a:endParaRPr lang="en-US" sz="1800" dirty="0"/>
          </a:p>
          <a:p>
            <a:pPr algn="l" indent="0" marL="0">
              <a:buNone/>
            </a:pPr>
            <a:r>
              <a:rPr lang="en-US" sz="1800" dirty="0">
                <a:solidFill>
                  <a:schemeClr val="bg2"/>
                </a:solidFill>
              </a:rPr>
              <a:t>Part 4: User Experience &amp; Consumption</a:t>
            </a:r>
            <a:endParaRPr lang="en-US" sz="1800" dirty="0"/>
          </a:p>
        </p:txBody>
      </p:sp>
      <p:sp>
        <p:nvSpPr>
          <p:cNvPr id="6" name="Decorative tile 1"/>
          <p:cNvSpPr/>
          <p:nvPr/>
        </p:nvSpPr>
        <p:spPr>
          <a:xfrm>
            <a:off x="8138160" y="1554480"/>
            <a:ext cx="1051560" cy="1051560"/>
          </a:xfrm>
          <a:prstGeom prst="roundRect">
            <a:avLst>
              <a:gd name="adj" fmla="val 12174"/>
            </a:avLst>
          </a:prstGeom>
          <a:solidFill>
            <a:schemeClr val="accent2">
              <a:alpha val="60000"/>
            </a:schemeClr>
          </a:solidFill>
          <a:ln/>
        </p:spPr>
      </p:sp>
      <p:sp>
        <p:nvSpPr>
          <p:cNvPr id="7" name="Decorative tile 2"/>
          <p:cNvSpPr/>
          <p:nvPr/>
        </p:nvSpPr>
        <p:spPr>
          <a:xfrm>
            <a:off x="9326880" y="1554480"/>
            <a:ext cx="1051560" cy="1051560"/>
          </a:xfrm>
          <a:prstGeom prst="roundRect">
            <a:avLst>
              <a:gd name="adj" fmla="val 12174"/>
            </a:avLst>
          </a:prstGeom>
          <a:solidFill>
            <a:schemeClr val="accent1">
              <a:alpha val="70000"/>
            </a:schemeClr>
          </a:solidFill>
          <a:ln/>
        </p:spPr>
      </p:sp>
      <p:sp>
        <p:nvSpPr>
          <p:cNvPr id="8" name="Decorative tile 3"/>
          <p:cNvSpPr/>
          <p:nvPr/>
        </p:nvSpPr>
        <p:spPr>
          <a:xfrm>
            <a:off x="10515600" y="1554480"/>
            <a:ext cx="1051560" cy="1051560"/>
          </a:xfrm>
          <a:prstGeom prst="roundRect">
            <a:avLst>
              <a:gd name="adj" fmla="val 12174"/>
            </a:avLst>
          </a:prstGeom>
          <a:solidFill>
            <a:schemeClr val="tx2">
              <a:alpha val="45000"/>
            </a:schemeClr>
          </a:solidFill>
          <a:ln/>
        </p:spPr>
      </p:sp>
      <p:sp>
        <p:nvSpPr>
          <p:cNvPr id="9" name="Decorative tile 4"/>
          <p:cNvSpPr/>
          <p:nvPr/>
        </p:nvSpPr>
        <p:spPr>
          <a:xfrm>
            <a:off x="8138160" y="2743200"/>
            <a:ext cx="1051560" cy="1051560"/>
          </a:xfrm>
          <a:prstGeom prst="roundRect">
            <a:avLst>
              <a:gd name="adj" fmla="val 12174"/>
            </a:avLst>
          </a:prstGeom>
          <a:solidFill>
            <a:schemeClr val="tx2">
              <a:alpha val="75000"/>
            </a:schemeClr>
          </a:solidFill>
          <a:ln/>
        </p:spPr>
      </p:sp>
      <p:sp>
        <p:nvSpPr>
          <p:cNvPr id="10" name="Decorative tile 5"/>
          <p:cNvSpPr/>
          <p:nvPr/>
        </p:nvSpPr>
        <p:spPr>
          <a:xfrm>
            <a:off x="9326880" y="2743200"/>
            <a:ext cx="1051560" cy="1051560"/>
          </a:xfrm>
          <a:prstGeom prst="roundRect">
            <a:avLst>
              <a:gd name="adj" fmla="val 12174"/>
            </a:avLst>
          </a:prstGeom>
          <a:solidFill>
            <a:schemeClr val="accent2">
              <a:alpha val="45000"/>
            </a:schemeClr>
          </a:solidFill>
          <a:ln/>
        </p:spPr>
      </p:sp>
      <p:sp>
        <p:nvSpPr>
          <p:cNvPr id="11" name="Decorative tile 6"/>
          <p:cNvSpPr/>
          <p:nvPr/>
        </p:nvSpPr>
        <p:spPr>
          <a:xfrm>
            <a:off x="10515600" y="2743200"/>
            <a:ext cx="1051560" cy="1051560"/>
          </a:xfrm>
          <a:prstGeom prst="roundRect">
            <a:avLst>
              <a:gd name="adj" fmla="val 12174"/>
            </a:avLst>
          </a:prstGeom>
          <a:solidFill>
            <a:schemeClr val="accent1">
              <a:alpha val="55000"/>
            </a:schemeClr>
          </a:solidFill>
          <a:ln/>
        </p:spPr>
      </p:sp>
      <p:sp>
        <p:nvSpPr>
          <p:cNvPr id="12" name="Decorative tile 7"/>
          <p:cNvSpPr/>
          <p:nvPr/>
        </p:nvSpPr>
        <p:spPr>
          <a:xfrm>
            <a:off x="8138160" y="3931920"/>
            <a:ext cx="1051560" cy="1051560"/>
          </a:xfrm>
          <a:prstGeom prst="roundRect">
            <a:avLst>
              <a:gd name="adj" fmla="val 12174"/>
            </a:avLst>
          </a:prstGeom>
          <a:solidFill>
            <a:schemeClr val="accent1">
              <a:alpha val="40000"/>
            </a:schemeClr>
          </a:solidFill>
          <a:ln/>
        </p:spPr>
      </p:sp>
      <p:sp>
        <p:nvSpPr>
          <p:cNvPr id="13" name="Decorative tile 8"/>
          <p:cNvSpPr/>
          <p:nvPr/>
        </p:nvSpPr>
        <p:spPr>
          <a:xfrm>
            <a:off x="9326880" y="3931920"/>
            <a:ext cx="1051560" cy="1051560"/>
          </a:xfrm>
          <a:prstGeom prst="roundRect">
            <a:avLst>
              <a:gd name="adj" fmla="val 12174"/>
            </a:avLst>
          </a:prstGeom>
          <a:solidFill>
            <a:schemeClr val="tx2">
              <a:alpha val="65000"/>
            </a:schemeClr>
          </a:solidFill>
          <a:ln/>
        </p:spPr>
      </p:sp>
      <p:sp>
        <p:nvSpPr>
          <p:cNvPr id="14" name="Decorative tile 9"/>
          <p:cNvSpPr/>
          <p:nvPr/>
        </p:nvSpPr>
        <p:spPr>
          <a:xfrm>
            <a:off x="10515600" y="3931920"/>
            <a:ext cx="1051560" cy="1051560"/>
          </a:xfrm>
          <a:prstGeom prst="roundRect">
            <a:avLst>
              <a:gd name="adj" fmla="val 12174"/>
            </a:avLst>
          </a:prstGeom>
          <a:solidFill>
            <a:schemeClr val="accent2">
              <a:alpha val="70000"/>
            </a:scheme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Day Two: two parts, two labs</a:t>
            </a:r>
            <a:endParaRPr lang="en-US" sz="3200" dirty="0"/>
          </a:p>
        </p:txBody>
      </p:sp>
      <p:sp>
        <p:nvSpPr>
          <p:cNvPr id="5" name="Part 03 panel"/>
          <p:cNvSpPr/>
          <p:nvPr/>
        </p:nvSpPr>
        <p:spPr>
          <a:xfrm>
            <a:off x="548640" y="1783080"/>
            <a:ext cx="5440680" cy="3657600"/>
          </a:xfrm>
          <a:prstGeom prst="roundRect">
            <a:avLst>
              <a:gd name="adj" fmla="val 3000"/>
            </a:avLst>
          </a:prstGeom>
          <a:solidFill>
            <a:schemeClr val="bg2"/>
          </a:solidFill>
          <a:ln/>
        </p:spPr>
      </p:sp>
      <p:sp>
        <p:nvSpPr>
          <p:cNvPr id="6" name="Part number"/>
          <p:cNvSpPr txBox="1"/>
          <p:nvPr/>
        </p:nvSpPr>
        <p:spPr>
          <a:xfrm>
            <a:off x="822960" y="1920240"/>
            <a:ext cx="914400" cy="54864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03</a:t>
            </a:r>
            <a:endParaRPr lang="en-US" sz="3600" dirty="0"/>
          </a:p>
        </p:txBody>
      </p:sp>
      <p:sp>
        <p:nvSpPr>
          <p:cNvPr id="7" name="Part title"/>
          <p:cNvSpPr txBox="1"/>
          <p:nvPr/>
        </p:nvSpPr>
        <p:spPr>
          <a:xfrm>
            <a:off x="1737360" y="1938528"/>
            <a:ext cx="411480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Data Engineering in Fabric</a:t>
            </a:r>
            <a:endParaRPr lang="en-US" sz="1800" dirty="0"/>
          </a:p>
        </p:txBody>
      </p:sp>
      <p:sp>
        <p:nvSpPr>
          <p:cNvPr id="8" name="Part subtitle"/>
          <p:cNvSpPr txBox="1"/>
          <p:nvPr/>
        </p:nvSpPr>
        <p:spPr>
          <a:xfrm>
            <a:off x="1737360" y="2331720"/>
            <a:ext cx="4069080" cy="457200"/>
          </a:xfrm>
          <a:prstGeom prst="rect">
            <a:avLst/>
          </a:prstGeom>
          <a:noFill/>
          <a:ln/>
        </p:spPr>
        <p:txBody>
          <a:bodyPr wrap="square" lIns="0" tIns="0" rIns="0" bIns="0" rtlCol="0" anchor="t"/>
          <a:lstStyle/>
          <a:p>
            <a:pPr indent="0" marL="0">
              <a:buNone/>
            </a:pPr>
            <a:r>
              <a:rPr lang="en-US" sz="1250" dirty="0">
                <a:solidFill>
                  <a:schemeClr val="tx1">
                    <a:alpha val="75000"/>
                  </a:schemeClr>
                </a:solidFill>
              </a:rPr>
              <a:t>How workflows get built in the new environment. Hands-on.</a:t>
            </a:r>
            <a:endParaRPr lang="en-US" sz="1250" dirty="0"/>
          </a:p>
        </p:txBody>
      </p:sp>
      <p:sp>
        <p:nvSpPr>
          <p:cNvPr id="9" name="Module chip"/>
          <p:cNvSpPr/>
          <p:nvPr/>
        </p:nvSpPr>
        <p:spPr>
          <a:xfrm>
            <a:off x="822960" y="3072384"/>
            <a:ext cx="457200" cy="457200"/>
          </a:xfrm>
          <a:prstGeom prst="roundRect">
            <a:avLst>
              <a:gd name="adj" fmla="val 16000"/>
            </a:avLst>
          </a:prstGeom>
          <a:solidFill>
            <a:schemeClr val="bg1"/>
          </a:solidFill>
          <a:ln/>
        </p:spPr>
      </p:sp>
      <p:sp>
        <p:nvSpPr>
          <p:cNvPr id="10" name="Module number"/>
          <p:cNvSpPr txBox="1"/>
          <p:nvPr/>
        </p:nvSpPr>
        <p:spPr>
          <a:xfrm>
            <a:off x="822960" y="3072384"/>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1</a:t>
            </a:r>
            <a:endParaRPr lang="en-US" sz="1800" dirty="0"/>
          </a:p>
        </p:txBody>
      </p:sp>
      <p:sp>
        <p:nvSpPr>
          <p:cNvPr id="11" name="Module name"/>
          <p:cNvSpPr txBox="1"/>
          <p:nvPr/>
        </p:nvSpPr>
        <p:spPr>
          <a:xfrm>
            <a:off x="1463040" y="3017520"/>
            <a:ext cx="4297680" cy="274320"/>
          </a:xfrm>
          <a:prstGeom prst="rect">
            <a:avLst/>
          </a:prstGeom>
          <a:noFill/>
          <a:ln/>
        </p:spPr>
        <p:txBody>
          <a:bodyPr wrap="square" lIns="0" tIns="0" rIns="0" bIns="0" rtlCol="0" anchor="t"/>
          <a:lstStyle/>
          <a:p>
            <a:pPr indent="0" marL="0">
              <a:buNone/>
            </a:pPr>
            <a:r>
              <a:rPr lang="en-US" sz="1600" b="1" dirty="0">
                <a:solidFill>
                  <a:schemeClr val="tx1"/>
                </a:solidFill>
              </a:rPr>
              <a:t>Notebook development</a:t>
            </a:r>
            <a:endParaRPr lang="en-US" sz="1600" dirty="0"/>
          </a:p>
        </p:txBody>
      </p:sp>
      <p:sp>
        <p:nvSpPr>
          <p:cNvPr id="12" name="Module description"/>
          <p:cNvSpPr txBox="1"/>
          <p:nvPr/>
        </p:nvSpPr>
        <p:spPr>
          <a:xfrm>
            <a:off x="1463040" y="3310128"/>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Notebooks as the primary build pattern, ETL and orchestration</a:t>
            </a:r>
            <a:endParaRPr lang="en-US" sz="1300" dirty="0"/>
          </a:p>
        </p:txBody>
      </p:sp>
      <p:sp>
        <p:nvSpPr>
          <p:cNvPr id="13" name="Module chip"/>
          <p:cNvSpPr/>
          <p:nvPr/>
        </p:nvSpPr>
        <p:spPr>
          <a:xfrm>
            <a:off x="822960" y="3877056"/>
            <a:ext cx="457200" cy="457200"/>
          </a:xfrm>
          <a:prstGeom prst="roundRect">
            <a:avLst>
              <a:gd name="adj" fmla="val 16000"/>
            </a:avLst>
          </a:prstGeom>
          <a:solidFill>
            <a:schemeClr val="bg1"/>
          </a:solidFill>
          <a:ln/>
        </p:spPr>
      </p:sp>
      <p:sp>
        <p:nvSpPr>
          <p:cNvPr id="14" name="Module number"/>
          <p:cNvSpPr txBox="1"/>
          <p:nvPr/>
        </p:nvSpPr>
        <p:spPr>
          <a:xfrm>
            <a:off x="822960" y="3877056"/>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2</a:t>
            </a:r>
            <a:endParaRPr lang="en-US" sz="1800" dirty="0"/>
          </a:p>
        </p:txBody>
      </p:sp>
      <p:sp>
        <p:nvSpPr>
          <p:cNvPr id="15" name="Module name"/>
          <p:cNvSpPr txBox="1"/>
          <p:nvPr/>
        </p:nvSpPr>
        <p:spPr>
          <a:xfrm>
            <a:off x="1463040" y="3822192"/>
            <a:ext cx="4297680" cy="274320"/>
          </a:xfrm>
          <a:prstGeom prst="rect">
            <a:avLst/>
          </a:prstGeom>
          <a:noFill/>
          <a:ln/>
        </p:spPr>
        <p:txBody>
          <a:bodyPr wrap="square" lIns="0" tIns="0" rIns="0" bIns="0" rtlCol="0" anchor="t"/>
          <a:lstStyle/>
          <a:p>
            <a:pPr indent="0" marL="0">
              <a:buNone/>
            </a:pPr>
            <a:r>
              <a:rPr lang="en-US" sz="1600" b="1" dirty="0">
                <a:solidFill>
                  <a:schemeClr val="tx1"/>
                </a:solidFill>
              </a:rPr>
              <a:t>Alteryx to notebooks</a:t>
            </a:r>
            <a:endParaRPr lang="en-US" sz="1600" dirty="0"/>
          </a:p>
        </p:txBody>
      </p:sp>
      <p:sp>
        <p:nvSpPr>
          <p:cNvPr id="16" name="Module description"/>
          <p:cNvSpPr txBox="1"/>
          <p:nvPr/>
        </p:nvSpPr>
        <p:spPr>
          <a:xfrm>
            <a:off x="1463040" y="4114800"/>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How common Alteryx steps translate into notebook logic</a:t>
            </a:r>
            <a:endParaRPr lang="en-US" sz="1300" dirty="0"/>
          </a:p>
        </p:txBody>
      </p:sp>
      <p:sp>
        <p:nvSpPr>
          <p:cNvPr id="17" name="Module chip"/>
          <p:cNvSpPr/>
          <p:nvPr/>
        </p:nvSpPr>
        <p:spPr>
          <a:xfrm>
            <a:off x="822960" y="4681728"/>
            <a:ext cx="457200" cy="457200"/>
          </a:xfrm>
          <a:prstGeom prst="roundRect">
            <a:avLst>
              <a:gd name="adj" fmla="val 16000"/>
            </a:avLst>
          </a:prstGeom>
          <a:solidFill>
            <a:schemeClr val="accent3"/>
          </a:solidFill>
          <a:ln/>
        </p:spPr>
      </p:sp>
      <p:sp>
        <p:nvSpPr>
          <p:cNvPr id="18" name="Module number"/>
          <p:cNvSpPr txBox="1"/>
          <p:nvPr/>
        </p:nvSpPr>
        <p:spPr>
          <a:xfrm>
            <a:off x="822960" y="468172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19" name="Module name"/>
          <p:cNvSpPr txBox="1"/>
          <p:nvPr/>
        </p:nvSpPr>
        <p:spPr>
          <a:xfrm>
            <a:off x="1463040" y="4626864"/>
            <a:ext cx="4297680" cy="274320"/>
          </a:xfrm>
          <a:prstGeom prst="rect">
            <a:avLst/>
          </a:prstGeom>
          <a:noFill/>
          <a:ln/>
        </p:spPr>
        <p:txBody>
          <a:bodyPr wrap="square" lIns="0" tIns="0" rIns="0" bIns="0" rtlCol="0" anchor="t"/>
          <a:lstStyle/>
          <a:p>
            <a:pPr indent="0" marL="0">
              <a:buNone/>
            </a:pPr>
            <a:r>
              <a:rPr lang="en-US" sz="1600" b="1" dirty="0">
                <a:solidFill>
                  <a:schemeClr val="tx1"/>
                </a:solidFill>
              </a:rPr>
              <a:t>Lab A: migrate a workflow</a:t>
            </a:r>
            <a:endParaRPr lang="en-US" sz="1600" dirty="0"/>
          </a:p>
        </p:txBody>
      </p:sp>
      <p:sp>
        <p:nvSpPr>
          <p:cNvPr id="20" name="Module description"/>
          <p:cNvSpPr txBox="1"/>
          <p:nvPr/>
        </p:nvSpPr>
        <p:spPr>
          <a:xfrm>
            <a:off x="1463040" y="4919472"/>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Guided migration of a prepared Alteryx workflow into Fabric</a:t>
            </a:r>
            <a:endParaRPr lang="en-US" sz="1300" dirty="0"/>
          </a:p>
        </p:txBody>
      </p:sp>
      <p:sp>
        <p:nvSpPr>
          <p:cNvPr id="21" name="Part 04 panel"/>
          <p:cNvSpPr/>
          <p:nvPr/>
        </p:nvSpPr>
        <p:spPr>
          <a:xfrm>
            <a:off x="6126480" y="1783080"/>
            <a:ext cx="5440680" cy="3657600"/>
          </a:xfrm>
          <a:prstGeom prst="roundRect">
            <a:avLst>
              <a:gd name="adj" fmla="val 3000"/>
            </a:avLst>
          </a:prstGeom>
          <a:solidFill>
            <a:schemeClr val="bg2"/>
          </a:solidFill>
          <a:ln/>
        </p:spPr>
      </p:sp>
      <p:sp>
        <p:nvSpPr>
          <p:cNvPr id="22" name="Part number"/>
          <p:cNvSpPr txBox="1"/>
          <p:nvPr/>
        </p:nvSpPr>
        <p:spPr>
          <a:xfrm>
            <a:off x="6400800" y="1920240"/>
            <a:ext cx="914400" cy="548640"/>
          </a:xfrm>
          <a:prstGeom prst="rect">
            <a:avLst/>
          </a:prstGeom>
          <a:noFill/>
          <a:ln/>
        </p:spPr>
        <p:txBody>
          <a:bodyPr wrap="square" lIns="0" tIns="0" rIns="0" bIns="0" rtlCol="0" anchor="t"/>
          <a:lstStyle/>
          <a:p>
            <a:pPr indent="0" marL="0">
              <a:buNone/>
            </a:pPr>
            <a:r>
              <a:rPr lang="en-US" sz="3600" b="1" dirty="0">
                <a:solidFill>
                  <a:schemeClr val="accent1"/>
                </a:solidFill>
                <a:latin typeface="+mj-lt" pitchFamily="34" charset="0"/>
                <a:ea typeface="+mj-lt" pitchFamily="34" charset="-122"/>
                <a:cs typeface="+mj-lt" pitchFamily="34" charset="-120"/>
              </a:rPr>
              <a:t>04</a:t>
            </a:r>
            <a:endParaRPr lang="en-US" sz="3600" dirty="0"/>
          </a:p>
        </p:txBody>
      </p:sp>
      <p:sp>
        <p:nvSpPr>
          <p:cNvPr id="23" name="Part title"/>
          <p:cNvSpPr txBox="1"/>
          <p:nvPr/>
        </p:nvSpPr>
        <p:spPr>
          <a:xfrm>
            <a:off x="7315200" y="1938528"/>
            <a:ext cx="411480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User Experience &amp; Consumption</a:t>
            </a:r>
            <a:endParaRPr lang="en-US" sz="1800" dirty="0"/>
          </a:p>
        </p:txBody>
      </p:sp>
      <p:sp>
        <p:nvSpPr>
          <p:cNvPr id="24" name="Part subtitle"/>
          <p:cNvSpPr txBox="1"/>
          <p:nvPr/>
        </p:nvSpPr>
        <p:spPr>
          <a:xfrm>
            <a:off x="7315200" y="2331720"/>
            <a:ext cx="4069080" cy="457200"/>
          </a:xfrm>
          <a:prstGeom prst="rect">
            <a:avLst/>
          </a:prstGeom>
          <a:noFill/>
          <a:ln/>
        </p:spPr>
        <p:txBody>
          <a:bodyPr wrap="square" lIns="0" tIns="0" rIns="0" bIns="0" rtlCol="0" anchor="t"/>
          <a:lstStyle/>
          <a:p>
            <a:pPr indent="0" marL="0">
              <a:buNone/>
            </a:pPr>
            <a:r>
              <a:rPr lang="en-US" sz="1250" dirty="0">
                <a:solidFill>
                  <a:schemeClr val="tx1">
                    <a:alpha val="75000"/>
                  </a:schemeClr>
                </a:solidFill>
              </a:rPr>
              <a:t>How the tax organization and business reaches what gets built. Hands-on.</a:t>
            </a:r>
            <a:endParaRPr lang="en-US" sz="1250" dirty="0"/>
          </a:p>
        </p:txBody>
      </p:sp>
      <p:sp>
        <p:nvSpPr>
          <p:cNvPr id="25" name="Module chip"/>
          <p:cNvSpPr/>
          <p:nvPr/>
        </p:nvSpPr>
        <p:spPr>
          <a:xfrm>
            <a:off x="6400800" y="3072384"/>
            <a:ext cx="457200" cy="457200"/>
          </a:xfrm>
          <a:prstGeom prst="roundRect">
            <a:avLst>
              <a:gd name="adj" fmla="val 16000"/>
            </a:avLst>
          </a:prstGeom>
          <a:solidFill>
            <a:schemeClr val="bg1"/>
          </a:solidFill>
          <a:ln/>
        </p:spPr>
      </p:sp>
      <p:sp>
        <p:nvSpPr>
          <p:cNvPr id="26" name="Module number"/>
          <p:cNvSpPr txBox="1"/>
          <p:nvPr/>
        </p:nvSpPr>
        <p:spPr>
          <a:xfrm>
            <a:off x="6400800" y="3072384"/>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1</a:t>
            </a:r>
            <a:endParaRPr lang="en-US" sz="1800" dirty="0"/>
          </a:p>
        </p:txBody>
      </p:sp>
      <p:sp>
        <p:nvSpPr>
          <p:cNvPr id="27" name="Module name"/>
          <p:cNvSpPr txBox="1"/>
          <p:nvPr/>
        </p:nvSpPr>
        <p:spPr>
          <a:xfrm>
            <a:off x="7040880" y="3017520"/>
            <a:ext cx="4297680" cy="274320"/>
          </a:xfrm>
          <a:prstGeom prst="rect">
            <a:avLst/>
          </a:prstGeom>
          <a:noFill/>
          <a:ln/>
        </p:spPr>
        <p:txBody>
          <a:bodyPr wrap="square" lIns="0" tIns="0" rIns="0" bIns="0" rtlCol="0" anchor="t"/>
          <a:lstStyle/>
          <a:p>
            <a:pPr indent="0" marL="0">
              <a:buNone/>
            </a:pPr>
            <a:r>
              <a:rPr lang="en-US" sz="1600" b="1" dirty="0">
                <a:solidFill>
                  <a:schemeClr val="tx1"/>
                </a:solidFill>
              </a:rPr>
              <a:t>Portal-driven execution</a:t>
            </a:r>
            <a:endParaRPr lang="en-US" sz="1600" dirty="0"/>
          </a:p>
        </p:txBody>
      </p:sp>
      <p:sp>
        <p:nvSpPr>
          <p:cNvPr id="28" name="Module description"/>
          <p:cNvSpPr txBox="1"/>
          <p:nvPr/>
        </p:nvSpPr>
        <p:spPr>
          <a:xfrm>
            <a:off x="7040880" y="3310128"/>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Users enter inputs, notebooks run in the background</a:t>
            </a:r>
            <a:endParaRPr lang="en-US" sz="1300" dirty="0"/>
          </a:p>
        </p:txBody>
      </p:sp>
      <p:sp>
        <p:nvSpPr>
          <p:cNvPr id="29" name="Module chip"/>
          <p:cNvSpPr/>
          <p:nvPr/>
        </p:nvSpPr>
        <p:spPr>
          <a:xfrm>
            <a:off x="6400800" y="3877056"/>
            <a:ext cx="457200" cy="457200"/>
          </a:xfrm>
          <a:prstGeom prst="roundRect">
            <a:avLst>
              <a:gd name="adj" fmla="val 16000"/>
            </a:avLst>
          </a:prstGeom>
          <a:solidFill>
            <a:schemeClr val="bg1"/>
          </a:solidFill>
          <a:ln/>
        </p:spPr>
      </p:sp>
      <p:sp>
        <p:nvSpPr>
          <p:cNvPr id="30" name="Module number"/>
          <p:cNvSpPr txBox="1"/>
          <p:nvPr/>
        </p:nvSpPr>
        <p:spPr>
          <a:xfrm>
            <a:off x="6400800" y="3877056"/>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latin typeface="+mj-lt" pitchFamily="34" charset="0"/>
                <a:ea typeface="+mj-lt" pitchFamily="34" charset="-122"/>
                <a:cs typeface="+mj-lt" pitchFamily="34" charset="-120"/>
              </a:rPr>
              <a:t>2</a:t>
            </a:r>
            <a:endParaRPr lang="en-US" sz="1800" dirty="0"/>
          </a:p>
        </p:txBody>
      </p:sp>
      <p:sp>
        <p:nvSpPr>
          <p:cNvPr id="31" name="Module name"/>
          <p:cNvSpPr txBox="1"/>
          <p:nvPr/>
        </p:nvSpPr>
        <p:spPr>
          <a:xfrm>
            <a:off x="7040880" y="3822192"/>
            <a:ext cx="4297680" cy="274320"/>
          </a:xfrm>
          <a:prstGeom prst="rect">
            <a:avLst/>
          </a:prstGeom>
          <a:noFill/>
          <a:ln/>
        </p:spPr>
        <p:txBody>
          <a:bodyPr wrap="square" lIns="0" tIns="0" rIns="0" bIns="0" rtlCol="0" anchor="t"/>
          <a:lstStyle/>
          <a:p>
            <a:pPr indent="0" marL="0">
              <a:buNone/>
            </a:pPr>
            <a:r>
              <a:rPr lang="en-US" sz="1600" b="1" dirty="0">
                <a:solidFill>
                  <a:schemeClr val="tx1"/>
                </a:solidFill>
              </a:rPr>
              <a:t>Reporting and Power BI</a:t>
            </a:r>
            <a:endParaRPr lang="en-US" sz="1600" dirty="0"/>
          </a:p>
        </p:txBody>
      </p:sp>
      <p:sp>
        <p:nvSpPr>
          <p:cNvPr id="32" name="Module description"/>
          <p:cNvSpPr txBox="1"/>
          <p:nvPr/>
        </p:nvSpPr>
        <p:spPr>
          <a:xfrm>
            <a:off x="7040880" y="4114800"/>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Getting workflow output into Power BI and Power Query</a:t>
            </a:r>
            <a:endParaRPr lang="en-US" sz="1300" dirty="0"/>
          </a:p>
        </p:txBody>
      </p:sp>
      <p:sp>
        <p:nvSpPr>
          <p:cNvPr id="33" name="Module chip"/>
          <p:cNvSpPr/>
          <p:nvPr/>
        </p:nvSpPr>
        <p:spPr>
          <a:xfrm>
            <a:off x="6400800" y="4681728"/>
            <a:ext cx="457200" cy="457200"/>
          </a:xfrm>
          <a:prstGeom prst="roundRect">
            <a:avLst>
              <a:gd name="adj" fmla="val 16000"/>
            </a:avLst>
          </a:prstGeom>
          <a:solidFill>
            <a:schemeClr val="accent3"/>
          </a:solidFill>
          <a:ln/>
        </p:spPr>
      </p:sp>
      <p:sp>
        <p:nvSpPr>
          <p:cNvPr id="34" name="Module number"/>
          <p:cNvSpPr txBox="1"/>
          <p:nvPr/>
        </p:nvSpPr>
        <p:spPr>
          <a:xfrm>
            <a:off x="6400800" y="468172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35" name="Module name"/>
          <p:cNvSpPr txBox="1"/>
          <p:nvPr/>
        </p:nvSpPr>
        <p:spPr>
          <a:xfrm>
            <a:off x="7040880" y="4626864"/>
            <a:ext cx="4297680" cy="274320"/>
          </a:xfrm>
          <a:prstGeom prst="rect">
            <a:avLst/>
          </a:prstGeom>
          <a:noFill/>
          <a:ln/>
        </p:spPr>
        <p:txBody>
          <a:bodyPr wrap="square" lIns="0" tIns="0" rIns="0" bIns="0" rtlCol="0" anchor="t"/>
          <a:lstStyle/>
          <a:p>
            <a:pPr indent="0" marL="0">
              <a:buNone/>
            </a:pPr>
            <a:r>
              <a:rPr lang="en-US" sz="1600" b="1" dirty="0">
                <a:solidFill>
                  <a:schemeClr val="tx1"/>
                </a:solidFill>
              </a:rPr>
              <a:t>Lab B: add a front door</a:t>
            </a:r>
            <a:endParaRPr lang="en-US" sz="1600" dirty="0"/>
          </a:p>
        </p:txBody>
      </p:sp>
      <p:sp>
        <p:nvSpPr>
          <p:cNvPr id="36" name="Module description"/>
          <p:cNvSpPr txBox="1"/>
          <p:nvPr/>
        </p:nvSpPr>
        <p:spPr>
          <a:xfrm>
            <a:off x="7040880" y="4919472"/>
            <a:ext cx="4297680" cy="457200"/>
          </a:xfrm>
          <a:prstGeom prst="rect">
            <a:avLst/>
          </a:prstGeom>
          <a:noFill/>
          <a:ln/>
        </p:spPr>
        <p:txBody>
          <a:bodyPr wrap="square" lIns="0" tIns="0" rIns="0" bIns="0" rtlCol="0" anchor="t"/>
          <a:lstStyle/>
          <a:p>
            <a:pPr indent="0" marL="0">
              <a:buNone/>
            </a:pPr>
            <a:r>
              <a:rPr lang="en-US" sz="1300" dirty="0">
                <a:solidFill>
                  <a:schemeClr val="tx1">
                    <a:alpha val="80000"/>
                  </a:schemeClr>
                </a:solidFill>
              </a:rPr>
              <a:t>Give your lab workflow inputs, a trigger and an output</a:t>
            </a:r>
            <a:endParaRPr lang="en-US" sz="1300" dirty="0"/>
          </a:p>
        </p:txBody>
      </p:sp>
      <p:sp>
        <p:nvSpPr>
          <p:cNvPr id="37" name="Takeaway"/>
          <p:cNvSpPr txBox="1"/>
          <p:nvPr/>
        </p:nvSpPr>
        <p:spPr>
          <a:xfrm>
            <a:off x="548640" y="5596128"/>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Guided labs, from the build through to the business.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Day One gave us the vocabulary. Today we build with it</a:t>
            </a:r>
            <a:endParaRPr lang="en-US" sz="3200" dirty="0"/>
          </a:p>
        </p:txBody>
      </p:sp>
      <p:sp>
        <p:nvSpPr>
          <p:cNvPr id="5" name="Day one header"/>
          <p:cNvSpPr txBox="1"/>
          <p:nvPr/>
        </p:nvSpPr>
        <p:spPr>
          <a:xfrm>
            <a:off x="548640" y="1783080"/>
            <a:ext cx="2743200" cy="228600"/>
          </a:xfrm>
          <a:prstGeom prst="rect">
            <a:avLst/>
          </a:prstGeom>
          <a:noFill/>
          <a:ln/>
        </p:spPr>
        <p:txBody>
          <a:bodyPr wrap="square" lIns="0" tIns="0" rIns="0" bIns="0" rtlCol="0" anchor="t"/>
          <a:lstStyle/>
          <a:p>
            <a:pPr indent="0" marL="0">
              <a:buNone/>
            </a:pPr>
            <a:r>
              <a:rPr lang="en-US" sz="1100" b="1" spc="300" kern="0" dirty="0">
                <a:solidFill>
                  <a:schemeClr val="tx2"/>
                </a:solidFill>
              </a:rPr>
              <a:t>DAY ONE</a:t>
            </a:r>
            <a:endParaRPr lang="en-US" sz="1100" dirty="0"/>
          </a:p>
        </p:txBody>
      </p:sp>
      <p:sp>
        <p:nvSpPr>
          <p:cNvPr id="6" name="Day two header"/>
          <p:cNvSpPr txBox="1"/>
          <p:nvPr/>
        </p:nvSpPr>
        <p:spPr>
          <a:xfrm>
            <a:off x="6583680" y="1783080"/>
            <a:ext cx="2743200" cy="228600"/>
          </a:xfrm>
          <a:prstGeom prst="rect">
            <a:avLst/>
          </a:prstGeom>
          <a:noFill/>
          <a:ln/>
        </p:spPr>
        <p:txBody>
          <a:bodyPr wrap="square" lIns="0" tIns="0" rIns="0" bIns="0" rtlCol="0" anchor="t"/>
          <a:lstStyle/>
          <a:p>
            <a:pPr indent="0" marL="0">
              <a:buNone/>
            </a:pPr>
            <a:r>
              <a:rPr lang="en-US" sz="1100" b="1" spc="300" kern="0" dirty="0">
                <a:solidFill>
                  <a:schemeClr val="accent2"/>
                </a:solidFill>
              </a:rPr>
              <a:t>DAY TWO</a:t>
            </a:r>
            <a:endParaRPr lang="en-US" sz="1100" dirty="0"/>
          </a:p>
        </p:txBody>
      </p:sp>
      <p:sp>
        <p:nvSpPr>
          <p:cNvPr id="7" name="Day one item 1"/>
          <p:cNvSpPr/>
          <p:nvPr/>
        </p:nvSpPr>
        <p:spPr>
          <a:xfrm>
            <a:off x="548640" y="2103120"/>
            <a:ext cx="5394960" cy="566928"/>
          </a:xfrm>
          <a:prstGeom prst="roundRect">
            <a:avLst>
              <a:gd name="adj" fmla="val 19355"/>
            </a:avLst>
          </a:prstGeom>
          <a:solidFill>
            <a:schemeClr val="bg2"/>
          </a:solidFill>
          <a:ln/>
        </p:spPr>
      </p:sp>
      <p:sp>
        <p:nvSpPr>
          <p:cNvPr id="8" name="Day one text"/>
          <p:cNvSpPr txBox="1"/>
          <p:nvPr/>
        </p:nvSpPr>
        <p:spPr>
          <a:xfrm>
            <a:off x="777240" y="2103120"/>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Lakehouse: Files and Tables</a:t>
            </a:r>
            <a:endParaRPr lang="en-US" sz="1500" dirty="0"/>
          </a:p>
        </p:txBody>
      </p:sp>
      <p:sp>
        <p:nvSpPr>
          <p:cNvPr id="9" name="Bridge arrow 1"/>
          <p:cNvSpPr/>
          <p:nvPr/>
        </p:nvSpPr>
        <p:spPr>
          <a:xfrm>
            <a:off x="6053328" y="2212848"/>
            <a:ext cx="365760" cy="347472"/>
          </a:xfrm>
          <a:prstGeom prst="rightArrow">
            <a:avLst/>
          </a:prstGeom>
          <a:solidFill>
            <a:schemeClr val="accent5"/>
          </a:solidFill>
          <a:ln/>
        </p:spPr>
      </p:sp>
      <p:sp>
        <p:nvSpPr>
          <p:cNvPr id="10" name="Day two item 1"/>
          <p:cNvSpPr/>
          <p:nvPr/>
        </p:nvSpPr>
        <p:spPr>
          <a:xfrm>
            <a:off x="6583680" y="2103120"/>
            <a:ext cx="5056632" cy="566928"/>
          </a:xfrm>
          <a:prstGeom prst="roundRect">
            <a:avLst>
              <a:gd name="adj" fmla="val 19355"/>
            </a:avLst>
          </a:prstGeom>
          <a:solidFill>
            <a:schemeClr val="accent2">
              <a:alpha val="20000"/>
            </a:schemeClr>
          </a:solidFill>
          <a:ln/>
        </p:spPr>
      </p:sp>
      <p:sp>
        <p:nvSpPr>
          <p:cNvPr id="11" name="Day two text"/>
          <p:cNvSpPr txBox="1"/>
          <p:nvPr/>
        </p:nvSpPr>
        <p:spPr>
          <a:xfrm>
            <a:off x="6812280" y="2103120"/>
            <a:ext cx="4663440" cy="566928"/>
          </a:xfrm>
          <a:prstGeom prst="rect">
            <a:avLst/>
          </a:prstGeom>
          <a:noFill/>
          <a:ln/>
        </p:spPr>
        <p:txBody>
          <a:bodyPr wrap="square" lIns="0" tIns="0" rIns="0" bIns="0" rtlCol="0" anchor="ctr"/>
          <a:lstStyle/>
          <a:p>
            <a:pPr indent="0" marL="0">
              <a:buNone/>
            </a:pPr>
            <a:r>
              <a:rPr lang="en-US" sz="1400" dirty="0">
                <a:solidFill>
                  <a:schemeClr val="tx1"/>
                </a:solidFill>
              </a:rPr>
              <a:t>Read, land and write data from a notebook</a:t>
            </a:r>
            <a:endParaRPr lang="en-US" sz="1400" dirty="0"/>
          </a:p>
        </p:txBody>
      </p:sp>
      <p:sp>
        <p:nvSpPr>
          <p:cNvPr id="12" name="Day one item 2"/>
          <p:cNvSpPr/>
          <p:nvPr/>
        </p:nvSpPr>
        <p:spPr>
          <a:xfrm>
            <a:off x="548640" y="2779776"/>
            <a:ext cx="5394960" cy="566928"/>
          </a:xfrm>
          <a:prstGeom prst="roundRect">
            <a:avLst>
              <a:gd name="adj" fmla="val 19355"/>
            </a:avLst>
          </a:prstGeom>
          <a:solidFill>
            <a:schemeClr val="bg2"/>
          </a:solidFill>
          <a:ln/>
        </p:spPr>
      </p:sp>
      <p:sp>
        <p:nvSpPr>
          <p:cNvPr id="13" name="Day one text"/>
          <p:cNvSpPr txBox="1"/>
          <p:nvPr/>
        </p:nvSpPr>
        <p:spPr>
          <a:xfrm>
            <a:off x="777240" y="2779776"/>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SQL and PySpark</a:t>
            </a:r>
            <a:endParaRPr lang="en-US" sz="1500" dirty="0"/>
          </a:p>
        </p:txBody>
      </p:sp>
      <p:sp>
        <p:nvSpPr>
          <p:cNvPr id="14" name="Bridge arrow 2"/>
          <p:cNvSpPr/>
          <p:nvPr/>
        </p:nvSpPr>
        <p:spPr>
          <a:xfrm>
            <a:off x="6053328" y="2889504"/>
            <a:ext cx="365760" cy="347472"/>
          </a:xfrm>
          <a:prstGeom prst="rightArrow">
            <a:avLst/>
          </a:prstGeom>
          <a:solidFill>
            <a:schemeClr val="accent5"/>
          </a:solidFill>
          <a:ln/>
        </p:spPr>
      </p:sp>
      <p:sp>
        <p:nvSpPr>
          <p:cNvPr id="15" name="Day two item 2"/>
          <p:cNvSpPr/>
          <p:nvPr/>
        </p:nvSpPr>
        <p:spPr>
          <a:xfrm>
            <a:off x="6583680" y="2779776"/>
            <a:ext cx="5056632" cy="566928"/>
          </a:xfrm>
          <a:prstGeom prst="roundRect">
            <a:avLst>
              <a:gd name="adj" fmla="val 19355"/>
            </a:avLst>
          </a:prstGeom>
          <a:solidFill>
            <a:schemeClr val="accent2">
              <a:alpha val="20000"/>
            </a:schemeClr>
          </a:solidFill>
          <a:ln/>
        </p:spPr>
      </p:sp>
      <p:sp>
        <p:nvSpPr>
          <p:cNvPr id="16" name="Day two text"/>
          <p:cNvSpPr txBox="1"/>
          <p:nvPr/>
        </p:nvSpPr>
        <p:spPr>
          <a:xfrm>
            <a:off x="6812280" y="2779776"/>
            <a:ext cx="4663440" cy="566928"/>
          </a:xfrm>
          <a:prstGeom prst="rect">
            <a:avLst/>
          </a:prstGeom>
          <a:noFill/>
          <a:ln/>
        </p:spPr>
        <p:txBody>
          <a:bodyPr wrap="square" lIns="0" tIns="0" rIns="0" bIns="0" rtlCol="0" anchor="ctr"/>
          <a:lstStyle/>
          <a:p>
            <a:pPr indent="0" marL="0">
              <a:buNone/>
            </a:pPr>
            <a:r>
              <a:rPr lang="en-US" sz="1400" dirty="0">
                <a:solidFill>
                  <a:schemeClr val="tx1"/>
                </a:solidFill>
              </a:rPr>
              <a:t>Translate real Alteryx logic, including macros</a:t>
            </a:r>
            <a:endParaRPr lang="en-US" sz="1400" dirty="0"/>
          </a:p>
        </p:txBody>
      </p:sp>
      <p:sp>
        <p:nvSpPr>
          <p:cNvPr id="17" name="Day one item 3"/>
          <p:cNvSpPr/>
          <p:nvPr/>
        </p:nvSpPr>
        <p:spPr>
          <a:xfrm>
            <a:off x="548640" y="3456432"/>
            <a:ext cx="5394960" cy="566928"/>
          </a:xfrm>
          <a:prstGeom prst="roundRect">
            <a:avLst>
              <a:gd name="adj" fmla="val 19355"/>
            </a:avLst>
          </a:prstGeom>
          <a:solidFill>
            <a:schemeClr val="bg2"/>
          </a:solidFill>
          <a:ln/>
        </p:spPr>
      </p:sp>
      <p:sp>
        <p:nvSpPr>
          <p:cNvPr id="18" name="Day one text"/>
          <p:cNvSpPr txBox="1"/>
          <p:nvPr/>
        </p:nvSpPr>
        <p:spPr>
          <a:xfrm>
            <a:off x="777240" y="3456432"/>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Bronze, silver and gold</a:t>
            </a:r>
            <a:endParaRPr lang="en-US" sz="1500" dirty="0"/>
          </a:p>
        </p:txBody>
      </p:sp>
      <p:sp>
        <p:nvSpPr>
          <p:cNvPr id="19" name="Bridge arrow 3"/>
          <p:cNvSpPr/>
          <p:nvPr/>
        </p:nvSpPr>
        <p:spPr>
          <a:xfrm>
            <a:off x="6053328" y="3566160"/>
            <a:ext cx="365760" cy="347472"/>
          </a:xfrm>
          <a:prstGeom prst="rightArrow">
            <a:avLst/>
          </a:prstGeom>
          <a:solidFill>
            <a:schemeClr val="accent5"/>
          </a:solidFill>
          <a:ln/>
        </p:spPr>
      </p:sp>
      <p:sp>
        <p:nvSpPr>
          <p:cNvPr id="20" name="Day two item 3"/>
          <p:cNvSpPr/>
          <p:nvPr/>
        </p:nvSpPr>
        <p:spPr>
          <a:xfrm>
            <a:off x="6583680" y="3456432"/>
            <a:ext cx="5056632" cy="566928"/>
          </a:xfrm>
          <a:prstGeom prst="roundRect">
            <a:avLst>
              <a:gd name="adj" fmla="val 19355"/>
            </a:avLst>
          </a:prstGeom>
          <a:solidFill>
            <a:schemeClr val="accent2">
              <a:alpha val="20000"/>
            </a:schemeClr>
          </a:solidFill>
          <a:ln/>
        </p:spPr>
      </p:sp>
      <p:sp>
        <p:nvSpPr>
          <p:cNvPr id="21" name="Day two text"/>
          <p:cNvSpPr txBox="1"/>
          <p:nvPr/>
        </p:nvSpPr>
        <p:spPr>
          <a:xfrm>
            <a:off x="6812280" y="3456432"/>
            <a:ext cx="4663440" cy="566928"/>
          </a:xfrm>
          <a:prstGeom prst="rect">
            <a:avLst/>
          </a:prstGeom>
          <a:noFill/>
          <a:ln/>
        </p:spPr>
        <p:txBody>
          <a:bodyPr wrap="square" lIns="0" tIns="0" rIns="0" bIns="0" rtlCol="0" anchor="ctr"/>
          <a:lstStyle/>
          <a:p>
            <a:pPr indent="0" marL="0">
              <a:buNone/>
            </a:pPr>
            <a:r>
              <a:rPr lang="en-US" sz="1400" dirty="0">
                <a:solidFill>
                  <a:schemeClr val="tx1"/>
                </a:solidFill>
              </a:rPr>
              <a:t>The structure of every notebook we write</a:t>
            </a:r>
            <a:endParaRPr lang="en-US" sz="1400" dirty="0"/>
          </a:p>
        </p:txBody>
      </p:sp>
      <p:sp>
        <p:nvSpPr>
          <p:cNvPr id="22" name="Day one item 4"/>
          <p:cNvSpPr/>
          <p:nvPr/>
        </p:nvSpPr>
        <p:spPr>
          <a:xfrm>
            <a:off x="548640" y="4133088"/>
            <a:ext cx="5394960" cy="566928"/>
          </a:xfrm>
          <a:prstGeom prst="roundRect">
            <a:avLst>
              <a:gd name="adj" fmla="val 19355"/>
            </a:avLst>
          </a:prstGeom>
          <a:solidFill>
            <a:schemeClr val="bg2"/>
          </a:solidFill>
          <a:ln/>
        </p:spPr>
      </p:sp>
      <p:sp>
        <p:nvSpPr>
          <p:cNvPr id="23" name="Day one text"/>
          <p:cNvSpPr txBox="1"/>
          <p:nvPr/>
        </p:nvSpPr>
        <p:spPr>
          <a:xfrm>
            <a:off x="777240" y="4133088"/>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Gates between layers</a:t>
            </a:r>
            <a:endParaRPr lang="en-US" sz="1500" dirty="0"/>
          </a:p>
        </p:txBody>
      </p:sp>
      <p:sp>
        <p:nvSpPr>
          <p:cNvPr id="24" name="Bridge arrow 4"/>
          <p:cNvSpPr/>
          <p:nvPr/>
        </p:nvSpPr>
        <p:spPr>
          <a:xfrm>
            <a:off x="6053328" y="4242816"/>
            <a:ext cx="365760" cy="347472"/>
          </a:xfrm>
          <a:prstGeom prst="rightArrow">
            <a:avLst/>
          </a:prstGeom>
          <a:solidFill>
            <a:schemeClr val="accent5"/>
          </a:solidFill>
          <a:ln/>
        </p:spPr>
      </p:sp>
      <p:sp>
        <p:nvSpPr>
          <p:cNvPr id="25" name="Day two item 4"/>
          <p:cNvSpPr/>
          <p:nvPr/>
        </p:nvSpPr>
        <p:spPr>
          <a:xfrm>
            <a:off x="6583680" y="4133088"/>
            <a:ext cx="5056632" cy="566928"/>
          </a:xfrm>
          <a:prstGeom prst="roundRect">
            <a:avLst>
              <a:gd name="adj" fmla="val 19355"/>
            </a:avLst>
          </a:prstGeom>
          <a:solidFill>
            <a:schemeClr val="accent2">
              <a:alpha val="20000"/>
            </a:schemeClr>
          </a:solidFill>
          <a:ln/>
        </p:spPr>
      </p:sp>
      <p:sp>
        <p:nvSpPr>
          <p:cNvPr id="26" name="Day two text"/>
          <p:cNvSpPr txBox="1"/>
          <p:nvPr/>
        </p:nvSpPr>
        <p:spPr>
          <a:xfrm>
            <a:off x="6812280" y="4133088"/>
            <a:ext cx="4663440" cy="566928"/>
          </a:xfrm>
          <a:prstGeom prst="rect">
            <a:avLst/>
          </a:prstGeom>
          <a:noFill/>
          <a:ln/>
        </p:spPr>
        <p:txBody>
          <a:bodyPr wrap="square" lIns="0" tIns="0" rIns="0" bIns="0" rtlCol="0" anchor="ctr"/>
          <a:lstStyle/>
          <a:p>
            <a:pPr indent="0" marL="0">
              <a:buNone/>
            </a:pPr>
            <a:r>
              <a:rPr lang="en-US" sz="1400" dirty="0">
                <a:solidFill>
                  <a:schemeClr val="tx1"/>
                </a:solidFill>
              </a:rPr>
              <a:t>Checks that fail the run, not the report</a:t>
            </a:r>
            <a:endParaRPr lang="en-US" sz="1400" dirty="0"/>
          </a:p>
        </p:txBody>
      </p:sp>
      <p:sp>
        <p:nvSpPr>
          <p:cNvPr id="27" name="Day one item 5"/>
          <p:cNvSpPr/>
          <p:nvPr/>
        </p:nvSpPr>
        <p:spPr>
          <a:xfrm>
            <a:off x="548640" y="4809744"/>
            <a:ext cx="5394960" cy="566928"/>
          </a:xfrm>
          <a:prstGeom prst="roundRect">
            <a:avLst>
              <a:gd name="adj" fmla="val 19355"/>
            </a:avLst>
          </a:prstGeom>
          <a:solidFill>
            <a:schemeClr val="bg2"/>
          </a:solidFill>
          <a:ln/>
        </p:spPr>
      </p:sp>
      <p:sp>
        <p:nvSpPr>
          <p:cNvPr id="28" name="Day one text"/>
          <p:cNvSpPr txBox="1"/>
          <p:nvPr/>
        </p:nvSpPr>
        <p:spPr>
          <a:xfrm>
            <a:off x="777240" y="4809744"/>
            <a:ext cx="4937760" cy="566928"/>
          </a:xfrm>
          <a:prstGeom prst="rect">
            <a:avLst/>
          </a:prstGeom>
          <a:noFill/>
          <a:ln/>
        </p:spPr>
        <p:txBody>
          <a:bodyPr wrap="square" lIns="0" tIns="0" rIns="0" bIns="0" rtlCol="0" anchor="ctr"/>
          <a:lstStyle/>
          <a:p>
            <a:pPr indent="0" marL="0">
              <a:buNone/>
            </a:pPr>
            <a:r>
              <a:rPr lang="en-US" sz="1500" b="1" dirty="0">
                <a:solidFill>
                  <a:schemeClr val="tx1"/>
                </a:solidFill>
              </a:rPr>
              <a:t>Workspaces and items</a:t>
            </a:r>
            <a:endParaRPr lang="en-US" sz="1500" dirty="0"/>
          </a:p>
        </p:txBody>
      </p:sp>
      <p:sp>
        <p:nvSpPr>
          <p:cNvPr id="29" name="Bridge arrow 5"/>
          <p:cNvSpPr/>
          <p:nvPr/>
        </p:nvSpPr>
        <p:spPr>
          <a:xfrm>
            <a:off x="6053328" y="4919472"/>
            <a:ext cx="365760" cy="347472"/>
          </a:xfrm>
          <a:prstGeom prst="rightArrow">
            <a:avLst/>
          </a:prstGeom>
          <a:solidFill>
            <a:schemeClr val="accent5"/>
          </a:solidFill>
          <a:ln/>
        </p:spPr>
      </p:sp>
      <p:sp>
        <p:nvSpPr>
          <p:cNvPr id="30" name="Day two item 5"/>
          <p:cNvSpPr/>
          <p:nvPr/>
        </p:nvSpPr>
        <p:spPr>
          <a:xfrm>
            <a:off x="6583680" y="4809744"/>
            <a:ext cx="5056632" cy="566928"/>
          </a:xfrm>
          <a:prstGeom prst="roundRect">
            <a:avLst>
              <a:gd name="adj" fmla="val 19355"/>
            </a:avLst>
          </a:prstGeom>
          <a:solidFill>
            <a:schemeClr val="accent2">
              <a:alpha val="20000"/>
            </a:schemeClr>
          </a:solidFill>
          <a:ln/>
        </p:spPr>
      </p:sp>
      <p:sp>
        <p:nvSpPr>
          <p:cNvPr id="31" name="Day two text"/>
          <p:cNvSpPr txBox="1"/>
          <p:nvPr/>
        </p:nvSpPr>
        <p:spPr>
          <a:xfrm>
            <a:off x="6812280" y="4809744"/>
            <a:ext cx="4663440" cy="566928"/>
          </a:xfrm>
          <a:prstGeom prst="rect">
            <a:avLst/>
          </a:prstGeom>
          <a:noFill/>
          <a:ln/>
        </p:spPr>
        <p:txBody>
          <a:bodyPr wrap="square" lIns="0" tIns="0" rIns="0" bIns="0" rtlCol="0" anchor="ctr"/>
          <a:lstStyle/>
          <a:p>
            <a:pPr indent="0" marL="0">
              <a:buNone/>
            </a:pPr>
            <a:r>
              <a:rPr lang="en-US" sz="1400" dirty="0">
                <a:solidFill>
                  <a:schemeClr val="tx1"/>
                </a:solidFill>
              </a:rPr>
              <a:t>Pipelines, models and reports that others use</a:t>
            </a:r>
            <a:endParaRPr lang="en-US" sz="1400" dirty="0"/>
          </a:p>
        </p:txBody>
      </p:sp>
      <p:sp>
        <p:nvSpPr>
          <p:cNvPr id="32" name="Takeaway"/>
          <p:cNvSpPr txBox="1"/>
          <p:nvPr/>
        </p:nvSpPr>
        <p:spPr>
          <a:xfrm>
            <a:off x="548640" y="55778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The DST workflow is still our running example, now as a real notebook and pipeline.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TODAY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By the end of the day you can do six things</a:t>
            </a:r>
            <a:endParaRPr lang="en-US" sz="3200" dirty="0"/>
          </a:p>
        </p:txBody>
      </p:sp>
      <p:sp>
        <p:nvSpPr>
          <p:cNvPr id="5" name="Outcome card 1"/>
          <p:cNvSpPr/>
          <p:nvPr/>
        </p:nvSpPr>
        <p:spPr>
          <a:xfrm>
            <a:off x="548640" y="1783080"/>
            <a:ext cx="3593592" cy="1874520"/>
          </a:xfrm>
          <a:prstGeom prst="roundRect">
            <a:avLst>
              <a:gd name="adj" fmla="val 5854"/>
            </a:avLst>
          </a:prstGeom>
          <a:solidFill>
            <a:schemeClr val="bg2"/>
          </a:solidFill>
          <a:ln/>
        </p:spPr>
      </p:sp>
      <p:sp>
        <p:nvSpPr>
          <p:cNvPr id="6" name="Structure a notebook badge"/>
          <p:cNvSpPr/>
          <p:nvPr/>
        </p:nvSpPr>
        <p:spPr>
          <a:xfrm>
            <a:off x="804672" y="2020824"/>
            <a:ext cx="566928" cy="566928"/>
          </a:xfrm>
          <a:prstGeom prst="ellipse">
            <a:avLst/>
          </a:prstGeom>
          <a:solidFill>
            <a:schemeClr val="accent1"/>
          </a:solidFill>
          <a:ln/>
        </p:spPr>
      </p:sp>
      <p:pic>
        <p:nvPicPr>
          <p:cNvPr id="7" name="Image 0" descr="Structure a notebook icon">    </p:cNvPr>
          <p:cNvPicPr>
            <a:picLocks noChangeAspect="1"/>
          </p:cNvPicPr>
          <p:nvPr/>
        </p:nvPicPr>
        <p:blipFill>
          <a:blip r:embed="rId1"/>
          <a:stretch>
            <a:fillRect/>
          </a:stretch>
        </p:blipFill>
        <p:spPr>
          <a:xfrm>
            <a:off x="946404" y="2162556"/>
            <a:ext cx="283464" cy="283464"/>
          </a:xfrm>
          <a:prstGeom prst="rect">
            <a:avLst/>
          </a:prstGeom>
        </p:spPr>
      </p:pic>
      <p:sp>
        <p:nvSpPr>
          <p:cNvPr id="8" name="Module label"/>
          <p:cNvSpPr txBox="1"/>
          <p:nvPr/>
        </p:nvSpPr>
        <p:spPr>
          <a:xfrm>
            <a:off x="1508760" y="205740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NOTEBOOK DEVELOPMENT</a:t>
            </a:r>
            <a:endParaRPr lang="en-US" sz="1000" dirty="0"/>
          </a:p>
        </p:txBody>
      </p:sp>
      <p:sp>
        <p:nvSpPr>
          <p:cNvPr id="9" name="Outcome title"/>
          <p:cNvSpPr txBox="1"/>
          <p:nvPr/>
        </p:nvSpPr>
        <p:spPr>
          <a:xfrm>
            <a:off x="80467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Structure a notebook</a:t>
            </a:r>
            <a:endParaRPr lang="en-US" sz="1800" dirty="0"/>
          </a:p>
        </p:txBody>
      </p:sp>
      <p:sp>
        <p:nvSpPr>
          <p:cNvPr id="10" name="Outcome text"/>
          <p:cNvSpPr txBox="1"/>
          <p:nvPr/>
        </p:nvSpPr>
        <p:spPr>
          <a:xfrm>
            <a:off x="80467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Parameters, read, transform, gate, write: the same five parts every time.</a:t>
            </a:r>
            <a:endParaRPr lang="en-US" sz="1300" dirty="0"/>
          </a:p>
        </p:txBody>
      </p:sp>
      <p:sp>
        <p:nvSpPr>
          <p:cNvPr id="11" name="Outcome card 2"/>
          <p:cNvSpPr/>
          <p:nvPr/>
        </p:nvSpPr>
        <p:spPr>
          <a:xfrm>
            <a:off x="4297680" y="1783080"/>
            <a:ext cx="3593592" cy="1874520"/>
          </a:xfrm>
          <a:prstGeom prst="roundRect">
            <a:avLst>
              <a:gd name="adj" fmla="val 5854"/>
            </a:avLst>
          </a:prstGeom>
          <a:solidFill>
            <a:schemeClr val="bg2"/>
          </a:solidFill>
          <a:ln/>
        </p:spPr>
      </p:sp>
      <p:sp>
        <p:nvSpPr>
          <p:cNvPr id="12" name="Translate from Alteryx badge"/>
          <p:cNvSpPr/>
          <p:nvPr/>
        </p:nvSpPr>
        <p:spPr>
          <a:xfrm>
            <a:off x="4553712" y="2020824"/>
            <a:ext cx="566928" cy="566928"/>
          </a:xfrm>
          <a:prstGeom prst="ellipse">
            <a:avLst/>
          </a:prstGeom>
          <a:solidFill>
            <a:schemeClr val="accent1"/>
          </a:solidFill>
          <a:ln/>
        </p:spPr>
      </p:sp>
      <p:pic>
        <p:nvPicPr>
          <p:cNvPr id="13" name="Image 1" descr="Translate from Alteryx icon">    </p:cNvPr>
          <p:cNvPicPr>
            <a:picLocks noChangeAspect="1"/>
          </p:cNvPicPr>
          <p:nvPr/>
        </p:nvPicPr>
        <p:blipFill>
          <a:blip r:embed="rId2"/>
          <a:stretch>
            <a:fillRect/>
          </a:stretch>
        </p:blipFill>
        <p:spPr>
          <a:xfrm>
            <a:off x="4695444" y="2162556"/>
            <a:ext cx="283464" cy="283464"/>
          </a:xfrm>
          <a:prstGeom prst="rect">
            <a:avLst/>
          </a:prstGeom>
        </p:spPr>
      </p:pic>
      <p:sp>
        <p:nvSpPr>
          <p:cNvPr id="14" name="Module label"/>
          <p:cNvSpPr txBox="1"/>
          <p:nvPr/>
        </p:nvSpPr>
        <p:spPr>
          <a:xfrm>
            <a:off x="5257800" y="205740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ALTERYX TO NOTEBOOKS</a:t>
            </a:r>
            <a:endParaRPr lang="en-US" sz="1000" dirty="0"/>
          </a:p>
        </p:txBody>
      </p:sp>
      <p:sp>
        <p:nvSpPr>
          <p:cNvPr id="15" name="Outcome title"/>
          <p:cNvSpPr txBox="1"/>
          <p:nvPr/>
        </p:nvSpPr>
        <p:spPr>
          <a:xfrm>
            <a:off x="455371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Translate from Alteryx</a:t>
            </a:r>
            <a:endParaRPr lang="en-US" sz="1800" dirty="0"/>
          </a:p>
        </p:txBody>
      </p:sp>
      <p:sp>
        <p:nvSpPr>
          <p:cNvPr id="16" name="Outcome text"/>
          <p:cNvSpPr txBox="1"/>
          <p:nvPr/>
        </p:nvSpPr>
        <p:spPr>
          <a:xfrm>
            <a:off x="455371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Turn macros, loops and the next tools into notebook code.</a:t>
            </a:r>
            <a:endParaRPr lang="en-US" sz="1300" dirty="0"/>
          </a:p>
        </p:txBody>
      </p:sp>
      <p:sp>
        <p:nvSpPr>
          <p:cNvPr id="17" name="Outcome card 3"/>
          <p:cNvSpPr/>
          <p:nvPr/>
        </p:nvSpPr>
        <p:spPr>
          <a:xfrm>
            <a:off x="8046720" y="1783080"/>
            <a:ext cx="3593592" cy="1874520"/>
          </a:xfrm>
          <a:prstGeom prst="roundRect">
            <a:avLst>
              <a:gd name="adj" fmla="val 5854"/>
            </a:avLst>
          </a:prstGeom>
          <a:solidFill>
            <a:schemeClr val="bg2"/>
          </a:solidFill>
          <a:ln/>
        </p:spPr>
      </p:sp>
      <p:sp>
        <p:nvSpPr>
          <p:cNvPr id="18" name="Migrate and prove it badge"/>
          <p:cNvSpPr/>
          <p:nvPr/>
        </p:nvSpPr>
        <p:spPr>
          <a:xfrm>
            <a:off x="8302752" y="2020824"/>
            <a:ext cx="566928" cy="566928"/>
          </a:xfrm>
          <a:prstGeom prst="ellipse">
            <a:avLst/>
          </a:prstGeom>
          <a:solidFill>
            <a:schemeClr val="accent1"/>
          </a:solidFill>
          <a:ln/>
        </p:spPr>
      </p:sp>
      <p:pic>
        <p:nvPicPr>
          <p:cNvPr id="19" name="Image 2" descr="Migrate and prove it icon">    </p:cNvPr>
          <p:cNvPicPr>
            <a:picLocks noChangeAspect="1"/>
          </p:cNvPicPr>
          <p:nvPr/>
        </p:nvPicPr>
        <p:blipFill>
          <a:blip r:embed="rId3"/>
          <a:stretch>
            <a:fillRect/>
          </a:stretch>
        </p:blipFill>
        <p:spPr>
          <a:xfrm>
            <a:off x="8444484" y="2162556"/>
            <a:ext cx="283464" cy="283464"/>
          </a:xfrm>
          <a:prstGeom prst="rect">
            <a:avLst/>
          </a:prstGeom>
        </p:spPr>
      </p:pic>
      <p:sp>
        <p:nvSpPr>
          <p:cNvPr id="20" name="Module label"/>
          <p:cNvSpPr txBox="1"/>
          <p:nvPr/>
        </p:nvSpPr>
        <p:spPr>
          <a:xfrm>
            <a:off x="9006840" y="205740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LAB A</a:t>
            </a:r>
            <a:endParaRPr lang="en-US" sz="1000" dirty="0"/>
          </a:p>
        </p:txBody>
      </p:sp>
      <p:sp>
        <p:nvSpPr>
          <p:cNvPr id="21" name="Outcome title"/>
          <p:cNvSpPr txBox="1"/>
          <p:nvPr/>
        </p:nvSpPr>
        <p:spPr>
          <a:xfrm>
            <a:off x="8302752" y="269748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Migrate and prove it</a:t>
            </a:r>
            <a:endParaRPr lang="en-US" sz="1800" dirty="0"/>
          </a:p>
        </p:txBody>
      </p:sp>
      <p:sp>
        <p:nvSpPr>
          <p:cNvPr id="22" name="Outcome text"/>
          <p:cNvSpPr txBox="1"/>
          <p:nvPr/>
        </p:nvSpPr>
        <p:spPr>
          <a:xfrm>
            <a:off x="8302752" y="3044952"/>
            <a:ext cx="3108960" cy="548640"/>
          </a:xfrm>
          <a:prstGeom prst="rect">
            <a:avLst/>
          </a:prstGeom>
          <a:noFill/>
          <a:ln/>
        </p:spPr>
        <p:txBody>
          <a:bodyPr wrap="square" lIns="0" tIns="0" rIns="0" bIns="0" rtlCol="0" anchor="t"/>
          <a:lstStyle/>
          <a:p>
            <a:pPr indent="0" marL="0">
              <a:buNone/>
            </a:pPr>
            <a:r>
              <a:rPr lang="en-US" sz="1300" dirty="0">
                <a:solidFill>
                  <a:schemeClr val="tx1"/>
                </a:solidFill>
              </a:rPr>
              <a:t>Rebuild a workflow in layers and show it matches to the cent.</a:t>
            </a:r>
            <a:endParaRPr lang="en-US" sz="1300" dirty="0"/>
          </a:p>
        </p:txBody>
      </p:sp>
      <p:sp>
        <p:nvSpPr>
          <p:cNvPr id="23" name="Outcome card 4"/>
          <p:cNvSpPr/>
          <p:nvPr/>
        </p:nvSpPr>
        <p:spPr>
          <a:xfrm>
            <a:off x="548640" y="3794760"/>
            <a:ext cx="3593592" cy="1874520"/>
          </a:xfrm>
          <a:prstGeom prst="roundRect">
            <a:avLst>
              <a:gd name="adj" fmla="val 5854"/>
            </a:avLst>
          </a:prstGeom>
          <a:solidFill>
            <a:schemeClr val="bg2"/>
          </a:solidFill>
          <a:ln/>
        </p:spPr>
      </p:sp>
      <p:sp>
        <p:nvSpPr>
          <p:cNvPr id="24" name="Build a front door badge"/>
          <p:cNvSpPr/>
          <p:nvPr/>
        </p:nvSpPr>
        <p:spPr>
          <a:xfrm>
            <a:off x="804672" y="4032504"/>
            <a:ext cx="566928" cy="566928"/>
          </a:xfrm>
          <a:prstGeom prst="ellipse">
            <a:avLst/>
          </a:prstGeom>
          <a:solidFill>
            <a:schemeClr val="accent2"/>
          </a:solidFill>
          <a:ln/>
        </p:spPr>
      </p:sp>
      <p:pic>
        <p:nvPicPr>
          <p:cNvPr id="25" name="Image 3" descr="Build a front door icon">    </p:cNvPr>
          <p:cNvPicPr>
            <a:picLocks noChangeAspect="1"/>
          </p:cNvPicPr>
          <p:nvPr/>
        </p:nvPicPr>
        <p:blipFill>
          <a:blip r:embed="rId4"/>
          <a:stretch>
            <a:fillRect/>
          </a:stretch>
        </p:blipFill>
        <p:spPr>
          <a:xfrm>
            <a:off x="946404" y="4174236"/>
            <a:ext cx="283464" cy="283464"/>
          </a:xfrm>
          <a:prstGeom prst="rect">
            <a:avLst/>
          </a:prstGeom>
        </p:spPr>
      </p:pic>
      <p:sp>
        <p:nvSpPr>
          <p:cNvPr id="26" name="Module label"/>
          <p:cNvSpPr txBox="1"/>
          <p:nvPr/>
        </p:nvSpPr>
        <p:spPr>
          <a:xfrm>
            <a:off x="1508760" y="40690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PORTAL-DRIVEN EXECUTION</a:t>
            </a:r>
            <a:endParaRPr lang="en-US" sz="1000" dirty="0"/>
          </a:p>
        </p:txBody>
      </p:sp>
      <p:sp>
        <p:nvSpPr>
          <p:cNvPr id="27" name="Outcome title"/>
          <p:cNvSpPr txBox="1"/>
          <p:nvPr/>
        </p:nvSpPr>
        <p:spPr>
          <a:xfrm>
            <a:off x="80467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Build a front door</a:t>
            </a:r>
            <a:endParaRPr lang="en-US" sz="1800" dirty="0"/>
          </a:p>
        </p:txBody>
      </p:sp>
      <p:sp>
        <p:nvSpPr>
          <p:cNvPr id="28" name="Outcome text"/>
          <p:cNvSpPr txBox="1"/>
          <p:nvPr/>
        </p:nvSpPr>
        <p:spPr>
          <a:xfrm>
            <a:off x="80467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Give a notebook inputs, a trigger and a status through a pipeline.</a:t>
            </a:r>
            <a:endParaRPr lang="en-US" sz="1300" dirty="0"/>
          </a:p>
        </p:txBody>
      </p:sp>
      <p:sp>
        <p:nvSpPr>
          <p:cNvPr id="29" name="Outcome card 5"/>
          <p:cNvSpPr/>
          <p:nvPr/>
        </p:nvSpPr>
        <p:spPr>
          <a:xfrm>
            <a:off x="4297680" y="3794760"/>
            <a:ext cx="3593592" cy="1874520"/>
          </a:xfrm>
          <a:prstGeom prst="roundRect">
            <a:avLst>
              <a:gd name="adj" fmla="val 5854"/>
            </a:avLst>
          </a:prstGeom>
          <a:solidFill>
            <a:schemeClr val="bg2"/>
          </a:solidFill>
          <a:ln/>
        </p:spPr>
      </p:sp>
      <p:sp>
        <p:nvSpPr>
          <p:cNvPr id="30" name="Publish to the business badge"/>
          <p:cNvSpPr/>
          <p:nvPr/>
        </p:nvSpPr>
        <p:spPr>
          <a:xfrm>
            <a:off x="4553712" y="4032504"/>
            <a:ext cx="566928" cy="566928"/>
          </a:xfrm>
          <a:prstGeom prst="ellipse">
            <a:avLst/>
          </a:prstGeom>
          <a:solidFill>
            <a:schemeClr val="accent2"/>
          </a:solidFill>
          <a:ln/>
        </p:spPr>
      </p:sp>
      <p:pic>
        <p:nvPicPr>
          <p:cNvPr id="31" name="Image 4" descr="Publish to the business icon">    </p:cNvPr>
          <p:cNvPicPr>
            <a:picLocks noChangeAspect="1"/>
          </p:cNvPicPr>
          <p:nvPr/>
        </p:nvPicPr>
        <p:blipFill>
          <a:blip r:embed="rId5"/>
          <a:stretch>
            <a:fillRect/>
          </a:stretch>
        </p:blipFill>
        <p:spPr>
          <a:xfrm>
            <a:off x="4695444" y="4174236"/>
            <a:ext cx="283464" cy="283464"/>
          </a:xfrm>
          <a:prstGeom prst="rect">
            <a:avLst/>
          </a:prstGeom>
        </p:spPr>
      </p:pic>
      <p:sp>
        <p:nvSpPr>
          <p:cNvPr id="32" name="Module label"/>
          <p:cNvSpPr txBox="1"/>
          <p:nvPr/>
        </p:nvSpPr>
        <p:spPr>
          <a:xfrm>
            <a:off x="5257800" y="40690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REPORTING AND POWER BI</a:t>
            </a:r>
            <a:endParaRPr lang="en-US" sz="1000" dirty="0"/>
          </a:p>
        </p:txBody>
      </p:sp>
      <p:sp>
        <p:nvSpPr>
          <p:cNvPr id="33" name="Outcome title"/>
          <p:cNvSpPr txBox="1"/>
          <p:nvPr/>
        </p:nvSpPr>
        <p:spPr>
          <a:xfrm>
            <a:off x="455371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Publish to the business</a:t>
            </a:r>
            <a:endParaRPr lang="en-US" sz="1800" dirty="0"/>
          </a:p>
        </p:txBody>
      </p:sp>
      <p:sp>
        <p:nvSpPr>
          <p:cNvPr id="34" name="Outcome text"/>
          <p:cNvSpPr txBox="1"/>
          <p:nvPr/>
        </p:nvSpPr>
        <p:spPr>
          <a:xfrm>
            <a:off x="455371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Put gold tables in a Power BI model and an Excel pivot.</a:t>
            </a:r>
            <a:endParaRPr lang="en-US" sz="1300" dirty="0"/>
          </a:p>
        </p:txBody>
      </p:sp>
      <p:sp>
        <p:nvSpPr>
          <p:cNvPr id="35" name="Outcome card 6"/>
          <p:cNvSpPr/>
          <p:nvPr/>
        </p:nvSpPr>
        <p:spPr>
          <a:xfrm>
            <a:off x="8046720" y="3794760"/>
            <a:ext cx="3593592" cy="1874520"/>
          </a:xfrm>
          <a:prstGeom prst="roundRect">
            <a:avLst>
              <a:gd name="adj" fmla="val 5854"/>
            </a:avLst>
          </a:prstGeom>
          <a:solidFill>
            <a:schemeClr val="bg2"/>
          </a:solidFill>
          <a:ln/>
        </p:spPr>
      </p:sp>
      <p:sp>
        <p:nvSpPr>
          <p:cNvPr id="36" name="Run, watch, re-run badge"/>
          <p:cNvSpPr/>
          <p:nvPr/>
        </p:nvSpPr>
        <p:spPr>
          <a:xfrm>
            <a:off x="8302752" y="4032504"/>
            <a:ext cx="566928" cy="566928"/>
          </a:xfrm>
          <a:prstGeom prst="ellipse">
            <a:avLst/>
          </a:prstGeom>
          <a:solidFill>
            <a:schemeClr val="accent2"/>
          </a:solidFill>
          <a:ln/>
        </p:spPr>
      </p:sp>
      <p:pic>
        <p:nvPicPr>
          <p:cNvPr id="37" name="Image 5" descr="Run, watch, re-run icon">    </p:cNvPr>
          <p:cNvPicPr>
            <a:picLocks noChangeAspect="1"/>
          </p:cNvPicPr>
          <p:nvPr/>
        </p:nvPicPr>
        <p:blipFill>
          <a:blip r:embed="rId6"/>
          <a:stretch>
            <a:fillRect/>
          </a:stretch>
        </p:blipFill>
        <p:spPr>
          <a:xfrm>
            <a:off x="8444484" y="4174236"/>
            <a:ext cx="283464" cy="283464"/>
          </a:xfrm>
          <a:prstGeom prst="rect">
            <a:avLst/>
          </a:prstGeom>
        </p:spPr>
      </p:pic>
      <p:sp>
        <p:nvSpPr>
          <p:cNvPr id="38" name="Module label"/>
          <p:cNvSpPr txBox="1"/>
          <p:nvPr/>
        </p:nvSpPr>
        <p:spPr>
          <a:xfrm>
            <a:off x="9006840" y="40690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LAB B</a:t>
            </a:r>
            <a:endParaRPr lang="en-US" sz="1000" dirty="0"/>
          </a:p>
        </p:txBody>
      </p:sp>
      <p:sp>
        <p:nvSpPr>
          <p:cNvPr id="39" name="Outcome title"/>
          <p:cNvSpPr txBox="1"/>
          <p:nvPr/>
        </p:nvSpPr>
        <p:spPr>
          <a:xfrm>
            <a:off x="8302752" y="4709160"/>
            <a:ext cx="31089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Run, watch, re-run</a:t>
            </a:r>
            <a:endParaRPr lang="en-US" sz="1800" dirty="0"/>
          </a:p>
        </p:txBody>
      </p:sp>
      <p:sp>
        <p:nvSpPr>
          <p:cNvPr id="40" name="Outcome text"/>
          <p:cNvSpPr txBox="1"/>
          <p:nvPr/>
        </p:nvSpPr>
        <p:spPr>
          <a:xfrm>
            <a:off x="8302752" y="5056632"/>
            <a:ext cx="3108960" cy="548640"/>
          </a:xfrm>
          <a:prstGeom prst="rect">
            <a:avLst/>
          </a:prstGeom>
          <a:noFill/>
          <a:ln/>
        </p:spPr>
        <p:txBody>
          <a:bodyPr wrap="square" lIns="0" tIns="0" rIns="0" bIns="0" rtlCol="0" anchor="t"/>
          <a:lstStyle/>
          <a:p>
            <a:pPr indent="0" marL="0">
              <a:buNone/>
            </a:pPr>
            <a:r>
              <a:rPr lang="en-US" sz="1300" dirty="0">
                <a:solidFill>
                  <a:schemeClr val="tx1"/>
                </a:solidFill>
              </a:rPr>
              <a:t>Read run history and repeat a run safely.</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BEFORE WE START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How the labs work</a:t>
            </a:r>
            <a:endParaRPr lang="en-US" sz="3200" dirty="0"/>
          </a:p>
        </p:txBody>
      </p:sp>
      <p:sp>
        <p:nvSpPr>
          <p:cNvPr id="5" name="Lab A card"/>
          <p:cNvSpPr/>
          <p:nvPr/>
        </p:nvSpPr>
        <p:spPr>
          <a:xfrm>
            <a:off x="548640" y="1783080"/>
            <a:ext cx="5468112" cy="1783080"/>
          </a:xfrm>
          <a:prstGeom prst="roundRect">
            <a:avLst>
              <a:gd name="adj" fmla="val 6154"/>
            </a:avLst>
          </a:prstGeom>
          <a:solidFill>
            <a:schemeClr val="bg2"/>
          </a:solidFill>
          <a:ln/>
        </p:spPr>
      </p:sp>
      <p:sp>
        <p:nvSpPr>
          <p:cNvPr id="6" name="Pill"/>
          <p:cNvSpPr txBox="1"/>
          <p:nvPr/>
        </p:nvSpPr>
        <p:spPr>
          <a:xfrm>
            <a:off x="777240" y="1920240"/>
            <a:ext cx="82296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LAB A</a:t>
            </a:r>
            <a:endParaRPr lang="en-US" sz="1100" dirty="0"/>
          </a:p>
        </p:txBody>
      </p:sp>
      <p:sp>
        <p:nvSpPr>
          <p:cNvPr id="7" name="Lab title"/>
          <p:cNvSpPr txBox="1"/>
          <p:nvPr/>
        </p:nvSpPr>
        <p:spPr>
          <a:xfrm>
            <a:off x="1737360" y="1892808"/>
            <a:ext cx="411480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Migrate a workflow</a:t>
            </a:r>
            <a:endParaRPr lang="en-US" sz="1800" dirty="0"/>
          </a:p>
        </p:txBody>
      </p:sp>
      <p:sp>
        <p:nvSpPr>
          <p:cNvPr id="8" name="Lab text"/>
          <p:cNvSpPr txBox="1"/>
          <p:nvPr/>
        </p:nvSpPr>
        <p:spPr>
          <a:xfrm>
            <a:off x="777240" y="2377440"/>
            <a:ext cx="5029200" cy="731520"/>
          </a:xfrm>
          <a:prstGeom prst="rect">
            <a:avLst/>
          </a:prstGeom>
          <a:noFill/>
          <a:ln/>
        </p:spPr>
        <p:txBody>
          <a:bodyPr wrap="square" lIns="0" tIns="0" rIns="0" bIns="0" rtlCol="0" anchor="t"/>
          <a:lstStyle/>
          <a:p>
            <a:pPr indent="0" marL="0">
              <a:buNone/>
            </a:pPr>
            <a:r>
              <a:rPr lang="en-US" sz="1350" dirty="0">
                <a:solidFill>
                  <a:schemeClr val="tx1"/>
                </a:solidFill>
              </a:rPr>
              <a:t>Rebuild the DST workflow in bronze, silver and gold from five files. Prove it matches the answer key.</a:t>
            </a:r>
            <a:endParaRPr lang="en-US" sz="1350" dirty="0"/>
          </a:p>
        </p:txBody>
      </p:sp>
      <p:sp>
        <p:nvSpPr>
          <p:cNvPr id="9" name="Lab timing"/>
          <p:cNvSpPr txBox="1"/>
          <p:nvPr/>
        </p:nvSpPr>
        <p:spPr>
          <a:xfrm>
            <a:off x="777240" y="3154680"/>
            <a:ext cx="5029200" cy="274320"/>
          </a:xfrm>
          <a:prstGeom prst="rect">
            <a:avLst/>
          </a:prstGeom>
          <a:noFill/>
          <a:ln/>
        </p:spPr>
        <p:txBody>
          <a:bodyPr wrap="square" lIns="0" tIns="0" rIns="0" bIns="0" rtlCol="0" anchor="t"/>
          <a:lstStyle/>
          <a:p>
            <a:pPr indent="0" marL="0">
              <a:buNone/>
            </a:pPr>
            <a:r>
              <a:rPr lang="en-US" sz="1200" i="1" dirty="0">
                <a:solidFill>
                  <a:schemeClr val="accent1"/>
                </a:solidFill>
              </a:rPr>
              <a:t>Part 3  ·  about 90 minutes</a:t>
            </a:r>
            <a:endParaRPr lang="en-US" sz="1200" dirty="0"/>
          </a:p>
        </p:txBody>
      </p:sp>
      <p:sp>
        <p:nvSpPr>
          <p:cNvPr id="10" name="Lab B card"/>
          <p:cNvSpPr/>
          <p:nvPr/>
        </p:nvSpPr>
        <p:spPr>
          <a:xfrm>
            <a:off x="6172200" y="1783080"/>
            <a:ext cx="5468112" cy="1783080"/>
          </a:xfrm>
          <a:prstGeom prst="roundRect">
            <a:avLst>
              <a:gd name="adj" fmla="val 6154"/>
            </a:avLst>
          </a:prstGeom>
          <a:solidFill>
            <a:schemeClr val="bg2"/>
          </a:solidFill>
          <a:ln/>
        </p:spPr>
      </p:sp>
      <p:sp>
        <p:nvSpPr>
          <p:cNvPr id="11" name="Pill"/>
          <p:cNvSpPr txBox="1"/>
          <p:nvPr/>
        </p:nvSpPr>
        <p:spPr>
          <a:xfrm>
            <a:off x="6400800" y="1920240"/>
            <a:ext cx="82296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LAB B</a:t>
            </a:r>
            <a:endParaRPr lang="en-US" sz="1100" dirty="0"/>
          </a:p>
        </p:txBody>
      </p:sp>
      <p:sp>
        <p:nvSpPr>
          <p:cNvPr id="12" name="Lab title"/>
          <p:cNvSpPr txBox="1"/>
          <p:nvPr/>
        </p:nvSpPr>
        <p:spPr>
          <a:xfrm>
            <a:off x="7360920" y="1892808"/>
            <a:ext cx="411480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Add a front door</a:t>
            </a:r>
            <a:endParaRPr lang="en-US" sz="1800" dirty="0"/>
          </a:p>
        </p:txBody>
      </p:sp>
      <p:sp>
        <p:nvSpPr>
          <p:cNvPr id="13" name="Lab text"/>
          <p:cNvSpPr txBox="1"/>
          <p:nvPr/>
        </p:nvSpPr>
        <p:spPr>
          <a:xfrm>
            <a:off x="6400800" y="2377440"/>
            <a:ext cx="5029200" cy="731520"/>
          </a:xfrm>
          <a:prstGeom prst="rect">
            <a:avLst/>
          </a:prstGeom>
          <a:noFill/>
          <a:ln/>
        </p:spPr>
        <p:txBody>
          <a:bodyPr wrap="square" lIns="0" tIns="0" rIns="0" bIns="0" rtlCol="0" anchor="t"/>
          <a:lstStyle/>
          <a:p>
            <a:pPr indent="0" marL="0">
              <a:buNone/>
            </a:pPr>
            <a:r>
              <a:rPr lang="en-US" sz="1350" dirty="0">
                <a:solidFill>
                  <a:schemeClr val="tx1"/>
                </a:solidFill>
              </a:rPr>
              <a:t>Give the Lab A notebook two inputs, a trigger and an output. Publish the result to a report.</a:t>
            </a:r>
            <a:endParaRPr lang="en-US" sz="1350" dirty="0"/>
          </a:p>
        </p:txBody>
      </p:sp>
      <p:sp>
        <p:nvSpPr>
          <p:cNvPr id="14" name="Lab timing"/>
          <p:cNvSpPr txBox="1"/>
          <p:nvPr/>
        </p:nvSpPr>
        <p:spPr>
          <a:xfrm>
            <a:off x="6400800" y="3154680"/>
            <a:ext cx="5029200" cy="274320"/>
          </a:xfrm>
          <a:prstGeom prst="rect">
            <a:avLst/>
          </a:prstGeom>
          <a:noFill/>
          <a:ln/>
        </p:spPr>
        <p:txBody>
          <a:bodyPr wrap="square" lIns="0" tIns="0" rIns="0" bIns="0" rtlCol="0" anchor="t"/>
          <a:lstStyle/>
          <a:p>
            <a:pPr indent="0" marL="0">
              <a:buNone/>
            </a:pPr>
            <a:r>
              <a:rPr lang="en-US" sz="1200" i="1" dirty="0">
                <a:solidFill>
                  <a:schemeClr val="accent1"/>
                </a:solidFill>
              </a:rPr>
              <a:t>Part 4  ·  about 90 minutes</a:t>
            </a:r>
            <a:endParaRPr lang="en-US" sz="1200" dirty="0"/>
          </a:p>
        </p:txBody>
      </p:sp>
      <p:sp>
        <p:nvSpPr>
          <p:cNvPr id="15" name="Before you start card"/>
          <p:cNvSpPr/>
          <p:nvPr/>
        </p:nvSpPr>
        <p:spPr>
          <a:xfrm>
            <a:off x="548640" y="3703320"/>
            <a:ext cx="5468112" cy="1783080"/>
          </a:xfrm>
          <a:prstGeom prst="roundRect">
            <a:avLst>
              <a:gd name="adj" fmla="val 6154"/>
            </a:avLst>
          </a:prstGeom>
          <a:solidFill>
            <a:schemeClr val="accent3">
              <a:alpha val="22000"/>
            </a:schemeClr>
          </a:solidFill>
          <a:ln/>
        </p:spPr>
      </p:sp>
      <p:sp>
        <p:nvSpPr>
          <p:cNvPr id="16" name="Pill"/>
          <p:cNvSpPr txBox="1"/>
          <p:nvPr/>
        </p:nvSpPr>
        <p:spPr>
          <a:xfrm>
            <a:off x="777240" y="3840480"/>
            <a:ext cx="16459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BEFORE YOU START</a:t>
            </a:r>
            <a:endParaRPr lang="en-US" sz="1050" dirty="0"/>
          </a:p>
        </p:txBody>
      </p:sp>
      <p:sp>
        <p:nvSpPr>
          <p:cNvPr id="17" name="Prerequisites list"/>
          <p:cNvSpPr txBox="1"/>
          <p:nvPr/>
        </p:nvSpPr>
        <p:spPr>
          <a:xfrm>
            <a:off x="777240" y="4224528"/>
            <a:ext cx="5029200" cy="1188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1"/>
                </a:solidFill>
              </a:rPr>
              <a:t>Fabric and Azure DevOps access confirmed. Pre-credentialed before day one.</a:t>
            </a:r>
            <a:endParaRPr lang="en-US" sz="1350" dirty="0"/>
          </a:p>
          <a:p>
            <a:pPr marL="342900" indent="-342900">
              <a:spcAft>
                <a:spcPts val="500"/>
              </a:spcAft>
              <a:buSzPct val="100000"/>
              <a:buChar char="•"/>
            </a:pPr>
            <a:r>
              <a:rPr lang="en-US" sz="1350" dirty="0">
                <a:solidFill>
                  <a:schemeClr val="tx1"/>
                </a:solidFill>
              </a:rPr>
              <a:t>Lab kit loaded: five files in Files/raw/dst.</a:t>
            </a:r>
            <a:endParaRPr lang="en-US" sz="1350" dirty="0"/>
          </a:p>
          <a:p>
            <a:pPr marL="342900" indent="-342900">
              <a:spcAft>
                <a:spcPts val="500"/>
              </a:spcAft>
              <a:buSzPct val="100000"/>
              <a:buChar char="•"/>
            </a:pPr>
            <a:r>
              <a:rPr lang="en-US" sz="1350" dirty="0">
                <a:solidFill>
                  <a:schemeClr val="tx1"/>
                </a:solidFill>
              </a:rPr>
              <a:t>Work in pairs. One keyboard, two sets of eyes.</a:t>
            </a:r>
            <a:endParaRPr lang="en-US" sz="1350" dirty="0"/>
          </a:p>
        </p:txBody>
      </p:sp>
      <p:sp>
        <p:nvSpPr>
          <p:cNvPr id="18" name="Handled elsewhere card"/>
          <p:cNvSpPr/>
          <p:nvPr/>
        </p:nvSpPr>
        <p:spPr>
          <a:xfrm>
            <a:off x="6172200" y="3703320"/>
            <a:ext cx="5468112" cy="1783080"/>
          </a:xfrm>
          <a:prstGeom prst="roundRect">
            <a:avLst>
              <a:gd name="adj" fmla="val 6154"/>
            </a:avLst>
          </a:prstGeom>
          <a:solidFill>
            <a:schemeClr val="bg2"/>
          </a:solidFill>
          <a:ln/>
        </p:spPr>
      </p:sp>
      <p:sp>
        <p:nvSpPr>
          <p:cNvPr id="19" name="Pill"/>
          <p:cNvSpPr txBox="1"/>
          <p:nvPr/>
        </p:nvSpPr>
        <p:spPr>
          <a:xfrm>
            <a:off x="6400800" y="3840480"/>
            <a:ext cx="2834640" cy="274320"/>
          </a:xfrm>
          <a:prstGeom prst="roundRect">
            <a:avLst>
              <a:gd name="adj" fmla="val 50000"/>
            </a:avLst>
          </a:prstGeom>
          <a:solidFill>
            <a:schemeClr val="tx1"/>
          </a:solidFill>
          <a:ln/>
        </p:spPr>
        <p:txBody>
          <a:bodyPr wrap="square" lIns="0" tIns="0" rIns="0" bIns="0" rtlCol="0" anchor="ctr"/>
          <a:lstStyle/>
          <a:p>
            <a:pPr algn="ctr" indent="0" marL="0">
              <a:buNone/>
            </a:pPr>
            <a:r>
              <a:rPr lang="en-US" sz="1050" b="1" spc="200" kern="0" dirty="0">
                <a:solidFill>
                  <a:schemeClr val="bg1"/>
                </a:solidFill>
              </a:rPr>
              <a:t>HANDLED IN OTHER SESSIONS</a:t>
            </a:r>
            <a:endParaRPr lang="en-US" sz="1050" dirty="0"/>
          </a:p>
        </p:txBody>
      </p:sp>
      <p:sp>
        <p:nvSpPr>
          <p:cNvPr id="20" name="Out of scope list"/>
          <p:cNvSpPr txBox="1"/>
          <p:nvPr/>
        </p:nvSpPr>
        <p:spPr>
          <a:xfrm>
            <a:off x="6400800" y="4224528"/>
            <a:ext cx="5029200" cy="118872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1"/>
                </a:solidFill>
              </a:rPr>
              <a:t>Bring-your-own-workflow migration: a separate Disney working session.</a:t>
            </a:r>
            <a:endParaRPr lang="en-US" sz="1350" dirty="0"/>
          </a:p>
          <a:p>
            <a:pPr marL="342900" indent="-342900">
              <a:spcAft>
                <a:spcPts val="500"/>
              </a:spcAft>
              <a:buSzPct val="100000"/>
              <a:buChar char="•"/>
            </a:pPr>
            <a:r>
              <a:rPr lang="en-US" sz="1350" dirty="0">
                <a:solidFill>
                  <a:schemeClr val="tx1"/>
                </a:solidFill>
              </a:rPr>
              <a:t>Platform security and governance: Disney Enterprise Technology.</a:t>
            </a:r>
            <a:endParaRPr lang="en-US" sz="1350" dirty="0"/>
          </a:p>
          <a:p>
            <a:pPr marL="342900" indent="-342900">
              <a:spcAft>
                <a:spcPts val="500"/>
              </a:spcAft>
              <a:buSzPct val="100000"/>
              <a:buChar char="•"/>
            </a:pPr>
            <a:r>
              <a:rPr lang="en-US" sz="1350" dirty="0">
                <a:solidFill>
                  <a:schemeClr val="tx1"/>
                </a:solidFill>
              </a:rPr>
              <a:t>Git, deployment and go-live: Day Three.</a:t>
            </a:r>
            <a:endParaRPr lang="en-US" sz="1350" dirty="0"/>
          </a:p>
        </p:txBody>
      </p:sp>
      <p:sp>
        <p:nvSpPr>
          <p:cNvPr id="21" name="Footnote"/>
          <p:cNvSpPr txBox="1"/>
          <p:nvPr/>
        </p:nvSpPr>
        <p:spPr>
          <a:xfrm>
            <a:off x="548640" y="56692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agreed agenda, Fabric Training and Enablement, October 2026. Lab data is invented and shaped like the DST workflow.</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PART 3</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Data Engineering in Fabric</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How workflows get built in the new environment. Hands-on.</a:t>
            </a:r>
            <a:endParaRPr lang="en-US" sz="1800" dirty="0"/>
          </a:p>
        </p:txBody>
      </p:sp>
      <p:sp>
        <p:nvSpPr>
          <p:cNvPr id="6" name="Part number watermark"/>
          <p:cNvSpPr txBox="1"/>
          <p:nvPr/>
        </p:nvSpPr>
        <p:spPr>
          <a:xfrm>
            <a:off x="7498080" y="822960"/>
            <a:ext cx="4206240" cy="2926080"/>
          </a:xfrm>
          <a:prstGeom prst="rect">
            <a:avLst/>
          </a:prstGeom>
          <a:noFill/>
          <a:ln/>
        </p:spPr>
        <p:txBody>
          <a:bodyPr wrap="square" lIns="0" tIns="0" rIns="0" bIns="0" rtlCol="0" anchor="ctr"/>
          <a:lstStyle/>
          <a:p>
            <a:pPr algn="r" indent="0" marL="0">
              <a:buNone/>
            </a:pPr>
            <a:r>
              <a:rPr lang="en-US" sz="20000" b="1" dirty="0">
                <a:solidFill>
                  <a:schemeClr val="bg1">
                    <a:alpha val="18000"/>
                  </a:schemeClr>
                </a:solidFill>
                <a:latin typeface="+mj-lt" pitchFamily="34" charset="0"/>
                <a:ea typeface="+mj-lt" pitchFamily="34" charset="-122"/>
                <a:cs typeface="+mj-lt" pitchFamily="34" charset="-120"/>
              </a:rPr>
              <a:t>03</a:t>
            </a:r>
            <a:endParaRPr lang="en-US" sz="20000" dirty="0"/>
          </a:p>
        </p:txBody>
      </p:sp>
      <p:sp>
        <p:nvSpPr>
          <p:cNvPr id="7" name="Module list"/>
          <p:cNvSpPr txBox="1"/>
          <p:nvPr/>
        </p:nvSpPr>
        <p:spPr>
          <a:xfrm>
            <a:off x="7680960" y="4160520"/>
            <a:ext cx="3931920" cy="109728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1   Notebook development</a:t>
            </a:r>
            <a:endParaRPr lang="en-US" sz="1800" dirty="0"/>
          </a:p>
          <a:p>
            <a:pPr indent="0" marL="0">
              <a:spcAft>
                <a:spcPts val="600"/>
              </a:spcAft>
              <a:buNone/>
            </a:pPr>
            <a:r>
              <a:rPr lang="en-US" sz="1800" dirty="0">
                <a:solidFill>
                  <a:schemeClr val="bg1"/>
                </a:solidFill>
              </a:rPr>
              <a:t>2   Alteryx to notebooks</a:t>
            </a:r>
            <a:endParaRPr lang="en-US" sz="1800" dirty="0"/>
          </a:p>
          <a:p>
            <a:pPr indent="0" marL="0">
              <a:spcAft>
                <a:spcPts val="600"/>
              </a:spcAft>
              <a:buNone/>
            </a:pPr>
            <a:r>
              <a:rPr lang="en-US" sz="1800" dirty="0">
                <a:solidFill>
                  <a:schemeClr val="bg1"/>
                </a:solidFill>
              </a:rPr>
              <a:t>3   Lab A: migrate a workflow</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Notebook, pipeline or dataflow? Pick by the job</a:t>
            </a:r>
            <a:endParaRPr lang="en-US" sz="3200" dirty="0"/>
          </a:p>
        </p:txBody>
      </p:sp>
      <p:sp>
        <p:nvSpPr>
          <p:cNvPr id="5" name="Notebook card"/>
          <p:cNvSpPr/>
          <p:nvPr/>
        </p:nvSpPr>
        <p:spPr>
          <a:xfrm>
            <a:off x="548640" y="1783080"/>
            <a:ext cx="3593592" cy="2788920"/>
          </a:xfrm>
          <a:prstGeom prst="roundRect">
            <a:avLst>
              <a:gd name="adj" fmla="val 3934"/>
            </a:avLst>
          </a:prstGeom>
          <a:solidFill>
            <a:schemeClr val="bg2"/>
          </a:solidFill>
          <a:ln/>
        </p:spPr>
      </p:sp>
      <p:sp>
        <p:nvSpPr>
          <p:cNvPr id="6" name="Notebook badge"/>
          <p:cNvSpPr/>
          <p:nvPr/>
        </p:nvSpPr>
        <p:spPr>
          <a:xfrm>
            <a:off x="777240" y="1938528"/>
            <a:ext cx="512064" cy="512064"/>
          </a:xfrm>
          <a:prstGeom prst="ellipse">
            <a:avLst/>
          </a:prstGeom>
          <a:solidFill>
            <a:schemeClr val="accent1"/>
          </a:solidFill>
          <a:ln/>
        </p:spPr>
      </p:sp>
      <p:pic>
        <p:nvPicPr>
          <p:cNvPr id="7" name="Image 0" descr="Notebook icon">    </p:cNvPr>
          <p:cNvPicPr>
            <a:picLocks noChangeAspect="1"/>
          </p:cNvPicPr>
          <p:nvPr/>
        </p:nvPicPr>
        <p:blipFill>
          <a:blip r:embed="rId1"/>
          <a:stretch>
            <a:fillRect/>
          </a:stretch>
        </p:blipFill>
        <p:spPr>
          <a:xfrm>
            <a:off x="905256" y="2066544"/>
            <a:ext cx="256032" cy="256032"/>
          </a:xfrm>
          <a:prstGeom prst="rect">
            <a:avLst/>
          </a:prstGeom>
        </p:spPr>
      </p:pic>
      <p:sp>
        <p:nvSpPr>
          <p:cNvPr id="8" name="Item name"/>
          <p:cNvSpPr txBox="1"/>
          <p:nvPr/>
        </p:nvSpPr>
        <p:spPr>
          <a:xfrm>
            <a:off x="1417320" y="1938528"/>
            <a:ext cx="2606040" cy="512064"/>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Notebook</a:t>
            </a:r>
            <a:endParaRPr lang="en-US" sz="1900" dirty="0"/>
          </a:p>
        </p:txBody>
      </p:sp>
      <p:sp>
        <p:nvSpPr>
          <p:cNvPr id="9" name="Item purpose"/>
          <p:cNvSpPr txBox="1"/>
          <p:nvPr/>
        </p:nvSpPr>
        <p:spPr>
          <a:xfrm>
            <a:off x="777240" y="2651760"/>
            <a:ext cx="3154680" cy="594360"/>
          </a:xfrm>
          <a:prstGeom prst="rect">
            <a:avLst/>
          </a:prstGeom>
          <a:noFill/>
          <a:ln/>
        </p:spPr>
        <p:txBody>
          <a:bodyPr wrap="square" lIns="0" tIns="0" rIns="0" bIns="0" rtlCol="0" anchor="t"/>
          <a:lstStyle/>
          <a:p>
            <a:pPr indent="0" marL="0">
              <a:buNone/>
            </a:pPr>
            <a:r>
              <a:rPr lang="en-US" sz="1400" b="1" dirty="0">
                <a:solidFill>
                  <a:schemeClr val="tx1"/>
                </a:solidFill>
              </a:rPr>
              <a:t>Transformation logic you can read, test and re-run.</a:t>
            </a:r>
            <a:endParaRPr lang="en-US" sz="1400" dirty="0"/>
          </a:p>
        </p:txBody>
      </p:sp>
      <p:sp>
        <p:nvSpPr>
          <p:cNvPr id="10" name="Item best at"/>
          <p:cNvSpPr txBox="1"/>
          <p:nvPr/>
        </p:nvSpPr>
        <p:spPr>
          <a:xfrm>
            <a:off x="777240" y="3291840"/>
            <a:ext cx="3154680" cy="594360"/>
          </a:xfrm>
          <a:prstGeom prst="rect">
            <a:avLst/>
          </a:prstGeom>
          <a:noFill/>
          <a:ln/>
        </p:spPr>
        <p:txBody>
          <a:bodyPr wrap="square" lIns="0" tIns="0" rIns="0" bIns="0" rtlCol="0" anchor="t"/>
          <a:lstStyle/>
          <a:p>
            <a:pPr indent="0" marL="0">
              <a:buNone/>
            </a:pPr>
            <a:r>
              <a:rPr lang="en-US" sz="1250" b="1" dirty="0">
                <a:solidFill>
                  <a:schemeClr val="accent1"/>
                </a:solidFill>
              </a:rPr>
              <a:t>Best at: </a:t>
            </a:r>
            <a:pPr indent="0" marL="0">
              <a:buNone/>
            </a:pPr>
            <a:r>
              <a:rPr lang="en-US" sz="1250" dirty="0">
                <a:solidFill>
                  <a:schemeClr val="tx1"/>
                </a:solidFill>
              </a:rPr>
              <a:t>Joins, windows, business rules, anything that needs code.</a:t>
            </a:r>
            <a:endParaRPr lang="en-US" sz="1250" dirty="0"/>
          </a:p>
        </p:txBody>
      </p:sp>
      <p:sp>
        <p:nvSpPr>
          <p:cNvPr id="11" name="Item analogue"/>
          <p:cNvSpPr txBox="1"/>
          <p:nvPr/>
        </p:nvSpPr>
        <p:spPr>
          <a:xfrm>
            <a:off x="777240" y="3931920"/>
            <a:ext cx="3154680" cy="502920"/>
          </a:xfrm>
          <a:prstGeom prst="rect">
            <a:avLst/>
          </a:prstGeom>
          <a:noFill/>
          <a:ln/>
        </p:spPr>
        <p:txBody>
          <a:bodyPr wrap="square" lIns="0" tIns="0" rIns="0" bIns="0" rtlCol="0" anchor="t"/>
          <a:lstStyle/>
          <a:p>
            <a:pPr indent="0" marL="0">
              <a:buNone/>
            </a:pPr>
            <a:r>
              <a:rPr lang="en-US" sz="1250" b="1" dirty="0">
                <a:solidFill>
                  <a:schemeClr val="accent2"/>
                </a:solidFill>
              </a:rPr>
              <a:t>In Alteryx: </a:t>
            </a:r>
            <a:pPr indent="0" marL="0">
              <a:buNone/>
            </a:pPr>
            <a:r>
              <a:rPr lang="en-US" sz="1250" dirty="0">
                <a:solidFill>
                  <a:schemeClr val="tx1"/>
                </a:solidFill>
              </a:rPr>
              <a:t>The tool chain on the canvas</a:t>
            </a:r>
            <a:endParaRPr lang="en-US" sz="1250" dirty="0"/>
          </a:p>
        </p:txBody>
      </p:sp>
      <p:sp>
        <p:nvSpPr>
          <p:cNvPr id="12" name="Pipeline card"/>
          <p:cNvSpPr/>
          <p:nvPr/>
        </p:nvSpPr>
        <p:spPr>
          <a:xfrm>
            <a:off x="4297680" y="1783080"/>
            <a:ext cx="3593592" cy="2788920"/>
          </a:xfrm>
          <a:prstGeom prst="roundRect">
            <a:avLst>
              <a:gd name="adj" fmla="val 3934"/>
            </a:avLst>
          </a:prstGeom>
          <a:solidFill>
            <a:schemeClr val="bg2"/>
          </a:solidFill>
          <a:ln/>
        </p:spPr>
      </p:sp>
      <p:sp>
        <p:nvSpPr>
          <p:cNvPr id="13" name="Pipeline badge"/>
          <p:cNvSpPr/>
          <p:nvPr/>
        </p:nvSpPr>
        <p:spPr>
          <a:xfrm>
            <a:off x="4526280" y="1938528"/>
            <a:ext cx="512064" cy="512064"/>
          </a:xfrm>
          <a:prstGeom prst="ellipse">
            <a:avLst/>
          </a:prstGeom>
          <a:solidFill>
            <a:schemeClr val="accent2"/>
          </a:solidFill>
          <a:ln/>
        </p:spPr>
      </p:sp>
      <p:pic>
        <p:nvPicPr>
          <p:cNvPr id="14" name="Image 1" descr="Pipeline icon">    </p:cNvPr>
          <p:cNvPicPr>
            <a:picLocks noChangeAspect="1"/>
          </p:cNvPicPr>
          <p:nvPr/>
        </p:nvPicPr>
        <p:blipFill>
          <a:blip r:embed="rId2"/>
          <a:stretch>
            <a:fillRect/>
          </a:stretch>
        </p:blipFill>
        <p:spPr>
          <a:xfrm>
            <a:off x="4654296" y="2066544"/>
            <a:ext cx="256032" cy="256032"/>
          </a:xfrm>
          <a:prstGeom prst="rect">
            <a:avLst/>
          </a:prstGeom>
        </p:spPr>
      </p:pic>
      <p:sp>
        <p:nvSpPr>
          <p:cNvPr id="15" name="Item name"/>
          <p:cNvSpPr txBox="1"/>
          <p:nvPr/>
        </p:nvSpPr>
        <p:spPr>
          <a:xfrm>
            <a:off x="5166360" y="1938528"/>
            <a:ext cx="2606040" cy="512064"/>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Pipeline</a:t>
            </a:r>
            <a:endParaRPr lang="en-US" sz="1900" dirty="0"/>
          </a:p>
        </p:txBody>
      </p:sp>
      <p:sp>
        <p:nvSpPr>
          <p:cNvPr id="16" name="Item purpose"/>
          <p:cNvSpPr txBox="1"/>
          <p:nvPr/>
        </p:nvSpPr>
        <p:spPr>
          <a:xfrm>
            <a:off x="4526280" y="2651760"/>
            <a:ext cx="3154680" cy="594360"/>
          </a:xfrm>
          <a:prstGeom prst="rect">
            <a:avLst/>
          </a:prstGeom>
          <a:noFill/>
          <a:ln/>
        </p:spPr>
        <p:txBody>
          <a:bodyPr wrap="square" lIns="0" tIns="0" rIns="0" bIns="0" rtlCol="0" anchor="t"/>
          <a:lstStyle/>
          <a:p>
            <a:pPr indent="0" marL="0">
              <a:buNone/>
            </a:pPr>
            <a:r>
              <a:rPr lang="en-US" sz="1400" b="1" dirty="0">
                <a:solidFill>
                  <a:schemeClr val="tx1"/>
                </a:solidFill>
              </a:rPr>
              <a:t>The order, the parameters, the schedule and the retries.</a:t>
            </a:r>
            <a:endParaRPr lang="en-US" sz="1400" dirty="0"/>
          </a:p>
        </p:txBody>
      </p:sp>
      <p:sp>
        <p:nvSpPr>
          <p:cNvPr id="17" name="Item best at"/>
          <p:cNvSpPr txBox="1"/>
          <p:nvPr/>
        </p:nvSpPr>
        <p:spPr>
          <a:xfrm>
            <a:off x="4526280" y="3291840"/>
            <a:ext cx="3154680" cy="594360"/>
          </a:xfrm>
          <a:prstGeom prst="rect">
            <a:avLst/>
          </a:prstGeom>
          <a:noFill/>
          <a:ln/>
        </p:spPr>
        <p:txBody>
          <a:bodyPr wrap="square" lIns="0" tIns="0" rIns="0" bIns="0" rtlCol="0" anchor="t"/>
          <a:lstStyle/>
          <a:p>
            <a:pPr indent="0" marL="0">
              <a:buNone/>
            </a:pPr>
            <a:r>
              <a:rPr lang="en-US" sz="1250" b="1" dirty="0">
                <a:solidFill>
                  <a:schemeClr val="accent1"/>
                </a:solidFill>
              </a:rPr>
              <a:t>Best at: </a:t>
            </a:r>
            <a:pPr indent="0" marL="0">
              <a:buNone/>
            </a:pPr>
            <a:r>
              <a:rPr lang="en-US" sz="1250" dirty="0">
                <a:solidFill>
                  <a:schemeClr val="tx1"/>
                </a:solidFill>
              </a:rPr>
              <a:t>Running steps in sequence and telling people what happened.</a:t>
            </a:r>
            <a:endParaRPr lang="en-US" sz="1250" dirty="0"/>
          </a:p>
        </p:txBody>
      </p:sp>
      <p:sp>
        <p:nvSpPr>
          <p:cNvPr id="18" name="Item analogue"/>
          <p:cNvSpPr txBox="1"/>
          <p:nvPr/>
        </p:nvSpPr>
        <p:spPr>
          <a:xfrm>
            <a:off x="4526280" y="3931920"/>
            <a:ext cx="3154680" cy="502920"/>
          </a:xfrm>
          <a:prstGeom prst="rect">
            <a:avLst/>
          </a:prstGeom>
          <a:noFill/>
          <a:ln/>
        </p:spPr>
        <p:txBody>
          <a:bodyPr wrap="square" lIns="0" tIns="0" rIns="0" bIns="0" rtlCol="0" anchor="t"/>
          <a:lstStyle/>
          <a:p>
            <a:pPr indent="0" marL="0">
              <a:buNone/>
            </a:pPr>
            <a:r>
              <a:rPr lang="en-US" sz="1250" b="1" dirty="0">
                <a:solidFill>
                  <a:schemeClr val="accent2"/>
                </a:solidFill>
              </a:rPr>
              <a:t>In Alteryx: </a:t>
            </a:r>
            <a:pPr indent="0" marL="0">
              <a:buNone/>
            </a:pPr>
            <a:r>
              <a:rPr lang="en-US" sz="1250" dirty="0">
                <a:solidFill>
                  <a:schemeClr val="tx1"/>
                </a:solidFill>
              </a:rPr>
              <a:t>Server schedule and app inputs</a:t>
            </a:r>
            <a:endParaRPr lang="en-US" sz="1250" dirty="0"/>
          </a:p>
        </p:txBody>
      </p:sp>
      <p:sp>
        <p:nvSpPr>
          <p:cNvPr id="19" name="Dataflow Gen2 card"/>
          <p:cNvSpPr/>
          <p:nvPr/>
        </p:nvSpPr>
        <p:spPr>
          <a:xfrm>
            <a:off x="8046720" y="1783080"/>
            <a:ext cx="3593592" cy="2788920"/>
          </a:xfrm>
          <a:prstGeom prst="roundRect">
            <a:avLst>
              <a:gd name="adj" fmla="val 3934"/>
            </a:avLst>
          </a:prstGeom>
          <a:solidFill>
            <a:schemeClr val="bg2"/>
          </a:solidFill>
          <a:ln/>
        </p:spPr>
      </p:sp>
      <p:sp>
        <p:nvSpPr>
          <p:cNvPr id="20" name="Dataflow Gen2 badge"/>
          <p:cNvSpPr/>
          <p:nvPr/>
        </p:nvSpPr>
        <p:spPr>
          <a:xfrm>
            <a:off x="8275320" y="1938528"/>
            <a:ext cx="512064" cy="512064"/>
          </a:xfrm>
          <a:prstGeom prst="ellipse">
            <a:avLst/>
          </a:prstGeom>
          <a:solidFill>
            <a:schemeClr val="tx2"/>
          </a:solidFill>
          <a:ln/>
        </p:spPr>
      </p:sp>
      <p:pic>
        <p:nvPicPr>
          <p:cNvPr id="21" name="Image 2" descr="Dataflow Gen2 icon">    </p:cNvPr>
          <p:cNvPicPr>
            <a:picLocks noChangeAspect="1"/>
          </p:cNvPicPr>
          <p:nvPr/>
        </p:nvPicPr>
        <p:blipFill>
          <a:blip r:embed="rId3"/>
          <a:stretch>
            <a:fillRect/>
          </a:stretch>
        </p:blipFill>
        <p:spPr>
          <a:xfrm>
            <a:off x="8403336" y="2066544"/>
            <a:ext cx="256032" cy="256032"/>
          </a:xfrm>
          <a:prstGeom prst="rect">
            <a:avLst/>
          </a:prstGeom>
        </p:spPr>
      </p:pic>
      <p:sp>
        <p:nvSpPr>
          <p:cNvPr id="22" name="Item name"/>
          <p:cNvSpPr txBox="1"/>
          <p:nvPr/>
        </p:nvSpPr>
        <p:spPr>
          <a:xfrm>
            <a:off x="8915400" y="1938528"/>
            <a:ext cx="2606040" cy="512064"/>
          </a:xfrm>
          <a:prstGeom prst="rect">
            <a:avLst/>
          </a:prstGeom>
          <a:noFill/>
          <a:ln/>
        </p:spPr>
        <p:txBody>
          <a:bodyPr wrap="square" lIns="0" tIns="0" rIns="0" bIns="0" rtlCol="0" anchor="ctr"/>
          <a:lstStyle/>
          <a:p>
            <a:pPr indent="0" marL="0">
              <a:buNone/>
            </a:pPr>
            <a:r>
              <a:rPr lang="en-US" sz="1900" b="1" dirty="0">
                <a:solidFill>
                  <a:schemeClr val="tx1"/>
                </a:solidFill>
                <a:latin typeface="+mj-lt" pitchFamily="34" charset="0"/>
                <a:ea typeface="+mj-lt" pitchFamily="34" charset="-122"/>
                <a:cs typeface="+mj-lt" pitchFamily="34" charset="-120"/>
              </a:rPr>
              <a:t>Dataflow Gen2</a:t>
            </a:r>
            <a:endParaRPr lang="en-US" sz="1900" dirty="0"/>
          </a:p>
        </p:txBody>
      </p:sp>
      <p:sp>
        <p:nvSpPr>
          <p:cNvPr id="23" name="Item purpose"/>
          <p:cNvSpPr txBox="1"/>
          <p:nvPr/>
        </p:nvSpPr>
        <p:spPr>
          <a:xfrm>
            <a:off x="8275320" y="2651760"/>
            <a:ext cx="3154680" cy="594360"/>
          </a:xfrm>
          <a:prstGeom prst="rect">
            <a:avLst/>
          </a:prstGeom>
          <a:noFill/>
          <a:ln/>
        </p:spPr>
        <p:txBody>
          <a:bodyPr wrap="square" lIns="0" tIns="0" rIns="0" bIns="0" rtlCol="0" anchor="t"/>
          <a:lstStyle/>
          <a:p>
            <a:pPr indent="0" marL="0">
              <a:buNone/>
            </a:pPr>
            <a:r>
              <a:rPr lang="en-US" sz="1400" b="1" dirty="0">
                <a:solidFill>
                  <a:schemeClr val="tx1"/>
                </a:solidFill>
              </a:rPr>
              <a:t>Low-code Power Query transforms in the cloud.</a:t>
            </a:r>
            <a:endParaRPr lang="en-US" sz="1400" dirty="0"/>
          </a:p>
        </p:txBody>
      </p:sp>
      <p:sp>
        <p:nvSpPr>
          <p:cNvPr id="24" name="Item best at"/>
          <p:cNvSpPr txBox="1"/>
          <p:nvPr/>
        </p:nvSpPr>
        <p:spPr>
          <a:xfrm>
            <a:off x="8275320" y="3291840"/>
            <a:ext cx="3154680" cy="594360"/>
          </a:xfrm>
          <a:prstGeom prst="rect">
            <a:avLst/>
          </a:prstGeom>
          <a:noFill/>
          <a:ln/>
        </p:spPr>
        <p:txBody>
          <a:bodyPr wrap="square" lIns="0" tIns="0" rIns="0" bIns="0" rtlCol="0" anchor="t"/>
          <a:lstStyle/>
          <a:p>
            <a:pPr indent="0" marL="0">
              <a:buNone/>
            </a:pPr>
            <a:r>
              <a:rPr lang="en-US" sz="1250" b="1" dirty="0">
                <a:solidFill>
                  <a:schemeClr val="accent1"/>
                </a:solidFill>
              </a:rPr>
              <a:t>Best at: </a:t>
            </a:r>
            <a:pPr indent="0" marL="0">
              <a:buNone/>
            </a:pPr>
            <a:r>
              <a:rPr lang="en-US" sz="1250" dirty="0">
                <a:solidFill>
                  <a:schemeClr val="tx1"/>
                </a:solidFill>
              </a:rPr>
              <a:t>Loading and shaping small reference tables.</a:t>
            </a:r>
            <a:endParaRPr lang="en-US" sz="1250" dirty="0"/>
          </a:p>
        </p:txBody>
      </p:sp>
      <p:sp>
        <p:nvSpPr>
          <p:cNvPr id="25" name="Item analogue"/>
          <p:cNvSpPr txBox="1"/>
          <p:nvPr/>
        </p:nvSpPr>
        <p:spPr>
          <a:xfrm>
            <a:off x="8275320" y="3931920"/>
            <a:ext cx="3154680" cy="502920"/>
          </a:xfrm>
          <a:prstGeom prst="rect">
            <a:avLst/>
          </a:prstGeom>
          <a:noFill/>
          <a:ln/>
        </p:spPr>
        <p:txBody>
          <a:bodyPr wrap="square" lIns="0" tIns="0" rIns="0" bIns="0" rtlCol="0" anchor="t"/>
          <a:lstStyle/>
          <a:p>
            <a:pPr indent="0" marL="0">
              <a:buNone/>
            </a:pPr>
            <a:r>
              <a:rPr lang="en-US" sz="1250" b="1" dirty="0">
                <a:solidFill>
                  <a:schemeClr val="accent2"/>
                </a:solidFill>
              </a:rPr>
              <a:t>In Alteryx: </a:t>
            </a:r>
            <a:pPr indent="0" marL="0">
              <a:buNone/>
            </a:pPr>
            <a:r>
              <a:rPr lang="en-US" sz="1250" dirty="0">
                <a:solidFill>
                  <a:schemeClr val="tx1"/>
                </a:solidFill>
              </a:rPr>
              <a:t>Input and Data Cleansing tools</a:t>
            </a:r>
            <a:endParaRPr lang="en-US" sz="1250" dirty="0"/>
          </a:p>
        </p:txBody>
      </p:sp>
      <p:sp>
        <p:nvSpPr>
          <p:cNvPr id="26" name="Strip label"/>
          <p:cNvSpPr txBox="1"/>
          <p:nvPr/>
        </p:nvSpPr>
        <p:spPr>
          <a:xfrm>
            <a:off x="548640" y="4700016"/>
            <a:ext cx="548640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IN THE DST PROOF OF CONCEPT</a:t>
            </a:r>
            <a:endParaRPr lang="en-US" sz="1000" dirty="0"/>
          </a:p>
        </p:txBody>
      </p:sp>
      <p:sp>
        <p:nvSpPr>
          <p:cNvPr id="27" name="Activity Log_Pipeline_Start"/>
          <p:cNvSpPr txBox="1"/>
          <p:nvPr/>
        </p:nvSpPr>
        <p:spPr>
          <a:xfrm>
            <a:off x="548640" y="4956048"/>
            <a:ext cx="3337560" cy="457200"/>
          </a:xfrm>
          <a:prstGeom prst="roundRect">
            <a:avLst>
              <a:gd name="adj" fmla="val 20000"/>
            </a:avLst>
          </a:prstGeom>
          <a:solidFill>
            <a:schemeClr val="tx1"/>
          </a:solidFill>
          <a:ln/>
        </p:spPr>
        <p:txBody>
          <a:bodyPr wrap="square" lIns="177800" tIns="0" rIns="101600" bIns="0" rtlCol="0" anchor="ctr"/>
          <a:lstStyle/>
          <a:p>
            <a:pPr indent="0" marL="0">
              <a:buNone/>
            </a:pPr>
            <a:r>
              <a:rPr lang="en-US" sz="1250" b="1" dirty="0">
                <a:solidFill>
                  <a:schemeClr val="accent2"/>
                </a:solidFill>
              </a:rPr>
              <a:t>Pipeline  </a:t>
            </a:r>
            <a:pPr indent="0" marL="0">
              <a:buNone/>
            </a:pPr>
            <a:r>
              <a:rPr lang="en-US" sz="1250" dirty="0">
                <a:solidFill>
                  <a:schemeClr val="bg1"/>
                </a:solidFill>
                <a:latin typeface="Courier New" pitchFamily="34" charset="0"/>
                <a:ea typeface="Courier New" pitchFamily="34" charset="-122"/>
                <a:cs typeface="Courier New" pitchFamily="34" charset="-120"/>
              </a:rPr>
              <a:t>Log_Pipeline_Start</a:t>
            </a:r>
            <a:endParaRPr lang="en-US" sz="1250" dirty="0"/>
          </a:p>
        </p:txBody>
      </p:sp>
      <p:sp>
        <p:nvSpPr>
          <p:cNvPr id="28" name="Order arrow 1"/>
          <p:cNvSpPr/>
          <p:nvPr/>
        </p:nvSpPr>
        <p:spPr>
          <a:xfrm>
            <a:off x="3950208" y="5047488"/>
            <a:ext cx="292608" cy="274320"/>
          </a:xfrm>
          <a:prstGeom prst="rightArrow">
            <a:avLst/>
          </a:prstGeom>
          <a:solidFill>
            <a:schemeClr val="accent5"/>
          </a:solidFill>
          <a:ln/>
        </p:spPr>
      </p:sp>
      <p:sp>
        <p:nvSpPr>
          <p:cNvPr id="29" name="Activity Ingest_Reference_Data"/>
          <p:cNvSpPr txBox="1"/>
          <p:nvPr/>
        </p:nvSpPr>
        <p:spPr>
          <a:xfrm>
            <a:off x="4297680" y="4956048"/>
            <a:ext cx="3337560" cy="457200"/>
          </a:xfrm>
          <a:prstGeom prst="roundRect">
            <a:avLst>
              <a:gd name="adj" fmla="val 20000"/>
            </a:avLst>
          </a:prstGeom>
          <a:solidFill>
            <a:schemeClr val="tx1"/>
          </a:solidFill>
          <a:ln/>
        </p:spPr>
        <p:txBody>
          <a:bodyPr wrap="square" lIns="177800" tIns="0" rIns="101600" bIns="0" rtlCol="0" anchor="ctr"/>
          <a:lstStyle/>
          <a:p>
            <a:pPr indent="0" marL="0">
              <a:buNone/>
            </a:pPr>
            <a:r>
              <a:rPr lang="en-US" sz="1250" b="1" dirty="0">
                <a:solidFill>
                  <a:schemeClr val="accent2"/>
                </a:solidFill>
              </a:rPr>
              <a:t>Dataflow  </a:t>
            </a:r>
            <a:pPr indent="0" marL="0">
              <a:buNone/>
            </a:pPr>
            <a:r>
              <a:rPr lang="en-US" sz="1250" dirty="0">
                <a:solidFill>
                  <a:schemeClr val="bg1"/>
                </a:solidFill>
                <a:latin typeface="Courier New" pitchFamily="34" charset="0"/>
                <a:ea typeface="Courier New" pitchFamily="34" charset="-122"/>
                <a:cs typeface="Courier New" pitchFamily="34" charset="-120"/>
              </a:rPr>
              <a:t>Ingest_Reference_Data</a:t>
            </a:r>
            <a:endParaRPr lang="en-US" sz="1250" dirty="0"/>
          </a:p>
        </p:txBody>
      </p:sp>
      <p:sp>
        <p:nvSpPr>
          <p:cNvPr id="30" name="Order arrow 2"/>
          <p:cNvSpPr/>
          <p:nvPr/>
        </p:nvSpPr>
        <p:spPr>
          <a:xfrm>
            <a:off x="7699248" y="5047488"/>
            <a:ext cx="292608" cy="274320"/>
          </a:xfrm>
          <a:prstGeom prst="rightArrow">
            <a:avLst/>
          </a:prstGeom>
          <a:solidFill>
            <a:schemeClr val="accent5"/>
          </a:solidFill>
          <a:ln/>
        </p:spPr>
      </p:sp>
      <p:sp>
        <p:nvSpPr>
          <p:cNvPr id="31" name="Activity Run_Complex_Transforms"/>
          <p:cNvSpPr txBox="1"/>
          <p:nvPr/>
        </p:nvSpPr>
        <p:spPr>
          <a:xfrm>
            <a:off x="8046720" y="4956048"/>
            <a:ext cx="3337560" cy="457200"/>
          </a:xfrm>
          <a:prstGeom prst="roundRect">
            <a:avLst>
              <a:gd name="adj" fmla="val 20000"/>
            </a:avLst>
          </a:prstGeom>
          <a:solidFill>
            <a:schemeClr val="tx1"/>
          </a:solidFill>
          <a:ln/>
        </p:spPr>
        <p:txBody>
          <a:bodyPr wrap="square" lIns="177800" tIns="0" rIns="101600" bIns="0" rtlCol="0" anchor="ctr"/>
          <a:lstStyle/>
          <a:p>
            <a:pPr indent="0" marL="0">
              <a:buNone/>
            </a:pPr>
            <a:r>
              <a:rPr lang="en-US" sz="1250" b="1" dirty="0">
                <a:solidFill>
                  <a:schemeClr val="accent2"/>
                </a:solidFill>
              </a:rPr>
              <a:t>Notebook  </a:t>
            </a:r>
            <a:pPr indent="0" marL="0">
              <a:buNone/>
            </a:pPr>
            <a:r>
              <a:rPr lang="en-US" sz="1250" dirty="0">
                <a:solidFill>
                  <a:schemeClr val="bg1"/>
                </a:solidFill>
                <a:latin typeface="Courier New" pitchFamily="34" charset="0"/>
                <a:ea typeface="Courier New" pitchFamily="34" charset="-122"/>
                <a:cs typeface="Courier New" pitchFamily="34" charset="-120"/>
              </a:rPr>
              <a:t>Run_Complex_Transforms</a:t>
            </a:r>
            <a:endParaRPr lang="en-US" sz="1250" dirty="0"/>
          </a:p>
        </p:txBody>
      </p:sp>
      <p:sp>
        <p:nvSpPr>
          <p:cNvPr id="32" name="Footnote"/>
          <p:cNvSpPr txBox="1"/>
          <p:nvPr/>
        </p:nvSpPr>
        <p:spPr>
          <a:xfrm>
            <a:off x="548640" y="56235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DST_Domestic_Workflow_v1_2_R1_07_21_pipeline_Run_withDataRefresh pipeline export.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Anatomy of a real notebook: the DST proof of concept</a:t>
            </a:r>
            <a:endParaRPr lang="en-US" sz="3200" dirty="0"/>
          </a:p>
        </p:txBody>
      </p:sp>
      <p:sp>
        <p:nvSpPr>
          <p:cNvPr id="5" name="Cell 1"/>
          <p:cNvSpPr/>
          <p:nvPr/>
        </p:nvSpPr>
        <p:spPr>
          <a:xfrm>
            <a:off x="548640" y="1783080"/>
            <a:ext cx="7040880" cy="530352"/>
          </a:xfrm>
          <a:prstGeom prst="roundRect">
            <a:avLst>
              <a:gd name="adj" fmla="val 20690"/>
            </a:avLst>
          </a:prstGeom>
          <a:solidFill>
            <a:schemeClr val="bg2"/>
          </a:solidFill>
          <a:ln/>
        </p:spPr>
      </p:sp>
      <p:sp>
        <p:nvSpPr>
          <p:cNvPr id="6" name="Cell chip 1"/>
          <p:cNvSpPr/>
          <p:nvPr/>
        </p:nvSpPr>
        <p:spPr>
          <a:xfrm>
            <a:off x="685800" y="1865376"/>
            <a:ext cx="365760" cy="365760"/>
          </a:xfrm>
          <a:prstGeom prst="roundRect">
            <a:avLst>
              <a:gd name="adj" fmla="val 17500"/>
            </a:avLst>
          </a:prstGeom>
          <a:solidFill>
            <a:schemeClr val="accent1"/>
          </a:solidFill>
          <a:ln/>
        </p:spPr>
      </p:sp>
      <p:sp>
        <p:nvSpPr>
          <p:cNvPr id="7" name="Cell number"/>
          <p:cNvSpPr txBox="1"/>
          <p:nvPr/>
        </p:nvSpPr>
        <p:spPr>
          <a:xfrm>
            <a:off x="685800" y="186537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Cell name"/>
          <p:cNvSpPr txBox="1"/>
          <p:nvPr/>
        </p:nvSpPr>
        <p:spPr>
          <a:xfrm>
            <a:off x="1188720" y="1783080"/>
            <a:ext cx="2103120" cy="530352"/>
          </a:xfrm>
          <a:prstGeom prst="rect">
            <a:avLst/>
          </a:prstGeom>
          <a:noFill/>
          <a:ln/>
        </p:spPr>
        <p:txBody>
          <a:bodyPr wrap="square" lIns="0" tIns="0" rIns="0" bIns="0" rtlCol="0" anchor="ctr"/>
          <a:lstStyle/>
          <a:p>
            <a:pPr indent="0" marL="0">
              <a:buNone/>
            </a:pPr>
            <a:r>
              <a:rPr lang="en-US" sz="1400" b="1" dirty="0">
                <a:solidFill>
                  <a:schemeClr val="tx1"/>
                </a:solidFill>
              </a:rPr>
              <a:t>Parameters</a:t>
            </a:r>
            <a:endParaRPr lang="en-US" sz="1400" dirty="0"/>
          </a:p>
        </p:txBody>
      </p:sp>
      <p:sp>
        <p:nvSpPr>
          <p:cNvPr id="9" name="Cell description"/>
          <p:cNvSpPr txBox="1"/>
          <p:nvPr/>
        </p:nvSpPr>
        <p:spPr>
          <a:xfrm>
            <a:off x="3291840" y="1783080"/>
            <a:ext cx="4206240" cy="530352"/>
          </a:xfrm>
          <a:prstGeom prst="rect">
            <a:avLst/>
          </a:prstGeom>
          <a:noFill/>
          <a:ln/>
        </p:spPr>
        <p:txBody>
          <a:bodyPr wrap="square" lIns="0" tIns="0" rIns="0" bIns="0" rtlCol="0" anchor="ctr"/>
          <a:lstStyle/>
          <a:p>
            <a:pPr indent="0" marL="0">
              <a:buNone/>
            </a:pPr>
            <a:r>
              <a:rPr lang="en-US" sz="1250" dirty="0">
                <a:solidFill>
                  <a:schemeClr val="tx1"/>
                </a:solidFill>
              </a:rPr>
              <a:t>fiscal_year, fiscal_period, run_id, set by the pipeline</a:t>
            </a:r>
            <a:endParaRPr lang="en-US" sz="1250" dirty="0"/>
          </a:p>
        </p:txBody>
      </p:sp>
      <p:sp>
        <p:nvSpPr>
          <p:cNvPr id="10" name="Cell 2"/>
          <p:cNvSpPr/>
          <p:nvPr/>
        </p:nvSpPr>
        <p:spPr>
          <a:xfrm>
            <a:off x="548640" y="2404872"/>
            <a:ext cx="7040880" cy="530352"/>
          </a:xfrm>
          <a:prstGeom prst="roundRect">
            <a:avLst>
              <a:gd name="adj" fmla="val 20690"/>
            </a:avLst>
          </a:prstGeom>
          <a:solidFill>
            <a:schemeClr val="bg2"/>
          </a:solidFill>
          <a:ln/>
        </p:spPr>
      </p:sp>
      <p:sp>
        <p:nvSpPr>
          <p:cNvPr id="11" name="Cell chip 2"/>
          <p:cNvSpPr/>
          <p:nvPr/>
        </p:nvSpPr>
        <p:spPr>
          <a:xfrm>
            <a:off x="685800" y="2487168"/>
            <a:ext cx="365760" cy="365760"/>
          </a:xfrm>
          <a:prstGeom prst="roundRect">
            <a:avLst>
              <a:gd name="adj" fmla="val 17500"/>
            </a:avLst>
          </a:prstGeom>
          <a:solidFill>
            <a:schemeClr val="accent1"/>
          </a:solidFill>
          <a:ln/>
        </p:spPr>
      </p:sp>
      <p:sp>
        <p:nvSpPr>
          <p:cNvPr id="12" name="Cell number"/>
          <p:cNvSpPr txBox="1"/>
          <p:nvPr/>
        </p:nvSpPr>
        <p:spPr>
          <a:xfrm>
            <a:off x="685800" y="2487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Cell name"/>
          <p:cNvSpPr txBox="1"/>
          <p:nvPr/>
        </p:nvSpPr>
        <p:spPr>
          <a:xfrm>
            <a:off x="1188720" y="2404872"/>
            <a:ext cx="2103120" cy="530352"/>
          </a:xfrm>
          <a:prstGeom prst="rect">
            <a:avLst/>
          </a:prstGeom>
          <a:noFill/>
          <a:ln/>
        </p:spPr>
        <p:txBody>
          <a:bodyPr wrap="square" lIns="0" tIns="0" rIns="0" bIns="0" rtlCol="0" anchor="ctr"/>
          <a:lstStyle/>
          <a:p>
            <a:pPr indent="0" marL="0">
              <a:buNone/>
            </a:pPr>
            <a:r>
              <a:rPr lang="en-US" sz="1400" b="1" dirty="0">
                <a:solidFill>
                  <a:schemeClr val="tx1"/>
                </a:solidFill>
              </a:rPr>
              <a:t>Imports and session</a:t>
            </a:r>
            <a:endParaRPr lang="en-US" sz="1400" dirty="0"/>
          </a:p>
        </p:txBody>
      </p:sp>
      <p:sp>
        <p:nvSpPr>
          <p:cNvPr id="14" name="Cell description"/>
          <p:cNvSpPr txBox="1"/>
          <p:nvPr/>
        </p:nvSpPr>
        <p:spPr>
          <a:xfrm>
            <a:off x="3291840" y="2404872"/>
            <a:ext cx="4206240" cy="530352"/>
          </a:xfrm>
          <a:prstGeom prst="rect">
            <a:avLst/>
          </a:prstGeom>
          <a:noFill/>
          <a:ln/>
        </p:spPr>
        <p:txBody>
          <a:bodyPr wrap="square" lIns="0" tIns="0" rIns="0" bIns="0" rtlCol="0" anchor="ctr"/>
          <a:lstStyle/>
          <a:p>
            <a:pPr indent="0" marL="0">
              <a:buNone/>
            </a:pPr>
            <a:r>
              <a:rPr lang="en-US" sz="1250" dirty="0">
                <a:solidFill>
                  <a:schemeClr val="tx1"/>
                </a:solidFill>
              </a:rPr>
              <a:t>Spark session; prints the run ID</a:t>
            </a:r>
            <a:endParaRPr lang="en-US" sz="1250" dirty="0"/>
          </a:p>
        </p:txBody>
      </p:sp>
      <p:sp>
        <p:nvSpPr>
          <p:cNvPr id="15" name="Cell 3"/>
          <p:cNvSpPr/>
          <p:nvPr/>
        </p:nvSpPr>
        <p:spPr>
          <a:xfrm>
            <a:off x="548640" y="3026664"/>
            <a:ext cx="7040880" cy="530352"/>
          </a:xfrm>
          <a:prstGeom prst="roundRect">
            <a:avLst>
              <a:gd name="adj" fmla="val 20690"/>
            </a:avLst>
          </a:prstGeom>
          <a:solidFill>
            <a:schemeClr val="bg2"/>
          </a:solidFill>
          <a:ln/>
        </p:spPr>
      </p:sp>
      <p:sp>
        <p:nvSpPr>
          <p:cNvPr id="16" name="Cell chip 3"/>
          <p:cNvSpPr/>
          <p:nvPr/>
        </p:nvSpPr>
        <p:spPr>
          <a:xfrm>
            <a:off x="685800" y="3108960"/>
            <a:ext cx="365760" cy="365760"/>
          </a:xfrm>
          <a:prstGeom prst="roundRect">
            <a:avLst>
              <a:gd name="adj" fmla="val 17500"/>
            </a:avLst>
          </a:prstGeom>
          <a:solidFill>
            <a:schemeClr val="accent1"/>
          </a:solidFill>
          <a:ln/>
        </p:spPr>
      </p:sp>
      <p:sp>
        <p:nvSpPr>
          <p:cNvPr id="17" name="Cell number"/>
          <p:cNvSpPr txBox="1"/>
          <p:nvPr/>
        </p:nvSpPr>
        <p:spPr>
          <a:xfrm>
            <a:off x="685800" y="31089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Cell name"/>
          <p:cNvSpPr txBox="1"/>
          <p:nvPr/>
        </p:nvSpPr>
        <p:spPr>
          <a:xfrm>
            <a:off x="1188720" y="3026664"/>
            <a:ext cx="2103120" cy="530352"/>
          </a:xfrm>
          <a:prstGeom prst="rect">
            <a:avLst/>
          </a:prstGeom>
          <a:noFill/>
          <a:ln/>
        </p:spPr>
        <p:txBody>
          <a:bodyPr wrap="square" lIns="0" tIns="0" rIns="0" bIns="0" rtlCol="0" anchor="ctr"/>
          <a:lstStyle/>
          <a:p>
            <a:pPr indent="0" marL="0">
              <a:buNone/>
            </a:pPr>
            <a:r>
              <a:rPr lang="en-US" sz="1400" b="1" dirty="0">
                <a:solidFill>
                  <a:schemeClr val="tx1"/>
                </a:solidFill>
              </a:rPr>
              <a:t>Read bronze</a:t>
            </a:r>
            <a:endParaRPr lang="en-US" sz="1400" dirty="0"/>
          </a:p>
        </p:txBody>
      </p:sp>
      <p:sp>
        <p:nvSpPr>
          <p:cNvPr id="19" name="Cell description"/>
          <p:cNvSpPr txBox="1"/>
          <p:nvPr/>
        </p:nvSpPr>
        <p:spPr>
          <a:xfrm>
            <a:off x="3291840" y="3026664"/>
            <a:ext cx="4206240" cy="530352"/>
          </a:xfrm>
          <a:prstGeom prst="rect">
            <a:avLst/>
          </a:prstGeom>
          <a:noFill/>
          <a:ln/>
        </p:spPr>
        <p:txBody>
          <a:bodyPr wrap="square" lIns="0" tIns="0" rIns="0" bIns="0" rtlCol="0" anchor="ctr"/>
          <a:lstStyle/>
          <a:p>
            <a:pPr indent="0" marL="0">
              <a:buNone/>
            </a:pPr>
            <a:r>
              <a:rPr lang="en-US" sz="1250" dirty="0">
                <a:solidFill>
                  <a:schemeClr val="tx1"/>
                </a:solidFill>
              </a:rPr>
              <a:t>Seven Delta tables from OneLake, by full path</a:t>
            </a:r>
            <a:endParaRPr lang="en-US" sz="1250" dirty="0"/>
          </a:p>
        </p:txBody>
      </p:sp>
      <p:sp>
        <p:nvSpPr>
          <p:cNvPr id="20" name="Cell 4"/>
          <p:cNvSpPr/>
          <p:nvPr/>
        </p:nvSpPr>
        <p:spPr>
          <a:xfrm>
            <a:off x="548640" y="3648456"/>
            <a:ext cx="7040880" cy="530352"/>
          </a:xfrm>
          <a:prstGeom prst="roundRect">
            <a:avLst>
              <a:gd name="adj" fmla="val 20690"/>
            </a:avLst>
          </a:prstGeom>
          <a:solidFill>
            <a:schemeClr val="bg2"/>
          </a:solidFill>
          <a:ln/>
        </p:spPr>
      </p:sp>
      <p:sp>
        <p:nvSpPr>
          <p:cNvPr id="21" name="Cell chip 4"/>
          <p:cNvSpPr/>
          <p:nvPr/>
        </p:nvSpPr>
        <p:spPr>
          <a:xfrm>
            <a:off x="685800" y="3730752"/>
            <a:ext cx="365760" cy="365760"/>
          </a:xfrm>
          <a:prstGeom prst="roundRect">
            <a:avLst>
              <a:gd name="adj" fmla="val 17500"/>
            </a:avLst>
          </a:prstGeom>
          <a:solidFill>
            <a:schemeClr val="accent1"/>
          </a:solidFill>
          <a:ln/>
        </p:spPr>
      </p:sp>
      <p:sp>
        <p:nvSpPr>
          <p:cNvPr id="22" name="Cell number"/>
          <p:cNvSpPr txBox="1"/>
          <p:nvPr/>
        </p:nvSpPr>
        <p:spPr>
          <a:xfrm>
            <a:off x="685800" y="3730752"/>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Cell name"/>
          <p:cNvSpPr txBox="1"/>
          <p:nvPr/>
        </p:nvSpPr>
        <p:spPr>
          <a:xfrm>
            <a:off x="1188720" y="3648456"/>
            <a:ext cx="2103120" cy="530352"/>
          </a:xfrm>
          <a:prstGeom prst="rect">
            <a:avLst/>
          </a:prstGeom>
          <a:noFill/>
          <a:ln/>
        </p:spPr>
        <p:txBody>
          <a:bodyPr wrap="square" lIns="0" tIns="0" rIns="0" bIns="0" rtlCol="0" anchor="ctr"/>
          <a:lstStyle/>
          <a:p>
            <a:pPr indent="0" marL="0">
              <a:buNone/>
            </a:pPr>
            <a:r>
              <a:rPr lang="en-US" sz="1400" b="1" dirty="0">
                <a:solidFill>
                  <a:schemeClr val="tx1"/>
                </a:solidFill>
              </a:rPr>
              <a:t>Aggregate</a:t>
            </a:r>
            <a:endParaRPr lang="en-US" sz="1400" dirty="0"/>
          </a:p>
        </p:txBody>
      </p:sp>
      <p:sp>
        <p:nvSpPr>
          <p:cNvPr id="24" name="Cell description"/>
          <p:cNvSpPr txBox="1"/>
          <p:nvPr/>
        </p:nvSpPr>
        <p:spPr>
          <a:xfrm>
            <a:off x="3291840" y="3648456"/>
            <a:ext cx="4206240" cy="530352"/>
          </a:xfrm>
          <a:prstGeom prst="rect">
            <a:avLst/>
          </a:prstGeom>
          <a:noFill/>
          <a:ln/>
        </p:spPr>
        <p:txBody>
          <a:bodyPr wrap="square" lIns="0" tIns="0" rIns="0" bIns="0" rtlCol="0" anchor="ctr"/>
          <a:lstStyle/>
          <a:p>
            <a:pPr indent="0" marL="0">
              <a:buNone/>
            </a:pPr>
            <a:r>
              <a:rPr lang="en-US" sz="1250" dirty="0">
                <a:solidFill>
                  <a:schemeClr val="tx1"/>
                </a:solidFill>
              </a:rPr>
              <a:t>Impressions (T221), amounts (T220), denominators (T169)</a:t>
            </a:r>
            <a:endParaRPr lang="en-US" sz="1250" dirty="0"/>
          </a:p>
        </p:txBody>
      </p:sp>
      <p:sp>
        <p:nvSpPr>
          <p:cNvPr id="25" name="Cell 5"/>
          <p:cNvSpPr/>
          <p:nvPr/>
        </p:nvSpPr>
        <p:spPr>
          <a:xfrm>
            <a:off x="548640" y="4270248"/>
            <a:ext cx="7040880" cy="530352"/>
          </a:xfrm>
          <a:prstGeom prst="roundRect">
            <a:avLst>
              <a:gd name="adj" fmla="val 20690"/>
            </a:avLst>
          </a:prstGeom>
          <a:solidFill>
            <a:schemeClr val="bg2"/>
          </a:solidFill>
          <a:ln/>
        </p:spPr>
      </p:sp>
      <p:sp>
        <p:nvSpPr>
          <p:cNvPr id="26" name="Cell chip 5"/>
          <p:cNvSpPr/>
          <p:nvPr/>
        </p:nvSpPr>
        <p:spPr>
          <a:xfrm>
            <a:off x="685800" y="4352544"/>
            <a:ext cx="365760" cy="365760"/>
          </a:xfrm>
          <a:prstGeom prst="roundRect">
            <a:avLst>
              <a:gd name="adj" fmla="val 17500"/>
            </a:avLst>
          </a:prstGeom>
          <a:solidFill>
            <a:schemeClr val="accent1"/>
          </a:solidFill>
          <a:ln/>
        </p:spPr>
      </p:sp>
      <p:sp>
        <p:nvSpPr>
          <p:cNvPr id="27" name="Cell number"/>
          <p:cNvSpPr txBox="1"/>
          <p:nvPr/>
        </p:nvSpPr>
        <p:spPr>
          <a:xfrm>
            <a:off x="685800" y="4352544"/>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Cell name"/>
          <p:cNvSpPr txBox="1"/>
          <p:nvPr/>
        </p:nvSpPr>
        <p:spPr>
          <a:xfrm>
            <a:off x="1188720" y="4270248"/>
            <a:ext cx="2103120" cy="530352"/>
          </a:xfrm>
          <a:prstGeom prst="rect">
            <a:avLst/>
          </a:prstGeom>
          <a:noFill/>
          <a:ln/>
        </p:spPr>
        <p:txBody>
          <a:bodyPr wrap="square" lIns="0" tIns="0" rIns="0" bIns="0" rtlCol="0" anchor="ctr"/>
          <a:lstStyle/>
          <a:p>
            <a:pPr indent="0" marL="0">
              <a:buNone/>
            </a:pPr>
            <a:r>
              <a:rPr lang="en-US" sz="1400" b="1" dirty="0">
                <a:solidFill>
                  <a:schemeClr val="tx1"/>
                </a:solidFill>
              </a:rPr>
              <a:t>Percent and apportion</a:t>
            </a:r>
            <a:endParaRPr lang="en-US" sz="1400" dirty="0"/>
          </a:p>
        </p:txBody>
      </p:sp>
      <p:sp>
        <p:nvSpPr>
          <p:cNvPr id="29" name="Cell description"/>
          <p:cNvSpPr txBox="1"/>
          <p:nvPr/>
        </p:nvSpPr>
        <p:spPr>
          <a:xfrm>
            <a:off x="3291840" y="4270248"/>
            <a:ext cx="4206240" cy="530352"/>
          </a:xfrm>
          <a:prstGeom prst="rect">
            <a:avLst/>
          </a:prstGeom>
          <a:noFill/>
          <a:ln/>
        </p:spPr>
        <p:txBody>
          <a:bodyPr wrap="square" lIns="0" tIns="0" rIns="0" bIns="0" rtlCol="0" anchor="ctr"/>
          <a:lstStyle/>
          <a:p>
            <a:pPr indent="0" marL="0">
              <a:buNone/>
            </a:pPr>
            <a:r>
              <a:rPr lang="en-US" sz="1250" dirty="0">
                <a:solidFill>
                  <a:schemeClr val="tx1"/>
                </a:solidFill>
              </a:rPr>
              <a:t>Shares (T239) and apportioned amounts (T246)</a:t>
            </a:r>
            <a:endParaRPr lang="en-US" sz="1250" dirty="0"/>
          </a:p>
        </p:txBody>
      </p:sp>
      <p:sp>
        <p:nvSpPr>
          <p:cNvPr id="30" name="Cell 6"/>
          <p:cNvSpPr/>
          <p:nvPr/>
        </p:nvSpPr>
        <p:spPr>
          <a:xfrm>
            <a:off x="548640" y="4892040"/>
            <a:ext cx="7040880" cy="530352"/>
          </a:xfrm>
          <a:prstGeom prst="roundRect">
            <a:avLst>
              <a:gd name="adj" fmla="val 20690"/>
            </a:avLst>
          </a:prstGeom>
          <a:solidFill>
            <a:schemeClr val="bg2"/>
          </a:solidFill>
          <a:ln/>
        </p:spPr>
      </p:sp>
      <p:sp>
        <p:nvSpPr>
          <p:cNvPr id="31" name="Cell chip 6"/>
          <p:cNvSpPr/>
          <p:nvPr/>
        </p:nvSpPr>
        <p:spPr>
          <a:xfrm>
            <a:off x="685800" y="4974336"/>
            <a:ext cx="365760" cy="365760"/>
          </a:xfrm>
          <a:prstGeom prst="roundRect">
            <a:avLst>
              <a:gd name="adj" fmla="val 17500"/>
            </a:avLst>
          </a:prstGeom>
          <a:solidFill>
            <a:schemeClr val="accent1"/>
          </a:solidFill>
          <a:ln/>
        </p:spPr>
      </p:sp>
      <p:sp>
        <p:nvSpPr>
          <p:cNvPr id="32" name="Cell number"/>
          <p:cNvSpPr txBox="1"/>
          <p:nvPr/>
        </p:nvSpPr>
        <p:spPr>
          <a:xfrm>
            <a:off x="685800" y="497433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3" name="Cell name"/>
          <p:cNvSpPr txBox="1"/>
          <p:nvPr/>
        </p:nvSpPr>
        <p:spPr>
          <a:xfrm>
            <a:off x="1188720" y="4892040"/>
            <a:ext cx="2103120" cy="530352"/>
          </a:xfrm>
          <a:prstGeom prst="rect">
            <a:avLst/>
          </a:prstGeom>
          <a:noFill/>
          <a:ln/>
        </p:spPr>
        <p:txBody>
          <a:bodyPr wrap="square" lIns="0" tIns="0" rIns="0" bIns="0" rtlCol="0" anchor="ctr"/>
          <a:lstStyle/>
          <a:p>
            <a:pPr indent="0" marL="0">
              <a:buNone/>
            </a:pPr>
            <a:r>
              <a:rPr lang="en-US" sz="1400" b="1" dirty="0">
                <a:solidFill>
                  <a:schemeClr val="tx1"/>
                </a:solidFill>
              </a:rPr>
              <a:t>Write silver</a:t>
            </a:r>
            <a:endParaRPr lang="en-US" sz="1400" dirty="0"/>
          </a:p>
        </p:txBody>
      </p:sp>
      <p:sp>
        <p:nvSpPr>
          <p:cNvPr id="34" name="Cell description"/>
          <p:cNvSpPr txBox="1"/>
          <p:nvPr/>
        </p:nvSpPr>
        <p:spPr>
          <a:xfrm>
            <a:off x="3291840" y="4892040"/>
            <a:ext cx="4206240" cy="530352"/>
          </a:xfrm>
          <a:prstGeom prst="rect">
            <a:avLst/>
          </a:prstGeom>
          <a:noFill/>
          <a:ln/>
        </p:spPr>
        <p:txBody>
          <a:bodyPr wrap="square" lIns="0" tIns="0" rIns="0" bIns="0" rtlCol="0" anchor="ctr"/>
          <a:lstStyle/>
          <a:p>
            <a:pPr indent="0" marL="0">
              <a:buNone/>
            </a:pPr>
            <a:r>
              <a:rPr lang="en-US" sz="1250" dirty="0">
                <a:solidFill>
                  <a:schemeClr val="tx1"/>
                </a:solidFill>
              </a:rPr>
              <a:t>silver_transformed, overwrite, columns cleaned for Delta</a:t>
            </a:r>
            <a:endParaRPr lang="en-US" sz="1250" dirty="0"/>
          </a:p>
        </p:txBody>
      </p:sp>
      <p:sp>
        <p:nvSpPr>
          <p:cNvPr id="35" name="Stat card 1"/>
          <p:cNvSpPr/>
          <p:nvPr/>
        </p:nvSpPr>
        <p:spPr>
          <a:xfrm>
            <a:off x="7863840" y="1783080"/>
            <a:ext cx="3776472" cy="1143000"/>
          </a:xfrm>
          <a:prstGeom prst="roundRect">
            <a:avLst>
              <a:gd name="adj" fmla="val 9600"/>
            </a:avLst>
          </a:prstGeom>
          <a:solidFill>
            <a:schemeClr val="bg2"/>
          </a:solidFill>
          <a:ln/>
        </p:spPr>
      </p:sp>
      <p:sp>
        <p:nvSpPr>
          <p:cNvPr id="36" name="Stat number"/>
          <p:cNvSpPr txBox="1"/>
          <p:nvPr/>
        </p:nvSpPr>
        <p:spPr>
          <a:xfrm>
            <a:off x="8046720" y="1783080"/>
            <a:ext cx="1371600" cy="114300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9</a:t>
            </a:r>
            <a:endParaRPr lang="en-US" sz="3400" dirty="0"/>
          </a:p>
        </p:txBody>
      </p:sp>
      <p:sp>
        <p:nvSpPr>
          <p:cNvPr id="37" name="Stat label"/>
          <p:cNvSpPr txBox="1"/>
          <p:nvPr/>
        </p:nvSpPr>
        <p:spPr>
          <a:xfrm>
            <a:off x="9464040" y="1783080"/>
            <a:ext cx="2057400" cy="1143000"/>
          </a:xfrm>
          <a:prstGeom prst="rect">
            <a:avLst/>
          </a:prstGeom>
          <a:noFill/>
          <a:ln/>
        </p:spPr>
        <p:txBody>
          <a:bodyPr wrap="square" lIns="0" tIns="0" rIns="0" bIns="0" rtlCol="0" anchor="ctr"/>
          <a:lstStyle/>
          <a:p>
            <a:pPr indent="0" marL="0">
              <a:buNone/>
            </a:pPr>
            <a:r>
              <a:rPr lang="en-US" sz="1250" dirty="0">
                <a:solidFill>
                  <a:schemeClr val="tx1"/>
                </a:solidFill>
              </a:rPr>
              <a:t>cells: six code, three markdown headings</a:t>
            </a:r>
            <a:endParaRPr lang="en-US" sz="1250" dirty="0"/>
          </a:p>
        </p:txBody>
      </p:sp>
      <p:sp>
        <p:nvSpPr>
          <p:cNvPr id="38" name="Stat card 2"/>
          <p:cNvSpPr/>
          <p:nvPr/>
        </p:nvSpPr>
        <p:spPr>
          <a:xfrm>
            <a:off x="7863840" y="3035808"/>
            <a:ext cx="3776472" cy="1143000"/>
          </a:xfrm>
          <a:prstGeom prst="roundRect">
            <a:avLst>
              <a:gd name="adj" fmla="val 9600"/>
            </a:avLst>
          </a:prstGeom>
          <a:solidFill>
            <a:schemeClr val="bg2"/>
          </a:solidFill>
          <a:ln/>
        </p:spPr>
      </p:sp>
      <p:sp>
        <p:nvSpPr>
          <p:cNvPr id="39" name="Stat number"/>
          <p:cNvSpPr txBox="1"/>
          <p:nvPr/>
        </p:nvSpPr>
        <p:spPr>
          <a:xfrm>
            <a:off x="8046720" y="3035808"/>
            <a:ext cx="1371600" cy="1143000"/>
          </a:xfrm>
          <a:prstGeom prst="rect">
            <a:avLst/>
          </a:prstGeom>
          <a:noFill/>
          <a:ln/>
        </p:spPr>
        <p:txBody>
          <a:bodyPr wrap="square" lIns="0" tIns="0" rIns="0" bIns="0" rtlCol="0" anchor="ctr"/>
          <a:lstStyle/>
          <a:p>
            <a:pPr indent="0" marL="0">
              <a:buNone/>
            </a:pPr>
            <a:r>
              <a:rPr lang="en-US" sz="3400" b="1" dirty="0">
                <a:solidFill>
                  <a:schemeClr val="accent1"/>
                </a:solidFill>
                <a:latin typeface="+mj-lt" pitchFamily="34" charset="0"/>
                <a:ea typeface="+mj-lt" pitchFamily="34" charset="-122"/>
                <a:cs typeface="+mj-lt" pitchFamily="34" charset="-120"/>
              </a:rPr>
              <a:t>7 → 1</a:t>
            </a:r>
            <a:endParaRPr lang="en-US" sz="3400" dirty="0"/>
          </a:p>
        </p:txBody>
      </p:sp>
      <p:sp>
        <p:nvSpPr>
          <p:cNvPr id="40" name="Stat label"/>
          <p:cNvSpPr txBox="1"/>
          <p:nvPr/>
        </p:nvSpPr>
        <p:spPr>
          <a:xfrm>
            <a:off x="9464040" y="3035808"/>
            <a:ext cx="2057400" cy="1143000"/>
          </a:xfrm>
          <a:prstGeom prst="rect">
            <a:avLst/>
          </a:prstGeom>
          <a:noFill/>
          <a:ln/>
        </p:spPr>
        <p:txBody>
          <a:bodyPr wrap="square" lIns="0" tIns="0" rIns="0" bIns="0" rtlCol="0" anchor="ctr"/>
          <a:lstStyle/>
          <a:p>
            <a:pPr indent="0" marL="0">
              <a:buNone/>
            </a:pPr>
            <a:r>
              <a:rPr lang="en-US" sz="1250" dirty="0">
                <a:solidFill>
                  <a:schemeClr val="tx1"/>
                </a:solidFill>
              </a:rPr>
              <a:t>bronze tables read, silver table written</a:t>
            </a:r>
            <a:endParaRPr lang="en-US" sz="1250" dirty="0"/>
          </a:p>
        </p:txBody>
      </p:sp>
      <p:sp>
        <p:nvSpPr>
          <p:cNvPr id="41" name="Stat card 3"/>
          <p:cNvSpPr/>
          <p:nvPr/>
        </p:nvSpPr>
        <p:spPr>
          <a:xfrm>
            <a:off x="7863840" y="4288536"/>
            <a:ext cx="3776472" cy="1143000"/>
          </a:xfrm>
          <a:prstGeom prst="roundRect">
            <a:avLst>
              <a:gd name="adj" fmla="val 9600"/>
            </a:avLst>
          </a:prstGeom>
          <a:solidFill>
            <a:schemeClr val="bg2"/>
          </a:solidFill>
          <a:ln/>
        </p:spPr>
      </p:sp>
      <p:sp>
        <p:nvSpPr>
          <p:cNvPr id="42" name="Stat number"/>
          <p:cNvSpPr txBox="1"/>
          <p:nvPr/>
        </p:nvSpPr>
        <p:spPr>
          <a:xfrm>
            <a:off x="8046720" y="4288536"/>
            <a:ext cx="1371600" cy="1143000"/>
          </a:xfrm>
          <a:prstGeom prst="rect">
            <a:avLst/>
          </a:prstGeom>
          <a:noFill/>
          <a:ln/>
        </p:spPr>
        <p:txBody>
          <a:bodyPr wrap="square" lIns="0" tIns="0" rIns="0" bIns="0" rtlCol="0" anchor="ctr"/>
          <a:lstStyle/>
          <a:p>
            <a:pPr indent="0" marL="0">
              <a:buNone/>
            </a:pPr>
            <a:r>
              <a:rPr lang="en-US" sz="3400" b="1" dirty="0">
                <a:solidFill>
                  <a:schemeClr val="tx1"/>
                </a:solidFill>
                <a:latin typeface="+mj-lt" pitchFamily="34" charset="0"/>
                <a:ea typeface="+mj-lt" pitchFamily="34" charset="-122"/>
                <a:cs typeface="+mj-lt" pitchFamily="34" charset="-120"/>
              </a:rPr>
              <a:t>0</a:t>
            </a:r>
            <a:endParaRPr lang="en-US" sz="3400" dirty="0"/>
          </a:p>
        </p:txBody>
      </p:sp>
      <p:sp>
        <p:nvSpPr>
          <p:cNvPr id="43" name="Stat label"/>
          <p:cNvSpPr txBox="1"/>
          <p:nvPr/>
        </p:nvSpPr>
        <p:spPr>
          <a:xfrm>
            <a:off x="9464040" y="4288536"/>
            <a:ext cx="2057400" cy="1143000"/>
          </a:xfrm>
          <a:prstGeom prst="rect">
            <a:avLst/>
          </a:prstGeom>
          <a:noFill/>
          <a:ln/>
        </p:spPr>
        <p:txBody>
          <a:bodyPr wrap="square" lIns="0" tIns="0" rIns="0" bIns="0" rtlCol="0" anchor="ctr"/>
          <a:lstStyle/>
          <a:p>
            <a:pPr indent="0" marL="0">
              <a:buNone/>
            </a:pPr>
            <a:r>
              <a:rPr lang="en-US" sz="1250" dirty="0">
                <a:solidFill>
                  <a:schemeClr val="tx1"/>
                </a:solidFill>
              </a:rPr>
              <a:t>gates between the transform and the write</a:t>
            </a:r>
            <a:endParaRPr lang="en-US" sz="1250" dirty="0"/>
          </a:p>
        </p:txBody>
      </p:sp>
      <p:sp>
        <p:nvSpPr>
          <p:cNvPr id="44" name="Amber tint"/>
          <p:cNvSpPr/>
          <p:nvPr/>
        </p:nvSpPr>
        <p:spPr>
          <a:xfrm>
            <a:off x="7863840" y="4288536"/>
            <a:ext cx="3776472" cy="1143000"/>
          </a:xfrm>
          <a:prstGeom prst="roundRect">
            <a:avLst>
              <a:gd name="adj" fmla="val 9600"/>
            </a:avLst>
          </a:prstGeom>
          <a:solidFill>
            <a:schemeClr val="accent3">
              <a:alpha val="20000"/>
            </a:schemeClr>
          </a:solidFill>
          <a:ln/>
        </p:spPr>
      </p:sp>
      <p:sp>
        <p:nvSpPr>
          <p:cNvPr id="45" name="Footnote"/>
          <p:cNvSpPr txBox="1"/>
          <p:nvPr/>
        </p:nvSpPr>
        <p:spPr>
          <a:xfrm>
            <a:off x="548640" y="56235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DST_Domestic_Workflow_v1_2_R1_07_21_complex_transforms notebook. T-numbers are Alteryx tool IDs.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parameters cell is how a pipeline talks to a notebook</a:t>
            </a:r>
            <a:endParaRPr lang="en-US" sz="3200" dirty="0"/>
          </a:p>
        </p:txBody>
      </p:sp>
      <p:sp>
        <p:nvSpPr>
          <p:cNvPr id="5" name="Parameters cell"/>
          <p:cNvSpPr/>
          <p:nvPr/>
        </p:nvSpPr>
        <p:spPr>
          <a:xfrm>
            <a:off x="548640" y="1783080"/>
            <a:ext cx="5486400" cy="1600200"/>
          </a:xfrm>
          <a:prstGeom prst="roundRect">
            <a:avLst>
              <a:gd name="adj" fmla="val 5714"/>
            </a:avLst>
          </a:prstGeom>
          <a:solidFill>
            <a:schemeClr val="tx1"/>
          </a:solidFill>
          <a:ln/>
        </p:spPr>
      </p:sp>
      <p:sp>
        <p:nvSpPr>
          <p:cNvPr id="6" name="Code label"/>
          <p:cNvSpPr txBox="1"/>
          <p:nvPr/>
        </p:nvSpPr>
        <p:spPr>
          <a:xfrm>
            <a:off x="749808" y="1874520"/>
            <a:ext cx="50840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NOTEBOOK · PARAMETERS CELL</a:t>
            </a:r>
            <a:endParaRPr lang="en-US" sz="1000" dirty="0"/>
          </a:p>
        </p:txBody>
      </p:sp>
      <p:sp>
        <p:nvSpPr>
          <p:cNvPr id="7" name="Parameters cell text"/>
          <p:cNvSpPr txBox="1"/>
          <p:nvPr/>
        </p:nvSpPr>
        <p:spPr>
          <a:xfrm>
            <a:off x="749808" y="2167128"/>
            <a:ext cx="5084064" cy="1106424"/>
          </a:xfrm>
          <a:prstGeom prst="rect">
            <a:avLst/>
          </a:prstGeom>
          <a:noFill/>
          <a:ln/>
        </p:spPr>
        <p:txBody>
          <a:bodyPr wrap="square" lIns="0" tIns="0" rIns="0" bIns="0" rtlCol="0" anchor="t"/>
          <a:lstStyle/>
          <a:p>
            <a:pPr indent="0" marL="0">
              <a:buNone/>
            </a:pPr>
            <a:r>
              <a:rPr lang="en-US" sz="1250" i="1" dirty="0">
                <a:solidFill>
                  <a:schemeClr val="accent5"/>
                </a:solidFill>
                <a:latin typeface="Courier New" pitchFamily="34" charset="0"/>
                <a:ea typeface="Courier New" pitchFamily="34" charset="-122"/>
                <a:cs typeface="Courier New" pitchFamily="34" charset="-120"/>
              </a:rPr>
              <a:t># Pipeline parameters (injected by Fabric pipeline)</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fiscal_year</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i="1" dirty="0">
                <a:solidFill>
                  <a:schemeClr val="accent5"/>
                </a:solidFill>
                <a:latin typeface="Courier New" pitchFamily="34" charset="0"/>
                <a:ea typeface="Courier New" pitchFamily="34" charset="-122"/>
                <a:cs typeface="Courier New" pitchFamily="34" charset="-120"/>
              </a:rPr>
              <a:t># e.g., "2025"</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fiscal_period</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i="1" dirty="0">
                <a:solidFill>
                  <a:schemeClr val="accent5"/>
                </a:solidFill>
                <a:latin typeface="Courier New" pitchFamily="34" charset="0"/>
                <a:ea typeface="Courier New" pitchFamily="34" charset="-122"/>
                <a:cs typeface="Courier New" pitchFamily="34" charset="-120"/>
              </a:rPr>
              <a:t># e.g., "01"</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run_id</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i="1" dirty="0">
                <a:solidFill>
                  <a:schemeClr val="accent5"/>
                </a:solidFill>
                <a:latin typeface="Courier New" pitchFamily="34" charset="0"/>
                <a:ea typeface="Courier New" pitchFamily="34" charset="-122"/>
                <a:cs typeface="Courier New" pitchFamily="34" charset="-120"/>
              </a:rPr>
              <a:t># Pipeline run ID</a:t>
            </a:r>
            <a:endParaRPr lang="en-US" sz="1250" dirty="0"/>
          </a:p>
        </p:txBody>
      </p:sp>
      <p:sp>
        <p:nvSpPr>
          <p:cNvPr id="8" name="How it works card"/>
          <p:cNvSpPr/>
          <p:nvPr/>
        </p:nvSpPr>
        <p:spPr>
          <a:xfrm>
            <a:off x="548640" y="3566160"/>
            <a:ext cx="5486400" cy="1920240"/>
          </a:xfrm>
          <a:prstGeom prst="roundRect">
            <a:avLst>
              <a:gd name="adj" fmla="val 5714"/>
            </a:avLst>
          </a:prstGeom>
          <a:solidFill>
            <a:schemeClr val="bg2"/>
          </a:solidFill>
          <a:ln/>
        </p:spPr>
      </p:sp>
      <p:sp>
        <p:nvSpPr>
          <p:cNvPr id="9" name="How title"/>
          <p:cNvSpPr txBox="1"/>
          <p:nvPr/>
        </p:nvSpPr>
        <p:spPr>
          <a:xfrm>
            <a:off x="777240" y="3657600"/>
            <a:ext cx="502920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How it works</a:t>
            </a:r>
            <a:endParaRPr lang="en-US" sz="1600" dirty="0"/>
          </a:p>
        </p:txBody>
      </p:sp>
      <p:sp>
        <p:nvSpPr>
          <p:cNvPr id="10" name="How list"/>
          <p:cNvSpPr txBox="1"/>
          <p:nvPr/>
        </p:nvSpPr>
        <p:spPr>
          <a:xfrm>
            <a:off x="777240" y="4023360"/>
            <a:ext cx="502920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1"/>
                </a:solidFill>
              </a:rPr>
              <a:t>Declare every input in one cell, with a safe default.</a:t>
            </a:r>
            <a:endParaRPr lang="en-US" sz="1350" dirty="0"/>
          </a:p>
          <a:p>
            <a:pPr marL="342900" indent="-342900">
              <a:spcAft>
                <a:spcPts val="500"/>
              </a:spcAft>
              <a:buSzPct val="100000"/>
              <a:buChar char="•"/>
            </a:pPr>
            <a:r>
              <a:rPr lang="en-US" sz="1350" dirty="0">
                <a:solidFill>
                  <a:schemeClr val="tx1"/>
                </a:solidFill>
              </a:rPr>
              <a:t>Mark the cell as the parameter cell (cell menu: Toggle parameter cell).</a:t>
            </a:r>
            <a:endParaRPr lang="en-US" sz="1350" dirty="0"/>
          </a:p>
          <a:p>
            <a:pPr marL="342900" indent="-342900">
              <a:spcAft>
                <a:spcPts val="500"/>
              </a:spcAft>
              <a:buSzPct val="100000"/>
              <a:buChar char="•"/>
            </a:pPr>
            <a:r>
              <a:rPr lang="en-US" sz="1350" dirty="0">
                <a:solidFill>
                  <a:schemeClr val="tx1"/>
                </a:solidFill>
              </a:rPr>
              <a:t>The pipeline's values replace the defaults at run time.</a:t>
            </a:r>
            <a:endParaRPr lang="en-US" sz="1350" dirty="0"/>
          </a:p>
        </p:txBody>
      </p:sp>
      <p:sp>
        <p:nvSpPr>
          <p:cNvPr id="11" name="Base parameters"/>
          <p:cNvSpPr/>
          <p:nvPr/>
        </p:nvSpPr>
        <p:spPr>
          <a:xfrm>
            <a:off x="6309360" y="1783080"/>
            <a:ext cx="5330952" cy="1600200"/>
          </a:xfrm>
          <a:prstGeom prst="roundRect">
            <a:avLst>
              <a:gd name="adj" fmla="val 5714"/>
            </a:avLst>
          </a:prstGeom>
          <a:solidFill>
            <a:schemeClr val="tx1"/>
          </a:solidFill>
          <a:ln/>
        </p:spPr>
      </p:sp>
      <p:sp>
        <p:nvSpPr>
          <p:cNvPr id="12" name="Code label"/>
          <p:cNvSpPr txBox="1"/>
          <p:nvPr/>
        </p:nvSpPr>
        <p:spPr>
          <a:xfrm>
            <a:off x="6510528" y="1874520"/>
            <a:ext cx="492861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PIPELINE · RUN_COMPLEX_TRANSFORMS · BASE PARAMETERS</a:t>
            </a:r>
            <a:endParaRPr lang="en-US" sz="1000" dirty="0"/>
          </a:p>
        </p:txBody>
      </p:sp>
      <p:sp>
        <p:nvSpPr>
          <p:cNvPr id="13" name="Base parameters text"/>
          <p:cNvSpPr txBox="1"/>
          <p:nvPr/>
        </p:nvSpPr>
        <p:spPr>
          <a:xfrm>
            <a:off x="6510528" y="2167128"/>
            <a:ext cx="4928616" cy="110642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fiscal_year</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@pipeline().parameters.fiscal_year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fiscal_period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@pipeline().parameters.fiscal_period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run_id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(not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passed)</a:t>
            </a:r>
            <a:endParaRPr lang="en-US" sz="1200" dirty="0"/>
          </a:p>
        </p:txBody>
      </p:sp>
      <p:sp>
        <p:nvSpPr>
          <p:cNvPr id="14" name="Gap card"/>
          <p:cNvSpPr/>
          <p:nvPr/>
        </p:nvSpPr>
        <p:spPr>
          <a:xfrm>
            <a:off x="6309360" y="3566160"/>
            <a:ext cx="5330952" cy="1920240"/>
          </a:xfrm>
          <a:prstGeom prst="roundRect">
            <a:avLst>
              <a:gd name="adj" fmla="val 5714"/>
            </a:avLst>
          </a:prstGeom>
          <a:solidFill>
            <a:schemeClr val="accent3">
              <a:alpha val="22000"/>
            </a:schemeClr>
          </a:solidFill>
          <a:ln/>
        </p:spPr>
      </p:sp>
      <p:sp>
        <p:nvSpPr>
          <p:cNvPr id="15" name="Gap text"/>
          <p:cNvSpPr txBox="1"/>
          <p:nvPr/>
        </p:nvSpPr>
        <p:spPr>
          <a:xfrm>
            <a:off x="6492240" y="3566160"/>
            <a:ext cx="4983480" cy="1920240"/>
          </a:xfrm>
          <a:prstGeom prst="rect">
            <a:avLst/>
          </a:prstGeom>
          <a:noFill/>
          <a:ln/>
        </p:spPr>
        <p:txBody>
          <a:bodyPr wrap="square" lIns="0" tIns="0" rIns="0" bIns="0" rtlCol="0" anchor="ctr"/>
          <a:lstStyle/>
          <a:p>
            <a:pPr indent="0" marL="0">
              <a:buNone/>
            </a:pPr>
            <a:r>
              <a:rPr lang="en-US" sz="1400" b="1" dirty="0">
                <a:solidFill>
                  <a:schemeClr val="tx1"/>
                </a:solidFill>
              </a:rPr>
              <a:t>Gap found: </a:t>
            </a:r>
            <a:pPr indent="0" marL="0">
              <a:buNone/>
            </a:pPr>
            <a:r>
              <a:rPr lang="en-US" sz="1400" dirty="0">
                <a:solidFill>
                  <a:schemeClr val="tx1"/>
                </a:solidFill>
              </a:rPr>
              <a:t>run_id is declared but never passed, so the captured output prints a blank Run ID. The fix is one expression: </a:t>
            </a:r>
            <a:pPr indent="0" marL="0">
              <a:buNone/>
            </a:pPr>
            <a:r>
              <a:rPr lang="en-US" sz="1400" b="1" dirty="0">
                <a:solidFill>
                  <a:schemeClr val="tx1"/>
                </a:solidFill>
                <a:latin typeface="Courier New" pitchFamily="34" charset="0"/>
                <a:ea typeface="Courier New" pitchFamily="34" charset="-122"/>
                <a:cs typeface="Courier New" pitchFamily="34" charset="-120"/>
              </a:rPr>
              <a:t>@pipeline().RunId</a:t>
            </a:r>
            <a:pPr indent="0" marL="0">
              <a:buNone/>
            </a:pPr>
            <a:r>
              <a:rPr lang="en-US" sz="1400" dirty="0">
                <a:solidFill>
                  <a:schemeClr val="tx1"/>
                </a:solidFill>
              </a:rPr>
              <a: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Two quiet gotchas: guessed types and spaces in names</a:t>
            </a:r>
            <a:endParaRPr lang="en-US" sz="3200" dirty="0"/>
          </a:p>
        </p:txBody>
      </p:sp>
      <p:sp>
        <p:nvSpPr>
          <p:cNvPr id="5" name="Left header"/>
          <p:cNvSpPr txBox="1"/>
          <p:nvPr/>
        </p:nvSpPr>
        <p:spPr>
          <a:xfrm>
            <a:off x="548640" y="1783080"/>
            <a:ext cx="4572000" cy="201168"/>
          </a:xfrm>
          <a:prstGeom prst="rect">
            <a:avLst/>
          </a:prstGeom>
          <a:noFill/>
          <a:ln/>
        </p:spPr>
        <p:txBody>
          <a:bodyPr wrap="square" lIns="0" tIns="0" rIns="0" bIns="0" rtlCol="0" anchor="t"/>
          <a:lstStyle/>
          <a:p>
            <a:pPr indent="0" marL="0">
              <a:buNone/>
            </a:pPr>
            <a:r>
              <a:rPr lang="en-US" sz="1050" b="1" spc="200" kern="0" dirty="0">
                <a:solidFill>
                  <a:schemeClr val="accent1"/>
                </a:solidFill>
              </a:rPr>
              <a:t>DECLARE YOUR SCHEMA</a:t>
            </a:r>
            <a:endParaRPr lang="en-US" sz="1050" dirty="0"/>
          </a:p>
        </p:txBody>
      </p:sp>
      <p:sp>
        <p:nvSpPr>
          <p:cNvPr id="6" name="Infer schema"/>
          <p:cNvSpPr/>
          <p:nvPr/>
        </p:nvSpPr>
        <p:spPr>
          <a:xfrm>
            <a:off x="548640" y="2057400"/>
            <a:ext cx="5468112" cy="1325880"/>
          </a:xfrm>
          <a:prstGeom prst="roundRect">
            <a:avLst>
              <a:gd name="adj" fmla="val 6897"/>
            </a:avLst>
          </a:prstGeom>
          <a:solidFill>
            <a:schemeClr val="tx1"/>
          </a:solidFill>
          <a:ln/>
        </p:spPr>
      </p:sp>
      <p:sp>
        <p:nvSpPr>
          <p:cNvPr id="7" name="Code label"/>
          <p:cNvSpPr txBox="1"/>
          <p:nvPr/>
        </p:nvSpPr>
        <p:spPr>
          <a:xfrm>
            <a:off x="749808" y="214884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LET SPARK GUESS</a:t>
            </a:r>
            <a:endParaRPr lang="en-US" sz="1000" dirty="0"/>
          </a:p>
        </p:txBody>
      </p:sp>
      <p:sp>
        <p:nvSpPr>
          <p:cNvPr id="8" name="Infer schema text"/>
          <p:cNvSpPr txBox="1"/>
          <p:nvPr/>
        </p:nvSpPr>
        <p:spPr>
          <a:xfrm>
            <a:off x="749808" y="2441448"/>
            <a:ext cx="5065776" cy="83210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spark</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read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option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"header"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True</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option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"inferSchema"</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True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csv</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path</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dtypes</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i="1" dirty="0">
                <a:solidFill>
                  <a:schemeClr val="accent5"/>
                </a:solidFill>
                <a:latin typeface="Courier New" pitchFamily="34" charset="0"/>
                <a:ea typeface="Courier New" pitchFamily="34" charset="-122"/>
                <a:cs typeface="Courier New" pitchFamily="34" charset="-120"/>
              </a:rPr>
              <a:t># [('period', 'timestamp'), ('v', 'int')]</a:t>
            </a:r>
            <a:endParaRPr lang="en-US" sz="1200" dirty="0"/>
          </a:p>
        </p:txBody>
      </p:sp>
      <p:sp>
        <p:nvSpPr>
          <p:cNvPr id="9" name="Guess result"/>
          <p:cNvSpPr/>
          <p:nvPr/>
        </p:nvSpPr>
        <p:spPr>
          <a:xfrm>
            <a:off x="548640" y="3456432"/>
            <a:ext cx="5468112" cy="384048"/>
          </a:xfrm>
          <a:prstGeom prst="roundRect">
            <a:avLst>
              <a:gd name="adj" fmla="val 28571"/>
            </a:avLst>
          </a:prstGeom>
          <a:solidFill>
            <a:schemeClr val="accent3">
              <a:alpha val="28000"/>
            </a:schemeClr>
          </a:solidFill>
          <a:ln/>
        </p:spPr>
      </p:sp>
      <p:sp>
        <p:nvSpPr>
          <p:cNvPr id="10" name="Guess result text"/>
          <p:cNvSpPr txBox="1"/>
          <p:nvPr/>
        </p:nvSpPr>
        <p:spPr>
          <a:xfrm>
            <a:off x="731520" y="3456432"/>
            <a:ext cx="5120640" cy="384048"/>
          </a:xfrm>
          <a:prstGeom prst="rect">
            <a:avLst/>
          </a:prstGeom>
          <a:noFill/>
          <a:ln/>
        </p:spPr>
        <p:txBody>
          <a:bodyPr wrap="square" lIns="0" tIns="0" rIns="0" bIns="0" rtlCol="0" anchor="ctr"/>
          <a:lstStyle/>
          <a:p>
            <a:pPr indent="0" marL="0">
              <a:buNone/>
            </a:pPr>
            <a:r>
              <a:rPr lang="en-US" sz="1250" dirty="0">
                <a:solidFill>
                  <a:schemeClr val="tx1"/>
                </a:solidFill>
              </a:rPr>
              <a:t>'2025-01' became a timestamp: 2025-01-01 00:00:00</a:t>
            </a:r>
            <a:endParaRPr lang="en-US" sz="1250" dirty="0"/>
          </a:p>
        </p:txBody>
      </p:sp>
      <p:sp>
        <p:nvSpPr>
          <p:cNvPr id="11" name="Declared schema"/>
          <p:cNvSpPr/>
          <p:nvPr/>
        </p:nvSpPr>
        <p:spPr>
          <a:xfrm>
            <a:off x="548640" y="3977640"/>
            <a:ext cx="5468112" cy="1051560"/>
          </a:xfrm>
          <a:prstGeom prst="roundRect">
            <a:avLst>
              <a:gd name="adj" fmla="val 8696"/>
            </a:avLst>
          </a:prstGeom>
          <a:solidFill>
            <a:schemeClr val="tx1"/>
          </a:solidFill>
          <a:ln/>
        </p:spPr>
      </p:sp>
      <p:sp>
        <p:nvSpPr>
          <p:cNvPr id="12" name="Code label"/>
          <p:cNvSpPr txBox="1"/>
          <p:nvPr/>
        </p:nvSpPr>
        <p:spPr>
          <a:xfrm>
            <a:off x="749808" y="406908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SAY WHAT YOU MEAN</a:t>
            </a:r>
            <a:endParaRPr lang="en-US" sz="1000" dirty="0"/>
          </a:p>
        </p:txBody>
      </p:sp>
      <p:sp>
        <p:nvSpPr>
          <p:cNvPr id="13" name="Declared schema text"/>
          <p:cNvSpPr txBox="1"/>
          <p:nvPr/>
        </p:nvSpPr>
        <p:spPr>
          <a:xfrm>
            <a:off x="749808" y="4361688"/>
            <a:ext cx="5065776" cy="557784"/>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df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spark</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read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option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"header"</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True</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schema</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"period string, v int"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csv</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path</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4" name="Declared result"/>
          <p:cNvSpPr/>
          <p:nvPr/>
        </p:nvSpPr>
        <p:spPr>
          <a:xfrm>
            <a:off x="548640" y="5102352"/>
            <a:ext cx="5468112" cy="384048"/>
          </a:xfrm>
          <a:prstGeom prst="roundRect">
            <a:avLst>
              <a:gd name="adj" fmla="val 28571"/>
            </a:avLst>
          </a:prstGeom>
          <a:solidFill>
            <a:schemeClr val="accent2">
              <a:alpha val="22000"/>
            </a:schemeClr>
          </a:solidFill>
          <a:ln/>
        </p:spPr>
      </p:sp>
      <p:sp>
        <p:nvSpPr>
          <p:cNvPr id="15" name="Declared result text"/>
          <p:cNvSpPr txBox="1"/>
          <p:nvPr/>
        </p:nvSpPr>
        <p:spPr>
          <a:xfrm>
            <a:off x="731520" y="5102352"/>
            <a:ext cx="5120640" cy="384048"/>
          </a:xfrm>
          <a:prstGeom prst="rect">
            <a:avLst/>
          </a:prstGeom>
          <a:noFill/>
          <a:ln/>
        </p:spPr>
        <p:txBody>
          <a:bodyPr wrap="square" lIns="0" tIns="0" rIns="0" bIns="0" rtlCol="0" anchor="ctr"/>
          <a:lstStyle/>
          <a:p>
            <a:pPr indent="0" marL="0">
              <a:buNone/>
            </a:pPr>
            <a:r>
              <a:rPr lang="en-US" sz="1250" dirty="0">
                <a:solidFill>
                  <a:schemeClr val="tx1"/>
                </a:solidFill>
              </a:rPr>
              <a:t>Declared: period stays the string '2025-01'</a:t>
            </a:r>
            <a:endParaRPr lang="en-US" sz="1250" dirty="0"/>
          </a:p>
        </p:txBody>
      </p:sp>
      <p:sp>
        <p:nvSpPr>
          <p:cNvPr id="16" name="Right header"/>
          <p:cNvSpPr txBox="1"/>
          <p:nvPr/>
        </p:nvSpPr>
        <p:spPr>
          <a:xfrm>
            <a:off x="6172200" y="1783080"/>
            <a:ext cx="4572000" cy="201168"/>
          </a:xfrm>
          <a:prstGeom prst="rect">
            <a:avLst/>
          </a:prstGeom>
          <a:noFill/>
          <a:ln/>
        </p:spPr>
        <p:txBody>
          <a:bodyPr wrap="square" lIns="0" tIns="0" rIns="0" bIns="0" rtlCol="0" anchor="t"/>
          <a:lstStyle/>
          <a:p>
            <a:pPr indent="0" marL="0">
              <a:buNone/>
            </a:pPr>
            <a:r>
              <a:rPr lang="en-US" sz="1050" b="1" spc="200" kern="0" dirty="0">
                <a:solidFill>
                  <a:schemeClr val="accent1"/>
                </a:solidFill>
              </a:rPr>
              <a:t>NAME COLUMNS FOR DELTA</a:t>
            </a:r>
            <a:endParaRPr lang="en-US" sz="1050" dirty="0"/>
          </a:p>
        </p:txBody>
      </p:sp>
      <p:sp>
        <p:nvSpPr>
          <p:cNvPr id="17" name="safe_col"/>
          <p:cNvSpPr/>
          <p:nvPr/>
        </p:nvSpPr>
        <p:spPr>
          <a:xfrm>
            <a:off x="6172200" y="2057400"/>
            <a:ext cx="5468112" cy="1828800"/>
          </a:xfrm>
          <a:prstGeom prst="roundRect">
            <a:avLst>
              <a:gd name="adj" fmla="val 5000"/>
            </a:avLst>
          </a:prstGeom>
          <a:solidFill>
            <a:schemeClr val="tx1"/>
          </a:solidFill>
          <a:ln/>
        </p:spPr>
      </p:sp>
      <p:sp>
        <p:nvSpPr>
          <p:cNvPr id="18" name="Code label"/>
          <p:cNvSpPr txBox="1"/>
          <p:nvPr/>
        </p:nvSpPr>
        <p:spPr>
          <a:xfrm>
            <a:off x="6373368" y="2148840"/>
            <a:ext cx="506577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FROM THE POC NOTEBOOK</a:t>
            </a:r>
            <a:endParaRPr lang="en-US" sz="1000" dirty="0"/>
          </a:p>
        </p:txBody>
      </p:sp>
      <p:sp>
        <p:nvSpPr>
          <p:cNvPr id="19" name="safe_col text"/>
          <p:cNvSpPr txBox="1"/>
          <p:nvPr/>
        </p:nvSpPr>
        <p:spPr>
          <a:xfrm>
            <a:off x="6373368" y="2441448"/>
            <a:ext cx="5065776" cy="1335024"/>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def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safe_col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name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invalid</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list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result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name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for</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c</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in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invalid</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result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result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replace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"_"</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return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result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strip</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"_"</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graphicFrame>
        <p:nvGraphicFramePr>
          <p:cNvPr id="11" name="Column renames"/>
          <p:cNvGraphicFramePr>
            <a:graphicFrameLocks noGrp="1"/>
          </p:cNvGraphicFramePr>
          <p:nvPr>
            <p:extLst>
              <p:ext uri="{D42A27DB-BD31-4B8C-83A1-F6EECF244321}">
                <p14:modId xmlns:p14="http://schemas.microsoft.com/office/powerpoint/2010/main" val="1579011935"/>
              </p:ext>
            </p:extLst>
          </p:nvPr>
        </p:nvGraphicFramePr>
        <p:xfrm>
          <a:off x="6172200" y="4023360"/>
          <a:ext cx="5468112" cy="914400"/>
        </p:xfrm>
        <a:graphic>
          <a:graphicData uri="http://schemas.openxmlformats.org/drawingml/2006/table">
            <a:tbl>
              <a:tblPr/>
              <a:tblGrid>
                <a:gridCol w="2743200"/>
                <a:gridCol w="2724912"/>
              </a:tblGrid>
              <a:tr h="292608">
                <a:tc>
                  <a:txBody>
                    <a:bodyPr/>
                    <a:lstStyle/>
                    <a:p>
                      <a:pPr indent="0" marL="0">
                        <a:buNone/>
                      </a:pPr>
                      <a:r>
                        <a:rPr lang="en-US" sz="1150" b="1" dirty="0">
                          <a:solidFill>
                            <a:schemeClr val="bg1"/>
                          </a:solidFill>
                        </a:rPr>
                        <a:t>Before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After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274320">
                <a:tc>
                  <a:txBody>
                    <a:bodyPr/>
                    <a:lstStyle/>
                    <a:p>
                      <a:pPr indent="0" marL="0">
                        <a:buNone/>
                      </a:pPr>
                      <a:r>
                        <a:rPr lang="en-US" sz="1150" dirty="0">
                          <a:solidFill>
                            <a:schemeClr val="tx1"/>
                          </a:solidFill>
                        </a:rPr>
                        <a:t>Month and Year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Month_and_Year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50" dirty="0">
                          <a:solidFill>
                            <a:schemeClr val="tx1"/>
                          </a:solidFill>
                        </a:rPr>
                        <a:t>Mapped Entity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Mapped_Entity</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50" dirty="0">
                          <a:solidFill>
                            <a:schemeClr val="tx1"/>
                          </a:solidFill>
                        </a:rPr>
                        <a:t>Percent without NA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Percent_without_NA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50" dirty="0">
                          <a:solidFill>
                            <a:schemeClr val="tx1"/>
                          </a:solidFill>
                        </a:rPr>
                        <a:t>Apportioned Amount without NA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Apportioned_Amount_without_NA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Reading OneLake: names travel, hard-coded IDs do not</a:t>
            </a:r>
            <a:endParaRPr lang="en-US" sz="3200" dirty="0"/>
          </a:p>
        </p:txBody>
      </p:sp>
      <p:graphicFrame>
        <p:nvGraphicFramePr>
          <p:cNvPr id="12" name="Reading path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828800"/>
                <a:gridCol w="5120640"/>
                <a:gridCol w="1737360"/>
                <a:gridCol w="2404872"/>
              </a:tblGrid>
              <a:tr h="384048">
                <a:tc>
                  <a:txBody>
                    <a:bodyPr/>
                    <a:lstStyle/>
                    <a:p>
                      <a:pPr indent="0" marL="0">
                        <a:buNone/>
                      </a:pPr>
                      <a:r>
                        <a:rPr lang="en-US" sz="1250" b="1" dirty="0">
                          <a:solidFill>
                            <a:schemeClr val="bg1"/>
                          </a:solidFill>
                        </a:rPr>
                        <a:t>Way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Example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Needs an attached lakehouse?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Follows the notebook to TEST and PROD?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713232">
                <a:tc>
                  <a:txBody>
                    <a:bodyPr/>
                    <a:lstStyle/>
                    <a:p>
                      <a:pPr indent="0" marL="0">
                        <a:buNone/>
                      </a:pPr>
                      <a:r>
                        <a:rPr lang="en-US" sz="1250" b="1" dirty="0">
                          <a:solidFill>
                            <a:schemeClr val="tx1"/>
                          </a:solidFill>
                        </a:rPr>
                        <a:t>Table name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spark.read.table("silver_dst_impressions")</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Yes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2"/>
                          </a:solidFill>
                        </a:rPr>
                        <a:t>Yes, once the attachment is set per environment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13232">
                <a:tc>
                  <a:txBody>
                    <a:bodyPr/>
                    <a:lstStyle/>
                    <a:p>
                      <a:pPr indent="0" marL="0">
                        <a:buNone/>
                      </a:pPr>
                      <a:r>
                        <a:rPr lang="en-US" sz="1250" b="1" dirty="0">
                          <a:solidFill>
                            <a:schemeClr val="tx1"/>
                          </a:solidFill>
                        </a:rPr>
                        <a:t>Relative Files path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spark.read.csv("Files/raw/dst/revenue.csv", header=True)</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Yes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b="1" dirty="0">
                          <a:solidFill>
                            <a:schemeClr val="accent2"/>
                          </a:solidFill>
                        </a:rPr>
                        <a:t>Yes, same condition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960120">
                <a:tc>
                  <a:txBody>
                    <a:bodyPr/>
                    <a:lstStyle/>
                    <a:p>
                      <a:pPr indent="0" marL="0">
                        <a:buNone/>
                      </a:pPr>
                      <a:r>
                        <a:rPr lang="en-US" sz="1250" b="1" dirty="0">
                          <a:solidFill>
                            <a:schemeClr val="tx1"/>
                          </a:solidFill>
                        </a:rPr>
                        <a:t>Full OneLake path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spark.read.format("delta").load(f"abfss://{WORKSPACE_ID}@onelake.dfs.fabric.microsoft.com/{LAKEHOUSE_ID}/Tables/bronze_source_66")</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No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tx1"/>
                          </a:solidFill>
                        </a:rPr>
                        <a:t>No. The IDs are fixed in the code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074920"/>
            <a:ext cx="11094415" cy="548640"/>
          </a:xfrm>
          <a:prstGeom prst="roundRect">
            <a:avLst>
              <a:gd name="adj" fmla="val 16667"/>
            </a:avLst>
          </a:prstGeom>
          <a:solidFill>
            <a:schemeClr val="tx1"/>
          </a:solidFill>
          <a:ln/>
        </p:spPr>
        <p:txBody>
          <a:bodyPr wrap="square" lIns="279400" tIns="0" rIns="279400" bIns="0" rtlCol="0" anchor="ctr"/>
          <a:lstStyle/>
          <a:p>
            <a:pPr indent="0" marL="0">
              <a:buNone/>
            </a:pPr>
            <a:r>
              <a:rPr lang="en-US" sz="1600" i="1" dirty="0">
                <a:solidFill>
                  <a:schemeClr val="bg1"/>
                </a:solidFill>
              </a:rPr>
              <a:t>Prefer table names. Use a full path only to reach another workspace, and pass its IDs in as parameters.</a:t>
            </a:r>
            <a:endParaRPr lang="en-US" sz="1600" dirty="0"/>
          </a:p>
        </p:txBody>
      </p:sp>
      <p:sp>
        <p:nvSpPr>
          <p:cNvPr id="7" name="Footnote"/>
          <p:cNvSpPr txBox="1"/>
          <p:nvPr/>
        </p:nvSpPr>
        <p:spPr>
          <a:xfrm>
            <a:off x="548640" y="57607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The DST POC notebook reads its seven bronze tables by full path, with the workspace and lakehouse IDs in the code (masked here).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Tool IDs in comments keep the trail back to Alteryx</a:t>
            </a:r>
            <a:endParaRPr lang="en-US" sz="3200" dirty="0"/>
          </a:p>
        </p:txBody>
      </p:sp>
      <p:graphicFrame>
        <p:nvGraphicFramePr>
          <p:cNvPr id="13" name="Tool ID map"/>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834640"/>
                <a:gridCol w="4114800"/>
                <a:gridCol w="4142232"/>
              </a:tblGrid>
              <a:tr h="365760">
                <a:tc>
                  <a:txBody>
                    <a:bodyPr/>
                    <a:lstStyle/>
                    <a:p>
                      <a:pPr indent="0" marL="0">
                        <a:buNone/>
                      </a:pPr>
                      <a:r>
                        <a:rPr lang="en-US" sz="1250" b="1" dirty="0">
                          <a:solidFill>
                            <a:schemeClr val="bg1"/>
                          </a:solidFill>
                        </a:rPr>
                        <a:t>Alteryx tool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What it does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In the Fabric notebook</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38328">
                <a:tc>
                  <a:txBody>
                    <a:bodyPr/>
                    <a:lstStyle/>
                    <a:p>
                      <a:pPr indent="0" marL="0">
                        <a:buNone/>
                      </a:pPr>
                      <a:r>
                        <a:rPr lang="en-US" sz="1250" b="1" dirty="0">
                          <a:solidFill>
                            <a:schemeClr val="tx1"/>
                          </a:solidFill>
                        </a:rPr>
                        <a:t>Dynamic Input 39</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Snowflake query for the year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bronze_Get_Snowflake_Data_39</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38328">
                <a:tc>
                  <a:txBody>
                    <a:bodyPr/>
                    <a:lstStyle/>
                    <a:p>
                      <a:pPr indent="0" marL="0">
                        <a:buNone/>
                      </a:pPr>
                      <a:r>
                        <a:rPr lang="en-US" sz="1250" b="1" dirty="0">
                          <a:solidFill>
                            <a:schemeClr val="tx1"/>
                          </a:solidFill>
                        </a:rPr>
                        <a:t>Text Input 66, 251, 254, 296</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Inline tables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bronze_source_66, _251, _254, _296</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38328">
                <a:tc>
                  <a:txBody>
                    <a:bodyPr/>
                    <a:lstStyle/>
                    <a:p>
                      <a:pPr indent="0" marL="0">
                        <a:buNone/>
                      </a:pPr>
                      <a:r>
                        <a:rPr lang="en-US" sz="1250" b="1" dirty="0">
                          <a:solidFill>
                            <a:schemeClr val="tx1"/>
                          </a:solidFill>
                        </a:rPr>
                        <a:t>Text Input 290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Data Hub schema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bronze_Data_Hub_Schema_290</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38328">
                <a:tc>
                  <a:txBody>
                    <a:bodyPr/>
                    <a:lstStyle/>
                    <a:p>
                      <a:pPr indent="0" marL="0">
                        <a:buNone/>
                      </a:pPr>
                      <a:r>
                        <a:rPr lang="en-US" sz="1250" b="1" dirty="0">
                          <a:solidFill>
                            <a:schemeClr val="tx1"/>
                          </a:solidFill>
                        </a:rPr>
                        <a:t>Text Input 312</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Collection ID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bronze_Collection_ID_312</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38328">
                <a:tc>
                  <a:txBody>
                    <a:bodyPr/>
                    <a:lstStyle/>
                    <a:p>
                      <a:pPr indent="0" marL="0">
                        <a:buNone/>
                      </a:pPr>
                      <a:r>
                        <a:rPr lang="en-US" sz="1250" b="1" dirty="0">
                          <a:solidFill>
                            <a:schemeClr val="tx1"/>
                          </a:solidFill>
                        </a:rPr>
                        <a:t>Summarize 221</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Impressions by month, ad unit, entity, state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 T221  groupBy(…).agg(sum)</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38328">
                <a:tc>
                  <a:txBody>
                    <a:bodyPr/>
                    <a:lstStyle/>
                    <a:p>
                      <a:pPr indent="0" marL="0">
                        <a:buNone/>
                      </a:pPr>
                      <a:r>
                        <a:rPr lang="en-US" sz="1250" b="1" dirty="0">
                          <a:solidFill>
                            <a:schemeClr val="tx1"/>
                          </a:solidFill>
                        </a:rPr>
                        <a:t>Summarize 220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Amount by month and entity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 T220  groupBy(…).agg(sum)</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38328">
                <a:tc>
                  <a:txBody>
                    <a:bodyPr/>
                    <a:lstStyle/>
                    <a:p>
                      <a:pPr indent="0" marL="0">
                        <a:buNone/>
                      </a:pPr>
                      <a:r>
                        <a:rPr lang="en-US" sz="1250" b="1" dirty="0">
                          <a:solidFill>
                            <a:schemeClr val="tx1"/>
                          </a:solidFill>
                        </a:rPr>
                        <a:t>Summarize 169</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Denominator by entity and month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 T169  groupBy(…).agg(sum)</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38328">
                <a:tc>
                  <a:txBody>
                    <a:bodyPr/>
                    <a:lstStyle/>
                    <a:p>
                      <a:pPr indent="0" marL="0">
                        <a:buNone/>
                      </a:pPr>
                      <a:r>
                        <a:rPr lang="en-US" sz="1250" b="1" dirty="0">
                          <a:solidFill>
                            <a:schemeClr val="tx1"/>
                          </a:solidFill>
                        </a:rPr>
                        <a:t>Formula 239</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Share of the denominator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 T239  Percent without NA / with NA</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38328">
                <a:tc>
                  <a:txBody>
                    <a:bodyPr/>
                    <a:lstStyle/>
                    <a:p>
                      <a:pPr indent="0" marL="0">
                        <a:buNone/>
                      </a:pPr>
                      <a:r>
                        <a:rPr lang="en-US" sz="1250" b="1" dirty="0">
                          <a:solidFill>
                            <a:schemeClr val="tx1"/>
                          </a:solidFill>
                        </a:rPr>
                        <a:t>Formula 246</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Revenue times share, sign flipped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 T246  Apportioned Amount …</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376672"/>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Keep the tool ID in a comment. Keep it out of table names: people have to read those.</a:t>
            </a:r>
            <a:endParaRPr lang="en-US" sz="1600" dirty="0"/>
          </a:p>
        </p:txBody>
      </p:sp>
      <p:sp>
        <p:nvSpPr>
          <p:cNvPr id="7" name="Footnote"/>
          <p:cNvSpPr txBox="1"/>
          <p:nvPr/>
        </p:nvSpPr>
        <p:spPr>
          <a:xfrm>
            <a:off x="548640" y="5961888"/>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Tool types checked against DST Domestic Workflow v1.2. Source: complex_transforms notebook.</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Write one slice, not the whole table</a:t>
            </a:r>
            <a:endParaRPr lang="en-US" sz="3200" dirty="0"/>
          </a:p>
        </p:txBody>
      </p:sp>
      <p:sp>
        <p:nvSpPr>
          <p:cNvPr id="5" name="Write slice"/>
          <p:cNvSpPr/>
          <p:nvPr/>
        </p:nvSpPr>
        <p:spPr>
          <a:xfrm>
            <a:off x="548640" y="1783080"/>
            <a:ext cx="5943600" cy="1325880"/>
          </a:xfrm>
          <a:prstGeom prst="roundRect">
            <a:avLst>
              <a:gd name="adj" fmla="val 6897"/>
            </a:avLst>
          </a:prstGeom>
          <a:solidFill>
            <a:schemeClr val="tx1"/>
          </a:solidFill>
          <a:ln/>
        </p:spPr>
      </p:sp>
      <p:sp>
        <p:nvSpPr>
          <p:cNvPr id="6" name="Code label"/>
          <p:cNvSpPr txBox="1"/>
          <p:nvPr/>
        </p:nvSpPr>
        <p:spPr>
          <a:xfrm>
            <a:off x="749808" y="1874520"/>
            <a:ext cx="55412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LAB A · WRITE THE GOLD SLICE</a:t>
            </a:r>
            <a:endParaRPr lang="en-US" sz="1000" dirty="0"/>
          </a:p>
        </p:txBody>
      </p:sp>
      <p:sp>
        <p:nvSpPr>
          <p:cNvPr id="7" name="Write slice text"/>
          <p:cNvSpPr txBox="1"/>
          <p:nvPr/>
        </p:nvSpPr>
        <p:spPr>
          <a:xfrm>
            <a:off x="749808" y="2167128"/>
            <a:ext cx="5541264" cy="832104"/>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gold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format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"delta"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mode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"overwrite"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option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"replaceWhere"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accent3"/>
                </a:solidFill>
                <a:latin typeface="Courier New" pitchFamily="34" charset="0"/>
                <a:ea typeface="Courier New" pitchFamily="34" charset="-122"/>
                <a:cs typeface="Courier New" pitchFamily="34" charset="-120"/>
              </a:rPr>
              <a:t>"period = '{period}' AND basis = '{denominator}'"</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saveAsTable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"gold_dst_apportioned"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graphicFrame>
        <p:nvGraphicFramePr>
          <p:cNvPr id="14" name="Write modes"/>
          <p:cNvGraphicFramePr>
            <a:graphicFrameLocks noGrp="1"/>
          </p:cNvGraphicFramePr>
          <p:nvPr>
            <p:extLst>
              <p:ext uri="{D42A27DB-BD31-4B8C-83A1-F6EECF244321}">
                <p14:modId xmlns:p14="http://schemas.microsoft.com/office/powerpoint/2010/main" val="1579011935"/>
              </p:ext>
            </p:extLst>
          </p:nvPr>
        </p:nvGraphicFramePr>
        <p:xfrm>
          <a:off x="548640" y="3291840"/>
          <a:ext cx="5943600" cy="914400"/>
        </p:xfrm>
        <a:graphic>
          <a:graphicData uri="http://schemas.openxmlformats.org/drawingml/2006/table">
            <a:tbl>
              <a:tblPr/>
              <a:tblGrid>
                <a:gridCol w="1463040"/>
                <a:gridCol w="2194560"/>
                <a:gridCol w="2286000"/>
              </a:tblGrid>
              <a:tr h="365760">
                <a:tc>
                  <a:txBody>
                    <a:bodyPr/>
                    <a:lstStyle/>
                    <a:p>
                      <a:pPr indent="0" marL="0">
                        <a:buNone/>
                      </a:pPr>
                      <a:r>
                        <a:rPr lang="en-US" sz="1250" b="1" dirty="0">
                          <a:solidFill>
                            <a:schemeClr val="bg1"/>
                          </a:solidFill>
                        </a:rPr>
                        <a:t>Write mode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What it does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Use it for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overwrite</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Replaces the whole table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Tables rebuilt in full each run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append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Adds rows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Logs. A rerun duplicates rows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00" b="1" dirty="0">
                          <a:solidFill>
                            <a:schemeClr val="tx1"/>
                          </a:solidFill>
                          <a:latin typeface="Courier New" pitchFamily="34" charset="0"/>
                          <a:ea typeface="Courier New" pitchFamily="34" charset="-122"/>
                          <a:cs typeface="Courier New" pitchFamily="34" charset="-120"/>
                        </a:rPr>
                        <a:t>replaceWhere</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Replaces matching rows only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One period at a time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9" name="History label"/>
          <p:cNvSpPr txBox="1"/>
          <p:nvPr/>
        </p:nvSpPr>
        <p:spPr>
          <a:xfrm>
            <a:off x="6766560" y="1783080"/>
            <a:ext cx="484632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DESCRIBE HISTORY  ·  LAB A, FOUR RUNS</a:t>
            </a:r>
            <a:endParaRPr lang="en-US" sz="1000" dirty="0"/>
          </a:p>
        </p:txBody>
      </p:sp>
      <p:graphicFrame>
        <p:nvGraphicFramePr>
          <p:cNvPr id="27" name="Table history"/>
          <p:cNvGraphicFramePr>
            <a:graphicFrameLocks noGrp="1"/>
          </p:cNvGraphicFramePr>
          <p:nvPr>
            <p:extLst>
              <p:ext uri="{D42A27DB-BD31-4B8C-83A1-F6EECF244321}">
                <p14:modId xmlns:p14="http://schemas.microsoft.com/office/powerpoint/2010/main" val="1579011935"/>
              </p:ext>
            </p:extLst>
          </p:nvPr>
        </p:nvGraphicFramePr>
        <p:xfrm>
          <a:off x="6766560" y="2057400"/>
          <a:ext cx="4873752" cy="914400"/>
        </p:xfrm>
        <a:graphic>
          <a:graphicData uri="http://schemas.openxmlformats.org/drawingml/2006/table">
            <a:tbl>
              <a:tblPr/>
              <a:tblGrid>
                <a:gridCol w="822960"/>
                <a:gridCol w="1097280"/>
                <a:gridCol w="2953512"/>
              </a:tblGrid>
              <a:tr h="365760">
                <a:tc>
                  <a:txBody>
                    <a:bodyPr/>
                    <a:lstStyle/>
                    <a:p>
                      <a:pPr indent="0" marL="0">
                        <a:buNone/>
                      </a:pPr>
                      <a:r>
                        <a:rPr lang="en-US" sz="1250" b="1" dirty="0">
                          <a:solidFill>
                            <a:schemeClr val="bg1"/>
                          </a:solidFill>
                        </a:rPr>
                        <a:t>version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operation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slice replaced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indent="0" marL="0">
                        <a:buNone/>
                      </a:pPr>
                      <a:r>
                        <a:rPr lang="en-US" sz="1250" dirty="0">
                          <a:solidFill>
                            <a:schemeClr val="tx1"/>
                          </a:solidFill>
                        </a:rPr>
                        <a:t>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WRITE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2025-01, without_na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50" dirty="0">
                          <a:solidFill>
                            <a:schemeClr val="tx1"/>
                          </a:solidFill>
                        </a:rPr>
                        <a:t>1</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WRITE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2025-02, without_na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250" dirty="0">
                          <a:solidFill>
                            <a:schemeClr val="tx1"/>
                          </a:solidFill>
                        </a:rPr>
                        <a:t>2</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WRITE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2025-01, with_na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50" dirty="0">
                          <a:solidFill>
                            <a:schemeClr val="tx1"/>
                          </a:solidFill>
                        </a:rPr>
                        <a:t>3</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WRITE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2025-01, without_na (a rerun)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1" name="POC note"/>
          <p:cNvSpPr/>
          <p:nvPr/>
        </p:nvSpPr>
        <p:spPr>
          <a:xfrm>
            <a:off x="6766560" y="3977640"/>
            <a:ext cx="4873752" cy="1508760"/>
          </a:xfrm>
          <a:prstGeom prst="roundRect">
            <a:avLst>
              <a:gd name="adj" fmla="val 7273"/>
            </a:avLst>
          </a:prstGeom>
          <a:solidFill>
            <a:schemeClr val="accent3">
              <a:alpha val="22000"/>
            </a:schemeClr>
          </a:solidFill>
          <a:ln/>
        </p:spPr>
      </p:sp>
      <p:sp>
        <p:nvSpPr>
          <p:cNvPr id="12" name="POC note text"/>
          <p:cNvSpPr txBox="1"/>
          <p:nvPr/>
        </p:nvSpPr>
        <p:spPr>
          <a:xfrm>
            <a:off x="6949440" y="3977640"/>
            <a:ext cx="4526280" cy="1508760"/>
          </a:xfrm>
          <a:prstGeom prst="rect">
            <a:avLst/>
          </a:prstGeom>
          <a:noFill/>
          <a:ln/>
        </p:spPr>
        <p:txBody>
          <a:bodyPr wrap="square" lIns="0" tIns="0" rIns="0" bIns="0" rtlCol="0" anchor="ctr"/>
          <a:lstStyle/>
          <a:p>
            <a:pPr indent="0" marL="0">
              <a:buNone/>
            </a:pPr>
            <a:r>
              <a:rPr lang="en-US" sz="1350" b="1" dirty="0">
                <a:solidFill>
                  <a:schemeClr val="tx1"/>
                </a:solidFill>
              </a:rPr>
              <a:t>The POC today: </a:t>
            </a:r>
            <a:pPr indent="0" marL="0">
              <a:buNone/>
            </a:pPr>
            <a:r>
              <a:rPr lang="en-US" sz="1350" dirty="0">
                <a:solidFill>
                  <a:schemeClr val="tx1"/>
                </a:solidFill>
              </a:rPr>
              <a:t>overwrite of silver_transformed, the whole table, from one run's data.</a:t>
            </a:r>
            <a:endParaRPr lang="en-US" sz="1350" dirty="0"/>
          </a:p>
        </p:txBody>
      </p:sp>
      <p:sp>
        <p:nvSpPr>
          <p:cNvPr id="13" name="Takeaway"/>
          <p:cNvSpPr txBox="1"/>
          <p:nvPr/>
        </p:nvSpPr>
        <p:spPr>
          <a:xfrm>
            <a:off x="548640" y="562356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A rerun replaces its own slice and nothing else. The history shows who wrote what, and when.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gate fails the run, not the report</a:t>
            </a:r>
            <a:endParaRPr lang="en-US" sz="3200" dirty="0"/>
          </a:p>
        </p:txBody>
      </p:sp>
      <p:sp>
        <p:nvSpPr>
          <p:cNvPr id="5" name="Move Compare"/>
          <p:cNvSpPr/>
          <p:nvPr/>
        </p:nvSpPr>
        <p:spPr>
          <a:xfrm>
            <a:off x="548640" y="1783080"/>
            <a:ext cx="7772400" cy="1207008"/>
          </a:xfrm>
          <a:prstGeom prst="roundRect">
            <a:avLst>
              <a:gd name="adj" fmla="val 9091"/>
            </a:avLst>
          </a:prstGeom>
          <a:solidFill>
            <a:schemeClr val="bg2"/>
          </a:solidFill>
          <a:ln/>
        </p:spPr>
      </p:sp>
      <p:sp>
        <p:nvSpPr>
          <p:cNvPr id="6" name="Move chip 1"/>
          <p:cNvSpPr/>
          <p:nvPr/>
        </p:nvSpPr>
        <p:spPr>
          <a:xfrm>
            <a:off x="713232" y="1911096"/>
            <a:ext cx="384048" cy="384048"/>
          </a:xfrm>
          <a:prstGeom prst="roundRect">
            <a:avLst>
              <a:gd name="adj" fmla="val 16667"/>
            </a:avLst>
          </a:prstGeom>
          <a:solidFill>
            <a:schemeClr val="accent1"/>
          </a:solidFill>
          <a:ln/>
        </p:spPr>
      </p:sp>
      <p:sp>
        <p:nvSpPr>
          <p:cNvPr id="7" name="Move number"/>
          <p:cNvSpPr txBox="1"/>
          <p:nvPr/>
        </p:nvSpPr>
        <p:spPr>
          <a:xfrm>
            <a:off x="713232" y="191109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8" name="Move title"/>
          <p:cNvSpPr txBox="1"/>
          <p:nvPr/>
        </p:nvSpPr>
        <p:spPr>
          <a:xfrm>
            <a:off x="1234440" y="1874520"/>
            <a:ext cx="694944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Compare   </a:t>
            </a:r>
            <a:pPr indent="0" marL="0">
              <a:buNone/>
            </a:pPr>
            <a:r>
              <a:rPr lang="en-US" sz="1250" dirty="0">
                <a:solidFill>
                  <a:schemeClr val="tx1"/>
                </a:solidFill>
              </a:rPr>
              <a:t>Add up what was apportioned and compare it with the revenue.</a:t>
            </a:r>
            <a:endParaRPr lang="en-US" sz="1400" dirty="0"/>
          </a:p>
        </p:txBody>
      </p:sp>
      <p:sp>
        <p:nvSpPr>
          <p:cNvPr id="9" name="Move code"/>
          <p:cNvSpPr/>
          <p:nvPr/>
        </p:nvSpPr>
        <p:spPr>
          <a:xfrm>
            <a:off x="1234440" y="2386584"/>
            <a:ext cx="6949440" cy="457200"/>
          </a:xfrm>
          <a:prstGeom prst="roundRect">
            <a:avLst>
              <a:gd name="adj" fmla="val 20000"/>
            </a:avLst>
          </a:prstGeom>
          <a:solidFill>
            <a:schemeClr val="tx1"/>
          </a:solidFill>
          <a:ln/>
        </p:spPr>
      </p:sp>
      <p:sp>
        <p:nvSpPr>
          <p:cNvPr id="10" name="Move code text"/>
          <p:cNvSpPr txBox="1"/>
          <p:nvPr/>
        </p:nvSpPr>
        <p:spPr>
          <a:xfrm>
            <a:off x="1435608" y="2532888"/>
            <a:ext cx="6547104" cy="201168"/>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failed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check</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filter</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abs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"difference"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6"/>
                </a:solidFill>
                <a:latin typeface="Courier New" pitchFamily="34" charset="0"/>
                <a:ea typeface="Courier New" pitchFamily="34" charset="-122"/>
                <a:cs typeface="Courier New" pitchFamily="34" charset="-120"/>
              </a:rPr>
              <a:t>0.05</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count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11" name="Move Record"/>
          <p:cNvSpPr/>
          <p:nvPr/>
        </p:nvSpPr>
        <p:spPr>
          <a:xfrm>
            <a:off x="548640" y="3081528"/>
            <a:ext cx="7772400" cy="1207008"/>
          </a:xfrm>
          <a:prstGeom prst="roundRect">
            <a:avLst>
              <a:gd name="adj" fmla="val 9091"/>
            </a:avLst>
          </a:prstGeom>
          <a:solidFill>
            <a:schemeClr val="bg2"/>
          </a:solidFill>
          <a:ln/>
        </p:spPr>
      </p:sp>
      <p:sp>
        <p:nvSpPr>
          <p:cNvPr id="12" name="Move chip 2"/>
          <p:cNvSpPr/>
          <p:nvPr/>
        </p:nvSpPr>
        <p:spPr>
          <a:xfrm>
            <a:off x="713232" y="3209544"/>
            <a:ext cx="384048" cy="384048"/>
          </a:xfrm>
          <a:prstGeom prst="roundRect">
            <a:avLst>
              <a:gd name="adj" fmla="val 16667"/>
            </a:avLst>
          </a:prstGeom>
          <a:solidFill>
            <a:schemeClr val="accent1"/>
          </a:solidFill>
          <a:ln/>
        </p:spPr>
      </p:sp>
      <p:sp>
        <p:nvSpPr>
          <p:cNvPr id="13" name="Move number"/>
          <p:cNvSpPr txBox="1"/>
          <p:nvPr/>
        </p:nvSpPr>
        <p:spPr>
          <a:xfrm>
            <a:off x="713232" y="320954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14" name="Move title"/>
          <p:cNvSpPr txBox="1"/>
          <p:nvPr/>
        </p:nvSpPr>
        <p:spPr>
          <a:xfrm>
            <a:off x="1234440" y="3172968"/>
            <a:ext cx="694944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Record   </a:t>
            </a:r>
            <a:pPr indent="0" marL="0">
              <a:buNone/>
            </a:pPr>
            <a:r>
              <a:rPr lang="en-US" sz="1250" dirty="0">
                <a:solidFill>
                  <a:schemeClr val="tx1"/>
                </a:solidFill>
              </a:rPr>
              <a:t>Write the result to a run log first, so even a failed run leaves a trace.</a:t>
            </a:r>
            <a:endParaRPr lang="en-US" sz="1400" dirty="0"/>
          </a:p>
        </p:txBody>
      </p:sp>
      <p:sp>
        <p:nvSpPr>
          <p:cNvPr id="15" name="Move code"/>
          <p:cNvSpPr/>
          <p:nvPr/>
        </p:nvSpPr>
        <p:spPr>
          <a:xfrm>
            <a:off x="1234440" y="3685032"/>
            <a:ext cx="6949440" cy="530352"/>
          </a:xfrm>
          <a:prstGeom prst="roundRect">
            <a:avLst>
              <a:gd name="adj" fmla="val 17241"/>
            </a:avLst>
          </a:prstGeom>
          <a:solidFill>
            <a:schemeClr val="tx1"/>
          </a:solidFill>
          <a:ln/>
        </p:spPr>
      </p:sp>
      <p:sp>
        <p:nvSpPr>
          <p:cNvPr id="16" name="Move code text"/>
          <p:cNvSpPr txBox="1"/>
          <p:nvPr/>
        </p:nvSpPr>
        <p:spPr>
          <a:xfrm>
            <a:off x="1435608" y="3831336"/>
            <a:ext cx="6547104" cy="27432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log</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withColumn</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"finished_at"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current_timestamp</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write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mode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"append"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saveAsTable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"gold_dst_run_log"</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17" name="Move Decide"/>
          <p:cNvSpPr/>
          <p:nvPr/>
        </p:nvSpPr>
        <p:spPr>
          <a:xfrm>
            <a:off x="548640" y="4379976"/>
            <a:ext cx="7772400" cy="1207008"/>
          </a:xfrm>
          <a:prstGeom prst="roundRect">
            <a:avLst>
              <a:gd name="adj" fmla="val 9091"/>
            </a:avLst>
          </a:prstGeom>
          <a:solidFill>
            <a:schemeClr val="bg2"/>
          </a:solidFill>
          <a:ln/>
        </p:spPr>
      </p:sp>
      <p:sp>
        <p:nvSpPr>
          <p:cNvPr id="18" name="Move chip 3"/>
          <p:cNvSpPr/>
          <p:nvPr/>
        </p:nvSpPr>
        <p:spPr>
          <a:xfrm>
            <a:off x="713232" y="4507992"/>
            <a:ext cx="384048" cy="384048"/>
          </a:xfrm>
          <a:prstGeom prst="roundRect">
            <a:avLst>
              <a:gd name="adj" fmla="val 16667"/>
            </a:avLst>
          </a:prstGeom>
          <a:solidFill>
            <a:schemeClr val="accent1"/>
          </a:solidFill>
          <a:ln/>
        </p:spPr>
      </p:sp>
      <p:sp>
        <p:nvSpPr>
          <p:cNvPr id="19" name="Move number"/>
          <p:cNvSpPr txBox="1"/>
          <p:nvPr/>
        </p:nvSpPr>
        <p:spPr>
          <a:xfrm>
            <a:off x="713232" y="450799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20" name="Move title"/>
          <p:cNvSpPr txBox="1"/>
          <p:nvPr/>
        </p:nvSpPr>
        <p:spPr>
          <a:xfrm>
            <a:off x="1234440" y="4471416"/>
            <a:ext cx="6949440" cy="457200"/>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Decide   </a:t>
            </a:r>
            <a:pPr indent="0" marL="0">
              <a:buNone/>
            </a:pPr>
            <a:r>
              <a:rPr lang="en-US" sz="1250" dirty="0">
                <a:solidFill>
                  <a:schemeClr val="tx1"/>
                </a:solidFill>
              </a:rPr>
              <a:t>Stop the notebook if anything is out of tolerance. Gold is never written.</a:t>
            </a:r>
            <a:endParaRPr lang="en-US" sz="1400" dirty="0"/>
          </a:p>
        </p:txBody>
      </p:sp>
      <p:sp>
        <p:nvSpPr>
          <p:cNvPr id="21" name="Move code"/>
          <p:cNvSpPr/>
          <p:nvPr/>
        </p:nvSpPr>
        <p:spPr>
          <a:xfrm>
            <a:off x="1234440" y="4983480"/>
            <a:ext cx="6949440" cy="530352"/>
          </a:xfrm>
          <a:prstGeom prst="roundRect">
            <a:avLst>
              <a:gd name="adj" fmla="val 17241"/>
            </a:avLst>
          </a:prstGeom>
          <a:solidFill>
            <a:schemeClr val="tx1"/>
          </a:solidFill>
          <a:ln/>
        </p:spPr>
      </p:sp>
      <p:sp>
        <p:nvSpPr>
          <p:cNvPr id="22" name="Move code text"/>
          <p:cNvSpPr txBox="1"/>
          <p:nvPr/>
        </p:nvSpPr>
        <p:spPr>
          <a:xfrm>
            <a:off x="1435608" y="5129784"/>
            <a:ext cx="6547104" cy="2743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assert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failed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6"/>
                </a:solidFill>
                <a:latin typeface="Courier New" pitchFamily="34" charset="0"/>
                <a:ea typeface="Courier New" pitchFamily="34" charset="-122"/>
                <a:cs typeface="Courier New" pitchFamily="34" charset="-120"/>
              </a:rPr>
              <a:t>0</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accent3"/>
                </a:solidFill>
                <a:latin typeface="Courier New" pitchFamily="34" charset="0"/>
                <a:ea typeface="Courier New" pitchFamily="34" charset="-122"/>
                <a:cs typeface="Courier New" pitchFamily="34" charset="-120"/>
              </a:rPr>
              <a:t>"Tie-out failed for {failed} entity(ies). Gold not written."</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23" name="Gate passes card"/>
          <p:cNvSpPr/>
          <p:nvPr/>
        </p:nvSpPr>
        <p:spPr>
          <a:xfrm>
            <a:off x="8503920" y="1783080"/>
            <a:ext cx="3136392" cy="1828800"/>
          </a:xfrm>
          <a:prstGeom prst="roundRect">
            <a:avLst>
              <a:gd name="adj" fmla="val 6000"/>
            </a:avLst>
          </a:prstGeom>
          <a:solidFill>
            <a:schemeClr val="accent2">
              <a:alpha val="22000"/>
            </a:schemeClr>
          </a:solidFill>
          <a:ln/>
        </p:spPr>
      </p:sp>
      <p:sp>
        <p:nvSpPr>
          <p:cNvPr id="24" name="Outcome title"/>
          <p:cNvSpPr txBox="1"/>
          <p:nvPr/>
        </p:nvSpPr>
        <p:spPr>
          <a:xfrm>
            <a:off x="8686800" y="1892808"/>
            <a:ext cx="274320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Gate passes</a:t>
            </a:r>
            <a:endParaRPr lang="en-US" sz="1700" dirty="0"/>
          </a:p>
        </p:txBody>
      </p:sp>
      <p:sp>
        <p:nvSpPr>
          <p:cNvPr id="25" name="Outcome text"/>
          <p:cNvSpPr txBox="1"/>
          <p:nvPr/>
        </p:nvSpPr>
        <p:spPr>
          <a:xfrm>
            <a:off x="8686800" y="2286000"/>
            <a:ext cx="2788920" cy="1280160"/>
          </a:xfrm>
          <a:prstGeom prst="rect">
            <a:avLst/>
          </a:prstGeom>
          <a:noFill/>
          <a:ln/>
        </p:spPr>
        <p:txBody>
          <a:bodyPr wrap="square" lIns="0" tIns="0" rIns="0" bIns="0" rtlCol="0" anchor="t"/>
          <a:lstStyle/>
          <a:p>
            <a:pPr indent="0" marL="0">
              <a:buNone/>
            </a:pPr>
            <a:r>
              <a:rPr lang="en-US" sz="1300" dirty="0">
                <a:solidFill>
                  <a:schemeClr val="tx1"/>
                </a:solidFill>
              </a:rPr>
              <a:t>Gold is written. The run log says passed, with the tie-out totals and the unmapped count.</a:t>
            </a:r>
            <a:endParaRPr lang="en-US" sz="1300" dirty="0"/>
          </a:p>
        </p:txBody>
      </p:sp>
      <p:sp>
        <p:nvSpPr>
          <p:cNvPr id="26" name="Gate fails card"/>
          <p:cNvSpPr/>
          <p:nvPr/>
        </p:nvSpPr>
        <p:spPr>
          <a:xfrm>
            <a:off x="8503920" y="3749040"/>
            <a:ext cx="3136392" cy="1828800"/>
          </a:xfrm>
          <a:prstGeom prst="roundRect">
            <a:avLst>
              <a:gd name="adj" fmla="val 6000"/>
            </a:avLst>
          </a:prstGeom>
          <a:solidFill>
            <a:schemeClr val="accent3">
              <a:alpha val="22000"/>
            </a:schemeClr>
          </a:solidFill>
          <a:ln/>
        </p:spPr>
      </p:sp>
      <p:sp>
        <p:nvSpPr>
          <p:cNvPr id="27" name="Outcome title"/>
          <p:cNvSpPr txBox="1"/>
          <p:nvPr/>
        </p:nvSpPr>
        <p:spPr>
          <a:xfrm>
            <a:off x="8686800" y="3858768"/>
            <a:ext cx="274320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Gate fails</a:t>
            </a:r>
            <a:endParaRPr lang="en-US" sz="1700" dirty="0"/>
          </a:p>
        </p:txBody>
      </p:sp>
      <p:sp>
        <p:nvSpPr>
          <p:cNvPr id="28" name="Outcome text"/>
          <p:cNvSpPr txBox="1"/>
          <p:nvPr/>
        </p:nvSpPr>
        <p:spPr>
          <a:xfrm>
            <a:off x="8686800" y="4251960"/>
            <a:ext cx="2788920" cy="1280160"/>
          </a:xfrm>
          <a:prstGeom prst="rect">
            <a:avLst/>
          </a:prstGeom>
          <a:noFill/>
          <a:ln/>
        </p:spPr>
        <p:txBody>
          <a:bodyPr wrap="square" lIns="0" tIns="0" rIns="0" bIns="0" rtlCol="0" anchor="t"/>
          <a:lstStyle/>
          <a:p>
            <a:pPr indent="0" marL="0">
              <a:buNone/>
            </a:pPr>
            <a:r>
              <a:rPr lang="en-US" sz="1300" dirty="0">
                <a:solidFill>
                  <a:schemeClr val="tx1"/>
                </a:solidFill>
              </a:rPr>
              <a:t>The run log says failed. The notebook stops. The pipeline run shows failed. Gold is untouched.</a:t>
            </a:r>
            <a:endParaRPr lang="en-US" sz="1300" dirty="0"/>
          </a:p>
        </p:txBody>
      </p:sp>
      <p:sp>
        <p:nvSpPr>
          <p:cNvPr id="29" name="Footnote"/>
          <p:cNvSpPr txBox="1"/>
          <p:nvPr/>
        </p:nvSpPr>
        <p:spPr>
          <a:xfrm>
            <a:off x="548640" y="57607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Excerpts from Lab A step 5, where the full gate is written out. Same pattern as the trial balance workflow: validation errors stop the loads.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DST pipeline: log, refresh, run the notebook</a:t>
            </a:r>
            <a:endParaRPr lang="en-US" sz="3200" dirty="0"/>
          </a:p>
        </p:txBody>
      </p:sp>
      <p:sp>
        <p:nvSpPr>
          <p:cNvPr id="5" name="Run pipeline card"/>
          <p:cNvSpPr/>
          <p:nvPr/>
        </p:nvSpPr>
        <p:spPr>
          <a:xfrm>
            <a:off x="548640" y="1783080"/>
            <a:ext cx="6720840" cy="2103120"/>
          </a:xfrm>
          <a:prstGeom prst="roundRect">
            <a:avLst>
              <a:gd name="adj" fmla="val 5217"/>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Pipeline name"/>
          <p:cNvSpPr txBox="1"/>
          <p:nvPr/>
        </p:nvSpPr>
        <p:spPr>
          <a:xfrm>
            <a:off x="731520" y="1856232"/>
            <a:ext cx="3657600" cy="25603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pipeline_Run</a:t>
            </a:r>
            <a:endParaRPr lang="en-US" sz="1200" dirty="0"/>
          </a:p>
        </p:txBody>
      </p:sp>
      <p:pic>
        <p:nvPicPr>
          <p:cNvPr id="7" name="Image 0" descr="Pipeline canvas: Set variable Log_Pipeline_Start, then Notebook Run_Complex_Transforms">    </p:cNvPr>
          <p:cNvPicPr>
            <a:picLocks noChangeAspect="1"/>
          </p:cNvPicPr>
          <p:nvPr/>
        </p:nvPicPr>
        <p:blipFill>
          <a:blip r:embed="rId1"/>
          <a:stretch>
            <a:fillRect/>
          </a:stretch>
        </p:blipFill>
        <p:spPr>
          <a:xfrm>
            <a:off x="731520" y="2194560"/>
            <a:ext cx="6355080" cy="1375842"/>
          </a:xfrm>
          <a:prstGeom prst="rect">
            <a:avLst/>
          </a:prstGeom>
        </p:spPr>
      </p:pic>
      <p:sp>
        <p:nvSpPr>
          <p:cNvPr id="8" name="Refresh pipeline card"/>
          <p:cNvSpPr/>
          <p:nvPr/>
        </p:nvSpPr>
        <p:spPr>
          <a:xfrm>
            <a:off x="548640" y="4023360"/>
            <a:ext cx="6720840" cy="1554480"/>
          </a:xfrm>
          <a:prstGeom prst="roundRect">
            <a:avLst>
              <a:gd name="adj" fmla="val 7059"/>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9" name="Pipeline name"/>
          <p:cNvSpPr txBox="1"/>
          <p:nvPr/>
        </p:nvSpPr>
        <p:spPr>
          <a:xfrm>
            <a:off x="731520" y="4096512"/>
            <a:ext cx="4572000" cy="25603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pipeline_Run_withDataRefresh</a:t>
            </a:r>
            <a:endParaRPr lang="en-US" sz="1200" dirty="0"/>
          </a:p>
        </p:txBody>
      </p:sp>
      <p:pic>
        <p:nvPicPr>
          <p:cNvPr id="10" name="Image 1" descr="Pipeline canvas: Set variable, Dataflow Ingest_Reference_Data, Notebook Run_Complex_Transforms">    </p:cNvPr>
          <p:cNvPicPr>
            <a:picLocks noChangeAspect="1"/>
          </p:cNvPicPr>
          <p:nvPr/>
        </p:nvPicPr>
        <p:blipFill>
          <a:blip r:embed="rId2"/>
          <a:stretch>
            <a:fillRect/>
          </a:stretch>
        </p:blipFill>
        <p:spPr>
          <a:xfrm>
            <a:off x="731520" y="4389120"/>
            <a:ext cx="6355080" cy="925497"/>
          </a:xfrm>
          <a:prstGeom prst="rect">
            <a:avLst/>
          </a:prstGeom>
        </p:spPr>
      </p:pic>
      <p:sp>
        <p:nvSpPr>
          <p:cNvPr id="11" name="Fact Set variable"/>
          <p:cNvSpPr/>
          <p:nvPr/>
        </p:nvSpPr>
        <p:spPr>
          <a:xfrm>
            <a:off x="7498080" y="1783080"/>
            <a:ext cx="4142232" cy="868680"/>
          </a:xfrm>
          <a:prstGeom prst="roundRect">
            <a:avLst>
              <a:gd name="adj" fmla="val 12632"/>
            </a:avLst>
          </a:prstGeom>
          <a:solidFill>
            <a:schemeClr val="bg2"/>
          </a:solidFill>
          <a:ln/>
        </p:spPr>
      </p:sp>
      <p:sp>
        <p:nvSpPr>
          <p:cNvPr id="12" name="Fact label"/>
          <p:cNvSpPr txBox="1"/>
          <p:nvPr/>
        </p:nvSpPr>
        <p:spPr>
          <a:xfrm>
            <a:off x="7680960" y="1874520"/>
            <a:ext cx="374904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SET VARIABLE</a:t>
            </a:r>
            <a:endParaRPr lang="en-US" sz="1000" dirty="0"/>
          </a:p>
        </p:txBody>
      </p:sp>
      <p:sp>
        <p:nvSpPr>
          <p:cNvPr id="13" name="Fact text"/>
          <p:cNvSpPr txBox="1"/>
          <p:nvPr/>
        </p:nvSpPr>
        <p:spPr>
          <a:xfrm>
            <a:off x="7680960" y="2112264"/>
            <a:ext cx="3794760" cy="502920"/>
          </a:xfrm>
          <a:prstGeom prst="rect">
            <a:avLst/>
          </a:prstGeom>
          <a:noFill/>
          <a:ln/>
        </p:spPr>
        <p:txBody>
          <a:bodyPr wrap="square" lIns="0" tIns="0" rIns="0" bIns="0" rtlCol="0" anchor="t"/>
          <a:lstStyle/>
          <a:p>
            <a:pPr indent="0" marL="0">
              <a:buNone/>
            </a:pPr>
            <a:r>
              <a:rPr lang="en-US" sz="1300" dirty="0">
                <a:solidFill>
                  <a:schemeClr val="tx1"/>
                </a:solidFill>
              </a:rPr>
              <a:t>pipeline_status = started</a:t>
            </a:r>
            <a:endParaRPr lang="en-US" sz="1300" dirty="0"/>
          </a:p>
        </p:txBody>
      </p:sp>
      <p:sp>
        <p:nvSpPr>
          <p:cNvPr id="14" name="Fact Dataflow"/>
          <p:cNvSpPr/>
          <p:nvPr/>
        </p:nvSpPr>
        <p:spPr>
          <a:xfrm>
            <a:off x="7498080" y="2752344"/>
            <a:ext cx="4142232" cy="868680"/>
          </a:xfrm>
          <a:prstGeom prst="roundRect">
            <a:avLst>
              <a:gd name="adj" fmla="val 12632"/>
            </a:avLst>
          </a:prstGeom>
          <a:solidFill>
            <a:schemeClr val="bg2"/>
          </a:solidFill>
          <a:ln/>
        </p:spPr>
      </p:sp>
      <p:sp>
        <p:nvSpPr>
          <p:cNvPr id="15" name="Fact label"/>
          <p:cNvSpPr txBox="1"/>
          <p:nvPr/>
        </p:nvSpPr>
        <p:spPr>
          <a:xfrm>
            <a:off x="7680960" y="2843784"/>
            <a:ext cx="374904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DATAFLOW</a:t>
            </a:r>
            <a:endParaRPr lang="en-US" sz="1000" dirty="0"/>
          </a:p>
        </p:txBody>
      </p:sp>
      <p:sp>
        <p:nvSpPr>
          <p:cNvPr id="16" name="Fact text"/>
          <p:cNvSpPr txBox="1"/>
          <p:nvPr/>
        </p:nvSpPr>
        <p:spPr>
          <a:xfrm>
            <a:off x="7680960" y="3081528"/>
            <a:ext cx="3794760" cy="502920"/>
          </a:xfrm>
          <a:prstGeom prst="rect">
            <a:avLst/>
          </a:prstGeom>
          <a:noFill/>
          <a:ln/>
        </p:spPr>
        <p:txBody>
          <a:bodyPr wrap="square" lIns="0" tIns="0" rIns="0" bIns="0" rtlCol="0" anchor="t"/>
          <a:lstStyle/>
          <a:p>
            <a:pPr indent="0" marL="0">
              <a:buNone/>
            </a:pPr>
            <a:r>
              <a:rPr lang="en-US" sz="1300" dirty="0">
                <a:solidFill>
                  <a:schemeClr val="tx1"/>
                </a:solidFill>
              </a:rPr>
              <a:t>Refreshes the reference data first</a:t>
            </a:r>
            <a:endParaRPr lang="en-US" sz="1300" dirty="0"/>
          </a:p>
        </p:txBody>
      </p:sp>
      <p:sp>
        <p:nvSpPr>
          <p:cNvPr id="17" name="Fact Notebook"/>
          <p:cNvSpPr/>
          <p:nvPr/>
        </p:nvSpPr>
        <p:spPr>
          <a:xfrm>
            <a:off x="7498080" y="3721608"/>
            <a:ext cx="4142232" cy="868680"/>
          </a:xfrm>
          <a:prstGeom prst="roundRect">
            <a:avLst>
              <a:gd name="adj" fmla="val 12632"/>
            </a:avLst>
          </a:prstGeom>
          <a:solidFill>
            <a:schemeClr val="bg2"/>
          </a:solidFill>
          <a:ln/>
        </p:spPr>
      </p:sp>
      <p:sp>
        <p:nvSpPr>
          <p:cNvPr id="18" name="Fact label"/>
          <p:cNvSpPr txBox="1"/>
          <p:nvPr/>
        </p:nvSpPr>
        <p:spPr>
          <a:xfrm>
            <a:off x="7680960" y="3813048"/>
            <a:ext cx="374904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NOTEBOOK</a:t>
            </a:r>
            <a:endParaRPr lang="en-US" sz="1000" dirty="0"/>
          </a:p>
        </p:txBody>
      </p:sp>
      <p:sp>
        <p:nvSpPr>
          <p:cNvPr id="19" name="Fact text"/>
          <p:cNvSpPr txBox="1"/>
          <p:nvPr/>
        </p:nvSpPr>
        <p:spPr>
          <a:xfrm>
            <a:off x="7680960" y="4050792"/>
            <a:ext cx="3794760" cy="502920"/>
          </a:xfrm>
          <a:prstGeom prst="rect">
            <a:avLst/>
          </a:prstGeom>
          <a:noFill/>
          <a:ln/>
        </p:spPr>
        <p:txBody>
          <a:bodyPr wrap="square" lIns="0" tIns="0" rIns="0" bIns="0" rtlCol="0" anchor="t"/>
          <a:lstStyle/>
          <a:p>
            <a:pPr indent="0" marL="0">
              <a:buNone/>
            </a:pPr>
            <a:r>
              <a:rPr lang="en-US" sz="1300" dirty="0">
                <a:solidFill>
                  <a:schemeClr val="tx1"/>
                </a:solidFill>
              </a:rPr>
              <a:t>Passes fiscal_year and fiscal_period</a:t>
            </a:r>
            <a:endParaRPr lang="en-US" sz="1300" dirty="0"/>
          </a:p>
        </p:txBody>
      </p:sp>
      <p:sp>
        <p:nvSpPr>
          <p:cNvPr id="20" name="Fact Settings"/>
          <p:cNvSpPr/>
          <p:nvPr/>
        </p:nvSpPr>
        <p:spPr>
          <a:xfrm>
            <a:off x="7498080" y="4690872"/>
            <a:ext cx="4142232" cy="868680"/>
          </a:xfrm>
          <a:prstGeom prst="roundRect">
            <a:avLst>
              <a:gd name="adj" fmla="val 12632"/>
            </a:avLst>
          </a:prstGeom>
          <a:solidFill>
            <a:schemeClr val="bg2"/>
          </a:solidFill>
          <a:ln/>
        </p:spPr>
      </p:sp>
      <p:sp>
        <p:nvSpPr>
          <p:cNvPr id="21" name="Fact label"/>
          <p:cNvSpPr txBox="1"/>
          <p:nvPr/>
        </p:nvSpPr>
        <p:spPr>
          <a:xfrm>
            <a:off x="7680960" y="4782312"/>
            <a:ext cx="374904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SETTINGS</a:t>
            </a:r>
            <a:endParaRPr lang="en-US" sz="1000" dirty="0"/>
          </a:p>
        </p:txBody>
      </p:sp>
      <p:sp>
        <p:nvSpPr>
          <p:cNvPr id="22" name="Fact text"/>
          <p:cNvSpPr txBox="1"/>
          <p:nvPr/>
        </p:nvSpPr>
        <p:spPr>
          <a:xfrm>
            <a:off x="7680960" y="5020056"/>
            <a:ext cx="3794760" cy="502920"/>
          </a:xfrm>
          <a:prstGeom prst="rect">
            <a:avLst/>
          </a:prstGeom>
          <a:noFill/>
          <a:ln/>
        </p:spPr>
        <p:txBody>
          <a:bodyPr wrap="square" lIns="0" tIns="0" rIns="0" bIns="0" rtlCol="0" anchor="t"/>
          <a:lstStyle/>
          <a:p>
            <a:pPr indent="0" marL="0">
              <a:buNone/>
            </a:pPr>
            <a:r>
              <a:rPr lang="en-US" sz="1300" dirty="0">
                <a:solidFill>
                  <a:schemeClr val="tx1"/>
                </a:solidFill>
              </a:rPr>
              <a:t>Retry 0, wait 30 seconds, run only if the previous step succeeded</a:t>
            </a:r>
            <a:endParaRPr lang="en-US" sz="1300" dirty="0"/>
          </a:p>
        </p:txBody>
      </p:sp>
      <p:sp>
        <p:nvSpPr>
          <p:cNvPr id="23" name="Footnote"/>
          <p:cNvSpPr txBox="1"/>
          <p:nvPr/>
        </p:nvSpPr>
        <p:spPr>
          <a:xfrm>
            <a:off x="548640" y="57150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Canvases rendered from the pipeline exports in Disney Fabric Files. Activity names are as exported.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Declare what you use, wire what you declare</a:t>
            </a:r>
            <a:endParaRPr lang="en-US" sz="3200" dirty="0"/>
          </a:p>
        </p:txBody>
      </p:sp>
      <p:graphicFrame>
        <p:nvGraphicFramePr>
          <p:cNvPr id="17" name="Pipeline parameters"/>
          <p:cNvGraphicFramePr>
            <a:graphicFrameLocks noGrp="1"/>
          </p:cNvGraphicFramePr>
          <p:nvPr>
            <p:extLst>
              <p:ext uri="{D42A27DB-BD31-4B8C-83A1-F6EECF244321}">
                <p14:modId xmlns:p14="http://schemas.microsoft.com/office/powerpoint/2010/main" val="1579011935"/>
              </p:ext>
            </p:extLst>
          </p:nvPr>
        </p:nvGraphicFramePr>
        <p:xfrm>
          <a:off x="548640" y="1783080"/>
          <a:ext cx="6675120" cy="914400"/>
        </p:xfrm>
        <a:graphic>
          <a:graphicData uri="http://schemas.openxmlformats.org/drawingml/2006/table">
            <a:tbl>
              <a:tblPr/>
              <a:tblGrid>
                <a:gridCol w="2286000"/>
                <a:gridCol w="2011680"/>
                <a:gridCol w="2377440"/>
              </a:tblGrid>
              <a:tr h="384048">
                <a:tc>
                  <a:txBody>
                    <a:bodyPr/>
                    <a:lstStyle/>
                    <a:p>
                      <a:pPr indent="0" marL="0">
                        <a:buNone/>
                      </a:pPr>
                      <a:r>
                        <a:rPr lang="en-US" sz="1300" b="1" dirty="0">
                          <a:solidFill>
                            <a:schemeClr val="bg1"/>
                          </a:solidFill>
                        </a:rPr>
                        <a:t>Parameter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Default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Passed to the notebook?</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20624">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fiscal_year</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2025</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2"/>
                          </a:solidFill>
                        </a:rPr>
                        <a:t>Yes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250" b="1" dirty="0">
                          <a:solidFill>
                            <a:schemeClr val="tx1"/>
                          </a:solidFill>
                          <a:latin typeface="Courier New" pitchFamily="34" charset="0"/>
                          <a:ea typeface="Courier New" pitchFamily="34" charset="-122"/>
                          <a:cs typeface="Courier New" pitchFamily="34" charset="-120"/>
                        </a:rPr>
                        <a:t>fiscal_period</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01</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2"/>
                          </a:solidFill>
                        </a:rPr>
                        <a:t>Yes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reporting_unit</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Tax Team</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No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entity</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Disney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No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source_system</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EDP</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No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run_mode</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full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No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250" dirty="0">
                          <a:solidFill>
                            <a:schemeClr val="tx1"/>
                          </a:solidFill>
                          <a:latin typeface="Courier New" pitchFamily="34" charset="0"/>
                          <a:ea typeface="Courier New" pitchFamily="34" charset="-122"/>
                          <a:cs typeface="Courier New" pitchFamily="34" charset="-120"/>
                        </a:rPr>
                        <a:t>load_mode</a:t>
                      </a:r>
                      <a:endParaRPr lang="en-US" sz="12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incremental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No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Declare what you use card"/>
          <p:cNvSpPr/>
          <p:nvPr/>
        </p:nvSpPr>
        <p:spPr>
          <a:xfrm>
            <a:off x="7498080" y="1783080"/>
            <a:ext cx="4142232" cy="1097280"/>
          </a:xfrm>
          <a:prstGeom prst="roundRect">
            <a:avLst>
              <a:gd name="adj" fmla="val 10000"/>
            </a:avLst>
          </a:prstGeom>
          <a:solidFill>
            <a:schemeClr val="bg2"/>
          </a:solidFill>
          <a:ln/>
        </p:spPr>
      </p:sp>
      <p:sp>
        <p:nvSpPr>
          <p:cNvPr id="7" name="Declare what you use badge"/>
          <p:cNvSpPr/>
          <p:nvPr/>
        </p:nvSpPr>
        <p:spPr>
          <a:xfrm>
            <a:off x="7680960" y="2057400"/>
            <a:ext cx="502920" cy="502920"/>
          </a:xfrm>
          <a:prstGeom prst="ellipse">
            <a:avLst/>
          </a:prstGeom>
          <a:solidFill>
            <a:schemeClr val="accent1"/>
          </a:solidFill>
          <a:ln/>
        </p:spPr>
      </p:sp>
      <p:pic>
        <p:nvPicPr>
          <p:cNvPr id="8" name="Image 0" descr="Declare what you use icon">    </p:cNvPr>
          <p:cNvPicPr>
            <a:picLocks noChangeAspect="1"/>
          </p:cNvPicPr>
          <p:nvPr/>
        </p:nvPicPr>
        <p:blipFill>
          <a:blip r:embed="rId1"/>
          <a:stretch>
            <a:fillRect/>
          </a:stretch>
        </p:blipFill>
        <p:spPr>
          <a:xfrm>
            <a:off x="7806690" y="2183130"/>
            <a:ext cx="251460" cy="251460"/>
          </a:xfrm>
          <a:prstGeom prst="rect">
            <a:avLst/>
          </a:prstGeom>
        </p:spPr>
      </p:pic>
      <p:sp>
        <p:nvSpPr>
          <p:cNvPr id="9" name="Guide title"/>
          <p:cNvSpPr txBox="1"/>
          <p:nvPr/>
        </p:nvSpPr>
        <p:spPr>
          <a:xfrm>
            <a:off x="8366760" y="1874520"/>
            <a:ext cx="3154680" cy="27432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Declare what you use</a:t>
            </a:r>
            <a:endParaRPr lang="en-US" sz="1450" dirty="0"/>
          </a:p>
        </p:txBody>
      </p:sp>
      <p:sp>
        <p:nvSpPr>
          <p:cNvPr id="10" name="Guide text"/>
          <p:cNvSpPr txBox="1"/>
          <p:nvPr/>
        </p:nvSpPr>
        <p:spPr>
          <a:xfrm>
            <a:off x="8366760" y="2194560"/>
            <a:ext cx="3154680" cy="640080"/>
          </a:xfrm>
          <a:prstGeom prst="rect">
            <a:avLst/>
          </a:prstGeom>
          <a:noFill/>
          <a:ln/>
        </p:spPr>
        <p:txBody>
          <a:bodyPr wrap="square" lIns="0" tIns="0" rIns="0" bIns="0" rtlCol="0" anchor="t"/>
          <a:lstStyle/>
          <a:p>
            <a:pPr indent="0" marL="0">
              <a:buNone/>
            </a:pPr>
            <a:r>
              <a:rPr lang="en-US" sz="1200" dirty="0">
                <a:solidFill>
                  <a:schemeClr val="tx1"/>
                </a:solidFill>
              </a:rPr>
              <a:t>Every parameter is a promise to someone. Remove the ones nothing reads.</a:t>
            </a:r>
            <a:endParaRPr lang="en-US" sz="1200" dirty="0"/>
          </a:p>
        </p:txBody>
      </p:sp>
      <p:sp>
        <p:nvSpPr>
          <p:cNvPr id="11" name="Wire what you declare card"/>
          <p:cNvSpPr/>
          <p:nvPr/>
        </p:nvSpPr>
        <p:spPr>
          <a:xfrm>
            <a:off x="7498080" y="2971800"/>
            <a:ext cx="4142232" cy="1097280"/>
          </a:xfrm>
          <a:prstGeom prst="roundRect">
            <a:avLst>
              <a:gd name="adj" fmla="val 10000"/>
            </a:avLst>
          </a:prstGeom>
          <a:solidFill>
            <a:schemeClr val="bg2"/>
          </a:solidFill>
          <a:ln/>
        </p:spPr>
      </p:sp>
      <p:sp>
        <p:nvSpPr>
          <p:cNvPr id="12" name="Wire what you declare badge"/>
          <p:cNvSpPr/>
          <p:nvPr/>
        </p:nvSpPr>
        <p:spPr>
          <a:xfrm>
            <a:off x="7680960" y="3246120"/>
            <a:ext cx="502920" cy="502920"/>
          </a:xfrm>
          <a:prstGeom prst="ellipse">
            <a:avLst/>
          </a:prstGeom>
          <a:solidFill>
            <a:schemeClr val="accent2"/>
          </a:solidFill>
          <a:ln/>
        </p:spPr>
      </p:sp>
      <p:pic>
        <p:nvPicPr>
          <p:cNvPr id="13" name="Image 1" descr="Wire what you declare icon">    </p:cNvPr>
          <p:cNvPicPr>
            <a:picLocks noChangeAspect="1"/>
          </p:cNvPicPr>
          <p:nvPr/>
        </p:nvPicPr>
        <p:blipFill>
          <a:blip r:embed="rId2"/>
          <a:stretch>
            <a:fillRect/>
          </a:stretch>
        </p:blipFill>
        <p:spPr>
          <a:xfrm>
            <a:off x="7806690" y="3371850"/>
            <a:ext cx="251460" cy="251460"/>
          </a:xfrm>
          <a:prstGeom prst="rect">
            <a:avLst/>
          </a:prstGeom>
        </p:spPr>
      </p:pic>
      <p:sp>
        <p:nvSpPr>
          <p:cNvPr id="14" name="Guide title"/>
          <p:cNvSpPr txBox="1"/>
          <p:nvPr/>
        </p:nvSpPr>
        <p:spPr>
          <a:xfrm>
            <a:off x="8366760" y="3063240"/>
            <a:ext cx="3154680" cy="27432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Wire what you declare</a:t>
            </a:r>
            <a:endParaRPr lang="en-US" sz="1450" dirty="0"/>
          </a:p>
        </p:txBody>
      </p:sp>
      <p:sp>
        <p:nvSpPr>
          <p:cNvPr id="15" name="Guide text"/>
          <p:cNvSpPr txBox="1"/>
          <p:nvPr/>
        </p:nvSpPr>
        <p:spPr>
          <a:xfrm>
            <a:off x="8366760" y="3383280"/>
            <a:ext cx="3154680" cy="640080"/>
          </a:xfrm>
          <a:prstGeom prst="rect">
            <a:avLst/>
          </a:prstGeom>
          <a:noFill/>
          <a:ln/>
        </p:spPr>
        <p:txBody>
          <a:bodyPr wrap="square" lIns="0" tIns="0" rIns="0" bIns="0" rtlCol="0" anchor="t"/>
          <a:lstStyle/>
          <a:p>
            <a:pPr indent="0" marL="0">
              <a:buNone/>
            </a:pPr>
            <a:r>
              <a:rPr lang="en-US" sz="1200" dirty="0">
                <a:solidFill>
                  <a:schemeClr val="tx1"/>
                </a:solidFill>
              </a:rPr>
              <a:t>A parameter the notebook never receives changes nothing.</a:t>
            </a:r>
            <a:endParaRPr lang="en-US" sz="1200" dirty="0"/>
          </a:p>
        </p:txBody>
      </p:sp>
      <p:sp>
        <p:nvSpPr>
          <p:cNvPr id="16" name="Validate in the notebook card"/>
          <p:cNvSpPr/>
          <p:nvPr/>
        </p:nvSpPr>
        <p:spPr>
          <a:xfrm>
            <a:off x="7498080" y="4160520"/>
            <a:ext cx="4142232" cy="1097280"/>
          </a:xfrm>
          <a:prstGeom prst="roundRect">
            <a:avLst>
              <a:gd name="adj" fmla="val 10000"/>
            </a:avLst>
          </a:prstGeom>
          <a:solidFill>
            <a:schemeClr val="bg2"/>
          </a:solidFill>
          <a:ln/>
        </p:spPr>
      </p:sp>
      <p:sp>
        <p:nvSpPr>
          <p:cNvPr id="17" name="Validate in the notebook badge"/>
          <p:cNvSpPr/>
          <p:nvPr/>
        </p:nvSpPr>
        <p:spPr>
          <a:xfrm>
            <a:off x="7680960" y="4434840"/>
            <a:ext cx="502920" cy="502920"/>
          </a:xfrm>
          <a:prstGeom prst="ellipse">
            <a:avLst/>
          </a:prstGeom>
          <a:solidFill>
            <a:schemeClr val="tx2"/>
          </a:solidFill>
          <a:ln/>
        </p:spPr>
      </p:sp>
      <p:pic>
        <p:nvPicPr>
          <p:cNvPr id="18" name="Image 2" descr="Validate in the notebook icon">    </p:cNvPr>
          <p:cNvPicPr>
            <a:picLocks noChangeAspect="1"/>
          </p:cNvPicPr>
          <p:nvPr/>
        </p:nvPicPr>
        <p:blipFill>
          <a:blip r:embed="rId3"/>
          <a:stretch>
            <a:fillRect/>
          </a:stretch>
        </p:blipFill>
        <p:spPr>
          <a:xfrm>
            <a:off x="7806690" y="4560570"/>
            <a:ext cx="251460" cy="251460"/>
          </a:xfrm>
          <a:prstGeom prst="rect">
            <a:avLst/>
          </a:prstGeom>
        </p:spPr>
      </p:pic>
      <p:sp>
        <p:nvSpPr>
          <p:cNvPr id="19" name="Guide title"/>
          <p:cNvSpPr txBox="1"/>
          <p:nvPr/>
        </p:nvSpPr>
        <p:spPr>
          <a:xfrm>
            <a:off x="8366760" y="4251960"/>
            <a:ext cx="3154680" cy="274320"/>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Validate in the notebook</a:t>
            </a:r>
            <a:endParaRPr lang="en-US" sz="1450" dirty="0"/>
          </a:p>
        </p:txBody>
      </p:sp>
      <p:sp>
        <p:nvSpPr>
          <p:cNvPr id="20" name="Guide text"/>
          <p:cNvSpPr txBox="1"/>
          <p:nvPr/>
        </p:nvSpPr>
        <p:spPr>
          <a:xfrm>
            <a:off x="8366760" y="4572000"/>
            <a:ext cx="3154680" cy="640080"/>
          </a:xfrm>
          <a:prstGeom prst="rect">
            <a:avLst/>
          </a:prstGeom>
          <a:noFill/>
          <a:ln/>
        </p:spPr>
        <p:txBody>
          <a:bodyPr wrap="square" lIns="0" tIns="0" rIns="0" bIns="0" rtlCol="0" anchor="t"/>
          <a:lstStyle/>
          <a:p>
            <a:pPr indent="0" marL="0">
              <a:buNone/>
            </a:pPr>
            <a:r>
              <a:rPr lang="en-US" sz="1200" dirty="0">
                <a:solidFill>
                  <a:schemeClr val="tx1"/>
                </a:solidFill>
              </a:rPr>
              <a:t>Notebooks run by hand too. Check type and allowed values at the top.</a:t>
            </a:r>
            <a:endParaRPr lang="en-US" sz="1200" dirty="0"/>
          </a:p>
        </p:txBody>
      </p:sp>
      <p:sp>
        <p:nvSpPr>
          <p:cNvPr id="21" name="Takeaway"/>
          <p:cNvSpPr txBox="1"/>
          <p:nvPr/>
        </p:nvSpPr>
        <p:spPr>
          <a:xfrm>
            <a:off x="548640" y="534924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Two of seven parameters reach the notebook. Part 4 asks only for what a run uses.</a:t>
            </a:r>
            <a:endParaRPr lang="en-US" sz="1600" dirty="0"/>
          </a:p>
        </p:txBody>
      </p:sp>
      <p:sp>
        <p:nvSpPr>
          <p:cNvPr id="22"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pipeline_Run definition, parameters and Notebook activity.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Eight checks between a proof of concept and production</a:t>
            </a:r>
            <a:endParaRPr lang="en-US" sz="3200" dirty="0"/>
          </a:p>
        </p:txBody>
      </p:sp>
      <p:sp>
        <p:nvSpPr>
          <p:cNvPr id="5" name="Check 1"/>
          <p:cNvSpPr/>
          <p:nvPr/>
        </p:nvSpPr>
        <p:spPr>
          <a:xfrm>
            <a:off x="548640" y="1783080"/>
            <a:ext cx="2679192" cy="1691640"/>
          </a:xfrm>
          <a:prstGeom prst="roundRect">
            <a:avLst>
              <a:gd name="adj" fmla="val 6486"/>
            </a:avLst>
          </a:prstGeom>
          <a:solidFill>
            <a:schemeClr val="bg2"/>
          </a:solidFill>
          <a:ln/>
        </p:spPr>
      </p:sp>
      <p:sp>
        <p:nvSpPr>
          <p:cNvPr id="6" name="Check chip 1"/>
          <p:cNvSpPr/>
          <p:nvPr/>
        </p:nvSpPr>
        <p:spPr>
          <a:xfrm>
            <a:off x="731520" y="1965960"/>
            <a:ext cx="420624" cy="420624"/>
          </a:xfrm>
          <a:prstGeom prst="roundRect">
            <a:avLst>
              <a:gd name="adj" fmla="val 17391"/>
            </a:avLst>
          </a:prstGeom>
          <a:solidFill>
            <a:schemeClr val="accent1"/>
          </a:solidFill>
          <a:ln/>
        </p:spPr>
      </p:sp>
      <p:sp>
        <p:nvSpPr>
          <p:cNvPr id="7" name="Check number"/>
          <p:cNvSpPr txBox="1"/>
          <p:nvPr/>
        </p:nvSpPr>
        <p:spPr>
          <a:xfrm>
            <a:off x="73152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Check title"/>
          <p:cNvSpPr txBox="1"/>
          <p:nvPr/>
        </p:nvSpPr>
        <p:spPr>
          <a:xfrm>
            <a:off x="731520" y="2514600"/>
            <a:ext cx="23317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Retries and timeouts</a:t>
            </a:r>
            <a:endParaRPr lang="en-US" sz="1500" dirty="0"/>
          </a:p>
        </p:txBody>
      </p:sp>
      <p:sp>
        <p:nvSpPr>
          <p:cNvPr id="9" name="Check text"/>
          <p:cNvSpPr txBox="1"/>
          <p:nvPr/>
        </p:nvSpPr>
        <p:spPr>
          <a:xfrm>
            <a:off x="731520" y="2880360"/>
            <a:ext cx="2331720" cy="548640"/>
          </a:xfrm>
          <a:prstGeom prst="rect">
            <a:avLst/>
          </a:prstGeom>
          <a:noFill/>
          <a:ln/>
        </p:spPr>
        <p:txBody>
          <a:bodyPr wrap="square" lIns="0" tIns="0" rIns="0" bIns="0" rtlCol="0" anchor="t"/>
          <a:lstStyle/>
          <a:p>
            <a:pPr indent="0" marL="0">
              <a:buNone/>
            </a:pPr>
            <a:r>
              <a:rPr lang="en-US" sz="1250" dirty="0">
                <a:solidFill>
                  <a:schemeClr val="tx1"/>
                </a:solidFill>
              </a:rPr>
              <a:t>Retry is 0 on every activity.</a:t>
            </a:r>
            <a:endParaRPr lang="en-US" sz="1250" dirty="0"/>
          </a:p>
        </p:txBody>
      </p:sp>
      <p:sp>
        <p:nvSpPr>
          <p:cNvPr id="10" name="Check 2"/>
          <p:cNvSpPr/>
          <p:nvPr/>
        </p:nvSpPr>
        <p:spPr>
          <a:xfrm>
            <a:off x="3355848" y="1783080"/>
            <a:ext cx="2679192" cy="1691640"/>
          </a:xfrm>
          <a:prstGeom prst="roundRect">
            <a:avLst>
              <a:gd name="adj" fmla="val 6486"/>
            </a:avLst>
          </a:prstGeom>
          <a:solidFill>
            <a:schemeClr val="bg2"/>
          </a:solidFill>
          <a:ln/>
        </p:spPr>
      </p:sp>
      <p:sp>
        <p:nvSpPr>
          <p:cNvPr id="11" name="Check chip 2"/>
          <p:cNvSpPr/>
          <p:nvPr/>
        </p:nvSpPr>
        <p:spPr>
          <a:xfrm>
            <a:off x="3538728" y="1965960"/>
            <a:ext cx="420624" cy="420624"/>
          </a:xfrm>
          <a:prstGeom prst="roundRect">
            <a:avLst>
              <a:gd name="adj" fmla="val 17391"/>
            </a:avLst>
          </a:prstGeom>
          <a:solidFill>
            <a:schemeClr val="accent1"/>
          </a:solidFill>
          <a:ln/>
        </p:spPr>
      </p:sp>
      <p:sp>
        <p:nvSpPr>
          <p:cNvPr id="12" name="Check number"/>
          <p:cNvSpPr txBox="1"/>
          <p:nvPr/>
        </p:nvSpPr>
        <p:spPr>
          <a:xfrm>
            <a:off x="3538728"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Check title"/>
          <p:cNvSpPr txBox="1"/>
          <p:nvPr/>
        </p:nvSpPr>
        <p:spPr>
          <a:xfrm>
            <a:off x="3538728" y="2514600"/>
            <a:ext cx="23317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A failure path</a:t>
            </a:r>
            <a:endParaRPr lang="en-US" sz="1500" dirty="0"/>
          </a:p>
        </p:txBody>
      </p:sp>
      <p:sp>
        <p:nvSpPr>
          <p:cNvPr id="14" name="Check text"/>
          <p:cNvSpPr txBox="1"/>
          <p:nvPr/>
        </p:nvSpPr>
        <p:spPr>
          <a:xfrm>
            <a:off x="3538728" y="2880360"/>
            <a:ext cx="2331720" cy="548640"/>
          </a:xfrm>
          <a:prstGeom prst="rect">
            <a:avLst/>
          </a:prstGeom>
          <a:noFill/>
          <a:ln/>
        </p:spPr>
        <p:txBody>
          <a:bodyPr wrap="square" lIns="0" tIns="0" rIns="0" bIns="0" rtlCol="0" anchor="t"/>
          <a:lstStyle/>
          <a:p>
            <a:pPr indent="0" marL="0">
              <a:buNone/>
            </a:pPr>
            <a:r>
              <a:rPr lang="en-US" sz="1250" dirty="0">
                <a:solidFill>
                  <a:schemeClr val="tx1"/>
                </a:solidFill>
              </a:rPr>
              <a:t>Nothing runs when the notebook fails.</a:t>
            </a:r>
            <a:endParaRPr lang="en-US" sz="1250" dirty="0"/>
          </a:p>
        </p:txBody>
      </p:sp>
      <p:sp>
        <p:nvSpPr>
          <p:cNvPr id="15" name="Check 3"/>
          <p:cNvSpPr/>
          <p:nvPr/>
        </p:nvSpPr>
        <p:spPr>
          <a:xfrm>
            <a:off x="6163056" y="1783080"/>
            <a:ext cx="2679192" cy="1691640"/>
          </a:xfrm>
          <a:prstGeom prst="roundRect">
            <a:avLst>
              <a:gd name="adj" fmla="val 6486"/>
            </a:avLst>
          </a:prstGeom>
          <a:solidFill>
            <a:schemeClr val="bg2"/>
          </a:solidFill>
          <a:ln/>
        </p:spPr>
      </p:sp>
      <p:sp>
        <p:nvSpPr>
          <p:cNvPr id="16" name="Check chip 3"/>
          <p:cNvSpPr/>
          <p:nvPr/>
        </p:nvSpPr>
        <p:spPr>
          <a:xfrm>
            <a:off x="6345936" y="1965960"/>
            <a:ext cx="420624" cy="420624"/>
          </a:xfrm>
          <a:prstGeom prst="roundRect">
            <a:avLst>
              <a:gd name="adj" fmla="val 17391"/>
            </a:avLst>
          </a:prstGeom>
          <a:solidFill>
            <a:schemeClr val="accent1"/>
          </a:solidFill>
          <a:ln/>
        </p:spPr>
      </p:sp>
      <p:sp>
        <p:nvSpPr>
          <p:cNvPr id="17" name="Check number"/>
          <p:cNvSpPr txBox="1"/>
          <p:nvPr/>
        </p:nvSpPr>
        <p:spPr>
          <a:xfrm>
            <a:off x="6345936"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Check title"/>
          <p:cNvSpPr txBox="1"/>
          <p:nvPr/>
        </p:nvSpPr>
        <p:spPr>
          <a:xfrm>
            <a:off x="6345936" y="2514600"/>
            <a:ext cx="23317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Pass the run ID</a:t>
            </a:r>
            <a:endParaRPr lang="en-US" sz="1500" dirty="0"/>
          </a:p>
        </p:txBody>
      </p:sp>
      <p:sp>
        <p:nvSpPr>
          <p:cNvPr id="19" name="Check text"/>
          <p:cNvSpPr txBox="1"/>
          <p:nvPr/>
        </p:nvSpPr>
        <p:spPr>
          <a:xfrm>
            <a:off x="6345936" y="2880360"/>
            <a:ext cx="2331720" cy="548640"/>
          </a:xfrm>
          <a:prstGeom prst="rect">
            <a:avLst/>
          </a:prstGeom>
          <a:noFill/>
          <a:ln/>
        </p:spPr>
        <p:txBody>
          <a:bodyPr wrap="square" lIns="0" tIns="0" rIns="0" bIns="0" rtlCol="0" anchor="t"/>
          <a:lstStyle/>
          <a:p>
            <a:pPr indent="0" marL="0">
              <a:buNone/>
            </a:pPr>
            <a:r>
              <a:rPr lang="en-US" sz="1250" dirty="0">
                <a:solidFill>
                  <a:schemeClr val="tx1"/>
                </a:solidFill>
              </a:rPr>
              <a:t>run_id is declared and never passed.</a:t>
            </a:r>
            <a:endParaRPr lang="en-US" sz="1250" dirty="0"/>
          </a:p>
        </p:txBody>
      </p:sp>
      <p:sp>
        <p:nvSpPr>
          <p:cNvPr id="20" name="Check 4"/>
          <p:cNvSpPr/>
          <p:nvPr/>
        </p:nvSpPr>
        <p:spPr>
          <a:xfrm>
            <a:off x="8970264" y="1783080"/>
            <a:ext cx="2679192" cy="1691640"/>
          </a:xfrm>
          <a:prstGeom prst="roundRect">
            <a:avLst>
              <a:gd name="adj" fmla="val 6486"/>
            </a:avLst>
          </a:prstGeom>
          <a:solidFill>
            <a:schemeClr val="bg2"/>
          </a:solidFill>
          <a:ln/>
        </p:spPr>
      </p:sp>
      <p:sp>
        <p:nvSpPr>
          <p:cNvPr id="21" name="Check chip 4"/>
          <p:cNvSpPr/>
          <p:nvPr/>
        </p:nvSpPr>
        <p:spPr>
          <a:xfrm>
            <a:off x="9153144" y="1965960"/>
            <a:ext cx="420624" cy="420624"/>
          </a:xfrm>
          <a:prstGeom prst="roundRect">
            <a:avLst>
              <a:gd name="adj" fmla="val 17391"/>
            </a:avLst>
          </a:prstGeom>
          <a:solidFill>
            <a:schemeClr val="accent1"/>
          </a:solidFill>
          <a:ln/>
        </p:spPr>
      </p:sp>
      <p:sp>
        <p:nvSpPr>
          <p:cNvPr id="22" name="Check number"/>
          <p:cNvSpPr txBox="1"/>
          <p:nvPr/>
        </p:nvSpPr>
        <p:spPr>
          <a:xfrm>
            <a:off x="9153144"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Check title"/>
          <p:cNvSpPr txBox="1"/>
          <p:nvPr/>
        </p:nvSpPr>
        <p:spPr>
          <a:xfrm>
            <a:off x="9153144" y="2514600"/>
            <a:ext cx="23317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Pin the source</a:t>
            </a:r>
            <a:endParaRPr lang="en-US" sz="1500" dirty="0"/>
          </a:p>
        </p:txBody>
      </p:sp>
      <p:sp>
        <p:nvSpPr>
          <p:cNvPr id="24" name="Check text"/>
          <p:cNvSpPr txBox="1"/>
          <p:nvPr/>
        </p:nvSpPr>
        <p:spPr>
          <a:xfrm>
            <a:off x="9153144" y="2880360"/>
            <a:ext cx="2331720" cy="548640"/>
          </a:xfrm>
          <a:prstGeom prst="rect">
            <a:avLst/>
          </a:prstGeom>
          <a:noFill/>
          <a:ln/>
        </p:spPr>
        <p:txBody>
          <a:bodyPr wrap="square" lIns="0" tIns="0" rIns="0" bIns="0" rtlCol="0" anchor="t"/>
          <a:lstStyle/>
          <a:p>
            <a:pPr indent="0" marL="0">
              <a:buNone/>
            </a:pPr>
            <a:r>
              <a:rPr lang="en-US" sz="1250" dirty="0">
                <a:solidFill>
                  <a:schemeClr val="tx1"/>
                </a:solidFill>
              </a:rPr>
              <a:t>The notebook auto-detects which table to use.</a:t>
            </a:r>
            <a:endParaRPr lang="en-US" sz="1250" dirty="0"/>
          </a:p>
        </p:txBody>
      </p:sp>
      <p:sp>
        <p:nvSpPr>
          <p:cNvPr id="25" name="Check 5"/>
          <p:cNvSpPr/>
          <p:nvPr/>
        </p:nvSpPr>
        <p:spPr>
          <a:xfrm>
            <a:off x="548640" y="3611880"/>
            <a:ext cx="2679192" cy="1691640"/>
          </a:xfrm>
          <a:prstGeom prst="roundRect">
            <a:avLst>
              <a:gd name="adj" fmla="val 6486"/>
            </a:avLst>
          </a:prstGeom>
          <a:solidFill>
            <a:schemeClr val="bg2"/>
          </a:solidFill>
          <a:ln/>
        </p:spPr>
      </p:sp>
      <p:sp>
        <p:nvSpPr>
          <p:cNvPr id="26" name="Check chip 5"/>
          <p:cNvSpPr/>
          <p:nvPr/>
        </p:nvSpPr>
        <p:spPr>
          <a:xfrm>
            <a:off x="731520" y="3794760"/>
            <a:ext cx="420624" cy="420624"/>
          </a:xfrm>
          <a:prstGeom prst="roundRect">
            <a:avLst>
              <a:gd name="adj" fmla="val 17391"/>
            </a:avLst>
          </a:prstGeom>
          <a:solidFill>
            <a:schemeClr val="accent1"/>
          </a:solidFill>
          <a:ln/>
        </p:spPr>
      </p:sp>
      <p:sp>
        <p:nvSpPr>
          <p:cNvPr id="27" name="Check number"/>
          <p:cNvSpPr txBox="1"/>
          <p:nvPr/>
        </p:nvSpPr>
        <p:spPr>
          <a:xfrm>
            <a:off x="731520" y="3794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28" name="Check title"/>
          <p:cNvSpPr txBox="1"/>
          <p:nvPr/>
        </p:nvSpPr>
        <p:spPr>
          <a:xfrm>
            <a:off x="731520" y="4343400"/>
            <a:ext cx="23317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No hard-coded IDs</a:t>
            </a:r>
            <a:endParaRPr lang="en-US" sz="1500" dirty="0"/>
          </a:p>
        </p:txBody>
      </p:sp>
      <p:sp>
        <p:nvSpPr>
          <p:cNvPr id="29" name="Check text"/>
          <p:cNvSpPr txBox="1"/>
          <p:nvPr/>
        </p:nvSpPr>
        <p:spPr>
          <a:xfrm>
            <a:off x="731520" y="4709160"/>
            <a:ext cx="2331720" cy="548640"/>
          </a:xfrm>
          <a:prstGeom prst="rect">
            <a:avLst/>
          </a:prstGeom>
          <a:noFill/>
          <a:ln/>
        </p:spPr>
        <p:txBody>
          <a:bodyPr wrap="square" lIns="0" tIns="0" rIns="0" bIns="0" rtlCol="0" anchor="t"/>
          <a:lstStyle/>
          <a:p>
            <a:pPr indent="0" marL="0">
              <a:buNone/>
            </a:pPr>
            <a:r>
              <a:rPr lang="en-US" sz="1250" dirty="0">
                <a:solidFill>
                  <a:schemeClr val="tx1"/>
                </a:solidFill>
              </a:rPr>
              <a:t>Workspace and lakehouse IDs sit in the code.</a:t>
            </a:r>
            <a:endParaRPr lang="en-US" sz="1250" dirty="0"/>
          </a:p>
        </p:txBody>
      </p:sp>
      <p:sp>
        <p:nvSpPr>
          <p:cNvPr id="30" name="Check 6"/>
          <p:cNvSpPr/>
          <p:nvPr/>
        </p:nvSpPr>
        <p:spPr>
          <a:xfrm>
            <a:off x="3355848" y="3611880"/>
            <a:ext cx="2679192" cy="1691640"/>
          </a:xfrm>
          <a:prstGeom prst="roundRect">
            <a:avLst>
              <a:gd name="adj" fmla="val 6486"/>
            </a:avLst>
          </a:prstGeom>
          <a:solidFill>
            <a:schemeClr val="bg2"/>
          </a:solidFill>
          <a:ln/>
        </p:spPr>
      </p:sp>
      <p:sp>
        <p:nvSpPr>
          <p:cNvPr id="31" name="Check chip 6"/>
          <p:cNvSpPr/>
          <p:nvPr/>
        </p:nvSpPr>
        <p:spPr>
          <a:xfrm>
            <a:off x="3538728" y="3794760"/>
            <a:ext cx="420624" cy="420624"/>
          </a:xfrm>
          <a:prstGeom prst="roundRect">
            <a:avLst>
              <a:gd name="adj" fmla="val 17391"/>
            </a:avLst>
          </a:prstGeom>
          <a:solidFill>
            <a:schemeClr val="accent1"/>
          </a:solidFill>
          <a:ln/>
        </p:spPr>
      </p:sp>
      <p:sp>
        <p:nvSpPr>
          <p:cNvPr id="32" name="Check number"/>
          <p:cNvSpPr txBox="1"/>
          <p:nvPr/>
        </p:nvSpPr>
        <p:spPr>
          <a:xfrm>
            <a:off x="3538728" y="3794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6</a:t>
            </a:r>
            <a:endParaRPr lang="en-US" sz="1600" dirty="0"/>
          </a:p>
        </p:txBody>
      </p:sp>
      <p:sp>
        <p:nvSpPr>
          <p:cNvPr id="33" name="Check title"/>
          <p:cNvSpPr txBox="1"/>
          <p:nvPr/>
        </p:nvSpPr>
        <p:spPr>
          <a:xfrm>
            <a:off x="3538728" y="4343400"/>
            <a:ext cx="23317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Secrets in a vault</a:t>
            </a:r>
            <a:endParaRPr lang="en-US" sz="1500" dirty="0"/>
          </a:p>
        </p:txBody>
      </p:sp>
      <p:sp>
        <p:nvSpPr>
          <p:cNvPr id="34" name="Check text"/>
          <p:cNvSpPr txBox="1"/>
          <p:nvPr/>
        </p:nvSpPr>
        <p:spPr>
          <a:xfrm>
            <a:off x="3538728" y="4709160"/>
            <a:ext cx="2331720" cy="548640"/>
          </a:xfrm>
          <a:prstGeom prst="rect">
            <a:avLst/>
          </a:prstGeom>
          <a:noFill/>
          <a:ln/>
        </p:spPr>
        <p:txBody>
          <a:bodyPr wrap="square" lIns="0" tIns="0" rIns="0" bIns="0" rtlCol="0" anchor="t"/>
          <a:lstStyle/>
          <a:p>
            <a:pPr indent="0" marL="0">
              <a:buNone/>
            </a:pPr>
            <a:r>
              <a:rPr lang="en-US" sz="1250" dirty="0">
                <a:solidFill>
                  <a:schemeClr val="tx1"/>
                </a:solidFill>
              </a:rPr>
              <a:t>A client secret travels as a function parameter.</a:t>
            </a:r>
            <a:endParaRPr lang="en-US" sz="1250" dirty="0"/>
          </a:p>
        </p:txBody>
      </p:sp>
      <p:sp>
        <p:nvSpPr>
          <p:cNvPr id="35" name="Check 7"/>
          <p:cNvSpPr/>
          <p:nvPr/>
        </p:nvSpPr>
        <p:spPr>
          <a:xfrm>
            <a:off x="6163056" y="3611880"/>
            <a:ext cx="2679192" cy="1691640"/>
          </a:xfrm>
          <a:prstGeom prst="roundRect">
            <a:avLst>
              <a:gd name="adj" fmla="val 6486"/>
            </a:avLst>
          </a:prstGeom>
          <a:solidFill>
            <a:schemeClr val="bg2"/>
          </a:solidFill>
          <a:ln/>
        </p:spPr>
      </p:sp>
      <p:sp>
        <p:nvSpPr>
          <p:cNvPr id="36" name="Check chip 7"/>
          <p:cNvSpPr/>
          <p:nvPr/>
        </p:nvSpPr>
        <p:spPr>
          <a:xfrm>
            <a:off x="6345936" y="3794760"/>
            <a:ext cx="420624" cy="420624"/>
          </a:xfrm>
          <a:prstGeom prst="roundRect">
            <a:avLst>
              <a:gd name="adj" fmla="val 17391"/>
            </a:avLst>
          </a:prstGeom>
          <a:solidFill>
            <a:schemeClr val="accent1"/>
          </a:solidFill>
          <a:ln/>
        </p:spPr>
      </p:sp>
      <p:sp>
        <p:nvSpPr>
          <p:cNvPr id="37" name="Check number"/>
          <p:cNvSpPr txBox="1"/>
          <p:nvPr/>
        </p:nvSpPr>
        <p:spPr>
          <a:xfrm>
            <a:off x="6345936" y="3794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7</a:t>
            </a:r>
            <a:endParaRPr lang="en-US" sz="1600" dirty="0"/>
          </a:p>
        </p:txBody>
      </p:sp>
      <p:sp>
        <p:nvSpPr>
          <p:cNvPr id="38" name="Check title"/>
          <p:cNvSpPr txBox="1"/>
          <p:nvPr/>
        </p:nvSpPr>
        <p:spPr>
          <a:xfrm>
            <a:off x="6345936" y="4343400"/>
            <a:ext cx="23317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Never log credentials</a:t>
            </a:r>
            <a:endParaRPr lang="en-US" sz="1500" dirty="0"/>
          </a:p>
        </p:txBody>
      </p:sp>
      <p:sp>
        <p:nvSpPr>
          <p:cNvPr id="39" name="Check text"/>
          <p:cNvSpPr txBox="1"/>
          <p:nvPr/>
        </p:nvSpPr>
        <p:spPr>
          <a:xfrm>
            <a:off x="6345936" y="4709160"/>
            <a:ext cx="2331720" cy="548640"/>
          </a:xfrm>
          <a:prstGeom prst="rect">
            <a:avLst/>
          </a:prstGeom>
          <a:noFill/>
          <a:ln/>
        </p:spPr>
        <p:txBody>
          <a:bodyPr wrap="square" lIns="0" tIns="0" rIns="0" bIns="0" rtlCol="0" anchor="t"/>
          <a:lstStyle/>
          <a:p>
            <a:pPr indent="0" marL="0">
              <a:buNone/>
            </a:pPr>
            <a:r>
              <a:rPr lang="en-US" sz="1250" dirty="0">
                <a:solidFill>
                  <a:schemeClr val="tx1"/>
                </a:solidFill>
              </a:rPr>
              <a:t>A token prefix is written to the step log.</a:t>
            </a:r>
            <a:endParaRPr lang="en-US" sz="1250" dirty="0"/>
          </a:p>
        </p:txBody>
      </p:sp>
      <p:sp>
        <p:nvSpPr>
          <p:cNvPr id="40" name="Check 8"/>
          <p:cNvSpPr/>
          <p:nvPr/>
        </p:nvSpPr>
        <p:spPr>
          <a:xfrm>
            <a:off x="8970264" y="3611880"/>
            <a:ext cx="2679192" cy="1691640"/>
          </a:xfrm>
          <a:prstGeom prst="roundRect">
            <a:avLst>
              <a:gd name="adj" fmla="val 6486"/>
            </a:avLst>
          </a:prstGeom>
          <a:solidFill>
            <a:schemeClr val="bg2"/>
          </a:solidFill>
          <a:ln/>
        </p:spPr>
      </p:sp>
      <p:sp>
        <p:nvSpPr>
          <p:cNvPr id="41" name="Check chip 8"/>
          <p:cNvSpPr/>
          <p:nvPr/>
        </p:nvSpPr>
        <p:spPr>
          <a:xfrm>
            <a:off x="9153144" y="3794760"/>
            <a:ext cx="420624" cy="420624"/>
          </a:xfrm>
          <a:prstGeom prst="roundRect">
            <a:avLst>
              <a:gd name="adj" fmla="val 17391"/>
            </a:avLst>
          </a:prstGeom>
          <a:solidFill>
            <a:schemeClr val="accent1"/>
          </a:solidFill>
          <a:ln/>
        </p:spPr>
      </p:sp>
      <p:sp>
        <p:nvSpPr>
          <p:cNvPr id="42" name="Check number"/>
          <p:cNvSpPr txBox="1"/>
          <p:nvPr/>
        </p:nvSpPr>
        <p:spPr>
          <a:xfrm>
            <a:off x="9153144" y="37947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8</a:t>
            </a:r>
            <a:endParaRPr lang="en-US" sz="1600" dirty="0"/>
          </a:p>
        </p:txBody>
      </p:sp>
      <p:sp>
        <p:nvSpPr>
          <p:cNvPr id="43" name="Check title"/>
          <p:cNvSpPr txBox="1"/>
          <p:nvPr/>
        </p:nvSpPr>
        <p:spPr>
          <a:xfrm>
            <a:off x="9153144" y="4343400"/>
            <a:ext cx="23317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Test before you write</a:t>
            </a:r>
            <a:endParaRPr lang="en-US" sz="1500" dirty="0"/>
          </a:p>
        </p:txBody>
      </p:sp>
      <p:sp>
        <p:nvSpPr>
          <p:cNvPr id="44" name="Check text"/>
          <p:cNvSpPr txBox="1"/>
          <p:nvPr/>
        </p:nvSpPr>
        <p:spPr>
          <a:xfrm>
            <a:off x="9153144" y="4709160"/>
            <a:ext cx="2331720" cy="548640"/>
          </a:xfrm>
          <a:prstGeom prst="rect">
            <a:avLst/>
          </a:prstGeom>
          <a:noFill/>
          <a:ln/>
        </p:spPr>
        <p:txBody>
          <a:bodyPr wrap="square" lIns="0" tIns="0" rIns="0" bIns="0" rtlCol="0" anchor="t"/>
          <a:lstStyle/>
          <a:p>
            <a:pPr indent="0" marL="0">
              <a:buNone/>
            </a:pPr>
            <a:r>
              <a:rPr lang="en-US" sz="1250" dirty="0">
                <a:solidFill>
                  <a:schemeClr val="tx1"/>
                </a:solidFill>
              </a:rPr>
              <a:t>No tie-out check before the silver write.</a:t>
            </a:r>
            <a:endParaRPr lang="en-US" sz="1250" dirty="0"/>
          </a:p>
        </p:txBody>
      </p:sp>
      <p:sp>
        <p:nvSpPr>
          <p:cNvPr id="45" name="Takeaway"/>
          <p:cNvSpPr txBox="1"/>
          <p:nvPr/>
        </p:nvSpPr>
        <p:spPr>
          <a:xfrm>
            <a:off x="548640" y="553212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A proof of concept proves the logic. These checks prove the run.</a:t>
            </a:r>
            <a:endParaRPr lang="en-US" sz="1600" dirty="0"/>
          </a:p>
        </p:txBody>
      </p:sp>
      <p:sp>
        <p:nvSpPr>
          <p:cNvPr id="46" name="Footnote"/>
          <p:cNvSpPr txBox="1"/>
          <p:nvPr/>
        </p:nvSpPr>
        <p:spPr>
          <a:xfrm>
            <a:off x="548640" y="6108192"/>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Every item is visible in the POC pipeline, notebook and macro files.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5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5: review the DST notebook</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20 MIN</a:t>
            </a:r>
            <a:endParaRPr lang="en-US" sz="1100" dirty="0"/>
          </a:p>
        </p:txBody>
      </p:sp>
      <p:sp>
        <p:nvSpPr>
          <p:cNvPr id="6" name="Excerpt A"/>
          <p:cNvSpPr/>
          <p:nvPr/>
        </p:nvSpPr>
        <p:spPr>
          <a:xfrm>
            <a:off x="548640" y="1783080"/>
            <a:ext cx="5852160" cy="1645920"/>
          </a:xfrm>
          <a:prstGeom prst="roundRect">
            <a:avLst>
              <a:gd name="adj" fmla="val 5556"/>
            </a:avLst>
          </a:prstGeom>
          <a:solidFill>
            <a:schemeClr val="tx1"/>
          </a:solidFill>
          <a:ln/>
        </p:spPr>
      </p:sp>
      <p:sp>
        <p:nvSpPr>
          <p:cNvPr id="7" name="Code label"/>
          <p:cNvSpPr txBox="1"/>
          <p:nvPr/>
        </p:nvSpPr>
        <p:spPr>
          <a:xfrm>
            <a:off x="749808" y="1874520"/>
            <a:ext cx="54498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EXCERPT A · CHOOSE THE SOURCE</a:t>
            </a:r>
            <a:endParaRPr lang="en-US" sz="1000" dirty="0"/>
          </a:p>
        </p:txBody>
      </p:sp>
      <p:sp>
        <p:nvSpPr>
          <p:cNvPr id="8" name="Excerpt A text"/>
          <p:cNvSpPr txBox="1"/>
          <p:nvPr/>
        </p:nvSpPr>
        <p:spPr>
          <a:xfrm>
            <a:off x="749808" y="2167128"/>
            <a:ext cx="5449824" cy="1152144"/>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for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name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df</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in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bronze_dfs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items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cols_lower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lower</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for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in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columns</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if</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"impressions"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in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cols_lower</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and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"mapped entity"</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in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cols_lower</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df_impressions_source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df</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df_amounts_source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df</a:t>
            </a:r>
            <a:endParaRPr lang="en-US" sz="1100" dirty="0"/>
          </a:p>
        </p:txBody>
      </p:sp>
      <p:sp>
        <p:nvSpPr>
          <p:cNvPr id="9" name="Excerpt B"/>
          <p:cNvSpPr/>
          <p:nvPr/>
        </p:nvSpPr>
        <p:spPr>
          <a:xfrm>
            <a:off x="548640" y="3547872"/>
            <a:ext cx="5852160" cy="1325880"/>
          </a:xfrm>
          <a:prstGeom prst="roundRect">
            <a:avLst>
              <a:gd name="adj" fmla="val 6897"/>
            </a:avLst>
          </a:prstGeom>
          <a:solidFill>
            <a:schemeClr val="tx1"/>
          </a:solidFill>
          <a:ln/>
        </p:spPr>
      </p:sp>
      <p:sp>
        <p:nvSpPr>
          <p:cNvPr id="10" name="Code label"/>
          <p:cNvSpPr txBox="1"/>
          <p:nvPr/>
        </p:nvSpPr>
        <p:spPr>
          <a:xfrm>
            <a:off x="749808" y="3639312"/>
            <a:ext cx="54498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EXCERPT B · THE DENOMINATOR</a:t>
            </a:r>
            <a:endParaRPr lang="en-US" sz="1000" dirty="0"/>
          </a:p>
        </p:txBody>
      </p:sp>
      <p:sp>
        <p:nvSpPr>
          <p:cNvPr id="11" name="Excerpt B text"/>
          <p:cNvSpPr txBox="1"/>
          <p:nvPr/>
        </p:nvSpPr>
        <p:spPr>
          <a:xfrm>
            <a:off x="749808" y="3931920"/>
            <a:ext cx="5449824" cy="83210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df_denom_without_na</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df_impressions_source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filter</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col</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"Impressions"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isNotNull</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groupBy</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"Mapped Entity"</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"Month and Year"</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agg</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sum</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"Impressions"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alias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"Denominator_without_NA"</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12" name="Excerpt C"/>
          <p:cNvSpPr/>
          <p:nvPr/>
        </p:nvSpPr>
        <p:spPr>
          <a:xfrm>
            <a:off x="548640" y="4992624"/>
            <a:ext cx="5852160" cy="1097280"/>
          </a:xfrm>
          <a:prstGeom prst="roundRect">
            <a:avLst>
              <a:gd name="adj" fmla="val 8333"/>
            </a:avLst>
          </a:prstGeom>
          <a:solidFill>
            <a:schemeClr val="tx1"/>
          </a:solidFill>
          <a:ln/>
        </p:spPr>
      </p:sp>
      <p:sp>
        <p:nvSpPr>
          <p:cNvPr id="13" name="Code label"/>
          <p:cNvSpPr txBox="1"/>
          <p:nvPr/>
        </p:nvSpPr>
        <p:spPr>
          <a:xfrm>
            <a:off x="749808" y="5084064"/>
            <a:ext cx="54498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EXCERPT C · THE AMOUNT</a:t>
            </a:r>
            <a:endParaRPr lang="en-US" sz="1000" dirty="0"/>
          </a:p>
        </p:txBody>
      </p:sp>
      <p:sp>
        <p:nvSpPr>
          <p:cNvPr id="14" name="Excerpt C text"/>
          <p:cNvSpPr txBox="1"/>
          <p:nvPr/>
        </p:nvSpPr>
        <p:spPr>
          <a:xfrm>
            <a:off x="749808" y="5376672"/>
            <a:ext cx="5449824" cy="60350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withColumn</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"Apportioned Amount without NA"</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round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col</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"Total_Amount"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col</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"Percent without NA"</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6"/>
                </a:solidFill>
                <a:latin typeface="Courier New" pitchFamily="34" charset="0"/>
                <a:ea typeface="Courier New" pitchFamily="34" charset="-122"/>
                <a:cs typeface="Courier New" pitchFamily="34" charset="-120"/>
              </a:rPr>
              <a:t>2</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15" name="Question 1"/>
          <p:cNvSpPr/>
          <p:nvPr/>
        </p:nvSpPr>
        <p:spPr>
          <a:xfrm>
            <a:off x="6675120" y="1783080"/>
            <a:ext cx="4965192" cy="932688"/>
          </a:xfrm>
          <a:prstGeom prst="roundRect">
            <a:avLst>
              <a:gd name="adj" fmla="val 11765"/>
            </a:avLst>
          </a:prstGeom>
          <a:solidFill>
            <a:schemeClr val="bg2"/>
          </a:solidFill>
          <a:ln/>
        </p:spPr>
      </p:sp>
      <p:sp>
        <p:nvSpPr>
          <p:cNvPr id="16" name="Question chip 1"/>
          <p:cNvSpPr/>
          <p:nvPr/>
        </p:nvSpPr>
        <p:spPr>
          <a:xfrm>
            <a:off x="6858000" y="2020824"/>
            <a:ext cx="457200" cy="457200"/>
          </a:xfrm>
          <a:prstGeom prst="roundRect">
            <a:avLst>
              <a:gd name="adj" fmla="val 16000"/>
            </a:avLst>
          </a:prstGeom>
          <a:solidFill>
            <a:schemeClr val="accent3"/>
          </a:solidFill>
          <a:ln/>
        </p:spPr>
      </p:sp>
      <p:sp>
        <p:nvSpPr>
          <p:cNvPr id="17" name="Question number"/>
          <p:cNvSpPr txBox="1"/>
          <p:nvPr/>
        </p:nvSpPr>
        <p:spPr>
          <a:xfrm>
            <a:off x="6858000" y="2020824"/>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1</a:t>
            </a:r>
            <a:endParaRPr lang="en-US" sz="1800" dirty="0"/>
          </a:p>
        </p:txBody>
      </p:sp>
      <p:sp>
        <p:nvSpPr>
          <p:cNvPr id="18" name="Question text"/>
          <p:cNvSpPr txBox="1"/>
          <p:nvPr/>
        </p:nvSpPr>
        <p:spPr>
          <a:xfrm>
            <a:off x="7498080" y="1783080"/>
            <a:ext cx="4023360" cy="932688"/>
          </a:xfrm>
          <a:prstGeom prst="rect">
            <a:avLst/>
          </a:prstGeom>
          <a:noFill/>
          <a:ln/>
        </p:spPr>
        <p:txBody>
          <a:bodyPr wrap="square" lIns="0" tIns="0" rIns="0" bIns="0" rtlCol="0" anchor="ctr"/>
          <a:lstStyle/>
          <a:p>
            <a:pPr indent="0" marL="0">
              <a:buNone/>
            </a:pPr>
            <a:r>
              <a:rPr lang="en-US" sz="1300" dirty="0">
                <a:solidFill>
                  <a:schemeClr val="tx1"/>
                </a:solidFill>
              </a:rPr>
              <a:t>What happens if two bronze tables both have impressions and mapped entity columns?</a:t>
            </a:r>
            <a:endParaRPr lang="en-US" sz="1300" dirty="0"/>
          </a:p>
        </p:txBody>
      </p:sp>
      <p:sp>
        <p:nvSpPr>
          <p:cNvPr id="19" name="Question 2"/>
          <p:cNvSpPr/>
          <p:nvPr/>
        </p:nvSpPr>
        <p:spPr>
          <a:xfrm>
            <a:off x="6675120" y="2807208"/>
            <a:ext cx="4965192" cy="932688"/>
          </a:xfrm>
          <a:prstGeom prst="roundRect">
            <a:avLst>
              <a:gd name="adj" fmla="val 11765"/>
            </a:avLst>
          </a:prstGeom>
          <a:solidFill>
            <a:schemeClr val="bg2"/>
          </a:solidFill>
          <a:ln/>
        </p:spPr>
      </p:sp>
      <p:sp>
        <p:nvSpPr>
          <p:cNvPr id="20" name="Question chip 2"/>
          <p:cNvSpPr/>
          <p:nvPr/>
        </p:nvSpPr>
        <p:spPr>
          <a:xfrm>
            <a:off x="6858000" y="3044952"/>
            <a:ext cx="457200" cy="457200"/>
          </a:xfrm>
          <a:prstGeom prst="roundRect">
            <a:avLst>
              <a:gd name="adj" fmla="val 16000"/>
            </a:avLst>
          </a:prstGeom>
          <a:solidFill>
            <a:schemeClr val="accent3"/>
          </a:solidFill>
          <a:ln/>
        </p:spPr>
      </p:sp>
      <p:sp>
        <p:nvSpPr>
          <p:cNvPr id="21" name="Question number"/>
          <p:cNvSpPr txBox="1"/>
          <p:nvPr/>
        </p:nvSpPr>
        <p:spPr>
          <a:xfrm>
            <a:off x="6858000" y="3044952"/>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2</a:t>
            </a:r>
            <a:endParaRPr lang="en-US" sz="1800" dirty="0"/>
          </a:p>
        </p:txBody>
      </p:sp>
      <p:sp>
        <p:nvSpPr>
          <p:cNvPr id="22" name="Question text"/>
          <p:cNvSpPr txBox="1"/>
          <p:nvPr/>
        </p:nvSpPr>
        <p:spPr>
          <a:xfrm>
            <a:off x="7498080" y="2807208"/>
            <a:ext cx="4023360" cy="932688"/>
          </a:xfrm>
          <a:prstGeom prst="rect">
            <a:avLst/>
          </a:prstGeom>
          <a:noFill/>
          <a:ln/>
        </p:spPr>
        <p:txBody>
          <a:bodyPr wrap="square" lIns="0" tIns="0" rIns="0" bIns="0" rtlCol="0" anchor="ctr"/>
          <a:lstStyle/>
          <a:p>
            <a:pPr indent="0" marL="0">
              <a:buNone/>
            </a:pPr>
            <a:r>
              <a:rPr lang="en-US" sz="1300" dirty="0">
                <a:solidFill>
                  <a:schemeClr val="tx1"/>
                </a:solidFill>
              </a:rPr>
              <a:t>Which rows does the denominator count? Does that match the Alteryx N/A rule?</a:t>
            </a:r>
            <a:endParaRPr lang="en-US" sz="1300" dirty="0"/>
          </a:p>
        </p:txBody>
      </p:sp>
      <p:sp>
        <p:nvSpPr>
          <p:cNvPr id="23" name="Question 3"/>
          <p:cNvSpPr/>
          <p:nvPr/>
        </p:nvSpPr>
        <p:spPr>
          <a:xfrm>
            <a:off x="6675120" y="3831336"/>
            <a:ext cx="4965192" cy="932688"/>
          </a:xfrm>
          <a:prstGeom prst="roundRect">
            <a:avLst>
              <a:gd name="adj" fmla="val 11765"/>
            </a:avLst>
          </a:prstGeom>
          <a:solidFill>
            <a:schemeClr val="bg2"/>
          </a:solidFill>
          <a:ln/>
        </p:spPr>
      </p:sp>
      <p:sp>
        <p:nvSpPr>
          <p:cNvPr id="24" name="Question chip 3"/>
          <p:cNvSpPr/>
          <p:nvPr/>
        </p:nvSpPr>
        <p:spPr>
          <a:xfrm>
            <a:off x="6858000" y="4069080"/>
            <a:ext cx="457200" cy="457200"/>
          </a:xfrm>
          <a:prstGeom prst="roundRect">
            <a:avLst>
              <a:gd name="adj" fmla="val 16000"/>
            </a:avLst>
          </a:prstGeom>
          <a:solidFill>
            <a:schemeClr val="accent3"/>
          </a:solidFill>
          <a:ln/>
        </p:spPr>
      </p:sp>
      <p:sp>
        <p:nvSpPr>
          <p:cNvPr id="25" name="Question number"/>
          <p:cNvSpPr txBox="1"/>
          <p:nvPr/>
        </p:nvSpPr>
        <p:spPr>
          <a:xfrm>
            <a:off x="6858000" y="4069080"/>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3</a:t>
            </a:r>
            <a:endParaRPr lang="en-US" sz="1800" dirty="0"/>
          </a:p>
        </p:txBody>
      </p:sp>
      <p:sp>
        <p:nvSpPr>
          <p:cNvPr id="26" name="Question text"/>
          <p:cNvSpPr txBox="1"/>
          <p:nvPr/>
        </p:nvSpPr>
        <p:spPr>
          <a:xfrm>
            <a:off x="7498080" y="3831336"/>
            <a:ext cx="4023360" cy="932688"/>
          </a:xfrm>
          <a:prstGeom prst="rect">
            <a:avLst/>
          </a:prstGeom>
          <a:noFill/>
          <a:ln/>
        </p:spPr>
        <p:txBody>
          <a:bodyPr wrap="square" lIns="0" tIns="0" rIns="0" bIns="0" rtlCol="0" anchor="ctr"/>
          <a:lstStyle/>
          <a:p>
            <a:pPr indent="0" marL="0">
              <a:buNone/>
            </a:pPr>
            <a:r>
              <a:rPr lang="en-US" sz="1300" dirty="0">
                <a:solidFill>
                  <a:schemeClr val="tx1"/>
                </a:solidFill>
              </a:rPr>
              <a:t>What does the minus sign in excerpt C do, and why is it there?</a:t>
            </a:r>
            <a:endParaRPr lang="en-US" sz="1300" dirty="0"/>
          </a:p>
        </p:txBody>
      </p:sp>
      <p:sp>
        <p:nvSpPr>
          <p:cNvPr id="27" name="Question 4"/>
          <p:cNvSpPr/>
          <p:nvPr/>
        </p:nvSpPr>
        <p:spPr>
          <a:xfrm>
            <a:off x="6675120" y="4855464"/>
            <a:ext cx="4965192" cy="932688"/>
          </a:xfrm>
          <a:prstGeom prst="roundRect">
            <a:avLst>
              <a:gd name="adj" fmla="val 11765"/>
            </a:avLst>
          </a:prstGeom>
          <a:solidFill>
            <a:schemeClr val="bg2"/>
          </a:solidFill>
          <a:ln/>
        </p:spPr>
      </p:sp>
      <p:sp>
        <p:nvSpPr>
          <p:cNvPr id="28" name="Question chip 4"/>
          <p:cNvSpPr/>
          <p:nvPr/>
        </p:nvSpPr>
        <p:spPr>
          <a:xfrm>
            <a:off x="6858000" y="5093208"/>
            <a:ext cx="457200" cy="457200"/>
          </a:xfrm>
          <a:prstGeom prst="roundRect">
            <a:avLst>
              <a:gd name="adj" fmla="val 16000"/>
            </a:avLst>
          </a:prstGeom>
          <a:solidFill>
            <a:schemeClr val="accent3"/>
          </a:solidFill>
          <a:ln/>
        </p:spPr>
      </p:sp>
      <p:sp>
        <p:nvSpPr>
          <p:cNvPr id="29" name="Question number"/>
          <p:cNvSpPr txBox="1"/>
          <p:nvPr/>
        </p:nvSpPr>
        <p:spPr>
          <a:xfrm>
            <a:off x="6858000" y="5093208"/>
            <a:ext cx="45720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mj-lt" pitchFamily="34" charset="0"/>
                <a:ea typeface="+mj-lt" pitchFamily="34" charset="-122"/>
                <a:cs typeface="+mj-lt" pitchFamily="34" charset="-120"/>
              </a:rPr>
              <a:t>4</a:t>
            </a:r>
            <a:endParaRPr lang="en-US" sz="1800" dirty="0"/>
          </a:p>
        </p:txBody>
      </p:sp>
      <p:sp>
        <p:nvSpPr>
          <p:cNvPr id="30" name="Question text"/>
          <p:cNvSpPr txBox="1"/>
          <p:nvPr/>
        </p:nvSpPr>
        <p:spPr>
          <a:xfrm>
            <a:off x="7498080" y="4855464"/>
            <a:ext cx="4023360" cy="932688"/>
          </a:xfrm>
          <a:prstGeom prst="rect">
            <a:avLst/>
          </a:prstGeom>
          <a:noFill/>
          <a:ln/>
        </p:spPr>
        <p:txBody>
          <a:bodyPr wrap="square" lIns="0" tIns="0" rIns="0" bIns="0" rtlCol="0" anchor="ctr"/>
          <a:lstStyle/>
          <a:p>
            <a:pPr indent="0" marL="0">
              <a:buNone/>
            </a:pPr>
            <a:r>
              <a:rPr lang="en-US" sz="1300" dirty="0">
                <a:solidFill>
                  <a:schemeClr val="tx1"/>
                </a:solidFill>
              </a:rPr>
              <a:t>What would you add before the silver write?</a:t>
            </a:r>
            <a:endParaRPr lang="en-US" sz="1300" dirty="0"/>
          </a:p>
        </p:txBody>
      </p:sp>
      <p:sp>
        <p:nvSpPr>
          <p:cNvPr id="31" name="Footnote"/>
          <p:cNvSpPr txBox="1"/>
          <p:nvPr/>
        </p:nvSpPr>
        <p:spPr>
          <a:xfrm>
            <a:off x="548640" y="6144768"/>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Excerpts trimmed and re-wrapped from the complex_transforms notebook. Answers follow.</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EXERCISE 5 · NOTEBOOK DEVELOPMENT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Exercise 5: answers</a:t>
            </a:r>
            <a:endParaRPr lang="en-US" sz="3200" dirty="0"/>
          </a:p>
        </p:txBody>
      </p:sp>
      <p:sp>
        <p:nvSpPr>
          <p:cNvPr id="5" name="Answer 1"/>
          <p:cNvSpPr/>
          <p:nvPr/>
        </p:nvSpPr>
        <p:spPr>
          <a:xfrm>
            <a:off x="548640" y="1783080"/>
            <a:ext cx="5468112" cy="1737360"/>
          </a:xfrm>
          <a:prstGeom prst="roundRect">
            <a:avLst>
              <a:gd name="adj" fmla="val 6316"/>
            </a:avLst>
          </a:prstGeom>
          <a:solidFill>
            <a:schemeClr val="bg2"/>
          </a:solidFill>
          <a:ln/>
        </p:spPr>
      </p:sp>
      <p:sp>
        <p:nvSpPr>
          <p:cNvPr id="6" name="Answer chip 1"/>
          <p:cNvSpPr/>
          <p:nvPr/>
        </p:nvSpPr>
        <p:spPr>
          <a:xfrm>
            <a:off x="749808" y="1965960"/>
            <a:ext cx="420624" cy="420624"/>
          </a:xfrm>
          <a:prstGeom prst="roundRect">
            <a:avLst>
              <a:gd name="adj" fmla="val 17391"/>
            </a:avLst>
          </a:prstGeom>
          <a:solidFill>
            <a:schemeClr val="accent2"/>
          </a:solidFill>
          <a:ln/>
        </p:spPr>
      </p:sp>
      <p:sp>
        <p:nvSpPr>
          <p:cNvPr id="7" name="Answer number"/>
          <p:cNvSpPr txBox="1"/>
          <p:nvPr/>
        </p:nvSpPr>
        <p:spPr>
          <a:xfrm>
            <a:off x="749808"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Answer title"/>
          <p:cNvSpPr txBox="1"/>
          <p:nvPr/>
        </p:nvSpPr>
        <p:spPr>
          <a:xfrm>
            <a:off x="1325880" y="1965960"/>
            <a:ext cx="448056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The last match silently wins</a:t>
            </a:r>
            <a:endParaRPr lang="en-US" sz="1600" dirty="0"/>
          </a:p>
        </p:txBody>
      </p:sp>
      <p:sp>
        <p:nvSpPr>
          <p:cNvPr id="9" name="Answer text"/>
          <p:cNvSpPr txBox="1"/>
          <p:nvPr/>
        </p:nvSpPr>
        <p:spPr>
          <a:xfrm>
            <a:off x="777240" y="2532888"/>
            <a:ext cx="5029200" cy="914400"/>
          </a:xfrm>
          <a:prstGeom prst="rect">
            <a:avLst/>
          </a:prstGeom>
          <a:noFill/>
          <a:ln/>
        </p:spPr>
        <p:txBody>
          <a:bodyPr wrap="square" lIns="0" tIns="0" rIns="0" bIns="0" rtlCol="0" anchor="t"/>
          <a:lstStyle/>
          <a:p>
            <a:pPr indent="0" marL="0">
              <a:buNone/>
            </a:pPr>
            <a:r>
              <a:rPr lang="en-US" sz="1300" dirty="0">
                <a:solidFill>
                  <a:schemeClr val="tx1"/>
                </a:solidFill>
              </a:rPr>
              <a:t>The loop has no break, so a second matching table would replace the first. Name the source table instead of detecting it.</a:t>
            </a:r>
            <a:endParaRPr lang="en-US" sz="1300" dirty="0"/>
          </a:p>
        </p:txBody>
      </p:sp>
      <p:sp>
        <p:nvSpPr>
          <p:cNvPr id="10" name="Answer 2"/>
          <p:cNvSpPr/>
          <p:nvPr/>
        </p:nvSpPr>
        <p:spPr>
          <a:xfrm>
            <a:off x="6172200" y="1783080"/>
            <a:ext cx="5468112" cy="1737360"/>
          </a:xfrm>
          <a:prstGeom prst="roundRect">
            <a:avLst>
              <a:gd name="adj" fmla="val 6316"/>
            </a:avLst>
          </a:prstGeom>
          <a:solidFill>
            <a:schemeClr val="bg2"/>
          </a:solidFill>
          <a:ln/>
        </p:spPr>
      </p:sp>
      <p:sp>
        <p:nvSpPr>
          <p:cNvPr id="11" name="Answer chip 2"/>
          <p:cNvSpPr/>
          <p:nvPr/>
        </p:nvSpPr>
        <p:spPr>
          <a:xfrm>
            <a:off x="6373368" y="1965960"/>
            <a:ext cx="420624" cy="420624"/>
          </a:xfrm>
          <a:prstGeom prst="roundRect">
            <a:avLst>
              <a:gd name="adj" fmla="val 17391"/>
            </a:avLst>
          </a:prstGeom>
          <a:solidFill>
            <a:schemeClr val="accent2"/>
          </a:solidFill>
          <a:ln/>
        </p:spPr>
      </p:sp>
      <p:sp>
        <p:nvSpPr>
          <p:cNvPr id="12" name="Answer number"/>
          <p:cNvSpPr txBox="1"/>
          <p:nvPr/>
        </p:nvSpPr>
        <p:spPr>
          <a:xfrm>
            <a:off x="6373368"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Answer title"/>
          <p:cNvSpPr txBox="1"/>
          <p:nvPr/>
        </p:nvSpPr>
        <p:spPr>
          <a:xfrm>
            <a:off x="6949440" y="1965960"/>
            <a:ext cx="448056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Not the same rule</a:t>
            </a:r>
            <a:endParaRPr lang="en-US" sz="1600" dirty="0"/>
          </a:p>
        </p:txBody>
      </p:sp>
      <p:sp>
        <p:nvSpPr>
          <p:cNvPr id="14" name="Answer text"/>
          <p:cNvSpPr txBox="1"/>
          <p:nvPr/>
        </p:nvSpPr>
        <p:spPr>
          <a:xfrm>
            <a:off x="6400800" y="2532888"/>
            <a:ext cx="5029200" cy="914400"/>
          </a:xfrm>
          <a:prstGeom prst="rect">
            <a:avLst/>
          </a:prstGeom>
          <a:noFill/>
          <a:ln/>
        </p:spPr>
        <p:txBody>
          <a:bodyPr wrap="square" lIns="0" tIns="0" rIns="0" bIns="0" rtlCol="0" anchor="t"/>
          <a:lstStyle/>
          <a:p>
            <a:pPr indent="0" marL="0">
              <a:buNone/>
            </a:pPr>
            <a:r>
              <a:rPr lang="en-US" sz="1300" dirty="0">
                <a:solidFill>
                  <a:schemeClr val="tx1"/>
                </a:solidFill>
              </a:rPr>
              <a:t>It drops rows where impressions is null. The Alteryx rule flags N/A by region: null, N/A or NO REGION. A side-by-side comparison would catch this.</a:t>
            </a:r>
            <a:endParaRPr lang="en-US" sz="1300" dirty="0"/>
          </a:p>
        </p:txBody>
      </p:sp>
      <p:sp>
        <p:nvSpPr>
          <p:cNvPr id="15" name="Answer 3"/>
          <p:cNvSpPr/>
          <p:nvPr/>
        </p:nvSpPr>
        <p:spPr>
          <a:xfrm>
            <a:off x="548640" y="3657600"/>
            <a:ext cx="5468112" cy="1737360"/>
          </a:xfrm>
          <a:prstGeom prst="roundRect">
            <a:avLst>
              <a:gd name="adj" fmla="val 6316"/>
            </a:avLst>
          </a:prstGeom>
          <a:solidFill>
            <a:schemeClr val="bg2"/>
          </a:solidFill>
          <a:ln/>
        </p:spPr>
      </p:sp>
      <p:sp>
        <p:nvSpPr>
          <p:cNvPr id="16" name="Answer chip 3"/>
          <p:cNvSpPr/>
          <p:nvPr/>
        </p:nvSpPr>
        <p:spPr>
          <a:xfrm>
            <a:off x="749808" y="3840480"/>
            <a:ext cx="420624" cy="420624"/>
          </a:xfrm>
          <a:prstGeom prst="roundRect">
            <a:avLst>
              <a:gd name="adj" fmla="val 17391"/>
            </a:avLst>
          </a:prstGeom>
          <a:solidFill>
            <a:schemeClr val="accent2"/>
          </a:solidFill>
          <a:ln/>
        </p:spPr>
      </p:sp>
      <p:sp>
        <p:nvSpPr>
          <p:cNvPr id="17" name="Answer number"/>
          <p:cNvSpPr txBox="1"/>
          <p:nvPr/>
        </p:nvSpPr>
        <p:spPr>
          <a:xfrm>
            <a:off x="749808" y="38404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Answer title"/>
          <p:cNvSpPr txBox="1"/>
          <p:nvPr/>
        </p:nvSpPr>
        <p:spPr>
          <a:xfrm>
            <a:off x="1325880" y="3840480"/>
            <a:ext cx="448056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It flips the sign</a:t>
            </a:r>
            <a:endParaRPr lang="en-US" sz="1600" dirty="0"/>
          </a:p>
        </p:txBody>
      </p:sp>
      <p:sp>
        <p:nvSpPr>
          <p:cNvPr id="19" name="Answer text"/>
          <p:cNvSpPr txBox="1"/>
          <p:nvPr/>
        </p:nvSpPr>
        <p:spPr>
          <a:xfrm>
            <a:off x="777240" y="4407408"/>
            <a:ext cx="5029200" cy="914400"/>
          </a:xfrm>
          <a:prstGeom prst="rect">
            <a:avLst/>
          </a:prstGeom>
          <a:noFill/>
          <a:ln/>
        </p:spPr>
        <p:txBody>
          <a:bodyPr wrap="square" lIns="0" tIns="0" rIns="0" bIns="0" rtlCol="0" anchor="t"/>
          <a:lstStyle/>
          <a:p>
            <a:pPr indent="0" marL="0">
              <a:buNone/>
            </a:pPr>
            <a:r>
              <a:rPr lang="en-US" sz="1300" dirty="0">
                <a:solidFill>
                  <a:schemeClr val="tx1"/>
                </a:solidFill>
              </a:rPr>
              <a:t>SAP revenue arrives as negative credits. The Alteryx formula negates the result, and the notebook keeps that behaviour.</a:t>
            </a:r>
            <a:endParaRPr lang="en-US" sz="1300" dirty="0"/>
          </a:p>
        </p:txBody>
      </p:sp>
      <p:sp>
        <p:nvSpPr>
          <p:cNvPr id="20" name="Answer 4"/>
          <p:cNvSpPr/>
          <p:nvPr/>
        </p:nvSpPr>
        <p:spPr>
          <a:xfrm>
            <a:off x="6172200" y="3657600"/>
            <a:ext cx="5468112" cy="1737360"/>
          </a:xfrm>
          <a:prstGeom prst="roundRect">
            <a:avLst>
              <a:gd name="adj" fmla="val 6316"/>
            </a:avLst>
          </a:prstGeom>
          <a:solidFill>
            <a:schemeClr val="bg2"/>
          </a:solidFill>
          <a:ln/>
        </p:spPr>
      </p:sp>
      <p:sp>
        <p:nvSpPr>
          <p:cNvPr id="21" name="Answer chip 4"/>
          <p:cNvSpPr/>
          <p:nvPr/>
        </p:nvSpPr>
        <p:spPr>
          <a:xfrm>
            <a:off x="6373368" y="3840480"/>
            <a:ext cx="420624" cy="420624"/>
          </a:xfrm>
          <a:prstGeom prst="roundRect">
            <a:avLst>
              <a:gd name="adj" fmla="val 17391"/>
            </a:avLst>
          </a:prstGeom>
          <a:solidFill>
            <a:schemeClr val="accent2"/>
          </a:solidFill>
          <a:ln/>
        </p:spPr>
      </p:sp>
      <p:sp>
        <p:nvSpPr>
          <p:cNvPr id="22" name="Answer number"/>
          <p:cNvSpPr txBox="1"/>
          <p:nvPr/>
        </p:nvSpPr>
        <p:spPr>
          <a:xfrm>
            <a:off x="6373368" y="38404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Answer title"/>
          <p:cNvSpPr txBox="1"/>
          <p:nvPr/>
        </p:nvSpPr>
        <p:spPr>
          <a:xfrm>
            <a:off x="6949440" y="3840480"/>
            <a:ext cx="4480560" cy="420624"/>
          </a:xfrm>
          <a:prstGeom prst="rect">
            <a:avLst/>
          </a:prstGeom>
          <a:noFill/>
          <a:ln/>
        </p:spPr>
        <p:txBody>
          <a:bodyPr wrap="square" lIns="0" tIns="0" rIns="0" bIns="0" rtlCol="0" anchor="ctr"/>
          <a:lstStyle/>
          <a:p>
            <a:pPr indent="0" marL="0">
              <a:buNone/>
            </a:pPr>
            <a:r>
              <a:rPr lang="en-US" sz="1600" b="1" dirty="0">
                <a:solidFill>
                  <a:schemeClr val="tx1"/>
                </a:solidFill>
                <a:latin typeface="+mj-lt" pitchFamily="34" charset="0"/>
                <a:ea typeface="+mj-lt" pitchFamily="34" charset="-122"/>
                <a:cs typeface="+mj-lt" pitchFamily="34" charset="-120"/>
              </a:rPr>
              <a:t>A gate</a:t>
            </a:r>
            <a:endParaRPr lang="en-US" sz="1600" dirty="0"/>
          </a:p>
        </p:txBody>
      </p:sp>
      <p:sp>
        <p:nvSpPr>
          <p:cNvPr id="24" name="Answer text"/>
          <p:cNvSpPr txBox="1"/>
          <p:nvPr/>
        </p:nvSpPr>
        <p:spPr>
          <a:xfrm>
            <a:off x="6400800" y="4407408"/>
            <a:ext cx="5029200" cy="914400"/>
          </a:xfrm>
          <a:prstGeom prst="rect">
            <a:avLst/>
          </a:prstGeom>
          <a:noFill/>
          <a:ln/>
        </p:spPr>
        <p:txBody>
          <a:bodyPr wrap="square" lIns="0" tIns="0" rIns="0" bIns="0" rtlCol="0" anchor="t"/>
          <a:lstStyle/>
          <a:p>
            <a:pPr indent="0" marL="0">
              <a:buNone/>
            </a:pPr>
            <a:r>
              <a:rPr lang="en-US" sz="1300" dirty="0">
                <a:solidFill>
                  <a:schemeClr val="tx1"/>
                </a:solidFill>
              </a:rPr>
              <a:t>Tie the apportioned total back to revenue, check row counts, report unmapped rows, and stop the run if any fail.</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ALTERYX TO NOTEBOOKS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Five macros, 236 Alteryx tools, five Python functions</a:t>
            </a:r>
            <a:endParaRPr lang="en-US" sz="3200" dirty="0"/>
          </a:p>
        </p:txBody>
      </p:sp>
      <p:graphicFrame>
        <p:nvGraphicFramePr>
          <p:cNvPr id="5" name="Chart 0" descr=""/>
          <p:cNvGraphicFramePr/>
          <p:nvPr/>
        </p:nvGraphicFramePr>
        <p:xfrm>
          <a:off x="548640" y="1783080"/>
          <a:ext cx="475488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21" name="Macro scorecard"/>
          <p:cNvGraphicFramePr>
            <a:graphicFrameLocks noGrp="1"/>
          </p:cNvGraphicFramePr>
          <p:nvPr>
            <p:extLst>
              <p:ext uri="{D42A27DB-BD31-4B8C-83A1-F6EECF244321}">
                <p14:modId xmlns:p14="http://schemas.microsoft.com/office/powerpoint/2010/main" val="1579011935"/>
              </p:ext>
            </p:extLst>
          </p:nvPr>
        </p:nvGraphicFramePr>
        <p:xfrm>
          <a:off x="5577840" y="1783080"/>
          <a:ext cx="6062472" cy="914400"/>
        </p:xfrm>
        <a:graphic>
          <a:graphicData uri="http://schemas.openxmlformats.org/drawingml/2006/table">
            <a:tbl>
              <a:tblPr/>
              <a:tblGrid>
                <a:gridCol w="2880360"/>
                <a:gridCol w="1828800"/>
                <a:gridCol w="1353312"/>
              </a:tblGrid>
              <a:tr h="365760">
                <a:tc>
                  <a:txBody>
                    <a:bodyPr/>
                    <a:lstStyle/>
                    <a:p>
                      <a:pPr indent="0" marL="0">
                        <a:buNone/>
                      </a:pPr>
                      <a:r>
                        <a:rPr lang="en-US" sz="1200" b="1" dirty="0">
                          <a:solidFill>
                            <a:schemeClr val="bg1"/>
                          </a:solidFill>
                        </a:rPr>
                        <a:t>Alteryx macro</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Python pattern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Status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Main_Macro_DataHubPush_V2</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13-step API function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b="1" dirty="0">
                          <a:solidFill>
                            <a:schemeClr val="accent2"/>
                          </a:solidFill>
                        </a:rPr>
                        <a:t>Drafted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Data Hub - Get Collection Data</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Paginated read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b="1" dirty="0">
                          <a:solidFill>
                            <a:schemeClr val="accent2"/>
                          </a:solidFill>
                        </a:rPr>
                        <a:t>Drafted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EDP_Macro_Domestic_Mod</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Parameterised function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b="1" dirty="0">
                          <a:solidFill>
                            <a:schemeClr val="tx1"/>
                          </a:solidFill>
                        </a:rPr>
                        <a:t>Stub: TODO</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IterativeMacro_12_ConfirmPublishedDataset</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Polling loop</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b="1" dirty="0">
                          <a:solidFill>
                            <a:schemeClr val="accent2"/>
                          </a:solidFill>
                        </a:rPr>
                        <a:t>Drafted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IterativeMacro_6_ConfirmJobStatus</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Polling loop</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b="1" dirty="0">
                          <a:solidFill>
                            <a:schemeClr val="accent2"/>
                          </a:solidFill>
                        </a:rPr>
                        <a:t>Drafted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7" name="Total strip"/>
          <p:cNvSpPr/>
          <p:nvPr/>
        </p:nvSpPr>
        <p:spPr>
          <a:xfrm>
            <a:off x="548640" y="5166360"/>
            <a:ext cx="11094415" cy="502920"/>
          </a:xfrm>
          <a:prstGeom prst="roundRect">
            <a:avLst>
              <a:gd name="adj" fmla="val 21818"/>
            </a:avLst>
          </a:prstGeom>
          <a:solidFill>
            <a:schemeClr val="accent2">
              <a:alpha val="20000"/>
            </a:schemeClr>
          </a:solidFill>
          <a:ln/>
        </p:spPr>
      </p:sp>
      <p:sp>
        <p:nvSpPr>
          <p:cNvPr id="8" name="Total text"/>
          <p:cNvSpPr txBox="1"/>
          <p:nvPr/>
        </p:nvSpPr>
        <p:spPr>
          <a:xfrm>
            <a:off x="777240" y="5166360"/>
            <a:ext cx="10637215" cy="502920"/>
          </a:xfrm>
          <a:prstGeom prst="rect">
            <a:avLst/>
          </a:prstGeom>
          <a:noFill/>
          <a:ln/>
        </p:spPr>
        <p:txBody>
          <a:bodyPr wrap="square" lIns="0" tIns="0" rIns="0" bIns="0" rtlCol="0" anchor="ctr"/>
          <a:lstStyle/>
          <a:p>
            <a:pPr indent="0" marL="0">
              <a:buNone/>
            </a:pPr>
            <a:r>
              <a:rPr lang="en-US" sz="1400" b="1" dirty="0">
                <a:solidFill>
                  <a:schemeClr val="tx1"/>
                </a:solidFill>
              </a:rPr>
              <a:t>236 tools, 5 functions. </a:t>
            </a:r>
            <a:pPr indent="0" marL="0">
              <a:buNone/>
            </a:pPr>
            <a:r>
              <a:rPr lang="en-US" sz="1400" dirty="0">
                <a:solidFill>
                  <a:schemeClr val="tx1"/>
                </a:solidFill>
              </a:rPr>
              <a:t>The macros hold more than twice as many tools as the 99 in the main DST workflow.</a:t>
            </a:r>
            <a:endParaRPr lang="en-US" sz="1400" dirty="0"/>
          </a:p>
        </p:txBody>
      </p:sp>
      <p:sp>
        <p:nvSpPr>
          <p:cNvPr id="9"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DST macros notebook. Statuses reflect the files provided: no run outputs are saved in the notebook, and the EDP macro body is a TODO.</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ALTERYX TO NOTEBOOKS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An iterative macro is a loop with an exit</a:t>
            </a:r>
            <a:endParaRPr lang="en-US" sz="3200" dirty="0"/>
          </a:p>
        </p:txBody>
      </p:sp>
      <p:sp>
        <p:nvSpPr>
          <p:cNvPr id="5" name="Alteryx card"/>
          <p:cNvSpPr/>
          <p:nvPr/>
        </p:nvSpPr>
        <p:spPr>
          <a:xfrm>
            <a:off x="548640" y="1783080"/>
            <a:ext cx="4023360" cy="3703320"/>
          </a:xfrm>
          <a:prstGeom prst="roundRect">
            <a:avLst>
              <a:gd name="adj" fmla="val 2963"/>
            </a:avLst>
          </a:prstGeom>
          <a:solidFill>
            <a:schemeClr val="bg2"/>
          </a:solidFill>
          <a:ln/>
        </p:spPr>
      </p:sp>
      <p:sp>
        <p:nvSpPr>
          <p:cNvPr id="6" name="Alteryx label"/>
          <p:cNvSpPr txBox="1"/>
          <p:nvPr/>
        </p:nvSpPr>
        <p:spPr>
          <a:xfrm>
            <a:off x="777240" y="1901952"/>
            <a:ext cx="3474720" cy="201168"/>
          </a:xfrm>
          <a:prstGeom prst="rect">
            <a:avLst/>
          </a:prstGeom>
          <a:noFill/>
          <a:ln/>
        </p:spPr>
        <p:txBody>
          <a:bodyPr wrap="square" lIns="0" tIns="0" rIns="0" bIns="0" rtlCol="0" anchor="t"/>
          <a:lstStyle/>
          <a:p>
            <a:pPr indent="0" marL="0">
              <a:buNone/>
            </a:pPr>
            <a:r>
              <a:rPr lang="en-US" sz="1000" b="1" spc="200" kern="0" dirty="0">
                <a:solidFill>
                  <a:schemeClr val="accent1"/>
                </a:solidFill>
              </a:rPr>
              <a:t>IN ALTERYX</a:t>
            </a:r>
            <a:endParaRPr lang="en-US" sz="1000" dirty="0"/>
          </a:p>
        </p:txBody>
      </p:sp>
      <p:sp>
        <p:nvSpPr>
          <p:cNvPr id="7" name="Macro name"/>
          <p:cNvSpPr txBox="1"/>
          <p:nvPr/>
        </p:nvSpPr>
        <p:spPr>
          <a:xfrm>
            <a:off x="777240" y="2176272"/>
            <a:ext cx="3566160" cy="457200"/>
          </a:xfrm>
          <a:prstGeom prst="rect">
            <a:avLst/>
          </a:prstGeom>
          <a:noFill/>
          <a:ln/>
        </p:spPr>
        <p:txBody>
          <a:bodyPr wrap="square" lIns="0" tIns="0" rIns="0" bIns="0" rtlCol="0" anchor="t"/>
          <a:lstStyle/>
          <a:p>
            <a:pPr indent="0" marL="0">
              <a:buNone/>
            </a:pPr>
            <a:r>
              <a:rPr lang="en-US" sz="1250" b="1" dirty="0">
                <a:solidFill>
                  <a:schemeClr val="tx1"/>
                </a:solidFill>
                <a:latin typeface="Courier New" pitchFamily="34" charset="0"/>
                <a:ea typeface="Courier New" pitchFamily="34" charset="-122"/>
                <a:cs typeface="Courier New" pitchFamily="34" charset="-120"/>
              </a:rPr>
              <a:t>IterativeMacro_6_ConfirmJobStatus</a:t>
            </a:r>
            <a:endParaRPr lang="en-US" sz="1250" dirty="0"/>
          </a:p>
        </p:txBody>
      </p:sp>
      <p:sp>
        <p:nvSpPr>
          <p:cNvPr id="8" name="Macro tools"/>
          <p:cNvSpPr txBox="1"/>
          <p:nvPr/>
        </p:nvSpPr>
        <p:spPr>
          <a:xfrm>
            <a:off x="777240" y="2697480"/>
            <a:ext cx="3566160" cy="320040"/>
          </a:xfrm>
          <a:prstGeom prst="rect">
            <a:avLst/>
          </a:prstGeom>
          <a:noFill/>
          <a:ln/>
        </p:spPr>
        <p:txBody>
          <a:bodyPr wrap="square" lIns="0" tIns="0" rIns="0" bIns="0" rtlCol="0" anchor="t"/>
          <a:lstStyle/>
          <a:p>
            <a:pPr indent="0" marL="0">
              <a:buNone/>
            </a:pPr>
            <a:r>
              <a:rPr lang="en-US" sz="1800" b="1" dirty="0">
                <a:solidFill>
                  <a:schemeClr val="accent1"/>
                </a:solidFill>
                <a:latin typeface="+mj-lt" pitchFamily="34" charset="0"/>
                <a:ea typeface="+mj-lt" pitchFamily="34" charset="-122"/>
                <a:cs typeface="+mj-lt" pitchFamily="34" charset="-120"/>
              </a:rPr>
              <a:t>14 tools</a:t>
            </a:r>
            <a:endParaRPr lang="en-US" sz="1800" dirty="0"/>
          </a:p>
        </p:txBody>
      </p:sp>
      <p:sp>
        <p:nvSpPr>
          <p:cNvPr id="9" name="Loop chip 1"/>
          <p:cNvSpPr/>
          <p:nvPr/>
        </p:nvSpPr>
        <p:spPr>
          <a:xfrm>
            <a:off x="777240" y="3255264"/>
            <a:ext cx="384048" cy="384048"/>
          </a:xfrm>
          <a:prstGeom prst="roundRect">
            <a:avLst>
              <a:gd name="adj" fmla="val 16667"/>
            </a:avLst>
          </a:prstGeom>
          <a:solidFill>
            <a:schemeClr val="accent1"/>
          </a:solidFill>
          <a:ln/>
        </p:spPr>
      </p:sp>
      <p:sp>
        <p:nvSpPr>
          <p:cNvPr id="10" name="Loop number"/>
          <p:cNvSpPr txBox="1"/>
          <p:nvPr/>
        </p:nvSpPr>
        <p:spPr>
          <a:xfrm>
            <a:off x="777240" y="325526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11" name="Loop step"/>
          <p:cNvSpPr txBox="1"/>
          <p:nvPr/>
        </p:nvSpPr>
        <p:spPr>
          <a:xfrm>
            <a:off x="1325880" y="3200400"/>
            <a:ext cx="3017520" cy="493776"/>
          </a:xfrm>
          <a:prstGeom prst="rect">
            <a:avLst/>
          </a:prstGeom>
          <a:noFill/>
          <a:ln/>
        </p:spPr>
        <p:txBody>
          <a:bodyPr wrap="square" lIns="0" tIns="0" rIns="0" bIns="0" rtlCol="0" anchor="ctr"/>
          <a:lstStyle/>
          <a:p>
            <a:pPr indent="0" marL="0">
              <a:buNone/>
            </a:pPr>
            <a:r>
              <a:rPr lang="en-US" sz="1350" dirty="0">
                <a:solidFill>
                  <a:schemeClr val="tx1"/>
                </a:solidFill>
              </a:rPr>
              <a:t>Ask the API for the job status</a:t>
            </a:r>
            <a:endParaRPr lang="en-US" sz="1350" dirty="0"/>
          </a:p>
        </p:txBody>
      </p:sp>
      <p:sp>
        <p:nvSpPr>
          <p:cNvPr id="12" name="Loop chip 2"/>
          <p:cNvSpPr/>
          <p:nvPr/>
        </p:nvSpPr>
        <p:spPr>
          <a:xfrm>
            <a:off x="777240" y="4005072"/>
            <a:ext cx="384048" cy="384048"/>
          </a:xfrm>
          <a:prstGeom prst="roundRect">
            <a:avLst>
              <a:gd name="adj" fmla="val 16667"/>
            </a:avLst>
          </a:prstGeom>
          <a:solidFill>
            <a:schemeClr val="accent1"/>
          </a:solidFill>
          <a:ln/>
        </p:spPr>
      </p:sp>
      <p:sp>
        <p:nvSpPr>
          <p:cNvPr id="13" name="Loop number"/>
          <p:cNvSpPr txBox="1"/>
          <p:nvPr/>
        </p:nvSpPr>
        <p:spPr>
          <a:xfrm>
            <a:off x="777240" y="400507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14" name="Loop step"/>
          <p:cNvSpPr txBox="1"/>
          <p:nvPr/>
        </p:nvSpPr>
        <p:spPr>
          <a:xfrm>
            <a:off x="1325880" y="3950208"/>
            <a:ext cx="3017520" cy="493776"/>
          </a:xfrm>
          <a:prstGeom prst="rect">
            <a:avLst/>
          </a:prstGeom>
          <a:noFill/>
          <a:ln/>
        </p:spPr>
        <p:txBody>
          <a:bodyPr wrap="square" lIns="0" tIns="0" rIns="0" bIns="0" rtlCol="0" anchor="ctr"/>
          <a:lstStyle/>
          <a:p>
            <a:pPr indent="0" marL="0">
              <a:buNone/>
            </a:pPr>
            <a:r>
              <a:rPr lang="en-US" sz="1350" dirty="0">
                <a:solidFill>
                  <a:schemeClr val="tx1"/>
                </a:solidFill>
              </a:rPr>
              <a:t>Complete or failed? Stop</a:t>
            </a:r>
            <a:endParaRPr lang="en-US" sz="1350" dirty="0"/>
          </a:p>
        </p:txBody>
      </p:sp>
      <p:sp>
        <p:nvSpPr>
          <p:cNvPr id="15" name="Loop chip 3"/>
          <p:cNvSpPr/>
          <p:nvPr/>
        </p:nvSpPr>
        <p:spPr>
          <a:xfrm>
            <a:off x="777240" y="4754880"/>
            <a:ext cx="384048" cy="384048"/>
          </a:xfrm>
          <a:prstGeom prst="roundRect">
            <a:avLst>
              <a:gd name="adj" fmla="val 16667"/>
            </a:avLst>
          </a:prstGeom>
          <a:solidFill>
            <a:schemeClr val="accent1"/>
          </a:solidFill>
          <a:ln/>
        </p:spPr>
      </p:sp>
      <p:sp>
        <p:nvSpPr>
          <p:cNvPr id="16" name="Loop number"/>
          <p:cNvSpPr txBox="1"/>
          <p:nvPr/>
        </p:nvSpPr>
        <p:spPr>
          <a:xfrm>
            <a:off x="777240" y="475488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17" name="Loop step"/>
          <p:cNvSpPr txBox="1"/>
          <p:nvPr/>
        </p:nvSpPr>
        <p:spPr>
          <a:xfrm>
            <a:off x="1325880" y="4700016"/>
            <a:ext cx="3017520" cy="493776"/>
          </a:xfrm>
          <a:prstGeom prst="rect">
            <a:avLst/>
          </a:prstGeom>
          <a:noFill/>
          <a:ln/>
        </p:spPr>
        <p:txBody>
          <a:bodyPr wrap="square" lIns="0" tIns="0" rIns="0" bIns="0" rtlCol="0" anchor="ctr"/>
          <a:lstStyle/>
          <a:p>
            <a:pPr indent="0" marL="0">
              <a:buNone/>
            </a:pPr>
            <a:r>
              <a:rPr lang="en-US" sz="1350" dirty="0">
                <a:solidFill>
                  <a:schemeClr val="tx1"/>
                </a:solidFill>
              </a:rPr>
              <a:t>Otherwise wait, then ask again</a:t>
            </a:r>
            <a:endParaRPr lang="en-US" sz="1350" dirty="0"/>
          </a:p>
        </p:txBody>
      </p:sp>
      <p:sp>
        <p:nvSpPr>
          <p:cNvPr id="18" name="Polling loop"/>
          <p:cNvSpPr/>
          <p:nvPr/>
        </p:nvSpPr>
        <p:spPr>
          <a:xfrm>
            <a:off x="4754880" y="1783080"/>
            <a:ext cx="6885432" cy="2926080"/>
          </a:xfrm>
          <a:prstGeom prst="roundRect">
            <a:avLst>
              <a:gd name="adj" fmla="val 3125"/>
            </a:avLst>
          </a:prstGeom>
          <a:solidFill>
            <a:schemeClr val="tx1"/>
          </a:solidFill>
          <a:ln/>
        </p:spPr>
      </p:sp>
      <p:sp>
        <p:nvSpPr>
          <p:cNvPr id="19" name="Code label"/>
          <p:cNvSpPr txBox="1"/>
          <p:nvPr/>
        </p:nvSpPr>
        <p:spPr>
          <a:xfrm>
            <a:off x="4956048" y="1874520"/>
            <a:ext cx="648309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PYTHON · THE SAME LOOP</a:t>
            </a:r>
            <a:endParaRPr lang="en-US" sz="1000" dirty="0"/>
          </a:p>
        </p:txBody>
      </p:sp>
      <p:sp>
        <p:nvSpPr>
          <p:cNvPr id="20" name="Polling loop text"/>
          <p:cNvSpPr txBox="1"/>
          <p:nvPr/>
        </p:nvSpPr>
        <p:spPr>
          <a:xfrm>
            <a:off x="4956048" y="2167128"/>
            <a:ext cx="6483096" cy="2432304"/>
          </a:xfrm>
          <a:prstGeom prst="rect">
            <a:avLst/>
          </a:prstGeom>
          <a:noFill/>
          <a:ln/>
        </p:spPr>
        <p:txBody>
          <a:bodyPr wrap="square" lIns="0" tIns="0" rIns="0" bIns="0" rtlCol="0" anchor="t"/>
          <a:lstStyle/>
          <a:p>
            <a:pPr indent="0" marL="0">
              <a:buNone/>
            </a:pPr>
            <a:r>
              <a:rPr lang="en-US" sz="1150" dirty="0">
                <a:solidFill>
                  <a:schemeClr val="accent2"/>
                </a:solidFill>
                <a:latin typeface="Courier New" pitchFamily="34" charset="0"/>
                <a:ea typeface="Courier New" pitchFamily="34" charset="-122"/>
                <a:cs typeface="Courier New" pitchFamily="34" charset="-120"/>
              </a:rPr>
              <a:t>import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time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accent2"/>
                </a:solidFill>
                <a:latin typeface="Courier New" pitchFamily="34" charset="0"/>
                <a:ea typeface="Courier New" pitchFamily="34" charset="-122"/>
                <a:cs typeface="Courier New" pitchFamily="34" charset="-120"/>
              </a:rPr>
              <a:t>def</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wait_for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get_status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max_attempts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6"/>
                </a:solidFill>
                <a:latin typeface="Courier New" pitchFamily="34" charset="0"/>
                <a:ea typeface="Courier New" pitchFamily="34" charset="-122"/>
                <a:cs typeface="Courier New" pitchFamily="34" charset="-120"/>
              </a:rPr>
              <a:t>30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poll_interval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6"/>
                </a:solidFill>
                <a:latin typeface="Courier New" pitchFamily="34" charset="0"/>
                <a:ea typeface="Courier New" pitchFamily="34" charset="-122"/>
                <a:cs typeface="Courier New" pitchFamily="34" charset="-120"/>
              </a:rPr>
              <a:t>10</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"""Poll until the job is complete, failed, or we give up."""</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for</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attempt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in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range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6"/>
                </a:solidFill>
                <a:latin typeface="Courier New" pitchFamily="34" charset="0"/>
                <a:ea typeface="Courier New" pitchFamily="34" charset="-122"/>
                <a:cs typeface="Courier New" pitchFamily="34" charset="-120"/>
              </a:rPr>
              <a:t>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max_attempts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status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get_status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lower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if</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status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"complete"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return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"status"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"complete"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"attempts"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attempt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if</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status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in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"failed"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"error"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return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"status"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"failed"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"attempts"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attempt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if</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attempt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max_attempts</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time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sleep</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poll_interval</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return</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"status"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"timeout"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"attempts"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max_attempts</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graphicFrame>
        <p:nvGraphicFramePr>
          <p:cNvPr id="22" name="Polling tests"/>
          <p:cNvGraphicFramePr>
            <a:graphicFrameLocks noGrp="1"/>
          </p:cNvGraphicFramePr>
          <p:nvPr>
            <p:extLst>
              <p:ext uri="{D42A27DB-BD31-4B8C-83A1-F6EECF244321}">
                <p14:modId xmlns:p14="http://schemas.microsoft.com/office/powerpoint/2010/main" val="1579011935"/>
              </p:ext>
            </p:extLst>
          </p:nvPr>
        </p:nvGraphicFramePr>
        <p:xfrm>
          <a:off x="4754880" y="4846320"/>
          <a:ext cx="6885432" cy="914400"/>
        </p:xfrm>
        <a:graphic>
          <a:graphicData uri="http://schemas.openxmlformats.org/drawingml/2006/table">
            <a:tbl>
              <a:tblPr/>
              <a:tblGrid>
                <a:gridCol w="3566160"/>
                <a:gridCol w="2103120"/>
                <a:gridCol w="1216152"/>
              </a:tblGrid>
              <a:tr h="310896">
                <a:tc>
                  <a:txBody>
                    <a:bodyPr/>
                    <a:lstStyle/>
                    <a:p>
                      <a:pPr indent="0" marL="0">
                        <a:buNone/>
                      </a:pPr>
                      <a:r>
                        <a:rPr lang="en-US" sz="1200" b="1" dirty="0">
                          <a:solidFill>
                            <a:schemeClr val="bg1"/>
                          </a:solidFill>
                        </a:rPr>
                        <a:t>Simulated statuses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Result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Attempts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292608">
                <a:tc>
                  <a:txBody>
                    <a:bodyPr/>
                    <a:lstStyle/>
                    <a:p>
                      <a:pPr indent="0" marL="0">
                        <a:buNone/>
                      </a:pPr>
                      <a:r>
                        <a:rPr lang="en-US" sz="1200" dirty="0">
                          <a:solidFill>
                            <a:schemeClr val="tx1"/>
                          </a:solidFill>
                        </a:rPr>
                        <a:t>running, running, complete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complete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3</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92608">
                <a:tc>
                  <a:txBody>
                    <a:bodyPr/>
                    <a:lstStyle/>
                    <a:p>
                      <a:pPr indent="0" marL="0">
                        <a:buNone/>
                      </a:pPr>
                      <a:r>
                        <a:rPr lang="en-US" sz="1200" dirty="0">
                          <a:solidFill>
                            <a:schemeClr val="tx1"/>
                          </a:solidFill>
                        </a:rPr>
                        <a:t>running, FAILED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failed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2</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292608">
                <a:tc>
                  <a:txBody>
                    <a:bodyPr/>
                    <a:lstStyle/>
                    <a:p>
                      <a:pPr indent="0" marL="0">
                        <a:buNone/>
                      </a:pPr>
                      <a:r>
                        <a:rPr lang="en-US" sz="1200" dirty="0">
                          <a:solidFill>
                            <a:schemeClr val="tx1"/>
                          </a:solidFill>
                        </a:rPr>
                        <a:t>running, forever (max 3)</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timeout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3</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2"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Condensed from IterativeMacro_6 in the macros notebook. Tested here with simulated statuses.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ALTERYX TO NOTEBOOKS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Calling an API from a notebook: token, headers, pages</a:t>
            </a:r>
            <a:endParaRPr lang="en-US" sz="3200" dirty="0"/>
          </a:p>
        </p:txBody>
      </p:sp>
      <p:sp>
        <p:nvSpPr>
          <p:cNvPr id="5" name="Pagination loop"/>
          <p:cNvSpPr/>
          <p:nvPr/>
        </p:nvSpPr>
        <p:spPr>
          <a:xfrm>
            <a:off x="548640" y="1783080"/>
            <a:ext cx="6400800" cy="3063240"/>
          </a:xfrm>
          <a:prstGeom prst="roundRect">
            <a:avLst>
              <a:gd name="adj" fmla="val 2985"/>
            </a:avLst>
          </a:prstGeom>
          <a:solidFill>
            <a:schemeClr val="tx1"/>
          </a:solidFill>
          <a:ln/>
        </p:spPr>
      </p:sp>
      <p:sp>
        <p:nvSpPr>
          <p:cNvPr id="6" name="Code label"/>
          <p:cNvSpPr txBox="1"/>
          <p:nvPr/>
        </p:nvSpPr>
        <p:spPr>
          <a:xfrm>
            <a:off x="749808" y="1874520"/>
            <a:ext cx="59984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PYTHON · READ EVERY PAGE</a:t>
            </a:r>
            <a:endParaRPr lang="en-US" sz="1000" dirty="0"/>
          </a:p>
        </p:txBody>
      </p:sp>
      <p:sp>
        <p:nvSpPr>
          <p:cNvPr id="7" name="Pagination loop text"/>
          <p:cNvSpPr txBox="1"/>
          <p:nvPr/>
        </p:nvSpPr>
        <p:spPr>
          <a:xfrm>
            <a:off x="749808" y="2167128"/>
            <a:ext cx="5998464" cy="2569464"/>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def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read_all</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get_page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page_size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6"/>
                </a:solidFill>
                <a:latin typeface="Courier New" pitchFamily="34" charset="0"/>
                <a:ea typeface="Courier New" pitchFamily="34" charset="-122"/>
                <a:cs typeface="Courier New" pitchFamily="34" charset="-120"/>
              </a:rPr>
              <a:t>500</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"""Paginated read: keep asking until we have every record."""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records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offset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6"/>
                </a:solidFill>
                <a:latin typeface="Courier New" pitchFamily="34" charset="0"/>
                <a:ea typeface="Courier New" pitchFamily="34" charset="-122"/>
                <a:cs typeface="Courier New" pitchFamily="34" charset="-120"/>
              </a:rPr>
              <a:t>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while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True</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page</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get_page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offset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page_size</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batch</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page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get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"value"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records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extend</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batch</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offset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len</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batch</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if</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offset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&gt;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page</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get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accent3"/>
                </a:solidFill>
                <a:latin typeface="Courier New" pitchFamily="34" charset="0"/>
                <a:ea typeface="Courier New" pitchFamily="34" charset="-122"/>
                <a:cs typeface="Courier New" pitchFamily="34" charset="-120"/>
              </a:rPr>
              <a:t>"total_count"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6"/>
                </a:solidFill>
                <a:latin typeface="Courier New" pitchFamily="34" charset="0"/>
                <a:ea typeface="Courier New" pitchFamily="34" charset="-122"/>
                <a:cs typeface="Courier New" pitchFamily="34" charset="-120"/>
              </a:rPr>
              <a:t>0</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or</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not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batch</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return</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records</a:t>
            </a:r>
            <a:endParaRPr lang="en-US" sz="1200" dirty="0"/>
          </a:p>
        </p:txBody>
      </p:sp>
      <p:sp>
        <p:nvSpPr>
          <p:cNvPr id="8" name="Driver caution"/>
          <p:cNvSpPr/>
          <p:nvPr/>
        </p:nvSpPr>
        <p:spPr>
          <a:xfrm>
            <a:off x="548640" y="4983480"/>
            <a:ext cx="6400800" cy="566928"/>
          </a:xfrm>
          <a:prstGeom prst="roundRect">
            <a:avLst>
              <a:gd name="adj" fmla="val 19355"/>
            </a:avLst>
          </a:prstGeom>
          <a:solidFill>
            <a:schemeClr val="accent3">
              <a:alpha val="22000"/>
            </a:schemeClr>
          </a:solidFill>
          <a:ln/>
        </p:spPr>
      </p:sp>
      <p:sp>
        <p:nvSpPr>
          <p:cNvPr id="9" name="Driver caution text"/>
          <p:cNvSpPr txBox="1"/>
          <p:nvPr/>
        </p:nvSpPr>
        <p:spPr>
          <a:xfrm>
            <a:off x="731520" y="4983480"/>
            <a:ext cx="6035040" cy="566928"/>
          </a:xfrm>
          <a:prstGeom prst="rect">
            <a:avLst/>
          </a:prstGeom>
          <a:noFill/>
          <a:ln/>
        </p:spPr>
        <p:txBody>
          <a:bodyPr wrap="square" lIns="0" tIns="0" rIns="0" bIns="0" rtlCol="0" anchor="ctr"/>
          <a:lstStyle/>
          <a:p>
            <a:pPr indent="0" marL="0">
              <a:buNone/>
            </a:pPr>
            <a:r>
              <a:rPr lang="en-US" sz="1300" b="1" dirty="0">
                <a:solidFill>
                  <a:schemeClr val="tx1"/>
                </a:solidFill>
              </a:rPr>
              <a:t>Runs on the driver, one call at a time. </a:t>
            </a:r>
            <a:pPr indent="0" marL="0">
              <a:buNone/>
            </a:pPr>
            <a:r>
              <a:rPr lang="en-US" sz="1300" dirty="0">
                <a:solidFill>
                  <a:schemeClr val="tx1"/>
                </a:solidFill>
              </a:rPr>
              <a:t>Fine for thousands of records, not millions.</a:t>
            </a:r>
            <a:endParaRPr lang="en-US" sz="1300" dirty="0"/>
          </a:p>
        </p:txBody>
      </p:sp>
      <p:sp>
        <p:nvSpPr>
          <p:cNvPr id="10" name="API step 1"/>
          <p:cNvSpPr/>
          <p:nvPr/>
        </p:nvSpPr>
        <p:spPr>
          <a:xfrm>
            <a:off x="7223760" y="1783080"/>
            <a:ext cx="4416552" cy="667512"/>
          </a:xfrm>
          <a:prstGeom prst="roundRect">
            <a:avLst>
              <a:gd name="adj" fmla="val 16438"/>
            </a:avLst>
          </a:prstGeom>
          <a:solidFill>
            <a:schemeClr val="bg2"/>
          </a:solidFill>
          <a:ln/>
        </p:spPr>
      </p:sp>
      <p:sp>
        <p:nvSpPr>
          <p:cNvPr id="11" name="API chip 1"/>
          <p:cNvSpPr/>
          <p:nvPr/>
        </p:nvSpPr>
        <p:spPr>
          <a:xfrm>
            <a:off x="7360920" y="1911096"/>
            <a:ext cx="411480" cy="411480"/>
          </a:xfrm>
          <a:prstGeom prst="roundRect">
            <a:avLst>
              <a:gd name="adj" fmla="val 15556"/>
            </a:avLst>
          </a:prstGeom>
          <a:solidFill>
            <a:schemeClr val="accent1"/>
          </a:solidFill>
          <a:ln/>
        </p:spPr>
      </p:sp>
      <p:sp>
        <p:nvSpPr>
          <p:cNvPr id="12" name="API number"/>
          <p:cNvSpPr txBox="1"/>
          <p:nvPr/>
        </p:nvSpPr>
        <p:spPr>
          <a:xfrm>
            <a:off x="7360920" y="191109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13" name="API title"/>
          <p:cNvSpPr txBox="1"/>
          <p:nvPr/>
        </p:nvSpPr>
        <p:spPr>
          <a:xfrm>
            <a:off x="7909560" y="1837944"/>
            <a:ext cx="3611880" cy="274320"/>
          </a:xfrm>
          <a:prstGeom prst="rect">
            <a:avLst/>
          </a:prstGeom>
          <a:noFill/>
          <a:ln/>
        </p:spPr>
        <p:txBody>
          <a:bodyPr wrap="square" lIns="0" tIns="0" rIns="0" bIns="0" rtlCol="0" anchor="t"/>
          <a:lstStyle/>
          <a:p>
            <a:pPr indent="0" marL="0">
              <a:buNone/>
            </a:pPr>
            <a:r>
              <a:rPr lang="en-US" sz="1400" b="1" dirty="0">
                <a:solidFill>
                  <a:schemeClr val="tx1"/>
                </a:solidFill>
              </a:rPr>
              <a:t>Get a token</a:t>
            </a:r>
            <a:endParaRPr lang="en-US" sz="1400" dirty="0"/>
          </a:p>
        </p:txBody>
      </p:sp>
      <p:sp>
        <p:nvSpPr>
          <p:cNvPr id="14" name="API text"/>
          <p:cNvSpPr txBox="1"/>
          <p:nvPr/>
        </p:nvSpPr>
        <p:spPr>
          <a:xfrm>
            <a:off x="7909560" y="2121408"/>
            <a:ext cx="3611880" cy="274320"/>
          </a:xfrm>
          <a:prstGeom prst="rect">
            <a:avLst/>
          </a:prstGeom>
          <a:noFill/>
          <a:ln/>
        </p:spPr>
        <p:txBody>
          <a:bodyPr wrap="square" lIns="0" tIns="0" rIns="0" bIns="0" rtlCol="0" anchor="t"/>
          <a:lstStyle/>
          <a:p>
            <a:pPr indent="0" marL="0">
              <a:buNone/>
            </a:pPr>
            <a:r>
              <a:rPr lang="en-US" sz="1200" dirty="0">
                <a:solidFill>
                  <a:schemeClr val="tx1"/>
                </a:solidFill>
              </a:rPr>
              <a:t>OAuth2 client credentials, from a vault</a:t>
            </a:r>
            <a:endParaRPr lang="en-US" sz="1200" dirty="0"/>
          </a:p>
        </p:txBody>
      </p:sp>
      <p:sp>
        <p:nvSpPr>
          <p:cNvPr id="15" name="API step 2"/>
          <p:cNvSpPr/>
          <p:nvPr/>
        </p:nvSpPr>
        <p:spPr>
          <a:xfrm>
            <a:off x="7223760" y="2542032"/>
            <a:ext cx="4416552" cy="667512"/>
          </a:xfrm>
          <a:prstGeom prst="roundRect">
            <a:avLst>
              <a:gd name="adj" fmla="val 16438"/>
            </a:avLst>
          </a:prstGeom>
          <a:solidFill>
            <a:schemeClr val="bg2"/>
          </a:solidFill>
          <a:ln/>
        </p:spPr>
      </p:sp>
      <p:sp>
        <p:nvSpPr>
          <p:cNvPr id="16" name="API chip 2"/>
          <p:cNvSpPr/>
          <p:nvPr/>
        </p:nvSpPr>
        <p:spPr>
          <a:xfrm>
            <a:off x="7360920" y="2670048"/>
            <a:ext cx="411480" cy="411480"/>
          </a:xfrm>
          <a:prstGeom prst="roundRect">
            <a:avLst>
              <a:gd name="adj" fmla="val 15556"/>
            </a:avLst>
          </a:prstGeom>
          <a:solidFill>
            <a:schemeClr val="accent1"/>
          </a:solidFill>
          <a:ln/>
        </p:spPr>
      </p:sp>
      <p:sp>
        <p:nvSpPr>
          <p:cNvPr id="17" name="API number"/>
          <p:cNvSpPr txBox="1"/>
          <p:nvPr/>
        </p:nvSpPr>
        <p:spPr>
          <a:xfrm>
            <a:off x="7360920" y="267004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8" name="API title"/>
          <p:cNvSpPr txBox="1"/>
          <p:nvPr/>
        </p:nvSpPr>
        <p:spPr>
          <a:xfrm>
            <a:off x="7909560" y="2596896"/>
            <a:ext cx="3611880" cy="274320"/>
          </a:xfrm>
          <a:prstGeom prst="rect">
            <a:avLst/>
          </a:prstGeom>
          <a:noFill/>
          <a:ln/>
        </p:spPr>
        <p:txBody>
          <a:bodyPr wrap="square" lIns="0" tIns="0" rIns="0" bIns="0" rtlCol="0" anchor="t"/>
          <a:lstStyle/>
          <a:p>
            <a:pPr indent="0" marL="0">
              <a:buNone/>
            </a:pPr>
            <a:r>
              <a:rPr lang="en-US" sz="1400" b="1" dirty="0">
                <a:solidFill>
                  <a:schemeClr val="tx1"/>
                </a:solidFill>
              </a:rPr>
              <a:t>Call with the token</a:t>
            </a:r>
            <a:endParaRPr lang="en-US" sz="1400" dirty="0"/>
          </a:p>
        </p:txBody>
      </p:sp>
      <p:sp>
        <p:nvSpPr>
          <p:cNvPr id="19" name="API text"/>
          <p:cNvSpPr txBox="1"/>
          <p:nvPr/>
        </p:nvSpPr>
        <p:spPr>
          <a:xfrm>
            <a:off x="7909560" y="2880360"/>
            <a:ext cx="3611880" cy="274320"/>
          </a:xfrm>
          <a:prstGeom prst="rect">
            <a:avLst/>
          </a:prstGeom>
          <a:noFill/>
          <a:ln/>
        </p:spPr>
        <p:txBody>
          <a:bodyPr wrap="square" lIns="0" tIns="0" rIns="0" bIns="0" rtlCol="0" anchor="t"/>
          <a:lstStyle/>
          <a:p>
            <a:pPr indent="0" marL="0">
              <a:buNone/>
            </a:pPr>
            <a:r>
              <a:rPr lang="en-US" sz="1200" dirty="0">
                <a:solidFill>
                  <a:schemeClr val="tx1"/>
                </a:solidFill>
              </a:rPr>
              <a:t>Authorization header on every request</a:t>
            </a:r>
            <a:endParaRPr lang="en-US" sz="1200" dirty="0"/>
          </a:p>
        </p:txBody>
      </p:sp>
      <p:sp>
        <p:nvSpPr>
          <p:cNvPr id="20" name="API step 3"/>
          <p:cNvSpPr/>
          <p:nvPr/>
        </p:nvSpPr>
        <p:spPr>
          <a:xfrm>
            <a:off x="7223760" y="3300984"/>
            <a:ext cx="4416552" cy="667512"/>
          </a:xfrm>
          <a:prstGeom prst="roundRect">
            <a:avLst>
              <a:gd name="adj" fmla="val 16438"/>
            </a:avLst>
          </a:prstGeom>
          <a:solidFill>
            <a:schemeClr val="bg2"/>
          </a:solidFill>
          <a:ln/>
        </p:spPr>
      </p:sp>
      <p:sp>
        <p:nvSpPr>
          <p:cNvPr id="21" name="API chip 3"/>
          <p:cNvSpPr/>
          <p:nvPr/>
        </p:nvSpPr>
        <p:spPr>
          <a:xfrm>
            <a:off x="7360920" y="3429000"/>
            <a:ext cx="411480" cy="411480"/>
          </a:xfrm>
          <a:prstGeom prst="roundRect">
            <a:avLst>
              <a:gd name="adj" fmla="val 15556"/>
            </a:avLst>
          </a:prstGeom>
          <a:solidFill>
            <a:schemeClr val="accent1"/>
          </a:solidFill>
          <a:ln/>
        </p:spPr>
      </p:sp>
      <p:sp>
        <p:nvSpPr>
          <p:cNvPr id="22" name="API number"/>
          <p:cNvSpPr txBox="1"/>
          <p:nvPr/>
        </p:nvSpPr>
        <p:spPr>
          <a:xfrm>
            <a:off x="7360920" y="34290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23" name="API title"/>
          <p:cNvSpPr txBox="1"/>
          <p:nvPr/>
        </p:nvSpPr>
        <p:spPr>
          <a:xfrm>
            <a:off x="7909560" y="3355848"/>
            <a:ext cx="3611880" cy="274320"/>
          </a:xfrm>
          <a:prstGeom prst="rect">
            <a:avLst/>
          </a:prstGeom>
          <a:noFill/>
          <a:ln/>
        </p:spPr>
        <p:txBody>
          <a:bodyPr wrap="square" lIns="0" tIns="0" rIns="0" bIns="0" rtlCol="0" anchor="t"/>
          <a:lstStyle/>
          <a:p>
            <a:pPr indent="0" marL="0">
              <a:buNone/>
            </a:pPr>
            <a:r>
              <a:rPr lang="en-US" sz="1400" b="1" dirty="0">
                <a:solidFill>
                  <a:schemeClr val="tx1"/>
                </a:solidFill>
              </a:rPr>
              <a:t>Check the status</a:t>
            </a:r>
            <a:endParaRPr lang="en-US" sz="1400" dirty="0"/>
          </a:p>
        </p:txBody>
      </p:sp>
      <p:sp>
        <p:nvSpPr>
          <p:cNvPr id="24" name="API text"/>
          <p:cNvSpPr txBox="1"/>
          <p:nvPr/>
        </p:nvSpPr>
        <p:spPr>
          <a:xfrm>
            <a:off x="7909560" y="3639312"/>
            <a:ext cx="3611880" cy="274320"/>
          </a:xfrm>
          <a:prstGeom prst="rect">
            <a:avLst/>
          </a:prstGeom>
          <a:noFill/>
          <a:ln/>
        </p:spPr>
        <p:txBody>
          <a:bodyPr wrap="square" lIns="0" tIns="0" rIns="0" bIns="0" rtlCol="0" anchor="t"/>
          <a:lstStyle/>
          <a:p>
            <a:pPr indent="0" marL="0">
              <a:buNone/>
            </a:pPr>
            <a:r>
              <a:rPr lang="en-US" sz="1200" dirty="0">
                <a:solidFill>
                  <a:schemeClr val="tx1"/>
                </a:solidFill>
              </a:rPr>
              <a:t>Raise on any error so the run stops</a:t>
            </a:r>
            <a:endParaRPr lang="en-US" sz="1200" dirty="0"/>
          </a:p>
        </p:txBody>
      </p:sp>
      <p:sp>
        <p:nvSpPr>
          <p:cNvPr id="25" name="API step 4"/>
          <p:cNvSpPr/>
          <p:nvPr/>
        </p:nvSpPr>
        <p:spPr>
          <a:xfrm>
            <a:off x="7223760" y="4059936"/>
            <a:ext cx="4416552" cy="667512"/>
          </a:xfrm>
          <a:prstGeom prst="roundRect">
            <a:avLst>
              <a:gd name="adj" fmla="val 16438"/>
            </a:avLst>
          </a:prstGeom>
          <a:solidFill>
            <a:schemeClr val="bg2"/>
          </a:solidFill>
          <a:ln/>
        </p:spPr>
      </p:sp>
      <p:sp>
        <p:nvSpPr>
          <p:cNvPr id="26" name="API chip 4"/>
          <p:cNvSpPr/>
          <p:nvPr/>
        </p:nvSpPr>
        <p:spPr>
          <a:xfrm>
            <a:off x="7360920" y="4187952"/>
            <a:ext cx="411480" cy="411480"/>
          </a:xfrm>
          <a:prstGeom prst="roundRect">
            <a:avLst>
              <a:gd name="adj" fmla="val 15556"/>
            </a:avLst>
          </a:prstGeom>
          <a:solidFill>
            <a:schemeClr val="accent1"/>
          </a:solidFill>
          <a:ln/>
        </p:spPr>
      </p:sp>
      <p:sp>
        <p:nvSpPr>
          <p:cNvPr id="27" name="API number"/>
          <p:cNvSpPr txBox="1"/>
          <p:nvPr/>
        </p:nvSpPr>
        <p:spPr>
          <a:xfrm>
            <a:off x="7360920" y="418795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8" name="API title"/>
          <p:cNvSpPr txBox="1"/>
          <p:nvPr/>
        </p:nvSpPr>
        <p:spPr>
          <a:xfrm>
            <a:off x="7909560" y="4114800"/>
            <a:ext cx="3611880" cy="274320"/>
          </a:xfrm>
          <a:prstGeom prst="rect">
            <a:avLst/>
          </a:prstGeom>
          <a:noFill/>
          <a:ln/>
        </p:spPr>
        <p:txBody>
          <a:bodyPr wrap="square" lIns="0" tIns="0" rIns="0" bIns="0" rtlCol="0" anchor="t"/>
          <a:lstStyle/>
          <a:p>
            <a:pPr indent="0" marL="0">
              <a:buNone/>
            </a:pPr>
            <a:r>
              <a:rPr lang="en-US" sz="1400" b="1" dirty="0">
                <a:solidFill>
                  <a:schemeClr val="tx1"/>
                </a:solidFill>
              </a:rPr>
              <a:t>Page through results</a:t>
            </a:r>
            <a:endParaRPr lang="en-US" sz="1400" dirty="0"/>
          </a:p>
        </p:txBody>
      </p:sp>
      <p:sp>
        <p:nvSpPr>
          <p:cNvPr id="29" name="API text"/>
          <p:cNvSpPr txBox="1"/>
          <p:nvPr/>
        </p:nvSpPr>
        <p:spPr>
          <a:xfrm>
            <a:off x="7909560" y="4398264"/>
            <a:ext cx="3611880" cy="274320"/>
          </a:xfrm>
          <a:prstGeom prst="rect">
            <a:avLst/>
          </a:prstGeom>
          <a:noFill/>
          <a:ln/>
        </p:spPr>
        <p:txBody>
          <a:bodyPr wrap="square" lIns="0" tIns="0" rIns="0" bIns="0" rtlCol="0" anchor="t"/>
          <a:lstStyle/>
          <a:p>
            <a:pPr indent="0" marL="0">
              <a:buNone/>
            </a:pPr>
            <a:r>
              <a:rPr lang="en-US" sz="1200" dirty="0">
                <a:solidFill>
                  <a:schemeClr val="tx1"/>
                </a:solidFill>
              </a:rPr>
              <a:t>Keep asking until you have the total</a:t>
            </a:r>
            <a:endParaRPr lang="en-US" sz="1200" dirty="0"/>
          </a:p>
        </p:txBody>
      </p:sp>
      <p:sp>
        <p:nvSpPr>
          <p:cNvPr id="30" name="API step 5"/>
          <p:cNvSpPr/>
          <p:nvPr/>
        </p:nvSpPr>
        <p:spPr>
          <a:xfrm>
            <a:off x="7223760" y="4818888"/>
            <a:ext cx="4416552" cy="667512"/>
          </a:xfrm>
          <a:prstGeom prst="roundRect">
            <a:avLst>
              <a:gd name="adj" fmla="val 16438"/>
            </a:avLst>
          </a:prstGeom>
          <a:solidFill>
            <a:schemeClr val="bg2"/>
          </a:solidFill>
          <a:ln/>
        </p:spPr>
      </p:sp>
      <p:sp>
        <p:nvSpPr>
          <p:cNvPr id="31" name="API chip 5"/>
          <p:cNvSpPr/>
          <p:nvPr/>
        </p:nvSpPr>
        <p:spPr>
          <a:xfrm>
            <a:off x="7360920" y="4946904"/>
            <a:ext cx="411480" cy="411480"/>
          </a:xfrm>
          <a:prstGeom prst="roundRect">
            <a:avLst>
              <a:gd name="adj" fmla="val 15556"/>
            </a:avLst>
          </a:prstGeom>
          <a:solidFill>
            <a:schemeClr val="accent1"/>
          </a:solidFill>
          <a:ln/>
        </p:spPr>
      </p:sp>
      <p:sp>
        <p:nvSpPr>
          <p:cNvPr id="32" name="API number"/>
          <p:cNvSpPr txBox="1"/>
          <p:nvPr/>
        </p:nvSpPr>
        <p:spPr>
          <a:xfrm>
            <a:off x="7360920" y="4946904"/>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33" name="API title"/>
          <p:cNvSpPr txBox="1"/>
          <p:nvPr/>
        </p:nvSpPr>
        <p:spPr>
          <a:xfrm>
            <a:off x="7909560" y="4873752"/>
            <a:ext cx="3611880" cy="274320"/>
          </a:xfrm>
          <a:prstGeom prst="rect">
            <a:avLst/>
          </a:prstGeom>
          <a:noFill/>
          <a:ln/>
        </p:spPr>
        <p:txBody>
          <a:bodyPr wrap="square" lIns="0" tIns="0" rIns="0" bIns="0" rtlCol="0" anchor="t"/>
          <a:lstStyle/>
          <a:p>
            <a:pPr indent="0" marL="0">
              <a:buNone/>
            </a:pPr>
            <a:r>
              <a:rPr lang="en-US" sz="1400" b="1" dirty="0">
                <a:solidFill>
                  <a:schemeClr val="tx1"/>
                </a:solidFill>
              </a:rPr>
              <a:t>Build a DataFrame</a:t>
            </a:r>
            <a:endParaRPr lang="en-US" sz="1400" dirty="0"/>
          </a:p>
        </p:txBody>
      </p:sp>
      <p:sp>
        <p:nvSpPr>
          <p:cNvPr id="34" name="API text"/>
          <p:cNvSpPr txBox="1"/>
          <p:nvPr/>
        </p:nvSpPr>
        <p:spPr>
          <a:xfrm>
            <a:off x="7909560" y="5157216"/>
            <a:ext cx="3611880" cy="274320"/>
          </a:xfrm>
          <a:prstGeom prst="rect">
            <a:avLst/>
          </a:prstGeom>
          <a:noFill/>
          <a:ln/>
        </p:spPr>
        <p:txBody>
          <a:bodyPr wrap="square" lIns="0" tIns="0" rIns="0" bIns="0" rtlCol="0" anchor="t"/>
          <a:lstStyle/>
          <a:p>
            <a:pPr indent="0" marL="0">
              <a:buNone/>
            </a:pPr>
            <a:r>
              <a:rPr lang="en-US" sz="1200" dirty="0">
                <a:solidFill>
                  <a:schemeClr val="tx1"/>
                </a:solidFill>
              </a:rPr>
              <a:t>Plain records become a table to transform</a:t>
            </a:r>
            <a:endParaRPr lang="en-US" sz="1200" dirty="0"/>
          </a:p>
        </p:txBody>
      </p:sp>
      <p:sp>
        <p:nvSpPr>
          <p:cNvPr id="35" name="Footnote"/>
          <p:cNvSpPr txBox="1"/>
          <p:nvPr/>
        </p:nvSpPr>
        <p:spPr>
          <a:xfrm>
            <a:off x="548640" y="57150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Condensed from the Data Hub - Get Collection Data macro. Tested with simulated pages: 1,203 records in pages of 500.</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ALTERYX TO NOTEBOOKS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Data Hub push in 13 steps: keep, move or retire?</a:t>
            </a:r>
            <a:endParaRPr lang="en-US" sz="3200" dirty="0"/>
          </a:p>
        </p:txBody>
      </p:sp>
      <p:sp>
        <p:nvSpPr>
          <p:cNvPr id="5" name="Step 1"/>
          <p:cNvSpPr/>
          <p:nvPr/>
        </p:nvSpPr>
        <p:spPr>
          <a:xfrm>
            <a:off x="548640" y="1783080"/>
            <a:ext cx="2121408" cy="658368"/>
          </a:xfrm>
          <a:prstGeom prst="roundRect">
            <a:avLst>
              <a:gd name="adj" fmla="val 13889"/>
            </a:avLst>
          </a:prstGeom>
          <a:solidFill>
            <a:schemeClr val="bg2"/>
          </a:solidFill>
          <a:ln/>
        </p:spPr>
      </p:sp>
      <p:sp>
        <p:nvSpPr>
          <p:cNvPr id="6" name="Step number"/>
          <p:cNvSpPr txBox="1"/>
          <p:nvPr/>
        </p:nvSpPr>
        <p:spPr>
          <a:xfrm>
            <a:off x="658368" y="178308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1</a:t>
            </a:r>
            <a:endParaRPr lang="en-US" sz="1600" dirty="0"/>
          </a:p>
        </p:txBody>
      </p:sp>
      <p:sp>
        <p:nvSpPr>
          <p:cNvPr id="7" name="Step name"/>
          <p:cNvSpPr txBox="1"/>
          <p:nvPr/>
        </p:nvSpPr>
        <p:spPr>
          <a:xfrm>
            <a:off x="1051560" y="178308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OAuth2 token</a:t>
            </a:r>
            <a:endParaRPr lang="en-US" sz="1250" dirty="0"/>
          </a:p>
        </p:txBody>
      </p:sp>
      <p:sp>
        <p:nvSpPr>
          <p:cNvPr id="8" name="Step 2"/>
          <p:cNvSpPr/>
          <p:nvPr/>
        </p:nvSpPr>
        <p:spPr>
          <a:xfrm>
            <a:off x="2788920" y="1783080"/>
            <a:ext cx="2121408" cy="658368"/>
          </a:xfrm>
          <a:prstGeom prst="roundRect">
            <a:avLst>
              <a:gd name="adj" fmla="val 13889"/>
            </a:avLst>
          </a:prstGeom>
          <a:solidFill>
            <a:schemeClr val="bg2"/>
          </a:solidFill>
          <a:ln/>
        </p:spPr>
      </p:sp>
      <p:sp>
        <p:nvSpPr>
          <p:cNvPr id="9" name="Step number"/>
          <p:cNvSpPr txBox="1"/>
          <p:nvPr/>
        </p:nvSpPr>
        <p:spPr>
          <a:xfrm>
            <a:off x="2898648" y="178308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2</a:t>
            </a:r>
            <a:endParaRPr lang="en-US" sz="1600" dirty="0"/>
          </a:p>
        </p:txBody>
      </p:sp>
      <p:sp>
        <p:nvSpPr>
          <p:cNvPr id="10" name="Step name"/>
          <p:cNvSpPr txBox="1"/>
          <p:nvPr/>
        </p:nvSpPr>
        <p:spPr>
          <a:xfrm>
            <a:off x="3291840" y="178308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Create ingest file</a:t>
            </a:r>
            <a:endParaRPr lang="en-US" sz="1250" dirty="0"/>
          </a:p>
        </p:txBody>
      </p:sp>
      <p:sp>
        <p:nvSpPr>
          <p:cNvPr id="11" name="Step 3"/>
          <p:cNvSpPr/>
          <p:nvPr/>
        </p:nvSpPr>
        <p:spPr>
          <a:xfrm>
            <a:off x="5029200" y="1783080"/>
            <a:ext cx="2121408" cy="658368"/>
          </a:xfrm>
          <a:prstGeom prst="roundRect">
            <a:avLst>
              <a:gd name="adj" fmla="val 13889"/>
            </a:avLst>
          </a:prstGeom>
          <a:solidFill>
            <a:schemeClr val="bg2"/>
          </a:solidFill>
          <a:ln/>
        </p:spPr>
      </p:sp>
      <p:sp>
        <p:nvSpPr>
          <p:cNvPr id="12" name="Step number"/>
          <p:cNvSpPr txBox="1"/>
          <p:nvPr/>
        </p:nvSpPr>
        <p:spPr>
          <a:xfrm>
            <a:off x="5138928" y="178308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3</a:t>
            </a:r>
            <a:endParaRPr lang="en-US" sz="1600" dirty="0"/>
          </a:p>
        </p:txBody>
      </p:sp>
      <p:sp>
        <p:nvSpPr>
          <p:cNvPr id="13" name="Step name"/>
          <p:cNvSpPr txBox="1"/>
          <p:nvPr/>
        </p:nvSpPr>
        <p:spPr>
          <a:xfrm>
            <a:off x="5532120" y="178308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Upload CSV data</a:t>
            </a:r>
            <a:endParaRPr lang="en-US" sz="1250" dirty="0"/>
          </a:p>
        </p:txBody>
      </p:sp>
      <p:sp>
        <p:nvSpPr>
          <p:cNvPr id="14" name="Step 4"/>
          <p:cNvSpPr/>
          <p:nvPr/>
        </p:nvSpPr>
        <p:spPr>
          <a:xfrm>
            <a:off x="7269480" y="1783080"/>
            <a:ext cx="2121408" cy="658368"/>
          </a:xfrm>
          <a:prstGeom prst="roundRect">
            <a:avLst>
              <a:gd name="adj" fmla="val 13889"/>
            </a:avLst>
          </a:prstGeom>
          <a:solidFill>
            <a:schemeClr val="bg2"/>
          </a:solidFill>
          <a:ln/>
        </p:spPr>
      </p:sp>
      <p:sp>
        <p:nvSpPr>
          <p:cNvPr id="15" name="Step number"/>
          <p:cNvSpPr txBox="1"/>
          <p:nvPr/>
        </p:nvSpPr>
        <p:spPr>
          <a:xfrm>
            <a:off x="7379208" y="178308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4</a:t>
            </a:r>
            <a:endParaRPr lang="en-US" sz="1600" dirty="0"/>
          </a:p>
        </p:txBody>
      </p:sp>
      <p:sp>
        <p:nvSpPr>
          <p:cNvPr id="16" name="Step name"/>
          <p:cNvSpPr txBox="1"/>
          <p:nvPr/>
        </p:nvSpPr>
        <p:spPr>
          <a:xfrm>
            <a:off x="7772400" y="178308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Check upload status</a:t>
            </a:r>
            <a:endParaRPr lang="en-US" sz="1250" dirty="0"/>
          </a:p>
        </p:txBody>
      </p:sp>
      <p:sp>
        <p:nvSpPr>
          <p:cNvPr id="17" name="Step 5"/>
          <p:cNvSpPr/>
          <p:nvPr/>
        </p:nvSpPr>
        <p:spPr>
          <a:xfrm>
            <a:off x="9509760" y="1783080"/>
            <a:ext cx="2121408" cy="658368"/>
          </a:xfrm>
          <a:prstGeom prst="roundRect">
            <a:avLst>
              <a:gd name="adj" fmla="val 13889"/>
            </a:avLst>
          </a:prstGeom>
          <a:solidFill>
            <a:schemeClr val="bg2"/>
          </a:solidFill>
          <a:ln/>
        </p:spPr>
      </p:sp>
      <p:sp>
        <p:nvSpPr>
          <p:cNvPr id="18" name="Step number"/>
          <p:cNvSpPr txBox="1"/>
          <p:nvPr/>
        </p:nvSpPr>
        <p:spPr>
          <a:xfrm>
            <a:off x="9619488" y="178308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5</a:t>
            </a:r>
            <a:endParaRPr lang="en-US" sz="1600" dirty="0"/>
          </a:p>
        </p:txBody>
      </p:sp>
      <p:sp>
        <p:nvSpPr>
          <p:cNvPr id="19" name="Step name"/>
          <p:cNvSpPr txBox="1"/>
          <p:nvPr/>
        </p:nvSpPr>
        <p:spPr>
          <a:xfrm>
            <a:off x="10012680" y="178308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Get template by name</a:t>
            </a:r>
            <a:endParaRPr lang="en-US" sz="1250" dirty="0"/>
          </a:p>
        </p:txBody>
      </p:sp>
      <p:sp>
        <p:nvSpPr>
          <p:cNvPr id="20" name="Step 6"/>
          <p:cNvSpPr/>
          <p:nvPr/>
        </p:nvSpPr>
        <p:spPr>
          <a:xfrm>
            <a:off x="548640" y="2560320"/>
            <a:ext cx="2121408" cy="658368"/>
          </a:xfrm>
          <a:prstGeom prst="roundRect">
            <a:avLst>
              <a:gd name="adj" fmla="val 13889"/>
            </a:avLst>
          </a:prstGeom>
          <a:solidFill>
            <a:schemeClr val="bg2"/>
          </a:solidFill>
          <a:ln/>
        </p:spPr>
      </p:sp>
      <p:sp>
        <p:nvSpPr>
          <p:cNvPr id="21" name="Step number"/>
          <p:cNvSpPr txBox="1"/>
          <p:nvPr/>
        </p:nvSpPr>
        <p:spPr>
          <a:xfrm>
            <a:off x="658368" y="256032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6</a:t>
            </a:r>
            <a:endParaRPr lang="en-US" sz="1600" dirty="0"/>
          </a:p>
        </p:txBody>
      </p:sp>
      <p:sp>
        <p:nvSpPr>
          <p:cNvPr id="22" name="Step name"/>
          <p:cNvSpPr txBox="1"/>
          <p:nvPr/>
        </p:nvSpPr>
        <p:spPr>
          <a:xfrm>
            <a:off x="1051560" y="256032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Trigger processing job</a:t>
            </a:r>
            <a:endParaRPr lang="en-US" sz="1250" dirty="0"/>
          </a:p>
        </p:txBody>
      </p:sp>
      <p:sp>
        <p:nvSpPr>
          <p:cNvPr id="23" name="Step 7"/>
          <p:cNvSpPr/>
          <p:nvPr/>
        </p:nvSpPr>
        <p:spPr>
          <a:xfrm>
            <a:off x="2788920" y="2560320"/>
            <a:ext cx="2121408" cy="658368"/>
          </a:xfrm>
          <a:prstGeom prst="roundRect">
            <a:avLst>
              <a:gd name="adj" fmla="val 13889"/>
            </a:avLst>
          </a:prstGeom>
          <a:solidFill>
            <a:schemeClr val="accent2">
              <a:alpha val="28000"/>
            </a:schemeClr>
          </a:solidFill>
          <a:ln/>
        </p:spPr>
      </p:sp>
      <p:sp>
        <p:nvSpPr>
          <p:cNvPr id="24" name="Step number"/>
          <p:cNvSpPr txBox="1"/>
          <p:nvPr/>
        </p:nvSpPr>
        <p:spPr>
          <a:xfrm>
            <a:off x="2898648" y="256032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7</a:t>
            </a:r>
            <a:endParaRPr lang="en-US" sz="1600" dirty="0"/>
          </a:p>
        </p:txBody>
      </p:sp>
      <p:sp>
        <p:nvSpPr>
          <p:cNvPr id="25" name="Step name"/>
          <p:cNvSpPr txBox="1"/>
          <p:nvPr/>
        </p:nvSpPr>
        <p:spPr>
          <a:xfrm>
            <a:off x="3291840" y="256032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Poll the job</a:t>
            </a:r>
            <a:endParaRPr lang="en-US" sz="1250" dirty="0"/>
          </a:p>
        </p:txBody>
      </p:sp>
      <p:sp>
        <p:nvSpPr>
          <p:cNvPr id="26" name="Step 8"/>
          <p:cNvSpPr/>
          <p:nvPr/>
        </p:nvSpPr>
        <p:spPr>
          <a:xfrm>
            <a:off x="5029200" y="2560320"/>
            <a:ext cx="2121408" cy="658368"/>
          </a:xfrm>
          <a:prstGeom prst="roundRect">
            <a:avLst>
              <a:gd name="adj" fmla="val 13889"/>
            </a:avLst>
          </a:prstGeom>
          <a:solidFill>
            <a:schemeClr val="bg2"/>
          </a:solidFill>
          <a:ln/>
        </p:spPr>
      </p:sp>
      <p:sp>
        <p:nvSpPr>
          <p:cNvPr id="27" name="Step number"/>
          <p:cNvSpPr txBox="1"/>
          <p:nvPr/>
        </p:nvSpPr>
        <p:spPr>
          <a:xfrm>
            <a:off x="5138928" y="256032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8</a:t>
            </a:r>
            <a:endParaRPr lang="en-US" sz="1600" dirty="0"/>
          </a:p>
        </p:txBody>
      </p:sp>
      <p:sp>
        <p:nvSpPr>
          <p:cNvPr id="28" name="Step name"/>
          <p:cNvSpPr txBox="1"/>
          <p:nvPr/>
        </p:nvSpPr>
        <p:spPr>
          <a:xfrm>
            <a:off x="5532120" y="256032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Get the collection</a:t>
            </a:r>
            <a:endParaRPr lang="en-US" sz="1250" dirty="0"/>
          </a:p>
        </p:txBody>
      </p:sp>
      <p:sp>
        <p:nvSpPr>
          <p:cNvPr id="29" name="Step 9"/>
          <p:cNvSpPr/>
          <p:nvPr/>
        </p:nvSpPr>
        <p:spPr>
          <a:xfrm>
            <a:off x="7269480" y="2560320"/>
            <a:ext cx="2121408" cy="658368"/>
          </a:xfrm>
          <a:prstGeom prst="roundRect">
            <a:avLst>
              <a:gd name="adj" fmla="val 13889"/>
            </a:avLst>
          </a:prstGeom>
          <a:solidFill>
            <a:schemeClr val="accent3">
              <a:alpha val="40000"/>
            </a:schemeClr>
          </a:solidFill>
          <a:ln/>
        </p:spPr>
      </p:sp>
      <p:sp>
        <p:nvSpPr>
          <p:cNvPr id="30" name="Step number"/>
          <p:cNvSpPr txBox="1"/>
          <p:nvPr/>
        </p:nvSpPr>
        <p:spPr>
          <a:xfrm>
            <a:off x="7379208" y="256032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9</a:t>
            </a:r>
            <a:endParaRPr lang="en-US" sz="1600" dirty="0"/>
          </a:p>
        </p:txBody>
      </p:sp>
      <p:sp>
        <p:nvSpPr>
          <p:cNvPr id="31" name="Step name"/>
          <p:cNvSpPr txBox="1"/>
          <p:nvPr/>
        </p:nvSpPr>
        <p:spPr>
          <a:xfrm>
            <a:off x="7772400" y="256032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Unpublish collection</a:t>
            </a:r>
            <a:endParaRPr lang="en-US" sz="1250" dirty="0"/>
          </a:p>
        </p:txBody>
      </p:sp>
      <p:sp>
        <p:nvSpPr>
          <p:cNvPr id="32" name="Step 10"/>
          <p:cNvSpPr/>
          <p:nvPr/>
        </p:nvSpPr>
        <p:spPr>
          <a:xfrm>
            <a:off x="9509760" y="2560320"/>
            <a:ext cx="2121408" cy="658368"/>
          </a:xfrm>
          <a:prstGeom prst="roundRect">
            <a:avLst>
              <a:gd name="adj" fmla="val 13889"/>
            </a:avLst>
          </a:prstGeom>
          <a:solidFill>
            <a:schemeClr val="accent3">
              <a:alpha val="40000"/>
            </a:schemeClr>
          </a:solidFill>
          <a:ln/>
        </p:spPr>
      </p:sp>
      <p:sp>
        <p:nvSpPr>
          <p:cNvPr id="33" name="Step number"/>
          <p:cNvSpPr txBox="1"/>
          <p:nvPr/>
        </p:nvSpPr>
        <p:spPr>
          <a:xfrm>
            <a:off x="9619488" y="256032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10</a:t>
            </a:r>
            <a:endParaRPr lang="en-US" sz="1600" dirty="0"/>
          </a:p>
        </p:txBody>
      </p:sp>
      <p:sp>
        <p:nvSpPr>
          <p:cNvPr id="34" name="Step name"/>
          <p:cNvSpPr txBox="1"/>
          <p:nvPr/>
        </p:nvSpPr>
        <p:spPr>
          <a:xfrm>
            <a:off x="10012680" y="256032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Delete old recordsets</a:t>
            </a:r>
            <a:endParaRPr lang="en-US" sz="1250" dirty="0"/>
          </a:p>
        </p:txBody>
      </p:sp>
      <p:sp>
        <p:nvSpPr>
          <p:cNvPr id="35" name="Step 11"/>
          <p:cNvSpPr/>
          <p:nvPr/>
        </p:nvSpPr>
        <p:spPr>
          <a:xfrm>
            <a:off x="548640" y="3337560"/>
            <a:ext cx="2121408" cy="658368"/>
          </a:xfrm>
          <a:prstGeom prst="roundRect">
            <a:avLst>
              <a:gd name="adj" fmla="val 13889"/>
            </a:avLst>
          </a:prstGeom>
          <a:solidFill>
            <a:schemeClr val="bg2"/>
          </a:solidFill>
          <a:ln/>
        </p:spPr>
      </p:sp>
      <p:sp>
        <p:nvSpPr>
          <p:cNvPr id="36" name="Step number"/>
          <p:cNvSpPr txBox="1"/>
          <p:nvPr/>
        </p:nvSpPr>
        <p:spPr>
          <a:xfrm>
            <a:off x="658368" y="333756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11</a:t>
            </a:r>
            <a:endParaRPr lang="en-US" sz="1600" dirty="0"/>
          </a:p>
        </p:txBody>
      </p:sp>
      <p:sp>
        <p:nvSpPr>
          <p:cNvPr id="37" name="Step name"/>
          <p:cNvSpPr txBox="1"/>
          <p:nvPr/>
        </p:nvSpPr>
        <p:spPr>
          <a:xfrm>
            <a:off x="1051560" y="333756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Create new recordset</a:t>
            </a:r>
            <a:endParaRPr lang="en-US" sz="1250" dirty="0"/>
          </a:p>
        </p:txBody>
      </p:sp>
      <p:sp>
        <p:nvSpPr>
          <p:cNvPr id="38" name="Step 12"/>
          <p:cNvSpPr/>
          <p:nvPr/>
        </p:nvSpPr>
        <p:spPr>
          <a:xfrm>
            <a:off x="2788920" y="3337560"/>
            <a:ext cx="2121408" cy="658368"/>
          </a:xfrm>
          <a:prstGeom prst="roundRect">
            <a:avLst>
              <a:gd name="adj" fmla="val 13889"/>
            </a:avLst>
          </a:prstGeom>
          <a:solidFill>
            <a:schemeClr val="bg2"/>
          </a:solidFill>
          <a:ln/>
        </p:spPr>
      </p:sp>
      <p:sp>
        <p:nvSpPr>
          <p:cNvPr id="39" name="Step number"/>
          <p:cNvSpPr txBox="1"/>
          <p:nvPr/>
        </p:nvSpPr>
        <p:spPr>
          <a:xfrm>
            <a:off x="2898648" y="333756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12</a:t>
            </a:r>
            <a:endParaRPr lang="en-US" sz="1600" dirty="0"/>
          </a:p>
        </p:txBody>
      </p:sp>
      <p:sp>
        <p:nvSpPr>
          <p:cNvPr id="40" name="Step name"/>
          <p:cNvSpPr txBox="1"/>
          <p:nvPr/>
        </p:nvSpPr>
        <p:spPr>
          <a:xfrm>
            <a:off x="3291840" y="333756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Publish collection</a:t>
            </a:r>
            <a:endParaRPr lang="en-US" sz="1250" dirty="0"/>
          </a:p>
        </p:txBody>
      </p:sp>
      <p:sp>
        <p:nvSpPr>
          <p:cNvPr id="41" name="Step 13"/>
          <p:cNvSpPr/>
          <p:nvPr/>
        </p:nvSpPr>
        <p:spPr>
          <a:xfrm>
            <a:off x="5029200" y="3337560"/>
            <a:ext cx="2121408" cy="658368"/>
          </a:xfrm>
          <a:prstGeom prst="roundRect">
            <a:avLst>
              <a:gd name="adj" fmla="val 13889"/>
            </a:avLst>
          </a:prstGeom>
          <a:solidFill>
            <a:schemeClr val="accent2">
              <a:alpha val="28000"/>
            </a:schemeClr>
          </a:solidFill>
          <a:ln/>
        </p:spPr>
      </p:sp>
      <p:sp>
        <p:nvSpPr>
          <p:cNvPr id="42" name="Step number"/>
          <p:cNvSpPr txBox="1"/>
          <p:nvPr/>
        </p:nvSpPr>
        <p:spPr>
          <a:xfrm>
            <a:off x="5138928" y="3337560"/>
            <a:ext cx="365760" cy="658368"/>
          </a:xfrm>
          <a:prstGeom prst="rect">
            <a:avLst/>
          </a:prstGeom>
          <a:noFill/>
          <a:ln/>
        </p:spPr>
        <p:txBody>
          <a:bodyPr wrap="square" lIns="0" tIns="0" rIns="0" bIns="0" rtlCol="0" anchor="ctr"/>
          <a:lstStyle/>
          <a:p>
            <a:pPr indent="0" marL="0">
              <a:buNone/>
            </a:pPr>
            <a:r>
              <a:rPr lang="en-US" sz="1600" b="1" dirty="0">
                <a:solidFill>
                  <a:schemeClr val="accent1"/>
                </a:solidFill>
                <a:latin typeface="+mj-lt" pitchFamily="34" charset="0"/>
                <a:ea typeface="+mj-lt" pitchFamily="34" charset="-122"/>
                <a:cs typeface="+mj-lt" pitchFamily="34" charset="-120"/>
              </a:rPr>
              <a:t>13</a:t>
            </a:r>
            <a:endParaRPr lang="en-US" sz="1600" dirty="0"/>
          </a:p>
        </p:txBody>
      </p:sp>
      <p:sp>
        <p:nvSpPr>
          <p:cNvPr id="43" name="Step name"/>
          <p:cNvSpPr txBox="1"/>
          <p:nvPr/>
        </p:nvSpPr>
        <p:spPr>
          <a:xfrm>
            <a:off x="5532120" y="3337560"/>
            <a:ext cx="1554480" cy="658368"/>
          </a:xfrm>
          <a:prstGeom prst="rect">
            <a:avLst/>
          </a:prstGeom>
          <a:noFill/>
          <a:ln/>
        </p:spPr>
        <p:txBody>
          <a:bodyPr wrap="square" lIns="0" tIns="0" rIns="0" bIns="0" rtlCol="0" anchor="ctr"/>
          <a:lstStyle/>
          <a:p>
            <a:pPr indent="0" marL="0">
              <a:buNone/>
            </a:pPr>
            <a:r>
              <a:rPr lang="en-US" sz="1250" b="1" dirty="0">
                <a:solidFill>
                  <a:schemeClr val="tx1"/>
                </a:solidFill>
              </a:rPr>
              <a:t>Confirm the publish</a:t>
            </a:r>
            <a:endParaRPr lang="en-US" sz="1250" dirty="0"/>
          </a:p>
        </p:txBody>
      </p:sp>
      <p:sp>
        <p:nvSpPr>
          <p:cNvPr id="44" name="Legend swatch 1"/>
          <p:cNvSpPr/>
          <p:nvPr/>
        </p:nvSpPr>
        <p:spPr>
          <a:xfrm>
            <a:off x="6400800" y="4160520"/>
            <a:ext cx="274320" cy="237744"/>
          </a:xfrm>
          <a:prstGeom prst="roundRect">
            <a:avLst>
              <a:gd name="adj" fmla="val 19231"/>
            </a:avLst>
          </a:prstGeom>
          <a:solidFill>
            <a:schemeClr val="accent2">
              <a:alpha val="28000"/>
            </a:schemeClr>
          </a:solidFill>
          <a:ln/>
        </p:spPr>
      </p:sp>
      <p:sp>
        <p:nvSpPr>
          <p:cNvPr id="45" name="Legend text"/>
          <p:cNvSpPr txBox="1"/>
          <p:nvPr/>
        </p:nvSpPr>
        <p:spPr>
          <a:xfrm>
            <a:off x="6766560" y="4114800"/>
            <a:ext cx="4846320" cy="329184"/>
          </a:xfrm>
          <a:prstGeom prst="rect">
            <a:avLst/>
          </a:prstGeom>
          <a:noFill/>
          <a:ln/>
        </p:spPr>
        <p:txBody>
          <a:bodyPr wrap="square" lIns="0" tIns="0" rIns="0" bIns="0" rtlCol="0" anchor="ctr"/>
          <a:lstStyle/>
          <a:p>
            <a:pPr indent="0" marL="0">
              <a:buNone/>
            </a:pPr>
            <a:r>
              <a:rPr lang="en-US" sz="1200" dirty="0">
                <a:solidFill>
                  <a:schemeClr val="tx1"/>
                </a:solidFill>
              </a:rPr>
              <a:t>Loop that waits for the platform</a:t>
            </a:r>
            <a:endParaRPr lang="en-US" sz="1200" dirty="0"/>
          </a:p>
        </p:txBody>
      </p:sp>
      <p:sp>
        <p:nvSpPr>
          <p:cNvPr id="46" name="Legend swatch 2"/>
          <p:cNvSpPr/>
          <p:nvPr/>
        </p:nvSpPr>
        <p:spPr>
          <a:xfrm>
            <a:off x="6400800" y="4507992"/>
            <a:ext cx="274320" cy="237744"/>
          </a:xfrm>
          <a:prstGeom prst="roundRect">
            <a:avLst>
              <a:gd name="adj" fmla="val 19231"/>
            </a:avLst>
          </a:prstGeom>
          <a:solidFill>
            <a:schemeClr val="accent3">
              <a:alpha val="40000"/>
            </a:schemeClr>
          </a:solidFill>
          <a:ln/>
        </p:spPr>
      </p:sp>
      <p:sp>
        <p:nvSpPr>
          <p:cNvPr id="47" name="Legend text"/>
          <p:cNvSpPr txBox="1"/>
          <p:nvPr/>
        </p:nvSpPr>
        <p:spPr>
          <a:xfrm>
            <a:off x="6766560" y="4462272"/>
            <a:ext cx="4846320" cy="329184"/>
          </a:xfrm>
          <a:prstGeom prst="rect">
            <a:avLst/>
          </a:prstGeom>
          <a:noFill/>
          <a:ln/>
        </p:spPr>
        <p:txBody>
          <a:bodyPr wrap="square" lIns="0" tIns="0" rIns="0" bIns="0" rtlCol="0" anchor="ctr"/>
          <a:lstStyle/>
          <a:p>
            <a:pPr indent="0" marL="0">
              <a:buNone/>
            </a:pPr>
            <a:r>
              <a:rPr lang="en-US" sz="1200" dirty="0">
                <a:solidFill>
                  <a:schemeClr val="tx1"/>
                </a:solidFill>
              </a:rPr>
              <a:t>Destructive: deletes before the new data exists</a:t>
            </a:r>
            <a:endParaRPr lang="en-US" sz="1200" dirty="0"/>
          </a:p>
        </p:txBody>
      </p:sp>
      <p:sp>
        <p:nvSpPr>
          <p:cNvPr id="48" name="Warning card"/>
          <p:cNvSpPr/>
          <p:nvPr/>
        </p:nvSpPr>
        <p:spPr>
          <a:xfrm>
            <a:off x="548640" y="4224528"/>
            <a:ext cx="5440680" cy="457200"/>
          </a:xfrm>
          <a:prstGeom prst="roundRect">
            <a:avLst>
              <a:gd name="adj" fmla="val 24000"/>
            </a:avLst>
          </a:prstGeom>
          <a:solidFill>
            <a:schemeClr val="accent3">
              <a:alpha val="25000"/>
            </a:schemeClr>
          </a:solidFill>
          <a:ln/>
        </p:spPr>
      </p:sp>
      <p:sp>
        <p:nvSpPr>
          <p:cNvPr id="49" name="Warning text"/>
          <p:cNvSpPr txBox="1"/>
          <p:nvPr/>
        </p:nvSpPr>
        <p:spPr>
          <a:xfrm>
            <a:off x="731520" y="4224528"/>
            <a:ext cx="5120640" cy="457200"/>
          </a:xfrm>
          <a:prstGeom prst="rect">
            <a:avLst/>
          </a:prstGeom>
          <a:noFill/>
          <a:ln/>
        </p:spPr>
        <p:txBody>
          <a:bodyPr wrap="square" lIns="0" tIns="0" rIns="0" bIns="0" rtlCol="0" anchor="ctr"/>
          <a:lstStyle/>
          <a:p>
            <a:pPr indent="0" marL="0">
              <a:buNone/>
            </a:pPr>
            <a:r>
              <a:rPr lang="en-US" sz="1200" dirty="0">
                <a:solidFill>
                  <a:schemeClr val="tx1"/>
                </a:solidFill>
              </a:rPr>
              <a:t>If step 11 fails after steps 9 and 10, the collection is left unpublished and empty.</a:t>
            </a:r>
            <a:endParaRPr lang="en-US" sz="1200" dirty="0"/>
          </a:p>
        </p:txBody>
      </p:sp>
      <p:sp>
        <p:nvSpPr>
          <p:cNvPr id="50" name="Keep it option"/>
          <p:cNvSpPr/>
          <p:nvPr/>
        </p:nvSpPr>
        <p:spPr>
          <a:xfrm>
            <a:off x="548640" y="4846320"/>
            <a:ext cx="3593592" cy="868680"/>
          </a:xfrm>
          <a:prstGeom prst="roundRect">
            <a:avLst>
              <a:gd name="adj" fmla="val 12632"/>
            </a:avLst>
          </a:prstGeom>
          <a:solidFill>
            <a:schemeClr val="bg2"/>
          </a:solidFill>
          <a:ln/>
        </p:spPr>
      </p:sp>
      <p:sp>
        <p:nvSpPr>
          <p:cNvPr id="51" name="Option title"/>
          <p:cNvSpPr txBox="1"/>
          <p:nvPr/>
        </p:nvSpPr>
        <p:spPr>
          <a:xfrm>
            <a:off x="731520" y="4901184"/>
            <a:ext cx="3200400"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Keep it</a:t>
            </a:r>
            <a:endParaRPr lang="en-US" sz="1500" dirty="0"/>
          </a:p>
        </p:txBody>
      </p:sp>
      <p:sp>
        <p:nvSpPr>
          <p:cNvPr id="52" name="Option text"/>
          <p:cNvSpPr txBox="1"/>
          <p:nvPr/>
        </p:nvSpPr>
        <p:spPr>
          <a:xfrm>
            <a:off x="731520" y="5212080"/>
            <a:ext cx="3246120" cy="457200"/>
          </a:xfrm>
          <a:prstGeom prst="rect">
            <a:avLst/>
          </a:prstGeom>
          <a:noFill/>
          <a:ln/>
        </p:spPr>
        <p:txBody>
          <a:bodyPr wrap="square" lIns="0" tIns="0" rIns="0" bIns="0" rtlCol="0" anchor="t"/>
          <a:lstStyle/>
          <a:p>
            <a:pPr indent="0" marL="0">
              <a:buNone/>
            </a:pPr>
            <a:r>
              <a:rPr lang="en-US" sz="1250" dirty="0">
                <a:solidFill>
                  <a:schemeClr val="tx1"/>
                </a:solidFill>
              </a:rPr>
              <a:t>A tested function in a shared notebook.</a:t>
            </a:r>
            <a:endParaRPr lang="en-US" sz="1250" dirty="0"/>
          </a:p>
        </p:txBody>
      </p:sp>
      <p:sp>
        <p:nvSpPr>
          <p:cNvPr id="53" name="Move it option"/>
          <p:cNvSpPr/>
          <p:nvPr/>
        </p:nvSpPr>
        <p:spPr>
          <a:xfrm>
            <a:off x="4297680" y="4846320"/>
            <a:ext cx="3593592" cy="868680"/>
          </a:xfrm>
          <a:prstGeom prst="roundRect">
            <a:avLst>
              <a:gd name="adj" fmla="val 12632"/>
            </a:avLst>
          </a:prstGeom>
          <a:solidFill>
            <a:schemeClr val="bg2"/>
          </a:solidFill>
          <a:ln/>
        </p:spPr>
      </p:sp>
      <p:sp>
        <p:nvSpPr>
          <p:cNvPr id="54" name="Option title"/>
          <p:cNvSpPr txBox="1"/>
          <p:nvPr/>
        </p:nvSpPr>
        <p:spPr>
          <a:xfrm>
            <a:off x="4480560" y="4901184"/>
            <a:ext cx="3200400"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Move it</a:t>
            </a:r>
            <a:endParaRPr lang="en-US" sz="1500" dirty="0"/>
          </a:p>
        </p:txBody>
      </p:sp>
      <p:sp>
        <p:nvSpPr>
          <p:cNvPr id="55" name="Option text"/>
          <p:cNvSpPr txBox="1"/>
          <p:nvPr/>
        </p:nvSpPr>
        <p:spPr>
          <a:xfrm>
            <a:off x="4480560" y="5212080"/>
            <a:ext cx="3246120" cy="457200"/>
          </a:xfrm>
          <a:prstGeom prst="rect">
            <a:avLst/>
          </a:prstGeom>
          <a:noFill/>
          <a:ln/>
        </p:spPr>
        <p:txBody>
          <a:bodyPr wrap="square" lIns="0" tIns="0" rIns="0" bIns="0" rtlCol="0" anchor="t"/>
          <a:lstStyle/>
          <a:p>
            <a:pPr indent="0" marL="0">
              <a:buNone/>
            </a:pPr>
            <a:r>
              <a:rPr lang="en-US" sz="1250" dirty="0">
                <a:solidFill>
                  <a:schemeClr val="tx1"/>
                </a:solidFill>
              </a:rPr>
              <a:t>Web activities in the pipeline, one per step.</a:t>
            </a:r>
            <a:endParaRPr lang="en-US" sz="1250" dirty="0"/>
          </a:p>
        </p:txBody>
      </p:sp>
      <p:sp>
        <p:nvSpPr>
          <p:cNvPr id="56" name="Retire it option"/>
          <p:cNvSpPr/>
          <p:nvPr/>
        </p:nvSpPr>
        <p:spPr>
          <a:xfrm>
            <a:off x="8046720" y="4846320"/>
            <a:ext cx="3593592" cy="868680"/>
          </a:xfrm>
          <a:prstGeom prst="roundRect">
            <a:avLst>
              <a:gd name="adj" fmla="val 12632"/>
            </a:avLst>
          </a:prstGeom>
          <a:solidFill>
            <a:schemeClr val="bg2"/>
          </a:solidFill>
          <a:ln/>
        </p:spPr>
      </p:sp>
      <p:sp>
        <p:nvSpPr>
          <p:cNvPr id="57" name="Option title"/>
          <p:cNvSpPr txBox="1"/>
          <p:nvPr/>
        </p:nvSpPr>
        <p:spPr>
          <a:xfrm>
            <a:off x="8229600" y="4901184"/>
            <a:ext cx="3200400" cy="27432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Retire it</a:t>
            </a:r>
            <a:endParaRPr lang="en-US" sz="1500" dirty="0"/>
          </a:p>
        </p:txBody>
      </p:sp>
      <p:sp>
        <p:nvSpPr>
          <p:cNvPr id="58" name="Option text"/>
          <p:cNvSpPr txBox="1"/>
          <p:nvPr/>
        </p:nvSpPr>
        <p:spPr>
          <a:xfrm>
            <a:off x="8229600" y="5212080"/>
            <a:ext cx="3246120" cy="457200"/>
          </a:xfrm>
          <a:prstGeom prst="rect">
            <a:avLst/>
          </a:prstGeom>
          <a:noFill/>
          <a:ln/>
        </p:spPr>
        <p:txBody>
          <a:bodyPr wrap="square" lIns="0" tIns="0" rIns="0" bIns="0" rtlCol="0" anchor="t"/>
          <a:lstStyle/>
          <a:p>
            <a:pPr indent="0" marL="0">
              <a:buNone/>
            </a:pPr>
            <a:r>
              <a:rPr lang="en-US" sz="1250" dirty="0">
                <a:solidFill>
                  <a:schemeClr val="tx1"/>
                </a:solidFill>
              </a:rPr>
              <a:t>If Power BI reads the gold table, nothing needs pushing.</a:t>
            </a:r>
            <a:endParaRPr lang="en-US" sz="1250" dirty="0"/>
          </a:p>
        </p:txBody>
      </p:sp>
      <p:sp>
        <p:nvSpPr>
          <p:cNvPr id="59" name="Footnote"/>
          <p:cNvSpPr txBox="1"/>
          <p:nvPr/>
        </p:nvSpPr>
        <p:spPr>
          <a:xfrm>
            <a:off x="548640" y="58978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Main_Macro_DataHubPush_V2 as drafted in the DST macros notebook (124 Alteryx tools).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ALTERYX TO NOTEBOOKS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Credentials belong in a vault, not in a function signature</a:t>
            </a:r>
            <a:endParaRPr lang="en-US" sz="3200" dirty="0"/>
          </a:p>
        </p:txBody>
      </p:sp>
      <p:sp>
        <p:nvSpPr>
          <p:cNvPr id="5" name="Draft card"/>
          <p:cNvSpPr/>
          <p:nvPr/>
        </p:nvSpPr>
        <p:spPr>
          <a:xfrm>
            <a:off x="548640" y="1783080"/>
            <a:ext cx="5394960" cy="3703320"/>
          </a:xfrm>
          <a:prstGeom prst="roundRect">
            <a:avLst>
              <a:gd name="adj" fmla="val 2963"/>
            </a:avLst>
          </a:prstGeom>
          <a:solidFill>
            <a:schemeClr val="accent3">
              <a:alpha val="22000"/>
            </a:schemeClr>
          </a:solidFill>
          <a:ln/>
        </p:spPr>
      </p:sp>
      <p:sp>
        <p:nvSpPr>
          <p:cNvPr id="6" name="Pill"/>
          <p:cNvSpPr txBox="1"/>
          <p:nvPr/>
        </p:nvSpPr>
        <p:spPr>
          <a:xfrm>
            <a:off x="777240" y="1920240"/>
            <a:ext cx="219456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WHAT THE DRAFT DOES</a:t>
            </a:r>
            <a:endParaRPr lang="en-US" sz="1050" dirty="0"/>
          </a:p>
        </p:txBody>
      </p:sp>
      <p:sp>
        <p:nvSpPr>
          <p:cNvPr id="7" name="Draft list"/>
          <p:cNvSpPr txBox="1"/>
          <p:nvPr/>
        </p:nvSpPr>
        <p:spPr>
          <a:xfrm>
            <a:off x="777240" y="2423160"/>
            <a:ext cx="4937760" cy="201168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rPr>
              <a:t>client_id and client_secret are function parameters.</a:t>
            </a:r>
            <a:endParaRPr lang="en-US" sz="1450" dirty="0"/>
          </a:p>
          <a:p>
            <a:pPr marL="342900" indent="-342900">
              <a:spcAft>
                <a:spcPts val="1000"/>
              </a:spcAft>
              <a:buSzPct val="100000"/>
              <a:buChar char="•"/>
            </a:pPr>
            <a:r>
              <a:rPr lang="en-US" sz="1450" dirty="0">
                <a:solidFill>
                  <a:schemeClr val="tx1"/>
                </a:solidFill>
              </a:rPr>
              <a:t>The first 12 characters of the access token are written to the step log.</a:t>
            </a:r>
            <a:endParaRPr lang="en-US" sz="1450" dirty="0"/>
          </a:p>
          <a:p>
            <a:pPr marL="342900" indent="-342900">
              <a:spcAft>
                <a:spcPts val="1000"/>
              </a:spcAft>
              <a:buSzPct val="100000"/>
              <a:buChar char="•"/>
            </a:pPr>
            <a:r>
              <a:rPr lang="en-US" sz="1450" dirty="0">
                <a:solidFill>
                  <a:schemeClr val="tx1"/>
                </a:solidFill>
              </a:rPr>
              <a:t>Nothing says where the secret should come from.</a:t>
            </a:r>
            <a:endParaRPr lang="en-US" sz="1450" dirty="0"/>
          </a:p>
        </p:txBody>
      </p:sp>
      <p:sp>
        <p:nvSpPr>
          <p:cNvPr id="8" name="Draft note"/>
          <p:cNvSpPr txBox="1"/>
          <p:nvPr/>
        </p:nvSpPr>
        <p:spPr>
          <a:xfrm>
            <a:off x="777240" y="4754880"/>
            <a:ext cx="4937760" cy="548640"/>
          </a:xfrm>
          <a:prstGeom prst="rect">
            <a:avLst/>
          </a:prstGeom>
          <a:noFill/>
          <a:ln/>
        </p:spPr>
        <p:txBody>
          <a:bodyPr wrap="square" lIns="0" tIns="0" rIns="0" bIns="0" rtlCol="0" anchor="t"/>
          <a:lstStyle/>
          <a:p>
            <a:pPr indent="0" marL="0">
              <a:buNone/>
            </a:pPr>
            <a:r>
              <a:rPr lang="en-US" sz="1350" i="1" dirty="0">
                <a:solidFill>
                  <a:schemeClr val="tx1"/>
                </a:solidFill>
              </a:rPr>
              <a:t>Reasonable for a first draft. Not safe to promote.</a:t>
            </a:r>
            <a:endParaRPr lang="en-US" sz="1350" dirty="0"/>
          </a:p>
        </p:txBody>
      </p:sp>
      <p:sp>
        <p:nvSpPr>
          <p:cNvPr id="9" name="Secret code"/>
          <p:cNvSpPr/>
          <p:nvPr/>
        </p:nvSpPr>
        <p:spPr>
          <a:xfrm>
            <a:off x="6217920" y="1783080"/>
            <a:ext cx="5422392" cy="1463040"/>
          </a:xfrm>
          <a:prstGeom prst="roundRect">
            <a:avLst>
              <a:gd name="adj" fmla="val 6250"/>
            </a:avLst>
          </a:prstGeom>
          <a:solidFill>
            <a:schemeClr val="tx1"/>
          </a:solidFill>
          <a:ln/>
        </p:spPr>
      </p:sp>
      <p:sp>
        <p:nvSpPr>
          <p:cNvPr id="10" name="Code label"/>
          <p:cNvSpPr txBox="1"/>
          <p:nvPr/>
        </p:nvSpPr>
        <p:spPr>
          <a:xfrm>
            <a:off x="6419088" y="1874520"/>
            <a:ext cx="5020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PYTHON · FETCH IT AT RUN TIME</a:t>
            </a:r>
            <a:endParaRPr lang="en-US" sz="1000" dirty="0"/>
          </a:p>
        </p:txBody>
      </p:sp>
      <p:sp>
        <p:nvSpPr>
          <p:cNvPr id="11" name="Secret code text"/>
          <p:cNvSpPr txBox="1"/>
          <p:nvPr/>
        </p:nvSpPr>
        <p:spPr>
          <a:xfrm>
            <a:off x="6419088" y="2167128"/>
            <a:ext cx="5020056" cy="969264"/>
          </a:xfrm>
          <a:prstGeom prst="rect">
            <a:avLst/>
          </a:prstGeom>
          <a:noFill/>
          <a:ln/>
        </p:spPr>
        <p:txBody>
          <a:bodyPr wrap="square" lIns="0" tIns="0" rIns="0" bIns="0" rtlCol="0" anchor="t"/>
          <a:lstStyle/>
          <a:p>
            <a:pPr indent="0" marL="0">
              <a:buNone/>
            </a:pPr>
            <a:r>
              <a:rPr lang="en-US" sz="1200" i="1" dirty="0">
                <a:solidFill>
                  <a:schemeClr val="accent5"/>
                </a:solidFill>
                <a:latin typeface="Courier New" pitchFamily="34" charset="0"/>
                <a:ea typeface="Courier New" pitchFamily="34" charset="-122"/>
                <a:cs typeface="Courier New" pitchFamily="34" charset="-120"/>
              </a:rPr>
              <a:t># Never pass a client secret around as a parameter or print it.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vault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"https://&lt;your-vault&gt;.vault.azure.net/"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secret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notebookutils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credentials</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getSecret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vault</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3"/>
                </a:solidFill>
                <a:latin typeface="Courier New" pitchFamily="34" charset="0"/>
                <a:ea typeface="Courier New" pitchFamily="34" charset="-122"/>
                <a:cs typeface="Courier New" pitchFamily="34" charset="-120"/>
              </a:rPr>
              <a:t>"datahub-client-secret"</a:t>
            </a:r>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2" name="Rules card"/>
          <p:cNvSpPr/>
          <p:nvPr/>
        </p:nvSpPr>
        <p:spPr>
          <a:xfrm>
            <a:off x="6217920" y="3429000"/>
            <a:ext cx="5422392" cy="2057400"/>
          </a:xfrm>
          <a:prstGeom prst="roundRect">
            <a:avLst>
              <a:gd name="adj" fmla="val 5333"/>
            </a:avLst>
          </a:prstGeom>
          <a:solidFill>
            <a:schemeClr val="bg2"/>
          </a:solidFill>
          <a:ln/>
        </p:spPr>
      </p:sp>
      <p:sp>
        <p:nvSpPr>
          <p:cNvPr id="13" name="Rules title"/>
          <p:cNvSpPr txBox="1"/>
          <p:nvPr/>
        </p:nvSpPr>
        <p:spPr>
          <a:xfrm>
            <a:off x="6446520" y="3520440"/>
            <a:ext cx="493776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Four rules</a:t>
            </a:r>
            <a:endParaRPr lang="en-US" sz="1600" dirty="0"/>
          </a:p>
        </p:txBody>
      </p:sp>
      <p:sp>
        <p:nvSpPr>
          <p:cNvPr id="14" name="Rules list"/>
          <p:cNvSpPr txBox="1"/>
          <p:nvPr/>
        </p:nvSpPr>
        <p:spPr>
          <a:xfrm>
            <a:off x="6446520" y="3886200"/>
            <a:ext cx="5029200" cy="155448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1"/>
                </a:solidFill>
              </a:rPr>
              <a:t>Secrets come from a vault, at run time.</a:t>
            </a:r>
            <a:endParaRPr lang="en-US" sz="1350" dirty="0"/>
          </a:p>
          <a:p>
            <a:pPr marL="342900" indent="-342900">
              <a:spcAft>
                <a:spcPts val="500"/>
              </a:spcAft>
              <a:buSzPct val="100000"/>
              <a:buChar char="•"/>
            </a:pPr>
            <a:r>
              <a:rPr lang="en-US" sz="1350" dirty="0">
                <a:solidFill>
                  <a:schemeClr val="tx1"/>
                </a:solidFill>
              </a:rPr>
              <a:t>Never in a pipeline parameter, a printed variable or a log line.</a:t>
            </a:r>
            <a:endParaRPr lang="en-US" sz="1350" dirty="0"/>
          </a:p>
          <a:p>
            <a:pPr marL="342900" indent="-342900">
              <a:spcAft>
                <a:spcPts val="500"/>
              </a:spcAft>
              <a:buSzPct val="100000"/>
              <a:buChar char="•"/>
            </a:pPr>
            <a:r>
              <a:rPr lang="en-US" sz="1350" dirty="0">
                <a:solidFill>
                  <a:schemeClr val="tx1"/>
                </a:solidFill>
              </a:rPr>
              <a:t>One identity per environment: DEV, TEST, PROD.</a:t>
            </a:r>
            <a:endParaRPr lang="en-US" sz="1350" dirty="0"/>
          </a:p>
          <a:p>
            <a:pPr marL="342900" indent="-342900">
              <a:spcAft>
                <a:spcPts val="500"/>
              </a:spcAft>
              <a:buSzPct val="100000"/>
              <a:buChar char="•"/>
            </a:pPr>
            <a:r>
              <a:rPr lang="en-US" sz="1350" dirty="0">
                <a:solidFill>
                  <a:schemeClr val="tx1"/>
                </a:solidFill>
              </a:rPr>
              <a:t>Confirm the approved vault with Enterprise Technology.</a:t>
            </a:r>
            <a:endParaRPr lang="en-US" sz="1350" dirty="0"/>
          </a:p>
        </p:txBody>
      </p:sp>
      <p:sp>
        <p:nvSpPr>
          <p:cNvPr id="15" name="Footnote"/>
          <p:cNvSpPr txBox="1"/>
          <p:nvPr/>
        </p:nvSpPr>
        <p:spPr>
          <a:xfrm>
            <a:off x="548640" y="56692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Observations from the drafted macro Main_Macro_DataHubPush_V2. The vault address is a placeholder.</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ALTERYX TO NOTEBOOKS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Multi-Row, Cross Tab and Transpose in a notebook</a:t>
            </a:r>
            <a:endParaRPr lang="en-US" sz="3200" dirty="0"/>
          </a:p>
        </p:txBody>
      </p:sp>
      <p:sp>
        <p:nvSpPr>
          <p:cNvPr id="5" name="Multi-Row Formula label"/>
          <p:cNvSpPr/>
          <p:nvPr/>
        </p:nvSpPr>
        <p:spPr>
          <a:xfrm>
            <a:off x="548640" y="1783080"/>
            <a:ext cx="1691640" cy="1737360"/>
          </a:xfrm>
          <a:prstGeom prst="roundRect">
            <a:avLst>
              <a:gd name="adj" fmla="val 6486"/>
            </a:avLst>
          </a:prstGeom>
          <a:solidFill>
            <a:schemeClr val="bg2"/>
          </a:solidFill>
          <a:ln/>
        </p:spPr>
      </p:sp>
      <p:sp>
        <p:nvSpPr>
          <p:cNvPr id="6" name="Tool name"/>
          <p:cNvSpPr txBox="1"/>
          <p:nvPr/>
        </p:nvSpPr>
        <p:spPr>
          <a:xfrm>
            <a:off x="685800" y="1874520"/>
            <a:ext cx="1463040" cy="5029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Multi-Row Formula</a:t>
            </a:r>
            <a:endParaRPr lang="en-US" sz="1400" dirty="0"/>
          </a:p>
        </p:txBody>
      </p:sp>
      <p:sp>
        <p:nvSpPr>
          <p:cNvPr id="7" name="Tool detail"/>
          <p:cNvSpPr txBox="1"/>
          <p:nvPr/>
        </p:nvSpPr>
        <p:spPr>
          <a:xfrm>
            <a:off x="685800" y="2423160"/>
            <a:ext cx="1463040" cy="365760"/>
          </a:xfrm>
          <a:prstGeom prst="rect">
            <a:avLst/>
          </a:prstGeom>
          <a:noFill/>
          <a:ln/>
        </p:spPr>
        <p:txBody>
          <a:bodyPr wrap="square" lIns="0" tIns="0" rIns="0" bIns="0" rtlCol="0" anchor="t"/>
          <a:lstStyle/>
          <a:p>
            <a:pPr indent="0" marL="0">
              <a:buNone/>
            </a:pPr>
            <a:r>
              <a:rPr lang="en-US" sz="1150" dirty="0">
                <a:solidFill>
                  <a:schemeClr val="tx1"/>
                </a:solidFill>
              </a:rPr>
              <a:t>lag, lead, running total</a:t>
            </a:r>
            <a:endParaRPr lang="en-US" sz="1150" dirty="0"/>
          </a:p>
        </p:txBody>
      </p:sp>
      <p:sp>
        <p:nvSpPr>
          <p:cNvPr id="8" name="Multi-Row Formula code"/>
          <p:cNvSpPr/>
          <p:nvPr/>
        </p:nvSpPr>
        <p:spPr>
          <a:xfrm>
            <a:off x="2377440" y="1783080"/>
            <a:ext cx="5074920" cy="1737360"/>
          </a:xfrm>
          <a:prstGeom prst="roundRect">
            <a:avLst>
              <a:gd name="adj" fmla="val 5263"/>
            </a:avLst>
          </a:prstGeom>
          <a:solidFill>
            <a:schemeClr val="tx1"/>
          </a:solidFill>
          <a:ln/>
        </p:spPr>
      </p:sp>
      <p:sp>
        <p:nvSpPr>
          <p:cNvPr id="9" name="Multi-Row Formula code text"/>
          <p:cNvSpPr txBox="1"/>
          <p:nvPr/>
        </p:nvSpPr>
        <p:spPr>
          <a:xfrm>
            <a:off x="2578608" y="1929384"/>
            <a:ext cx="4672584" cy="1481328"/>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w</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Window</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partitionBy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orderBy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df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"prior_total"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lag</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over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"change"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"prior_total"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"running_total"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sum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over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graphicFrame>
        <p:nvGraphicFramePr>
          <p:cNvPr id="26" name="Multi-Row Formula result"/>
          <p:cNvGraphicFramePr>
            <a:graphicFrameLocks noGrp="1"/>
          </p:cNvGraphicFramePr>
          <p:nvPr>
            <p:extLst>
              <p:ext uri="{D42A27DB-BD31-4B8C-83A1-F6EECF244321}">
                <p14:modId xmlns:p14="http://schemas.microsoft.com/office/powerpoint/2010/main" val="1579011935"/>
              </p:ext>
            </p:extLst>
          </p:nvPr>
        </p:nvGraphicFramePr>
        <p:xfrm>
          <a:off x="7589520" y="1828800"/>
          <a:ext cx="4050792" cy="914400"/>
        </p:xfrm>
        <a:graphic>
          <a:graphicData uri="http://schemas.openxmlformats.org/drawingml/2006/table">
            <a:tbl>
              <a:tblPr/>
              <a:tblGrid>
                <a:gridCol w="729872"/>
                <a:gridCol w="839353"/>
                <a:gridCol w="529158"/>
                <a:gridCol w="602145"/>
                <a:gridCol w="656885"/>
                <a:gridCol w="693379"/>
              </a:tblGrid>
              <a:tr h="292608">
                <a:tc>
                  <a:txBody>
                    <a:bodyPr/>
                    <a:lstStyle/>
                    <a:p>
                      <a:pPr indent="0" marL="0">
                        <a:buNone/>
                      </a:pPr>
                      <a:r>
                        <a:rPr lang="en-US" sz="1100" b="1" dirty="0">
                          <a:solidFill>
                            <a:schemeClr val="bg1"/>
                          </a:solidFill>
                        </a:rPr>
                        <a:t>entity</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period</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total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prior</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change</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running</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274320">
                <a:tc>
                  <a:txBody>
                    <a:bodyPr/>
                    <a:lstStyle/>
                    <a:p>
                      <a:pPr indent="0" marL="0">
                        <a:buNone/>
                      </a:pPr>
                      <a:r>
                        <a:rPr lang="en-US" sz="1100" dirty="0">
                          <a:solidFill>
                            <a:schemeClr val="tx1"/>
                          </a:solidFill>
                        </a:rPr>
                        <a:t>Entity A</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2025-01</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100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i="1" dirty="0">
                          <a:solidFill>
                            <a:schemeClr val="accent5"/>
                          </a:solidFill>
                        </a:rPr>
                        <a:t>NULL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i="1" dirty="0">
                          <a:solidFill>
                            <a:schemeClr val="accent5"/>
                          </a:solidFill>
                        </a:rPr>
                        <a:t>NULL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100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dirty="0">
                          <a:solidFill>
                            <a:schemeClr val="tx1"/>
                          </a:solidFill>
                        </a:rPr>
                        <a:t>Entity A</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2025-02</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150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100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50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250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274320">
                <a:tc>
                  <a:txBody>
                    <a:bodyPr/>
                    <a:lstStyle/>
                    <a:p>
                      <a:pPr indent="0" marL="0">
                        <a:buNone/>
                      </a:pPr>
                      <a:r>
                        <a:rPr lang="en-US" sz="1100" dirty="0">
                          <a:solidFill>
                            <a:schemeClr val="tx1"/>
                          </a:solidFill>
                        </a:rPr>
                        <a:t>Entity B</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2025-01</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200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i="1" dirty="0">
                          <a:solidFill>
                            <a:schemeClr val="accent5"/>
                          </a:solidFill>
                        </a:rPr>
                        <a:t>NULL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i="1" dirty="0">
                          <a:solidFill>
                            <a:schemeClr val="accent5"/>
                          </a:solidFill>
                        </a:rPr>
                        <a:t>NULL</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200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dirty="0">
                          <a:solidFill>
                            <a:schemeClr val="tx1"/>
                          </a:solidFill>
                        </a:rPr>
                        <a:t>Entity B</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2025-02</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180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200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-20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380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1" name="Cross Tab label"/>
          <p:cNvSpPr/>
          <p:nvPr/>
        </p:nvSpPr>
        <p:spPr>
          <a:xfrm>
            <a:off x="548640" y="3657600"/>
            <a:ext cx="1691640" cy="1188720"/>
          </a:xfrm>
          <a:prstGeom prst="roundRect">
            <a:avLst>
              <a:gd name="adj" fmla="val 9231"/>
            </a:avLst>
          </a:prstGeom>
          <a:solidFill>
            <a:schemeClr val="bg2"/>
          </a:solidFill>
          <a:ln/>
        </p:spPr>
      </p:sp>
      <p:sp>
        <p:nvSpPr>
          <p:cNvPr id="12" name="Tool name"/>
          <p:cNvSpPr txBox="1"/>
          <p:nvPr/>
        </p:nvSpPr>
        <p:spPr>
          <a:xfrm>
            <a:off x="685800" y="3749040"/>
            <a:ext cx="1463040" cy="5029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Cross Tab</a:t>
            </a:r>
            <a:endParaRPr lang="en-US" sz="1400" dirty="0"/>
          </a:p>
        </p:txBody>
      </p:sp>
      <p:sp>
        <p:nvSpPr>
          <p:cNvPr id="13" name="Tool detail"/>
          <p:cNvSpPr txBox="1"/>
          <p:nvPr/>
        </p:nvSpPr>
        <p:spPr>
          <a:xfrm>
            <a:off x="685800" y="4224528"/>
            <a:ext cx="1463040" cy="365760"/>
          </a:xfrm>
          <a:prstGeom prst="rect">
            <a:avLst/>
          </a:prstGeom>
          <a:noFill/>
          <a:ln/>
        </p:spPr>
        <p:txBody>
          <a:bodyPr wrap="square" lIns="0" tIns="0" rIns="0" bIns="0" rtlCol="0" anchor="t"/>
          <a:lstStyle/>
          <a:p>
            <a:pPr indent="0" marL="0">
              <a:buNone/>
            </a:pPr>
            <a:r>
              <a:rPr lang="en-US" sz="1150" dirty="0">
                <a:solidFill>
                  <a:schemeClr val="tx1"/>
                </a:solidFill>
              </a:rPr>
              <a:t>rows to columns</a:t>
            </a:r>
            <a:endParaRPr lang="en-US" sz="1150" dirty="0"/>
          </a:p>
        </p:txBody>
      </p:sp>
      <p:sp>
        <p:nvSpPr>
          <p:cNvPr id="14" name="Cross Tab code"/>
          <p:cNvSpPr/>
          <p:nvPr/>
        </p:nvSpPr>
        <p:spPr>
          <a:xfrm>
            <a:off x="2377440" y="3657600"/>
            <a:ext cx="5074920" cy="1188720"/>
          </a:xfrm>
          <a:prstGeom prst="roundRect">
            <a:avLst>
              <a:gd name="adj" fmla="val 7692"/>
            </a:avLst>
          </a:prstGeom>
          <a:solidFill>
            <a:schemeClr val="tx1"/>
          </a:solidFill>
          <a:ln/>
        </p:spPr>
      </p:sp>
      <p:sp>
        <p:nvSpPr>
          <p:cNvPr id="15" name="Cross Tab code text"/>
          <p:cNvSpPr txBox="1"/>
          <p:nvPr/>
        </p:nvSpPr>
        <p:spPr>
          <a:xfrm>
            <a:off x="2578608" y="3803904"/>
            <a:ext cx="4672584" cy="932688"/>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df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groupBy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pivot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"2025-02"</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agg</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sum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graphicFrame>
        <p:nvGraphicFramePr>
          <p:cNvPr id="51" name="Cross Tab result"/>
          <p:cNvGraphicFramePr>
            <a:graphicFrameLocks noGrp="1"/>
          </p:cNvGraphicFramePr>
          <p:nvPr>
            <p:extLst>
              <p:ext uri="{D42A27DB-BD31-4B8C-83A1-F6EECF244321}">
                <p14:modId xmlns:p14="http://schemas.microsoft.com/office/powerpoint/2010/main" val="1579011935"/>
              </p:ext>
            </p:extLst>
          </p:nvPr>
        </p:nvGraphicFramePr>
        <p:xfrm>
          <a:off x="7589520" y="3703320"/>
          <a:ext cx="4050792" cy="914400"/>
        </p:xfrm>
        <a:graphic>
          <a:graphicData uri="http://schemas.openxmlformats.org/drawingml/2006/table">
            <a:tbl>
              <a:tblPr/>
              <a:tblGrid>
                <a:gridCol w="1298331"/>
                <a:gridCol w="1298331"/>
                <a:gridCol w="1454130"/>
              </a:tblGrid>
              <a:tr h="292608">
                <a:tc>
                  <a:txBody>
                    <a:bodyPr/>
                    <a:lstStyle/>
                    <a:p>
                      <a:pPr indent="0" marL="0">
                        <a:buNone/>
                      </a:pPr>
                      <a:r>
                        <a:rPr lang="en-US" sz="1100" b="1" dirty="0">
                          <a:solidFill>
                            <a:schemeClr val="bg1"/>
                          </a:solidFill>
                        </a:rPr>
                        <a:t>entity</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2025-01</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00" b="1" dirty="0">
                          <a:solidFill>
                            <a:schemeClr val="bg1"/>
                          </a:solidFill>
                        </a:rPr>
                        <a:t>2025-02</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274320">
                <a:tc>
                  <a:txBody>
                    <a:bodyPr/>
                    <a:lstStyle/>
                    <a:p>
                      <a:pPr indent="0" marL="0">
                        <a:buNone/>
                      </a:pPr>
                      <a:r>
                        <a:rPr lang="en-US" sz="1100" dirty="0">
                          <a:solidFill>
                            <a:schemeClr val="tx1"/>
                          </a:solidFill>
                        </a:rPr>
                        <a:t>Entity A</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100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00" dirty="0">
                          <a:solidFill>
                            <a:schemeClr val="tx1"/>
                          </a:solidFill>
                        </a:rPr>
                        <a:t>150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274320">
                <a:tc>
                  <a:txBody>
                    <a:bodyPr/>
                    <a:lstStyle/>
                    <a:p>
                      <a:pPr indent="0" marL="0">
                        <a:buNone/>
                      </a:pPr>
                      <a:r>
                        <a:rPr lang="en-US" sz="1100" dirty="0">
                          <a:solidFill>
                            <a:schemeClr val="tx1"/>
                          </a:solidFill>
                        </a:rPr>
                        <a:t>Entity B</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200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rPr>
                        <a:t>180</a:t>
                      </a:r>
                      <a:endParaRPr lang="en-US" sz="11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7" name="Transpose label"/>
          <p:cNvSpPr/>
          <p:nvPr/>
        </p:nvSpPr>
        <p:spPr>
          <a:xfrm>
            <a:off x="548640" y="4983480"/>
            <a:ext cx="1691640" cy="777240"/>
          </a:xfrm>
          <a:prstGeom prst="roundRect">
            <a:avLst>
              <a:gd name="adj" fmla="val 14118"/>
            </a:avLst>
          </a:prstGeom>
          <a:solidFill>
            <a:schemeClr val="bg2"/>
          </a:solidFill>
          <a:ln/>
        </p:spPr>
      </p:sp>
      <p:sp>
        <p:nvSpPr>
          <p:cNvPr id="18" name="Tool name"/>
          <p:cNvSpPr txBox="1"/>
          <p:nvPr/>
        </p:nvSpPr>
        <p:spPr>
          <a:xfrm>
            <a:off x="685800" y="5074920"/>
            <a:ext cx="1463040" cy="5029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Transpose</a:t>
            </a:r>
            <a:endParaRPr lang="en-US" sz="1400" dirty="0"/>
          </a:p>
        </p:txBody>
      </p:sp>
      <p:sp>
        <p:nvSpPr>
          <p:cNvPr id="19" name="Tool detail"/>
          <p:cNvSpPr txBox="1"/>
          <p:nvPr/>
        </p:nvSpPr>
        <p:spPr>
          <a:xfrm>
            <a:off x="685800" y="5550408"/>
            <a:ext cx="1463040" cy="365760"/>
          </a:xfrm>
          <a:prstGeom prst="rect">
            <a:avLst/>
          </a:prstGeom>
          <a:noFill/>
          <a:ln/>
        </p:spPr>
        <p:txBody>
          <a:bodyPr wrap="square" lIns="0" tIns="0" rIns="0" bIns="0" rtlCol="0" anchor="t"/>
          <a:lstStyle/>
          <a:p>
            <a:pPr indent="0" marL="0">
              <a:buNone/>
            </a:pPr>
            <a:r>
              <a:rPr lang="en-US" sz="1150" dirty="0">
                <a:solidFill>
                  <a:schemeClr val="tx1"/>
                </a:solidFill>
              </a:rPr>
              <a:t>columns to rows</a:t>
            </a:r>
            <a:endParaRPr lang="en-US" sz="1150" dirty="0"/>
          </a:p>
        </p:txBody>
      </p:sp>
      <p:sp>
        <p:nvSpPr>
          <p:cNvPr id="20" name="Transpose code"/>
          <p:cNvSpPr/>
          <p:nvPr/>
        </p:nvSpPr>
        <p:spPr>
          <a:xfrm>
            <a:off x="2377440" y="4983480"/>
            <a:ext cx="5074920" cy="777240"/>
          </a:xfrm>
          <a:prstGeom prst="roundRect">
            <a:avLst>
              <a:gd name="adj" fmla="val 11765"/>
            </a:avLst>
          </a:prstGeom>
          <a:solidFill>
            <a:schemeClr val="tx1"/>
          </a:solidFill>
          <a:ln/>
        </p:spPr>
      </p:sp>
      <p:sp>
        <p:nvSpPr>
          <p:cNvPr id="21" name="Transpose code text"/>
          <p:cNvSpPr txBox="1"/>
          <p:nvPr/>
        </p:nvSpPr>
        <p:spPr>
          <a:xfrm>
            <a:off x="2578608" y="5129784"/>
            <a:ext cx="4672584" cy="521208"/>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wide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unpivot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"2025-01"</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"2025-02"</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"total"</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22" name="Unpivot result"/>
          <p:cNvSpPr txBox="1"/>
          <p:nvPr/>
        </p:nvSpPr>
        <p:spPr>
          <a:xfrm>
            <a:off x="7589520" y="4983480"/>
            <a:ext cx="4050792" cy="777240"/>
          </a:xfrm>
          <a:prstGeom prst="rect">
            <a:avLst/>
          </a:prstGeom>
          <a:noFill/>
          <a:ln/>
        </p:spPr>
        <p:txBody>
          <a:bodyPr wrap="square" lIns="0" tIns="0" rIns="0" bIns="0" rtlCol="0" anchor="ctr"/>
          <a:lstStyle/>
          <a:p>
            <a:pPr indent="0" marL="0">
              <a:buNone/>
            </a:pPr>
            <a:r>
              <a:rPr lang="en-US" sz="1300" i="1" dirty="0">
                <a:solidFill>
                  <a:schemeClr val="tx1"/>
                </a:solidFill>
              </a:rPr>
              <a:t>Back to four rows: entity, period, total. The round trip is exact.</a:t>
            </a:r>
            <a:endParaRPr lang="en-US" sz="1300" dirty="0"/>
          </a:p>
        </p:txBody>
      </p:sp>
      <p:sp>
        <p:nvSpPr>
          <p:cNvPr id="23" name="Footnote"/>
          <p:cNvSpPr txBox="1"/>
          <p:nvPr/>
        </p:nvSpPr>
        <p:spPr>
          <a:xfrm>
            <a:off x="548640" y="58978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Input: totals by entity and period, four rows. Run and checked on a small Spark dataset.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ALTERYX TO NOTEBOOKS</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Seven more tools, one line each</a:t>
            </a:r>
            <a:endParaRPr lang="en-US" sz="3200" dirty="0"/>
          </a:p>
        </p:txBody>
      </p:sp>
      <p:graphicFrame>
        <p:nvGraphicFramePr>
          <p:cNvPr id="27" name="Seven more tool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743200"/>
                <a:gridCol w="8348472"/>
              </a:tblGrid>
              <a:tr h="384048">
                <a:tc>
                  <a:txBody>
                    <a:bodyPr/>
                    <a:lstStyle/>
                    <a:p>
                      <a:pPr indent="0" marL="0">
                        <a:buNone/>
                      </a:pPr>
                      <a:r>
                        <a:rPr lang="en-US" sz="1350" b="1" dirty="0">
                          <a:solidFill>
                            <a:schemeClr val="bg1"/>
                          </a:solidFill>
                        </a:rPr>
                        <a:t>Alteryx tool</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50" b="1" dirty="0">
                          <a:solidFill>
                            <a:schemeClr val="bg1"/>
                          </a:solidFill>
                        </a:rPr>
                        <a:t>Notebook form</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350" b="1" dirty="0">
                          <a:solidFill>
                            <a:schemeClr val="tx1"/>
                          </a:solidFill>
                        </a:rPr>
                        <a:t>Text Input</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spark.createDataFrame([("kitchen_tv", "Entity A")], "ad_unit string, entity string")</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350" b="1" dirty="0">
                          <a:solidFill>
                            <a:schemeClr val="tx1"/>
                          </a:solidFill>
                        </a:rPr>
                        <a:t>Dynamic Input</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spark.read.csv(f"Files/raw/dst/impressions_{period}.csv", header=True)</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350" b="1" dirty="0">
                          <a:solidFill>
                            <a:schemeClr val="tx1"/>
                          </a:solidFill>
                        </a:rPr>
                        <a:t>Append Fields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df.crossJoin(totals)</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350" b="1" dirty="0">
                          <a:solidFill>
                            <a:schemeClr val="tx1"/>
                          </a:solidFill>
                        </a:rPr>
                        <a:t>Unique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df.dropDuplicates(["period", "ad_unit"])</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350" b="1" dirty="0">
                          <a:solidFill>
                            <a:schemeClr val="tx1"/>
                          </a:solidFill>
                        </a:rPr>
                        <a:t>Text to Columns, RegEx</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F.split("code", "-")[0]    F.regexp_extract("code", r"(\d+)", 1)</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57200">
                <a:tc>
                  <a:txBody>
                    <a:bodyPr/>
                    <a:lstStyle/>
                    <a:p>
                      <a:pPr indent="0" marL="0">
                        <a:buNone/>
                      </a:pPr>
                      <a:r>
                        <a:rPr lang="en-US" sz="1350" b="1" dirty="0">
                          <a:solidFill>
                            <a:schemeClr val="tx1"/>
                          </a:solidFill>
                        </a:rPr>
                        <a:t>DateTime</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F.add_months(F.to_date("period", "yyyy-MM"), -3)</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350" b="1" dirty="0">
                          <a:solidFill>
                            <a:schemeClr val="tx1"/>
                          </a:solidFill>
                        </a:rPr>
                        <a:t>Generate Rows</a:t>
                      </a:r>
                      <a:endParaRPr lang="en-US" sz="13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latin typeface="Courier New" pitchFamily="34" charset="0"/>
                          <a:ea typeface="Courier New" pitchFamily="34" charset="-122"/>
                          <a:cs typeface="Courier New" pitchFamily="34" charset="-120"/>
                        </a:rPr>
                        <a:t>spark.range(1, 13)</a:t>
                      </a:r>
                      <a:endParaRPr lang="en-US" sz="11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532120"/>
            <a:ext cx="11094415" cy="502920"/>
          </a:xfrm>
          <a:prstGeom prst="roundRect">
            <a:avLst>
              <a:gd name="adj" fmla="val 18182"/>
            </a:avLst>
          </a:prstGeom>
          <a:solidFill>
            <a:schemeClr val="tx1"/>
          </a:solidFill>
          <a:ln/>
        </p:spPr>
        <p:txBody>
          <a:bodyPr wrap="square" lIns="279400" tIns="0" rIns="279400" bIns="0" rtlCol="0" anchor="ctr"/>
          <a:lstStyle/>
          <a:p>
            <a:pPr indent="0" marL="0">
              <a:buNone/>
            </a:pPr>
            <a:r>
              <a:rPr lang="en-US" sz="1600" i="1" dirty="0">
                <a:solidFill>
                  <a:schemeClr val="bg1"/>
                </a:solidFill>
              </a:rPr>
              <a:t>With Day One's six tools, these cover the great majority of the estate.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Lab A: migrate a workflow, step by step</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Flow Parameters"/>
          <p:cNvSpPr/>
          <p:nvPr/>
        </p:nvSpPr>
        <p:spPr>
          <a:xfrm>
            <a:off x="548640" y="1783080"/>
            <a:ext cx="1700784" cy="1417320"/>
          </a:xfrm>
          <a:prstGeom prst="roundRect">
            <a:avLst>
              <a:gd name="adj" fmla="val 7742"/>
            </a:avLst>
          </a:prstGeom>
          <a:solidFill>
            <a:schemeClr val="bg2"/>
          </a:solidFill>
          <a:ln/>
        </p:spPr>
      </p:sp>
      <p:sp>
        <p:nvSpPr>
          <p:cNvPr id="7" name="Flow chip 1"/>
          <p:cNvSpPr/>
          <p:nvPr/>
        </p:nvSpPr>
        <p:spPr>
          <a:xfrm>
            <a:off x="685800" y="1920240"/>
            <a:ext cx="384048" cy="384048"/>
          </a:xfrm>
          <a:prstGeom prst="roundRect">
            <a:avLst>
              <a:gd name="adj" fmla="val 19048"/>
            </a:avLst>
          </a:prstGeom>
          <a:solidFill>
            <a:schemeClr val="accent1"/>
          </a:solidFill>
          <a:ln/>
        </p:spPr>
      </p:sp>
      <p:sp>
        <p:nvSpPr>
          <p:cNvPr id="8" name="Flow number"/>
          <p:cNvSpPr txBox="1"/>
          <p:nvPr/>
        </p:nvSpPr>
        <p:spPr>
          <a:xfrm>
            <a:off x="685800"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9" name="Flow name"/>
          <p:cNvSpPr txBox="1"/>
          <p:nvPr/>
        </p:nvSpPr>
        <p:spPr>
          <a:xfrm>
            <a:off x="685800"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Parameters</a:t>
            </a:r>
            <a:endParaRPr lang="en-US" sz="1450" dirty="0"/>
          </a:p>
        </p:txBody>
      </p:sp>
      <p:sp>
        <p:nvSpPr>
          <p:cNvPr id="10" name="Flow detail"/>
          <p:cNvSpPr txBox="1"/>
          <p:nvPr/>
        </p:nvSpPr>
        <p:spPr>
          <a:xfrm>
            <a:off x="685800"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Inputs and validation</a:t>
            </a:r>
            <a:endParaRPr lang="en-US" sz="1150" dirty="0"/>
          </a:p>
        </p:txBody>
      </p:sp>
      <p:sp>
        <p:nvSpPr>
          <p:cNvPr id="11" name="Flow arrow 1"/>
          <p:cNvSpPr/>
          <p:nvPr/>
        </p:nvSpPr>
        <p:spPr>
          <a:xfrm>
            <a:off x="2276856" y="2487168"/>
            <a:ext cx="123078" cy="0"/>
          </a:xfrm>
          <a:prstGeom prst="line">
            <a:avLst/>
          </a:prstGeom>
          <a:noFill/>
          <a:ln w="25400">
            <a:solidFill>
              <a:schemeClr val="accent5"/>
            </a:solidFill>
            <a:prstDash val="solid"/>
            <a:tailEnd type="triangle"/>
          </a:ln>
        </p:spPr>
      </p:sp>
      <p:sp>
        <p:nvSpPr>
          <p:cNvPr id="12" name="Flow Bronze"/>
          <p:cNvSpPr/>
          <p:nvPr/>
        </p:nvSpPr>
        <p:spPr>
          <a:xfrm>
            <a:off x="2427366" y="1783080"/>
            <a:ext cx="1700784" cy="1417320"/>
          </a:xfrm>
          <a:prstGeom prst="roundRect">
            <a:avLst>
              <a:gd name="adj" fmla="val 7742"/>
            </a:avLst>
          </a:prstGeom>
          <a:solidFill>
            <a:schemeClr val="bg2"/>
          </a:solidFill>
          <a:ln/>
        </p:spPr>
      </p:sp>
      <p:sp>
        <p:nvSpPr>
          <p:cNvPr id="13" name="Flow chip 2"/>
          <p:cNvSpPr/>
          <p:nvPr/>
        </p:nvSpPr>
        <p:spPr>
          <a:xfrm>
            <a:off x="2564526" y="1920240"/>
            <a:ext cx="384048" cy="384048"/>
          </a:xfrm>
          <a:prstGeom prst="roundRect">
            <a:avLst>
              <a:gd name="adj" fmla="val 19048"/>
            </a:avLst>
          </a:prstGeom>
          <a:solidFill>
            <a:schemeClr val="accent1"/>
          </a:solidFill>
          <a:ln/>
        </p:spPr>
      </p:sp>
      <p:sp>
        <p:nvSpPr>
          <p:cNvPr id="14" name="Flow number"/>
          <p:cNvSpPr txBox="1"/>
          <p:nvPr/>
        </p:nvSpPr>
        <p:spPr>
          <a:xfrm>
            <a:off x="2564526"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Flow name"/>
          <p:cNvSpPr txBox="1"/>
          <p:nvPr/>
        </p:nvSpPr>
        <p:spPr>
          <a:xfrm>
            <a:off x="2564526"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Bronze</a:t>
            </a:r>
            <a:endParaRPr lang="en-US" sz="1450" dirty="0"/>
          </a:p>
        </p:txBody>
      </p:sp>
      <p:sp>
        <p:nvSpPr>
          <p:cNvPr id="16" name="Flow detail"/>
          <p:cNvSpPr txBox="1"/>
          <p:nvPr/>
        </p:nvSpPr>
        <p:spPr>
          <a:xfrm>
            <a:off x="2564526"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Load the files as they are</a:t>
            </a:r>
            <a:endParaRPr lang="en-US" sz="1150" dirty="0"/>
          </a:p>
        </p:txBody>
      </p:sp>
      <p:sp>
        <p:nvSpPr>
          <p:cNvPr id="17" name="Flow arrow 2"/>
          <p:cNvSpPr/>
          <p:nvPr/>
        </p:nvSpPr>
        <p:spPr>
          <a:xfrm>
            <a:off x="4155582" y="2487168"/>
            <a:ext cx="123078" cy="0"/>
          </a:xfrm>
          <a:prstGeom prst="line">
            <a:avLst/>
          </a:prstGeom>
          <a:noFill/>
          <a:ln w="25400">
            <a:solidFill>
              <a:schemeClr val="accent5"/>
            </a:solidFill>
            <a:prstDash val="solid"/>
            <a:tailEnd type="triangle"/>
          </a:ln>
        </p:spPr>
      </p:sp>
      <p:sp>
        <p:nvSpPr>
          <p:cNvPr id="18" name="Flow Silver"/>
          <p:cNvSpPr/>
          <p:nvPr/>
        </p:nvSpPr>
        <p:spPr>
          <a:xfrm>
            <a:off x="4306092" y="1783080"/>
            <a:ext cx="1700784" cy="1417320"/>
          </a:xfrm>
          <a:prstGeom prst="roundRect">
            <a:avLst>
              <a:gd name="adj" fmla="val 7742"/>
            </a:avLst>
          </a:prstGeom>
          <a:solidFill>
            <a:schemeClr val="bg2"/>
          </a:solidFill>
          <a:ln/>
        </p:spPr>
      </p:sp>
      <p:sp>
        <p:nvSpPr>
          <p:cNvPr id="19" name="Flow chip 3"/>
          <p:cNvSpPr/>
          <p:nvPr/>
        </p:nvSpPr>
        <p:spPr>
          <a:xfrm>
            <a:off x="4443252" y="1920240"/>
            <a:ext cx="384048" cy="384048"/>
          </a:xfrm>
          <a:prstGeom prst="roundRect">
            <a:avLst>
              <a:gd name="adj" fmla="val 19048"/>
            </a:avLst>
          </a:prstGeom>
          <a:solidFill>
            <a:schemeClr val="accent1"/>
          </a:solidFill>
          <a:ln/>
        </p:spPr>
      </p:sp>
      <p:sp>
        <p:nvSpPr>
          <p:cNvPr id="20" name="Flow number"/>
          <p:cNvSpPr txBox="1"/>
          <p:nvPr/>
        </p:nvSpPr>
        <p:spPr>
          <a:xfrm>
            <a:off x="4443252"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1" name="Flow name"/>
          <p:cNvSpPr txBox="1"/>
          <p:nvPr/>
        </p:nvSpPr>
        <p:spPr>
          <a:xfrm>
            <a:off x="4443252"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Silver</a:t>
            </a:r>
            <a:endParaRPr lang="en-US" sz="1450" dirty="0"/>
          </a:p>
        </p:txBody>
      </p:sp>
      <p:sp>
        <p:nvSpPr>
          <p:cNvPr id="22" name="Flow detail"/>
          <p:cNvSpPr txBox="1"/>
          <p:nvPr/>
        </p:nvSpPr>
        <p:spPr>
          <a:xfrm>
            <a:off x="4443252"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Clean, flag, map to entities</a:t>
            </a:r>
            <a:endParaRPr lang="en-US" sz="1150" dirty="0"/>
          </a:p>
        </p:txBody>
      </p:sp>
      <p:sp>
        <p:nvSpPr>
          <p:cNvPr id="23" name="Flow arrow 3"/>
          <p:cNvSpPr/>
          <p:nvPr/>
        </p:nvSpPr>
        <p:spPr>
          <a:xfrm>
            <a:off x="6034308" y="2487168"/>
            <a:ext cx="123078" cy="0"/>
          </a:xfrm>
          <a:prstGeom prst="line">
            <a:avLst/>
          </a:prstGeom>
          <a:noFill/>
          <a:ln w="25400">
            <a:solidFill>
              <a:schemeClr val="accent5"/>
            </a:solidFill>
            <a:prstDash val="solid"/>
            <a:tailEnd type="triangle"/>
          </a:ln>
        </p:spPr>
      </p:sp>
      <p:sp>
        <p:nvSpPr>
          <p:cNvPr id="24" name="Flow Gold"/>
          <p:cNvSpPr/>
          <p:nvPr/>
        </p:nvSpPr>
        <p:spPr>
          <a:xfrm>
            <a:off x="6184819" y="1783080"/>
            <a:ext cx="1700784" cy="1417320"/>
          </a:xfrm>
          <a:prstGeom prst="roundRect">
            <a:avLst>
              <a:gd name="adj" fmla="val 7742"/>
            </a:avLst>
          </a:prstGeom>
          <a:solidFill>
            <a:schemeClr val="bg2"/>
          </a:solidFill>
          <a:ln/>
        </p:spPr>
      </p:sp>
      <p:sp>
        <p:nvSpPr>
          <p:cNvPr id="25" name="Flow chip 4"/>
          <p:cNvSpPr/>
          <p:nvPr/>
        </p:nvSpPr>
        <p:spPr>
          <a:xfrm>
            <a:off x="6321979" y="1920240"/>
            <a:ext cx="384048" cy="384048"/>
          </a:xfrm>
          <a:prstGeom prst="roundRect">
            <a:avLst>
              <a:gd name="adj" fmla="val 19048"/>
            </a:avLst>
          </a:prstGeom>
          <a:solidFill>
            <a:schemeClr val="accent1"/>
          </a:solidFill>
          <a:ln/>
        </p:spPr>
      </p:sp>
      <p:sp>
        <p:nvSpPr>
          <p:cNvPr id="26" name="Flow number"/>
          <p:cNvSpPr txBox="1"/>
          <p:nvPr/>
        </p:nvSpPr>
        <p:spPr>
          <a:xfrm>
            <a:off x="6321979"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7" name="Flow name"/>
          <p:cNvSpPr txBox="1"/>
          <p:nvPr/>
        </p:nvSpPr>
        <p:spPr>
          <a:xfrm>
            <a:off x="6321979"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Gold</a:t>
            </a:r>
            <a:endParaRPr lang="en-US" sz="1450" dirty="0"/>
          </a:p>
        </p:txBody>
      </p:sp>
      <p:sp>
        <p:nvSpPr>
          <p:cNvPr id="28" name="Flow detail"/>
          <p:cNvSpPr txBox="1"/>
          <p:nvPr/>
        </p:nvSpPr>
        <p:spPr>
          <a:xfrm>
            <a:off x="6321979"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Shares and apportioned amounts</a:t>
            </a:r>
            <a:endParaRPr lang="en-US" sz="1150" dirty="0"/>
          </a:p>
        </p:txBody>
      </p:sp>
      <p:sp>
        <p:nvSpPr>
          <p:cNvPr id="29" name="Flow arrow 4"/>
          <p:cNvSpPr/>
          <p:nvPr/>
        </p:nvSpPr>
        <p:spPr>
          <a:xfrm>
            <a:off x="7913035" y="2487168"/>
            <a:ext cx="123078" cy="0"/>
          </a:xfrm>
          <a:prstGeom prst="line">
            <a:avLst/>
          </a:prstGeom>
          <a:noFill/>
          <a:ln w="25400">
            <a:solidFill>
              <a:schemeClr val="accent5"/>
            </a:solidFill>
            <a:prstDash val="solid"/>
            <a:tailEnd type="triangle"/>
          </a:ln>
        </p:spPr>
      </p:sp>
      <p:sp>
        <p:nvSpPr>
          <p:cNvPr id="30" name="Flow Gate"/>
          <p:cNvSpPr/>
          <p:nvPr/>
        </p:nvSpPr>
        <p:spPr>
          <a:xfrm>
            <a:off x="8063545" y="1783080"/>
            <a:ext cx="1700784" cy="1417320"/>
          </a:xfrm>
          <a:prstGeom prst="roundRect">
            <a:avLst>
              <a:gd name="adj" fmla="val 7742"/>
            </a:avLst>
          </a:prstGeom>
          <a:solidFill>
            <a:schemeClr val="bg2"/>
          </a:solidFill>
          <a:ln/>
        </p:spPr>
      </p:sp>
      <p:sp>
        <p:nvSpPr>
          <p:cNvPr id="31" name="Flow chip 5"/>
          <p:cNvSpPr/>
          <p:nvPr/>
        </p:nvSpPr>
        <p:spPr>
          <a:xfrm>
            <a:off x="8200705" y="1920240"/>
            <a:ext cx="384048" cy="384048"/>
          </a:xfrm>
          <a:prstGeom prst="roundRect">
            <a:avLst>
              <a:gd name="adj" fmla="val 19048"/>
            </a:avLst>
          </a:prstGeom>
          <a:solidFill>
            <a:schemeClr val="accent1"/>
          </a:solidFill>
          <a:ln/>
        </p:spPr>
      </p:sp>
      <p:sp>
        <p:nvSpPr>
          <p:cNvPr id="32" name="Flow number"/>
          <p:cNvSpPr txBox="1"/>
          <p:nvPr/>
        </p:nvSpPr>
        <p:spPr>
          <a:xfrm>
            <a:off x="8200705"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3" name="Flow name"/>
          <p:cNvSpPr txBox="1"/>
          <p:nvPr/>
        </p:nvSpPr>
        <p:spPr>
          <a:xfrm>
            <a:off x="8200705"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Gate</a:t>
            </a:r>
            <a:endParaRPr lang="en-US" sz="1450" dirty="0"/>
          </a:p>
        </p:txBody>
      </p:sp>
      <p:sp>
        <p:nvSpPr>
          <p:cNvPr id="34" name="Flow detail"/>
          <p:cNvSpPr txBox="1"/>
          <p:nvPr/>
        </p:nvSpPr>
        <p:spPr>
          <a:xfrm>
            <a:off x="8200705"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Tie out, record, or stop</a:t>
            </a:r>
            <a:endParaRPr lang="en-US" sz="1150" dirty="0"/>
          </a:p>
        </p:txBody>
      </p:sp>
      <p:sp>
        <p:nvSpPr>
          <p:cNvPr id="35" name="Flow arrow 5"/>
          <p:cNvSpPr/>
          <p:nvPr/>
        </p:nvSpPr>
        <p:spPr>
          <a:xfrm>
            <a:off x="9791761" y="2487168"/>
            <a:ext cx="123078" cy="0"/>
          </a:xfrm>
          <a:prstGeom prst="line">
            <a:avLst/>
          </a:prstGeom>
          <a:noFill/>
          <a:ln w="25400">
            <a:solidFill>
              <a:schemeClr val="accent5"/>
            </a:solidFill>
            <a:prstDash val="solid"/>
            <a:tailEnd type="triangle"/>
          </a:ln>
        </p:spPr>
      </p:sp>
      <p:sp>
        <p:nvSpPr>
          <p:cNvPr id="36" name="Flow Write, compare"/>
          <p:cNvSpPr/>
          <p:nvPr/>
        </p:nvSpPr>
        <p:spPr>
          <a:xfrm>
            <a:off x="9942271" y="1783080"/>
            <a:ext cx="1700784" cy="1417320"/>
          </a:xfrm>
          <a:prstGeom prst="roundRect">
            <a:avLst>
              <a:gd name="adj" fmla="val 7742"/>
            </a:avLst>
          </a:prstGeom>
          <a:solidFill>
            <a:schemeClr val="bg2"/>
          </a:solidFill>
          <a:ln/>
        </p:spPr>
      </p:sp>
      <p:sp>
        <p:nvSpPr>
          <p:cNvPr id="37" name="Flow chip 6"/>
          <p:cNvSpPr/>
          <p:nvPr/>
        </p:nvSpPr>
        <p:spPr>
          <a:xfrm>
            <a:off x="10079431" y="1920240"/>
            <a:ext cx="384048" cy="384048"/>
          </a:xfrm>
          <a:prstGeom prst="roundRect">
            <a:avLst>
              <a:gd name="adj" fmla="val 19048"/>
            </a:avLst>
          </a:prstGeom>
          <a:solidFill>
            <a:schemeClr val="accent1"/>
          </a:solidFill>
          <a:ln/>
        </p:spPr>
      </p:sp>
      <p:sp>
        <p:nvSpPr>
          <p:cNvPr id="38" name="Flow number"/>
          <p:cNvSpPr txBox="1"/>
          <p:nvPr/>
        </p:nvSpPr>
        <p:spPr>
          <a:xfrm>
            <a:off x="10079431"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9" name="Flow name"/>
          <p:cNvSpPr txBox="1"/>
          <p:nvPr/>
        </p:nvSpPr>
        <p:spPr>
          <a:xfrm>
            <a:off x="10079431"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Write, compare</a:t>
            </a:r>
            <a:endParaRPr lang="en-US" sz="1450" dirty="0"/>
          </a:p>
        </p:txBody>
      </p:sp>
      <p:sp>
        <p:nvSpPr>
          <p:cNvPr id="40" name="Flow detail"/>
          <p:cNvSpPr txBox="1"/>
          <p:nvPr/>
        </p:nvSpPr>
        <p:spPr>
          <a:xfrm>
            <a:off x="10079431"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One slice, then check the answer</a:t>
            </a:r>
            <a:endParaRPr lang="en-US" sz="1150" dirty="0"/>
          </a:p>
        </p:txBody>
      </p:sp>
      <p:sp>
        <p:nvSpPr>
          <p:cNvPr id="41" name="What you build card"/>
          <p:cNvSpPr/>
          <p:nvPr/>
        </p:nvSpPr>
        <p:spPr>
          <a:xfrm>
            <a:off x="548640" y="3474720"/>
            <a:ext cx="3593592" cy="1783080"/>
          </a:xfrm>
          <a:prstGeom prst="roundRect">
            <a:avLst>
              <a:gd name="adj" fmla="val 6154"/>
            </a:avLst>
          </a:prstGeom>
          <a:solidFill>
            <a:schemeClr val="accent1">
              <a:alpha val="15000"/>
            </a:schemeClr>
          </a:solidFill>
          <a:ln/>
        </p:spPr>
      </p:sp>
      <p:sp>
        <p:nvSpPr>
          <p:cNvPr id="42" name="Card title"/>
          <p:cNvSpPr txBox="1"/>
          <p:nvPr/>
        </p:nvSpPr>
        <p:spPr>
          <a:xfrm>
            <a:off x="777240" y="3584448"/>
            <a:ext cx="31089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What you build</a:t>
            </a:r>
            <a:endParaRPr lang="en-US" sz="1700" dirty="0"/>
          </a:p>
        </p:txBody>
      </p:sp>
      <p:sp>
        <p:nvSpPr>
          <p:cNvPr id="43" name="Card text"/>
          <p:cNvSpPr txBox="1"/>
          <p:nvPr/>
        </p:nvSpPr>
        <p:spPr>
          <a:xfrm>
            <a:off x="777240" y="4023360"/>
            <a:ext cx="3154680" cy="1463040"/>
          </a:xfrm>
          <a:prstGeom prst="rect">
            <a:avLst/>
          </a:prstGeom>
          <a:noFill/>
          <a:ln/>
        </p:spPr>
        <p:txBody>
          <a:bodyPr wrap="square" lIns="0" tIns="0" rIns="0" bIns="0" rtlCol="0" anchor="t"/>
          <a:lstStyle/>
          <a:p>
            <a:pPr indent="0" marL="0">
              <a:buNone/>
            </a:pPr>
            <a:r>
              <a:rPr lang="en-US" sz="1350" dirty="0">
                <a:solidFill>
                  <a:schemeClr val="tx1"/>
                </a:solidFill>
              </a:rPr>
              <a:t>One notebook that turns raw files into a gold table and a run log, for any period and either denominator.</a:t>
            </a:r>
            <a:endParaRPr lang="en-US" sz="1350" dirty="0"/>
          </a:p>
        </p:txBody>
      </p:sp>
      <p:sp>
        <p:nvSpPr>
          <p:cNvPr id="44" name="How it runs card"/>
          <p:cNvSpPr/>
          <p:nvPr/>
        </p:nvSpPr>
        <p:spPr>
          <a:xfrm>
            <a:off x="4297680" y="3474720"/>
            <a:ext cx="3593592" cy="1783080"/>
          </a:xfrm>
          <a:prstGeom prst="roundRect">
            <a:avLst>
              <a:gd name="adj" fmla="val 6154"/>
            </a:avLst>
          </a:prstGeom>
          <a:solidFill>
            <a:schemeClr val="accent2">
              <a:alpha val="15000"/>
            </a:schemeClr>
          </a:solidFill>
          <a:ln/>
        </p:spPr>
      </p:sp>
      <p:sp>
        <p:nvSpPr>
          <p:cNvPr id="45" name="Card title"/>
          <p:cNvSpPr txBox="1"/>
          <p:nvPr/>
        </p:nvSpPr>
        <p:spPr>
          <a:xfrm>
            <a:off x="4526280" y="3584448"/>
            <a:ext cx="31089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How it runs</a:t>
            </a:r>
            <a:endParaRPr lang="en-US" sz="1700" dirty="0"/>
          </a:p>
        </p:txBody>
      </p:sp>
      <p:sp>
        <p:nvSpPr>
          <p:cNvPr id="46" name="Card text"/>
          <p:cNvSpPr txBox="1"/>
          <p:nvPr/>
        </p:nvSpPr>
        <p:spPr>
          <a:xfrm>
            <a:off x="4526280" y="4023360"/>
            <a:ext cx="3154680" cy="1463040"/>
          </a:xfrm>
          <a:prstGeom prst="rect">
            <a:avLst/>
          </a:prstGeom>
          <a:noFill/>
          <a:ln/>
        </p:spPr>
        <p:txBody>
          <a:bodyPr wrap="square" lIns="0" tIns="0" rIns="0" bIns="0" rtlCol="0" anchor="t"/>
          <a:lstStyle/>
          <a:p>
            <a:pPr indent="0" marL="0">
              <a:buNone/>
            </a:pPr>
            <a:r>
              <a:rPr lang="en-US" sz="1350" dirty="0">
                <a:solidFill>
                  <a:schemeClr val="tx1"/>
                </a:solidFill>
              </a:rPr>
              <a:t>In pairs. Every step ends with a check, so you know before moving on. Ask the facilitator at any red box.</a:t>
            </a:r>
            <a:endParaRPr lang="en-US" sz="1350" dirty="0"/>
          </a:p>
        </p:txBody>
      </p:sp>
      <p:sp>
        <p:nvSpPr>
          <p:cNvPr id="47" name="How long card"/>
          <p:cNvSpPr/>
          <p:nvPr/>
        </p:nvSpPr>
        <p:spPr>
          <a:xfrm>
            <a:off x="8046720" y="3474720"/>
            <a:ext cx="3593592" cy="1783080"/>
          </a:xfrm>
          <a:prstGeom prst="roundRect">
            <a:avLst>
              <a:gd name="adj" fmla="val 6154"/>
            </a:avLst>
          </a:prstGeom>
          <a:solidFill>
            <a:schemeClr val="accent3">
              <a:alpha val="15000"/>
            </a:schemeClr>
          </a:solidFill>
          <a:ln/>
        </p:spPr>
      </p:sp>
      <p:sp>
        <p:nvSpPr>
          <p:cNvPr id="48" name="Card title"/>
          <p:cNvSpPr txBox="1"/>
          <p:nvPr/>
        </p:nvSpPr>
        <p:spPr>
          <a:xfrm>
            <a:off x="8275320" y="3584448"/>
            <a:ext cx="31089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How long</a:t>
            </a:r>
            <a:endParaRPr lang="en-US" sz="1700" dirty="0"/>
          </a:p>
        </p:txBody>
      </p:sp>
      <p:sp>
        <p:nvSpPr>
          <p:cNvPr id="49" name="Card text"/>
          <p:cNvSpPr txBox="1"/>
          <p:nvPr/>
        </p:nvSpPr>
        <p:spPr>
          <a:xfrm>
            <a:off x="8275320" y="4023360"/>
            <a:ext cx="3154680" cy="1463040"/>
          </a:xfrm>
          <a:prstGeom prst="rect">
            <a:avLst/>
          </a:prstGeom>
          <a:noFill/>
          <a:ln/>
        </p:spPr>
        <p:txBody>
          <a:bodyPr wrap="square" lIns="0" tIns="0" rIns="0" bIns="0" rtlCol="0" anchor="t"/>
          <a:lstStyle/>
          <a:p>
            <a:pPr indent="0" marL="0">
              <a:buNone/>
            </a:pPr>
            <a:r>
              <a:rPr lang="en-US" sz="1350" dirty="0">
                <a:solidFill>
                  <a:schemeClr val="tx1"/>
                </a:solidFill>
              </a:rPr>
              <a:t>Kit and parameters 10 min. Bronze and silver 25. Gold and gate 30. Write and compare 15. Debrief 10.</a:t>
            </a:r>
            <a:endParaRPr lang="en-US" sz="1350" dirty="0"/>
          </a:p>
        </p:txBody>
      </p:sp>
      <p:sp>
        <p:nvSpPr>
          <p:cNvPr id="50"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Invented data in the shape of the DST workflow. Real numbers are not used in training.</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workflow you are migrating, on one page</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Rule Map"/>
          <p:cNvSpPr/>
          <p:nvPr/>
        </p:nvSpPr>
        <p:spPr>
          <a:xfrm>
            <a:off x="548640" y="1783080"/>
            <a:ext cx="7680960" cy="694944"/>
          </a:xfrm>
          <a:prstGeom prst="roundRect">
            <a:avLst>
              <a:gd name="adj" fmla="val 15789"/>
            </a:avLst>
          </a:prstGeom>
          <a:solidFill>
            <a:schemeClr val="bg2"/>
          </a:solidFill>
          <a:ln/>
        </p:spPr>
      </p:sp>
      <p:sp>
        <p:nvSpPr>
          <p:cNvPr id="7" name="Rule chip 1"/>
          <p:cNvSpPr/>
          <p:nvPr/>
        </p:nvSpPr>
        <p:spPr>
          <a:xfrm>
            <a:off x="685800" y="1938528"/>
            <a:ext cx="384048" cy="384048"/>
          </a:xfrm>
          <a:prstGeom prst="roundRect">
            <a:avLst>
              <a:gd name="adj" fmla="val 19048"/>
            </a:avLst>
          </a:prstGeom>
          <a:solidFill>
            <a:schemeClr val="accent1"/>
          </a:solidFill>
          <a:ln/>
        </p:spPr>
      </p:sp>
      <p:sp>
        <p:nvSpPr>
          <p:cNvPr id="8" name="Rule number"/>
          <p:cNvSpPr txBox="1"/>
          <p:nvPr/>
        </p:nvSpPr>
        <p:spPr>
          <a:xfrm>
            <a:off x="685800" y="193852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9" name="Rule name"/>
          <p:cNvSpPr txBox="1"/>
          <p:nvPr/>
        </p:nvSpPr>
        <p:spPr>
          <a:xfrm>
            <a:off x="1234440" y="1783080"/>
            <a:ext cx="1188720" cy="69494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Map</a:t>
            </a:r>
            <a:endParaRPr lang="en-US" sz="1500" dirty="0"/>
          </a:p>
        </p:txBody>
      </p:sp>
      <p:sp>
        <p:nvSpPr>
          <p:cNvPr id="10" name="Rule text"/>
          <p:cNvSpPr txBox="1"/>
          <p:nvPr/>
        </p:nvSpPr>
        <p:spPr>
          <a:xfrm>
            <a:off x="2423160" y="1783080"/>
            <a:ext cx="4206240" cy="694944"/>
          </a:xfrm>
          <a:prstGeom prst="rect">
            <a:avLst/>
          </a:prstGeom>
          <a:noFill/>
          <a:ln/>
        </p:spPr>
        <p:txBody>
          <a:bodyPr wrap="square" lIns="0" tIns="0" rIns="0" bIns="0" rtlCol="0" anchor="ctr"/>
          <a:lstStyle/>
          <a:p>
            <a:pPr indent="0" marL="0">
              <a:buNone/>
            </a:pPr>
            <a:r>
              <a:rPr lang="en-US" sz="1250" dirty="0">
                <a:solidFill>
                  <a:schemeClr val="tx1"/>
                </a:solidFill>
              </a:rPr>
              <a:t>Each ad unit belongs to one entity, from a mapping table.</a:t>
            </a:r>
            <a:endParaRPr lang="en-US" sz="1250" dirty="0"/>
          </a:p>
        </p:txBody>
      </p:sp>
      <p:sp>
        <p:nvSpPr>
          <p:cNvPr id="11" name="Step pill"/>
          <p:cNvSpPr txBox="1"/>
          <p:nvPr/>
        </p:nvSpPr>
        <p:spPr>
          <a:xfrm>
            <a:off x="6766560" y="1993392"/>
            <a:ext cx="1325880"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900" b="1" spc="200" kern="0" dirty="0">
                <a:solidFill>
                  <a:schemeClr val="tx1"/>
                </a:solidFill>
              </a:rPr>
              <a:t>STEP 3 · SILVER</a:t>
            </a:r>
            <a:endParaRPr lang="en-US" sz="900" dirty="0"/>
          </a:p>
        </p:txBody>
      </p:sp>
      <p:sp>
        <p:nvSpPr>
          <p:cNvPr id="12" name="Rule Flag"/>
          <p:cNvSpPr/>
          <p:nvPr/>
        </p:nvSpPr>
        <p:spPr>
          <a:xfrm>
            <a:off x="548640" y="2569464"/>
            <a:ext cx="7680960" cy="694944"/>
          </a:xfrm>
          <a:prstGeom prst="roundRect">
            <a:avLst>
              <a:gd name="adj" fmla="val 15789"/>
            </a:avLst>
          </a:prstGeom>
          <a:solidFill>
            <a:schemeClr val="bg2"/>
          </a:solidFill>
          <a:ln/>
        </p:spPr>
      </p:sp>
      <p:sp>
        <p:nvSpPr>
          <p:cNvPr id="13" name="Rule chip 2"/>
          <p:cNvSpPr/>
          <p:nvPr/>
        </p:nvSpPr>
        <p:spPr>
          <a:xfrm>
            <a:off x="685800" y="2724912"/>
            <a:ext cx="384048" cy="384048"/>
          </a:xfrm>
          <a:prstGeom prst="roundRect">
            <a:avLst>
              <a:gd name="adj" fmla="val 19048"/>
            </a:avLst>
          </a:prstGeom>
          <a:solidFill>
            <a:schemeClr val="accent1"/>
          </a:solidFill>
          <a:ln/>
        </p:spPr>
      </p:sp>
      <p:sp>
        <p:nvSpPr>
          <p:cNvPr id="14" name="Rule number"/>
          <p:cNvSpPr txBox="1"/>
          <p:nvPr/>
        </p:nvSpPr>
        <p:spPr>
          <a:xfrm>
            <a:off x="685800" y="27249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Rule name"/>
          <p:cNvSpPr txBox="1"/>
          <p:nvPr/>
        </p:nvSpPr>
        <p:spPr>
          <a:xfrm>
            <a:off x="1234440" y="2569464"/>
            <a:ext cx="1188720" cy="69494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Flag</a:t>
            </a:r>
            <a:endParaRPr lang="en-US" sz="1500" dirty="0"/>
          </a:p>
        </p:txBody>
      </p:sp>
      <p:sp>
        <p:nvSpPr>
          <p:cNvPr id="16" name="Rule text"/>
          <p:cNvSpPr txBox="1"/>
          <p:nvPr/>
        </p:nvSpPr>
        <p:spPr>
          <a:xfrm>
            <a:off x="2423160" y="2569464"/>
            <a:ext cx="4206240" cy="694944"/>
          </a:xfrm>
          <a:prstGeom prst="rect">
            <a:avLst/>
          </a:prstGeom>
          <a:noFill/>
          <a:ln/>
        </p:spPr>
        <p:txBody>
          <a:bodyPr wrap="square" lIns="0" tIns="0" rIns="0" bIns="0" rtlCol="0" anchor="ctr"/>
          <a:lstStyle/>
          <a:p>
            <a:pPr indent="0" marL="0">
              <a:buNone/>
            </a:pPr>
            <a:r>
              <a:rPr lang="en-US" sz="1250" dirty="0">
                <a:solidFill>
                  <a:schemeClr val="tx1"/>
                </a:solidFill>
              </a:rPr>
              <a:t>A blank region, N/A or NO REGION marks the row as N/A.</a:t>
            </a:r>
            <a:endParaRPr lang="en-US" sz="1250" dirty="0"/>
          </a:p>
        </p:txBody>
      </p:sp>
      <p:sp>
        <p:nvSpPr>
          <p:cNvPr id="17" name="Step pill"/>
          <p:cNvSpPr txBox="1"/>
          <p:nvPr/>
        </p:nvSpPr>
        <p:spPr>
          <a:xfrm>
            <a:off x="6766560" y="2779776"/>
            <a:ext cx="1325880"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900" b="1" spc="200" kern="0" dirty="0">
                <a:solidFill>
                  <a:schemeClr val="tx1"/>
                </a:solidFill>
              </a:rPr>
              <a:t>STEP 3 · SILVER</a:t>
            </a:r>
            <a:endParaRPr lang="en-US" sz="900" dirty="0"/>
          </a:p>
        </p:txBody>
      </p:sp>
      <p:sp>
        <p:nvSpPr>
          <p:cNvPr id="18" name="Rule Share"/>
          <p:cNvSpPr/>
          <p:nvPr/>
        </p:nvSpPr>
        <p:spPr>
          <a:xfrm>
            <a:off x="548640" y="3355848"/>
            <a:ext cx="7680960" cy="694944"/>
          </a:xfrm>
          <a:prstGeom prst="roundRect">
            <a:avLst>
              <a:gd name="adj" fmla="val 15789"/>
            </a:avLst>
          </a:prstGeom>
          <a:solidFill>
            <a:schemeClr val="bg2"/>
          </a:solidFill>
          <a:ln/>
        </p:spPr>
      </p:sp>
      <p:sp>
        <p:nvSpPr>
          <p:cNvPr id="19" name="Rule chip 3"/>
          <p:cNvSpPr/>
          <p:nvPr/>
        </p:nvSpPr>
        <p:spPr>
          <a:xfrm>
            <a:off x="685800" y="3511296"/>
            <a:ext cx="384048" cy="384048"/>
          </a:xfrm>
          <a:prstGeom prst="roundRect">
            <a:avLst>
              <a:gd name="adj" fmla="val 19048"/>
            </a:avLst>
          </a:prstGeom>
          <a:solidFill>
            <a:schemeClr val="accent1"/>
          </a:solidFill>
          <a:ln/>
        </p:spPr>
      </p:sp>
      <p:sp>
        <p:nvSpPr>
          <p:cNvPr id="20" name="Rule number"/>
          <p:cNvSpPr txBox="1"/>
          <p:nvPr/>
        </p:nvSpPr>
        <p:spPr>
          <a:xfrm>
            <a:off x="685800" y="35112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1" name="Rule name"/>
          <p:cNvSpPr txBox="1"/>
          <p:nvPr/>
        </p:nvSpPr>
        <p:spPr>
          <a:xfrm>
            <a:off x="1234440" y="3355848"/>
            <a:ext cx="1188720" cy="69494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Share</a:t>
            </a:r>
            <a:endParaRPr lang="en-US" sz="1500" dirty="0"/>
          </a:p>
        </p:txBody>
      </p:sp>
      <p:sp>
        <p:nvSpPr>
          <p:cNvPr id="22" name="Rule text"/>
          <p:cNvSpPr txBox="1"/>
          <p:nvPr/>
        </p:nvSpPr>
        <p:spPr>
          <a:xfrm>
            <a:off x="2423160" y="3355848"/>
            <a:ext cx="4206240" cy="694944"/>
          </a:xfrm>
          <a:prstGeom prst="rect">
            <a:avLst/>
          </a:prstGeom>
          <a:noFill/>
          <a:ln/>
        </p:spPr>
        <p:txBody>
          <a:bodyPr wrap="square" lIns="0" tIns="0" rIns="0" bIns="0" rtlCol="0" anchor="ctr"/>
          <a:lstStyle/>
          <a:p>
            <a:pPr indent="0" marL="0">
              <a:buNone/>
            </a:pPr>
            <a:r>
              <a:rPr lang="en-US" sz="1250" dirty="0">
                <a:solidFill>
                  <a:schemeClr val="tx1"/>
                </a:solidFill>
              </a:rPr>
              <a:t>State impressions divided by the entity total. The total counts N/A rows or not, by parameter.</a:t>
            </a:r>
            <a:endParaRPr lang="en-US" sz="1250" dirty="0"/>
          </a:p>
        </p:txBody>
      </p:sp>
      <p:sp>
        <p:nvSpPr>
          <p:cNvPr id="23" name="Step pill"/>
          <p:cNvSpPr txBox="1"/>
          <p:nvPr/>
        </p:nvSpPr>
        <p:spPr>
          <a:xfrm>
            <a:off x="6766560" y="3566160"/>
            <a:ext cx="1325880"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900" b="1" spc="200" kern="0" dirty="0">
                <a:solidFill>
                  <a:schemeClr val="tx1"/>
                </a:solidFill>
              </a:rPr>
              <a:t>STEP 4 · GOLD</a:t>
            </a:r>
            <a:endParaRPr lang="en-US" sz="900" dirty="0"/>
          </a:p>
        </p:txBody>
      </p:sp>
      <p:sp>
        <p:nvSpPr>
          <p:cNvPr id="24" name="Rule Apportion"/>
          <p:cNvSpPr/>
          <p:nvPr/>
        </p:nvSpPr>
        <p:spPr>
          <a:xfrm>
            <a:off x="548640" y="4142232"/>
            <a:ext cx="7680960" cy="694944"/>
          </a:xfrm>
          <a:prstGeom prst="roundRect">
            <a:avLst>
              <a:gd name="adj" fmla="val 15789"/>
            </a:avLst>
          </a:prstGeom>
          <a:solidFill>
            <a:schemeClr val="bg2"/>
          </a:solidFill>
          <a:ln/>
        </p:spPr>
      </p:sp>
      <p:sp>
        <p:nvSpPr>
          <p:cNvPr id="25" name="Rule chip 4"/>
          <p:cNvSpPr/>
          <p:nvPr/>
        </p:nvSpPr>
        <p:spPr>
          <a:xfrm>
            <a:off x="685800" y="4297680"/>
            <a:ext cx="384048" cy="384048"/>
          </a:xfrm>
          <a:prstGeom prst="roundRect">
            <a:avLst>
              <a:gd name="adj" fmla="val 19048"/>
            </a:avLst>
          </a:prstGeom>
          <a:solidFill>
            <a:schemeClr val="accent1"/>
          </a:solidFill>
          <a:ln/>
        </p:spPr>
      </p:sp>
      <p:sp>
        <p:nvSpPr>
          <p:cNvPr id="26" name="Rule number"/>
          <p:cNvSpPr txBox="1"/>
          <p:nvPr/>
        </p:nvSpPr>
        <p:spPr>
          <a:xfrm>
            <a:off x="685800" y="4297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7" name="Rule name"/>
          <p:cNvSpPr txBox="1"/>
          <p:nvPr/>
        </p:nvSpPr>
        <p:spPr>
          <a:xfrm>
            <a:off x="1234440" y="4142232"/>
            <a:ext cx="1188720" cy="69494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Apportion</a:t>
            </a:r>
            <a:endParaRPr lang="en-US" sz="1500" dirty="0"/>
          </a:p>
        </p:txBody>
      </p:sp>
      <p:sp>
        <p:nvSpPr>
          <p:cNvPr id="28" name="Rule text"/>
          <p:cNvSpPr txBox="1"/>
          <p:nvPr/>
        </p:nvSpPr>
        <p:spPr>
          <a:xfrm>
            <a:off x="2423160" y="4142232"/>
            <a:ext cx="4206240" cy="694944"/>
          </a:xfrm>
          <a:prstGeom prst="rect">
            <a:avLst/>
          </a:prstGeom>
          <a:noFill/>
          <a:ln/>
        </p:spPr>
        <p:txBody>
          <a:bodyPr wrap="square" lIns="0" tIns="0" rIns="0" bIns="0" rtlCol="0" anchor="ctr"/>
          <a:lstStyle/>
          <a:p>
            <a:pPr indent="0" marL="0">
              <a:buNone/>
            </a:pPr>
            <a:r>
              <a:rPr lang="en-US" sz="1250" dirty="0">
                <a:solidFill>
                  <a:schemeClr val="tx1"/>
                </a:solidFill>
              </a:rPr>
              <a:t>Entity revenue for the period multiplied by the state's share.</a:t>
            </a:r>
            <a:endParaRPr lang="en-US" sz="1250" dirty="0"/>
          </a:p>
        </p:txBody>
      </p:sp>
      <p:sp>
        <p:nvSpPr>
          <p:cNvPr id="29" name="Step pill"/>
          <p:cNvSpPr txBox="1"/>
          <p:nvPr/>
        </p:nvSpPr>
        <p:spPr>
          <a:xfrm>
            <a:off x="6766560" y="4352544"/>
            <a:ext cx="1325880"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900" b="1" spc="200" kern="0" dirty="0">
                <a:solidFill>
                  <a:schemeClr val="tx1"/>
                </a:solidFill>
              </a:rPr>
              <a:t>STEP 4 · GOLD</a:t>
            </a:r>
            <a:endParaRPr lang="en-US" sz="900" dirty="0"/>
          </a:p>
        </p:txBody>
      </p:sp>
      <p:sp>
        <p:nvSpPr>
          <p:cNvPr id="30" name="Rule Tie out"/>
          <p:cNvSpPr/>
          <p:nvPr/>
        </p:nvSpPr>
        <p:spPr>
          <a:xfrm>
            <a:off x="548640" y="4928616"/>
            <a:ext cx="7680960" cy="694944"/>
          </a:xfrm>
          <a:prstGeom prst="roundRect">
            <a:avLst>
              <a:gd name="adj" fmla="val 15789"/>
            </a:avLst>
          </a:prstGeom>
          <a:solidFill>
            <a:schemeClr val="bg2"/>
          </a:solidFill>
          <a:ln/>
        </p:spPr>
      </p:sp>
      <p:sp>
        <p:nvSpPr>
          <p:cNvPr id="31" name="Rule chip 5"/>
          <p:cNvSpPr/>
          <p:nvPr/>
        </p:nvSpPr>
        <p:spPr>
          <a:xfrm>
            <a:off x="685800" y="5084064"/>
            <a:ext cx="384048" cy="384048"/>
          </a:xfrm>
          <a:prstGeom prst="roundRect">
            <a:avLst>
              <a:gd name="adj" fmla="val 19048"/>
            </a:avLst>
          </a:prstGeom>
          <a:solidFill>
            <a:schemeClr val="accent1"/>
          </a:solidFill>
          <a:ln/>
        </p:spPr>
      </p:sp>
      <p:sp>
        <p:nvSpPr>
          <p:cNvPr id="32" name="Rule number"/>
          <p:cNvSpPr txBox="1"/>
          <p:nvPr/>
        </p:nvSpPr>
        <p:spPr>
          <a:xfrm>
            <a:off x="685800" y="508406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3" name="Rule name"/>
          <p:cNvSpPr txBox="1"/>
          <p:nvPr/>
        </p:nvSpPr>
        <p:spPr>
          <a:xfrm>
            <a:off x="1234440" y="4928616"/>
            <a:ext cx="1188720" cy="694944"/>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Tie out</a:t>
            </a:r>
            <a:endParaRPr lang="en-US" sz="1500" dirty="0"/>
          </a:p>
        </p:txBody>
      </p:sp>
      <p:sp>
        <p:nvSpPr>
          <p:cNvPr id="34" name="Rule text"/>
          <p:cNvSpPr txBox="1"/>
          <p:nvPr/>
        </p:nvSpPr>
        <p:spPr>
          <a:xfrm>
            <a:off x="2423160" y="4928616"/>
            <a:ext cx="4206240" cy="694944"/>
          </a:xfrm>
          <a:prstGeom prst="rect">
            <a:avLst/>
          </a:prstGeom>
          <a:noFill/>
          <a:ln/>
        </p:spPr>
        <p:txBody>
          <a:bodyPr wrap="square" lIns="0" tIns="0" rIns="0" bIns="0" rtlCol="0" anchor="ctr"/>
          <a:lstStyle/>
          <a:p>
            <a:pPr indent="0" marL="0">
              <a:buNone/>
            </a:pPr>
            <a:r>
              <a:rPr lang="en-US" sz="1250" dirty="0">
                <a:solidFill>
                  <a:schemeClr val="tx1"/>
                </a:solidFill>
              </a:rPr>
              <a:t>Each entity's apportioned total must equal its revenue.</a:t>
            </a:r>
            <a:endParaRPr lang="en-US" sz="1250" dirty="0"/>
          </a:p>
        </p:txBody>
      </p:sp>
      <p:sp>
        <p:nvSpPr>
          <p:cNvPr id="35" name="Step pill"/>
          <p:cNvSpPr txBox="1"/>
          <p:nvPr/>
        </p:nvSpPr>
        <p:spPr>
          <a:xfrm>
            <a:off x="6766560" y="5138928"/>
            <a:ext cx="1325880" cy="274320"/>
          </a:xfrm>
          <a:prstGeom prst="roundRect">
            <a:avLst>
              <a:gd name="adj" fmla="val 50000"/>
            </a:avLst>
          </a:prstGeom>
          <a:solidFill>
            <a:schemeClr val="bg2"/>
          </a:solidFill>
          <a:ln/>
        </p:spPr>
        <p:txBody>
          <a:bodyPr wrap="square" lIns="0" tIns="0" rIns="0" bIns="0" rtlCol="0" anchor="ctr"/>
          <a:lstStyle/>
          <a:p>
            <a:pPr algn="ctr" indent="0" marL="0">
              <a:buNone/>
            </a:pPr>
            <a:r>
              <a:rPr lang="en-US" sz="900" b="1" spc="200" kern="0" dirty="0">
                <a:solidFill>
                  <a:schemeClr val="tx1"/>
                </a:solidFill>
              </a:rPr>
              <a:t>STEP 5 · GATE</a:t>
            </a:r>
            <a:endParaRPr lang="en-US" sz="900" dirty="0"/>
          </a:p>
        </p:txBody>
      </p:sp>
      <p:sp>
        <p:nvSpPr>
          <p:cNvPr id="36" name="Trap card"/>
          <p:cNvSpPr/>
          <p:nvPr/>
        </p:nvSpPr>
        <p:spPr>
          <a:xfrm>
            <a:off x="8412480" y="1783080"/>
            <a:ext cx="3227832" cy="1874520"/>
          </a:xfrm>
          <a:prstGeom prst="roundRect">
            <a:avLst>
              <a:gd name="adj" fmla="val 5854"/>
            </a:avLst>
          </a:prstGeom>
          <a:solidFill>
            <a:schemeClr val="accent3">
              <a:alpha val="22000"/>
            </a:schemeClr>
          </a:solidFill>
          <a:ln/>
        </p:spPr>
      </p:sp>
      <p:sp>
        <p:nvSpPr>
          <p:cNvPr id="37" name="Trap title"/>
          <p:cNvSpPr txBox="1"/>
          <p:nvPr/>
        </p:nvSpPr>
        <p:spPr>
          <a:xfrm>
            <a:off x="8613648" y="1874520"/>
            <a:ext cx="283464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Built-in traps</a:t>
            </a:r>
            <a:endParaRPr lang="en-US" sz="1600" dirty="0"/>
          </a:p>
        </p:txBody>
      </p:sp>
      <p:sp>
        <p:nvSpPr>
          <p:cNvPr id="38" name="Trap list"/>
          <p:cNvSpPr txBox="1"/>
          <p:nvPr/>
        </p:nvSpPr>
        <p:spPr>
          <a:xfrm>
            <a:off x="8613648" y="2240280"/>
            <a:ext cx="2880360" cy="137160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1"/>
                </a:solidFill>
              </a:rPr>
              <a:t>mystery_unit has no entity.</a:t>
            </a:r>
            <a:endParaRPr lang="en-US" sz="1250" dirty="0"/>
          </a:p>
          <a:p>
            <a:pPr marL="342900" indent="-342900">
              <a:spcAft>
                <a:spcPts val="400"/>
              </a:spcAft>
              <a:buSzPct val="100000"/>
              <a:buChar char="•"/>
            </a:pPr>
            <a:r>
              <a:rPr lang="en-US" sz="1250" dirty="0">
                <a:solidFill>
                  <a:schemeClr val="tx1"/>
                </a:solidFill>
              </a:rPr>
              <a:t>Two kinds of missing region.</a:t>
            </a:r>
            <a:endParaRPr lang="en-US" sz="1250" dirty="0"/>
          </a:p>
          <a:p>
            <a:pPr marL="342900" indent="-342900">
              <a:spcAft>
                <a:spcPts val="400"/>
              </a:spcAft>
              <a:buSzPct val="100000"/>
              <a:buChar char="•"/>
            </a:pPr>
            <a:r>
              <a:rPr lang="en-US" sz="1250" dirty="0">
                <a:solidFill>
                  <a:schemeClr val="tx1"/>
                </a:solidFill>
              </a:rPr>
              <a:t>A month whose text could pass for a date.</a:t>
            </a:r>
            <a:endParaRPr lang="en-US" sz="1250" dirty="0"/>
          </a:p>
        </p:txBody>
      </p:sp>
      <p:sp>
        <p:nvSpPr>
          <p:cNvPr id="39" name="Scope card"/>
          <p:cNvSpPr/>
          <p:nvPr/>
        </p:nvSpPr>
        <p:spPr>
          <a:xfrm>
            <a:off x="8412480" y="3794760"/>
            <a:ext cx="3227832" cy="1920240"/>
          </a:xfrm>
          <a:prstGeom prst="roundRect">
            <a:avLst>
              <a:gd name="adj" fmla="val 5714"/>
            </a:avLst>
          </a:prstGeom>
          <a:solidFill>
            <a:schemeClr val="bg2"/>
          </a:solidFill>
          <a:ln/>
        </p:spPr>
      </p:sp>
      <p:sp>
        <p:nvSpPr>
          <p:cNvPr id="40" name="Scope title"/>
          <p:cNvSpPr txBox="1"/>
          <p:nvPr/>
        </p:nvSpPr>
        <p:spPr>
          <a:xfrm>
            <a:off x="8613648" y="3886200"/>
            <a:ext cx="283464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Scope</a:t>
            </a:r>
            <a:endParaRPr lang="en-US" sz="1600" dirty="0"/>
          </a:p>
        </p:txBody>
      </p:sp>
      <p:sp>
        <p:nvSpPr>
          <p:cNvPr id="41" name="Scope text"/>
          <p:cNvSpPr txBox="1"/>
          <p:nvPr/>
        </p:nvSpPr>
        <p:spPr>
          <a:xfrm>
            <a:off x="8613648" y="4251960"/>
            <a:ext cx="2880360" cy="1371600"/>
          </a:xfrm>
          <a:prstGeom prst="rect">
            <a:avLst/>
          </a:prstGeom>
          <a:noFill/>
          <a:ln/>
        </p:spPr>
        <p:txBody>
          <a:bodyPr wrap="square" lIns="0" tIns="0" rIns="0" bIns="0" rtlCol="0" anchor="t"/>
          <a:lstStyle/>
          <a:p>
            <a:pPr indent="0" marL="0">
              <a:buNone/>
            </a:pPr>
            <a:r>
              <a:rPr lang="en-US" sz="1250" dirty="0">
                <a:solidFill>
                  <a:schemeClr val="tx1"/>
                </a:solidFill>
              </a:rPr>
              <a:t>Two entities, two months, 14 impression rows. The same rules as the DST workflow, small enough to check by eye.</a:t>
            </a:r>
            <a:endParaRPr lang="en-US" sz="1250" dirty="0"/>
          </a:p>
        </p:txBody>
      </p:sp>
      <p:sp>
        <p:nvSpPr>
          <p:cNvPr id="42" name="Footnote"/>
          <p:cNvSpPr txBox="1"/>
          <p:nvPr/>
        </p:nvSpPr>
        <p:spPr>
          <a:xfrm>
            <a:off x="548640" y="58978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Simplified from the DST apportionment logic. All numbers are invented for training.</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lab kit: five small files in one folder</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graphicFrame>
        <p:nvGraphicFramePr>
          <p:cNvPr id="30" name="Lab kit fil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383280"/>
                <a:gridCol w="1097280"/>
                <a:gridCol w="6611112"/>
              </a:tblGrid>
              <a:tr h="384048">
                <a:tc>
                  <a:txBody>
                    <a:bodyPr/>
                    <a:lstStyle/>
                    <a:p>
                      <a:pPr indent="0" marL="0">
                        <a:buNone/>
                      </a:pPr>
                      <a:r>
                        <a:rPr lang="en-US" sz="1300" b="1" dirty="0">
                          <a:solidFill>
                            <a:schemeClr val="bg1"/>
                          </a:solidFill>
                        </a:rPr>
                        <a:t>File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Size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What to notice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impressions_2025-01.csv</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7 rows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Region is blank on one row and NO REGION on another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impressions_2025-02.csv</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7 rows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Same shape, a second month</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ad_unit_map.csv</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2 rows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mystery_unit is not in the map</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revenue.csv</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4 rows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One row per entity per month</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alteryx_expected.csv</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20 rows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Answer key, worked out independently. Not an Alteryx export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7" name="Where card"/>
          <p:cNvSpPr/>
          <p:nvPr/>
        </p:nvSpPr>
        <p:spPr>
          <a:xfrm>
            <a:off x="548640" y="4892040"/>
            <a:ext cx="5486400" cy="914400"/>
          </a:xfrm>
          <a:prstGeom prst="roundRect">
            <a:avLst>
              <a:gd name="adj" fmla="val 12000"/>
            </a:avLst>
          </a:prstGeom>
          <a:solidFill>
            <a:schemeClr val="bg2"/>
          </a:solidFill>
          <a:ln/>
        </p:spPr>
      </p:sp>
      <p:sp>
        <p:nvSpPr>
          <p:cNvPr id="8" name="Where text"/>
          <p:cNvSpPr txBox="1"/>
          <p:nvPr/>
        </p:nvSpPr>
        <p:spPr>
          <a:xfrm>
            <a:off x="777240" y="4892040"/>
            <a:ext cx="5074920" cy="914400"/>
          </a:xfrm>
          <a:prstGeom prst="rect">
            <a:avLst/>
          </a:prstGeom>
          <a:noFill/>
          <a:ln/>
        </p:spPr>
        <p:txBody>
          <a:bodyPr wrap="square" lIns="0" tIns="0" rIns="0" bIns="0" rtlCol="0" anchor="ctr"/>
          <a:lstStyle/>
          <a:p>
            <a:pPr indent="0" marL="0">
              <a:buNone/>
            </a:pPr>
            <a:r>
              <a:rPr lang="en-US" sz="1300" b="1" dirty="0">
                <a:solidFill>
                  <a:schemeClr val="tx1"/>
                </a:solidFill>
              </a:rPr>
              <a:t>Where they live  </a:t>
            </a:r>
            <a:pPr indent="0" marL="0">
              <a:buNone/>
            </a:pPr>
            <a:r>
              <a:rPr lang="en-US" sz="1300" b="1" dirty="0">
                <a:solidFill>
                  <a:schemeClr val="accent1"/>
                </a:solidFill>
                <a:latin typeface="Courier New" pitchFamily="34" charset="0"/>
                <a:ea typeface="Courier New" pitchFamily="34" charset="-122"/>
                <a:cs typeface="Courier New" pitchFamily="34" charset="-120"/>
              </a:rPr>
              <a:t>Files/raw/dst</a:t>
            </a:r>
            <a:pPr indent="0" marL="0">
              <a:buNone/>
            </a:pPr>
            <a:r>
              <a:rPr lang="en-US" sz="1300" dirty="0">
                <a:solidFill>
                  <a:schemeClr val="tx1"/>
                </a:solidFill>
              </a:rPr>
              <a:t> in your lakehouse. Attach the lakehouse to the notebook before step 2.</a:t>
            </a:r>
            <a:endParaRPr lang="en-US" sz="1300" dirty="0"/>
          </a:p>
        </p:txBody>
      </p:sp>
      <p:sp>
        <p:nvSpPr>
          <p:cNvPr id="9" name="Key card"/>
          <p:cNvSpPr/>
          <p:nvPr/>
        </p:nvSpPr>
        <p:spPr>
          <a:xfrm>
            <a:off x="6263640" y="4892040"/>
            <a:ext cx="5376672" cy="914400"/>
          </a:xfrm>
          <a:prstGeom prst="roundRect">
            <a:avLst>
              <a:gd name="adj" fmla="val 12000"/>
            </a:avLst>
          </a:prstGeom>
          <a:solidFill>
            <a:schemeClr val="accent3">
              <a:alpha val="22000"/>
            </a:schemeClr>
          </a:solidFill>
          <a:ln/>
        </p:spPr>
      </p:sp>
      <p:sp>
        <p:nvSpPr>
          <p:cNvPr id="10" name="Key text"/>
          <p:cNvSpPr txBox="1"/>
          <p:nvPr/>
        </p:nvSpPr>
        <p:spPr>
          <a:xfrm>
            <a:off x="6492240" y="4892040"/>
            <a:ext cx="4937760" cy="914400"/>
          </a:xfrm>
          <a:prstGeom prst="rect">
            <a:avLst/>
          </a:prstGeom>
          <a:noFill/>
          <a:ln/>
        </p:spPr>
        <p:txBody>
          <a:bodyPr wrap="square" lIns="0" tIns="0" rIns="0" bIns="0" rtlCol="0" anchor="ctr"/>
          <a:lstStyle/>
          <a:p>
            <a:pPr indent="0" marL="0">
              <a:buNone/>
            </a:pPr>
            <a:r>
              <a:rPr lang="en-US" sz="1300" b="1" dirty="0">
                <a:solidFill>
                  <a:schemeClr val="tx1"/>
                </a:solidFill>
              </a:rPr>
              <a:t>The answer key </a:t>
            </a:r>
            <a:pPr indent="0" marL="0">
              <a:buNone/>
            </a:pPr>
            <a:r>
              <a:rPr lang="en-US" sz="1300" dirty="0">
                <a:solidFill>
                  <a:schemeClr val="tx1"/>
                </a:solidFill>
              </a:rPr>
              <a:t>is for step 6. Resist opening it until your gate has passed.</a:t>
            </a:r>
            <a:endParaRPr lang="en-US" sz="1300" dirty="0"/>
          </a:p>
        </p:txBody>
      </p:sp>
      <p:sp>
        <p:nvSpPr>
          <p:cNvPr id="11"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Facilitator: the appendix script writes all five files. Replace the answer key with a real Alteryx run if you have one.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 · STEP 1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1: declare the inputs and refuse bad ones</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bg2"/>
          </a:solidFill>
          <a:ln/>
        </p:spPr>
      </p:sp>
      <p:sp>
        <p:nvSpPr>
          <p:cNvPr id="8" name="Progress 3"/>
          <p:cNvSpPr/>
          <p:nvPr/>
        </p:nvSpPr>
        <p:spPr>
          <a:xfrm>
            <a:off x="4271162" y="1481328"/>
            <a:ext cx="1788109" cy="73152"/>
          </a:xfrm>
          <a:prstGeom prst="roundRect">
            <a:avLst>
              <a:gd name="adj" fmla="val 50000"/>
            </a:avLst>
          </a:prstGeom>
          <a:solidFill>
            <a:schemeClr val="bg2"/>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Parameters"/>
          <p:cNvSpPr/>
          <p:nvPr/>
        </p:nvSpPr>
        <p:spPr>
          <a:xfrm>
            <a:off x="548640" y="1783080"/>
            <a:ext cx="7315200" cy="2194560"/>
          </a:xfrm>
          <a:prstGeom prst="roundRect">
            <a:avLst>
              <a:gd name="adj" fmla="val 4167"/>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1 · PARAMETERS</a:t>
            </a:r>
            <a:endParaRPr lang="en-US" sz="1000" dirty="0"/>
          </a:p>
        </p:txBody>
      </p:sp>
      <p:sp>
        <p:nvSpPr>
          <p:cNvPr id="14" name="Parameters text"/>
          <p:cNvSpPr txBox="1"/>
          <p:nvPr/>
        </p:nvSpPr>
        <p:spPr>
          <a:xfrm>
            <a:off x="749808" y="2167128"/>
            <a:ext cx="6912864" cy="1700784"/>
          </a:xfrm>
          <a:prstGeom prst="rect">
            <a:avLst/>
          </a:prstGeom>
          <a:noFill/>
          <a:ln/>
        </p:spPr>
        <p:txBody>
          <a:bodyPr wrap="square" lIns="0" tIns="0" rIns="0" bIns="0" rtlCol="0" anchor="t"/>
          <a:lstStyle/>
          <a:p>
            <a:pPr indent="0" marL="0">
              <a:buNone/>
            </a:pPr>
            <a:r>
              <a:rPr lang="en-US" sz="1100" i="1" dirty="0">
                <a:solidFill>
                  <a:schemeClr val="accent5"/>
                </a:solidFill>
                <a:latin typeface="Courier New" pitchFamily="34" charset="0"/>
                <a:ea typeface="Courier New" pitchFamily="34" charset="-122"/>
                <a:cs typeface="Courier New" pitchFamily="34" charset="-120"/>
              </a:rPr>
              <a:t># Parameters: the pipeline overrides these values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"2025-01"</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i="1" dirty="0">
                <a:solidFill>
                  <a:schemeClr val="accent5"/>
                </a:solidFill>
                <a:latin typeface="Courier New" pitchFamily="34" charset="0"/>
                <a:ea typeface="Courier New" pitchFamily="34" charset="-122"/>
                <a:cs typeface="Courier New" pitchFamily="34" charset="-120"/>
              </a:rPr>
              <a:t># reporting period, YYYY-MM</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denominator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"without_na"</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i="1" dirty="0">
                <a:solidFill>
                  <a:schemeClr val="accent5"/>
                </a:solidFill>
                <a:latin typeface="Courier New" pitchFamily="34" charset="0"/>
                <a:ea typeface="Courier New" pitchFamily="34" charset="-122"/>
                <a:cs typeface="Courier New" pitchFamily="34" charset="-120"/>
              </a:rPr>
              <a:t># or "with_na"</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run_id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"manual"</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i="1" dirty="0">
                <a:solidFill>
                  <a:schemeClr val="accent5"/>
                </a:solidFill>
                <a:latin typeface="Courier New" pitchFamily="34" charset="0"/>
                <a:ea typeface="Courier New" pitchFamily="34" charset="-122"/>
                <a:cs typeface="Courier New" pitchFamily="34" charset="-120"/>
              </a:rPr>
              <a:t># the pipeline passes its run 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import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re</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assert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fullmatch</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r</a:t>
            </a:r>
            <a:pPr indent="0" marL="0">
              <a:buNone/>
            </a:pPr>
            <a:r>
              <a:rPr lang="en-US" sz="1100" dirty="0">
                <a:solidFill>
                  <a:schemeClr val="accent3"/>
                </a:solidFill>
                <a:latin typeface="Courier New" pitchFamily="34" charset="0"/>
                <a:ea typeface="Courier New" pitchFamily="34" charset="-122"/>
                <a:cs typeface="Courier New" pitchFamily="34" charset="-120"/>
              </a:rPr>
              <a:t>"\d{4}-\d{2}"</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accent3"/>
                </a:solidFill>
                <a:latin typeface="Courier New" pitchFamily="34" charset="0"/>
                <a:ea typeface="Courier New" pitchFamily="34" charset="-122"/>
                <a:cs typeface="Courier New" pitchFamily="34" charset="-120"/>
              </a:rPr>
              <a:t>"bad period: {period!r}"</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assert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denominator</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in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"without_na"</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"with_na"</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accent3"/>
                </a:solidFill>
                <a:latin typeface="Courier New" pitchFamily="34" charset="0"/>
                <a:ea typeface="Courier New" pitchFamily="34" charset="-122"/>
                <a:cs typeface="Courier New" pitchFamily="34" charset="-120"/>
              </a:rPr>
              <a:t>"bad value: {denominator!r}"</a:t>
            </a:r>
            <a:endParaRPr lang="en-US" sz="1100" dirty="0"/>
          </a:p>
        </p:txBody>
      </p:sp>
      <p:sp>
        <p:nvSpPr>
          <p:cNvPr id="15" name="Defaults, not secrets"/>
          <p:cNvSpPr/>
          <p:nvPr/>
        </p:nvSpPr>
        <p:spPr>
          <a:xfrm>
            <a:off x="548640" y="4206240"/>
            <a:ext cx="2359152" cy="1691640"/>
          </a:xfrm>
          <a:prstGeom prst="roundRect">
            <a:avLst>
              <a:gd name="adj" fmla="val 6486"/>
            </a:avLst>
          </a:prstGeom>
          <a:solidFill>
            <a:schemeClr val="bg2"/>
          </a:solidFill>
          <a:ln/>
        </p:spPr>
      </p:sp>
      <p:sp>
        <p:nvSpPr>
          <p:cNvPr id="16" name="Why title"/>
          <p:cNvSpPr txBox="1"/>
          <p:nvPr/>
        </p:nvSpPr>
        <p:spPr>
          <a:xfrm>
            <a:off x="685800" y="4279392"/>
            <a:ext cx="2103120" cy="3200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Defaults, not secrets</a:t>
            </a:r>
            <a:endParaRPr lang="en-US" sz="1400" dirty="0"/>
          </a:p>
        </p:txBody>
      </p:sp>
      <p:sp>
        <p:nvSpPr>
          <p:cNvPr id="17" name="Why text"/>
          <p:cNvSpPr txBox="1"/>
          <p:nvPr/>
        </p:nvSpPr>
        <p:spPr>
          <a:xfrm>
            <a:off x="685800" y="4663440"/>
            <a:ext cx="2103120" cy="1188720"/>
          </a:xfrm>
          <a:prstGeom prst="rect">
            <a:avLst/>
          </a:prstGeom>
          <a:noFill/>
          <a:ln/>
        </p:spPr>
        <p:txBody>
          <a:bodyPr wrap="square" lIns="0" tIns="0" rIns="0" bIns="0" rtlCol="0" anchor="t"/>
          <a:lstStyle/>
          <a:p>
            <a:pPr indent="0" marL="0">
              <a:buNone/>
            </a:pPr>
            <a:r>
              <a:rPr lang="en-US" sz="1250" dirty="0">
                <a:solidFill>
                  <a:schemeClr val="tx1"/>
                </a:solidFill>
              </a:rPr>
              <a:t>Safe values you can run as they are. The pipeline replaces them.</a:t>
            </a:r>
            <a:endParaRPr lang="en-US" sz="1250" dirty="0"/>
          </a:p>
        </p:txBody>
      </p:sp>
      <p:sp>
        <p:nvSpPr>
          <p:cNvPr id="18" name="Checked first"/>
          <p:cNvSpPr/>
          <p:nvPr/>
        </p:nvSpPr>
        <p:spPr>
          <a:xfrm>
            <a:off x="3017520" y="4206240"/>
            <a:ext cx="2359152" cy="1691640"/>
          </a:xfrm>
          <a:prstGeom prst="roundRect">
            <a:avLst>
              <a:gd name="adj" fmla="val 6486"/>
            </a:avLst>
          </a:prstGeom>
          <a:solidFill>
            <a:schemeClr val="bg2"/>
          </a:solidFill>
          <a:ln/>
        </p:spPr>
      </p:sp>
      <p:sp>
        <p:nvSpPr>
          <p:cNvPr id="19" name="Why title"/>
          <p:cNvSpPr txBox="1"/>
          <p:nvPr/>
        </p:nvSpPr>
        <p:spPr>
          <a:xfrm>
            <a:off x="3154680" y="4279392"/>
            <a:ext cx="2103120" cy="3200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Checked first</a:t>
            </a:r>
            <a:endParaRPr lang="en-US" sz="1400" dirty="0"/>
          </a:p>
        </p:txBody>
      </p:sp>
      <p:sp>
        <p:nvSpPr>
          <p:cNvPr id="20" name="Why text"/>
          <p:cNvSpPr txBox="1"/>
          <p:nvPr/>
        </p:nvSpPr>
        <p:spPr>
          <a:xfrm>
            <a:off x="3154680" y="4663440"/>
            <a:ext cx="2103120" cy="1188720"/>
          </a:xfrm>
          <a:prstGeom prst="rect">
            <a:avLst/>
          </a:prstGeom>
          <a:noFill/>
          <a:ln/>
        </p:spPr>
        <p:txBody>
          <a:bodyPr wrap="square" lIns="0" tIns="0" rIns="0" bIns="0" rtlCol="0" anchor="t"/>
          <a:lstStyle/>
          <a:p>
            <a:pPr indent="0" marL="0">
              <a:buNone/>
            </a:pPr>
            <a:r>
              <a:rPr lang="en-US" sz="1250" dirty="0">
                <a:solidFill>
                  <a:schemeClr val="tx1"/>
                </a:solidFill>
              </a:rPr>
              <a:t>A bad value fails here, before any data moves.</a:t>
            </a:r>
            <a:endParaRPr lang="en-US" sz="1250" dirty="0"/>
          </a:p>
        </p:txBody>
      </p:sp>
      <p:sp>
        <p:nvSpPr>
          <p:cNvPr id="21" name="One run ID"/>
          <p:cNvSpPr/>
          <p:nvPr/>
        </p:nvSpPr>
        <p:spPr>
          <a:xfrm>
            <a:off x="5486400" y="4206240"/>
            <a:ext cx="2359152" cy="1691640"/>
          </a:xfrm>
          <a:prstGeom prst="roundRect">
            <a:avLst>
              <a:gd name="adj" fmla="val 6486"/>
            </a:avLst>
          </a:prstGeom>
          <a:solidFill>
            <a:schemeClr val="bg2"/>
          </a:solidFill>
          <a:ln/>
        </p:spPr>
      </p:sp>
      <p:sp>
        <p:nvSpPr>
          <p:cNvPr id="22" name="Why title"/>
          <p:cNvSpPr txBox="1"/>
          <p:nvPr/>
        </p:nvSpPr>
        <p:spPr>
          <a:xfrm>
            <a:off x="5623560" y="4279392"/>
            <a:ext cx="2103120" cy="3200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One run ID</a:t>
            </a:r>
            <a:endParaRPr lang="en-US" sz="1400" dirty="0"/>
          </a:p>
        </p:txBody>
      </p:sp>
      <p:sp>
        <p:nvSpPr>
          <p:cNvPr id="23" name="Why text"/>
          <p:cNvSpPr txBox="1"/>
          <p:nvPr/>
        </p:nvSpPr>
        <p:spPr>
          <a:xfrm>
            <a:off x="5623560" y="4663440"/>
            <a:ext cx="2103120" cy="1188720"/>
          </a:xfrm>
          <a:prstGeom prst="rect">
            <a:avLst/>
          </a:prstGeom>
          <a:noFill/>
          <a:ln/>
        </p:spPr>
        <p:txBody>
          <a:bodyPr wrap="square" lIns="0" tIns="0" rIns="0" bIns="0" rtlCol="0" anchor="t"/>
          <a:lstStyle/>
          <a:p>
            <a:pPr indent="0" marL="0">
              <a:buNone/>
            </a:pPr>
            <a:r>
              <a:rPr lang="en-US" sz="1250" dirty="0">
                <a:solidFill>
                  <a:schemeClr val="tx1"/>
                </a:solidFill>
              </a:rPr>
              <a:t>It ties bronze rows, gold rows and the run log together.</a:t>
            </a:r>
            <a:endParaRPr lang="en-US" sz="1250" dirty="0"/>
          </a:p>
        </p:txBody>
      </p:sp>
      <p:sp>
        <p:nvSpPr>
          <p:cNvPr id="24" name="Do this card"/>
          <p:cNvSpPr/>
          <p:nvPr/>
        </p:nvSpPr>
        <p:spPr>
          <a:xfrm>
            <a:off x="8092440" y="1783080"/>
            <a:ext cx="3547872" cy="2203704"/>
          </a:xfrm>
          <a:prstGeom prst="roundRect">
            <a:avLst>
              <a:gd name="adj" fmla="val 4979"/>
            </a:avLst>
          </a:prstGeom>
          <a:solidFill>
            <a:schemeClr val="bg2"/>
          </a:solidFill>
          <a:ln/>
        </p:spPr>
      </p:sp>
      <p:sp>
        <p:nvSpPr>
          <p:cNvPr id="25"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6" name="Do chip 1"/>
          <p:cNvSpPr/>
          <p:nvPr/>
        </p:nvSpPr>
        <p:spPr>
          <a:xfrm>
            <a:off x="8293608" y="2377440"/>
            <a:ext cx="310896" cy="310896"/>
          </a:xfrm>
          <a:prstGeom prst="roundRect">
            <a:avLst>
              <a:gd name="adj" fmla="val 23529"/>
            </a:avLst>
          </a:prstGeom>
          <a:solidFill>
            <a:schemeClr val="accent1"/>
          </a:solidFill>
          <a:ln/>
        </p:spPr>
      </p:sp>
      <p:sp>
        <p:nvSpPr>
          <p:cNvPr id="27"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8"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Create a notebook, attach your lakehouse, and name it nb_dst_apportion.</a:t>
            </a:r>
            <a:endParaRPr lang="en-US" sz="1250" dirty="0"/>
          </a:p>
        </p:txBody>
      </p:sp>
      <p:sp>
        <p:nvSpPr>
          <p:cNvPr id="29" name="Do chip 2"/>
          <p:cNvSpPr/>
          <p:nvPr/>
        </p:nvSpPr>
        <p:spPr>
          <a:xfrm>
            <a:off x="8293608" y="2944368"/>
            <a:ext cx="310896" cy="310896"/>
          </a:xfrm>
          <a:prstGeom prst="roundRect">
            <a:avLst>
              <a:gd name="adj" fmla="val 23529"/>
            </a:avLst>
          </a:prstGeom>
          <a:solidFill>
            <a:schemeClr val="accent1"/>
          </a:solidFill>
          <a:ln/>
        </p:spPr>
      </p:sp>
      <p:sp>
        <p:nvSpPr>
          <p:cNvPr id="30"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31"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Paste the cell. Use the cell menu: Toggle parameter cell.</a:t>
            </a:r>
            <a:endParaRPr lang="en-US" sz="1250" dirty="0"/>
          </a:p>
        </p:txBody>
      </p:sp>
      <p:sp>
        <p:nvSpPr>
          <p:cNvPr id="32" name="Do chip 3"/>
          <p:cNvSpPr/>
          <p:nvPr/>
        </p:nvSpPr>
        <p:spPr>
          <a:xfrm>
            <a:off x="8293608" y="3511296"/>
            <a:ext cx="310896" cy="310896"/>
          </a:xfrm>
          <a:prstGeom prst="roundRect">
            <a:avLst>
              <a:gd name="adj" fmla="val 23529"/>
            </a:avLst>
          </a:prstGeom>
          <a:solidFill>
            <a:schemeClr val="accent1"/>
          </a:solidFill>
          <a:ln/>
        </p:spPr>
      </p:sp>
      <p:sp>
        <p:nvSpPr>
          <p:cNvPr id="33"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4"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Set period to Jan-25 and run it. Then put it back.</a:t>
            </a:r>
            <a:endParaRPr lang="en-US" sz="1250" dirty="0"/>
          </a:p>
        </p:txBody>
      </p:sp>
      <p:sp>
        <p:nvSpPr>
          <p:cNvPr id="35"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6"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7"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100" dirty="0">
                <a:solidFill>
                  <a:schemeClr val="tx1"/>
                </a:solidFill>
                <a:latin typeface="Courier New" pitchFamily="34" charset="0"/>
                <a:ea typeface="Courier New" pitchFamily="34" charset="-122"/>
                <a:cs typeface="Courier New" pitchFamily="34" charset="-120"/>
              </a:rPr>
              <a:t>AssertionError: bad period: 'Jan-25'</a:t>
            </a:r>
            <a:endParaRPr lang="en-US" sz="1250" dirty="0"/>
          </a:p>
          <a:p>
            <a:pPr indent="0" marL="0">
              <a:buNone/>
            </a:pPr>
            <a:endParaRPr lang="en-US" sz="1250" dirty="0"/>
          </a:p>
          <a:p>
            <a:pPr indent="0" marL="0">
              <a:buNone/>
            </a:pPr>
            <a:r>
              <a:rPr lang="en-US" sz="1250" dirty="0">
                <a:solidFill>
                  <a:schemeClr val="tx1"/>
                </a:solidFill>
              </a:rPr>
              <a:t>The run stops before it reads a file.</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 · STEP 2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2: bronze keeps the files as they arrived</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bg2"/>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Bronze"/>
          <p:cNvSpPr/>
          <p:nvPr/>
        </p:nvSpPr>
        <p:spPr>
          <a:xfrm>
            <a:off x="548640" y="1783080"/>
            <a:ext cx="7315200" cy="3385947"/>
          </a:xfrm>
          <a:prstGeom prst="roundRect">
            <a:avLst>
              <a:gd name="adj" fmla="val 2701"/>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2 · LOAD BRONZE</a:t>
            </a:r>
            <a:endParaRPr lang="en-US" sz="1000" dirty="0"/>
          </a:p>
        </p:txBody>
      </p:sp>
      <p:sp>
        <p:nvSpPr>
          <p:cNvPr id="14" name="Bronze text"/>
          <p:cNvSpPr txBox="1"/>
          <p:nvPr/>
        </p:nvSpPr>
        <p:spPr>
          <a:xfrm>
            <a:off x="749808" y="2167128"/>
            <a:ext cx="6912864" cy="2892171"/>
          </a:xfrm>
          <a:prstGeom prst="rect">
            <a:avLst/>
          </a:prstGeom>
          <a:noFill/>
          <a:ln/>
        </p:spPr>
        <p:txBody>
          <a:bodyPr wrap="square" lIns="0" tIns="0" rIns="0" bIns="0" rtlCol="0" anchor="t"/>
          <a:lstStyle/>
          <a:p>
            <a:pPr indent="0" marL="0">
              <a:buNone/>
            </a:pPr>
            <a:r>
              <a:rPr lang="en-US" sz="1150" dirty="0">
                <a:solidFill>
                  <a:schemeClr val="accent2"/>
                </a:solidFill>
                <a:latin typeface="Courier New" pitchFamily="34" charset="0"/>
                <a:ea typeface="Courier New" pitchFamily="34" charset="-122"/>
                <a:cs typeface="Courier New" pitchFamily="34" charset="-120"/>
              </a:rPr>
              <a:t>from</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pyspark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sql</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import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functions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as</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Window</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accent2"/>
                </a:solidFill>
                <a:latin typeface="Courier New" pitchFamily="34" charset="0"/>
                <a:ea typeface="Courier New" pitchFamily="34" charset="-122"/>
                <a:cs typeface="Courier New" pitchFamily="34" charset="-120"/>
              </a:rPr>
              <a:t>def</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load_bronze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path</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schema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read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option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"header"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2"/>
                </a:solidFill>
                <a:latin typeface="Courier New" pitchFamily="34" charset="0"/>
                <a:ea typeface="Courier New" pitchFamily="34" charset="-122"/>
                <a:cs typeface="Courier New" pitchFamily="34" charset="-120"/>
              </a:rPr>
              <a:t>True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schema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schema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csv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path</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"_source_file"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input_file_name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"_run_id"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lit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run_id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"_loaded_at"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current_timestamp</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mode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"overwrite"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saveAsTable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load_bronze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"Files/raw/dst/impressions_*.csv"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"bronze_dst_impressions"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"period string, ad_unit string, region string, impressions int"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load_bronze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"Files/raw/dst/revenue.csv"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"bronze_dst_revenue"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"period string, entity string, amount double"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load_bronze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"Files/raw/dst/ad_unit_map.csv"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"ref_dst_ad_unit_map"</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"ad_unit string, entity string"</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Upload the five kit files to Files/raw/dst if the facilitator has not.</a:t>
            </a:r>
            <a:endParaRPr lang="en-US" sz="125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Paste the cell and run it.</a:t>
            </a:r>
            <a:endParaRPr lang="en-US" sz="125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Refresh the lakehouse. Open the three new tables.</a:t>
            </a:r>
            <a:endParaRPr lang="en-US" sz="125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050" dirty="0">
                <a:solidFill>
                  <a:schemeClr val="tx1"/>
                </a:solidFill>
                <a:latin typeface="Courier New" pitchFamily="34" charset="0"/>
                <a:ea typeface="Courier New" pitchFamily="34" charset="-122"/>
                <a:cs typeface="Courier New" pitchFamily="34" charset="-120"/>
              </a:rPr>
              <a:t>bronze_dst_impressions  14 rows</a:t>
            </a:r>
            <a:endParaRPr lang="en-US" sz="1250" dirty="0"/>
          </a:p>
          <a:p>
            <a:pPr indent="0" marL="0">
              <a:buNone/>
            </a:pPr>
            <a:r>
              <a:rPr lang="en-US" sz="1050" dirty="0">
                <a:solidFill>
                  <a:schemeClr val="tx1"/>
                </a:solidFill>
                <a:latin typeface="Courier New" pitchFamily="34" charset="0"/>
                <a:ea typeface="Courier New" pitchFamily="34" charset="-122"/>
                <a:cs typeface="Courier New" pitchFamily="34" charset="-120"/>
              </a:rPr>
              <a:t>bronze_dst_revenue  4 rows</a:t>
            </a:r>
            <a:endParaRPr lang="en-US" sz="1250" dirty="0"/>
          </a:p>
          <a:p>
            <a:pPr indent="0" marL="0">
              <a:buNone/>
            </a:pPr>
            <a:r>
              <a:rPr lang="en-US" sz="1050" dirty="0">
                <a:solidFill>
                  <a:schemeClr val="tx1"/>
                </a:solidFill>
                <a:latin typeface="Courier New" pitchFamily="34" charset="0"/>
                <a:ea typeface="Courier New" pitchFamily="34" charset="-122"/>
                <a:cs typeface="Courier New" pitchFamily="34" charset="-120"/>
              </a:rPr>
              <a:t>ref_dst_ad_unit_map  2 rows</a:t>
            </a:r>
            <a:endParaRPr lang="en-US" sz="1250" dirty="0"/>
          </a:p>
          <a:p>
            <a:pPr indent="0" marL="0">
              <a:buNone/>
            </a:pPr>
            <a:endParaRPr lang="en-US" sz="1250" dirty="0"/>
          </a:p>
          <a:p>
            <a:pPr indent="0" marL="0">
              <a:buNone/>
            </a:pPr>
            <a:r>
              <a:rPr lang="en-US" sz="1250" dirty="0">
                <a:solidFill>
                  <a:schemeClr val="tx1"/>
                </a:solidFill>
              </a:rPr>
              <a:t>Plus three audit columns on each: _source_file, _run_id, _loaded_at. The period is text, not a date.</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 · STEP 3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3: silver maps, flags, and reports what it cannot map</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Silver"/>
          <p:cNvSpPr/>
          <p:nvPr/>
        </p:nvSpPr>
        <p:spPr>
          <a:xfrm>
            <a:off x="548640" y="1783080"/>
            <a:ext cx="7315200" cy="4098671"/>
          </a:xfrm>
          <a:prstGeom prst="roundRect">
            <a:avLst>
              <a:gd name="adj" fmla="val 2231"/>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3 · CLEAN, FLAG, MAP</a:t>
            </a:r>
            <a:endParaRPr lang="en-US" sz="1000" dirty="0"/>
          </a:p>
        </p:txBody>
      </p:sp>
      <p:sp>
        <p:nvSpPr>
          <p:cNvPr id="14" name="Silver text"/>
          <p:cNvSpPr txBox="1"/>
          <p:nvPr/>
        </p:nvSpPr>
        <p:spPr>
          <a:xfrm>
            <a:off x="749808" y="2167128"/>
            <a:ext cx="6912864" cy="3604895"/>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imp</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read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"bronze_dst_impressions"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filter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amap</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read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"ref_dst_ad_unit_map"</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silver</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imp</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join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amap</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"ad_unit"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"left"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coalesce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lit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"Unmapped"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"is_na"</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coalesce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"region"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lit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"N/A"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isin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"N/A"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"NO REGION"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"state"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when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"is_na"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"N/A"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otherwise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"region"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select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"ad_unit"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"state"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"is_na"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silver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format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"delta"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mode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"overwrite"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option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"replaceWhere"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accent3"/>
                </a:solidFill>
                <a:latin typeface="Courier New" pitchFamily="34" charset="0"/>
                <a:ea typeface="Courier New" pitchFamily="34" charset="-122"/>
                <a:cs typeface="Courier New" pitchFamily="34" charset="-120"/>
              </a:rPr>
              <a:t>"period = '{period}'"</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saveAsTable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"silver_dst_impressions"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silver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filter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"Unmapped"</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format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"delta"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mode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"overwrite"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option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"replaceWhere"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accent3"/>
                </a:solidFill>
                <a:latin typeface="Courier New" pitchFamily="34" charset="0"/>
                <a:ea typeface="Courier New" pitchFamily="34" charset="-122"/>
                <a:cs typeface="Courier New" pitchFamily="34" charset="-120"/>
              </a:rPr>
              <a:t>"period = '{period}'"</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saveAsTable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"silver_dst_unmapped"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Paste the cell and run it for 2025-01.</a:t>
            </a:r>
            <a:endParaRPr lang="en-US" sz="125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Open silver_dst_unmapped. Which ad unit is in it?</a:t>
            </a:r>
            <a:endParaRPr lang="en-US" sz="125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Look at the state column for kitchen_tv and sports_hub.</a:t>
            </a:r>
            <a:endParaRPr lang="en-US" sz="125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silver_dst_impressions  7 rows for 2025-01.
silver_dst_unmapped  1 row: mystery_unit, 50 impressions.
</a:t>
            </a:r>
            <a:endParaRPr lang="en-US" sz="1250" dirty="0"/>
          </a:p>
          <a:p>
            <a:pPr indent="0" marL="0">
              <a:buNone/>
            </a:pPr>
            <a:r>
              <a:rPr lang="en-US" sz="1250" dirty="0">
                <a:solidFill>
                  <a:schemeClr val="tx1"/>
                </a:solidFill>
              </a:rPr>
              <a:t>The blank region and NO REGION both show state N/A.</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 · STEP 4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4: gold is share times revenue, per entity</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Gold"/>
          <p:cNvSpPr/>
          <p:nvPr/>
        </p:nvSpPr>
        <p:spPr>
          <a:xfrm>
            <a:off x="548640" y="1783080"/>
            <a:ext cx="7315200" cy="4098671"/>
          </a:xfrm>
          <a:prstGeom prst="roundRect">
            <a:avLst>
              <a:gd name="adj" fmla="val 2231"/>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4 · SHARES AND AMOUNTS</a:t>
            </a:r>
            <a:endParaRPr lang="en-US" sz="1000" dirty="0"/>
          </a:p>
        </p:txBody>
      </p:sp>
      <p:sp>
        <p:nvSpPr>
          <p:cNvPr id="14" name="Gold text"/>
          <p:cNvSpPr txBox="1"/>
          <p:nvPr/>
        </p:nvSpPr>
        <p:spPr>
          <a:xfrm>
            <a:off x="749808" y="2167128"/>
            <a:ext cx="6912864" cy="3604895"/>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base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read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"silver_dst_impressions"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filter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&amp;</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"Unmapped"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accent2"/>
                </a:solidFill>
                <a:latin typeface="Courier New" pitchFamily="34" charset="0"/>
                <a:ea typeface="Courier New" pitchFamily="34" charset="-122"/>
                <a:cs typeface="Courier New" pitchFamily="34" charset="-120"/>
              </a:rPr>
              <a:t>if</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denominator</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"without_na"</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base</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base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filter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"is_na"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rev</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read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"bronze_dst_revenue"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filter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select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"amount"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w</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Window</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partitionBy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gold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base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groupBy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"state"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agg</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sum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alias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"share"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sum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over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join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rev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"basis"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lit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denominator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"apportioned"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round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"amount"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"share"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2</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"run_id"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lit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run_id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select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"basis"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"state"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"impressions"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"share"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"apportioned"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"run_id"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Paste the cell and run it. Display gold.</a:t>
            </a:r>
            <a:endParaRPr lang="en-US" sz="125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Compare it with the numbers on the right.</a:t>
            </a:r>
            <a:endParaRPr lang="en-US" sz="125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Change the denominator to with_na, re-run cells 1 and 4. What changed?</a:t>
            </a:r>
            <a:endParaRPr lang="en-US" sz="125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2025-01, without_na:
Entity A: CA 6,666.67 · NY 3,333.33
Entity B: CA 4,000.00 · TX 16,000.00
</a:t>
            </a:r>
            <a:endParaRPr lang="en-US" sz="1250" dirty="0"/>
          </a:p>
          <a:p>
            <a:pPr indent="0" marL="0">
              <a:buNone/>
            </a:pPr>
            <a:r>
              <a:rPr lang="en-US" sz="1250" dirty="0">
                <a:solidFill>
                  <a:schemeClr val="tx1"/>
                </a:solidFill>
              </a:rPr>
              <a:t>With with_na, N/A rows appear and every share shrinks.</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 · STEP 5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5a: the gate measures before anything is written</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Gate measure"/>
          <p:cNvSpPr/>
          <p:nvPr/>
        </p:nvSpPr>
        <p:spPr>
          <a:xfrm>
            <a:off x="548640" y="1783080"/>
            <a:ext cx="7315200" cy="2851404"/>
          </a:xfrm>
          <a:prstGeom prst="roundRect">
            <a:avLst>
              <a:gd name="adj" fmla="val 3207"/>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5 · MEASURE THE TIE-OUT</a:t>
            </a:r>
            <a:endParaRPr lang="en-US" sz="1000" dirty="0"/>
          </a:p>
        </p:txBody>
      </p:sp>
      <p:sp>
        <p:nvSpPr>
          <p:cNvPr id="14" name="Gate measure text"/>
          <p:cNvSpPr txBox="1"/>
          <p:nvPr/>
        </p:nvSpPr>
        <p:spPr>
          <a:xfrm>
            <a:off x="749808" y="2167128"/>
            <a:ext cx="6912864" cy="2357628"/>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check</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gold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groupBy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agg</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sum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"apportioned"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alias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"apportioned_total"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join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rev</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select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"amount"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alias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"revenue"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3"/>
                </a:solidFill>
                <a:latin typeface="Courier New" pitchFamily="34" charset="0"/>
                <a:ea typeface="Courier New" pitchFamily="34" charset="-122"/>
                <a:cs typeface="Courier New" pitchFamily="34" charset="-120"/>
              </a:rPr>
              <a:t>"entity"</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withColumn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"difference"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round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"apportioned_total"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"revenue"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2</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check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show</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failed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check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filter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abs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"difference"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&gt;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accent6"/>
                </a:solidFill>
                <a:latin typeface="Courier New" pitchFamily="34" charset="0"/>
                <a:ea typeface="Courier New" pitchFamily="34" charset="-122"/>
                <a:cs typeface="Courier New" pitchFamily="34" charset="-120"/>
              </a:rPr>
              <a:t>0.05</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count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unmapped</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spark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read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"silver_dst_unmapped"</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filter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period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count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check</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agg</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sum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"apportioned_total"</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alias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sum</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"revenue"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alias</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first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Paste the cell and run it.</a:t>
            </a:r>
            <a:endParaRPr lang="en-US" sz="125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Read the check table. What is the difference for each entity?</a:t>
            </a:r>
            <a:endParaRPr lang="en-US" sz="125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What would a difference of 100 mean?</a:t>
            </a:r>
            <a:endParaRPr lang="en-US" sz="125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A check table with difference 0.0 for Entity A and for Entity B.
</a:t>
            </a:r>
            <a:endParaRPr lang="en-US" sz="1250" dirty="0"/>
          </a:p>
          <a:p>
            <a:pPr indent="0" marL="0">
              <a:buNone/>
            </a:pPr>
            <a:r>
              <a:rPr lang="en-US" sz="1200" b="1" dirty="0">
                <a:solidFill>
                  <a:schemeClr val="tx1"/>
                </a:solidFill>
                <a:latin typeface="Courier New" pitchFamily="34" charset="0"/>
                <a:ea typeface="Courier New" pitchFamily="34" charset="-122"/>
                <a:cs typeface="Courier New" pitchFamily="34" charset="-120"/>
              </a:rPr>
              <a:t>failed = 0, unmapped = 1</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 · STEP 5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5b: record the result, then decide</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Gate decide"/>
          <p:cNvSpPr/>
          <p:nvPr/>
        </p:nvSpPr>
        <p:spPr>
          <a:xfrm>
            <a:off x="548640" y="1783080"/>
            <a:ext cx="7315200" cy="2502789"/>
          </a:xfrm>
          <a:prstGeom prst="roundRect">
            <a:avLst>
              <a:gd name="adj" fmla="val 3654"/>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6 · RECORD, THEN DECIDE</a:t>
            </a:r>
            <a:endParaRPr lang="en-US" sz="1000" dirty="0"/>
          </a:p>
        </p:txBody>
      </p:sp>
      <p:sp>
        <p:nvSpPr>
          <p:cNvPr id="14" name="Gate decide text"/>
          <p:cNvSpPr txBox="1"/>
          <p:nvPr/>
        </p:nvSpPr>
        <p:spPr>
          <a:xfrm>
            <a:off x="749808" y="2167128"/>
            <a:ext cx="6912864" cy="2009013"/>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spark</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createDataFrame</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run_id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period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denominator</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"passed"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if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6"/>
                </a:solidFill>
                <a:latin typeface="Courier New" pitchFamily="34" charset="0"/>
                <a:ea typeface="Courier New" pitchFamily="34" charset="-122"/>
                <a:cs typeface="Courier New" pitchFamily="34" charset="-120"/>
              </a:rPr>
              <a:t>0</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else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float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float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"r"</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unmapped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"run_id string, period string, basis string, status string,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"apportioned double, revenue double, unmapped_rows long"</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log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withColumn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"finished_at"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current_timestamp</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write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mode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"append"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saveAsTable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"gold_dst_run_log"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i="1" dirty="0">
                <a:solidFill>
                  <a:schemeClr val="accent5"/>
                </a:solidFill>
                <a:latin typeface="Courier New" pitchFamily="34" charset="0"/>
                <a:ea typeface="Courier New" pitchFamily="34" charset="-122"/>
                <a:cs typeface="Courier New" pitchFamily="34" charset="-120"/>
              </a:rPr>
              <a:t># log first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accent2"/>
                </a:solidFill>
                <a:latin typeface="Courier New" pitchFamily="34" charset="0"/>
                <a:ea typeface="Courier New" pitchFamily="34" charset="-122"/>
                <a:cs typeface="Courier New" pitchFamily="34" charset="-120"/>
              </a:rPr>
              <a:t>assert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failed</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6"/>
                </a:solidFill>
                <a:latin typeface="Courier New" pitchFamily="34" charset="0"/>
                <a:ea typeface="Courier New" pitchFamily="34" charset="-122"/>
                <a:cs typeface="Courier New" pitchFamily="34" charset="-120"/>
              </a:rPr>
              <a:t>0</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"Tie-out failed for {failed} entity(ies). Gold not written."</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print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"Gate passed. Unmapped rows reported: {unmapped}"</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15" name="Break it"/>
          <p:cNvSpPr/>
          <p:nvPr/>
        </p:nvSpPr>
        <p:spPr>
          <a:xfrm>
            <a:off x="548640" y="4395597"/>
            <a:ext cx="7315200" cy="1054100"/>
          </a:xfrm>
          <a:prstGeom prst="roundRect">
            <a:avLst>
              <a:gd name="adj" fmla="val 8675"/>
            </a:avLst>
          </a:prstGeom>
          <a:solidFill>
            <a:schemeClr val="tx1"/>
          </a:solidFill>
          <a:ln/>
        </p:spPr>
      </p:sp>
      <p:sp>
        <p:nvSpPr>
          <p:cNvPr id="16" name="Code label"/>
          <p:cNvSpPr txBox="1"/>
          <p:nvPr/>
        </p:nvSpPr>
        <p:spPr>
          <a:xfrm>
            <a:off x="749808" y="4487037"/>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BREAK IT ON PURPOSE, THEN REMOVE IT</a:t>
            </a:r>
            <a:endParaRPr lang="en-US" sz="1000" dirty="0"/>
          </a:p>
        </p:txBody>
      </p:sp>
      <p:sp>
        <p:nvSpPr>
          <p:cNvPr id="17" name="Break it text"/>
          <p:cNvSpPr txBox="1"/>
          <p:nvPr/>
        </p:nvSpPr>
        <p:spPr>
          <a:xfrm>
            <a:off x="749808" y="4779645"/>
            <a:ext cx="6912864" cy="560324"/>
          </a:xfrm>
          <a:prstGeom prst="rect">
            <a:avLst/>
          </a:prstGeom>
          <a:noFill/>
          <a:ln/>
        </p:spPr>
        <p:txBody>
          <a:bodyPr wrap="square" lIns="0" tIns="0" rIns="0" bIns="0" rtlCol="0" anchor="t"/>
          <a:lstStyle/>
          <a:p>
            <a:pPr indent="0" marL="0">
              <a:buNone/>
            </a:pPr>
            <a:r>
              <a:rPr lang="en-US" sz="1100" i="1" dirty="0">
                <a:solidFill>
                  <a:schemeClr val="accent5"/>
                </a:solidFill>
                <a:latin typeface="Courier New" pitchFamily="34" charset="0"/>
                <a:ea typeface="Courier New" pitchFamily="34" charset="-122"/>
                <a:cs typeface="Courier New" pitchFamily="34" charset="-120"/>
              </a:rPr>
              <a:t># Simulate a revenue change after gold was built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rev</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rev</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withColumn</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"amount"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col</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"amount"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6"/>
                </a:solidFill>
                <a:latin typeface="Courier New" pitchFamily="34" charset="0"/>
                <a:ea typeface="Courier New" pitchFamily="34" charset="-122"/>
                <a:cs typeface="Courier New" pitchFamily="34" charset="-120"/>
              </a:rPr>
              <a:t>1.01</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18" name="Do this card"/>
          <p:cNvSpPr/>
          <p:nvPr/>
        </p:nvSpPr>
        <p:spPr>
          <a:xfrm>
            <a:off x="8092440" y="1783080"/>
            <a:ext cx="3547872" cy="2203704"/>
          </a:xfrm>
          <a:prstGeom prst="roundRect">
            <a:avLst>
              <a:gd name="adj" fmla="val 4979"/>
            </a:avLst>
          </a:prstGeom>
          <a:solidFill>
            <a:schemeClr val="bg2"/>
          </a:solidFill>
          <a:ln/>
        </p:spPr>
      </p:sp>
      <p:sp>
        <p:nvSpPr>
          <p:cNvPr id="19"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0" name="Do chip 1"/>
          <p:cNvSpPr/>
          <p:nvPr/>
        </p:nvSpPr>
        <p:spPr>
          <a:xfrm>
            <a:off x="8293608" y="2377440"/>
            <a:ext cx="310896" cy="310896"/>
          </a:xfrm>
          <a:prstGeom prst="roundRect">
            <a:avLst>
              <a:gd name="adj" fmla="val 23529"/>
            </a:avLst>
          </a:prstGeom>
          <a:solidFill>
            <a:schemeClr val="accent1"/>
          </a:solidFill>
          <a:ln/>
        </p:spPr>
      </p:sp>
      <p:sp>
        <p:nvSpPr>
          <p:cNvPr id="21"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2"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Paste the cell and run it. Query gold_dst_run_log.</a:t>
            </a:r>
            <a:endParaRPr lang="en-US" sz="1250" dirty="0"/>
          </a:p>
        </p:txBody>
      </p:sp>
      <p:sp>
        <p:nvSpPr>
          <p:cNvPr id="23" name="Do chip 2"/>
          <p:cNvSpPr/>
          <p:nvPr/>
        </p:nvSpPr>
        <p:spPr>
          <a:xfrm>
            <a:off x="8293608" y="2944368"/>
            <a:ext cx="310896" cy="310896"/>
          </a:xfrm>
          <a:prstGeom prst="roundRect">
            <a:avLst>
              <a:gd name="adj" fmla="val 23529"/>
            </a:avLst>
          </a:prstGeom>
          <a:solidFill>
            <a:schemeClr val="accent1"/>
          </a:solidFill>
          <a:ln/>
        </p:spPr>
      </p:sp>
      <p:sp>
        <p:nvSpPr>
          <p:cNvPr id="24"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5"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Add the break-it line above the gate and re-run the gate.</a:t>
            </a:r>
            <a:endParaRPr lang="en-US" sz="1250" dirty="0"/>
          </a:p>
        </p:txBody>
      </p:sp>
      <p:sp>
        <p:nvSpPr>
          <p:cNvPr id="26" name="Do chip 3"/>
          <p:cNvSpPr/>
          <p:nvPr/>
        </p:nvSpPr>
        <p:spPr>
          <a:xfrm>
            <a:off x="8293608" y="3511296"/>
            <a:ext cx="310896" cy="310896"/>
          </a:xfrm>
          <a:prstGeom prst="roundRect">
            <a:avLst>
              <a:gd name="adj" fmla="val 23529"/>
            </a:avLst>
          </a:prstGeom>
          <a:solidFill>
            <a:schemeClr val="accent1"/>
          </a:solidFill>
          <a:ln/>
        </p:spPr>
      </p:sp>
      <p:sp>
        <p:nvSpPr>
          <p:cNvPr id="27"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8"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Remove the line, restart the session and run all cells.</a:t>
            </a:r>
            <a:endParaRPr lang="en-US" sz="1250" dirty="0"/>
          </a:p>
        </p:txBody>
      </p:sp>
      <p:sp>
        <p:nvSpPr>
          <p:cNvPr id="29"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0"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1"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150" dirty="0">
                <a:solidFill>
                  <a:schemeClr val="tx1"/>
                </a:solidFill>
              </a:rPr>
              <a:t>Failed run:
AssertionError: Tie-out failed for 2 entity(ies). Gold not written.
</a:t>
            </a:r>
            <a:endParaRPr lang="en-US" sz="1250" dirty="0"/>
          </a:p>
          <a:p>
            <a:pPr indent="0" marL="0">
              <a:buNone/>
            </a:pPr>
            <a:r>
              <a:rPr lang="en-US" sz="1200" dirty="0">
                <a:solidFill>
                  <a:schemeClr val="tx1"/>
                </a:solidFill>
              </a:rPr>
              <a:t>The run log has a row with status failed and revenue 30300 against 30000 apportioned.</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 · STEP 6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6a: write one slice, not the whole table</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accent1"/>
          </a:solidFill>
          <a:ln/>
        </p:spPr>
      </p:sp>
      <p:sp>
        <p:nvSpPr>
          <p:cNvPr id="12" name="Write"/>
          <p:cNvSpPr/>
          <p:nvPr/>
        </p:nvSpPr>
        <p:spPr>
          <a:xfrm>
            <a:off x="548640" y="1783080"/>
            <a:ext cx="7315200" cy="1425956"/>
          </a:xfrm>
          <a:prstGeom prst="roundRect">
            <a:avLst>
              <a:gd name="adj" fmla="val 6413"/>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7 · WRITE THE SLICE</a:t>
            </a:r>
            <a:endParaRPr lang="en-US" sz="1000" dirty="0"/>
          </a:p>
        </p:txBody>
      </p:sp>
      <p:sp>
        <p:nvSpPr>
          <p:cNvPr id="14" name="Write text"/>
          <p:cNvSpPr txBox="1"/>
          <p:nvPr/>
        </p:nvSpPr>
        <p:spPr>
          <a:xfrm>
            <a:off x="749808" y="2167128"/>
            <a:ext cx="6912864" cy="93218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gold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write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format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"delta"</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mode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"overwrite"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option</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"replaceWhere"</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f</a:t>
            </a:r>
            <a:pPr indent="0" marL="0">
              <a:buNone/>
            </a:pPr>
            <a:r>
              <a:rPr lang="en-US" sz="1150" dirty="0">
                <a:solidFill>
                  <a:schemeClr val="accent3"/>
                </a:solidFill>
                <a:latin typeface="Courier New" pitchFamily="34" charset="0"/>
                <a:ea typeface="Courier New" pitchFamily="34" charset="-122"/>
                <a:cs typeface="Courier New" pitchFamily="34" charset="-120"/>
              </a:rPr>
              <a:t>"period = '{period}' AND basis = '{denominator}'"</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saveAsTable</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accent3"/>
                </a:solidFill>
                <a:latin typeface="Courier New" pitchFamily="34" charset="0"/>
                <a:ea typeface="Courier New" pitchFamily="34" charset="-122"/>
                <a:cs typeface="Courier New" pitchFamily="34" charset="-120"/>
              </a:rPr>
              <a:t>"gold_dst_apportioned"</a:t>
            </a:r>
            <a:pPr indent="0" marL="0">
              <a:buNone/>
            </a:pPr>
            <a:r>
              <a:rPr lang="en-US" sz="1150" dirty="0">
                <a:solidFill>
                  <a:schemeClr val="bg1"/>
                </a:solidFill>
                <a:latin typeface="Courier New" pitchFamily="34" charset="0"/>
                <a:ea typeface="Courier New" pitchFamily="34" charset="-122"/>
                <a:cs typeface="Courier New" pitchFamily="34" charset="-120"/>
              </a:rPr>
              <a:t>)</a:t>
            </a:r>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Run the write. Count the rows in gold_dst_apportioned.</a:t>
            </a:r>
            <a:endParaRPr lang="en-US" sz="125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Run it a second time. Count again.</a:t>
            </a:r>
            <a:endParaRPr lang="en-US" sz="125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Change period to 2025-02 and run all cells. Count again.</a:t>
            </a:r>
            <a:endParaRPr lang="en-US" sz="125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After 2025-01 without_na: 4 rows.</a:t>
            </a:r>
            <a:endParaRPr lang="en-US" sz="1250" dirty="0"/>
          </a:p>
          <a:p>
            <a:pPr indent="0" marL="0">
              <a:buNone/>
            </a:pPr>
            <a:r>
              <a:rPr lang="en-US" sz="1250" dirty="0">
                <a:solidFill>
                  <a:schemeClr val="tx1"/>
                </a:solidFill>
              </a:rPr>
              <a:t>Run it twice: still 4.</a:t>
            </a:r>
            <a:endParaRPr lang="en-US" sz="1250" dirty="0"/>
          </a:p>
          <a:p>
            <a:pPr indent="0" marL="0">
              <a:buNone/>
            </a:pPr>
            <a:r>
              <a:rPr lang="en-US" sz="1250" dirty="0">
                <a:solidFill>
                  <a:schemeClr val="tx1"/>
                </a:solidFill>
              </a:rPr>
              <a:t>Add 2025-02 without_na: 8.</a:t>
            </a:r>
            <a:endParaRPr lang="en-US" sz="1250" dirty="0"/>
          </a:p>
          <a:p>
            <a:pPr indent="0" marL="0">
              <a:buNone/>
            </a:pPr>
            <a:endParaRPr lang="en-US" sz="1250" dirty="0"/>
          </a:p>
          <a:p>
            <a:pPr indent="0" marL="0">
              <a:buNone/>
            </a:pPr>
            <a:r>
              <a:rPr lang="en-US" sz="1250" dirty="0">
                <a:solidFill>
                  <a:schemeClr val="tx1"/>
                </a:solidFill>
              </a:rPr>
              <a:t>Each run replaces its own slice and leaves the others alone.</a:t>
            </a:r>
            <a:endParaRPr lang="en-US" sz="1250" dirty="0"/>
          </a:p>
        </p:txBody>
      </p:sp>
      <p:sp>
        <p:nvSpPr>
          <p:cNvPr id="29" name="Slice caption"/>
          <p:cNvSpPr txBox="1"/>
          <p:nvPr/>
        </p:nvSpPr>
        <p:spPr>
          <a:xfrm>
            <a:off x="548640" y="3337560"/>
            <a:ext cx="7315200" cy="457200"/>
          </a:xfrm>
          <a:prstGeom prst="rect">
            <a:avLst/>
          </a:prstGeom>
          <a:noFill/>
          <a:ln/>
        </p:spPr>
        <p:txBody>
          <a:bodyPr wrap="square" lIns="0" tIns="0" rIns="0" bIns="0" rtlCol="0" anchor="t"/>
          <a:lstStyle/>
          <a:p>
            <a:pPr indent="0" marL="0">
              <a:buNone/>
            </a:pPr>
            <a:r>
              <a:rPr lang="en-US" sz="1300" i="1" dirty="0">
                <a:solidFill>
                  <a:schemeClr val="tx1"/>
                </a:solidFill>
              </a:rPr>
              <a:t>The gold table holds one slice per period and denominator. The write swaps only the active one.</a:t>
            </a:r>
            <a:endParaRPr lang="en-US" sz="1300" dirty="0"/>
          </a:p>
        </p:txBody>
      </p:sp>
      <p:sp>
        <p:nvSpPr>
          <p:cNvPr id="30" name="Slice 1"/>
          <p:cNvSpPr/>
          <p:nvPr/>
        </p:nvSpPr>
        <p:spPr>
          <a:xfrm>
            <a:off x="548640" y="3886200"/>
            <a:ext cx="3566160" cy="896112"/>
          </a:xfrm>
          <a:prstGeom prst="roundRect">
            <a:avLst>
              <a:gd name="adj" fmla="val 10204"/>
            </a:avLst>
          </a:prstGeom>
          <a:solidFill>
            <a:schemeClr val="accent1"/>
          </a:solidFill>
          <a:ln/>
        </p:spPr>
      </p:sp>
      <p:sp>
        <p:nvSpPr>
          <p:cNvPr id="31" name="Slice label"/>
          <p:cNvSpPr txBox="1"/>
          <p:nvPr/>
        </p:nvSpPr>
        <p:spPr>
          <a:xfrm>
            <a:off x="731520" y="3886200"/>
            <a:ext cx="3200400" cy="896112"/>
          </a:xfrm>
          <a:prstGeom prst="rect">
            <a:avLst/>
          </a:prstGeom>
          <a:noFill/>
          <a:ln/>
        </p:spPr>
        <p:txBody>
          <a:bodyPr wrap="square" lIns="0" tIns="0" rIns="0" bIns="0" rtlCol="0" anchor="ctr"/>
          <a:lstStyle/>
          <a:p>
            <a:pPr indent="0" marL="0">
              <a:buNone/>
            </a:pPr>
            <a:r>
              <a:rPr lang="en-US" sz="1500" b="1" dirty="0">
                <a:solidFill>
                  <a:schemeClr val="bg1"/>
                </a:solidFill>
                <a:latin typeface="Courier New" pitchFamily="34" charset="0"/>
                <a:ea typeface="Courier New" pitchFamily="34" charset="-122"/>
                <a:cs typeface="Courier New" pitchFamily="34" charset="-120"/>
              </a:rPr>
              <a:t>2025-01 · without_na</a:t>
            </a:r>
            <a:endParaRPr lang="en-US" sz="1500" dirty="0"/>
          </a:p>
        </p:txBody>
      </p:sp>
      <p:sp>
        <p:nvSpPr>
          <p:cNvPr id="32" name="Slice flag"/>
          <p:cNvSpPr txBox="1"/>
          <p:nvPr/>
        </p:nvSpPr>
        <p:spPr>
          <a:xfrm>
            <a:off x="2926080" y="3959352"/>
            <a:ext cx="1097280" cy="228600"/>
          </a:xfrm>
          <a:prstGeom prst="rect">
            <a:avLst/>
          </a:prstGeom>
          <a:noFill/>
          <a:ln/>
        </p:spPr>
        <p:txBody>
          <a:bodyPr wrap="square" lIns="0" tIns="0" rIns="0" bIns="0" rtlCol="0" anchor="t"/>
          <a:lstStyle/>
          <a:p>
            <a:pPr algn="r" indent="0" marL="0">
              <a:buNone/>
            </a:pPr>
            <a:r>
              <a:rPr lang="en-US" sz="900" b="1" spc="200" kern="0" dirty="0">
                <a:solidFill>
                  <a:schemeClr val="bg1"/>
                </a:solidFill>
              </a:rPr>
              <a:t>REPLACED</a:t>
            </a:r>
            <a:endParaRPr lang="en-US" sz="900" dirty="0"/>
          </a:p>
        </p:txBody>
      </p:sp>
      <p:sp>
        <p:nvSpPr>
          <p:cNvPr id="33" name="Slice 2"/>
          <p:cNvSpPr/>
          <p:nvPr/>
        </p:nvSpPr>
        <p:spPr>
          <a:xfrm>
            <a:off x="4297680" y="3886200"/>
            <a:ext cx="3566160" cy="896112"/>
          </a:xfrm>
          <a:prstGeom prst="roundRect">
            <a:avLst>
              <a:gd name="adj" fmla="val 10204"/>
            </a:avLst>
          </a:prstGeom>
          <a:solidFill>
            <a:schemeClr val="bg2"/>
          </a:solidFill>
          <a:ln/>
        </p:spPr>
      </p:sp>
      <p:sp>
        <p:nvSpPr>
          <p:cNvPr id="34" name="Slice label"/>
          <p:cNvSpPr txBox="1"/>
          <p:nvPr/>
        </p:nvSpPr>
        <p:spPr>
          <a:xfrm>
            <a:off x="4480560" y="3886200"/>
            <a:ext cx="3200400" cy="89611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2025-01 · with_na</a:t>
            </a:r>
            <a:endParaRPr lang="en-US" sz="1500" dirty="0"/>
          </a:p>
        </p:txBody>
      </p:sp>
      <p:sp>
        <p:nvSpPr>
          <p:cNvPr id="35" name="Slice 3"/>
          <p:cNvSpPr/>
          <p:nvPr/>
        </p:nvSpPr>
        <p:spPr>
          <a:xfrm>
            <a:off x="548640" y="4910328"/>
            <a:ext cx="3566160" cy="896112"/>
          </a:xfrm>
          <a:prstGeom prst="roundRect">
            <a:avLst>
              <a:gd name="adj" fmla="val 10204"/>
            </a:avLst>
          </a:prstGeom>
          <a:solidFill>
            <a:schemeClr val="bg2"/>
          </a:solidFill>
          <a:ln/>
        </p:spPr>
      </p:sp>
      <p:sp>
        <p:nvSpPr>
          <p:cNvPr id="36" name="Slice label"/>
          <p:cNvSpPr txBox="1"/>
          <p:nvPr/>
        </p:nvSpPr>
        <p:spPr>
          <a:xfrm>
            <a:off x="731520" y="4910328"/>
            <a:ext cx="3200400" cy="89611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2025-02 · without_na</a:t>
            </a:r>
            <a:endParaRPr lang="en-US" sz="1500" dirty="0"/>
          </a:p>
        </p:txBody>
      </p:sp>
      <p:sp>
        <p:nvSpPr>
          <p:cNvPr id="37" name="Slice 4"/>
          <p:cNvSpPr/>
          <p:nvPr/>
        </p:nvSpPr>
        <p:spPr>
          <a:xfrm>
            <a:off x="4297680" y="4910328"/>
            <a:ext cx="3566160" cy="896112"/>
          </a:xfrm>
          <a:prstGeom prst="roundRect">
            <a:avLst>
              <a:gd name="adj" fmla="val 10204"/>
            </a:avLst>
          </a:prstGeom>
          <a:solidFill>
            <a:schemeClr val="bg2"/>
          </a:solidFill>
          <a:ln/>
        </p:spPr>
      </p:sp>
      <p:sp>
        <p:nvSpPr>
          <p:cNvPr id="38" name="Slice label"/>
          <p:cNvSpPr txBox="1"/>
          <p:nvPr/>
        </p:nvSpPr>
        <p:spPr>
          <a:xfrm>
            <a:off x="4480560" y="4910328"/>
            <a:ext cx="3200400" cy="896112"/>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2025-02 · with_na</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 · STEP 6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6b: compare with the answer key</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accent1"/>
          </a:solidFill>
          <a:ln/>
        </p:spPr>
      </p:sp>
      <p:sp>
        <p:nvSpPr>
          <p:cNvPr id="12" name="Compare"/>
          <p:cNvSpPr/>
          <p:nvPr/>
        </p:nvSpPr>
        <p:spPr>
          <a:xfrm>
            <a:off x="548640" y="1783080"/>
            <a:ext cx="7315200" cy="3440176"/>
          </a:xfrm>
          <a:prstGeom prst="roundRect">
            <a:avLst>
              <a:gd name="adj" fmla="val 2658"/>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8 · COMPARE WITH THE ANSWER KEY</a:t>
            </a:r>
            <a:endParaRPr lang="en-US" sz="1000" dirty="0"/>
          </a:p>
        </p:txBody>
      </p:sp>
      <p:sp>
        <p:nvSpPr>
          <p:cNvPr id="14" name="Compare text"/>
          <p:cNvSpPr txBox="1"/>
          <p:nvPr/>
        </p:nvSpPr>
        <p:spPr>
          <a:xfrm>
            <a:off x="749808" y="2167128"/>
            <a:ext cx="6912864" cy="294640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exp</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spark</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read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option</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"header"</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2"/>
                </a:solidFill>
                <a:latin typeface="Courier New" pitchFamily="34" charset="0"/>
                <a:ea typeface="Courier New" pitchFamily="34" charset="-122"/>
                <a:cs typeface="Courier New" pitchFamily="34" charset="-120"/>
              </a:rPr>
              <a:t>True</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schema</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"period string, basis string, entity string, state string,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"apportioned double"</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csv</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"Files/raw/dst/alteryx_expected.csv"</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filter</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col</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&amp;</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col</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"basis"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denominator</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cmp</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gold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alias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"g"</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join</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exp</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alias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"basis"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"entity"</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"state"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"full_outer"</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select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"period"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"basis"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"entity"</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"state"</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col</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"g.apportioned"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alias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"fabric"</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col</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"e.apportioned"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alias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"alteryx"</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withColumn</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"difference"</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round</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coalesce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"fabric"</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lit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6"/>
                </a:solidFill>
                <a:latin typeface="Courier New" pitchFamily="34" charset="0"/>
                <a:ea typeface="Courier New" pitchFamily="34" charset="-122"/>
                <a:cs typeface="Courier New" pitchFamily="34" charset="-120"/>
              </a:rPr>
              <a:t>0.0</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coalesce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"alteryx"</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lit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6"/>
                </a:solidFill>
                <a:latin typeface="Courier New" pitchFamily="34" charset="0"/>
                <a:ea typeface="Courier New" pitchFamily="34" charset="-122"/>
                <a:cs typeface="Courier New" pitchFamily="34" charset="-120"/>
              </a:rPr>
              <a:t>0.0</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6"/>
                </a:solidFill>
                <a:latin typeface="Courier New" pitchFamily="34" charset="0"/>
                <a:ea typeface="Courier New" pitchFamily="34" charset="-122"/>
                <a:cs typeface="Courier New" pitchFamily="34" charset="-120"/>
              </a:rPr>
              <a:t>2</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cmp</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orderBy</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"entity"</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accent3"/>
                </a:solidFill>
                <a:latin typeface="Courier New" pitchFamily="34" charset="0"/>
                <a:ea typeface="Courier New" pitchFamily="34" charset="-122"/>
                <a:cs typeface="Courier New" pitchFamily="34" charset="-120"/>
              </a:rPr>
              <a:t>"state"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show</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print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"Largest difference:"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cmp</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agg</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max</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abs</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3"/>
                </a:solidFill>
                <a:latin typeface="Courier New" pitchFamily="34" charset="0"/>
                <a:ea typeface="Courier New" pitchFamily="34" charset="-122"/>
                <a:cs typeface="Courier New" pitchFamily="34" charset="-120"/>
              </a:rPr>
              <a:t>"difference"</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first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accent6"/>
                </a:solidFill>
                <a:latin typeface="Courier New" pitchFamily="34" charset="0"/>
                <a:ea typeface="Courier New" pitchFamily="34" charset="-122"/>
                <a:cs typeface="Courier New" pitchFamily="34" charset="-120"/>
              </a:rPr>
              <a:t>0</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Run the compare. Read the last line.</a:t>
            </a:r>
            <a:endParaRPr lang="en-US" sz="125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Change period and denominator, then run all.</a:t>
            </a:r>
            <a:endParaRPr lang="en-US" sz="125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Repeat until you have seen all four combinations.</a:t>
            </a:r>
            <a:endParaRPr lang="en-US" sz="125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Largest difference: 0.0</a:t>
            </a:r>
            <a:endParaRPr lang="en-US" sz="1250" dirty="0"/>
          </a:p>
          <a:p>
            <a:pPr indent="0" marL="0">
              <a:buNone/>
            </a:pPr>
            <a:endParaRPr lang="en-US" sz="1250" dirty="0"/>
          </a:p>
          <a:p>
            <a:pPr indent="0" marL="0">
              <a:buNone/>
            </a:pPr>
            <a:r>
              <a:rPr lang="en-US" sz="1250" dirty="0">
                <a:solidFill>
                  <a:schemeClr val="tx1"/>
                </a:solidFill>
              </a:rPr>
              <a:t>for every combination. A missing or extra row would show as a difference, because the join keeps both sides.</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Expected results: four runs, one answer key</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graphicFrame>
        <p:nvGraphicFramePr>
          <p:cNvPr id="39" name="Expected result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371600"/>
                <a:gridCol w="1097280"/>
                <a:gridCol w="2148840"/>
                <a:gridCol w="2148840"/>
                <a:gridCol w="2148840"/>
                <a:gridCol w="2176272"/>
              </a:tblGrid>
              <a:tr h="411480">
                <a:tc>
                  <a:txBody>
                    <a:bodyPr/>
                    <a:lstStyle/>
                    <a:p>
                      <a:pPr indent="0" marL="0">
                        <a:buNone/>
                      </a:pPr>
                      <a:r>
                        <a:rPr lang="en-US" sz="1300" b="1" dirty="0">
                          <a:solidFill>
                            <a:schemeClr val="bg1"/>
                          </a:solidFill>
                        </a:rPr>
                        <a:t>Entity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State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Jan · without N/A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Jan · with N/A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Feb · without N/A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Feb · with N/A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65760">
                <a:tc>
                  <a:txBody>
                    <a:bodyPr/>
                    <a:lstStyle/>
                    <a:p>
                      <a:pPr indent="0" marL="0">
                        <a:buNone/>
                      </a:pPr>
                      <a:r>
                        <a:rPr lang="en-US" sz="1300" dirty="0">
                          <a:solidFill>
                            <a:schemeClr val="tx1"/>
                          </a:solidFill>
                        </a:rPr>
                        <a:t>Entity 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CA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6,666.67</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6,000.00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9,333.33</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8,400.00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300" dirty="0">
                          <a:solidFill>
                            <a:schemeClr val="tx1"/>
                          </a:solidFill>
                        </a:rPr>
                        <a:t>Entity 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3,333.33</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3,000.00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2,666.67</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2,400.00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300" dirty="0">
                          <a:solidFill>
                            <a:schemeClr val="tx1"/>
                          </a:solidFill>
                        </a:rPr>
                        <a:t>Entity 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1,200.00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300" dirty="0">
                          <a:solidFill>
                            <a:schemeClr val="tx1"/>
                          </a:solidFill>
                        </a:rPr>
                        <a:t>Entity 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4,000.00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3,478.26</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5,400.00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4,500.00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300" dirty="0">
                          <a:solidFill>
                            <a:schemeClr val="tx1"/>
                          </a:solidFill>
                        </a:rPr>
                        <a:t>Entity 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TX</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16,000.00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13,913.04</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12,600.00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10,500.00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300" dirty="0">
                          <a:solidFill>
                            <a:schemeClr val="tx1"/>
                          </a:solidFill>
                        </a:rPr>
                        <a:t>Entity 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N/A</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2,608.70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3,000.00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tx1"/>
                          </a:solidFill>
                        </a:rPr>
                        <a:t>Entity A total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10,000.00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10,000.00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12,000.00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12,000.00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b="1" dirty="0">
                          <a:solidFill>
                            <a:schemeClr val="tx1"/>
                          </a:solidFill>
                        </a:rPr>
                        <a:t>Entity B total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20,000.00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20,000.00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18,000.00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18,000.00</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7" name="Run log strip"/>
          <p:cNvSpPr/>
          <p:nvPr/>
        </p:nvSpPr>
        <p:spPr>
          <a:xfrm>
            <a:off x="548640" y="5257800"/>
            <a:ext cx="11094415" cy="685800"/>
          </a:xfrm>
          <a:prstGeom prst="roundRect">
            <a:avLst>
              <a:gd name="adj" fmla="val 16000"/>
            </a:avLst>
          </a:prstGeom>
          <a:solidFill>
            <a:schemeClr val="accent2">
              <a:alpha val="20000"/>
            </a:schemeClr>
          </a:solidFill>
          <a:ln/>
        </p:spPr>
      </p:sp>
      <p:sp>
        <p:nvSpPr>
          <p:cNvPr id="8" name="Run log text"/>
          <p:cNvSpPr txBox="1"/>
          <p:nvPr/>
        </p:nvSpPr>
        <p:spPr>
          <a:xfrm>
            <a:off x="777240" y="5257800"/>
            <a:ext cx="10637215" cy="685800"/>
          </a:xfrm>
          <a:prstGeom prst="rect">
            <a:avLst/>
          </a:prstGeom>
          <a:noFill/>
          <a:ln/>
        </p:spPr>
        <p:txBody>
          <a:bodyPr wrap="square" lIns="0" tIns="0" rIns="0" bIns="0" rtlCol="0" anchor="ctr"/>
          <a:lstStyle/>
          <a:p>
            <a:pPr indent="0" marL="0">
              <a:buNone/>
            </a:pPr>
            <a:r>
              <a:rPr lang="en-US" sz="1400" b="1" dirty="0">
                <a:solidFill>
                  <a:schemeClr val="tx1"/>
                </a:solidFill>
              </a:rPr>
              <a:t>Run log after four runs: </a:t>
            </a:r>
            <a:pPr indent="0" marL="0">
              <a:buNone/>
            </a:pPr>
            <a:r>
              <a:rPr lang="en-US" sz="1400" dirty="0">
                <a:solidFill>
                  <a:schemeClr val="tx1"/>
                </a:solidFill>
              </a:rPr>
              <a:t>four rows, status passed, apportioned equal to revenue, unmapped_rows 1 on every row.</a:t>
            </a:r>
            <a:endParaRPr lang="en-US" sz="1400" dirty="0"/>
          </a:p>
        </p:txBody>
      </p:sp>
      <p:sp>
        <p:nvSpPr>
          <p:cNvPr id="9" name="Footnote"/>
          <p:cNvSpPr txBox="1"/>
          <p:nvPr/>
        </p:nvSpPr>
        <p:spPr>
          <a:xfrm>
            <a:off x="548640" y="60807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Produced by running the lab code on the lab kit, and matched to an independent calculation. All numbers are invented.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If you finish early, and if you get stuck</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Stretch card"/>
          <p:cNvSpPr/>
          <p:nvPr/>
        </p:nvSpPr>
        <p:spPr>
          <a:xfrm>
            <a:off x="548640" y="1783080"/>
            <a:ext cx="5394960" cy="4114800"/>
          </a:xfrm>
          <a:prstGeom prst="roundRect">
            <a:avLst>
              <a:gd name="adj" fmla="val 2667"/>
            </a:avLst>
          </a:prstGeom>
          <a:solidFill>
            <a:schemeClr val="accent2">
              <a:alpha val="15000"/>
            </a:schemeClr>
          </a:solidFill>
          <a:ln/>
        </p:spPr>
      </p:sp>
      <p:sp>
        <p:nvSpPr>
          <p:cNvPr id="7" name="Pill"/>
          <p:cNvSpPr txBox="1"/>
          <p:nvPr/>
        </p:nvSpPr>
        <p:spPr>
          <a:xfrm>
            <a:off x="777240" y="1920240"/>
            <a:ext cx="173736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050" b="1" spc="200" kern="0" dirty="0">
                <a:solidFill>
                  <a:schemeClr val="bg1"/>
                </a:solidFill>
              </a:rPr>
              <a:t>STRETCH GOALS</a:t>
            </a:r>
            <a:endParaRPr lang="en-US" sz="1050" dirty="0"/>
          </a:p>
        </p:txBody>
      </p:sp>
      <p:sp>
        <p:nvSpPr>
          <p:cNvPr id="8" name="Stretch chip 1"/>
          <p:cNvSpPr/>
          <p:nvPr/>
        </p:nvSpPr>
        <p:spPr>
          <a:xfrm>
            <a:off x="777240" y="2423160"/>
            <a:ext cx="347472" cy="347472"/>
          </a:xfrm>
          <a:prstGeom prst="roundRect">
            <a:avLst>
              <a:gd name="adj" fmla="val 21053"/>
            </a:avLst>
          </a:prstGeom>
          <a:solidFill>
            <a:schemeClr val="accent2"/>
          </a:solidFill>
          <a:ln/>
        </p:spPr>
      </p:sp>
      <p:sp>
        <p:nvSpPr>
          <p:cNvPr id="9" name="Stretch number"/>
          <p:cNvSpPr txBox="1"/>
          <p:nvPr/>
        </p:nvSpPr>
        <p:spPr>
          <a:xfrm>
            <a:off x="777240" y="242316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0" name="Stretch title"/>
          <p:cNvSpPr txBox="1"/>
          <p:nvPr/>
        </p:nvSpPr>
        <p:spPr>
          <a:xfrm>
            <a:off x="1280160" y="2377440"/>
            <a:ext cx="448056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Empty month</a:t>
            </a:r>
            <a:endParaRPr lang="en-US" sz="1400" dirty="0"/>
          </a:p>
        </p:txBody>
      </p:sp>
      <p:sp>
        <p:nvSpPr>
          <p:cNvPr id="11" name="Stretch text"/>
          <p:cNvSpPr txBox="1"/>
          <p:nvPr/>
        </p:nvSpPr>
        <p:spPr>
          <a:xfrm>
            <a:off x="1280160" y="2670048"/>
            <a:ext cx="4480560" cy="502920"/>
          </a:xfrm>
          <a:prstGeom prst="rect">
            <a:avLst/>
          </a:prstGeom>
          <a:noFill/>
          <a:ln/>
        </p:spPr>
        <p:txBody>
          <a:bodyPr wrap="square" lIns="0" tIns="0" rIns="0" bIns="0" rtlCol="0" anchor="t"/>
          <a:lstStyle/>
          <a:p>
            <a:pPr indent="0" marL="0">
              <a:buNone/>
            </a:pPr>
            <a:r>
              <a:rPr lang="en-US" sz="1200" dirty="0">
                <a:solidFill>
                  <a:schemeClr val="tx1"/>
                </a:solidFill>
              </a:rPr>
              <a:t>Run period 2025-03. It stops with a confusing error. Add a check that says why.</a:t>
            </a:r>
            <a:endParaRPr lang="en-US" sz="1200" dirty="0"/>
          </a:p>
        </p:txBody>
      </p:sp>
      <p:sp>
        <p:nvSpPr>
          <p:cNvPr id="12" name="Stretch chip 2"/>
          <p:cNvSpPr/>
          <p:nvPr/>
        </p:nvSpPr>
        <p:spPr>
          <a:xfrm>
            <a:off x="777240" y="3291840"/>
            <a:ext cx="347472" cy="347472"/>
          </a:xfrm>
          <a:prstGeom prst="roundRect">
            <a:avLst>
              <a:gd name="adj" fmla="val 21053"/>
            </a:avLst>
          </a:prstGeom>
          <a:solidFill>
            <a:schemeClr val="accent2"/>
          </a:solidFill>
          <a:ln/>
        </p:spPr>
      </p:sp>
      <p:sp>
        <p:nvSpPr>
          <p:cNvPr id="13" name="Stretch number"/>
          <p:cNvSpPr txBox="1"/>
          <p:nvPr/>
        </p:nvSpPr>
        <p:spPr>
          <a:xfrm>
            <a:off x="777240" y="329184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4" name="Stretch title"/>
          <p:cNvSpPr txBox="1"/>
          <p:nvPr/>
        </p:nvSpPr>
        <p:spPr>
          <a:xfrm>
            <a:off x="1280160" y="3246120"/>
            <a:ext cx="448056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Row counts</a:t>
            </a:r>
            <a:endParaRPr lang="en-US" sz="1400" dirty="0"/>
          </a:p>
        </p:txBody>
      </p:sp>
      <p:sp>
        <p:nvSpPr>
          <p:cNvPr id="15" name="Stretch text"/>
          <p:cNvSpPr txBox="1"/>
          <p:nvPr/>
        </p:nvSpPr>
        <p:spPr>
          <a:xfrm>
            <a:off x="1280160" y="3538728"/>
            <a:ext cx="4480560" cy="502920"/>
          </a:xfrm>
          <a:prstGeom prst="rect">
            <a:avLst/>
          </a:prstGeom>
          <a:noFill/>
          <a:ln/>
        </p:spPr>
        <p:txBody>
          <a:bodyPr wrap="square" lIns="0" tIns="0" rIns="0" bIns="0" rtlCol="0" anchor="t"/>
          <a:lstStyle/>
          <a:p>
            <a:pPr indent="0" marL="0">
              <a:buNone/>
            </a:pPr>
            <a:r>
              <a:rPr lang="en-US" sz="1200" dirty="0">
                <a:solidFill>
                  <a:schemeClr val="tx1"/>
                </a:solidFill>
              </a:rPr>
              <a:t>Assert that bronze and silver have the same number of rows for the period.</a:t>
            </a:r>
            <a:endParaRPr lang="en-US" sz="1200" dirty="0"/>
          </a:p>
        </p:txBody>
      </p:sp>
      <p:sp>
        <p:nvSpPr>
          <p:cNvPr id="16" name="Stretch chip 3"/>
          <p:cNvSpPr/>
          <p:nvPr/>
        </p:nvSpPr>
        <p:spPr>
          <a:xfrm>
            <a:off x="777240" y="4160520"/>
            <a:ext cx="347472" cy="347472"/>
          </a:xfrm>
          <a:prstGeom prst="roundRect">
            <a:avLst>
              <a:gd name="adj" fmla="val 21053"/>
            </a:avLst>
          </a:prstGeom>
          <a:solidFill>
            <a:schemeClr val="accent2"/>
          </a:solidFill>
          <a:ln/>
        </p:spPr>
      </p:sp>
      <p:sp>
        <p:nvSpPr>
          <p:cNvPr id="17" name="Stretch number"/>
          <p:cNvSpPr txBox="1"/>
          <p:nvPr/>
        </p:nvSpPr>
        <p:spPr>
          <a:xfrm>
            <a:off x="777240" y="416052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8" name="Stretch title"/>
          <p:cNvSpPr txBox="1"/>
          <p:nvPr/>
        </p:nvSpPr>
        <p:spPr>
          <a:xfrm>
            <a:off x="1280160" y="4114800"/>
            <a:ext cx="448056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Unmapped limit</a:t>
            </a:r>
            <a:endParaRPr lang="en-US" sz="1400" dirty="0"/>
          </a:p>
        </p:txBody>
      </p:sp>
      <p:sp>
        <p:nvSpPr>
          <p:cNvPr id="19" name="Stretch text"/>
          <p:cNvSpPr txBox="1"/>
          <p:nvPr/>
        </p:nvSpPr>
        <p:spPr>
          <a:xfrm>
            <a:off x="1280160" y="4407408"/>
            <a:ext cx="4480560" cy="502920"/>
          </a:xfrm>
          <a:prstGeom prst="rect">
            <a:avLst/>
          </a:prstGeom>
          <a:noFill/>
          <a:ln/>
        </p:spPr>
        <p:txBody>
          <a:bodyPr wrap="square" lIns="0" tIns="0" rIns="0" bIns="0" rtlCol="0" anchor="t"/>
          <a:lstStyle/>
          <a:p>
            <a:pPr indent="0" marL="0">
              <a:buNone/>
            </a:pPr>
            <a:r>
              <a:rPr lang="en-US" sz="1200" dirty="0">
                <a:solidFill>
                  <a:schemeClr val="tx1"/>
                </a:solidFill>
              </a:rPr>
              <a:t>Add max_unmapped as a parameter. Fail the gate above it.</a:t>
            </a:r>
            <a:endParaRPr lang="en-US" sz="1200" dirty="0"/>
          </a:p>
        </p:txBody>
      </p:sp>
      <p:sp>
        <p:nvSpPr>
          <p:cNvPr id="20" name="Stretch chip 4"/>
          <p:cNvSpPr/>
          <p:nvPr/>
        </p:nvSpPr>
        <p:spPr>
          <a:xfrm>
            <a:off x="777240" y="5029200"/>
            <a:ext cx="347472" cy="347472"/>
          </a:xfrm>
          <a:prstGeom prst="roundRect">
            <a:avLst>
              <a:gd name="adj" fmla="val 21053"/>
            </a:avLst>
          </a:prstGeom>
          <a:solidFill>
            <a:schemeClr val="accent2"/>
          </a:solidFill>
          <a:ln/>
        </p:spPr>
      </p:sp>
      <p:sp>
        <p:nvSpPr>
          <p:cNvPr id="21" name="Stretch number"/>
          <p:cNvSpPr txBox="1"/>
          <p:nvPr/>
        </p:nvSpPr>
        <p:spPr>
          <a:xfrm>
            <a:off x="777240" y="5029200"/>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2" name="Stretch title"/>
          <p:cNvSpPr txBox="1"/>
          <p:nvPr/>
        </p:nvSpPr>
        <p:spPr>
          <a:xfrm>
            <a:off x="1280160" y="4983480"/>
            <a:ext cx="448056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Idempotent</a:t>
            </a:r>
            <a:endParaRPr lang="en-US" sz="1400" dirty="0"/>
          </a:p>
        </p:txBody>
      </p:sp>
      <p:sp>
        <p:nvSpPr>
          <p:cNvPr id="23" name="Stretch text"/>
          <p:cNvSpPr txBox="1"/>
          <p:nvPr/>
        </p:nvSpPr>
        <p:spPr>
          <a:xfrm>
            <a:off x="1280160" y="5276088"/>
            <a:ext cx="4480560" cy="502920"/>
          </a:xfrm>
          <a:prstGeom prst="rect">
            <a:avLst/>
          </a:prstGeom>
          <a:noFill/>
          <a:ln/>
        </p:spPr>
        <p:txBody>
          <a:bodyPr wrap="square" lIns="0" tIns="0" rIns="0" bIns="0" rtlCol="0" anchor="t"/>
          <a:lstStyle/>
          <a:p>
            <a:pPr indent="0" marL="0">
              <a:buNone/>
            </a:pPr>
            <a:r>
              <a:rPr lang="en-US" sz="1200" dirty="0">
                <a:solidFill>
                  <a:schemeClr val="tx1"/>
                </a:solidFill>
              </a:rPr>
              <a:t>Run step 6 three times. Use DESCRIBE HISTORY to show what each write did.</a:t>
            </a:r>
            <a:endParaRPr lang="en-US" sz="1200" dirty="0"/>
          </a:p>
        </p:txBody>
      </p:sp>
      <p:graphicFrame>
        <p:nvGraphicFramePr>
          <p:cNvPr id="40" name="Troubleshooting"/>
          <p:cNvGraphicFramePr>
            <a:graphicFrameLocks noGrp="1"/>
          </p:cNvGraphicFramePr>
          <p:nvPr>
            <p:extLst>
              <p:ext uri="{D42A27DB-BD31-4B8C-83A1-F6EECF244321}">
                <p14:modId xmlns:p14="http://schemas.microsoft.com/office/powerpoint/2010/main" val="1579011935"/>
              </p:ext>
            </p:extLst>
          </p:nvPr>
        </p:nvGraphicFramePr>
        <p:xfrm>
          <a:off x="6172200" y="1783080"/>
          <a:ext cx="5468112" cy="914400"/>
        </p:xfrm>
        <a:graphic>
          <a:graphicData uri="http://schemas.openxmlformats.org/drawingml/2006/table">
            <a:tbl>
              <a:tblPr/>
              <a:tblGrid>
                <a:gridCol w="2286000"/>
                <a:gridCol w="3182112"/>
              </a:tblGrid>
              <a:tr h="347472">
                <a:tc>
                  <a:txBody>
                    <a:bodyPr/>
                    <a:lstStyle/>
                    <a:p>
                      <a:pPr indent="0" marL="0">
                        <a:buNone/>
                      </a:pPr>
                      <a:r>
                        <a:rPr lang="en-US" sz="1150" b="1" dirty="0">
                          <a:solidFill>
                            <a:schemeClr val="bg1"/>
                          </a:solidFill>
                        </a:rPr>
                        <a:t>Symptom</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Likely cause and fix</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82296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Path does not exist: Files/raw/dst/...</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The lakehouse is not attached to the notebook, or the files are in another folder.</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822960">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AssertionError: bad period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The period must look like 2025-01. Check the parameter cell.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914400">
                <a:tc>
                  <a:txBody>
                    <a:bodyPr/>
                    <a:lstStyle/>
                    <a:p>
                      <a:pPr indent="0" marL="0">
                        <a:buNone/>
                      </a:pPr>
                      <a:r>
                        <a:rPr lang="en-US" sz="1150" dirty="0">
                          <a:solidFill>
                            <a:schemeClr val="tx1"/>
                          </a:solidFill>
                        </a:rPr>
                        <a:t>The gate fails on a clean run</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Cells were run out of order, or the break-it line is still there. Restart the session and run all.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914400">
                <a:tc>
                  <a:txBody>
                    <a:bodyPr/>
                    <a:lstStyle/>
                    <a:p>
                      <a:pPr indent="0" marL="0">
                        <a:buNone/>
                      </a:pPr>
                      <a:r>
                        <a:rPr lang="en-US" sz="1150" dirty="0">
                          <a:solidFill>
                            <a:schemeClr val="tx1"/>
                          </a:solidFill>
                        </a:rPr>
                        <a:t>Gold is empty or the gate errors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No data for the period. Check the period against the files in the kit.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3 · LAB A</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Debrief: what the migration gave you</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Describe history"/>
          <p:cNvSpPr/>
          <p:nvPr/>
        </p:nvSpPr>
        <p:spPr>
          <a:xfrm>
            <a:off x="548640" y="1783080"/>
            <a:ext cx="5852160" cy="868680"/>
          </a:xfrm>
          <a:prstGeom prst="roundRect">
            <a:avLst>
              <a:gd name="adj" fmla="val 10526"/>
            </a:avLst>
          </a:prstGeom>
          <a:solidFill>
            <a:schemeClr val="tx1"/>
          </a:solidFill>
          <a:ln/>
        </p:spPr>
      </p:sp>
      <p:sp>
        <p:nvSpPr>
          <p:cNvPr id="7" name="Code label"/>
          <p:cNvSpPr txBox="1"/>
          <p:nvPr/>
        </p:nvSpPr>
        <p:spPr>
          <a:xfrm>
            <a:off x="749808" y="1874520"/>
            <a:ext cx="54498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RUN IN A NOTEBOOK CELL</a:t>
            </a:r>
            <a:endParaRPr lang="en-US" sz="1000" dirty="0"/>
          </a:p>
        </p:txBody>
      </p:sp>
      <p:sp>
        <p:nvSpPr>
          <p:cNvPr id="8" name="Describe history text"/>
          <p:cNvSpPr txBox="1"/>
          <p:nvPr/>
        </p:nvSpPr>
        <p:spPr>
          <a:xfrm>
            <a:off x="749808" y="2167128"/>
            <a:ext cx="5449824" cy="37490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DESCRIBE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HISTORY</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gold_dst_apportioned</a:t>
            </a:r>
            <a:endParaRPr lang="en-US" sz="1300" dirty="0"/>
          </a:p>
        </p:txBody>
      </p:sp>
      <p:graphicFrame>
        <p:nvGraphicFramePr>
          <p:cNvPr id="41" name="History table"/>
          <p:cNvGraphicFramePr>
            <a:graphicFrameLocks noGrp="1"/>
          </p:cNvGraphicFramePr>
          <p:nvPr>
            <p:extLst>
              <p:ext uri="{D42A27DB-BD31-4B8C-83A1-F6EECF244321}">
                <p14:modId xmlns:p14="http://schemas.microsoft.com/office/powerpoint/2010/main" val="1579011935"/>
              </p:ext>
            </p:extLst>
          </p:nvPr>
        </p:nvGraphicFramePr>
        <p:xfrm>
          <a:off x="548640" y="2788920"/>
          <a:ext cx="5852160" cy="914400"/>
        </p:xfrm>
        <a:graphic>
          <a:graphicData uri="http://schemas.openxmlformats.org/drawingml/2006/table">
            <a:tbl>
              <a:tblPr/>
              <a:tblGrid>
                <a:gridCol w="914400"/>
                <a:gridCol w="1097280"/>
                <a:gridCol w="3840480"/>
              </a:tblGrid>
              <a:tr h="365760">
                <a:tc>
                  <a:txBody>
                    <a:bodyPr/>
                    <a:lstStyle/>
                    <a:p>
                      <a:pPr indent="0" marL="0">
                        <a:buNone/>
                      </a:pPr>
                      <a:r>
                        <a:rPr lang="en-US" sz="1250" b="1" dirty="0">
                          <a:solidFill>
                            <a:schemeClr val="bg1"/>
                          </a:solidFill>
                        </a:rPr>
                        <a:t>Version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Operation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Slice it replaced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47472">
                <a:tc>
                  <a:txBody>
                    <a:bodyPr/>
                    <a:lstStyle/>
                    <a:p>
                      <a:pPr indent="0" marL="0">
                        <a:buNone/>
                      </a:pPr>
                      <a:r>
                        <a:rPr lang="en-US" sz="1250" dirty="0">
                          <a:solidFill>
                            <a:schemeClr val="tx1"/>
                          </a:solidFill>
                        </a:rPr>
                        <a:t>3</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WRITE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2025-01 · without_na (a re-run)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50" dirty="0">
                          <a:solidFill>
                            <a:schemeClr val="tx1"/>
                          </a:solidFill>
                        </a:rPr>
                        <a:t>2</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WRITE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2025-01 · with_na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47472">
                <a:tc>
                  <a:txBody>
                    <a:bodyPr/>
                    <a:lstStyle/>
                    <a:p>
                      <a:pPr indent="0" marL="0">
                        <a:buNone/>
                      </a:pPr>
                      <a:r>
                        <a:rPr lang="en-US" sz="1250" dirty="0">
                          <a:solidFill>
                            <a:schemeClr val="tx1"/>
                          </a:solidFill>
                        </a:rPr>
                        <a:t>1</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WRITE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2025-02 · without_na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47472">
                <a:tc>
                  <a:txBody>
                    <a:bodyPr/>
                    <a:lstStyle/>
                    <a:p>
                      <a:pPr indent="0" marL="0">
                        <a:buNone/>
                      </a:pPr>
                      <a:r>
                        <a:rPr lang="en-US" sz="1250" dirty="0">
                          <a:solidFill>
                            <a:schemeClr val="tx1"/>
                          </a:solidFill>
                        </a:rPr>
                        <a:t>0</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WRITE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2025-01 · without_na</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0" name="History note"/>
          <p:cNvSpPr/>
          <p:nvPr/>
        </p:nvSpPr>
        <p:spPr>
          <a:xfrm>
            <a:off x="548640" y="4754880"/>
            <a:ext cx="5852160" cy="1097280"/>
          </a:xfrm>
          <a:prstGeom prst="roundRect">
            <a:avLst>
              <a:gd name="adj" fmla="val 10000"/>
            </a:avLst>
          </a:prstGeom>
          <a:solidFill>
            <a:schemeClr val="accent2">
              <a:alpha val="20000"/>
            </a:schemeClr>
          </a:solidFill>
          <a:ln/>
        </p:spPr>
      </p:sp>
      <p:sp>
        <p:nvSpPr>
          <p:cNvPr id="11" name="History text"/>
          <p:cNvSpPr txBox="1"/>
          <p:nvPr/>
        </p:nvSpPr>
        <p:spPr>
          <a:xfrm>
            <a:off x="777240" y="4754880"/>
            <a:ext cx="5394960" cy="1097280"/>
          </a:xfrm>
          <a:prstGeom prst="rect">
            <a:avLst/>
          </a:prstGeom>
          <a:noFill/>
          <a:ln/>
        </p:spPr>
        <p:txBody>
          <a:bodyPr wrap="square" lIns="0" tIns="0" rIns="0" bIns="0" rtlCol="0" anchor="ctr"/>
          <a:lstStyle/>
          <a:p>
            <a:pPr indent="0" marL="0">
              <a:buNone/>
            </a:pPr>
            <a:r>
              <a:rPr lang="en-US" sz="1350" dirty="0">
                <a:solidFill>
                  <a:schemeClr val="tx1"/>
                </a:solidFill>
              </a:rPr>
              <a:t>Every write is a version. Run it twice and you get two versions with the same rows, not duplicates.</a:t>
            </a:r>
            <a:endParaRPr lang="en-US" sz="1350" dirty="0"/>
          </a:p>
        </p:txBody>
      </p:sp>
      <p:sp>
        <p:nvSpPr>
          <p:cNvPr id="12" name="Question 1"/>
          <p:cNvSpPr/>
          <p:nvPr/>
        </p:nvSpPr>
        <p:spPr>
          <a:xfrm>
            <a:off x="6675120" y="1783080"/>
            <a:ext cx="4965192" cy="932688"/>
          </a:xfrm>
          <a:prstGeom prst="roundRect">
            <a:avLst>
              <a:gd name="adj" fmla="val 11765"/>
            </a:avLst>
          </a:prstGeom>
          <a:solidFill>
            <a:schemeClr val="bg2"/>
          </a:solidFill>
          <a:ln/>
        </p:spPr>
      </p:sp>
      <p:sp>
        <p:nvSpPr>
          <p:cNvPr id="13" name="Question chip 1"/>
          <p:cNvSpPr/>
          <p:nvPr/>
        </p:nvSpPr>
        <p:spPr>
          <a:xfrm>
            <a:off x="6858000" y="2020824"/>
            <a:ext cx="457200" cy="457200"/>
          </a:xfrm>
          <a:prstGeom prst="roundRect">
            <a:avLst>
              <a:gd name="adj" fmla="val 16000"/>
            </a:avLst>
          </a:prstGeom>
          <a:solidFill>
            <a:schemeClr val="accent3"/>
          </a:solidFill>
          <a:ln/>
        </p:spPr>
      </p:sp>
      <p:sp>
        <p:nvSpPr>
          <p:cNvPr id="14" name="Question number"/>
          <p:cNvSpPr txBox="1"/>
          <p:nvPr/>
        </p:nvSpPr>
        <p:spPr>
          <a:xfrm>
            <a:off x="6858000" y="202082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1</a:t>
            </a:r>
            <a:endParaRPr lang="en-US" sz="1600" dirty="0"/>
          </a:p>
        </p:txBody>
      </p:sp>
      <p:sp>
        <p:nvSpPr>
          <p:cNvPr id="15" name="Question text"/>
          <p:cNvSpPr txBox="1"/>
          <p:nvPr/>
        </p:nvSpPr>
        <p:spPr>
          <a:xfrm>
            <a:off x="7498080" y="1783080"/>
            <a:ext cx="4023360" cy="932688"/>
          </a:xfrm>
          <a:prstGeom prst="rect">
            <a:avLst/>
          </a:prstGeom>
          <a:noFill/>
          <a:ln/>
        </p:spPr>
        <p:txBody>
          <a:bodyPr wrap="square" lIns="0" tIns="0" rIns="0" bIns="0" rtlCol="0" anchor="ctr"/>
          <a:lstStyle/>
          <a:p>
            <a:pPr indent="0" marL="0">
              <a:buNone/>
            </a:pPr>
            <a:r>
              <a:rPr lang="en-US" sz="1300" dirty="0">
                <a:solidFill>
                  <a:schemeClr val="tx1"/>
                </a:solidFill>
              </a:rPr>
              <a:t>Where did the Alteryx workflow check its own answer? Where does this one?</a:t>
            </a:r>
            <a:endParaRPr lang="en-US" sz="1300" dirty="0"/>
          </a:p>
        </p:txBody>
      </p:sp>
      <p:sp>
        <p:nvSpPr>
          <p:cNvPr id="16" name="Question 2"/>
          <p:cNvSpPr/>
          <p:nvPr/>
        </p:nvSpPr>
        <p:spPr>
          <a:xfrm>
            <a:off x="6675120" y="2807208"/>
            <a:ext cx="4965192" cy="932688"/>
          </a:xfrm>
          <a:prstGeom prst="roundRect">
            <a:avLst>
              <a:gd name="adj" fmla="val 11765"/>
            </a:avLst>
          </a:prstGeom>
          <a:solidFill>
            <a:schemeClr val="bg2"/>
          </a:solidFill>
          <a:ln/>
        </p:spPr>
      </p:sp>
      <p:sp>
        <p:nvSpPr>
          <p:cNvPr id="17" name="Question chip 2"/>
          <p:cNvSpPr/>
          <p:nvPr/>
        </p:nvSpPr>
        <p:spPr>
          <a:xfrm>
            <a:off x="6858000" y="3044952"/>
            <a:ext cx="457200" cy="457200"/>
          </a:xfrm>
          <a:prstGeom prst="roundRect">
            <a:avLst>
              <a:gd name="adj" fmla="val 16000"/>
            </a:avLst>
          </a:prstGeom>
          <a:solidFill>
            <a:schemeClr val="accent3"/>
          </a:solidFill>
          <a:ln/>
        </p:spPr>
      </p:sp>
      <p:sp>
        <p:nvSpPr>
          <p:cNvPr id="18" name="Question number"/>
          <p:cNvSpPr txBox="1"/>
          <p:nvPr/>
        </p:nvSpPr>
        <p:spPr>
          <a:xfrm>
            <a:off x="6858000" y="304495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2</a:t>
            </a:r>
            <a:endParaRPr lang="en-US" sz="1600" dirty="0"/>
          </a:p>
        </p:txBody>
      </p:sp>
      <p:sp>
        <p:nvSpPr>
          <p:cNvPr id="19" name="Question text"/>
          <p:cNvSpPr txBox="1"/>
          <p:nvPr/>
        </p:nvSpPr>
        <p:spPr>
          <a:xfrm>
            <a:off x="7498080" y="2807208"/>
            <a:ext cx="4023360" cy="932688"/>
          </a:xfrm>
          <a:prstGeom prst="rect">
            <a:avLst/>
          </a:prstGeom>
          <a:noFill/>
          <a:ln/>
        </p:spPr>
        <p:txBody>
          <a:bodyPr wrap="square" lIns="0" tIns="0" rIns="0" bIns="0" rtlCol="0" anchor="ctr"/>
          <a:lstStyle/>
          <a:p>
            <a:pPr indent="0" marL="0">
              <a:buNone/>
            </a:pPr>
            <a:r>
              <a:rPr lang="en-US" sz="1300" dirty="0">
                <a:solidFill>
                  <a:schemeClr val="tx1"/>
                </a:solidFill>
              </a:rPr>
              <a:t>Who should read the run log, and what do they need to see?</a:t>
            </a:r>
            <a:endParaRPr lang="en-US" sz="1300" dirty="0"/>
          </a:p>
        </p:txBody>
      </p:sp>
      <p:sp>
        <p:nvSpPr>
          <p:cNvPr id="20" name="Question 3"/>
          <p:cNvSpPr/>
          <p:nvPr/>
        </p:nvSpPr>
        <p:spPr>
          <a:xfrm>
            <a:off x="6675120" y="3831336"/>
            <a:ext cx="4965192" cy="932688"/>
          </a:xfrm>
          <a:prstGeom prst="roundRect">
            <a:avLst>
              <a:gd name="adj" fmla="val 11765"/>
            </a:avLst>
          </a:prstGeom>
          <a:solidFill>
            <a:schemeClr val="bg2"/>
          </a:solidFill>
          <a:ln/>
        </p:spPr>
      </p:sp>
      <p:sp>
        <p:nvSpPr>
          <p:cNvPr id="21" name="Question chip 3"/>
          <p:cNvSpPr/>
          <p:nvPr/>
        </p:nvSpPr>
        <p:spPr>
          <a:xfrm>
            <a:off x="6858000" y="4069080"/>
            <a:ext cx="457200" cy="457200"/>
          </a:xfrm>
          <a:prstGeom prst="roundRect">
            <a:avLst>
              <a:gd name="adj" fmla="val 16000"/>
            </a:avLst>
          </a:prstGeom>
          <a:solidFill>
            <a:schemeClr val="accent3"/>
          </a:solidFill>
          <a:ln/>
        </p:spPr>
      </p:sp>
      <p:sp>
        <p:nvSpPr>
          <p:cNvPr id="22" name="Question number"/>
          <p:cNvSpPr txBox="1"/>
          <p:nvPr/>
        </p:nvSpPr>
        <p:spPr>
          <a:xfrm>
            <a:off x="6858000" y="4069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3</a:t>
            </a:r>
            <a:endParaRPr lang="en-US" sz="1600" dirty="0"/>
          </a:p>
        </p:txBody>
      </p:sp>
      <p:sp>
        <p:nvSpPr>
          <p:cNvPr id="23" name="Question text"/>
          <p:cNvSpPr txBox="1"/>
          <p:nvPr/>
        </p:nvSpPr>
        <p:spPr>
          <a:xfrm>
            <a:off x="7498080" y="3831336"/>
            <a:ext cx="4023360" cy="932688"/>
          </a:xfrm>
          <a:prstGeom prst="rect">
            <a:avLst/>
          </a:prstGeom>
          <a:noFill/>
          <a:ln/>
        </p:spPr>
        <p:txBody>
          <a:bodyPr wrap="square" lIns="0" tIns="0" rIns="0" bIns="0" rtlCol="0" anchor="ctr"/>
          <a:lstStyle/>
          <a:p>
            <a:pPr indent="0" marL="0">
              <a:buNone/>
            </a:pPr>
            <a:r>
              <a:rPr lang="en-US" sz="1300" dirty="0">
                <a:solidFill>
                  <a:schemeClr val="tx1"/>
                </a:solidFill>
              </a:rPr>
              <a:t>What is still missing before this could be promoted to TEST?</a:t>
            </a:r>
            <a:endParaRPr lang="en-US" sz="1300" dirty="0"/>
          </a:p>
        </p:txBody>
      </p:sp>
      <p:sp>
        <p:nvSpPr>
          <p:cNvPr id="24" name="Question 4"/>
          <p:cNvSpPr/>
          <p:nvPr/>
        </p:nvSpPr>
        <p:spPr>
          <a:xfrm>
            <a:off x="6675120" y="4855464"/>
            <a:ext cx="4965192" cy="932688"/>
          </a:xfrm>
          <a:prstGeom prst="roundRect">
            <a:avLst>
              <a:gd name="adj" fmla="val 11765"/>
            </a:avLst>
          </a:prstGeom>
          <a:solidFill>
            <a:schemeClr val="bg2"/>
          </a:solidFill>
          <a:ln/>
        </p:spPr>
      </p:sp>
      <p:sp>
        <p:nvSpPr>
          <p:cNvPr id="25" name="Question chip 4"/>
          <p:cNvSpPr/>
          <p:nvPr/>
        </p:nvSpPr>
        <p:spPr>
          <a:xfrm>
            <a:off x="6858000" y="5093208"/>
            <a:ext cx="457200" cy="457200"/>
          </a:xfrm>
          <a:prstGeom prst="roundRect">
            <a:avLst>
              <a:gd name="adj" fmla="val 16000"/>
            </a:avLst>
          </a:prstGeom>
          <a:solidFill>
            <a:schemeClr val="accent3"/>
          </a:solidFill>
          <a:ln/>
        </p:spPr>
      </p:sp>
      <p:sp>
        <p:nvSpPr>
          <p:cNvPr id="26" name="Question number"/>
          <p:cNvSpPr txBox="1"/>
          <p:nvPr/>
        </p:nvSpPr>
        <p:spPr>
          <a:xfrm>
            <a:off x="6858000" y="509320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4</a:t>
            </a:r>
            <a:endParaRPr lang="en-US" sz="1600" dirty="0"/>
          </a:p>
        </p:txBody>
      </p:sp>
      <p:sp>
        <p:nvSpPr>
          <p:cNvPr id="27" name="Question text"/>
          <p:cNvSpPr txBox="1"/>
          <p:nvPr/>
        </p:nvSpPr>
        <p:spPr>
          <a:xfrm>
            <a:off x="7498080" y="4855464"/>
            <a:ext cx="4023360" cy="932688"/>
          </a:xfrm>
          <a:prstGeom prst="rect">
            <a:avLst/>
          </a:prstGeom>
          <a:noFill/>
          <a:ln/>
        </p:spPr>
        <p:txBody>
          <a:bodyPr wrap="square" lIns="0" tIns="0" rIns="0" bIns="0" rtlCol="0" anchor="ctr"/>
          <a:lstStyle/>
          <a:p>
            <a:pPr indent="0" marL="0">
              <a:buNone/>
            </a:pPr>
            <a:r>
              <a:rPr lang="en-US" sz="1300" dirty="0">
                <a:solidFill>
                  <a:schemeClr val="tx1"/>
                </a:solidFill>
              </a:rPr>
              <a:t>What would you want to run on a schedule, and what on demand?</a:t>
            </a:r>
            <a:endParaRPr lang="en-US" sz="1300" dirty="0"/>
          </a:p>
        </p:txBody>
      </p:sp>
      <p:sp>
        <p:nvSpPr>
          <p:cNvPr id="28"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Versions shown are from a four-run test of the lab code. Your numbers will match if you ran the same sequence.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PART 4</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User Experience &amp; Consumption</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From a notebook that works to something a business user can run, and read.</a:t>
            </a:r>
            <a:endParaRPr lang="en-US" sz="1800" dirty="0"/>
          </a:p>
        </p:txBody>
      </p:sp>
      <p:sp>
        <p:nvSpPr>
          <p:cNvPr id="6" name="Part number watermark"/>
          <p:cNvSpPr txBox="1"/>
          <p:nvPr/>
        </p:nvSpPr>
        <p:spPr>
          <a:xfrm>
            <a:off x="7498080" y="822960"/>
            <a:ext cx="4206240" cy="2926080"/>
          </a:xfrm>
          <a:prstGeom prst="rect">
            <a:avLst/>
          </a:prstGeom>
          <a:noFill/>
          <a:ln/>
        </p:spPr>
        <p:txBody>
          <a:bodyPr wrap="square" lIns="0" tIns="0" rIns="0" bIns="0" rtlCol="0" anchor="ctr"/>
          <a:lstStyle/>
          <a:p>
            <a:pPr algn="r" indent="0" marL="0">
              <a:buNone/>
            </a:pPr>
            <a:r>
              <a:rPr lang="en-US" sz="20000" b="1" dirty="0">
                <a:solidFill>
                  <a:schemeClr val="bg1">
                    <a:alpha val="18000"/>
                  </a:schemeClr>
                </a:solidFill>
                <a:latin typeface="+mj-lt" pitchFamily="34" charset="0"/>
                <a:ea typeface="+mj-lt" pitchFamily="34" charset="-122"/>
                <a:cs typeface="+mj-lt" pitchFamily="34" charset="-120"/>
              </a:rPr>
              <a:t>04</a:t>
            </a:r>
            <a:endParaRPr lang="en-US" sz="20000" dirty="0"/>
          </a:p>
        </p:txBody>
      </p:sp>
      <p:sp>
        <p:nvSpPr>
          <p:cNvPr id="7" name="Module list"/>
          <p:cNvSpPr txBox="1"/>
          <p:nvPr/>
        </p:nvSpPr>
        <p:spPr>
          <a:xfrm>
            <a:off x="7680960" y="4160520"/>
            <a:ext cx="3931920" cy="109728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1   Portal-driven execution</a:t>
            </a:r>
            <a:endParaRPr lang="en-US" sz="1800" dirty="0"/>
          </a:p>
          <a:p>
            <a:pPr indent="0" marL="0">
              <a:spcAft>
                <a:spcPts val="600"/>
              </a:spcAft>
              <a:buNone/>
            </a:pPr>
            <a:r>
              <a:rPr lang="en-US" sz="1800" dirty="0">
                <a:solidFill>
                  <a:schemeClr val="bg1"/>
                </a:solidFill>
              </a:rPr>
              <a:t>2   Reporting and Power BI</a:t>
            </a:r>
            <a:endParaRPr lang="en-US" sz="1800" dirty="0"/>
          </a:p>
          <a:p>
            <a:pPr indent="0" marL="0">
              <a:spcAft>
                <a:spcPts val="600"/>
              </a:spcAft>
              <a:buNone/>
            </a:pPr>
            <a:r>
              <a:rPr lang="en-US" sz="1800" dirty="0">
                <a:solidFill>
                  <a:schemeClr val="bg1"/>
                </a:solidFill>
              </a:rPr>
              <a:t>3   Lab B: add a front door</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Today's front door is one text box</a:t>
            </a:r>
            <a:endParaRPr lang="en-US" sz="3200" dirty="0"/>
          </a:p>
        </p:txBody>
      </p:sp>
      <p:sp>
        <p:nvSpPr>
          <p:cNvPr id="5" name="Run page card"/>
          <p:cNvSpPr/>
          <p:nvPr/>
        </p:nvSpPr>
        <p:spPr>
          <a:xfrm>
            <a:off x="548640" y="1783080"/>
            <a:ext cx="5852160" cy="3749040"/>
          </a:xfrm>
          <a:prstGeom prst="roundRect">
            <a:avLst>
              <a:gd name="adj" fmla="val 2927"/>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Page title"/>
          <p:cNvSpPr txBox="1"/>
          <p:nvPr/>
        </p:nvSpPr>
        <p:spPr>
          <a:xfrm>
            <a:off x="822960" y="1920240"/>
            <a:ext cx="530352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Run Workflow</a:t>
            </a:r>
            <a:endParaRPr lang="en-US" sz="2200" dirty="0"/>
          </a:p>
        </p:txBody>
      </p:sp>
      <p:sp>
        <p:nvSpPr>
          <p:cNvPr id="7" name="Breadcrumb"/>
          <p:cNvSpPr txBox="1"/>
          <p:nvPr/>
        </p:nvSpPr>
        <p:spPr>
          <a:xfrm>
            <a:off x="822960" y="2377440"/>
            <a:ext cx="5303520" cy="228600"/>
          </a:xfrm>
          <a:prstGeom prst="rect">
            <a:avLst/>
          </a:prstGeom>
          <a:noFill/>
          <a:ln/>
        </p:spPr>
        <p:txBody>
          <a:bodyPr wrap="square" lIns="0" tIns="0" rIns="0" bIns="0" rtlCol="0" anchor="t"/>
          <a:lstStyle/>
          <a:p>
            <a:pPr indent="0" marL="0">
              <a:buNone/>
            </a:pPr>
            <a:r>
              <a:rPr lang="en-US" sz="1000" dirty="0">
                <a:solidFill>
                  <a:schemeClr val="accent5"/>
                </a:solidFill>
              </a:rPr>
              <a:t>Gallery  /  DST Domestic Workflow  /  Run Workflow</a:t>
            </a:r>
            <a:endParaRPr lang="en-US" sz="1000" dirty="0"/>
          </a:p>
        </p:txBody>
      </p:sp>
      <p:sp>
        <p:nvSpPr>
          <p:cNvPr id="8" name="Tab label"/>
          <p:cNvSpPr txBox="1"/>
          <p:nvPr/>
        </p:nvSpPr>
        <p:spPr>
          <a:xfrm>
            <a:off x="822960" y="2788920"/>
            <a:ext cx="1097280" cy="256032"/>
          </a:xfrm>
          <a:prstGeom prst="rect">
            <a:avLst/>
          </a:prstGeom>
          <a:noFill/>
          <a:ln/>
        </p:spPr>
        <p:txBody>
          <a:bodyPr wrap="square" lIns="0" tIns="0" rIns="0" bIns="0" rtlCol="0" anchor="t"/>
          <a:lstStyle/>
          <a:p>
            <a:pPr indent="0" marL="0">
              <a:buNone/>
            </a:pPr>
            <a:r>
              <a:rPr lang="en-US" sz="1250" b="1" dirty="0">
                <a:solidFill>
                  <a:schemeClr val="accent1"/>
                </a:solidFill>
              </a:rPr>
              <a:t>Questions</a:t>
            </a:r>
            <a:endParaRPr lang="en-US" sz="1250" dirty="0"/>
          </a:p>
        </p:txBody>
      </p:sp>
      <p:sp>
        <p:nvSpPr>
          <p:cNvPr id="9" name="Tab rule"/>
          <p:cNvSpPr/>
          <p:nvPr/>
        </p:nvSpPr>
        <p:spPr>
          <a:xfrm>
            <a:off x="822960" y="3108960"/>
            <a:ext cx="5303520" cy="18288"/>
          </a:xfrm>
          <a:prstGeom prst="rect">
            <a:avLst/>
          </a:prstGeom>
          <a:solidFill>
            <a:schemeClr val="bg2"/>
          </a:solidFill>
          <a:ln/>
        </p:spPr>
      </p:sp>
      <p:sp>
        <p:nvSpPr>
          <p:cNvPr id="10" name="Tab underline"/>
          <p:cNvSpPr/>
          <p:nvPr/>
        </p:nvSpPr>
        <p:spPr>
          <a:xfrm>
            <a:off x="822960" y="3090672"/>
            <a:ext cx="822960" cy="36576"/>
          </a:xfrm>
          <a:prstGeom prst="rect">
            <a:avLst/>
          </a:prstGeom>
          <a:solidFill>
            <a:schemeClr val="accent1"/>
          </a:solidFill>
          <a:ln/>
        </p:spPr>
      </p:sp>
      <p:sp>
        <p:nvSpPr>
          <p:cNvPr id="11" name="Question label"/>
          <p:cNvSpPr txBox="1"/>
          <p:nvPr/>
        </p:nvSpPr>
        <p:spPr>
          <a:xfrm>
            <a:off x="822960" y="3246120"/>
            <a:ext cx="5303520" cy="457200"/>
          </a:xfrm>
          <a:prstGeom prst="rect">
            <a:avLst/>
          </a:prstGeom>
          <a:noFill/>
          <a:ln/>
        </p:spPr>
        <p:txBody>
          <a:bodyPr wrap="square" lIns="0" tIns="0" rIns="0" bIns="0" rtlCol="0" anchor="t"/>
          <a:lstStyle/>
          <a:p>
            <a:pPr indent="0" marL="0">
              <a:buNone/>
            </a:pPr>
            <a:r>
              <a:rPr lang="en-US" sz="1100" b="1" dirty="0">
                <a:solidFill>
                  <a:schemeClr val="tx1">
                    <a:alpha val="75000"/>
                  </a:schemeClr>
                </a:solidFill>
              </a:rPr>
              <a:t>Provide full UNC path to shared drive folder (should match format of default value below)</a:t>
            </a:r>
            <a:endParaRPr lang="en-US" sz="1100" dirty="0"/>
          </a:p>
        </p:txBody>
      </p:sp>
      <p:sp>
        <p:nvSpPr>
          <p:cNvPr id="12" name="Text box"/>
          <p:cNvSpPr/>
          <p:nvPr/>
        </p:nvSpPr>
        <p:spPr>
          <a:xfrm>
            <a:off x="822960" y="3794760"/>
            <a:ext cx="5303520" cy="457200"/>
          </a:xfrm>
          <a:prstGeom prst="roundRect">
            <a:avLst>
              <a:gd name="adj" fmla="val 10000"/>
            </a:avLst>
          </a:prstGeom>
          <a:solidFill>
            <a:schemeClr val="bg1"/>
          </a:solidFill>
          <a:ln w="12700">
            <a:solidFill>
              <a:schemeClr val="accent5"/>
            </a:solidFill>
            <a:prstDash val="solid"/>
          </a:ln>
        </p:spPr>
      </p:sp>
      <p:sp>
        <p:nvSpPr>
          <p:cNvPr id="13" name="Text box value"/>
          <p:cNvSpPr txBox="1"/>
          <p:nvPr/>
        </p:nvSpPr>
        <p:spPr>
          <a:xfrm>
            <a:off x="960120" y="3794760"/>
            <a:ext cx="5029200" cy="45720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\\&lt;server&gt;\data\…\Data\Domestic\2025</a:t>
            </a:r>
            <a:endParaRPr lang="en-US" sz="1200" dirty="0"/>
          </a:p>
        </p:txBody>
      </p:sp>
      <p:sp>
        <p:nvSpPr>
          <p:cNvPr id="14" name="Cancel button"/>
          <p:cNvSpPr txBox="1"/>
          <p:nvPr/>
        </p:nvSpPr>
        <p:spPr>
          <a:xfrm>
            <a:off x="822960" y="4526280"/>
            <a:ext cx="868680" cy="365760"/>
          </a:xfrm>
          <a:prstGeom prst="roundRect">
            <a:avLst>
              <a:gd name="adj" fmla="val 15000"/>
            </a:avLst>
          </a:prstGeom>
          <a:solidFill>
            <a:schemeClr val="bg2"/>
          </a:solidFill>
          <a:ln/>
        </p:spPr>
        <p:txBody>
          <a:bodyPr wrap="square" lIns="0" tIns="0" rIns="0" bIns="0" rtlCol="0" anchor="ctr"/>
          <a:lstStyle/>
          <a:p>
            <a:pPr algn="ctr" indent="0" marL="0">
              <a:buNone/>
            </a:pPr>
            <a:r>
              <a:rPr lang="en-US" sz="1200" dirty="0">
                <a:solidFill>
                  <a:schemeClr val="tx1"/>
                </a:solidFill>
              </a:rPr>
              <a:t>Cancel</a:t>
            </a:r>
            <a:endParaRPr lang="en-US" sz="1200" dirty="0"/>
          </a:p>
        </p:txBody>
      </p:sp>
      <p:sp>
        <p:nvSpPr>
          <p:cNvPr id="15" name="Run button"/>
          <p:cNvSpPr txBox="1"/>
          <p:nvPr/>
        </p:nvSpPr>
        <p:spPr>
          <a:xfrm>
            <a:off x="1828800" y="4526280"/>
            <a:ext cx="731520" cy="365760"/>
          </a:xfrm>
          <a:prstGeom prst="roundRect">
            <a:avLst>
              <a:gd name="adj" fmla="val 15000"/>
            </a:avLst>
          </a:prstGeom>
          <a:solidFill>
            <a:schemeClr val="accent1"/>
          </a:solidFill>
          <a:ln/>
        </p:spPr>
        <p:txBody>
          <a:bodyPr wrap="square" lIns="0" tIns="0" rIns="0" bIns="0" rtlCol="0" anchor="ctr"/>
          <a:lstStyle/>
          <a:p>
            <a:pPr algn="ctr" indent="0" marL="0">
              <a:buNone/>
            </a:pPr>
            <a:r>
              <a:rPr lang="en-US" sz="1200" b="1" dirty="0">
                <a:solidFill>
                  <a:schemeClr val="bg1"/>
                </a:solidFill>
              </a:rPr>
              <a:t>Run</a:t>
            </a:r>
            <a:endParaRPr lang="en-US" sz="1200" dirty="0"/>
          </a:p>
        </p:txBody>
      </p:sp>
      <p:sp>
        <p:nvSpPr>
          <p:cNvPr id="16" name="Sketch caption"/>
          <p:cNvSpPr txBox="1"/>
          <p:nvPr/>
        </p:nvSpPr>
        <p:spPr>
          <a:xfrm>
            <a:off x="822960" y="5074920"/>
            <a:ext cx="5303520" cy="36576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Sketch of the gallery run page. Wording from the DST workflow documentation; the path is shortened.</a:t>
            </a:r>
            <a:endParaRPr lang="en-US" sz="1050" dirty="0"/>
          </a:p>
        </p:txBody>
      </p:sp>
      <p:sp>
        <p:nvSpPr>
          <p:cNvPr id="17" name="One free-text answer card"/>
          <p:cNvSpPr/>
          <p:nvPr/>
        </p:nvSpPr>
        <p:spPr>
          <a:xfrm>
            <a:off x="6675120" y="1783080"/>
            <a:ext cx="4965192" cy="1170432"/>
          </a:xfrm>
          <a:prstGeom prst="roundRect">
            <a:avLst>
              <a:gd name="adj" fmla="val 9375"/>
            </a:avLst>
          </a:prstGeom>
          <a:solidFill>
            <a:schemeClr val="bg2"/>
          </a:solidFill>
          <a:ln/>
        </p:spPr>
      </p:sp>
      <p:sp>
        <p:nvSpPr>
          <p:cNvPr id="18" name="Card title"/>
          <p:cNvSpPr txBox="1"/>
          <p:nvPr/>
        </p:nvSpPr>
        <p:spPr>
          <a:xfrm>
            <a:off x="6903720" y="1892808"/>
            <a:ext cx="4572000" cy="292608"/>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One free-text answer</a:t>
            </a:r>
            <a:endParaRPr lang="en-US" sz="1550" dirty="0"/>
          </a:p>
        </p:txBody>
      </p:sp>
      <p:sp>
        <p:nvSpPr>
          <p:cNvPr id="19" name="Card text"/>
          <p:cNvSpPr txBox="1"/>
          <p:nvPr/>
        </p:nvSpPr>
        <p:spPr>
          <a:xfrm>
            <a:off x="6903720" y="2240280"/>
            <a:ext cx="4572000" cy="658368"/>
          </a:xfrm>
          <a:prstGeom prst="rect">
            <a:avLst/>
          </a:prstGeom>
          <a:noFill/>
          <a:ln/>
        </p:spPr>
        <p:txBody>
          <a:bodyPr wrap="square" lIns="0" tIns="0" rIns="0" bIns="0" rtlCol="0" anchor="t"/>
          <a:lstStyle/>
          <a:p>
            <a:pPr indent="0" marL="0">
              <a:buNone/>
            </a:pPr>
            <a:r>
              <a:rPr lang="en-US" sz="1300" dirty="0">
                <a:solidFill>
                  <a:schemeClr val="tx1"/>
                </a:solidFill>
              </a:rPr>
              <a:t>The period lives in a folder name, such as 2025, and the main file must end _DST_2025.xlsx.</a:t>
            </a:r>
            <a:endParaRPr lang="en-US" sz="1300" dirty="0"/>
          </a:p>
        </p:txBody>
      </p:sp>
      <p:sp>
        <p:nvSpPr>
          <p:cNvPr id="20" name="Whatever is there, runs card"/>
          <p:cNvSpPr/>
          <p:nvPr/>
        </p:nvSpPr>
        <p:spPr>
          <a:xfrm>
            <a:off x="6675120" y="3063240"/>
            <a:ext cx="4965192" cy="1170432"/>
          </a:xfrm>
          <a:prstGeom prst="roundRect">
            <a:avLst>
              <a:gd name="adj" fmla="val 9375"/>
            </a:avLst>
          </a:prstGeom>
          <a:solidFill>
            <a:schemeClr val="bg2"/>
          </a:solidFill>
          <a:ln/>
        </p:spPr>
      </p:sp>
      <p:sp>
        <p:nvSpPr>
          <p:cNvPr id="21" name="Card title"/>
          <p:cNvSpPr txBox="1"/>
          <p:nvPr/>
        </p:nvSpPr>
        <p:spPr>
          <a:xfrm>
            <a:off x="6903720" y="3172968"/>
            <a:ext cx="4572000" cy="292608"/>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Whatever is there, runs</a:t>
            </a:r>
            <a:endParaRPr lang="en-US" sz="1550" dirty="0"/>
          </a:p>
        </p:txBody>
      </p:sp>
      <p:sp>
        <p:nvSpPr>
          <p:cNvPr id="22" name="Card text"/>
          <p:cNvSpPr txBox="1"/>
          <p:nvPr/>
        </p:nvSpPr>
        <p:spPr>
          <a:xfrm>
            <a:off x="6903720" y="3520440"/>
            <a:ext cx="4572000" cy="658368"/>
          </a:xfrm>
          <a:prstGeom prst="rect">
            <a:avLst/>
          </a:prstGeom>
          <a:noFill/>
          <a:ln/>
        </p:spPr>
        <p:txBody>
          <a:bodyPr wrap="square" lIns="0" tIns="0" rIns="0" bIns="0" rtlCol="0" anchor="t"/>
          <a:lstStyle/>
          <a:p>
            <a:pPr indent="0" marL="0">
              <a:buNone/>
            </a:pPr>
            <a:r>
              <a:rPr lang="en-US" sz="1300" dirty="0">
                <a:solidFill>
                  <a:schemeClr val="tx1"/>
                </a:solidFill>
              </a:rPr>
              <a:t>The workflow runs the full year, using whatever data is available at run time.</a:t>
            </a:r>
            <a:endParaRPr lang="en-US" sz="1300" dirty="0"/>
          </a:p>
        </p:txBody>
      </p:sp>
      <p:sp>
        <p:nvSpPr>
          <p:cNvPr id="23" name="What a Fabric front door adds card"/>
          <p:cNvSpPr/>
          <p:nvPr/>
        </p:nvSpPr>
        <p:spPr>
          <a:xfrm>
            <a:off x="6675120" y="4343400"/>
            <a:ext cx="4965192" cy="1170432"/>
          </a:xfrm>
          <a:prstGeom prst="roundRect">
            <a:avLst>
              <a:gd name="adj" fmla="val 9375"/>
            </a:avLst>
          </a:prstGeom>
          <a:solidFill>
            <a:schemeClr val="accent2">
              <a:alpha val="20000"/>
            </a:schemeClr>
          </a:solidFill>
          <a:ln/>
        </p:spPr>
      </p:sp>
      <p:sp>
        <p:nvSpPr>
          <p:cNvPr id="24" name="Card title"/>
          <p:cNvSpPr txBox="1"/>
          <p:nvPr/>
        </p:nvSpPr>
        <p:spPr>
          <a:xfrm>
            <a:off x="6903720" y="4453128"/>
            <a:ext cx="4572000" cy="292608"/>
          </a:xfrm>
          <a:prstGeom prst="rect">
            <a:avLst/>
          </a:prstGeom>
          <a:noFill/>
          <a:ln/>
        </p:spPr>
        <p:txBody>
          <a:bodyPr wrap="square" lIns="0" tIns="0" rIns="0" bIns="0" rtlCol="0" anchor="t"/>
          <a:lstStyle/>
          <a:p>
            <a:pPr indent="0" marL="0">
              <a:buNone/>
            </a:pPr>
            <a:r>
              <a:rPr lang="en-US" sz="1550" b="1" dirty="0">
                <a:solidFill>
                  <a:schemeClr val="tx1"/>
                </a:solidFill>
                <a:latin typeface="+mj-lt" pitchFamily="34" charset="0"/>
                <a:ea typeface="+mj-lt" pitchFamily="34" charset="-122"/>
                <a:cs typeface="+mj-lt" pitchFamily="34" charset="-120"/>
              </a:rPr>
              <a:t>What a Fabric front door adds</a:t>
            </a:r>
            <a:endParaRPr lang="en-US" sz="1550" dirty="0"/>
          </a:p>
        </p:txBody>
      </p:sp>
      <p:sp>
        <p:nvSpPr>
          <p:cNvPr id="25" name="Card text"/>
          <p:cNvSpPr txBox="1"/>
          <p:nvPr/>
        </p:nvSpPr>
        <p:spPr>
          <a:xfrm>
            <a:off x="6903720" y="4800600"/>
            <a:ext cx="4572000" cy="658368"/>
          </a:xfrm>
          <a:prstGeom prst="rect">
            <a:avLst/>
          </a:prstGeom>
          <a:noFill/>
          <a:ln/>
        </p:spPr>
        <p:txBody>
          <a:bodyPr wrap="square" lIns="0" tIns="0" rIns="0" bIns="0" rtlCol="0" anchor="t"/>
          <a:lstStyle/>
          <a:p>
            <a:pPr indent="0" marL="0">
              <a:buNone/>
            </a:pPr>
            <a:r>
              <a:rPr lang="en-US" sz="1300" dirty="0">
                <a:solidFill>
                  <a:schemeClr val="tx1"/>
                </a:solidFill>
              </a:rPr>
              <a:t>Constrained inputs, validation before the run, and a status the person can see.</a:t>
            </a:r>
            <a:endParaRPr lang="en-US" sz="1300" dirty="0"/>
          </a:p>
        </p:txBody>
      </p:sp>
      <p:sp>
        <p:nvSpPr>
          <p:cNvPr id="26" name="Footnote"/>
          <p:cNvSpPr txBox="1"/>
          <p:nvPr/>
        </p:nvSpPr>
        <p:spPr>
          <a:xfrm>
            <a:off x="548640" y="57607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DST Domestic Workflow documentation, Inputs and Server Interface sections.</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front door has five parts, and the button is only one</a:t>
            </a:r>
            <a:endParaRPr lang="en-US" sz="3200" dirty="0"/>
          </a:p>
        </p:txBody>
      </p:sp>
      <p:sp>
        <p:nvSpPr>
          <p:cNvPr id="5" name="Inputs card"/>
          <p:cNvSpPr/>
          <p:nvPr/>
        </p:nvSpPr>
        <p:spPr>
          <a:xfrm>
            <a:off x="548640" y="1783080"/>
            <a:ext cx="2103120" cy="3291840"/>
          </a:xfrm>
          <a:prstGeom prst="roundRect">
            <a:avLst>
              <a:gd name="adj" fmla="val 5217"/>
            </a:avLst>
          </a:prstGeom>
          <a:solidFill>
            <a:schemeClr val="bg2"/>
          </a:solidFill>
          <a:ln/>
        </p:spPr>
      </p:sp>
      <p:sp>
        <p:nvSpPr>
          <p:cNvPr id="6" name="Inputs badge"/>
          <p:cNvSpPr/>
          <p:nvPr/>
        </p:nvSpPr>
        <p:spPr>
          <a:xfrm>
            <a:off x="749808" y="1965960"/>
            <a:ext cx="603504" cy="603504"/>
          </a:xfrm>
          <a:prstGeom prst="ellipse">
            <a:avLst/>
          </a:prstGeom>
          <a:solidFill>
            <a:schemeClr val="accent1"/>
          </a:solidFill>
          <a:ln/>
        </p:spPr>
      </p:sp>
      <p:pic>
        <p:nvPicPr>
          <p:cNvPr id="7" name="Image 0" descr="Inputs icon">    </p:cNvPr>
          <p:cNvPicPr>
            <a:picLocks noChangeAspect="1"/>
          </p:cNvPicPr>
          <p:nvPr/>
        </p:nvPicPr>
        <p:blipFill>
          <a:blip r:embed="rId1"/>
          <a:stretch>
            <a:fillRect/>
          </a:stretch>
        </p:blipFill>
        <p:spPr>
          <a:xfrm>
            <a:off x="900684" y="2116836"/>
            <a:ext cx="301752" cy="301752"/>
          </a:xfrm>
          <a:prstGeom prst="rect">
            <a:avLst/>
          </a:prstGeom>
        </p:spPr>
      </p:pic>
      <p:sp>
        <p:nvSpPr>
          <p:cNvPr id="8" name="Part title"/>
          <p:cNvSpPr txBox="1"/>
          <p:nvPr/>
        </p:nvSpPr>
        <p:spPr>
          <a:xfrm>
            <a:off x="749808" y="2743200"/>
            <a:ext cx="1737360" cy="347472"/>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Inputs</a:t>
            </a:r>
            <a:endParaRPr lang="en-US" sz="1800" dirty="0"/>
          </a:p>
        </p:txBody>
      </p:sp>
      <p:sp>
        <p:nvSpPr>
          <p:cNvPr id="9" name="Part text"/>
          <p:cNvSpPr txBox="1"/>
          <p:nvPr/>
        </p:nvSpPr>
        <p:spPr>
          <a:xfrm>
            <a:off x="749808" y="3154680"/>
            <a:ext cx="1737360" cy="1097280"/>
          </a:xfrm>
          <a:prstGeom prst="rect">
            <a:avLst/>
          </a:prstGeom>
          <a:noFill/>
          <a:ln/>
        </p:spPr>
        <p:txBody>
          <a:bodyPr wrap="square" lIns="0" tIns="0" rIns="0" bIns="0" rtlCol="0" anchor="t"/>
          <a:lstStyle/>
          <a:p>
            <a:pPr indent="0" marL="0">
              <a:buNone/>
            </a:pPr>
            <a:r>
              <a:rPr lang="en-US" sz="1300" dirty="0">
                <a:solidFill>
                  <a:schemeClr val="tx1"/>
                </a:solidFill>
              </a:rPr>
              <a:t>How the person says what they want. Choices, not free text.</a:t>
            </a:r>
            <a:endParaRPr lang="en-US" sz="1300" dirty="0"/>
          </a:p>
        </p:txBody>
      </p:sp>
      <p:sp>
        <p:nvSpPr>
          <p:cNvPr id="10" name="Coverage"/>
          <p:cNvSpPr txBox="1"/>
          <p:nvPr/>
        </p:nvSpPr>
        <p:spPr>
          <a:xfrm>
            <a:off x="749808" y="4434840"/>
            <a:ext cx="1737360" cy="502920"/>
          </a:xfrm>
          <a:prstGeom prst="rect">
            <a:avLst/>
          </a:prstGeom>
          <a:noFill/>
          <a:ln/>
        </p:spPr>
        <p:txBody>
          <a:bodyPr wrap="square" lIns="0" tIns="0" rIns="0" bIns="0" rtlCol="0" anchor="b"/>
          <a:lstStyle/>
          <a:p>
            <a:pPr indent="0" marL="0">
              <a:buNone/>
            </a:pPr>
            <a:r>
              <a:rPr lang="en-US" sz="1100" b="1" dirty="0">
                <a:solidFill>
                  <a:schemeClr val="accent1"/>
                </a:solidFill>
              </a:rPr>
              <a:t>Lab B: pipeline parameters</a:t>
            </a:r>
            <a:endParaRPr lang="en-US" sz="1100" dirty="0"/>
          </a:p>
        </p:txBody>
      </p:sp>
      <p:sp>
        <p:nvSpPr>
          <p:cNvPr id="11" name="Trigger card"/>
          <p:cNvSpPr/>
          <p:nvPr/>
        </p:nvSpPr>
        <p:spPr>
          <a:xfrm>
            <a:off x="2796464" y="1783080"/>
            <a:ext cx="2103120" cy="3291840"/>
          </a:xfrm>
          <a:prstGeom prst="roundRect">
            <a:avLst>
              <a:gd name="adj" fmla="val 5217"/>
            </a:avLst>
          </a:prstGeom>
          <a:solidFill>
            <a:schemeClr val="bg2"/>
          </a:solidFill>
          <a:ln/>
        </p:spPr>
      </p:sp>
      <p:sp>
        <p:nvSpPr>
          <p:cNvPr id="12" name="Trigger badge"/>
          <p:cNvSpPr/>
          <p:nvPr/>
        </p:nvSpPr>
        <p:spPr>
          <a:xfrm>
            <a:off x="2997632" y="1965960"/>
            <a:ext cx="603504" cy="603504"/>
          </a:xfrm>
          <a:prstGeom prst="ellipse">
            <a:avLst/>
          </a:prstGeom>
          <a:solidFill>
            <a:schemeClr val="accent2"/>
          </a:solidFill>
          <a:ln/>
        </p:spPr>
      </p:sp>
      <p:pic>
        <p:nvPicPr>
          <p:cNvPr id="13" name="Image 1" descr="Trigger icon">    </p:cNvPr>
          <p:cNvPicPr>
            <a:picLocks noChangeAspect="1"/>
          </p:cNvPicPr>
          <p:nvPr/>
        </p:nvPicPr>
        <p:blipFill>
          <a:blip r:embed="rId2"/>
          <a:stretch>
            <a:fillRect/>
          </a:stretch>
        </p:blipFill>
        <p:spPr>
          <a:xfrm>
            <a:off x="3148508" y="2116836"/>
            <a:ext cx="301752" cy="301752"/>
          </a:xfrm>
          <a:prstGeom prst="rect">
            <a:avLst/>
          </a:prstGeom>
        </p:spPr>
      </p:pic>
      <p:sp>
        <p:nvSpPr>
          <p:cNvPr id="14" name="Part title"/>
          <p:cNvSpPr txBox="1"/>
          <p:nvPr/>
        </p:nvSpPr>
        <p:spPr>
          <a:xfrm>
            <a:off x="2997632" y="2743200"/>
            <a:ext cx="1737360" cy="347472"/>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Trigger</a:t>
            </a:r>
            <a:endParaRPr lang="en-US" sz="1800" dirty="0"/>
          </a:p>
        </p:txBody>
      </p:sp>
      <p:sp>
        <p:nvSpPr>
          <p:cNvPr id="15" name="Part text"/>
          <p:cNvSpPr txBox="1"/>
          <p:nvPr/>
        </p:nvSpPr>
        <p:spPr>
          <a:xfrm>
            <a:off x="2997632" y="3154680"/>
            <a:ext cx="1737360" cy="1097280"/>
          </a:xfrm>
          <a:prstGeom prst="rect">
            <a:avLst/>
          </a:prstGeom>
          <a:noFill/>
          <a:ln/>
        </p:spPr>
        <p:txBody>
          <a:bodyPr wrap="square" lIns="0" tIns="0" rIns="0" bIns="0" rtlCol="0" anchor="t"/>
          <a:lstStyle/>
          <a:p>
            <a:pPr indent="0" marL="0">
              <a:buNone/>
            </a:pPr>
            <a:r>
              <a:rPr lang="en-US" sz="1300" dirty="0">
                <a:solidFill>
                  <a:schemeClr val="tx1"/>
                </a:solidFill>
              </a:rPr>
              <a:t>What starts the run: a person, the clock, an event or a call.</a:t>
            </a:r>
            <a:endParaRPr lang="en-US" sz="1300" dirty="0"/>
          </a:p>
        </p:txBody>
      </p:sp>
      <p:sp>
        <p:nvSpPr>
          <p:cNvPr id="16" name="Coverage"/>
          <p:cNvSpPr txBox="1"/>
          <p:nvPr/>
        </p:nvSpPr>
        <p:spPr>
          <a:xfrm>
            <a:off x="2997632" y="4434840"/>
            <a:ext cx="1737360" cy="502920"/>
          </a:xfrm>
          <a:prstGeom prst="rect">
            <a:avLst/>
          </a:prstGeom>
          <a:noFill/>
          <a:ln/>
        </p:spPr>
        <p:txBody>
          <a:bodyPr wrap="square" lIns="0" tIns="0" rIns="0" bIns="0" rtlCol="0" anchor="b"/>
          <a:lstStyle/>
          <a:p>
            <a:pPr indent="0" marL="0">
              <a:buNone/>
            </a:pPr>
            <a:r>
              <a:rPr lang="en-US" sz="1100" b="1" dirty="0">
                <a:solidFill>
                  <a:schemeClr val="accent1"/>
                </a:solidFill>
              </a:rPr>
              <a:t>Lab B: Run dialog, schedule</a:t>
            </a:r>
            <a:endParaRPr lang="en-US" sz="1100" dirty="0"/>
          </a:p>
        </p:txBody>
      </p:sp>
      <p:sp>
        <p:nvSpPr>
          <p:cNvPr id="17" name="Status card"/>
          <p:cNvSpPr/>
          <p:nvPr/>
        </p:nvSpPr>
        <p:spPr>
          <a:xfrm>
            <a:off x="5044288" y="1783080"/>
            <a:ext cx="2103120" cy="3291840"/>
          </a:xfrm>
          <a:prstGeom prst="roundRect">
            <a:avLst>
              <a:gd name="adj" fmla="val 5217"/>
            </a:avLst>
          </a:prstGeom>
          <a:solidFill>
            <a:schemeClr val="bg2"/>
          </a:solidFill>
          <a:ln/>
        </p:spPr>
      </p:sp>
      <p:sp>
        <p:nvSpPr>
          <p:cNvPr id="18" name="Status badge"/>
          <p:cNvSpPr/>
          <p:nvPr/>
        </p:nvSpPr>
        <p:spPr>
          <a:xfrm>
            <a:off x="5245456" y="1965960"/>
            <a:ext cx="603504" cy="603504"/>
          </a:xfrm>
          <a:prstGeom prst="ellipse">
            <a:avLst/>
          </a:prstGeom>
          <a:solidFill>
            <a:schemeClr val="tx2"/>
          </a:solidFill>
          <a:ln/>
        </p:spPr>
      </p:sp>
      <p:pic>
        <p:nvPicPr>
          <p:cNvPr id="19" name="Image 2" descr="Status icon">    </p:cNvPr>
          <p:cNvPicPr>
            <a:picLocks noChangeAspect="1"/>
          </p:cNvPicPr>
          <p:nvPr/>
        </p:nvPicPr>
        <p:blipFill>
          <a:blip r:embed="rId3"/>
          <a:stretch>
            <a:fillRect/>
          </a:stretch>
        </p:blipFill>
        <p:spPr>
          <a:xfrm>
            <a:off x="5396332" y="2116836"/>
            <a:ext cx="301752" cy="301752"/>
          </a:xfrm>
          <a:prstGeom prst="rect">
            <a:avLst/>
          </a:prstGeom>
        </p:spPr>
      </p:pic>
      <p:sp>
        <p:nvSpPr>
          <p:cNvPr id="20" name="Part title"/>
          <p:cNvSpPr txBox="1"/>
          <p:nvPr/>
        </p:nvSpPr>
        <p:spPr>
          <a:xfrm>
            <a:off x="5245456" y="2743200"/>
            <a:ext cx="1737360" cy="347472"/>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Status</a:t>
            </a:r>
            <a:endParaRPr lang="en-US" sz="1800" dirty="0"/>
          </a:p>
        </p:txBody>
      </p:sp>
      <p:sp>
        <p:nvSpPr>
          <p:cNvPr id="21" name="Part text"/>
          <p:cNvSpPr txBox="1"/>
          <p:nvPr/>
        </p:nvSpPr>
        <p:spPr>
          <a:xfrm>
            <a:off x="5245456" y="3154680"/>
            <a:ext cx="1737360" cy="1097280"/>
          </a:xfrm>
          <a:prstGeom prst="rect">
            <a:avLst/>
          </a:prstGeom>
          <a:noFill/>
          <a:ln/>
        </p:spPr>
        <p:txBody>
          <a:bodyPr wrap="square" lIns="0" tIns="0" rIns="0" bIns="0" rtlCol="0" anchor="t"/>
          <a:lstStyle/>
          <a:p>
            <a:pPr indent="0" marL="0">
              <a:buNone/>
            </a:pPr>
            <a:r>
              <a:rPr lang="en-US" sz="1300" dirty="0">
                <a:solidFill>
                  <a:schemeClr val="tx1"/>
                </a:solidFill>
              </a:rPr>
              <a:t>How they learn what happened without asking an engineer.</a:t>
            </a:r>
            <a:endParaRPr lang="en-US" sz="1300" dirty="0"/>
          </a:p>
        </p:txBody>
      </p:sp>
      <p:sp>
        <p:nvSpPr>
          <p:cNvPr id="22" name="Coverage"/>
          <p:cNvSpPr txBox="1"/>
          <p:nvPr/>
        </p:nvSpPr>
        <p:spPr>
          <a:xfrm>
            <a:off x="5245456" y="4434840"/>
            <a:ext cx="1737360" cy="502920"/>
          </a:xfrm>
          <a:prstGeom prst="rect">
            <a:avLst/>
          </a:prstGeom>
          <a:noFill/>
          <a:ln/>
        </p:spPr>
        <p:txBody>
          <a:bodyPr wrap="square" lIns="0" tIns="0" rIns="0" bIns="0" rtlCol="0" anchor="b"/>
          <a:lstStyle/>
          <a:p>
            <a:pPr indent="0" marL="0">
              <a:buNone/>
            </a:pPr>
            <a:r>
              <a:rPr lang="en-US" sz="1100" b="1" dirty="0">
                <a:solidFill>
                  <a:schemeClr val="accent1"/>
                </a:solidFill>
              </a:rPr>
              <a:t>Lab B: run log, monitoring</a:t>
            </a:r>
            <a:endParaRPr lang="en-US" sz="1100" dirty="0"/>
          </a:p>
        </p:txBody>
      </p:sp>
      <p:sp>
        <p:nvSpPr>
          <p:cNvPr id="23" name="Output card"/>
          <p:cNvSpPr/>
          <p:nvPr/>
        </p:nvSpPr>
        <p:spPr>
          <a:xfrm>
            <a:off x="7292111" y="1783080"/>
            <a:ext cx="2103120" cy="3291840"/>
          </a:xfrm>
          <a:prstGeom prst="roundRect">
            <a:avLst>
              <a:gd name="adj" fmla="val 5217"/>
            </a:avLst>
          </a:prstGeom>
          <a:solidFill>
            <a:schemeClr val="bg2"/>
          </a:solidFill>
          <a:ln/>
        </p:spPr>
      </p:sp>
      <p:sp>
        <p:nvSpPr>
          <p:cNvPr id="24" name="Output badge"/>
          <p:cNvSpPr/>
          <p:nvPr/>
        </p:nvSpPr>
        <p:spPr>
          <a:xfrm>
            <a:off x="7493279" y="1965960"/>
            <a:ext cx="603504" cy="603504"/>
          </a:xfrm>
          <a:prstGeom prst="ellipse">
            <a:avLst/>
          </a:prstGeom>
          <a:solidFill>
            <a:schemeClr val="accent3"/>
          </a:solidFill>
          <a:ln/>
        </p:spPr>
      </p:sp>
      <p:pic>
        <p:nvPicPr>
          <p:cNvPr id="25" name="Image 3" descr="Output icon">    </p:cNvPr>
          <p:cNvPicPr>
            <a:picLocks noChangeAspect="1"/>
          </p:cNvPicPr>
          <p:nvPr/>
        </p:nvPicPr>
        <p:blipFill>
          <a:blip r:embed="rId4"/>
          <a:stretch>
            <a:fillRect/>
          </a:stretch>
        </p:blipFill>
        <p:spPr>
          <a:xfrm>
            <a:off x="7644155" y="2116836"/>
            <a:ext cx="301752" cy="301752"/>
          </a:xfrm>
          <a:prstGeom prst="rect">
            <a:avLst/>
          </a:prstGeom>
        </p:spPr>
      </p:pic>
      <p:sp>
        <p:nvSpPr>
          <p:cNvPr id="26" name="Part title"/>
          <p:cNvSpPr txBox="1"/>
          <p:nvPr/>
        </p:nvSpPr>
        <p:spPr>
          <a:xfrm>
            <a:off x="7493279" y="2743200"/>
            <a:ext cx="1737360" cy="347472"/>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Output</a:t>
            </a:r>
            <a:endParaRPr lang="en-US" sz="1800" dirty="0"/>
          </a:p>
        </p:txBody>
      </p:sp>
      <p:sp>
        <p:nvSpPr>
          <p:cNvPr id="27" name="Part text"/>
          <p:cNvSpPr txBox="1"/>
          <p:nvPr/>
        </p:nvSpPr>
        <p:spPr>
          <a:xfrm>
            <a:off x="7493279" y="3154680"/>
            <a:ext cx="1737360" cy="1097280"/>
          </a:xfrm>
          <a:prstGeom prst="rect">
            <a:avLst/>
          </a:prstGeom>
          <a:noFill/>
          <a:ln/>
        </p:spPr>
        <p:txBody>
          <a:bodyPr wrap="square" lIns="0" tIns="0" rIns="0" bIns="0" rtlCol="0" anchor="t"/>
          <a:lstStyle/>
          <a:p>
            <a:pPr indent="0" marL="0">
              <a:buNone/>
            </a:pPr>
            <a:r>
              <a:rPr lang="en-US" sz="1300" dirty="0">
                <a:solidFill>
                  <a:schemeClr val="tx1"/>
                </a:solidFill>
              </a:rPr>
              <a:t>Where the result lands, ready to read and trust.</a:t>
            </a:r>
            <a:endParaRPr lang="en-US" sz="1300" dirty="0"/>
          </a:p>
        </p:txBody>
      </p:sp>
      <p:sp>
        <p:nvSpPr>
          <p:cNvPr id="28" name="Coverage"/>
          <p:cNvSpPr txBox="1"/>
          <p:nvPr/>
        </p:nvSpPr>
        <p:spPr>
          <a:xfrm>
            <a:off x="7493279" y="4434840"/>
            <a:ext cx="1737360" cy="502920"/>
          </a:xfrm>
          <a:prstGeom prst="rect">
            <a:avLst/>
          </a:prstGeom>
          <a:noFill/>
          <a:ln/>
        </p:spPr>
        <p:txBody>
          <a:bodyPr wrap="square" lIns="0" tIns="0" rIns="0" bIns="0" rtlCol="0" anchor="b"/>
          <a:lstStyle/>
          <a:p>
            <a:pPr indent="0" marL="0">
              <a:buNone/>
            </a:pPr>
            <a:r>
              <a:rPr lang="en-US" sz="1100" b="1" dirty="0">
                <a:solidFill>
                  <a:schemeClr val="accent1"/>
                </a:solidFill>
              </a:rPr>
              <a:t>Lab B: model and report</a:t>
            </a:r>
            <a:endParaRPr lang="en-US" sz="1100" dirty="0"/>
          </a:p>
        </p:txBody>
      </p:sp>
      <p:sp>
        <p:nvSpPr>
          <p:cNvPr id="29" name="Guardrails card"/>
          <p:cNvSpPr/>
          <p:nvPr/>
        </p:nvSpPr>
        <p:spPr>
          <a:xfrm>
            <a:off x="9539935" y="1783080"/>
            <a:ext cx="2103120" cy="3291840"/>
          </a:xfrm>
          <a:prstGeom prst="roundRect">
            <a:avLst>
              <a:gd name="adj" fmla="val 5217"/>
            </a:avLst>
          </a:prstGeom>
          <a:solidFill>
            <a:schemeClr val="bg2"/>
          </a:solidFill>
          <a:ln/>
        </p:spPr>
      </p:sp>
      <p:sp>
        <p:nvSpPr>
          <p:cNvPr id="30" name="Guardrails badge"/>
          <p:cNvSpPr/>
          <p:nvPr/>
        </p:nvSpPr>
        <p:spPr>
          <a:xfrm>
            <a:off x="9741103" y="1965960"/>
            <a:ext cx="603504" cy="603504"/>
          </a:xfrm>
          <a:prstGeom prst="ellipse">
            <a:avLst/>
          </a:prstGeom>
          <a:solidFill>
            <a:schemeClr val="accent4"/>
          </a:solidFill>
          <a:ln/>
        </p:spPr>
      </p:sp>
      <p:pic>
        <p:nvPicPr>
          <p:cNvPr id="31" name="Image 4" descr="Guardrails icon">    </p:cNvPr>
          <p:cNvPicPr>
            <a:picLocks noChangeAspect="1"/>
          </p:cNvPicPr>
          <p:nvPr/>
        </p:nvPicPr>
        <p:blipFill>
          <a:blip r:embed="rId5"/>
          <a:stretch>
            <a:fillRect/>
          </a:stretch>
        </p:blipFill>
        <p:spPr>
          <a:xfrm>
            <a:off x="9891979" y="2116836"/>
            <a:ext cx="301752" cy="301752"/>
          </a:xfrm>
          <a:prstGeom prst="rect">
            <a:avLst/>
          </a:prstGeom>
        </p:spPr>
      </p:pic>
      <p:sp>
        <p:nvSpPr>
          <p:cNvPr id="32" name="Part title"/>
          <p:cNvSpPr txBox="1"/>
          <p:nvPr/>
        </p:nvSpPr>
        <p:spPr>
          <a:xfrm>
            <a:off x="9741103" y="2743200"/>
            <a:ext cx="1737360" cy="347472"/>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Guardrails</a:t>
            </a:r>
            <a:endParaRPr lang="en-US" sz="1800" dirty="0"/>
          </a:p>
        </p:txBody>
      </p:sp>
      <p:sp>
        <p:nvSpPr>
          <p:cNvPr id="33" name="Part text"/>
          <p:cNvSpPr txBox="1"/>
          <p:nvPr/>
        </p:nvSpPr>
        <p:spPr>
          <a:xfrm>
            <a:off x="9741103" y="3154680"/>
            <a:ext cx="1737360" cy="1097280"/>
          </a:xfrm>
          <a:prstGeom prst="rect">
            <a:avLst/>
          </a:prstGeom>
          <a:noFill/>
          <a:ln/>
        </p:spPr>
        <p:txBody>
          <a:bodyPr wrap="square" lIns="0" tIns="0" rIns="0" bIns="0" rtlCol="0" anchor="t"/>
          <a:lstStyle/>
          <a:p>
            <a:pPr indent="0" marL="0">
              <a:buNone/>
            </a:pPr>
            <a:r>
              <a:rPr lang="en-US" sz="1300" dirty="0">
                <a:solidFill>
                  <a:schemeClr val="tx1"/>
                </a:solidFill>
              </a:rPr>
              <a:t>What stops a friendly button doing an unfriendly thing.</a:t>
            </a:r>
            <a:endParaRPr lang="en-US" sz="1300" dirty="0"/>
          </a:p>
        </p:txBody>
      </p:sp>
      <p:sp>
        <p:nvSpPr>
          <p:cNvPr id="34" name="Coverage"/>
          <p:cNvSpPr txBox="1"/>
          <p:nvPr/>
        </p:nvSpPr>
        <p:spPr>
          <a:xfrm>
            <a:off x="9741103" y="4434840"/>
            <a:ext cx="1737360" cy="502920"/>
          </a:xfrm>
          <a:prstGeom prst="rect">
            <a:avLst/>
          </a:prstGeom>
          <a:noFill/>
          <a:ln/>
        </p:spPr>
        <p:txBody>
          <a:bodyPr wrap="square" lIns="0" tIns="0" rIns="0" bIns="0" rtlCol="0" anchor="b"/>
          <a:lstStyle/>
          <a:p>
            <a:pPr indent="0" marL="0">
              <a:buNone/>
            </a:pPr>
            <a:r>
              <a:rPr lang="en-US" sz="1100" b="1" dirty="0">
                <a:solidFill>
                  <a:schemeClr val="accent1"/>
                </a:solidFill>
              </a:rPr>
              <a:t>Lab B and Day Three</a:t>
            </a:r>
            <a:endParaRPr lang="en-US" sz="1100" dirty="0"/>
          </a:p>
        </p:txBody>
      </p:sp>
      <p:sp>
        <p:nvSpPr>
          <p:cNvPr id="35" name="Takeaway"/>
          <p:cNvSpPr txBox="1"/>
          <p:nvPr/>
        </p:nvSpPr>
        <p:spPr>
          <a:xfrm>
            <a:off x="548640" y="5349240"/>
            <a:ext cx="11094415" cy="594360"/>
          </a:xfrm>
          <a:prstGeom prst="roundRect">
            <a:avLst>
              <a:gd name="adj" fmla="val 15385"/>
            </a:avLst>
          </a:prstGeom>
          <a:solidFill>
            <a:schemeClr val="tx1"/>
          </a:solidFill>
          <a:ln/>
        </p:spPr>
        <p:txBody>
          <a:bodyPr wrap="square" lIns="279400" tIns="0" rIns="279400" bIns="0" rtlCol="0" anchor="ctr"/>
          <a:lstStyle/>
          <a:p>
            <a:pPr indent="0" marL="0">
              <a:buNone/>
            </a:pPr>
            <a:r>
              <a:rPr lang="en-US" sz="1600" i="1" dirty="0">
                <a:solidFill>
                  <a:schemeClr val="bg1"/>
                </a:solidFill>
              </a:rPr>
              <a:t>The button is the easy part. The other four are what make it usable by someone who did not build it.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Inputs are a contract: ask only for what the run uses</a:t>
            </a:r>
            <a:endParaRPr lang="en-US" sz="3200" dirty="0"/>
          </a:p>
        </p:txBody>
      </p:sp>
      <p:graphicFrame>
        <p:nvGraphicFramePr>
          <p:cNvPr id="45" name="Pipeline parameters"/>
          <p:cNvGraphicFramePr>
            <a:graphicFrameLocks noGrp="1"/>
          </p:cNvGraphicFramePr>
          <p:nvPr>
            <p:extLst>
              <p:ext uri="{D42A27DB-BD31-4B8C-83A1-F6EECF244321}">
                <p14:modId xmlns:p14="http://schemas.microsoft.com/office/powerpoint/2010/main" val="1579011935"/>
              </p:ext>
            </p:extLst>
          </p:nvPr>
        </p:nvGraphicFramePr>
        <p:xfrm>
          <a:off x="548640" y="1783080"/>
          <a:ext cx="6309360" cy="914400"/>
        </p:xfrm>
        <a:graphic>
          <a:graphicData uri="http://schemas.openxmlformats.org/drawingml/2006/table">
            <a:tbl>
              <a:tblPr/>
              <a:tblGrid>
                <a:gridCol w="2560320"/>
                <a:gridCol w="1920240"/>
                <a:gridCol w="1828800"/>
              </a:tblGrid>
              <a:tr h="365760">
                <a:tc>
                  <a:txBody>
                    <a:bodyPr/>
                    <a:lstStyle/>
                    <a:p>
                      <a:pPr indent="0" marL="0">
                        <a:buNone/>
                      </a:pPr>
                      <a:r>
                        <a:rPr lang="en-US" sz="1250" b="1" dirty="0">
                          <a:solidFill>
                            <a:schemeClr val="bg1"/>
                          </a:solidFill>
                        </a:rPr>
                        <a:t>Pipeline parameter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Default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Passed to notebook</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420624">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fiscal_year</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2025</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2"/>
                          </a:solidFill>
                        </a:rPr>
                        <a:t>Yes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fiscal_period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01</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b="1" dirty="0">
                          <a:solidFill>
                            <a:schemeClr val="accent2"/>
                          </a:solidFill>
                        </a:rPr>
                        <a:t>Yes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reporting_unit</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Tax Team</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4"/>
                          </a:solidFill>
                        </a:rPr>
                        <a:t>Not wired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entity</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Disney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b="1" dirty="0">
                          <a:solidFill>
                            <a:schemeClr val="accent4"/>
                          </a:solidFill>
                        </a:rPr>
                        <a:t>Not wired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source_system</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EDP</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4"/>
                          </a:solidFill>
                        </a:rPr>
                        <a:t>Not wired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20624">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run_mode</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full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b="1" dirty="0">
                          <a:solidFill>
                            <a:schemeClr val="accent4"/>
                          </a:solidFill>
                        </a:rPr>
                        <a:t>Not wired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20624">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load_mode</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incremental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b="1" dirty="0">
                          <a:solidFill>
                            <a:schemeClr val="accent4"/>
                          </a:solidFill>
                        </a:rPr>
                        <a:t>Not wired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Lab B strip"/>
          <p:cNvSpPr/>
          <p:nvPr/>
        </p:nvSpPr>
        <p:spPr>
          <a:xfrm>
            <a:off x="548640" y="5257800"/>
            <a:ext cx="6309360" cy="548640"/>
          </a:xfrm>
          <a:prstGeom prst="roundRect">
            <a:avLst>
              <a:gd name="adj" fmla="val 20000"/>
            </a:avLst>
          </a:prstGeom>
          <a:solidFill>
            <a:schemeClr val="accent2">
              <a:alpha val="20000"/>
            </a:schemeClr>
          </a:solidFill>
          <a:ln/>
        </p:spPr>
      </p:sp>
      <p:sp>
        <p:nvSpPr>
          <p:cNvPr id="7" name="Lab B text"/>
          <p:cNvSpPr txBox="1"/>
          <p:nvPr/>
        </p:nvSpPr>
        <p:spPr>
          <a:xfrm>
            <a:off x="777240" y="5257800"/>
            <a:ext cx="5852160" cy="548640"/>
          </a:xfrm>
          <a:prstGeom prst="rect">
            <a:avLst/>
          </a:prstGeom>
          <a:noFill/>
          <a:ln/>
        </p:spPr>
        <p:txBody>
          <a:bodyPr wrap="square" lIns="0" tIns="0" rIns="0" bIns="0" rtlCol="0" anchor="ctr"/>
          <a:lstStyle/>
          <a:p>
            <a:pPr indent="0" marL="0">
              <a:buNone/>
            </a:pPr>
            <a:r>
              <a:rPr lang="en-US" sz="1350" b="1" dirty="0">
                <a:solidFill>
                  <a:schemeClr val="tx1"/>
                </a:solidFill>
              </a:rPr>
              <a:t>Lab B passes two parameters, </a:t>
            </a:r>
            <a:pPr indent="0" marL="0">
              <a:buNone/>
            </a:pPr>
            <a:r>
              <a:rPr lang="en-US" sz="1350" dirty="0">
                <a:solidFill>
                  <a:schemeClr val="tx1"/>
                </a:solidFill>
              </a:rPr>
              <a:t>period and denominator, and both are used.</a:t>
            </a:r>
            <a:endParaRPr lang="en-US" sz="1350" dirty="0"/>
          </a:p>
        </p:txBody>
      </p:sp>
      <p:sp>
        <p:nvSpPr>
          <p:cNvPr id="8" name="Ask only for what the run uses card"/>
          <p:cNvSpPr/>
          <p:nvPr/>
        </p:nvSpPr>
        <p:spPr>
          <a:xfrm>
            <a:off x="7132320" y="1783080"/>
            <a:ext cx="4507992" cy="1261872"/>
          </a:xfrm>
          <a:prstGeom prst="roundRect">
            <a:avLst>
              <a:gd name="adj" fmla="val 8696"/>
            </a:avLst>
          </a:prstGeom>
          <a:solidFill>
            <a:schemeClr val="bg2"/>
          </a:solidFill>
          <a:ln/>
        </p:spPr>
      </p:sp>
      <p:sp>
        <p:nvSpPr>
          <p:cNvPr id="9" name="Rule chip 1"/>
          <p:cNvSpPr/>
          <p:nvPr/>
        </p:nvSpPr>
        <p:spPr>
          <a:xfrm>
            <a:off x="7315200" y="1984248"/>
            <a:ext cx="420624" cy="420624"/>
          </a:xfrm>
          <a:prstGeom prst="roundRect">
            <a:avLst>
              <a:gd name="adj" fmla="val 17391"/>
            </a:avLst>
          </a:prstGeom>
          <a:solidFill>
            <a:schemeClr val="accent1"/>
          </a:solidFill>
          <a:ln/>
        </p:spPr>
      </p:sp>
      <p:sp>
        <p:nvSpPr>
          <p:cNvPr id="10" name="Rule number"/>
          <p:cNvSpPr txBox="1"/>
          <p:nvPr/>
        </p:nvSpPr>
        <p:spPr>
          <a:xfrm>
            <a:off x="7315200" y="19842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11" name="Rule title"/>
          <p:cNvSpPr txBox="1"/>
          <p:nvPr/>
        </p:nvSpPr>
        <p:spPr>
          <a:xfrm>
            <a:off x="7909560" y="1920240"/>
            <a:ext cx="3611880" cy="54864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Ask only for what the run uses</a:t>
            </a:r>
            <a:endParaRPr lang="en-US" sz="1500" dirty="0"/>
          </a:p>
        </p:txBody>
      </p:sp>
      <p:sp>
        <p:nvSpPr>
          <p:cNvPr id="12" name="Rule text"/>
          <p:cNvSpPr txBox="1"/>
          <p:nvPr/>
        </p:nvSpPr>
        <p:spPr>
          <a:xfrm>
            <a:off x="7909560" y="2496312"/>
            <a:ext cx="3611880" cy="502920"/>
          </a:xfrm>
          <a:prstGeom prst="rect">
            <a:avLst/>
          </a:prstGeom>
          <a:noFill/>
          <a:ln/>
        </p:spPr>
        <p:txBody>
          <a:bodyPr wrap="square" lIns="0" tIns="0" rIns="0" bIns="0" rtlCol="0" anchor="t"/>
          <a:lstStyle/>
          <a:p>
            <a:pPr indent="0" marL="0">
              <a:buNone/>
            </a:pPr>
            <a:r>
              <a:rPr lang="en-US" sz="1250" dirty="0">
                <a:solidFill>
                  <a:schemeClr val="tx1"/>
                </a:solidFill>
              </a:rPr>
              <a:t>Five of the seven would be questions that change nothing.</a:t>
            </a:r>
            <a:endParaRPr lang="en-US" sz="1250" dirty="0"/>
          </a:p>
        </p:txBody>
      </p:sp>
      <p:sp>
        <p:nvSpPr>
          <p:cNvPr id="13" name="Constrain the answer card"/>
          <p:cNvSpPr/>
          <p:nvPr/>
        </p:nvSpPr>
        <p:spPr>
          <a:xfrm>
            <a:off x="7132320" y="3154680"/>
            <a:ext cx="4507992" cy="1261872"/>
          </a:xfrm>
          <a:prstGeom prst="roundRect">
            <a:avLst>
              <a:gd name="adj" fmla="val 8696"/>
            </a:avLst>
          </a:prstGeom>
          <a:solidFill>
            <a:schemeClr val="bg2"/>
          </a:solidFill>
          <a:ln/>
        </p:spPr>
      </p:sp>
      <p:sp>
        <p:nvSpPr>
          <p:cNvPr id="14" name="Rule chip 2"/>
          <p:cNvSpPr/>
          <p:nvPr/>
        </p:nvSpPr>
        <p:spPr>
          <a:xfrm>
            <a:off x="7315200" y="3355848"/>
            <a:ext cx="420624" cy="420624"/>
          </a:xfrm>
          <a:prstGeom prst="roundRect">
            <a:avLst>
              <a:gd name="adj" fmla="val 17391"/>
            </a:avLst>
          </a:prstGeom>
          <a:solidFill>
            <a:schemeClr val="accent1"/>
          </a:solidFill>
          <a:ln/>
        </p:spPr>
      </p:sp>
      <p:sp>
        <p:nvSpPr>
          <p:cNvPr id="15" name="Rule number"/>
          <p:cNvSpPr txBox="1"/>
          <p:nvPr/>
        </p:nvSpPr>
        <p:spPr>
          <a:xfrm>
            <a:off x="7315200" y="33558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6" name="Rule title"/>
          <p:cNvSpPr txBox="1"/>
          <p:nvPr/>
        </p:nvSpPr>
        <p:spPr>
          <a:xfrm>
            <a:off x="7909560" y="3291840"/>
            <a:ext cx="3611880" cy="54864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Constrain the answer</a:t>
            </a:r>
            <a:endParaRPr lang="en-US" sz="1500" dirty="0"/>
          </a:p>
        </p:txBody>
      </p:sp>
      <p:sp>
        <p:nvSpPr>
          <p:cNvPr id="17" name="Rule text"/>
          <p:cNvSpPr txBox="1"/>
          <p:nvPr/>
        </p:nvSpPr>
        <p:spPr>
          <a:xfrm>
            <a:off x="7909560" y="3867912"/>
            <a:ext cx="3611880" cy="502920"/>
          </a:xfrm>
          <a:prstGeom prst="rect">
            <a:avLst/>
          </a:prstGeom>
          <a:noFill/>
          <a:ln/>
        </p:spPr>
        <p:txBody>
          <a:bodyPr wrap="square" lIns="0" tIns="0" rIns="0" bIns="0" rtlCol="0" anchor="t"/>
          <a:lstStyle/>
          <a:p>
            <a:pPr indent="0" marL="0">
              <a:buNone/>
            </a:pPr>
            <a:r>
              <a:rPr lang="en-US" sz="1250" dirty="0">
                <a:solidFill>
                  <a:schemeClr val="tx1"/>
                </a:solidFill>
              </a:rPr>
              <a:t>A list of periods. Two denominators. No free text.</a:t>
            </a:r>
            <a:endParaRPr lang="en-US" sz="1250" dirty="0"/>
          </a:p>
        </p:txBody>
      </p:sp>
      <p:sp>
        <p:nvSpPr>
          <p:cNvPr id="18" name="Validate on both sides card"/>
          <p:cNvSpPr/>
          <p:nvPr/>
        </p:nvSpPr>
        <p:spPr>
          <a:xfrm>
            <a:off x="7132320" y="4526280"/>
            <a:ext cx="4507992" cy="1261872"/>
          </a:xfrm>
          <a:prstGeom prst="roundRect">
            <a:avLst>
              <a:gd name="adj" fmla="val 8696"/>
            </a:avLst>
          </a:prstGeom>
          <a:solidFill>
            <a:schemeClr val="bg2"/>
          </a:solidFill>
          <a:ln/>
        </p:spPr>
      </p:sp>
      <p:sp>
        <p:nvSpPr>
          <p:cNvPr id="19" name="Rule chip 3"/>
          <p:cNvSpPr/>
          <p:nvPr/>
        </p:nvSpPr>
        <p:spPr>
          <a:xfrm>
            <a:off x="7315200" y="4727448"/>
            <a:ext cx="420624" cy="420624"/>
          </a:xfrm>
          <a:prstGeom prst="roundRect">
            <a:avLst>
              <a:gd name="adj" fmla="val 17391"/>
            </a:avLst>
          </a:prstGeom>
          <a:solidFill>
            <a:schemeClr val="accent1"/>
          </a:solidFill>
          <a:ln/>
        </p:spPr>
      </p:sp>
      <p:sp>
        <p:nvSpPr>
          <p:cNvPr id="20" name="Rule number"/>
          <p:cNvSpPr txBox="1"/>
          <p:nvPr/>
        </p:nvSpPr>
        <p:spPr>
          <a:xfrm>
            <a:off x="7315200" y="47274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21" name="Rule title"/>
          <p:cNvSpPr txBox="1"/>
          <p:nvPr/>
        </p:nvSpPr>
        <p:spPr>
          <a:xfrm>
            <a:off x="7909560" y="4663440"/>
            <a:ext cx="3611880" cy="54864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Validate on both sides</a:t>
            </a:r>
            <a:endParaRPr lang="en-US" sz="1500" dirty="0"/>
          </a:p>
        </p:txBody>
      </p:sp>
      <p:sp>
        <p:nvSpPr>
          <p:cNvPr id="22" name="Rule text"/>
          <p:cNvSpPr txBox="1"/>
          <p:nvPr/>
        </p:nvSpPr>
        <p:spPr>
          <a:xfrm>
            <a:off x="7909560" y="5239512"/>
            <a:ext cx="3611880" cy="502920"/>
          </a:xfrm>
          <a:prstGeom prst="rect">
            <a:avLst/>
          </a:prstGeom>
          <a:noFill/>
          <a:ln/>
        </p:spPr>
        <p:txBody>
          <a:bodyPr wrap="square" lIns="0" tIns="0" rIns="0" bIns="0" rtlCol="0" anchor="t"/>
          <a:lstStyle/>
          <a:p>
            <a:pPr indent="0" marL="0">
              <a:buNone/>
            </a:pPr>
            <a:r>
              <a:rPr lang="en-US" sz="1250" dirty="0">
                <a:solidFill>
                  <a:schemeClr val="tx1"/>
                </a:solidFill>
              </a:rPr>
              <a:t>The form checks what it can. The notebook still asserts.</a:t>
            </a:r>
            <a:endParaRPr lang="en-US" sz="1250" dirty="0"/>
          </a:p>
        </p:txBody>
      </p:sp>
      <p:sp>
        <p:nvSpPr>
          <p:cNvPr id="23"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pipeline_Run_withDataRefresh export. Defaults shown as exported.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Four ways to start the same run</a:t>
            </a:r>
            <a:endParaRPr lang="en-US" sz="3200" dirty="0"/>
          </a:p>
        </p:txBody>
      </p:sp>
      <p:graphicFrame>
        <p:nvGraphicFramePr>
          <p:cNvPr id="46" name="Four doors"/>
          <p:cNvGraphicFramePr>
            <a:graphicFrameLocks noGrp="1"/>
          </p:cNvGraphicFramePr>
          <p:nvPr>
            <p:extLst>
              <p:ext uri="{D42A27DB-BD31-4B8C-83A1-F6EECF244321}">
                <p14:modId xmlns:p14="http://schemas.microsoft.com/office/powerpoint/2010/main" val="1579011935"/>
              </p:ext>
            </p:extLst>
          </p:nvPr>
        </p:nvGraphicFramePr>
        <p:xfrm>
          <a:off x="1371600" y="1783080"/>
          <a:ext cx="10271455" cy="914400"/>
        </p:xfrm>
        <a:graphic>
          <a:graphicData uri="http://schemas.openxmlformats.org/drawingml/2006/table">
            <a:tbl>
              <a:tblPr/>
              <a:tblGrid>
                <a:gridCol w="1737360"/>
                <a:gridCol w="3566160"/>
                <a:gridCol w="4023360"/>
                <a:gridCol w="941832"/>
              </a:tblGrid>
              <a:tr h="384048">
                <a:tc>
                  <a:txBody>
                    <a:bodyPr/>
                    <a:lstStyle/>
                    <a:p>
                      <a:pPr indent="0" marL="0">
                        <a:buNone/>
                      </a:pPr>
                      <a:r>
                        <a:rPr lang="en-US" sz="1300" b="1" dirty="0">
                          <a:solidFill>
                            <a:schemeClr val="bg1"/>
                          </a:solidFill>
                        </a:rPr>
                        <a:t>Door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What starts 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Good for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Today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777240">
                <a:tc>
                  <a:txBody>
                    <a:bodyPr/>
                    <a:lstStyle/>
                    <a:p>
                      <a:pPr indent="0" marL="0">
                        <a:buNone/>
                      </a:pPr>
                      <a:r>
                        <a:rPr lang="en-US" sz="1300" b="1" dirty="0">
                          <a:solidFill>
                            <a:schemeClr val="tx1"/>
                          </a:solidFill>
                        </a:rPr>
                        <a:t>Run dialog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 person in Fabric, filling in the parameters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Analysts, ad hoc runs, re-runs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2"/>
                          </a:solidFill>
                        </a:rPr>
                        <a:t>Lab 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300" b="1" dirty="0">
                          <a:solidFill>
                            <a:schemeClr val="tx1"/>
                          </a:solidFill>
                        </a:rPr>
                        <a:t>Schedule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The clock</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Recurring runs with known timing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2"/>
                          </a:solidFill>
                        </a:rPr>
                        <a:t>Lab B</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300" b="1" dirty="0">
                          <a:solidFill>
                            <a:schemeClr val="tx1"/>
                          </a:solidFill>
                        </a:rPr>
                        <a:t>Event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A file landing or a table changing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Runs that follow an upstream delivery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accent4"/>
                          </a:solidFill>
                        </a:rPr>
                        <a:t>Discuss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300" b="1" dirty="0">
                          <a:solidFill>
                            <a:schemeClr val="tx1"/>
                          </a:solidFill>
                        </a:rPr>
                        <a:t>API call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An app, a flow or another system</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Forms and portals for people outside Fabric</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accent4"/>
                          </a:solidFill>
                        </a:rPr>
                        <a:t>Demo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Run dialog badge"/>
          <p:cNvSpPr/>
          <p:nvPr/>
        </p:nvSpPr>
        <p:spPr>
          <a:xfrm>
            <a:off x="594360" y="2331720"/>
            <a:ext cx="548640" cy="548640"/>
          </a:xfrm>
          <a:prstGeom prst="ellipse">
            <a:avLst/>
          </a:prstGeom>
          <a:solidFill>
            <a:schemeClr val="accent1"/>
          </a:solidFill>
          <a:ln/>
        </p:spPr>
      </p:sp>
      <p:pic>
        <p:nvPicPr>
          <p:cNvPr id="7" name="Image 0" descr="Run dialog icon">    </p:cNvPr>
          <p:cNvPicPr>
            <a:picLocks noChangeAspect="1"/>
          </p:cNvPicPr>
          <p:nvPr/>
        </p:nvPicPr>
        <p:blipFill>
          <a:blip r:embed="rId1"/>
          <a:stretch>
            <a:fillRect/>
          </a:stretch>
        </p:blipFill>
        <p:spPr>
          <a:xfrm>
            <a:off x="731520" y="2468880"/>
            <a:ext cx="274320" cy="274320"/>
          </a:xfrm>
          <a:prstGeom prst="rect">
            <a:avLst/>
          </a:prstGeom>
        </p:spPr>
      </p:pic>
      <p:sp>
        <p:nvSpPr>
          <p:cNvPr id="8" name="Schedule badge"/>
          <p:cNvSpPr/>
          <p:nvPr/>
        </p:nvSpPr>
        <p:spPr>
          <a:xfrm>
            <a:off x="594360" y="3108960"/>
            <a:ext cx="548640" cy="548640"/>
          </a:xfrm>
          <a:prstGeom prst="ellipse">
            <a:avLst/>
          </a:prstGeom>
          <a:solidFill>
            <a:schemeClr val="accent2"/>
          </a:solidFill>
          <a:ln/>
        </p:spPr>
      </p:sp>
      <p:pic>
        <p:nvPicPr>
          <p:cNvPr id="9" name="Image 1" descr="Schedule icon">    </p:cNvPr>
          <p:cNvPicPr>
            <a:picLocks noChangeAspect="1"/>
          </p:cNvPicPr>
          <p:nvPr/>
        </p:nvPicPr>
        <p:blipFill>
          <a:blip r:embed="rId2"/>
          <a:stretch>
            <a:fillRect/>
          </a:stretch>
        </p:blipFill>
        <p:spPr>
          <a:xfrm>
            <a:off x="731520" y="3246120"/>
            <a:ext cx="274320" cy="274320"/>
          </a:xfrm>
          <a:prstGeom prst="rect">
            <a:avLst/>
          </a:prstGeom>
        </p:spPr>
      </p:pic>
      <p:sp>
        <p:nvSpPr>
          <p:cNvPr id="10" name="Event badge"/>
          <p:cNvSpPr/>
          <p:nvPr/>
        </p:nvSpPr>
        <p:spPr>
          <a:xfrm>
            <a:off x="594360" y="3886200"/>
            <a:ext cx="548640" cy="548640"/>
          </a:xfrm>
          <a:prstGeom prst="ellipse">
            <a:avLst/>
          </a:prstGeom>
          <a:solidFill>
            <a:schemeClr val="accent3"/>
          </a:solidFill>
          <a:ln/>
        </p:spPr>
      </p:sp>
      <p:pic>
        <p:nvPicPr>
          <p:cNvPr id="11" name="Image 2" descr="Event icon">    </p:cNvPr>
          <p:cNvPicPr>
            <a:picLocks noChangeAspect="1"/>
          </p:cNvPicPr>
          <p:nvPr/>
        </p:nvPicPr>
        <p:blipFill>
          <a:blip r:embed="rId3"/>
          <a:stretch>
            <a:fillRect/>
          </a:stretch>
        </p:blipFill>
        <p:spPr>
          <a:xfrm>
            <a:off x="731520" y="4023360"/>
            <a:ext cx="274320" cy="274320"/>
          </a:xfrm>
          <a:prstGeom prst="rect">
            <a:avLst/>
          </a:prstGeom>
        </p:spPr>
      </p:pic>
      <p:sp>
        <p:nvSpPr>
          <p:cNvPr id="12" name="API call badge"/>
          <p:cNvSpPr/>
          <p:nvPr/>
        </p:nvSpPr>
        <p:spPr>
          <a:xfrm>
            <a:off x="594360" y="4663440"/>
            <a:ext cx="548640" cy="548640"/>
          </a:xfrm>
          <a:prstGeom prst="ellipse">
            <a:avLst/>
          </a:prstGeom>
          <a:solidFill>
            <a:schemeClr val="tx2"/>
          </a:solidFill>
          <a:ln/>
        </p:spPr>
      </p:sp>
      <p:pic>
        <p:nvPicPr>
          <p:cNvPr id="13" name="Image 3" descr="API call icon">    </p:cNvPr>
          <p:cNvPicPr>
            <a:picLocks noChangeAspect="1"/>
          </p:cNvPicPr>
          <p:nvPr/>
        </p:nvPicPr>
        <p:blipFill>
          <a:blip r:embed="rId4"/>
          <a:stretch>
            <a:fillRect/>
          </a:stretch>
        </p:blipFill>
        <p:spPr>
          <a:xfrm>
            <a:off x="731520" y="4800600"/>
            <a:ext cx="274320" cy="274320"/>
          </a:xfrm>
          <a:prstGeom prst="rect">
            <a:avLst/>
          </a:prstGeom>
        </p:spPr>
      </p:pic>
      <p:sp>
        <p:nvSpPr>
          <p:cNvPr id="14" name="Takeaway"/>
          <p:cNvSpPr txBox="1"/>
          <p:nvPr/>
        </p:nvSpPr>
        <p:spPr>
          <a:xfrm>
            <a:off x="548640" y="544068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Same pipeline, same parameters, four doors. Build the pipeline once, then add doors.</a:t>
            </a:r>
            <a:endParaRPr lang="en-US" sz="1600" dirty="0"/>
          </a:p>
        </p:txBody>
      </p:sp>
      <p:sp>
        <p:nvSpPr>
          <p:cNvPr id="15"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Event-based starts depend on the tenant's eventing features. Confirm availability before committing to them.</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Starting a run from another system is one REST call</a:t>
            </a:r>
            <a:endParaRPr lang="en-US" sz="3200" dirty="0"/>
          </a:p>
        </p:txBody>
      </p:sp>
      <p:sp>
        <p:nvSpPr>
          <p:cNvPr id="5" name="REST call"/>
          <p:cNvSpPr/>
          <p:nvPr/>
        </p:nvSpPr>
        <p:spPr>
          <a:xfrm>
            <a:off x="548640" y="1783080"/>
            <a:ext cx="6675120" cy="3154680"/>
          </a:xfrm>
          <a:prstGeom prst="roundRect">
            <a:avLst>
              <a:gd name="adj" fmla="val 2899"/>
            </a:avLst>
          </a:prstGeom>
          <a:solidFill>
            <a:schemeClr val="tx1"/>
          </a:solidFill>
          <a:ln/>
        </p:spPr>
      </p:sp>
      <p:sp>
        <p:nvSpPr>
          <p:cNvPr id="6" name="Code label"/>
          <p:cNvSpPr txBox="1"/>
          <p:nvPr/>
        </p:nvSpPr>
        <p:spPr>
          <a:xfrm>
            <a:off x="749808" y="1874520"/>
            <a:ext cx="627278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PYTHON · ILLUSTRATIVE, NOT RUN IN THE LAB</a:t>
            </a:r>
            <a:endParaRPr lang="en-US" sz="1000" dirty="0"/>
          </a:p>
        </p:txBody>
      </p:sp>
      <p:sp>
        <p:nvSpPr>
          <p:cNvPr id="7" name="REST call text"/>
          <p:cNvSpPr txBox="1"/>
          <p:nvPr/>
        </p:nvSpPr>
        <p:spPr>
          <a:xfrm>
            <a:off x="749808" y="2167128"/>
            <a:ext cx="6272784" cy="2660904"/>
          </a:xfrm>
          <a:prstGeom prst="rect">
            <a:avLst/>
          </a:prstGeom>
          <a:noFill/>
          <a:ln/>
        </p:spPr>
        <p:txBody>
          <a:bodyPr wrap="square" lIns="0" tIns="0" rIns="0" bIns="0" rtlCol="0" anchor="t"/>
          <a:lstStyle/>
          <a:p>
            <a:pPr indent="0" marL="0">
              <a:buNone/>
            </a:pPr>
            <a:r>
              <a:rPr lang="en-US" sz="1250" dirty="0">
                <a:solidFill>
                  <a:schemeClr val="accent2"/>
                </a:solidFill>
                <a:latin typeface="Courier New" pitchFamily="34" charset="0"/>
                <a:ea typeface="Courier New" pitchFamily="34" charset="-122"/>
                <a:cs typeface="Courier New" pitchFamily="34" charset="-120"/>
              </a:rPr>
              <a:t>import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requests</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base</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"https://api.fabric.microsoft.com/v1"</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url</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accent3"/>
                </a:solidFill>
                <a:latin typeface="Courier New" pitchFamily="34" charset="0"/>
                <a:ea typeface="Courier New" pitchFamily="34" charset="-122"/>
                <a:cs typeface="Courier New" pitchFamily="34" charset="-120"/>
              </a:rPr>
              <a:t>"{base}/workspaces/{workspace_id}"</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accent3"/>
                </a:solidFill>
                <a:latin typeface="Courier New" pitchFamily="34" charset="0"/>
                <a:ea typeface="Courier New" pitchFamily="34" charset="-122"/>
                <a:cs typeface="Courier New" pitchFamily="34" charset="-120"/>
              </a:rPr>
              <a:t>"/items/{pipeline_id}/jobs/instances?jobType=Pipeline"</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body</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"executionData"</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"parameters"</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"period"</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"2025-02"</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"denominator"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accent3"/>
                </a:solidFill>
                <a:latin typeface="Courier New" pitchFamily="34" charset="0"/>
                <a:ea typeface="Courier New" pitchFamily="34" charset="-122"/>
                <a:cs typeface="Courier New" pitchFamily="34" charset="-120"/>
              </a:rPr>
              <a:t>"without_na"</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headers</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"Authorization"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f</a:t>
            </a:r>
            <a:pPr indent="0" marL="0">
              <a:buNone/>
            </a:pPr>
            <a:r>
              <a:rPr lang="en-US" sz="1250" dirty="0">
                <a:solidFill>
                  <a:schemeClr val="accent3"/>
                </a:solidFill>
                <a:latin typeface="Courier New" pitchFamily="34" charset="0"/>
                <a:ea typeface="Courier New" pitchFamily="34" charset="-122"/>
                <a:cs typeface="Courier New" pitchFamily="34" charset="-120"/>
              </a:rPr>
              <a:t>"Bearer {token}"</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r</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requests</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post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url</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json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body</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headers</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headers</a:t>
            </a:r>
            <a:pPr indent="0" marL="0">
              <a:buNone/>
            </a:pPr>
            <a:r>
              <a:rPr lang="en-US" sz="1250" dirty="0">
                <a:solidFill>
                  <a:schemeClr val="bg1"/>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raise_for_status</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i="1" dirty="0">
                <a:solidFill>
                  <a:schemeClr val="accent5"/>
                </a:solidFill>
                <a:latin typeface="Courier New" pitchFamily="34" charset="0"/>
                <a:ea typeface="Courier New" pitchFamily="34" charset="-122"/>
                <a:cs typeface="Courier New" pitchFamily="34" charset="-120"/>
              </a:rPr>
              <a:t># 202 Accepted: queued</a:t>
            </a:r>
            <a:endParaRPr lang="en-US" sz="1250" dirty="0"/>
          </a:p>
          <a:p>
            <a:pPr indent="0" marL="0">
              <a:buNone/>
            </a:pPr>
            <a:r>
              <a:rPr lang="en-US" sz="1250" dirty="0">
                <a:solidFill>
                  <a:schemeClr val="bg1"/>
                </a:solidFill>
                <a:latin typeface="Courier New" pitchFamily="34" charset="0"/>
                <a:ea typeface="Courier New" pitchFamily="34" charset="-122"/>
                <a:cs typeface="Courier New" pitchFamily="34" charset="-120"/>
              </a:rPr>
              <a:t>status_url</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dirty="0">
                <a:solidFill>
                  <a:schemeClr val="bg1"/>
                </a:solidFill>
                <a:latin typeface="Courier New" pitchFamily="34" charset="0"/>
                <a:ea typeface="Courier New" pitchFamily="34" charset="-122"/>
                <a:cs typeface="Courier New" pitchFamily="34" charset="-120"/>
              </a:rPr>
              <a:t>r</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headers</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accent3"/>
                </a:solidFill>
                <a:latin typeface="Courier New" pitchFamily="34" charset="0"/>
                <a:ea typeface="Courier New" pitchFamily="34" charset="-122"/>
                <a:cs typeface="Courier New" pitchFamily="34" charset="-120"/>
              </a:rPr>
              <a:t>"Location"</a:t>
            </a:r>
            <a:pPr indent="0" marL="0">
              <a:buNone/>
            </a:pPr>
            <a:r>
              <a:rPr lang="en-US" sz="1250" dirty="0">
                <a:solidFill>
                  <a:schemeClr val="bg1"/>
                </a:solidFill>
                <a:latin typeface="Courier New" pitchFamily="34" charset="0"/>
                <a:ea typeface="Courier New" pitchFamily="34" charset="-122"/>
                <a:cs typeface="Courier New" pitchFamily="34" charset="-120"/>
              </a:rPr>
              <a:t>]</a:t>
            </a:r>
            <a:pPr indent="0" marL="0">
              <a:buNone/>
            </a:pPr>
            <a:r>
              <a:rPr lang="en-US" sz="1250" dirty="0">
                <a:solidFill>
                  <a:schemeClr val="bg1"/>
                </a:solidFill>
                <a:latin typeface="Courier New" pitchFamily="34" charset="0"/>
                <a:ea typeface="Courier New" pitchFamily="34" charset="-122"/>
                <a:cs typeface="Courier New" pitchFamily="34" charset="-120"/>
              </a:rPr>
              <a:t>  </a:t>
            </a:r>
            <a:pPr indent="0" marL="0">
              <a:buNone/>
            </a:pPr>
            <a:r>
              <a:rPr lang="en-US" sz="1250" i="1" dirty="0">
                <a:solidFill>
                  <a:schemeClr val="accent5"/>
                </a:solidFill>
                <a:latin typeface="Courier New" pitchFamily="34" charset="0"/>
                <a:ea typeface="Courier New" pitchFamily="34" charset="-122"/>
                <a:cs typeface="Courier New" pitchFamily="34" charset="-120"/>
              </a:rPr>
              <a:t># poll for the status</a:t>
            </a:r>
            <a:endParaRPr lang="en-US" sz="1250" dirty="0"/>
          </a:p>
        </p:txBody>
      </p:sp>
      <p:sp>
        <p:nvSpPr>
          <p:cNvPr id="8" name="Call step 1"/>
          <p:cNvSpPr/>
          <p:nvPr/>
        </p:nvSpPr>
        <p:spPr>
          <a:xfrm>
            <a:off x="7452360" y="1783080"/>
            <a:ext cx="4187952" cy="731520"/>
          </a:xfrm>
          <a:prstGeom prst="roundRect">
            <a:avLst>
              <a:gd name="adj" fmla="val 15000"/>
            </a:avLst>
          </a:prstGeom>
          <a:solidFill>
            <a:schemeClr val="bg2"/>
          </a:solidFill>
          <a:ln/>
        </p:spPr>
      </p:sp>
      <p:sp>
        <p:nvSpPr>
          <p:cNvPr id="9" name="Call chip 1"/>
          <p:cNvSpPr/>
          <p:nvPr/>
        </p:nvSpPr>
        <p:spPr>
          <a:xfrm>
            <a:off x="7589520" y="1956816"/>
            <a:ext cx="384048" cy="384048"/>
          </a:xfrm>
          <a:prstGeom prst="roundRect">
            <a:avLst>
              <a:gd name="adj" fmla="val 19048"/>
            </a:avLst>
          </a:prstGeom>
          <a:solidFill>
            <a:schemeClr val="accent1"/>
          </a:solidFill>
          <a:ln/>
        </p:spPr>
      </p:sp>
      <p:sp>
        <p:nvSpPr>
          <p:cNvPr id="10" name="Call number"/>
          <p:cNvSpPr txBox="1"/>
          <p:nvPr/>
        </p:nvSpPr>
        <p:spPr>
          <a:xfrm>
            <a:off x="7589520" y="195681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1" name="Call title"/>
          <p:cNvSpPr txBox="1"/>
          <p:nvPr/>
        </p:nvSpPr>
        <p:spPr>
          <a:xfrm>
            <a:off x="8138160" y="1837944"/>
            <a:ext cx="338328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Get a token</a:t>
            </a:r>
            <a:endParaRPr lang="en-US" sz="1400" dirty="0"/>
          </a:p>
        </p:txBody>
      </p:sp>
      <p:sp>
        <p:nvSpPr>
          <p:cNvPr id="12" name="Call text"/>
          <p:cNvSpPr txBox="1"/>
          <p:nvPr/>
        </p:nvSpPr>
        <p:spPr>
          <a:xfrm>
            <a:off x="8138160" y="2112264"/>
            <a:ext cx="3383280" cy="384048"/>
          </a:xfrm>
          <a:prstGeom prst="rect">
            <a:avLst/>
          </a:prstGeom>
          <a:noFill/>
          <a:ln/>
        </p:spPr>
        <p:txBody>
          <a:bodyPr wrap="square" lIns="0" tIns="0" rIns="0" bIns="0" rtlCol="0" anchor="t"/>
          <a:lstStyle/>
          <a:p>
            <a:pPr indent="0" marL="0">
              <a:buNone/>
            </a:pPr>
            <a:r>
              <a:rPr lang="en-US" sz="1150" dirty="0">
                <a:solidFill>
                  <a:schemeClr val="tx1"/>
                </a:solidFill>
              </a:rPr>
              <a:t>For a person or a service principal. Who it is decides what the run may touch.</a:t>
            </a:r>
            <a:endParaRPr lang="en-US" sz="1150" dirty="0"/>
          </a:p>
        </p:txBody>
      </p:sp>
      <p:sp>
        <p:nvSpPr>
          <p:cNvPr id="13" name="Call step 2"/>
          <p:cNvSpPr/>
          <p:nvPr/>
        </p:nvSpPr>
        <p:spPr>
          <a:xfrm>
            <a:off x="7452360" y="2606040"/>
            <a:ext cx="4187952" cy="731520"/>
          </a:xfrm>
          <a:prstGeom prst="roundRect">
            <a:avLst>
              <a:gd name="adj" fmla="val 15000"/>
            </a:avLst>
          </a:prstGeom>
          <a:solidFill>
            <a:schemeClr val="bg2"/>
          </a:solidFill>
          <a:ln/>
        </p:spPr>
      </p:sp>
      <p:sp>
        <p:nvSpPr>
          <p:cNvPr id="14" name="Call chip 2"/>
          <p:cNvSpPr/>
          <p:nvPr/>
        </p:nvSpPr>
        <p:spPr>
          <a:xfrm>
            <a:off x="7589520" y="2779776"/>
            <a:ext cx="384048" cy="384048"/>
          </a:xfrm>
          <a:prstGeom prst="roundRect">
            <a:avLst>
              <a:gd name="adj" fmla="val 19048"/>
            </a:avLst>
          </a:prstGeom>
          <a:solidFill>
            <a:schemeClr val="accent1"/>
          </a:solidFill>
          <a:ln/>
        </p:spPr>
      </p:sp>
      <p:sp>
        <p:nvSpPr>
          <p:cNvPr id="15" name="Call number"/>
          <p:cNvSpPr txBox="1"/>
          <p:nvPr/>
        </p:nvSpPr>
        <p:spPr>
          <a:xfrm>
            <a:off x="7589520" y="277977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6" name="Call title"/>
          <p:cNvSpPr txBox="1"/>
          <p:nvPr/>
        </p:nvSpPr>
        <p:spPr>
          <a:xfrm>
            <a:off x="8138160" y="2660904"/>
            <a:ext cx="338328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Post the job</a:t>
            </a:r>
            <a:endParaRPr lang="en-US" sz="1400" dirty="0"/>
          </a:p>
        </p:txBody>
      </p:sp>
      <p:sp>
        <p:nvSpPr>
          <p:cNvPr id="17" name="Call text"/>
          <p:cNvSpPr txBox="1"/>
          <p:nvPr/>
        </p:nvSpPr>
        <p:spPr>
          <a:xfrm>
            <a:off x="8138160" y="2935224"/>
            <a:ext cx="3383280" cy="384048"/>
          </a:xfrm>
          <a:prstGeom prst="rect">
            <a:avLst/>
          </a:prstGeom>
          <a:noFill/>
          <a:ln/>
        </p:spPr>
        <p:txBody>
          <a:bodyPr wrap="square" lIns="0" tIns="0" rIns="0" bIns="0" rtlCol="0" anchor="t"/>
          <a:lstStyle/>
          <a:p>
            <a:pPr indent="0" marL="0">
              <a:buNone/>
            </a:pPr>
            <a:r>
              <a:rPr lang="en-US" sz="1150" dirty="0">
                <a:solidFill>
                  <a:schemeClr val="tx1"/>
                </a:solidFill>
              </a:rPr>
              <a:t>Parameters go in the body, under executionData.</a:t>
            </a:r>
            <a:endParaRPr lang="en-US" sz="1150" dirty="0"/>
          </a:p>
        </p:txBody>
      </p:sp>
      <p:sp>
        <p:nvSpPr>
          <p:cNvPr id="18" name="Call step 3"/>
          <p:cNvSpPr/>
          <p:nvPr/>
        </p:nvSpPr>
        <p:spPr>
          <a:xfrm>
            <a:off x="7452360" y="3429000"/>
            <a:ext cx="4187952" cy="731520"/>
          </a:xfrm>
          <a:prstGeom prst="roundRect">
            <a:avLst>
              <a:gd name="adj" fmla="val 15000"/>
            </a:avLst>
          </a:prstGeom>
          <a:solidFill>
            <a:schemeClr val="bg2"/>
          </a:solidFill>
          <a:ln/>
        </p:spPr>
      </p:sp>
      <p:sp>
        <p:nvSpPr>
          <p:cNvPr id="19" name="Call chip 3"/>
          <p:cNvSpPr/>
          <p:nvPr/>
        </p:nvSpPr>
        <p:spPr>
          <a:xfrm>
            <a:off x="7589520" y="3602736"/>
            <a:ext cx="384048" cy="384048"/>
          </a:xfrm>
          <a:prstGeom prst="roundRect">
            <a:avLst>
              <a:gd name="adj" fmla="val 19048"/>
            </a:avLst>
          </a:prstGeom>
          <a:solidFill>
            <a:schemeClr val="accent1"/>
          </a:solidFill>
          <a:ln/>
        </p:spPr>
      </p:sp>
      <p:sp>
        <p:nvSpPr>
          <p:cNvPr id="20" name="Call number"/>
          <p:cNvSpPr txBox="1"/>
          <p:nvPr/>
        </p:nvSpPr>
        <p:spPr>
          <a:xfrm>
            <a:off x="7589520" y="3602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1" name="Call title"/>
          <p:cNvSpPr txBox="1"/>
          <p:nvPr/>
        </p:nvSpPr>
        <p:spPr>
          <a:xfrm>
            <a:off x="8138160" y="3483864"/>
            <a:ext cx="338328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Fabric says 202</a:t>
            </a:r>
            <a:endParaRPr lang="en-US" sz="1400" dirty="0"/>
          </a:p>
        </p:txBody>
      </p:sp>
      <p:sp>
        <p:nvSpPr>
          <p:cNvPr id="22" name="Call text"/>
          <p:cNvSpPr txBox="1"/>
          <p:nvPr/>
        </p:nvSpPr>
        <p:spPr>
          <a:xfrm>
            <a:off x="8138160" y="3758184"/>
            <a:ext cx="3383280" cy="384048"/>
          </a:xfrm>
          <a:prstGeom prst="rect">
            <a:avLst/>
          </a:prstGeom>
          <a:noFill/>
          <a:ln/>
        </p:spPr>
        <p:txBody>
          <a:bodyPr wrap="square" lIns="0" tIns="0" rIns="0" bIns="0" rtlCol="0" anchor="t"/>
          <a:lstStyle/>
          <a:p>
            <a:pPr indent="0" marL="0">
              <a:buNone/>
            </a:pPr>
            <a:r>
              <a:rPr lang="en-US" sz="1150" dirty="0">
                <a:solidFill>
                  <a:schemeClr val="tx1"/>
                </a:solidFill>
              </a:rPr>
              <a:t>Accepted and queued. It has not finished.</a:t>
            </a:r>
            <a:endParaRPr lang="en-US" sz="1150" dirty="0"/>
          </a:p>
        </p:txBody>
      </p:sp>
      <p:sp>
        <p:nvSpPr>
          <p:cNvPr id="23" name="Call step 4"/>
          <p:cNvSpPr/>
          <p:nvPr/>
        </p:nvSpPr>
        <p:spPr>
          <a:xfrm>
            <a:off x="7452360" y="4251960"/>
            <a:ext cx="4187952" cy="731520"/>
          </a:xfrm>
          <a:prstGeom prst="roundRect">
            <a:avLst>
              <a:gd name="adj" fmla="val 15000"/>
            </a:avLst>
          </a:prstGeom>
          <a:solidFill>
            <a:schemeClr val="bg2"/>
          </a:solidFill>
          <a:ln/>
        </p:spPr>
      </p:sp>
      <p:sp>
        <p:nvSpPr>
          <p:cNvPr id="24" name="Call chip 4"/>
          <p:cNvSpPr/>
          <p:nvPr/>
        </p:nvSpPr>
        <p:spPr>
          <a:xfrm>
            <a:off x="7589520" y="4425696"/>
            <a:ext cx="384048" cy="384048"/>
          </a:xfrm>
          <a:prstGeom prst="roundRect">
            <a:avLst>
              <a:gd name="adj" fmla="val 19048"/>
            </a:avLst>
          </a:prstGeom>
          <a:solidFill>
            <a:schemeClr val="accent1"/>
          </a:solidFill>
          <a:ln/>
        </p:spPr>
      </p:sp>
      <p:sp>
        <p:nvSpPr>
          <p:cNvPr id="25" name="Call number"/>
          <p:cNvSpPr txBox="1"/>
          <p:nvPr/>
        </p:nvSpPr>
        <p:spPr>
          <a:xfrm>
            <a:off x="7589520" y="44256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6" name="Call title"/>
          <p:cNvSpPr txBox="1"/>
          <p:nvPr/>
        </p:nvSpPr>
        <p:spPr>
          <a:xfrm>
            <a:off x="8138160" y="4306824"/>
            <a:ext cx="3383280" cy="27432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Poll the Location</a:t>
            </a:r>
            <a:endParaRPr lang="en-US" sz="1400" dirty="0"/>
          </a:p>
        </p:txBody>
      </p:sp>
      <p:sp>
        <p:nvSpPr>
          <p:cNvPr id="27" name="Call text"/>
          <p:cNvSpPr txBox="1"/>
          <p:nvPr/>
        </p:nvSpPr>
        <p:spPr>
          <a:xfrm>
            <a:off x="8138160" y="4581144"/>
            <a:ext cx="3383280" cy="384048"/>
          </a:xfrm>
          <a:prstGeom prst="rect">
            <a:avLst/>
          </a:prstGeom>
          <a:noFill/>
          <a:ln/>
        </p:spPr>
        <p:txBody>
          <a:bodyPr wrap="square" lIns="0" tIns="0" rIns="0" bIns="0" rtlCol="0" anchor="t"/>
          <a:lstStyle/>
          <a:p>
            <a:pPr indent="0" marL="0">
              <a:buNone/>
            </a:pPr>
            <a:r>
              <a:rPr lang="en-US" sz="1150" dirty="0">
                <a:solidFill>
                  <a:schemeClr val="tx1"/>
                </a:solidFill>
              </a:rPr>
              <a:t>Ask that address for the status until it ends.</a:t>
            </a:r>
            <a:endParaRPr lang="en-US" sz="1150" dirty="0"/>
          </a:p>
        </p:txBody>
      </p:sp>
      <p:sp>
        <p:nvSpPr>
          <p:cNvPr id="28" name="Caution card"/>
          <p:cNvSpPr/>
          <p:nvPr/>
        </p:nvSpPr>
        <p:spPr>
          <a:xfrm>
            <a:off x="548640" y="5120640"/>
            <a:ext cx="11094415" cy="731520"/>
          </a:xfrm>
          <a:prstGeom prst="roundRect">
            <a:avLst>
              <a:gd name="adj" fmla="val 15000"/>
            </a:avLst>
          </a:prstGeom>
          <a:solidFill>
            <a:schemeClr val="accent3">
              <a:alpha val="22000"/>
            </a:schemeClr>
          </a:solidFill>
          <a:ln/>
        </p:spPr>
      </p:sp>
      <p:sp>
        <p:nvSpPr>
          <p:cNvPr id="29" name="Caution text"/>
          <p:cNvSpPr txBox="1"/>
          <p:nvPr/>
        </p:nvSpPr>
        <p:spPr>
          <a:xfrm>
            <a:off x="777240" y="5120640"/>
            <a:ext cx="10637215" cy="731520"/>
          </a:xfrm>
          <a:prstGeom prst="rect">
            <a:avLst/>
          </a:prstGeom>
          <a:noFill/>
          <a:ln/>
        </p:spPr>
        <p:txBody>
          <a:bodyPr wrap="square" lIns="0" tIns="0" rIns="0" bIns="0" rtlCol="0" anchor="ctr"/>
          <a:lstStyle/>
          <a:p>
            <a:pPr indent="0" marL="0">
              <a:buNone/>
            </a:pPr>
            <a:r>
              <a:rPr lang="en-US" sz="1300" b="1" dirty="0">
                <a:solidFill>
                  <a:schemeClr val="tx1"/>
                </a:solidFill>
              </a:rPr>
              <a:t>Before building: </a:t>
            </a:r>
            <a:pPr indent="0" marL="0">
              <a:buNone/>
            </a:pPr>
            <a:r>
              <a:rPr lang="en-US" sz="1300" dirty="0">
                <a:solidFill>
                  <a:schemeClr val="tx1"/>
                </a:solidFill>
              </a:rPr>
              <a:t>the token, the identity and the permissions behind this call are an approvals question. Confirm the current endpoint and the approved identity pattern with Enterprise Technology.</a:t>
            </a:r>
            <a:endParaRPr lang="en-US" sz="1300" dirty="0"/>
          </a:p>
        </p:txBody>
      </p:sp>
      <p:sp>
        <p:nvSpPr>
          <p:cNvPr id="30"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Pattern: Fabric REST API, run an item on demand, job type Pipeline. Shown for shape; not executed in this training environment.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front ends, one back end</a:t>
            </a:r>
            <a:endParaRPr lang="en-US" sz="3200" dirty="0"/>
          </a:p>
        </p:txBody>
      </p:sp>
      <p:sp>
        <p:nvSpPr>
          <p:cNvPr id="5" name="Fabric Run dialog card"/>
          <p:cNvSpPr/>
          <p:nvPr/>
        </p:nvSpPr>
        <p:spPr>
          <a:xfrm>
            <a:off x="548640" y="1783080"/>
            <a:ext cx="3593592" cy="3429000"/>
          </a:xfrm>
          <a:prstGeom prst="roundRect">
            <a:avLst>
              <a:gd name="adj" fmla="val 3200"/>
            </a:avLst>
          </a:prstGeom>
          <a:solidFill>
            <a:schemeClr val="bg2"/>
          </a:solidFill>
          <a:ln/>
        </p:spPr>
      </p:sp>
      <p:sp>
        <p:nvSpPr>
          <p:cNvPr id="6" name="Fabric Run dialog badge"/>
          <p:cNvSpPr/>
          <p:nvPr/>
        </p:nvSpPr>
        <p:spPr>
          <a:xfrm>
            <a:off x="749808" y="1920240"/>
            <a:ext cx="502920" cy="502920"/>
          </a:xfrm>
          <a:prstGeom prst="ellipse">
            <a:avLst/>
          </a:prstGeom>
          <a:solidFill>
            <a:schemeClr val="accent1"/>
          </a:solidFill>
          <a:ln/>
        </p:spPr>
      </p:sp>
      <p:pic>
        <p:nvPicPr>
          <p:cNvPr id="7" name="Image 0" descr="Fabric Run dialog icon">    </p:cNvPr>
          <p:cNvPicPr>
            <a:picLocks noChangeAspect="1"/>
          </p:cNvPicPr>
          <p:nvPr/>
        </p:nvPicPr>
        <p:blipFill>
          <a:blip r:embed="rId1"/>
          <a:stretch>
            <a:fillRect/>
          </a:stretch>
        </p:blipFill>
        <p:spPr>
          <a:xfrm>
            <a:off x="875538" y="2045970"/>
            <a:ext cx="251460" cy="251460"/>
          </a:xfrm>
          <a:prstGeom prst="rect">
            <a:avLst/>
          </a:prstGeom>
        </p:spPr>
      </p:pic>
      <p:sp>
        <p:nvSpPr>
          <p:cNvPr id="8" name="Option title"/>
          <p:cNvSpPr txBox="1"/>
          <p:nvPr/>
        </p:nvSpPr>
        <p:spPr>
          <a:xfrm>
            <a:off x="1325880" y="1920240"/>
            <a:ext cx="269748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Fabric Run dialog</a:t>
            </a:r>
            <a:endParaRPr lang="en-US" sz="1500" dirty="0"/>
          </a:p>
        </p:txBody>
      </p:sp>
      <p:sp>
        <p:nvSpPr>
          <p:cNvPr id="9" name="Row label"/>
          <p:cNvSpPr txBox="1"/>
          <p:nvPr/>
        </p:nvSpPr>
        <p:spPr>
          <a:xfrm>
            <a:off x="777240" y="260604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EFFORT</a:t>
            </a:r>
            <a:endParaRPr lang="en-US" sz="950" dirty="0"/>
          </a:p>
        </p:txBody>
      </p:sp>
      <p:sp>
        <p:nvSpPr>
          <p:cNvPr id="10" name="Row text"/>
          <p:cNvSpPr txBox="1"/>
          <p:nvPr/>
        </p:nvSpPr>
        <p:spPr>
          <a:xfrm>
            <a:off x="1600200" y="2606040"/>
            <a:ext cx="2423160" cy="548640"/>
          </a:xfrm>
          <a:prstGeom prst="rect">
            <a:avLst/>
          </a:prstGeom>
          <a:noFill/>
          <a:ln/>
        </p:spPr>
        <p:txBody>
          <a:bodyPr wrap="square" lIns="0" tIns="0" rIns="0" bIns="0" rtlCol="0" anchor="ctr"/>
          <a:lstStyle/>
          <a:p>
            <a:pPr indent="0" marL="0">
              <a:buNone/>
            </a:pPr>
            <a:r>
              <a:rPr lang="en-US" sz="1250" dirty="0">
                <a:solidFill>
                  <a:schemeClr val="tx1"/>
                </a:solidFill>
              </a:rPr>
              <a:t>None</a:t>
            </a:r>
            <a:endParaRPr lang="en-US" sz="1250" dirty="0"/>
          </a:p>
        </p:txBody>
      </p:sp>
      <p:sp>
        <p:nvSpPr>
          <p:cNvPr id="11" name="Row label"/>
          <p:cNvSpPr txBox="1"/>
          <p:nvPr/>
        </p:nvSpPr>
        <p:spPr>
          <a:xfrm>
            <a:off x="777240" y="324612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USERS</a:t>
            </a:r>
            <a:endParaRPr lang="en-US" sz="950" dirty="0"/>
          </a:p>
        </p:txBody>
      </p:sp>
      <p:sp>
        <p:nvSpPr>
          <p:cNvPr id="12" name="Row text"/>
          <p:cNvSpPr txBox="1"/>
          <p:nvPr/>
        </p:nvSpPr>
        <p:spPr>
          <a:xfrm>
            <a:off x="1600200" y="3246120"/>
            <a:ext cx="2423160" cy="548640"/>
          </a:xfrm>
          <a:prstGeom prst="rect">
            <a:avLst/>
          </a:prstGeom>
          <a:noFill/>
          <a:ln/>
        </p:spPr>
        <p:txBody>
          <a:bodyPr wrap="square" lIns="0" tIns="0" rIns="0" bIns="0" rtlCol="0" anchor="ctr"/>
          <a:lstStyle/>
          <a:p>
            <a:pPr indent="0" marL="0">
              <a:buNone/>
            </a:pPr>
            <a:r>
              <a:rPr lang="en-US" sz="1250" dirty="0">
                <a:solidFill>
                  <a:schemeClr val="tx1"/>
                </a:solidFill>
              </a:rPr>
              <a:t>Anyone with workspace access</a:t>
            </a:r>
            <a:endParaRPr lang="en-US" sz="1250" dirty="0"/>
          </a:p>
        </p:txBody>
      </p:sp>
      <p:sp>
        <p:nvSpPr>
          <p:cNvPr id="13" name="Row label"/>
          <p:cNvSpPr txBox="1"/>
          <p:nvPr/>
        </p:nvSpPr>
        <p:spPr>
          <a:xfrm>
            <a:off x="777240" y="388620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FITS</a:t>
            </a:r>
            <a:endParaRPr lang="en-US" sz="950" dirty="0"/>
          </a:p>
        </p:txBody>
      </p:sp>
      <p:sp>
        <p:nvSpPr>
          <p:cNvPr id="14" name="Row text"/>
          <p:cNvSpPr txBox="1"/>
          <p:nvPr/>
        </p:nvSpPr>
        <p:spPr>
          <a:xfrm>
            <a:off x="1600200" y="3886200"/>
            <a:ext cx="2423160" cy="548640"/>
          </a:xfrm>
          <a:prstGeom prst="rect">
            <a:avLst/>
          </a:prstGeom>
          <a:noFill/>
          <a:ln/>
        </p:spPr>
        <p:txBody>
          <a:bodyPr wrap="square" lIns="0" tIns="0" rIns="0" bIns="0" rtlCol="0" anchor="ctr"/>
          <a:lstStyle/>
          <a:p>
            <a:pPr indent="0" marL="0">
              <a:buNone/>
            </a:pPr>
            <a:r>
              <a:rPr lang="en-US" sz="1250" dirty="0">
                <a:solidFill>
                  <a:schemeClr val="tx1"/>
                </a:solidFill>
              </a:rPr>
              <a:t>Analysts and the team that built it</a:t>
            </a:r>
            <a:endParaRPr lang="en-US" sz="1250" dirty="0"/>
          </a:p>
        </p:txBody>
      </p:sp>
      <p:sp>
        <p:nvSpPr>
          <p:cNvPr id="15" name="Row label"/>
          <p:cNvSpPr txBox="1"/>
          <p:nvPr/>
        </p:nvSpPr>
        <p:spPr>
          <a:xfrm>
            <a:off x="777240" y="452628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WATCH</a:t>
            </a:r>
            <a:endParaRPr lang="en-US" sz="950" dirty="0"/>
          </a:p>
        </p:txBody>
      </p:sp>
      <p:sp>
        <p:nvSpPr>
          <p:cNvPr id="16" name="Row text"/>
          <p:cNvSpPr txBox="1"/>
          <p:nvPr/>
        </p:nvSpPr>
        <p:spPr>
          <a:xfrm>
            <a:off x="1600200" y="4526280"/>
            <a:ext cx="2423160" cy="548640"/>
          </a:xfrm>
          <a:prstGeom prst="rect">
            <a:avLst/>
          </a:prstGeom>
          <a:noFill/>
          <a:ln/>
        </p:spPr>
        <p:txBody>
          <a:bodyPr wrap="square" lIns="0" tIns="0" rIns="0" bIns="0" rtlCol="0" anchor="ctr"/>
          <a:lstStyle/>
          <a:p>
            <a:pPr indent="0" marL="0">
              <a:buNone/>
            </a:pPr>
            <a:r>
              <a:rPr lang="en-US" sz="1250" dirty="0">
                <a:solidFill>
                  <a:schemeClr val="tx1"/>
                </a:solidFill>
              </a:rPr>
              <a:t>Users see Fabric, not an app</a:t>
            </a:r>
            <a:endParaRPr lang="en-US" sz="1250" dirty="0"/>
          </a:p>
        </p:txBody>
      </p:sp>
      <p:sp>
        <p:nvSpPr>
          <p:cNvPr id="17" name="Power Apps and Power Automate card"/>
          <p:cNvSpPr/>
          <p:nvPr/>
        </p:nvSpPr>
        <p:spPr>
          <a:xfrm>
            <a:off x="4297680" y="1783080"/>
            <a:ext cx="3593592" cy="3429000"/>
          </a:xfrm>
          <a:prstGeom prst="roundRect">
            <a:avLst>
              <a:gd name="adj" fmla="val 3200"/>
            </a:avLst>
          </a:prstGeom>
          <a:solidFill>
            <a:schemeClr val="bg2"/>
          </a:solidFill>
          <a:ln/>
        </p:spPr>
      </p:sp>
      <p:sp>
        <p:nvSpPr>
          <p:cNvPr id="18" name="Power Apps and Power Automate badge"/>
          <p:cNvSpPr/>
          <p:nvPr/>
        </p:nvSpPr>
        <p:spPr>
          <a:xfrm>
            <a:off x="4498848" y="1920240"/>
            <a:ext cx="502920" cy="502920"/>
          </a:xfrm>
          <a:prstGeom prst="ellipse">
            <a:avLst/>
          </a:prstGeom>
          <a:solidFill>
            <a:schemeClr val="accent2"/>
          </a:solidFill>
          <a:ln/>
        </p:spPr>
      </p:sp>
      <p:pic>
        <p:nvPicPr>
          <p:cNvPr id="19" name="Image 1" descr="Power Apps and Power Automate icon">    </p:cNvPr>
          <p:cNvPicPr>
            <a:picLocks noChangeAspect="1"/>
          </p:cNvPicPr>
          <p:nvPr/>
        </p:nvPicPr>
        <p:blipFill>
          <a:blip r:embed="rId2"/>
          <a:stretch>
            <a:fillRect/>
          </a:stretch>
        </p:blipFill>
        <p:spPr>
          <a:xfrm>
            <a:off x="4624578" y="2045970"/>
            <a:ext cx="251460" cy="251460"/>
          </a:xfrm>
          <a:prstGeom prst="rect">
            <a:avLst/>
          </a:prstGeom>
        </p:spPr>
      </p:pic>
      <p:sp>
        <p:nvSpPr>
          <p:cNvPr id="20" name="Option title"/>
          <p:cNvSpPr txBox="1"/>
          <p:nvPr/>
        </p:nvSpPr>
        <p:spPr>
          <a:xfrm>
            <a:off x="5074920" y="1920240"/>
            <a:ext cx="269748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Power Apps and Power Automate</a:t>
            </a:r>
            <a:endParaRPr lang="en-US" sz="1500" dirty="0"/>
          </a:p>
        </p:txBody>
      </p:sp>
      <p:sp>
        <p:nvSpPr>
          <p:cNvPr id="21" name="Row label"/>
          <p:cNvSpPr txBox="1"/>
          <p:nvPr/>
        </p:nvSpPr>
        <p:spPr>
          <a:xfrm>
            <a:off x="4526280" y="260604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EFFORT</a:t>
            </a:r>
            <a:endParaRPr lang="en-US" sz="950" dirty="0"/>
          </a:p>
        </p:txBody>
      </p:sp>
      <p:sp>
        <p:nvSpPr>
          <p:cNvPr id="22" name="Row text"/>
          <p:cNvSpPr txBox="1"/>
          <p:nvPr/>
        </p:nvSpPr>
        <p:spPr>
          <a:xfrm>
            <a:off x="5349240" y="2606040"/>
            <a:ext cx="2423160" cy="548640"/>
          </a:xfrm>
          <a:prstGeom prst="rect">
            <a:avLst/>
          </a:prstGeom>
          <a:noFill/>
          <a:ln/>
        </p:spPr>
        <p:txBody>
          <a:bodyPr wrap="square" lIns="0" tIns="0" rIns="0" bIns="0" rtlCol="0" anchor="ctr"/>
          <a:lstStyle/>
          <a:p>
            <a:pPr indent="0" marL="0">
              <a:buNone/>
            </a:pPr>
            <a:r>
              <a:rPr lang="en-US" sz="1250" dirty="0">
                <a:solidFill>
                  <a:schemeClr val="tx1"/>
                </a:solidFill>
              </a:rPr>
              <a:t>Low-code, days</a:t>
            </a:r>
            <a:endParaRPr lang="en-US" sz="1250" dirty="0"/>
          </a:p>
        </p:txBody>
      </p:sp>
      <p:sp>
        <p:nvSpPr>
          <p:cNvPr id="23" name="Row label"/>
          <p:cNvSpPr txBox="1"/>
          <p:nvPr/>
        </p:nvSpPr>
        <p:spPr>
          <a:xfrm>
            <a:off x="4526280" y="324612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USERS</a:t>
            </a:r>
            <a:endParaRPr lang="en-US" sz="950" dirty="0"/>
          </a:p>
        </p:txBody>
      </p:sp>
      <p:sp>
        <p:nvSpPr>
          <p:cNvPr id="24" name="Row text"/>
          <p:cNvSpPr txBox="1"/>
          <p:nvPr/>
        </p:nvSpPr>
        <p:spPr>
          <a:xfrm>
            <a:off x="5349240" y="3246120"/>
            <a:ext cx="2423160" cy="548640"/>
          </a:xfrm>
          <a:prstGeom prst="rect">
            <a:avLst/>
          </a:prstGeom>
          <a:noFill/>
          <a:ln/>
        </p:spPr>
        <p:txBody>
          <a:bodyPr wrap="square" lIns="0" tIns="0" rIns="0" bIns="0" rtlCol="0" anchor="ctr"/>
          <a:lstStyle/>
          <a:p>
            <a:pPr indent="0" marL="0">
              <a:buNone/>
            </a:pPr>
            <a:r>
              <a:rPr lang="en-US" sz="1250" dirty="0">
                <a:solidFill>
                  <a:schemeClr val="tx1"/>
                </a:solidFill>
              </a:rPr>
              <a:t>Business users, no Fabric needed</a:t>
            </a:r>
            <a:endParaRPr lang="en-US" sz="1250" dirty="0"/>
          </a:p>
        </p:txBody>
      </p:sp>
      <p:sp>
        <p:nvSpPr>
          <p:cNvPr id="25" name="Row label"/>
          <p:cNvSpPr txBox="1"/>
          <p:nvPr/>
        </p:nvSpPr>
        <p:spPr>
          <a:xfrm>
            <a:off x="4526280" y="388620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FITS</a:t>
            </a:r>
            <a:endParaRPr lang="en-US" sz="950" dirty="0"/>
          </a:p>
        </p:txBody>
      </p:sp>
      <p:sp>
        <p:nvSpPr>
          <p:cNvPr id="26" name="Row text"/>
          <p:cNvSpPr txBox="1"/>
          <p:nvPr/>
        </p:nvSpPr>
        <p:spPr>
          <a:xfrm>
            <a:off x="5349240" y="3886200"/>
            <a:ext cx="2423160" cy="548640"/>
          </a:xfrm>
          <a:prstGeom prst="rect">
            <a:avLst/>
          </a:prstGeom>
          <a:noFill/>
          <a:ln/>
        </p:spPr>
        <p:txBody>
          <a:bodyPr wrap="square" lIns="0" tIns="0" rIns="0" bIns="0" rtlCol="0" anchor="ctr"/>
          <a:lstStyle/>
          <a:p>
            <a:pPr indent="0" marL="0">
              <a:buNone/>
            </a:pPr>
            <a:r>
              <a:rPr lang="en-US" sz="1250" dirty="0">
                <a:solidFill>
                  <a:schemeClr val="tx1"/>
                </a:solidFill>
              </a:rPr>
              <a:t>A form with approvals and email</a:t>
            </a:r>
            <a:endParaRPr lang="en-US" sz="1250" dirty="0"/>
          </a:p>
        </p:txBody>
      </p:sp>
      <p:sp>
        <p:nvSpPr>
          <p:cNvPr id="27" name="Row label"/>
          <p:cNvSpPr txBox="1"/>
          <p:nvPr/>
        </p:nvSpPr>
        <p:spPr>
          <a:xfrm>
            <a:off x="4526280" y="452628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WATCH</a:t>
            </a:r>
            <a:endParaRPr lang="en-US" sz="950" dirty="0"/>
          </a:p>
        </p:txBody>
      </p:sp>
      <p:sp>
        <p:nvSpPr>
          <p:cNvPr id="28" name="Row text"/>
          <p:cNvSpPr txBox="1"/>
          <p:nvPr/>
        </p:nvSpPr>
        <p:spPr>
          <a:xfrm>
            <a:off x="5349240" y="4526280"/>
            <a:ext cx="2423160" cy="548640"/>
          </a:xfrm>
          <a:prstGeom prst="rect">
            <a:avLst/>
          </a:prstGeom>
          <a:noFill/>
          <a:ln/>
        </p:spPr>
        <p:txBody>
          <a:bodyPr wrap="square" lIns="0" tIns="0" rIns="0" bIns="0" rtlCol="0" anchor="ctr"/>
          <a:lstStyle/>
          <a:p>
            <a:pPr indent="0" marL="0">
              <a:buNone/>
            </a:pPr>
            <a:r>
              <a:rPr lang="en-US" sz="1250" dirty="0">
                <a:solidFill>
                  <a:schemeClr val="tx1"/>
                </a:solidFill>
              </a:rPr>
              <a:t>Another app to own and approve</a:t>
            </a:r>
            <a:endParaRPr lang="en-US" sz="1250" dirty="0"/>
          </a:p>
        </p:txBody>
      </p:sp>
      <p:sp>
        <p:nvSpPr>
          <p:cNvPr id="29" name="A small web app card"/>
          <p:cNvSpPr/>
          <p:nvPr/>
        </p:nvSpPr>
        <p:spPr>
          <a:xfrm>
            <a:off x="8046720" y="1783080"/>
            <a:ext cx="3593592" cy="3429000"/>
          </a:xfrm>
          <a:prstGeom prst="roundRect">
            <a:avLst>
              <a:gd name="adj" fmla="val 3200"/>
            </a:avLst>
          </a:prstGeom>
          <a:solidFill>
            <a:schemeClr val="bg2"/>
          </a:solidFill>
          <a:ln/>
        </p:spPr>
      </p:sp>
      <p:sp>
        <p:nvSpPr>
          <p:cNvPr id="30" name="A small web app badge"/>
          <p:cNvSpPr/>
          <p:nvPr/>
        </p:nvSpPr>
        <p:spPr>
          <a:xfrm>
            <a:off x="8247888" y="1920240"/>
            <a:ext cx="502920" cy="502920"/>
          </a:xfrm>
          <a:prstGeom prst="ellipse">
            <a:avLst/>
          </a:prstGeom>
          <a:solidFill>
            <a:schemeClr val="tx2"/>
          </a:solidFill>
          <a:ln/>
        </p:spPr>
      </p:sp>
      <p:pic>
        <p:nvPicPr>
          <p:cNvPr id="31" name="Image 2" descr="A small web app icon">    </p:cNvPr>
          <p:cNvPicPr>
            <a:picLocks noChangeAspect="1"/>
          </p:cNvPicPr>
          <p:nvPr/>
        </p:nvPicPr>
        <p:blipFill>
          <a:blip r:embed="rId3"/>
          <a:stretch>
            <a:fillRect/>
          </a:stretch>
        </p:blipFill>
        <p:spPr>
          <a:xfrm>
            <a:off x="8373618" y="2045970"/>
            <a:ext cx="251460" cy="251460"/>
          </a:xfrm>
          <a:prstGeom prst="rect">
            <a:avLst/>
          </a:prstGeom>
        </p:spPr>
      </p:pic>
      <p:sp>
        <p:nvSpPr>
          <p:cNvPr id="32" name="Option title"/>
          <p:cNvSpPr txBox="1"/>
          <p:nvPr/>
        </p:nvSpPr>
        <p:spPr>
          <a:xfrm>
            <a:off x="8823960" y="1920240"/>
            <a:ext cx="269748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A small web app</a:t>
            </a:r>
            <a:endParaRPr lang="en-US" sz="1500" dirty="0"/>
          </a:p>
        </p:txBody>
      </p:sp>
      <p:sp>
        <p:nvSpPr>
          <p:cNvPr id="33" name="Row label"/>
          <p:cNvSpPr txBox="1"/>
          <p:nvPr/>
        </p:nvSpPr>
        <p:spPr>
          <a:xfrm>
            <a:off x="8275320" y="260604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EFFORT</a:t>
            </a:r>
            <a:endParaRPr lang="en-US" sz="950" dirty="0"/>
          </a:p>
        </p:txBody>
      </p:sp>
      <p:sp>
        <p:nvSpPr>
          <p:cNvPr id="34" name="Row text"/>
          <p:cNvSpPr txBox="1"/>
          <p:nvPr/>
        </p:nvSpPr>
        <p:spPr>
          <a:xfrm>
            <a:off x="9098280" y="2606040"/>
            <a:ext cx="2423160" cy="548640"/>
          </a:xfrm>
          <a:prstGeom prst="rect">
            <a:avLst/>
          </a:prstGeom>
          <a:noFill/>
          <a:ln/>
        </p:spPr>
        <p:txBody>
          <a:bodyPr wrap="square" lIns="0" tIns="0" rIns="0" bIns="0" rtlCol="0" anchor="ctr"/>
          <a:lstStyle/>
          <a:p>
            <a:pPr indent="0" marL="0">
              <a:buNone/>
            </a:pPr>
            <a:r>
              <a:rPr lang="en-US" sz="1250" dirty="0">
                <a:solidFill>
                  <a:schemeClr val="tx1"/>
                </a:solidFill>
              </a:rPr>
              <a:t>Most</a:t>
            </a:r>
            <a:endParaRPr lang="en-US" sz="1250" dirty="0"/>
          </a:p>
        </p:txBody>
      </p:sp>
      <p:sp>
        <p:nvSpPr>
          <p:cNvPr id="35" name="Row label"/>
          <p:cNvSpPr txBox="1"/>
          <p:nvPr/>
        </p:nvSpPr>
        <p:spPr>
          <a:xfrm>
            <a:off x="8275320" y="324612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USERS</a:t>
            </a:r>
            <a:endParaRPr lang="en-US" sz="950" dirty="0"/>
          </a:p>
        </p:txBody>
      </p:sp>
      <p:sp>
        <p:nvSpPr>
          <p:cNvPr id="36" name="Row text"/>
          <p:cNvSpPr txBox="1"/>
          <p:nvPr/>
        </p:nvSpPr>
        <p:spPr>
          <a:xfrm>
            <a:off x="9098280" y="3246120"/>
            <a:ext cx="2423160" cy="548640"/>
          </a:xfrm>
          <a:prstGeom prst="rect">
            <a:avLst/>
          </a:prstGeom>
          <a:noFill/>
          <a:ln/>
        </p:spPr>
        <p:txBody>
          <a:bodyPr wrap="square" lIns="0" tIns="0" rIns="0" bIns="0" rtlCol="0" anchor="ctr"/>
          <a:lstStyle/>
          <a:p>
            <a:pPr indent="0" marL="0">
              <a:buNone/>
            </a:pPr>
            <a:r>
              <a:rPr lang="en-US" sz="1250" dirty="0">
                <a:solidFill>
                  <a:schemeClr val="tx1"/>
                </a:solidFill>
              </a:rPr>
              <a:t>Anyone you choose</a:t>
            </a:r>
            <a:endParaRPr lang="en-US" sz="1250" dirty="0"/>
          </a:p>
        </p:txBody>
      </p:sp>
      <p:sp>
        <p:nvSpPr>
          <p:cNvPr id="37" name="Row label"/>
          <p:cNvSpPr txBox="1"/>
          <p:nvPr/>
        </p:nvSpPr>
        <p:spPr>
          <a:xfrm>
            <a:off x="8275320" y="388620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FITS</a:t>
            </a:r>
            <a:endParaRPr lang="en-US" sz="950" dirty="0"/>
          </a:p>
        </p:txBody>
      </p:sp>
      <p:sp>
        <p:nvSpPr>
          <p:cNvPr id="38" name="Row text"/>
          <p:cNvSpPr txBox="1"/>
          <p:nvPr/>
        </p:nvSpPr>
        <p:spPr>
          <a:xfrm>
            <a:off x="9098280" y="3886200"/>
            <a:ext cx="2423160" cy="548640"/>
          </a:xfrm>
          <a:prstGeom prst="rect">
            <a:avLst/>
          </a:prstGeom>
          <a:noFill/>
          <a:ln/>
        </p:spPr>
        <p:txBody>
          <a:bodyPr wrap="square" lIns="0" tIns="0" rIns="0" bIns="0" rtlCol="0" anchor="ctr"/>
          <a:lstStyle/>
          <a:p>
            <a:pPr indent="0" marL="0">
              <a:buNone/>
            </a:pPr>
            <a:r>
              <a:rPr lang="en-US" sz="1250" dirty="0">
                <a:solidFill>
                  <a:schemeClr val="tx1"/>
                </a:solidFill>
              </a:rPr>
              <a:t>Custom logic and branding</a:t>
            </a:r>
            <a:endParaRPr lang="en-US" sz="1250" dirty="0"/>
          </a:p>
        </p:txBody>
      </p:sp>
      <p:sp>
        <p:nvSpPr>
          <p:cNvPr id="39" name="Row label"/>
          <p:cNvSpPr txBox="1"/>
          <p:nvPr/>
        </p:nvSpPr>
        <p:spPr>
          <a:xfrm>
            <a:off x="8275320" y="4526280"/>
            <a:ext cx="822960" cy="548640"/>
          </a:xfrm>
          <a:prstGeom prst="rect">
            <a:avLst/>
          </a:prstGeom>
          <a:noFill/>
          <a:ln/>
        </p:spPr>
        <p:txBody>
          <a:bodyPr wrap="square" lIns="0" tIns="0" rIns="0" bIns="0" rtlCol="0" anchor="ctr"/>
          <a:lstStyle/>
          <a:p>
            <a:pPr indent="0" marL="0">
              <a:buNone/>
            </a:pPr>
            <a:r>
              <a:rPr lang="en-US" sz="950" b="1" spc="200" kern="0" dirty="0">
                <a:solidFill>
                  <a:schemeClr val="accent1"/>
                </a:solidFill>
              </a:rPr>
              <a:t>WATCH</a:t>
            </a:r>
            <a:endParaRPr lang="en-US" sz="950" dirty="0"/>
          </a:p>
        </p:txBody>
      </p:sp>
      <p:sp>
        <p:nvSpPr>
          <p:cNvPr id="40" name="Row text"/>
          <p:cNvSpPr txBox="1"/>
          <p:nvPr/>
        </p:nvSpPr>
        <p:spPr>
          <a:xfrm>
            <a:off x="9098280" y="4526280"/>
            <a:ext cx="2423160" cy="548640"/>
          </a:xfrm>
          <a:prstGeom prst="rect">
            <a:avLst/>
          </a:prstGeom>
          <a:noFill/>
          <a:ln/>
        </p:spPr>
        <p:txBody>
          <a:bodyPr wrap="square" lIns="0" tIns="0" rIns="0" bIns="0" rtlCol="0" anchor="ctr"/>
          <a:lstStyle/>
          <a:p>
            <a:pPr indent="0" marL="0">
              <a:buNone/>
            </a:pPr>
            <a:r>
              <a:rPr lang="en-US" sz="1250" dirty="0">
                <a:solidFill>
                  <a:schemeClr val="tx1"/>
                </a:solidFill>
              </a:rPr>
              <a:t>Hosting, security and support are yours</a:t>
            </a:r>
            <a:endParaRPr lang="en-US" sz="1250" dirty="0"/>
          </a:p>
        </p:txBody>
      </p:sp>
      <p:sp>
        <p:nvSpPr>
          <p:cNvPr id="41" name="Takeaway"/>
          <p:cNvSpPr txBox="1"/>
          <p:nvPr/>
        </p:nvSpPr>
        <p:spPr>
          <a:xfrm>
            <a:off x="548640" y="544068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Start with the Run dialog. Add a form when someone outside the team needs a button.</a:t>
            </a:r>
            <a:endParaRPr lang="en-US" sz="1600" dirty="0"/>
          </a:p>
        </p:txBody>
      </p:sp>
      <p:sp>
        <p:nvSpPr>
          <p:cNvPr id="42"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Precedent: the Notice Tracker in the AI for Tax work uses a Power Automate flow, a Dataverse table and a Power Apps dashboard.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run log is the user's receipt</a:t>
            </a:r>
            <a:endParaRPr lang="en-US" sz="3200" dirty="0"/>
          </a:p>
        </p:txBody>
      </p:sp>
      <p:sp>
        <p:nvSpPr>
          <p:cNvPr id="5" name="Status card"/>
          <p:cNvSpPr/>
          <p:nvPr/>
        </p:nvSpPr>
        <p:spPr>
          <a:xfrm>
            <a:off x="548640" y="1783080"/>
            <a:ext cx="5394960" cy="3017520"/>
          </a:xfrm>
          <a:prstGeom prst="roundRect">
            <a:avLst>
              <a:gd name="adj" fmla="val 3636"/>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Status label"/>
          <p:cNvSpPr txBox="1"/>
          <p:nvPr/>
        </p:nvSpPr>
        <p:spPr>
          <a:xfrm>
            <a:off x="822960" y="1920240"/>
            <a:ext cx="27432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RUN STATUS</a:t>
            </a:r>
            <a:endParaRPr lang="en-US" sz="1000" dirty="0"/>
          </a:p>
        </p:txBody>
      </p:sp>
      <p:sp>
        <p:nvSpPr>
          <p:cNvPr id="7" name="Status run"/>
          <p:cNvSpPr txBox="1"/>
          <p:nvPr/>
        </p:nvSpPr>
        <p:spPr>
          <a:xfrm>
            <a:off x="822960" y="2194560"/>
            <a:ext cx="2926080" cy="41148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Run run-3</a:t>
            </a:r>
            <a:endParaRPr lang="en-US" sz="2200" dirty="0"/>
          </a:p>
        </p:txBody>
      </p:sp>
      <p:sp>
        <p:nvSpPr>
          <p:cNvPr id="8" name="Status pill"/>
          <p:cNvSpPr txBox="1"/>
          <p:nvPr/>
        </p:nvSpPr>
        <p:spPr>
          <a:xfrm>
            <a:off x="4389120" y="2258568"/>
            <a:ext cx="1280160" cy="310896"/>
          </a:xfrm>
          <a:prstGeom prst="roundRect">
            <a:avLst>
              <a:gd name="adj" fmla="val 44118"/>
            </a:avLst>
          </a:prstGeom>
          <a:solidFill>
            <a:schemeClr val="accent2"/>
          </a:solidFill>
          <a:ln/>
        </p:spPr>
        <p:txBody>
          <a:bodyPr wrap="square" lIns="0" tIns="0" rIns="0" bIns="0" rtlCol="0" anchor="ctr"/>
          <a:lstStyle/>
          <a:p>
            <a:pPr algn="ctr" indent="0" marL="0">
              <a:buNone/>
            </a:pPr>
            <a:r>
              <a:rPr lang="en-US" sz="1100" b="1" spc="200" kern="0" dirty="0">
                <a:solidFill>
                  <a:schemeClr val="bg1"/>
                </a:solidFill>
              </a:rPr>
              <a:t>PASSED</a:t>
            </a:r>
            <a:endParaRPr lang="en-US" sz="1100" dirty="0"/>
          </a:p>
        </p:txBody>
      </p:sp>
      <p:sp>
        <p:nvSpPr>
          <p:cNvPr id="9" name="Status key"/>
          <p:cNvSpPr txBox="1"/>
          <p:nvPr/>
        </p:nvSpPr>
        <p:spPr>
          <a:xfrm>
            <a:off x="822960" y="2788920"/>
            <a:ext cx="2011680" cy="329184"/>
          </a:xfrm>
          <a:prstGeom prst="rect">
            <a:avLst/>
          </a:prstGeom>
          <a:noFill/>
          <a:ln/>
        </p:spPr>
        <p:txBody>
          <a:bodyPr wrap="square" lIns="0" tIns="0" rIns="0" bIns="0" rtlCol="0" anchor="ctr"/>
          <a:lstStyle/>
          <a:p>
            <a:pPr indent="0" marL="0">
              <a:buNone/>
            </a:pPr>
            <a:r>
              <a:rPr lang="en-US" sz="1300" dirty="0">
                <a:solidFill>
                  <a:schemeClr val="tx1">
                    <a:alpha val="75000"/>
                  </a:schemeClr>
                </a:solidFill>
              </a:rPr>
              <a:t>Period</a:t>
            </a:r>
            <a:endParaRPr lang="en-US" sz="1300" dirty="0"/>
          </a:p>
        </p:txBody>
      </p:sp>
      <p:sp>
        <p:nvSpPr>
          <p:cNvPr id="10" name="Status value"/>
          <p:cNvSpPr txBox="1"/>
          <p:nvPr/>
        </p:nvSpPr>
        <p:spPr>
          <a:xfrm>
            <a:off x="2926080" y="2788920"/>
            <a:ext cx="2743200" cy="329184"/>
          </a:xfrm>
          <a:prstGeom prst="rect">
            <a:avLst/>
          </a:prstGeom>
          <a:noFill/>
          <a:ln/>
        </p:spPr>
        <p:txBody>
          <a:bodyPr wrap="square" lIns="0" tIns="0" rIns="0" bIns="0" rtlCol="0" anchor="ctr"/>
          <a:lstStyle/>
          <a:p>
            <a:pPr indent="0" marL="0">
              <a:buNone/>
            </a:pPr>
            <a:r>
              <a:rPr lang="en-US" sz="1350" b="1" dirty="0">
                <a:solidFill>
                  <a:schemeClr val="tx1"/>
                </a:solidFill>
              </a:rPr>
              <a:t>2025-01</a:t>
            </a:r>
            <a:endParaRPr lang="en-US" sz="1350" dirty="0"/>
          </a:p>
        </p:txBody>
      </p:sp>
      <p:sp>
        <p:nvSpPr>
          <p:cNvPr id="11" name="Status key"/>
          <p:cNvSpPr txBox="1"/>
          <p:nvPr/>
        </p:nvSpPr>
        <p:spPr>
          <a:xfrm>
            <a:off x="822960" y="3154680"/>
            <a:ext cx="2011680" cy="329184"/>
          </a:xfrm>
          <a:prstGeom prst="rect">
            <a:avLst/>
          </a:prstGeom>
          <a:noFill/>
          <a:ln/>
        </p:spPr>
        <p:txBody>
          <a:bodyPr wrap="square" lIns="0" tIns="0" rIns="0" bIns="0" rtlCol="0" anchor="ctr"/>
          <a:lstStyle/>
          <a:p>
            <a:pPr indent="0" marL="0">
              <a:buNone/>
            </a:pPr>
            <a:r>
              <a:rPr lang="en-US" sz="1300" dirty="0">
                <a:solidFill>
                  <a:schemeClr val="tx1">
                    <a:alpha val="75000"/>
                  </a:schemeClr>
                </a:solidFill>
              </a:rPr>
              <a:t>Denominator</a:t>
            </a:r>
            <a:endParaRPr lang="en-US" sz="1300" dirty="0"/>
          </a:p>
        </p:txBody>
      </p:sp>
      <p:sp>
        <p:nvSpPr>
          <p:cNvPr id="12" name="Status value"/>
          <p:cNvSpPr txBox="1"/>
          <p:nvPr/>
        </p:nvSpPr>
        <p:spPr>
          <a:xfrm>
            <a:off x="2926080" y="3154680"/>
            <a:ext cx="2743200" cy="329184"/>
          </a:xfrm>
          <a:prstGeom prst="rect">
            <a:avLst/>
          </a:prstGeom>
          <a:noFill/>
          <a:ln/>
        </p:spPr>
        <p:txBody>
          <a:bodyPr wrap="square" lIns="0" tIns="0" rIns="0" bIns="0" rtlCol="0" anchor="ctr"/>
          <a:lstStyle/>
          <a:p>
            <a:pPr indent="0" marL="0">
              <a:buNone/>
            </a:pPr>
            <a:r>
              <a:rPr lang="en-US" sz="1350" b="1" dirty="0">
                <a:solidFill>
                  <a:schemeClr val="tx1"/>
                </a:solidFill>
              </a:rPr>
              <a:t>with_na</a:t>
            </a:r>
            <a:endParaRPr lang="en-US" sz="1350" dirty="0"/>
          </a:p>
        </p:txBody>
      </p:sp>
      <p:sp>
        <p:nvSpPr>
          <p:cNvPr id="13" name="Status key"/>
          <p:cNvSpPr txBox="1"/>
          <p:nvPr/>
        </p:nvSpPr>
        <p:spPr>
          <a:xfrm>
            <a:off x="822960" y="3520440"/>
            <a:ext cx="2011680" cy="329184"/>
          </a:xfrm>
          <a:prstGeom prst="rect">
            <a:avLst/>
          </a:prstGeom>
          <a:noFill/>
          <a:ln/>
        </p:spPr>
        <p:txBody>
          <a:bodyPr wrap="square" lIns="0" tIns="0" rIns="0" bIns="0" rtlCol="0" anchor="ctr"/>
          <a:lstStyle/>
          <a:p>
            <a:pPr indent="0" marL="0">
              <a:buNone/>
            </a:pPr>
            <a:r>
              <a:rPr lang="en-US" sz="1300" dirty="0">
                <a:solidFill>
                  <a:schemeClr val="tx1">
                    <a:alpha val="75000"/>
                  </a:schemeClr>
                </a:solidFill>
              </a:rPr>
              <a:t>Apportioned</a:t>
            </a:r>
            <a:endParaRPr lang="en-US" sz="1300" dirty="0"/>
          </a:p>
        </p:txBody>
      </p:sp>
      <p:sp>
        <p:nvSpPr>
          <p:cNvPr id="14" name="Status value"/>
          <p:cNvSpPr txBox="1"/>
          <p:nvPr/>
        </p:nvSpPr>
        <p:spPr>
          <a:xfrm>
            <a:off x="2926080" y="3520440"/>
            <a:ext cx="2743200" cy="329184"/>
          </a:xfrm>
          <a:prstGeom prst="rect">
            <a:avLst/>
          </a:prstGeom>
          <a:noFill/>
          <a:ln/>
        </p:spPr>
        <p:txBody>
          <a:bodyPr wrap="square" lIns="0" tIns="0" rIns="0" bIns="0" rtlCol="0" anchor="ctr"/>
          <a:lstStyle/>
          <a:p>
            <a:pPr indent="0" marL="0">
              <a:buNone/>
            </a:pPr>
            <a:r>
              <a:rPr lang="en-US" sz="1350" b="1" dirty="0">
                <a:solidFill>
                  <a:schemeClr val="tx1"/>
                </a:solidFill>
              </a:rPr>
              <a:t>30,000.00</a:t>
            </a:r>
            <a:endParaRPr lang="en-US" sz="1350" dirty="0"/>
          </a:p>
        </p:txBody>
      </p:sp>
      <p:sp>
        <p:nvSpPr>
          <p:cNvPr id="15" name="Status key"/>
          <p:cNvSpPr txBox="1"/>
          <p:nvPr/>
        </p:nvSpPr>
        <p:spPr>
          <a:xfrm>
            <a:off x="822960" y="3886200"/>
            <a:ext cx="2011680" cy="329184"/>
          </a:xfrm>
          <a:prstGeom prst="rect">
            <a:avLst/>
          </a:prstGeom>
          <a:noFill/>
          <a:ln/>
        </p:spPr>
        <p:txBody>
          <a:bodyPr wrap="square" lIns="0" tIns="0" rIns="0" bIns="0" rtlCol="0" anchor="ctr"/>
          <a:lstStyle/>
          <a:p>
            <a:pPr indent="0" marL="0">
              <a:buNone/>
            </a:pPr>
            <a:r>
              <a:rPr lang="en-US" sz="1300" dirty="0">
                <a:solidFill>
                  <a:schemeClr val="tx1">
                    <a:alpha val="75000"/>
                  </a:schemeClr>
                </a:solidFill>
              </a:rPr>
              <a:t>Revenue</a:t>
            </a:r>
            <a:endParaRPr lang="en-US" sz="1300" dirty="0"/>
          </a:p>
        </p:txBody>
      </p:sp>
      <p:sp>
        <p:nvSpPr>
          <p:cNvPr id="16" name="Status value"/>
          <p:cNvSpPr txBox="1"/>
          <p:nvPr/>
        </p:nvSpPr>
        <p:spPr>
          <a:xfrm>
            <a:off x="2926080" y="3886200"/>
            <a:ext cx="2743200" cy="329184"/>
          </a:xfrm>
          <a:prstGeom prst="rect">
            <a:avLst/>
          </a:prstGeom>
          <a:noFill/>
          <a:ln/>
        </p:spPr>
        <p:txBody>
          <a:bodyPr wrap="square" lIns="0" tIns="0" rIns="0" bIns="0" rtlCol="0" anchor="ctr"/>
          <a:lstStyle/>
          <a:p>
            <a:pPr indent="0" marL="0">
              <a:buNone/>
            </a:pPr>
            <a:r>
              <a:rPr lang="en-US" sz="1350" b="1" dirty="0">
                <a:solidFill>
                  <a:schemeClr val="tx1"/>
                </a:solidFill>
              </a:rPr>
              <a:t>30,000.00</a:t>
            </a:r>
            <a:endParaRPr lang="en-US" sz="1350" dirty="0"/>
          </a:p>
        </p:txBody>
      </p:sp>
      <p:sp>
        <p:nvSpPr>
          <p:cNvPr id="17" name="Status key"/>
          <p:cNvSpPr txBox="1"/>
          <p:nvPr/>
        </p:nvSpPr>
        <p:spPr>
          <a:xfrm>
            <a:off x="822960" y="4251960"/>
            <a:ext cx="2011680" cy="329184"/>
          </a:xfrm>
          <a:prstGeom prst="rect">
            <a:avLst/>
          </a:prstGeom>
          <a:noFill/>
          <a:ln/>
        </p:spPr>
        <p:txBody>
          <a:bodyPr wrap="square" lIns="0" tIns="0" rIns="0" bIns="0" rtlCol="0" anchor="ctr"/>
          <a:lstStyle/>
          <a:p>
            <a:pPr indent="0" marL="0">
              <a:buNone/>
            </a:pPr>
            <a:r>
              <a:rPr lang="en-US" sz="1300" dirty="0">
                <a:solidFill>
                  <a:schemeClr val="tx1">
                    <a:alpha val="75000"/>
                  </a:schemeClr>
                </a:solidFill>
              </a:rPr>
              <a:t>Unmapped rows</a:t>
            </a:r>
            <a:endParaRPr lang="en-US" sz="1300" dirty="0"/>
          </a:p>
        </p:txBody>
      </p:sp>
      <p:sp>
        <p:nvSpPr>
          <p:cNvPr id="18" name="Status value"/>
          <p:cNvSpPr txBox="1"/>
          <p:nvPr/>
        </p:nvSpPr>
        <p:spPr>
          <a:xfrm>
            <a:off x="2926080" y="4251960"/>
            <a:ext cx="2743200" cy="329184"/>
          </a:xfrm>
          <a:prstGeom prst="rect">
            <a:avLst/>
          </a:prstGeom>
          <a:noFill/>
          <a:ln/>
        </p:spPr>
        <p:txBody>
          <a:bodyPr wrap="square" lIns="0" tIns="0" rIns="0" bIns="0" rtlCol="0" anchor="ctr"/>
          <a:lstStyle/>
          <a:p>
            <a:pPr indent="0" marL="0">
              <a:buNone/>
            </a:pPr>
            <a:r>
              <a:rPr lang="en-US" sz="1350" b="1" dirty="0">
                <a:solidFill>
                  <a:schemeClr val="tx1"/>
                </a:solidFill>
              </a:rPr>
              <a:t>1</a:t>
            </a:r>
            <a:endParaRPr lang="en-US" sz="1350" dirty="0"/>
          </a:p>
        </p:txBody>
      </p:sp>
      <p:sp>
        <p:nvSpPr>
          <p:cNvPr id="19" name="Run log query"/>
          <p:cNvSpPr/>
          <p:nvPr/>
        </p:nvSpPr>
        <p:spPr>
          <a:xfrm>
            <a:off x="548640" y="4937760"/>
            <a:ext cx="5394960" cy="868680"/>
          </a:xfrm>
          <a:prstGeom prst="roundRect">
            <a:avLst>
              <a:gd name="adj" fmla="val 10526"/>
            </a:avLst>
          </a:prstGeom>
          <a:solidFill>
            <a:schemeClr val="tx1"/>
          </a:solidFill>
          <a:ln/>
        </p:spPr>
      </p:sp>
      <p:sp>
        <p:nvSpPr>
          <p:cNvPr id="20" name="Code label"/>
          <p:cNvSpPr txBox="1"/>
          <p:nvPr/>
        </p:nvSpPr>
        <p:spPr>
          <a:xfrm>
            <a:off x="749808" y="5029200"/>
            <a:ext cx="49926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WHERE IT COMES FROM</a:t>
            </a:r>
            <a:endParaRPr lang="en-US" sz="1000" dirty="0"/>
          </a:p>
        </p:txBody>
      </p:sp>
      <p:sp>
        <p:nvSpPr>
          <p:cNvPr id="21" name="Run log query text"/>
          <p:cNvSpPr txBox="1"/>
          <p:nvPr/>
        </p:nvSpPr>
        <p:spPr>
          <a:xfrm>
            <a:off x="749808" y="5321808"/>
            <a:ext cx="4992624" cy="374904"/>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SELECT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FROM</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gold_dst_run_log</a:t>
            </a:r>
            <a:endParaRPr lang="en-US" sz="1200" dirty="0"/>
          </a:p>
          <a:p>
            <a:pPr indent="0" marL="0">
              <a:buNone/>
            </a:pPr>
            <a:r>
              <a:rPr lang="en-US" sz="1200" dirty="0">
                <a:solidFill>
                  <a:schemeClr val="accent2"/>
                </a:solidFill>
                <a:latin typeface="Courier New" pitchFamily="34" charset="0"/>
                <a:ea typeface="Courier New" pitchFamily="34" charset="-122"/>
                <a:cs typeface="Courier New" pitchFamily="34" charset="-120"/>
              </a:rPr>
              <a:t>ORDER</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BY</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bg1"/>
                </a:solidFill>
                <a:latin typeface="Courier New" pitchFamily="34" charset="0"/>
                <a:ea typeface="Courier New" pitchFamily="34" charset="-122"/>
                <a:cs typeface="Courier New" pitchFamily="34" charset="-120"/>
              </a:rPr>
              <a:t>finished_at</a:t>
            </a:r>
            <a:pPr indent="0" marL="0">
              <a:buNone/>
            </a:pPr>
            <a:r>
              <a:rPr lang="en-US" sz="1200" dirty="0">
                <a:solidFill>
                  <a:schemeClr val="bg1"/>
                </a:solidFill>
                <a:latin typeface="Courier New" pitchFamily="34" charset="0"/>
                <a:ea typeface="Courier New" pitchFamily="34" charset="-122"/>
                <a:cs typeface="Courier New" pitchFamily="34" charset="-120"/>
              </a:rPr>
              <a:t> </a:t>
            </a:r>
            <a:pPr indent="0" marL="0">
              <a:buNone/>
            </a:pPr>
            <a:r>
              <a:rPr lang="en-US" sz="1200" dirty="0">
                <a:solidFill>
                  <a:schemeClr val="accent2"/>
                </a:solidFill>
                <a:latin typeface="Courier New" pitchFamily="34" charset="0"/>
                <a:ea typeface="Courier New" pitchFamily="34" charset="-122"/>
                <a:cs typeface="Courier New" pitchFamily="34" charset="-120"/>
              </a:rPr>
              <a:t>DESC</a:t>
            </a:r>
            <a:endParaRPr lang="en-US" sz="1200" dirty="0"/>
          </a:p>
        </p:txBody>
      </p:sp>
      <p:sp>
        <p:nvSpPr>
          <p:cNvPr id="22" name="What did I ask for? card"/>
          <p:cNvSpPr/>
          <p:nvPr/>
        </p:nvSpPr>
        <p:spPr>
          <a:xfrm>
            <a:off x="6217920" y="1783080"/>
            <a:ext cx="5422392" cy="1261872"/>
          </a:xfrm>
          <a:prstGeom prst="roundRect">
            <a:avLst>
              <a:gd name="adj" fmla="val 8696"/>
            </a:avLst>
          </a:prstGeom>
          <a:solidFill>
            <a:schemeClr val="bg2"/>
          </a:solidFill>
          <a:ln/>
        </p:spPr>
      </p:sp>
      <p:sp>
        <p:nvSpPr>
          <p:cNvPr id="23" name="Question chip 1"/>
          <p:cNvSpPr/>
          <p:nvPr/>
        </p:nvSpPr>
        <p:spPr>
          <a:xfrm>
            <a:off x="6400800" y="1984248"/>
            <a:ext cx="420624" cy="420624"/>
          </a:xfrm>
          <a:prstGeom prst="roundRect">
            <a:avLst>
              <a:gd name="adj" fmla="val 17391"/>
            </a:avLst>
          </a:prstGeom>
          <a:solidFill>
            <a:schemeClr val="accent2"/>
          </a:solidFill>
          <a:ln/>
        </p:spPr>
      </p:sp>
      <p:sp>
        <p:nvSpPr>
          <p:cNvPr id="24" name="Question number"/>
          <p:cNvSpPr txBox="1"/>
          <p:nvPr/>
        </p:nvSpPr>
        <p:spPr>
          <a:xfrm>
            <a:off x="6400800" y="19842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25" name="Question title"/>
          <p:cNvSpPr txBox="1"/>
          <p:nvPr/>
        </p:nvSpPr>
        <p:spPr>
          <a:xfrm>
            <a:off x="6995160" y="1920240"/>
            <a:ext cx="4480560" cy="36576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What did I ask for?</a:t>
            </a:r>
            <a:endParaRPr lang="en-US" sz="1600" dirty="0"/>
          </a:p>
        </p:txBody>
      </p:sp>
      <p:sp>
        <p:nvSpPr>
          <p:cNvPr id="26" name="Question text"/>
          <p:cNvSpPr txBox="1"/>
          <p:nvPr/>
        </p:nvSpPr>
        <p:spPr>
          <a:xfrm>
            <a:off x="6995160" y="2331720"/>
            <a:ext cx="4480560" cy="640080"/>
          </a:xfrm>
          <a:prstGeom prst="rect">
            <a:avLst/>
          </a:prstGeom>
          <a:noFill/>
          <a:ln/>
        </p:spPr>
        <p:txBody>
          <a:bodyPr wrap="square" lIns="0" tIns="0" rIns="0" bIns="0" rtlCol="0" anchor="t"/>
          <a:lstStyle/>
          <a:p>
            <a:pPr indent="0" marL="0">
              <a:buNone/>
            </a:pPr>
            <a:r>
              <a:rPr lang="en-US" sz="1300" dirty="0">
                <a:solidFill>
                  <a:schemeClr val="tx1"/>
                </a:solidFill>
              </a:rPr>
              <a:t>The run ID, the period and the denominator.</a:t>
            </a:r>
            <a:endParaRPr lang="en-US" sz="1300" dirty="0"/>
          </a:p>
        </p:txBody>
      </p:sp>
      <p:sp>
        <p:nvSpPr>
          <p:cNvPr id="27" name="Did it work? card"/>
          <p:cNvSpPr/>
          <p:nvPr/>
        </p:nvSpPr>
        <p:spPr>
          <a:xfrm>
            <a:off x="6217920" y="3154680"/>
            <a:ext cx="5422392" cy="1261872"/>
          </a:xfrm>
          <a:prstGeom prst="roundRect">
            <a:avLst>
              <a:gd name="adj" fmla="val 8696"/>
            </a:avLst>
          </a:prstGeom>
          <a:solidFill>
            <a:schemeClr val="bg2"/>
          </a:solidFill>
          <a:ln/>
        </p:spPr>
      </p:sp>
      <p:sp>
        <p:nvSpPr>
          <p:cNvPr id="28" name="Question chip 2"/>
          <p:cNvSpPr/>
          <p:nvPr/>
        </p:nvSpPr>
        <p:spPr>
          <a:xfrm>
            <a:off x="6400800" y="3355848"/>
            <a:ext cx="420624" cy="420624"/>
          </a:xfrm>
          <a:prstGeom prst="roundRect">
            <a:avLst>
              <a:gd name="adj" fmla="val 17391"/>
            </a:avLst>
          </a:prstGeom>
          <a:solidFill>
            <a:schemeClr val="accent2"/>
          </a:solidFill>
          <a:ln/>
        </p:spPr>
      </p:sp>
      <p:sp>
        <p:nvSpPr>
          <p:cNvPr id="29" name="Question number"/>
          <p:cNvSpPr txBox="1"/>
          <p:nvPr/>
        </p:nvSpPr>
        <p:spPr>
          <a:xfrm>
            <a:off x="6400800" y="33558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30" name="Question title"/>
          <p:cNvSpPr txBox="1"/>
          <p:nvPr/>
        </p:nvSpPr>
        <p:spPr>
          <a:xfrm>
            <a:off x="6995160" y="3291840"/>
            <a:ext cx="4480560" cy="36576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Did it work?</a:t>
            </a:r>
            <a:endParaRPr lang="en-US" sz="1600" dirty="0"/>
          </a:p>
        </p:txBody>
      </p:sp>
      <p:sp>
        <p:nvSpPr>
          <p:cNvPr id="31" name="Question text"/>
          <p:cNvSpPr txBox="1"/>
          <p:nvPr/>
        </p:nvSpPr>
        <p:spPr>
          <a:xfrm>
            <a:off x="6995160" y="3703320"/>
            <a:ext cx="4480560" cy="640080"/>
          </a:xfrm>
          <a:prstGeom prst="rect">
            <a:avLst/>
          </a:prstGeom>
          <a:noFill/>
          <a:ln/>
        </p:spPr>
        <p:txBody>
          <a:bodyPr wrap="square" lIns="0" tIns="0" rIns="0" bIns="0" rtlCol="0" anchor="t"/>
          <a:lstStyle/>
          <a:p>
            <a:pPr indent="0" marL="0">
              <a:buNone/>
            </a:pPr>
            <a:r>
              <a:rPr lang="en-US" sz="1300" dirty="0">
                <a:solidFill>
                  <a:schemeClr val="tx1"/>
                </a:solidFill>
              </a:rPr>
              <a:t>The status: passed or failed. A failed run says so.</a:t>
            </a:r>
            <a:endParaRPr lang="en-US" sz="1300" dirty="0"/>
          </a:p>
        </p:txBody>
      </p:sp>
      <p:sp>
        <p:nvSpPr>
          <p:cNvPr id="32" name="Can I trust it? card"/>
          <p:cNvSpPr/>
          <p:nvPr/>
        </p:nvSpPr>
        <p:spPr>
          <a:xfrm>
            <a:off x="6217920" y="4526280"/>
            <a:ext cx="5422392" cy="1261872"/>
          </a:xfrm>
          <a:prstGeom prst="roundRect">
            <a:avLst>
              <a:gd name="adj" fmla="val 8696"/>
            </a:avLst>
          </a:prstGeom>
          <a:solidFill>
            <a:schemeClr val="bg2"/>
          </a:solidFill>
          <a:ln/>
        </p:spPr>
      </p:sp>
      <p:sp>
        <p:nvSpPr>
          <p:cNvPr id="33" name="Question chip 3"/>
          <p:cNvSpPr/>
          <p:nvPr/>
        </p:nvSpPr>
        <p:spPr>
          <a:xfrm>
            <a:off x="6400800" y="4727448"/>
            <a:ext cx="420624" cy="420624"/>
          </a:xfrm>
          <a:prstGeom prst="roundRect">
            <a:avLst>
              <a:gd name="adj" fmla="val 17391"/>
            </a:avLst>
          </a:prstGeom>
          <a:solidFill>
            <a:schemeClr val="accent2"/>
          </a:solidFill>
          <a:ln/>
        </p:spPr>
      </p:sp>
      <p:sp>
        <p:nvSpPr>
          <p:cNvPr id="34" name="Question number"/>
          <p:cNvSpPr txBox="1"/>
          <p:nvPr/>
        </p:nvSpPr>
        <p:spPr>
          <a:xfrm>
            <a:off x="6400800" y="472744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35" name="Question title"/>
          <p:cNvSpPr txBox="1"/>
          <p:nvPr/>
        </p:nvSpPr>
        <p:spPr>
          <a:xfrm>
            <a:off x="6995160" y="4663440"/>
            <a:ext cx="4480560" cy="365760"/>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Can I trust it?</a:t>
            </a:r>
            <a:endParaRPr lang="en-US" sz="1600" dirty="0"/>
          </a:p>
        </p:txBody>
      </p:sp>
      <p:sp>
        <p:nvSpPr>
          <p:cNvPr id="36" name="Question text"/>
          <p:cNvSpPr txBox="1"/>
          <p:nvPr/>
        </p:nvSpPr>
        <p:spPr>
          <a:xfrm>
            <a:off x="6995160" y="5074920"/>
            <a:ext cx="4480560" cy="640080"/>
          </a:xfrm>
          <a:prstGeom prst="rect">
            <a:avLst/>
          </a:prstGeom>
          <a:noFill/>
          <a:ln/>
        </p:spPr>
        <p:txBody>
          <a:bodyPr wrap="square" lIns="0" tIns="0" rIns="0" bIns="0" rtlCol="0" anchor="t"/>
          <a:lstStyle/>
          <a:p>
            <a:pPr indent="0" marL="0">
              <a:buNone/>
            </a:pPr>
            <a:r>
              <a:rPr lang="en-US" sz="1300" dirty="0">
                <a:solidFill>
                  <a:schemeClr val="tx1"/>
                </a:solidFill>
              </a:rPr>
              <a:t>Apportioned against revenue, and how many rows were unmapped.</a:t>
            </a:r>
            <a:endParaRPr lang="en-US" sz="1300" dirty="0"/>
          </a:p>
        </p:txBody>
      </p:sp>
      <p:sp>
        <p:nvSpPr>
          <p:cNvPr id="37"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Mock-up from the lab's run log columns. Add a requested_by column when a form starts the run.</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Guardrails keep a friendly button safe</a:t>
            </a:r>
            <a:endParaRPr lang="en-US" sz="3200" dirty="0"/>
          </a:p>
        </p:txBody>
      </p:sp>
      <p:sp>
        <p:nvSpPr>
          <p:cNvPr id="5" name="Safe to press twice card"/>
          <p:cNvSpPr/>
          <p:nvPr/>
        </p:nvSpPr>
        <p:spPr>
          <a:xfrm>
            <a:off x="548640" y="1783080"/>
            <a:ext cx="3593592" cy="1874520"/>
          </a:xfrm>
          <a:prstGeom prst="roundRect">
            <a:avLst>
              <a:gd name="adj" fmla="val 5854"/>
            </a:avLst>
          </a:prstGeom>
          <a:solidFill>
            <a:schemeClr val="bg2"/>
          </a:solidFill>
          <a:ln/>
        </p:spPr>
      </p:sp>
      <p:sp>
        <p:nvSpPr>
          <p:cNvPr id="6" name="Safe to press twice badge"/>
          <p:cNvSpPr/>
          <p:nvPr/>
        </p:nvSpPr>
        <p:spPr>
          <a:xfrm>
            <a:off x="749808" y="1965960"/>
            <a:ext cx="502920" cy="502920"/>
          </a:xfrm>
          <a:prstGeom prst="ellipse">
            <a:avLst/>
          </a:prstGeom>
          <a:solidFill>
            <a:schemeClr val="accent1"/>
          </a:solidFill>
          <a:ln/>
        </p:spPr>
      </p:sp>
      <p:pic>
        <p:nvPicPr>
          <p:cNvPr id="7" name="Image 0" descr="Safe to press twice icon">    </p:cNvPr>
          <p:cNvPicPr>
            <a:picLocks noChangeAspect="1"/>
          </p:cNvPicPr>
          <p:nvPr/>
        </p:nvPicPr>
        <p:blipFill>
          <a:blip r:embed="rId1"/>
          <a:stretch>
            <a:fillRect/>
          </a:stretch>
        </p:blipFill>
        <p:spPr>
          <a:xfrm>
            <a:off x="875538" y="2091690"/>
            <a:ext cx="251460" cy="251460"/>
          </a:xfrm>
          <a:prstGeom prst="rect">
            <a:avLst/>
          </a:prstGeom>
        </p:spPr>
      </p:pic>
      <p:sp>
        <p:nvSpPr>
          <p:cNvPr id="8" name="Guardrail title"/>
          <p:cNvSpPr txBox="1"/>
          <p:nvPr/>
        </p:nvSpPr>
        <p:spPr>
          <a:xfrm>
            <a:off x="1371600" y="1965960"/>
            <a:ext cx="26517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Safe to press twice</a:t>
            </a:r>
            <a:endParaRPr lang="en-US" sz="1500" dirty="0"/>
          </a:p>
        </p:txBody>
      </p:sp>
      <p:sp>
        <p:nvSpPr>
          <p:cNvPr id="9" name="Guardrail text"/>
          <p:cNvSpPr txBox="1"/>
          <p:nvPr/>
        </p:nvSpPr>
        <p:spPr>
          <a:xfrm>
            <a:off x="777240" y="2606040"/>
            <a:ext cx="3154680" cy="1005840"/>
          </a:xfrm>
          <a:prstGeom prst="rect">
            <a:avLst/>
          </a:prstGeom>
          <a:noFill/>
          <a:ln/>
        </p:spPr>
        <p:txBody>
          <a:bodyPr wrap="square" lIns="0" tIns="0" rIns="0" bIns="0" rtlCol="0" anchor="t"/>
          <a:lstStyle/>
          <a:p>
            <a:pPr indent="0" marL="0">
              <a:buNone/>
            </a:pPr>
            <a:r>
              <a:rPr lang="en-US" sz="1300" dirty="0">
                <a:solidFill>
                  <a:schemeClr val="tx1"/>
                </a:solidFill>
              </a:rPr>
              <a:t>The slice write replaces its own slice. A second press gives the same table.</a:t>
            </a:r>
            <a:endParaRPr lang="en-US" sz="1300" dirty="0"/>
          </a:p>
        </p:txBody>
      </p:sp>
      <p:sp>
        <p:nvSpPr>
          <p:cNvPr id="10" name="One at a time per slice card"/>
          <p:cNvSpPr/>
          <p:nvPr/>
        </p:nvSpPr>
        <p:spPr>
          <a:xfrm>
            <a:off x="4297680" y="1783080"/>
            <a:ext cx="3593592" cy="1874520"/>
          </a:xfrm>
          <a:prstGeom prst="roundRect">
            <a:avLst>
              <a:gd name="adj" fmla="val 5854"/>
            </a:avLst>
          </a:prstGeom>
          <a:solidFill>
            <a:schemeClr val="bg2"/>
          </a:solidFill>
          <a:ln/>
        </p:spPr>
      </p:sp>
      <p:sp>
        <p:nvSpPr>
          <p:cNvPr id="11" name="One at a time per slice badge"/>
          <p:cNvSpPr/>
          <p:nvPr/>
        </p:nvSpPr>
        <p:spPr>
          <a:xfrm>
            <a:off x="4498848" y="1965960"/>
            <a:ext cx="502920" cy="502920"/>
          </a:xfrm>
          <a:prstGeom prst="ellipse">
            <a:avLst/>
          </a:prstGeom>
          <a:solidFill>
            <a:schemeClr val="accent2"/>
          </a:solidFill>
          <a:ln/>
        </p:spPr>
      </p:sp>
      <p:pic>
        <p:nvPicPr>
          <p:cNvPr id="12" name="Image 1" descr="One at a time per slice icon">    </p:cNvPr>
          <p:cNvPicPr>
            <a:picLocks noChangeAspect="1"/>
          </p:cNvPicPr>
          <p:nvPr/>
        </p:nvPicPr>
        <p:blipFill>
          <a:blip r:embed="rId2"/>
          <a:stretch>
            <a:fillRect/>
          </a:stretch>
        </p:blipFill>
        <p:spPr>
          <a:xfrm>
            <a:off x="4624578" y="2091690"/>
            <a:ext cx="251460" cy="251460"/>
          </a:xfrm>
          <a:prstGeom prst="rect">
            <a:avLst/>
          </a:prstGeom>
        </p:spPr>
      </p:pic>
      <p:sp>
        <p:nvSpPr>
          <p:cNvPr id="13" name="Guardrail title"/>
          <p:cNvSpPr txBox="1"/>
          <p:nvPr/>
        </p:nvSpPr>
        <p:spPr>
          <a:xfrm>
            <a:off x="5120640" y="1965960"/>
            <a:ext cx="26517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One at a time per slice</a:t>
            </a:r>
            <a:endParaRPr lang="en-US" sz="1500" dirty="0"/>
          </a:p>
        </p:txBody>
      </p:sp>
      <p:sp>
        <p:nvSpPr>
          <p:cNvPr id="14" name="Guardrail text"/>
          <p:cNvSpPr txBox="1"/>
          <p:nvPr/>
        </p:nvSpPr>
        <p:spPr>
          <a:xfrm>
            <a:off x="4526280" y="2606040"/>
            <a:ext cx="3154680" cy="1005840"/>
          </a:xfrm>
          <a:prstGeom prst="rect">
            <a:avLst/>
          </a:prstGeom>
          <a:noFill/>
          <a:ln/>
        </p:spPr>
        <p:txBody>
          <a:bodyPr wrap="square" lIns="0" tIns="0" rIns="0" bIns="0" rtlCol="0" anchor="t"/>
          <a:lstStyle/>
          <a:p>
            <a:pPr indent="0" marL="0">
              <a:buNone/>
            </a:pPr>
            <a:r>
              <a:rPr lang="en-US" sz="1300" dirty="0">
                <a:solidFill>
                  <a:schemeClr val="tx1"/>
                </a:solidFill>
              </a:rPr>
              <a:t>Two runs for the same slice can collide. Check for a run in progress first.</a:t>
            </a:r>
            <a:endParaRPr lang="en-US" sz="1300" dirty="0"/>
          </a:p>
        </p:txBody>
      </p:sp>
      <p:sp>
        <p:nvSpPr>
          <p:cNvPr id="15" name="Leave a trail card"/>
          <p:cNvSpPr/>
          <p:nvPr/>
        </p:nvSpPr>
        <p:spPr>
          <a:xfrm>
            <a:off x="8046720" y="1783080"/>
            <a:ext cx="3593592" cy="1874520"/>
          </a:xfrm>
          <a:prstGeom prst="roundRect">
            <a:avLst>
              <a:gd name="adj" fmla="val 5854"/>
            </a:avLst>
          </a:prstGeom>
          <a:solidFill>
            <a:schemeClr val="bg2"/>
          </a:solidFill>
          <a:ln/>
        </p:spPr>
      </p:sp>
      <p:sp>
        <p:nvSpPr>
          <p:cNvPr id="16" name="Leave a trail badge"/>
          <p:cNvSpPr/>
          <p:nvPr/>
        </p:nvSpPr>
        <p:spPr>
          <a:xfrm>
            <a:off x="8247888" y="1965960"/>
            <a:ext cx="502920" cy="502920"/>
          </a:xfrm>
          <a:prstGeom prst="ellipse">
            <a:avLst/>
          </a:prstGeom>
          <a:solidFill>
            <a:schemeClr val="tx2"/>
          </a:solidFill>
          <a:ln/>
        </p:spPr>
      </p:sp>
      <p:pic>
        <p:nvPicPr>
          <p:cNvPr id="17" name="Image 2" descr="Leave a trail icon">    </p:cNvPr>
          <p:cNvPicPr>
            <a:picLocks noChangeAspect="1"/>
          </p:cNvPicPr>
          <p:nvPr/>
        </p:nvPicPr>
        <p:blipFill>
          <a:blip r:embed="rId3"/>
          <a:stretch>
            <a:fillRect/>
          </a:stretch>
        </p:blipFill>
        <p:spPr>
          <a:xfrm>
            <a:off x="8373618" y="2091690"/>
            <a:ext cx="251460" cy="251460"/>
          </a:xfrm>
          <a:prstGeom prst="rect">
            <a:avLst/>
          </a:prstGeom>
        </p:spPr>
      </p:pic>
      <p:sp>
        <p:nvSpPr>
          <p:cNvPr id="18" name="Guardrail title"/>
          <p:cNvSpPr txBox="1"/>
          <p:nvPr/>
        </p:nvSpPr>
        <p:spPr>
          <a:xfrm>
            <a:off x="8869680" y="1965960"/>
            <a:ext cx="26517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Leave a trail</a:t>
            </a:r>
            <a:endParaRPr lang="en-US" sz="1500" dirty="0"/>
          </a:p>
        </p:txBody>
      </p:sp>
      <p:sp>
        <p:nvSpPr>
          <p:cNvPr id="19" name="Guardrail text"/>
          <p:cNvSpPr txBox="1"/>
          <p:nvPr/>
        </p:nvSpPr>
        <p:spPr>
          <a:xfrm>
            <a:off x="8275320" y="2606040"/>
            <a:ext cx="3154680" cy="1005840"/>
          </a:xfrm>
          <a:prstGeom prst="rect">
            <a:avLst/>
          </a:prstGeom>
          <a:noFill/>
          <a:ln/>
        </p:spPr>
        <p:txBody>
          <a:bodyPr wrap="square" lIns="0" tIns="0" rIns="0" bIns="0" rtlCol="0" anchor="t"/>
          <a:lstStyle/>
          <a:p>
            <a:pPr indent="0" marL="0">
              <a:buNone/>
            </a:pPr>
            <a:r>
              <a:rPr lang="en-US" sz="1300" dirty="0">
                <a:solidFill>
                  <a:schemeClr val="tx1"/>
                </a:solidFill>
              </a:rPr>
              <a:t>Run ID and parameters are in the log. Capture who asked too.</a:t>
            </a:r>
            <a:endParaRPr lang="en-US" sz="1300" dirty="0"/>
          </a:p>
        </p:txBody>
      </p:sp>
      <p:sp>
        <p:nvSpPr>
          <p:cNvPr id="20" name="Right people only card"/>
          <p:cNvSpPr/>
          <p:nvPr/>
        </p:nvSpPr>
        <p:spPr>
          <a:xfrm>
            <a:off x="548640" y="3794760"/>
            <a:ext cx="3593592" cy="1874520"/>
          </a:xfrm>
          <a:prstGeom prst="roundRect">
            <a:avLst>
              <a:gd name="adj" fmla="val 5854"/>
            </a:avLst>
          </a:prstGeom>
          <a:solidFill>
            <a:schemeClr val="bg2"/>
          </a:solidFill>
          <a:ln/>
        </p:spPr>
      </p:sp>
      <p:sp>
        <p:nvSpPr>
          <p:cNvPr id="21" name="Right people only badge"/>
          <p:cNvSpPr/>
          <p:nvPr/>
        </p:nvSpPr>
        <p:spPr>
          <a:xfrm>
            <a:off x="749808" y="3977640"/>
            <a:ext cx="502920" cy="502920"/>
          </a:xfrm>
          <a:prstGeom prst="ellipse">
            <a:avLst/>
          </a:prstGeom>
          <a:solidFill>
            <a:schemeClr val="accent3"/>
          </a:solidFill>
          <a:ln/>
        </p:spPr>
      </p:sp>
      <p:pic>
        <p:nvPicPr>
          <p:cNvPr id="22" name="Image 3" descr="Right people only icon">    </p:cNvPr>
          <p:cNvPicPr>
            <a:picLocks noChangeAspect="1"/>
          </p:cNvPicPr>
          <p:nvPr/>
        </p:nvPicPr>
        <p:blipFill>
          <a:blip r:embed="rId4"/>
          <a:stretch>
            <a:fillRect/>
          </a:stretch>
        </p:blipFill>
        <p:spPr>
          <a:xfrm>
            <a:off x="875538" y="4103370"/>
            <a:ext cx="251460" cy="251460"/>
          </a:xfrm>
          <a:prstGeom prst="rect">
            <a:avLst/>
          </a:prstGeom>
        </p:spPr>
      </p:pic>
      <p:sp>
        <p:nvSpPr>
          <p:cNvPr id="23" name="Guardrail title"/>
          <p:cNvSpPr txBox="1"/>
          <p:nvPr/>
        </p:nvSpPr>
        <p:spPr>
          <a:xfrm>
            <a:off x="1371600" y="3977640"/>
            <a:ext cx="26517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Right people only</a:t>
            </a:r>
            <a:endParaRPr lang="en-US" sz="1500" dirty="0"/>
          </a:p>
        </p:txBody>
      </p:sp>
      <p:sp>
        <p:nvSpPr>
          <p:cNvPr id="24" name="Guardrail text"/>
          <p:cNvSpPr txBox="1"/>
          <p:nvPr/>
        </p:nvSpPr>
        <p:spPr>
          <a:xfrm>
            <a:off x="777240" y="4617720"/>
            <a:ext cx="3154680" cy="1005840"/>
          </a:xfrm>
          <a:prstGeom prst="rect">
            <a:avLst/>
          </a:prstGeom>
          <a:noFill/>
          <a:ln/>
        </p:spPr>
        <p:txBody>
          <a:bodyPr wrap="square" lIns="0" tIns="0" rIns="0" bIns="0" rtlCol="0" anchor="t"/>
          <a:lstStyle/>
          <a:p>
            <a:pPr indent="0" marL="0">
              <a:buNone/>
            </a:pPr>
            <a:r>
              <a:rPr lang="en-US" sz="1300" dirty="0">
                <a:solidFill>
                  <a:schemeClr val="tx1"/>
                </a:solidFill>
              </a:rPr>
              <a:t>Workspace roles decide who runs and who reads. Use the least access that works.</a:t>
            </a:r>
            <a:endParaRPr lang="en-US" sz="1300" dirty="0"/>
          </a:p>
        </p:txBody>
      </p:sp>
      <p:sp>
        <p:nvSpPr>
          <p:cNvPr id="25" name="Bad input stops early card"/>
          <p:cNvSpPr/>
          <p:nvPr/>
        </p:nvSpPr>
        <p:spPr>
          <a:xfrm>
            <a:off x="4297680" y="3794760"/>
            <a:ext cx="3593592" cy="1874520"/>
          </a:xfrm>
          <a:prstGeom prst="roundRect">
            <a:avLst>
              <a:gd name="adj" fmla="val 5854"/>
            </a:avLst>
          </a:prstGeom>
          <a:solidFill>
            <a:schemeClr val="bg2"/>
          </a:solidFill>
          <a:ln/>
        </p:spPr>
      </p:sp>
      <p:sp>
        <p:nvSpPr>
          <p:cNvPr id="26" name="Bad input stops early badge"/>
          <p:cNvSpPr/>
          <p:nvPr/>
        </p:nvSpPr>
        <p:spPr>
          <a:xfrm>
            <a:off x="4498848" y="3977640"/>
            <a:ext cx="502920" cy="502920"/>
          </a:xfrm>
          <a:prstGeom prst="ellipse">
            <a:avLst/>
          </a:prstGeom>
          <a:solidFill>
            <a:schemeClr val="accent4"/>
          </a:solidFill>
          <a:ln/>
        </p:spPr>
      </p:sp>
      <p:pic>
        <p:nvPicPr>
          <p:cNvPr id="27" name="Image 4" descr="Bad input stops early icon">    </p:cNvPr>
          <p:cNvPicPr>
            <a:picLocks noChangeAspect="1"/>
          </p:cNvPicPr>
          <p:nvPr/>
        </p:nvPicPr>
        <p:blipFill>
          <a:blip r:embed="rId5"/>
          <a:stretch>
            <a:fillRect/>
          </a:stretch>
        </p:blipFill>
        <p:spPr>
          <a:xfrm>
            <a:off x="4624578" y="4103370"/>
            <a:ext cx="251460" cy="251460"/>
          </a:xfrm>
          <a:prstGeom prst="rect">
            <a:avLst/>
          </a:prstGeom>
        </p:spPr>
      </p:pic>
      <p:sp>
        <p:nvSpPr>
          <p:cNvPr id="28" name="Guardrail title"/>
          <p:cNvSpPr txBox="1"/>
          <p:nvPr/>
        </p:nvSpPr>
        <p:spPr>
          <a:xfrm>
            <a:off x="5120640" y="3977640"/>
            <a:ext cx="2651760" cy="502920"/>
          </a:xfrm>
          <a:prstGeom prst="rect">
            <a:avLst/>
          </a:prstGeom>
          <a:noFill/>
          <a:ln/>
        </p:spPr>
        <p:txBody>
          <a:bodyPr wrap="square" lIns="0" tIns="0" rIns="0" bIns="0" rtlCol="0" anchor="ctr"/>
          <a:lstStyle/>
          <a:p>
            <a:pPr indent="0" marL="0">
              <a:buNone/>
            </a:pPr>
            <a:r>
              <a:rPr lang="en-US" sz="1500" b="1" dirty="0">
                <a:solidFill>
                  <a:schemeClr val="tx1"/>
                </a:solidFill>
                <a:latin typeface="+mj-lt" pitchFamily="34" charset="0"/>
                <a:ea typeface="+mj-lt" pitchFamily="34" charset="-122"/>
                <a:cs typeface="+mj-lt" pitchFamily="34" charset="-120"/>
              </a:rPr>
              <a:t>Bad input stops early</a:t>
            </a:r>
            <a:endParaRPr lang="en-US" sz="1500" dirty="0"/>
          </a:p>
        </p:txBody>
      </p:sp>
      <p:sp>
        <p:nvSpPr>
          <p:cNvPr id="29" name="Guardrail text"/>
          <p:cNvSpPr txBox="1"/>
          <p:nvPr/>
        </p:nvSpPr>
        <p:spPr>
          <a:xfrm>
            <a:off x="4526280" y="4617720"/>
            <a:ext cx="3154680" cy="1005840"/>
          </a:xfrm>
          <a:prstGeom prst="rect">
            <a:avLst/>
          </a:prstGeom>
          <a:noFill/>
          <a:ln/>
        </p:spPr>
        <p:txBody>
          <a:bodyPr wrap="square" lIns="0" tIns="0" rIns="0" bIns="0" rtlCol="0" anchor="t"/>
          <a:lstStyle/>
          <a:p>
            <a:pPr indent="0" marL="0">
              <a:buNone/>
            </a:pPr>
            <a:r>
              <a:rPr lang="en-US" sz="1300" dirty="0">
                <a:solidFill>
                  <a:schemeClr val="tx1"/>
                </a:solidFill>
              </a:rPr>
              <a:t>Choices on the form. An assert at the top of the notebook.</a:t>
            </a:r>
            <a:endParaRPr lang="en-US" sz="1300" dirty="0"/>
          </a:p>
        </p:txBody>
      </p:sp>
      <p:sp>
        <p:nvSpPr>
          <p:cNvPr id="30" name="Approvals note card"/>
          <p:cNvSpPr/>
          <p:nvPr/>
        </p:nvSpPr>
        <p:spPr>
          <a:xfrm>
            <a:off x="8046720" y="3794760"/>
            <a:ext cx="3593592" cy="1874520"/>
          </a:xfrm>
          <a:prstGeom prst="roundRect">
            <a:avLst>
              <a:gd name="adj" fmla="val 5854"/>
            </a:avLst>
          </a:prstGeom>
          <a:solidFill>
            <a:schemeClr val="accent3">
              <a:alpha val="22000"/>
            </a:schemeClr>
          </a:solidFill>
          <a:ln/>
        </p:spPr>
      </p:sp>
      <p:sp>
        <p:nvSpPr>
          <p:cNvPr id="31" name="Approvals note"/>
          <p:cNvSpPr txBox="1"/>
          <p:nvPr/>
        </p:nvSpPr>
        <p:spPr>
          <a:xfrm>
            <a:off x="8275320" y="3886200"/>
            <a:ext cx="3154680" cy="1691640"/>
          </a:xfrm>
          <a:prstGeom prst="rect">
            <a:avLst/>
          </a:prstGeom>
          <a:noFill/>
          <a:ln/>
        </p:spPr>
        <p:txBody>
          <a:bodyPr wrap="square" lIns="0" tIns="0" rIns="0" bIns="0" rtlCol="0" anchor="ctr"/>
          <a:lstStyle/>
          <a:p>
            <a:pPr indent="0" marL="0">
              <a:buNone/>
            </a:pPr>
            <a:r>
              <a:rPr lang="en-US" sz="1300" b="1" dirty="0">
                <a:solidFill>
                  <a:schemeClr val="tx1"/>
                </a:solidFill>
              </a:rPr>
              <a:t>Some guardrails need an approval. </a:t>
            </a:r>
            <a:pPr indent="0" marL="0">
              <a:buNone/>
            </a:pPr>
            <a:r>
              <a:rPr lang="en-US" sz="1300" dirty="0">
                <a:solidFill>
                  <a:schemeClr val="tx1"/>
                </a:solidFill>
              </a:rPr>
              <a:t>A service identity or an email sender goes through the approvals track. Next slide.</a:t>
            </a:r>
            <a:endParaRPr lang="en-US" sz="1300" dirty="0"/>
          </a:p>
        </p:txBody>
      </p:sp>
      <p:sp>
        <p:nvSpPr>
          <p:cNvPr id="32"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Concurrent writes to the same Delta slice are stopped with a conflict error. Design the front door to avoid them.</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front door is an app, so it joins the approvals track</a:t>
            </a:r>
            <a:endParaRPr lang="en-US" sz="3200" dirty="0"/>
          </a:p>
        </p:txBody>
      </p:sp>
      <p:graphicFrame>
        <p:nvGraphicFramePr>
          <p:cNvPr id="51" name="Approvals track"/>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737360"/>
                <a:gridCol w="2834640"/>
                <a:gridCol w="6519672"/>
              </a:tblGrid>
              <a:tr h="384048">
                <a:tc>
                  <a:txBody>
                    <a:bodyPr/>
                    <a:lstStyle/>
                    <a:p>
                      <a:pPr indent="0" marL="0">
                        <a:buNone/>
                      </a:pPr>
                      <a:r>
                        <a:rPr lang="en-US" sz="1300" b="1" dirty="0">
                          <a:solidFill>
                            <a:schemeClr val="bg1"/>
                          </a:solidFill>
                        </a:rPr>
                        <a:t>When</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Approval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What it means for a front door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300" b="1" dirty="0">
                          <a:solidFill>
                            <a:schemeClr val="tx1"/>
                          </a:solidFill>
                        </a:rPr>
                        <a:t>Week one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BAPPID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ServiceNow configuration record, with a named technical owner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300" b="1" dirty="0">
                          <a:solidFill>
                            <a:schemeClr val="tx1"/>
                          </a:solidFill>
                        </a:rPr>
                        <a:t>Week one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ESIS request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Permissions list, PII and data classification. Five sequential reviews, 4 to 8 weeks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300" b="1" dirty="0">
                          <a:solidFill>
                            <a:schemeClr val="tx1"/>
                          </a:solidFill>
                        </a:rPr>
                        <a:t>Before UAT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TEST admin consent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Delegated scopes. Nothing can be tested without 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300" b="1" dirty="0">
                          <a:solidFill>
                            <a:schemeClr val="tx1"/>
                          </a:solidFill>
                        </a:rPr>
                        <a:t>Before go-live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b="1" dirty="0">
                          <a:solidFill>
                            <a:schemeClr val="tx1"/>
                          </a:solidFill>
                        </a:rPr>
                        <a:t>PROD admin consent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Constrained app permissions on the production tenant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300" b="1" dirty="0">
                          <a:solidFill>
                            <a:schemeClr val="tx1"/>
                          </a:solidFill>
                        </a:rPr>
                        <a:t>Before go-live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b="1" dirty="0">
                          <a:solidFill>
                            <a:schemeClr val="tx1"/>
                          </a:solidFill>
                        </a:rPr>
                        <a:t>Email relay onboarding</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Needed if the front door sends email. Required before go-live, not after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Takeaway"/>
          <p:cNvSpPr txBox="1"/>
          <p:nvPr/>
        </p:nvSpPr>
        <p:spPr>
          <a:xfrm>
            <a:off x="548640" y="5303520"/>
            <a:ext cx="11094415" cy="594360"/>
          </a:xfrm>
          <a:prstGeom prst="roundRect">
            <a:avLst>
              <a:gd name="adj" fmla="val 15385"/>
            </a:avLst>
          </a:prstGeom>
          <a:solidFill>
            <a:schemeClr val="tx1"/>
          </a:solidFill>
          <a:ln/>
        </p:spPr>
        <p:txBody>
          <a:bodyPr wrap="square" lIns="279400" tIns="0" rIns="279400" bIns="0" rtlCol="0" anchor="ctr"/>
          <a:lstStyle/>
          <a:p>
            <a:pPr indent="0" marL="0">
              <a:buNone/>
            </a:pPr>
            <a:r>
              <a:rPr lang="en-US" sz="1600" i="1" dirty="0">
                <a:solidFill>
                  <a:schemeClr val="bg1"/>
                </a:solidFill>
              </a:rPr>
              <a:t>ESIS is the long pole. Start it in week one, not when the front door is finished.</a:t>
            </a:r>
            <a:endParaRPr lang="en-US" sz="1600" dirty="0"/>
          </a:p>
        </p:txBody>
      </p:sp>
      <p:sp>
        <p:nvSpPr>
          <p:cNvPr id="7" name="Footnote"/>
          <p:cNvSpPr txBox="1"/>
          <p:nvPr/>
        </p:nvSpPr>
        <p:spPr>
          <a:xfrm>
            <a:off x="548640" y="60350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Day Three covers who to contact and how the approvals fit the delivery plan.</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PORTAL-DRIVEN EXECUTION</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Demo: from a request to a result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DEMO · 10 MIN</a:t>
            </a:r>
            <a:endParaRPr lang="en-US" sz="1100" dirty="0"/>
          </a:p>
        </p:txBody>
      </p:sp>
      <p:sp>
        <p:nvSpPr>
          <p:cNvPr id="6" name="Run card"/>
          <p:cNvSpPr/>
          <p:nvPr/>
        </p:nvSpPr>
        <p:spPr>
          <a:xfrm>
            <a:off x="548640" y="1783080"/>
            <a:ext cx="2103120" cy="2743200"/>
          </a:xfrm>
          <a:prstGeom prst="roundRect">
            <a:avLst>
              <a:gd name="adj" fmla="val 5217"/>
            </a:avLst>
          </a:prstGeom>
          <a:solidFill>
            <a:schemeClr val="bg2"/>
          </a:solidFill>
          <a:ln/>
        </p:spPr>
      </p:sp>
      <p:sp>
        <p:nvSpPr>
          <p:cNvPr id="7" name="Demo chip 1"/>
          <p:cNvSpPr/>
          <p:nvPr/>
        </p:nvSpPr>
        <p:spPr>
          <a:xfrm>
            <a:off x="731520" y="1965960"/>
            <a:ext cx="457200" cy="457200"/>
          </a:xfrm>
          <a:prstGeom prst="roundRect">
            <a:avLst>
              <a:gd name="adj" fmla="val 16000"/>
            </a:avLst>
          </a:prstGeom>
          <a:solidFill>
            <a:schemeClr val="accent1"/>
          </a:solidFill>
          <a:ln/>
        </p:spPr>
      </p:sp>
      <p:sp>
        <p:nvSpPr>
          <p:cNvPr id="8" name="Demo number"/>
          <p:cNvSpPr txBox="1"/>
          <p:nvPr/>
        </p:nvSpPr>
        <p:spPr>
          <a:xfrm>
            <a:off x="731520"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9" name="Demo title"/>
          <p:cNvSpPr txBox="1"/>
          <p:nvPr/>
        </p:nvSpPr>
        <p:spPr>
          <a:xfrm>
            <a:off x="731520" y="2606040"/>
            <a:ext cx="173736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Run</a:t>
            </a:r>
            <a:endParaRPr lang="en-US" sz="1800" dirty="0"/>
          </a:p>
        </p:txBody>
      </p:sp>
      <p:sp>
        <p:nvSpPr>
          <p:cNvPr id="10" name="Demo text"/>
          <p:cNvSpPr txBox="1"/>
          <p:nvPr/>
        </p:nvSpPr>
        <p:spPr>
          <a:xfrm>
            <a:off x="731520" y="3063240"/>
            <a:ext cx="1737360" cy="1645920"/>
          </a:xfrm>
          <a:prstGeom prst="rect">
            <a:avLst/>
          </a:prstGeom>
          <a:noFill/>
          <a:ln/>
        </p:spPr>
        <p:txBody>
          <a:bodyPr wrap="square" lIns="0" tIns="0" rIns="0" bIns="0" rtlCol="0" anchor="t"/>
          <a:lstStyle/>
          <a:p>
            <a:pPr indent="0" marL="0">
              <a:buNone/>
            </a:pPr>
            <a:r>
              <a:rPr lang="en-US" sz="1300" dirty="0">
                <a:solidFill>
                  <a:schemeClr val="tx1"/>
                </a:solidFill>
              </a:rPr>
              <a:t>Choose Run on the pipeline. The dialog asks for period and denominator.</a:t>
            </a:r>
            <a:endParaRPr lang="en-US" sz="1300" dirty="0"/>
          </a:p>
        </p:txBody>
      </p:sp>
      <p:sp>
        <p:nvSpPr>
          <p:cNvPr id="11" name="Demo arrow 1"/>
          <p:cNvSpPr/>
          <p:nvPr/>
        </p:nvSpPr>
        <p:spPr>
          <a:xfrm>
            <a:off x="2670048" y="2194560"/>
            <a:ext cx="108128" cy="0"/>
          </a:xfrm>
          <a:prstGeom prst="line">
            <a:avLst/>
          </a:prstGeom>
          <a:noFill/>
          <a:ln w="25400">
            <a:solidFill>
              <a:schemeClr val="accent5"/>
            </a:solidFill>
            <a:prstDash val="solid"/>
            <a:tailEnd type="triangle"/>
          </a:ln>
        </p:spPr>
      </p:sp>
      <p:sp>
        <p:nvSpPr>
          <p:cNvPr id="12" name="Monitor card"/>
          <p:cNvSpPr/>
          <p:nvPr/>
        </p:nvSpPr>
        <p:spPr>
          <a:xfrm>
            <a:off x="2796464" y="1783080"/>
            <a:ext cx="2103120" cy="2743200"/>
          </a:xfrm>
          <a:prstGeom prst="roundRect">
            <a:avLst>
              <a:gd name="adj" fmla="val 5217"/>
            </a:avLst>
          </a:prstGeom>
          <a:solidFill>
            <a:schemeClr val="bg2"/>
          </a:solidFill>
          <a:ln/>
        </p:spPr>
      </p:sp>
      <p:sp>
        <p:nvSpPr>
          <p:cNvPr id="13" name="Demo chip 2"/>
          <p:cNvSpPr/>
          <p:nvPr/>
        </p:nvSpPr>
        <p:spPr>
          <a:xfrm>
            <a:off x="2979344" y="1965960"/>
            <a:ext cx="457200" cy="457200"/>
          </a:xfrm>
          <a:prstGeom prst="roundRect">
            <a:avLst>
              <a:gd name="adj" fmla="val 16000"/>
            </a:avLst>
          </a:prstGeom>
          <a:solidFill>
            <a:schemeClr val="accent1"/>
          </a:solidFill>
          <a:ln/>
        </p:spPr>
      </p:sp>
      <p:sp>
        <p:nvSpPr>
          <p:cNvPr id="14" name="Demo number"/>
          <p:cNvSpPr txBox="1"/>
          <p:nvPr/>
        </p:nvSpPr>
        <p:spPr>
          <a:xfrm>
            <a:off x="2979344"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5" name="Demo title"/>
          <p:cNvSpPr txBox="1"/>
          <p:nvPr/>
        </p:nvSpPr>
        <p:spPr>
          <a:xfrm>
            <a:off x="2979344" y="2606040"/>
            <a:ext cx="173736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Monitor</a:t>
            </a:r>
            <a:endParaRPr lang="en-US" sz="1800" dirty="0"/>
          </a:p>
        </p:txBody>
      </p:sp>
      <p:sp>
        <p:nvSpPr>
          <p:cNvPr id="16" name="Demo text"/>
          <p:cNvSpPr txBox="1"/>
          <p:nvPr/>
        </p:nvSpPr>
        <p:spPr>
          <a:xfrm>
            <a:off x="2979344" y="3063240"/>
            <a:ext cx="1737360" cy="1645920"/>
          </a:xfrm>
          <a:prstGeom prst="rect">
            <a:avLst/>
          </a:prstGeom>
          <a:noFill/>
          <a:ln/>
        </p:spPr>
        <p:txBody>
          <a:bodyPr wrap="square" lIns="0" tIns="0" rIns="0" bIns="0" rtlCol="0" anchor="t"/>
          <a:lstStyle/>
          <a:p>
            <a:pPr indent="0" marL="0">
              <a:buNone/>
            </a:pPr>
            <a:r>
              <a:rPr lang="en-US" sz="1300" dirty="0">
                <a:solidFill>
                  <a:schemeClr val="tx1"/>
                </a:solidFill>
              </a:rPr>
              <a:t>Find the run in the monitoring hub. Point at the notebook activity.</a:t>
            </a:r>
            <a:endParaRPr lang="en-US" sz="1300" dirty="0"/>
          </a:p>
        </p:txBody>
      </p:sp>
      <p:sp>
        <p:nvSpPr>
          <p:cNvPr id="17" name="Demo arrow 2"/>
          <p:cNvSpPr/>
          <p:nvPr/>
        </p:nvSpPr>
        <p:spPr>
          <a:xfrm>
            <a:off x="4917872" y="2194560"/>
            <a:ext cx="108128" cy="0"/>
          </a:xfrm>
          <a:prstGeom prst="line">
            <a:avLst/>
          </a:prstGeom>
          <a:noFill/>
          <a:ln w="25400">
            <a:solidFill>
              <a:schemeClr val="accent5"/>
            </a:solidFill>
            <a:prstDash val="solid"/>
            <a:tailEnd type="triangle"/>
          </a:ln>
        </p:spPr>
      </p:sp>
      <p:sp>
        <p:nvSpPr>
          <p:cNvPr id="18" name="Inspect card"/>
          <p:cNvSpPr/>
          <p:nvPr/>
        </p:nvSpPr>
        <p:spPr>
          <a:xfrm>
            <a:off x="5044288" y="1783080"/>
            <a:ext cx="2103120" cy="2743200"/>
          </a:xfrm>
          <a:prstGeom prst="roundRect">
            <a:avLst>
              <a:gd name="adj" fmla="val 5217"/>
            </a:avLst>
          </a:prstGeom>
          <a:solidFill>
            <a:schemeClr val="bg2"/>
          </a:solidFill>
          <a:ln/>
        </p:spPr>
      </p:sp>
      <p:sp>
        <p:nvSpPr>
          <p:cNvPr id="19" name="Demo chip 3"/>
          <p:cNvSpPr/>
          <p:nvPr/>
        </p:nvSpPr>
        <p:spPr>
          <a:xfrm>
            <a:off x="5227168" y="1965960"/>
            <a:ext cx="457200" cy="457200"/>
          </a:xfrm>
          <a:prstGeom prst="roundRect">
            <a:avLst>
              <a:gd name="adj" fmla="val 16000"/>
            </a:avLst>
          </a:prstGeom>
          <a:solidFill>
            <a:schemeClr val="accent1"/>
          </a:solidFill>
          <a:ln/>
        </p:spPr>
      </p:sp>
      <p:sp>
        <p:nvSpPr>
          <p:cNvPr id="20" name="Demo number"/>
          <p:cNvSpPr txBox="1"/>
          <p:nvPr/>
        </p:nvSpPr>
        <p:spPr>
          <a:xfrm>
            <a:off x="5227168"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21" name="Demo title"/>
          <p:cNvSpPr txBox="1"/>
          <p:nvPr/>
        </p:nvSpPr>
        <p:spPr>
          <a:xfrm>
            <a:off x="5227168" y="2606040"/>
            <a:ext cx="173736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Inspect</a:t>
            </a:r>
            <a:endParaRPr lang="en-US" sz="1800" dirty="0"/>
          </a:p>
        </p:txBody>
      </p:sp>
      <p:sp>
        <p:nvSpPr>
          <p:cNvPr id="22" name="Demo text"/>
          <p:cNvSpPr txBox="1"/>
          <p:nvPr/>
        </p:nvSpPr>
        <p:spPr>
          <a:xfrm>
            <a:off x="5227168" y="3063240"/>
            <a:ext cx="1737360" cy="1645920"/>
          </a:xfrm>
          <a:prstGeom prst="rect">
            <a:avLst/>
          </a:prstGeom>
          <a:noFill/>
          <a:ln/>
        </p:spPr>
        <p:txBody>
          <a:bodyPr wrap="square" lIns="0" tIns="0" rIns="0" bIns="0" rtlCol="0" anchor="t"/>
          <a:lstStyle/>
          <a:p>
            <a:pPr indent="0" marL="0">
              <a:buNone/>
            </a:pPr>
            <a:r>
              <a:rPr lang="en-US" sz="1300" dirty="0">
                <a:solidFill>
                  <a:schemeClr val="tx1"/>
                </a:solidFill>
              </a:rPr>
              <a:t>Open the notebook snapshot. Show the gate message.</a:t>
            </a:r>
            <a:endParaRPr lang="en-US" sz="1300" dirty="0"/>
          </a:p>
        </p:txBody>
      </p:sp>
      <p:sp>
        <p:nvSpPr>
          <p:cNvPr id="23" name="Demo arrow 3"/>
          <p:cNvSpPr/>
          <p:nvPr/>
        </p:nvSpPr>
        <p:spPr>
          <a:xfrm>
            <a:off x="7165696" y="2194560"/>
            <a:ext cx="108128" cy="0"/>
          </a:xfrm>
          <a:prstGeom prst="line">
            <a:avLst/>
          </a:prstGeom>
          <a:noFill/>
          <a:ln w="25400">
            <a:solidFill>
              <a:schemeClr val="accent5"/>
            </a:solidFill>
            <a:prstDash val="solid"/>
            <a:tailEnd type="triangle"/>
          </a:ln>
        </p:spPr>
      </p:sp>
      <p:sp>
        <p:nvSpPr>
          <p:cNvPr id="24" name="Check card"/>
          <p:cNvSpPr/>
          <p:nvPr/>
        </p:nvSpPr>
        <p:spPr>
          <a:xfrm>
            <a:off x="7292111" y="1783080"/>
            <a:ext cx="2103120" cy="2743200"/>
          </a:xfrm>
          <a:prstGeom prst="roundRect">
            <a:avLst>
              <a:gd name="adj" fmla="val 5217"/>
            </a:avLst>
          </a:prstGeom>
          <a:solidFill>
            <a:schemeClr val="bg2"/>
          </a:solidFill>
          <a:ln/>
        </p:spPr>
      </p:sp>
      <p:sp>
        <p:nvSpPr>
          <p:cNvPr id="25" name="Demo chip 4"/>
          <p:cNvSpPr/>
          <p:nvPr/>
        </p:nvSpPr>
        <p:spPr>
          <a:xfrm>
            <a:off x="7474991" y="1965960"/>
            <a:ext cx="457200" cy="457200"/>
          </a:xfrm>
          <a:prstGeom prst="roundRect">
            <a:avLst>
              <a:gd name="adj" fmla="val 16000"/>
            </a:avLst>
          </a:prstGeom>
          <a:solidFill>
            <a:schemeClr val="accent1"/>
          </a:solidFill>
          <a:ln/>
        </p:spPr>
      </p:sp>
      <p:sp>
        <p:nvSpPr>
          <p:cNvPr id="26" name="Demo number"/>
          <p:cNvSpPr txBox="1"/>
          <p:nvPr/>
        </p:nvSpPr>
        <p:spPr>
          <a:xfrm>
            <a:off x="7474991"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7" name="Demo title"/>
          <p:cNvSpPr txBox="1"/>
          <p:nvPr/>
        </p:nvSpPr>
        <p:spPr>
          <a:xfrm>
            <a:off x="7474991" y="2606040"/>
            <a:ext cx="173736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Check</a:t>
            </a:r>
            <a:endParaRPr lang="en-US" sz="1800" dirty="0"/>
          </a:p>
        </p:txBody>
      </p:sp>
      <p:sp>
        <p:nvSpPr>
          <p:cNvPr id="28" name="Demo text"/>
          <p:cNvSpPr txBox="1"/>
          <p:nvPr/>
        </p:nvSpPr>
        <p:spPr>
          <a:xfrm>
            <a:off x="7474991" y="3063240"/>
            <a:ext cx="1737360" cy="1645920"/>
          </a:xfrm>
          <a:prstGeom prst="rect">
            <a:avLst/>
          </a:prstGeom>
          <a:noFill/>
          <a:ln/>
        </p:spPr>
        <p:txBody>
          <a:bodyPr wrap="square" lIns="0" tIns="0" rIns="0" bIns="0" rtlCol="0" anchor="t"/>
          <a:lstStyle/>
          <a:p>
            <a:pPr indent="0" marL="0">
              <a:buNone/>
            </a:pPr>
            <a:r>
              <a:rPr lang="en-US" sz="1300" dirty="0">
                <a:solidFill>
                  <a:schemeClr val="tx1"/>
                </a:solidFill>
              </a:rPr>
              <a:t>Query the run log. Find the new row.</a:t>
            </a:r>
            <a:endParaRPr lang="en-US" sz="1300" dirty="0"/>
          </a:p>
        </p:txBody>
      </p:sp>
      <p:sp>
        <p:nvSpPr>
          <p:cNvPr id="29" name="Demo arrow 4"/>
          <p:cNvSpPr/>
          <p:nvPr/>
        </p:nvSpPr>
        <p:spPr>
          <a:xfrm>
            <a:off x="9413519" y="2194560"/>
            <a:ext cx="108128" cy="0"/>
          </a:xfrm>
          <a:prstGeom prst="line">
            <a:avLst/>
          </a:prstGeom>
          <a:noFill/>
          <a:ln w="25400">
            <a:solidFill>
              <a:schemeClr val="accent5"/>
            </a:solidFill>
            <a:prstDash val="solid"/>
            <a:tailEnd type="triangle"/>
          </a:ln>
        </p:spPr>
      </p:sp>
      <p:sp>
        <p:nvSpPr>
          <p:cNvPr id="30" name="Read card"/>
          <p:cNvSpPr/>
          <p:nvPr/>
        </p:nvSpPr>
        <p:spPr>
          <a:xfrm>
            <a:off x="9539935" y="1783080"/>
            <a:ext cx="2103120" cy="2743200"/>
          </a:xfrm>
          <a:prstGeom prst="roundRect">
            <a:avLst>
              <a:gd name="adj" fmla="val 5217"/>
            </a:avLst>
          </a:prstGeom>
          <a:solidFill>
            <a:schemeClr val="bg2"/>
          </a:solidFill>
          <a:ln/>
        </p:spPr>
      </p:sp>
      <p:sp>
        <p:nvSpPr>
          <p:cNvPr id="31" name="Demo chip 5"/>
          <p:cNvSpPr/>
          <p:nvPr/>
        </p:nvSpPr>
        <p:spPr>
          <a:xfrm>
            <a:off x="9722815" y="1965960"/>
            <a:ext cx="457200" cy="457200"/>
          </a:xfrm>
          <a:prstGeom prst="roundRect">
            <a:avLst>
              <a:gd name="adj" fmla="val 16000"/>
            </a:avLst>
          </a:prstGeom>
          <a:solidFill>
            <a:schemeClr val="accent1"/>
          </a:solidFill>
          <a:ln/>
        </p:spPr>
      </p:sp>
      <p:sp>
        <p:nvSpPr>
          <p:cNvPr id="32" name="Demo number"/>
          <p:cNvSpPr txBox="1"/>
          <p:nvPr/>
        </p:nvSpPr>
        <p:spPr>
          <a:xfrm>
            <a:off x="9722815" y="19659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5</a:t>
            </a:r>
            <a:endParaRPr lang="en-US" sz="1600" dirty="0"/>
          </a:p>
        </p:txBody>
      </p:sp>
      <p:sp>
        <p:nvSpPr>
          <p:cNvPr id="33" name="Demo title"/>
          <p:cNvSpPr txBox="1"/>
          <p:nvPr/>
        </p:nvSpPr>
        <p:spPr>
          <a:xfrm>
            <a:off x="9722815" y="2606040"/>
            <a:ext cx="173736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Read</a:t>
            </a:r>
            <a:endParaRPr lang="en-US" sz="1800" dirty="0"/>
          </a:p>
        </p:txBody>
      </p:sp>
      <p:sp>
        <p:nvSpPr>
          <p:cNvPr id="34" name="Demo text"/>
          <p:cNvSpPr txBox="1"/>
          <p:nvPr/>
        </p:nvSpPr>
        <p:spPr>
          <a:xfrm>
            <a:off x="9722815" y="3063240"/>
            <a:ext cx="1737360" cy="1645920"/>
          </a:xfrm>
          <a:prstGeom prst="rect">
            <a:avLst/>
          </a:prstGeom>
          <a:noFill/>
          <a:ln/>
        </p:spPr>
        <p:txBody>
          <a:bodyPr wrap="square" lIns="0" tIns="0" rIns="0" bIns="0" rtlCol="0" anchor="t"/>
          <a:lstStyle/>
          <a:p>
            <a:pPr indent="0" marL="0">
              <a:buNone/>
            </a:pPr>
            <a:r>
              <a:rPr lang="en-US" sz="1300" dirty="0">
                <a:solidFill>
                  <a:schemeClr val="tx1"/>
                </a:solidFill>
              </a:rPr>
              <a:t>Refresh the report. Match it to the expected results.</a:t>
            </a:r>
            <a:endParaRPr lang="en-US" sz="1300" dirty="0"/>
          </a:p>
        </p:txBody>
      </p:sp>
      <p:sp>
        <p:nvSpPr>
          <p:cNvPr id="35" name="Takeaway"/>
          <p:cNvSpPr txBox="1"/>
          <p:nvPr/>
        </p:nvSpPr>
        <p:spPr>
          <a:xfrm>
            <a:off x="548640" y="4800600"/>
            <a:ext cx="11094415" cy="594360"/>
          </a:xfrm>
          <a:prstGeom prst="roundRect">
            <a:avLst>
              <a:gd name="adj" fmla="val 15385"/>
            </a:avLst>
          </a:prstGeom>
          <a:solidFill>
            <a:schemeClr val="tx1"/>
          </a:solidFill>
          <a:ln/>
        </p:spPr>
        <p:txBody>
          <a:bodyPr wrap="square" lIns="279400" tIns="0" rIns="279400" bIns="0" rtlCol="0" anchor="ctr"/>
          <a:lstStyle/>
          <a:p>
            <a:pPr indent="0" marL="0">
              <a:buNone/>
            </a:pPr>
            <a:r>
              <a:rPr lang="en-US" sz="1600" i="1" dirty="0">
                <a:solidFill>
                  <a:schemeClr val="bg1"/>
                </a:solidFill>
              </a:rPr>
              <a:t>Users see the receipt. Engineers see the monitor. Both read the same run.</a:t>
            </a:r>
            <a:endParaRPr lang="en-US" sz="1600" dirty="0"/>
          </a:p>
        </p:txBody>
      </p:sp>
      <p:sp>
        <p:nvSpPr>
          <p:cNvPr id="36" name="Footnote"/>
          <p:cNvSpPr txBox="1"/>
          <p:nvPr/>
        </p:nvSpPr>
        <p:spPr>
          <a:xfrm>
            <a:off x="548640" y="562356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Optional: repeat with a bad period to show a failed run and its log row.</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REPORTING AND POWER BI</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Gold to model to report: put the logic in the middle</a:t>
            </a:r>
            <a:endParaRPr lang="en-US" sz="3200" dirty="0"/>
          </a:p>
        </p:txBody>
      </p:sp>
      <p:sp>
        <p:nvSpPr>
          <p:cNvPr id="5" name="Gold table card"/>
          <p:cNvSpPr/>
          <p:nvPr/>
        </p:nvSpPr>
        <p:spPr>
          <a:xfrm>
            <a:off x="548640" y="1783080"/>
            <a:ext cx="3291840" cy="2331720"/>
          </a:xfrm>
          <a:prstGeom prst="roundRect">
            <a:avLst>
              <a:gd name="adj" fmla="val 4706"/>
            </a:avLst>
          </a:prstGeom>
          <a:solidFill>
            <a:schemeClr val="bg2"/>
          </a:solidFill>
          <a:ln/>
        </p:spPr>
      </p:sp>
      <p:sp>
        <p:nvSpPr>
          <p:cNvPr id="6" name="Gold table badge"/>
          <p:cNvSpPr/>
          <p:nvPr/>
        </p:nvSpPr>
        <p:spPr>
          <a:xfrm>
            <a:off x="777240" y="1965960"/>
            <a:ext cx="603504" cy="603504"/>
          </a:xfrm>
          <a:prstGeom prst="ellipse">
            <a:avLst/>
          </a:prstGeom>
          <a:solidFill>
            <a:schemeClr val="accent1"/>
          </a:solidFill>
          <a:ln/>
        </p:spPr>
      </p:sp>
      <p:pic>
        <p:nvPicPr>
          <p:cNvPr id="7" name="Image 0" descr="Gold table icon">    </p:cNvPr>
          <p:cNvPicPr>
            <a:picLocks noChangeAspect="1"/>
          </p:cNvPicPr>
          <p:nvPr/>
        </p:nvPicPr>
        <p:blipFill>
          <a:blip r:embed="rId1"/>
          <a:stretch>
            <a:fillRect/>
          </a:stretch>
        </p:blipFill>
        <p:spPr>
          <a:xfrm>
            <a:off x="928116" y="2116836"/>
            <a:ext cx="301752" cy="301752"/>
          </a:xfrm>
          <a:prstGeom prst="rect">
            <a:avLst/>
          </a:prstGeom>
        </p:spPr>
      </p:pic>
      <p:sp>
        <p:nvSpPr>
          <p:cNvPr id="8" name="Layer pill"/>
          <p:cNvSpPr txBox="1"/>
          <p:nvPr/>
        </p:nvSpPr>
        <p:spPr>
          <a:xfrm>
            <a:off x="2606040" y="2103120"/>
            <a:ext cx="1005840" cy="292608"/>
          </a:xfrm>
          <a:prstGeom prst="roundRect">
            <a:avLst>
              <a:gd name="adj" fmla="val 46875"/>
            </a:avLst>
          </a:prstGeom>
          <a:solidFill>
            <a:schemeClr val="bg2"/>
          </a:solidFill>
          <a:ln/>
        </p:spPr>
        <p:txBody>
          <a:bodyPr wrap="square" lIns="0" tIns="0" rIns="0" bIns="0" rtlCol="0" anchor="ctr"/>
          <a:lstStyle/>
          <a:p>
            <a:pPr algn="ctr" indent="0" marL="0">
              <a:buNone/>
            </a:pPr>
            <a:r>
              <a:rPr lang="en-US" sz="1000" b="1" spc="200" kern="0" dirty="0">
                <a:solidFill>
                  <a:schemeClr val="tx1"/>
                </a:solidFill>
              </a:rPr>
              <a:t>DATA</a:t>
            </a:r>
            <a:endParaRPr lang="en-US" sz="1000" dirty="0"/>
          </a:p>
        </p:txBody>
      </p:sp>
      <p:sp>
        <p:nvSpPr>
          <p:cNvPr id="9" name="Layer title"/>
          <p:cNvSpPr txBox="1"/>
          <p:nvPr/>
        </p:nvSpPr>
        <p:spPr>
          <a:xfrm>
            <a:off x="777240" y="2743200"/>
            <a:ext cx="283464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Gold table</a:t>
            </a:r>
            <a:endParaRPr lang="en-US" sz="1800" dirty="0"/>
          </a:p>
        </p:txBody>
      </p:sp>
      <p:sp>
        <p:nvSpPr>
          <p:cNvPr id="10" name="Layer text"/>
          <p:cNvSpPr txBox="1"/>
          <p:nvPr/>
        </p:nvSpPr>
        <p:spPr>
          <a:xfrm>
            <a:off x="777240" y="3154680"/>
            <a:ext cx="2834640" cy="914400"/>
          </a:xfrm>
          <a:prstGeom prst="rect">
            <a:avLst/>
          </a:prstGeom>
          <a:noFill/>
          <a:ln/>
        </p:spPr>
        <p:txBody>
          <a:bodyPr wrap="square" lIns="0" tIns="0" rIns="0" bIns="0" rtlCol="0" anchor="t"/>
          <a:lstStyle/>
          <a:p>
            <a:pPr indent="0" marL="0">
              <a:buNone/>
            </a:pPr>
            <a:r>
              <a:rPr lang="en-US" sz="1300" dirty="0">
                <a:solidFill>
                  <a:schemeClr val="tx1"/>
                </a:solidFill>
              </a:rPr>
              <a:t>A Delta table in the lakehouse. Written by the notebook after the gate passed.</a:t>
            </a:r>
            <a:endParaRPr lang="en-US" sz="1300" dirty="0"/>
          </a:p>
        </p:txBody>
      </p:sp>
      <p:sp>
        <p:nvSpPr>
          <p:cNvPr id="11" name="Layer arrow 1"/>
          <p:cNvSpPr/>
          <p:nvPr/>
        </p:nvSpPr>
        <p:spPr>
          <a:xfrm>
            <a:off x="3886200" y="2926080"/>
            <a:ext cx="518008" cy="0"/>
          </a:xfrm>
          <a:prstGeom prst="line">
            <a:avLst/>
          </a:prstGeom>
          <a:noFill/>
          <a:ln w="31750">
            <a:solidFill>
              <a:schemeClr val="accent5"/>
            </a:solidFill>
            <a:prstDash val="solid"/>
            <a:tailEnd type="triangle"/>
          </a:ln>
        </p:spPr>
      </p:sp>
      <p:sp>
        <p:nvSpPr>
          <p:cNvPr id="12" name="Semantic model card"/>
          <p:cNvSpPr/>
          <p:nvPr/>
        </p:nvSpPr>
        <p:spPr>
          <a:xfrm>
            <a:off x="4449928" y="1783080"/>
            <a:ext cx="3291840" cy="2331720"/>
          </a:xfrm>
          <a:prstGeom prst="roundRect">
            <a:avLst>
              <a:gd name="adj" fmla="val 4706"/>
            </a:avLst>
          </a:prstGeom>
          <a:solidFill>
            <a:schemeClr val="bg2"/>
          </a:solidFill>
          <a:ln/>
        </p:spPr>
      </p:sp>
      <p:sp>
        <p:nvSpPr>
          <p:cNvPr id="13" name="Semantic model badge"/>
          <p:cNvSpPr/>
          <p:nvPr/>
        </p:nvSpPr>
        <p:spPr>
          <a:xfrm>
            <a:off x="4678528" y="1965960"/>
            <a:ext cx="603504" cy="603504"/>
          </a:xfrm>
          <a:prstGeom prst="ellipse">
            <a:avLst/>
          </a:prstGeom>
          <a:solidFill>
            <a:schemeClr val="accent2"/>
          </a:solidFill>
          <a:ln/>
        </p:spPr>
      </p:sp>
      <p:pic>
        <p:nvPicPr>
          <p:cNvPr id="14" name="Image 1" descr="Semantic model icon">    </p:cNvPr>
          <p:cNvPicPr>
            <a:picLocks noChangeAspect="1"/>
          </p:cNvPicPr>
          <p:nvPr/>
        </p:nvPicPr>
        <p:blipFill>
          <a:blip r:embed="rId2"/>
          <a:stretch>
            <a:fillRect/>
          </a:stretch>
        </p:blipFill>
        <p:spPr>
          <a:xfrm>
            <a:off x="4829404" y="2116836"/>
            <a:ext cx="301752" cy="301752"/>
          </a:xfrm>
          <a:prstGeom prst="rect">
            <a:avLst/>
          </a:prstGeom>
        </p:spPr>
      </p:pic>
      <p:sp>
        <p:nvSpPr>
          <p:cNvPr id="15" name="Layer pill"/>
          <p:cNvSpPr txBox="1"/>
          <p:nvPr/>
        </p:nvSpPr>
        <p:spPr>
          <a:xfrm>
            <a:off x="6507328" y="2103120"/>
            <a:ext cx="1005840" cy="292608"/>
          </a:xfrm>
          <a:prstGeom prst="roundRect">
            <a:avLst>
              <a:gd name="adj" fmla="val 46875"/>
            </a:avLst>
          </a:prstGeom>
          <a:solidFill>
            <a:schemeClr val="bg2"/>
          </a:solidFill>
          <a:ln/>
        </p:spPr>
        <p:txBody>
          <a:bodyPr wrap="square" lIns="0" tIns="0" rIns="0" bIns="0" rtlCol="0" anchor="ctr"/>
          <a:lstStyle/>
          <a:p>
            <a:pPr algn="ctr" indent="0" marL="0">
              <a:buNone/>
            </a:pPr>
            <a:r>
              <a:rPr lang="en-US" sz="1000" b="1" spc="200" kern="0" dirty="0">
                <a:solidFill>
                  <a:schemeClr val="tx1"/>
                </a:solidFill>
              </a:rPr>
              <a:t>LOGIC</a:t>
            </a:r>
            <a:endParaRPr lang="en-US" sz="1000" dirty="0"/>
          </a:p>
        </p:txBody>
      </p:sp>
      <p:sp>
        <p:nvSpPr>
          <p:cNvPr id="16" name="Layer title"/>
          <p:cNvSpPr txBox="1"/>
          <p:nvPr/>
        </p:nvSpPr>
        <p:spPr>
          <a:xfrm>
            <a:off x="4678528" y="2743200"/>
            <a:ext cx="283464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Semantic model</a:t>
            </a:r>
            <a:endParaRPr lang="en-US" sz="1800" dirty="0"/>
          </a:p>
        </p:txBody>
      </p:sp>
      <p:sp>
        <p:nvSpPr>
          <p:cNvPr id="17" name="Layer text"/>
          <p:cNvSpPr txBox="1"/>
          <p:nvPr/>
        </p:nvSpPr>
        <p:spPr>
          <a:xfrm>
            <a:off x="4678528" y="3154680"/>
            <a:ext cx="2834640" cy="914400"/>
          </a:xfrm>
          <a:prstGeom prst="rect">
            <a:avLst/>
          </a:prstGeom>
          <a:noFill/>
          <a:ln/>
        </p:spPr>
        <p:txBody>
          <a:bodyPr wrap="square" lIns="0" tIns="0" rIns="0" bIns="0" rtlCol="0" anchor="t"/>
          <a:lstStyle/>
          <a:p>
            <a:pPr indent="0" marL="0">
              <a:buNone/>
            </a:pPr>
            <a:r>
              <a:rPr lang="en-US" sz="1300" dirty="0">
                <a:solidFill>
                  <a:schemeClr val="tx1"/>
                </a:solidFill>
              </a:rPr>
              <a:t>Relationships, measures, formats and security. The meaning of the numbers.</a:t>
            </a:r>
            <a:endParaRPr lang="en-US" sz="1300" dirty="0"/>
          </a:p>
        </p:txBody>
      </p:sp>
      <p:sp>
        <p:nvSpPr>
          <p:cNvPr id="18" name="Layer arrow 2"/>
          <p:cNvSpPr/>
          <p:nvPr/>
        </p:nvSpPr>
        <p:spPr>
          <a:xfrm>
            <a:off x="7787488" y="2926080"/>
            <a:ext cx="518008" cy="0"/>
          </a:xfrm>
          <a:prstGeom prst="line">
            <a:avLst/>
          </a:prstGeom>
          <a:noFill/>
          <a:ln w="31750">
            <a:solidFill>
              <a:schemeClr val="accent5"/>
            </a:solidFill>
            <a:prstDash val="solid"/>
            <a:tailEnd type="triangle"/>
          </a:ln>
        </p:spPr>
      </p:sp>
      <p:sp>
        <p:nvSpPr>
          <p:cNvPr id="19" name="Report and Excel card"/>
          <p:cNvSpPr/>
          <p:nvPr/>
        </p:nvSpPr>
        <p:spPr>
          <a:xfrm>
            <a:off x="8351215" y="1783080"/>
            <a:ext cx="3291840" cy="2331720"/>
          </a:xfrm>
          <a:prstGeom prst="roundRect">
            <a:avLst>
              <a:gd name="adj" fmla="val 4706"/>
            </a:avLst>
          </a:prstGeom>
          <a:solidFill>
            <a:schemeClr val="bg2"/>
          </a:solidFill>
          <a:ln/>
        </p:spPr>
      </p:sp>
      <p:sp>
        <p:nvSpPr>
          <p:cNvPr id="20" name="Report and Excel badge"/>
          <p:cNvSpPr/>
          <p:nvPr/>
        </p:nvSpPr>
        <p:spPr>
          <a:xfrm>
            <a:off x="8579815" y="1965960"/>
            <a:ext cx="603504" cy="603504"/>
          </a:xfrm>
          <a:prstGeom prst="ellipse">
            <a:avLst/>
          </a:prstGeom>
          <a:solidFill>
            <a:schemeClr val="accent3"/>
          </a:solidFill>
          <a:ln/>
        </p:spPr>
      </p:sp>
      <p:pic>
        <p:nvPicPr>
          <p:cNvPr id="21" name="Image 2" descr="Report and Excel icon">    </p:cNvPr>
          <p:cNvPicPr>
            <a:picLocks noChangeAspect="1"/>
          </p:cNvPicPr>
          <p:nvPr/>
        </p:nvPicPr>
        <p:blipFill>
          <a:blip r:embed="rId3"/>
          <a:stretch>
            <a:fillRect/>
          </a:stretch>
        </p:blipFill>
        <p:spPr>
          <a:xfrm>
            <a:off x="8730691" y="2116836"/>
            <a:ext cx="301752" cy="301752"/>
          </a:xfrm>
          <a:prstGeom prst="rect">
            <a:avLst/>
          </a:prstGeom>
        </p:spPr>
      </p:pic>
      <p:sp>
        <p:nvSpPr>
          <p:cNvPr id="22" name="Layer pill"/>
          <p:cNvSpPr txBox="1"/>
          <p:nvPr/>
        </p:nvSpPr>
        <p:spPr>
          <a:xfrm>
            <a:off x="10408615" y="2103120"/>
            <a:ext cx="1005840" cy="292608"/>
          </a:xfrm>
          <a:prstGeom prst="roundRect">
            <a:avLst>
              <a:gd name="adj" fmla="val 46875"/>
            </a:avLst>
          </a:prstGeom>
          <a:solidFill>
            <a:schemeClr val="bg2"/>
          </a:solidFill>
          <a:ln/>
        </p:spPr>
        <p:txBody>
          <a:bodyPr wrap="square" lIns="0" tIns="0" rIns="0" bIns="0" rtlCol="0" anchor="ctr"/>
          <a:lstStyle/>
          <a:p>
            <a:pPr algn="ctr" indent="0" marL="0">
              <a:buNone/>
            </a:pPr>
            <a:r>
              <a:rPr lang="en-US" sz="1000" b="1" spc="200" kern="0" dirty="0">
                <a:solidFill>
                  <a:schemeClr val="tx1"/>
                </a:solidFill>
              </a:rPr>
              <a:t>LOOK</a:t>
            </a:r>
            <a:endParaRPr lang="en-US" sz="1000" dirty="0"/>
          </a:p>
        </p:txBody>
      </p:sp>
      <p:sp>
        <p:nvSpPr>
          <p:cNvPr id="23" name="Layer title"/>
          <p:cNvSpPr txBox="1"/>
          <p:nvPr/>
        </p:nvSpPr>
        <p:spPr>
          <a:xfrm>
            <a:off x="8579815" y="2743200"/>
            <a:ext cx="283464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Report and Excel</a:t>
            </a:r>
            <a:endParaRPr lang="en-US" sz="1800" dirty="0"/>
          </a:p>
        </p:txBody>
      </p:sp>
      <p:sp>
        <p:nvSpPr>
          <p:cNvPr id="24" name="Layer text"/>
          <p:cNvSpPr txBox="1"/>
          <p:nvPr/>
        </p:nvSpPr>
        <p:spPr>
          <a:xfrm>
            <a:off x="8579815" y="3154680"/>
            <a:ext cx="2834640" cy="914400"/>
          </a:xfrm>
          <a:prstGeom prst="rect">
            <a:avLst/>
          </a:prstGeom>
          <a:noFill/>
          <a:ln/>
        </p:spPr>
        <p:txBody>
          <a:bodyPr wrap="square" lIns="0" tIns="0" rIns="0" bIns="0" rtlCol="0" anchor="t"/>
          <a:lstStyle/>
          <a:p>
            <a:pPr indent="0" marL="0">
              <a:buNone/>
            </a:pPr>
            <a:r>
              <a:rPr lang="en-US" sz="1300" dirty="0">
                <a:solidFill>
                  <a:schemeClr val="tx1"/>
                </a:solidFill>
              </a:rPr>
              <a:t>Visuals for readers. Pivot tables for analysts. Both read the model.</a:t>
            </a:r>
            <a:endParaRPr lang="en-US" sz="1300" dirty="0"/>
          </a:p>
        </p:txBody>
      </p:sp>
      <p:sp>
        <p:nvSpPr>
          <p:cNvPr id="25" name="Write the logic once card"/>
          <p:cNvSpPr/>
          <p:nvPr/>
        </p:nvSpPr>
        <p:spPr>
          <a:xfrm>
            <a:off x="548640" y="4343400"/>
            <a:ext cx="3593592" cy="1371600"/>
          </a:xfrm>
          <a:prstGeom prst="roundRect">
            <a:avLst>
              <a:gd name="adj" fmla="val 8000"/>
            </a:avLst>
          </a:prstGeom>
          <a:solidFill>
            <a:schemeClr val="accent2">
              <a:alpha val="15000"/>
            </a:schemeClr>
          </a:solidFill>
          <a:ln/>
        </p:spPr>
      </p:sp>
      <p:sp>
        <p:nvSpPr>
          <p:cNvPr id="26" name="Why title"/>
          <p:cNvSpPr txBox="1"/>
          <p:nvPr/>
        </p:nvSpPr>
        <p:spPr>
          <a:xfrm>
            <a:off x="777240" y="4453128"/>
            <a:ext cx="315468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Write the logic once</a:t>
            </a:r>
            <a:endParaRPr lang="en-US" sz="1500" dirty="0"/>
          </a:p>
        </p:txBody>
      </p:sp>
      <p:sp>
        <p:nvSpPr>
          <p:cNvPr id="27" name="Why text"/>
          <p:cNvSpPr txBox="1"/>
          <p:nvPr/>
        </p:nvSpPr>
        <p:spPr>
          <a:xfrm>
            <a:off x="777240" y="4846320"/>
            <a:ext cx="3154680" cy="822960"/>
          </a:xfrm>
          <a:prstGeom prst="rect">
            <a:avLst/>
          </a:prstGeom>
          <a:noFill/>
          <a:ln/>
        </p:spPr>
        <p:txBody>
          <a:bodyPr wrap="square" lIns="0" tIns="0" rIns="0" bIns="0" rtlCol="0" anchor="t"/>
          <a:lstStyle/>
          <a:p>
            <a:pPr indent="0" marL="0">
              <a:buNone/>
            </a:pPr>
            <a:r>
              <a:rPr lang="en-US" sz="1300" dirty="0">
                <a:solidFill>
                  <a:schemeClr val="tx1"/>
                </a:solidFill>
              </a:rPr>
              <a:t>A measure is defined in the model, not in each report.</a:t>
            </a:r>
            <a:endParaRPr lang="en-US" sz="1300" dirty="0"/>
          </a:p>
        </p:txBody>
      </p:sp>
      <p:sp>
        <p:nvSpPr>
          <p:cNvPr id="28" name="Every report agrees card"/>
          <p:cNvSpPr/>
          <p:nvPr/>
        </p:nvSpPr>
        <p:spPr>
          <a:xfrm>
            <a:off x="4297680" y="4343400"/>
            <a:ext cx="3593592" cy="1371600"/>
          </a:xfrm>
          <a:prstGeom prst="roundRect">
            <a:avLst>
              <a:gd name="adj" fmla="val 8000"/>
            </a:avLst>
          </a:prstGeom>
          <a:solidFill>
            <a:schemeClr val="accent2">
              <a:alpha val="15000"/>
            </a:schemeClr>
          </a:solidFill>
          <a:ln/>
        </p:spPr>
      </p:sp>
      <p:sp>
        <p:nvSpPr>
          <p:cNvPr id="29" name="Why title"/>
          <p:cNvSpPr txBox="1"/>
          <p:nvPr/>
        </p:nvSpPr>
        <p:spPr>
          <a:xfrm>
            <a:off x="4526280" y="4453128"/>
            <a:ext cx="315468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Every report agrees</a:t>
            </a:r>
            <a:endParaRPr lang="en-US" sz="1500" dirty="0"/>
          </a:p>
        </p:txBody>
      </p:sp>
      <p:sp>
        <p:nvSpPr>
          <p:cNvPr id="30" name="Why text"/>
          <p:cNvSpPr txBox="1"/>
          <p:nvPr/>
        </p:nvSpPr>
        <p:spPr>
          <a:xfrm>
            <a:off x="4526280" y="4846320"/>
            <a:ext cx="3154680" cy="822960"/>
          </a:xfrm>
          <a:prstGeom prst="rect">
            <a:avLst/>
          </a:prstGeom>
          <a:noFill/>
          <a:ln/>
        </p:spPr>
        <p:txBody>
          <a:bodyPr wrap="square" lIns="0" tIns="0" rIns="0" bIns="0" rtlCol="0" anchor="t"/>
          <a:lstStyle/>
          <a:p>
            <a:pPr indent="0" marL="0">
              <a:buNone/>
            </a:pPr>
            <a:r>
              <a:rPr lang="en-US" sz="1300" dirty="0">
                <a:solidFill>
                  <a:schemeClr val="tx1"/>
                </a:solidFill>
              </a:rPr>
              <a:t>Two reports cannot give two answers for the same number.</a:t>
            </a:r>
            <a:endParaRPr lang="en-US" sz="1300" dirty="0"/>
          </a:p>
        </p:txBody>
      </p:sp>
      <p:sp>
        <p:nvSpPr>
          <p:cNvPr id="31" name="Change it in one place card"/>
          <p:cNvSpPr/>
          <p:nvPr/>
        </p:nvSpPr>
        <p:spPr>
          <a:xfrm>
            <a:off x="8046720" y="4343400"/>
            <a:ext cx="3593592" cy="1371600"/>
          </a:xfrm>
          <a:prstGeom prst="roundRect">
            <a:avLst>
              <a:gd name="adj" fmla="val 8000"/>
            </a:avLst>
          </a:prstGeom>
          <a:solidFill>
            <a:schemeClr val="accent2">
              <a:alpha val="15000"/>
            </a:schemeClr>
          </a:solidFill>
          <a:ln/>
        </p:spPr>
      </p:sp>
      <p:sp>
        <p:nvSpPr>
          <p:cNvPr id="32" name="Why title"/>
          <p:cNvSpPr txBox="1"/>
          <p:nvPr/>
        </p:nvSpPr>
        <p:spPr>
          <a:xfrm>
            <a:off x="8275320" y="4453128"/>
            <a:ext cx="315468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Change it in one place</a:t>
            </a:r>
            <a:endParaRPr lang="en-US" sz="1500" dirty="0"/>
          </a:p>
        </p:txBody>
      </p:sp>
      <p:sp>
        <p:nvSpPr>
          <p:cNvPr id="33" name="Why text"/>
          <p:cNvSpPr txBox="1"/>
          <p:nvPr/>
        </p:nvSpPr>
        <p:spPr>
          <a:xfrm>
            <a:off x="8275320" y="4846320"/>
            <a:ext cx="3154680" cy="822960"/>
          </a:xfrm>
          <a:prstGeom prst="rect">
            <a:avLst/>
          </a:prstGeom>
          <a:noFill/>
          <a:ln/>
        </p:spPr>
        <p:txBody>
          <a:bodyPr wrap="square" lIns="0" tIns="0" rIns="0" bIns="0" rtlCol="0" anchor="t"/>
          <a:lstStyle/>
          <a:p>
            <a:pPr indent="0" marL="0">
              <a:buNone/>
            </a:pPr>
            <a:r>
              <a:rPr lang="en-US" sz="1300" dirty="0">
                <a:solidFill>
                  <a:schemeClr val="tx1"/>
                </a:solidFill>
              </a:rPr>
              <a:t>A rule change reaches every report and every pivot.</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REPORTING AND POWER BI</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Import, DirectQuery or Direct Lake: where the data lives</a:t>
            </a:r>
            <a:endParaRPr lang="en-US" sz="3200" dirty="0"/>
          </a:p>
        </p:txBody>
      </p:sp>
      <p:graphicFrame>
        <p:nvGraphicFramePr>
          <p:cNvPr id="54" name="Storage mod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1554480"/>
                <a:gridCol w="2651760"/>
                <a:gridCol w="2651760"/>
                <a:gridCol w="1828800"/>
                <a:gridCol w="2404872"/>
              </a:tblGrid>
              <a:tr h="384048">
                <a:tc>
                  <a:txBody>
                    <a:bodyPr/>
                    <a:lstStyle/>
                    <a:p>
                      <a:pPr indent="0" marL="0">
                        <a:buNone/>
                      </a:pPr>
                      <a:r>
                        <a:rPr lang="en-US" sz="1250" b="1" dirty="0">
                          <a:solidFill>
                            <a:schemeClr val="bg1"/>
                          </a:solidFill>
                        </a:rPr>
                        <a:t>Mode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Where the data lives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How fresh it is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Speed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Watch for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868680">
                <a:tc>
                  <a:txBody>
                    <a:bodyPr/>
                    <a:lstStyle/>
                    <a:p>
                      <a:pPr indent="0" marL="0">
                        <a:buNone/>
                      </a:pPr>
                      <a:r>
                        <a:rPr lang="en-US" sz="1250" b="1" dirty="0">
                          <a:solidFill>
                            <a:schemeClr val="tx1"/>
                          </a:solidFill>
                        </a:rPr>
                        <a:t>Import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Copied into the model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As of the last refresh</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Fastest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Refresh schedule and model size limits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868680">
                <a:tc>
                  <a:txBody>
                    <a:bodyPr/>
                    <a:lstStyle/>
                    <a:p>
                      <a:pPr indent="0" marL="0">
                        <a:buNone/>
                      </a:pPr>
                      <a:r>
                        <a:rPr lang="en-US" sz="1250" b="1" dirty="0">
                          <a:solidFill>
                            <a:schemeClr val="tx1"/>
                          </a:solidFill>
                        </a:rPr>
                        <a:t>DirectQuery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Stays in the source. Queried per visual</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Always current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Slowest. The source takes the load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Some modelling features are limited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1005840">
                <a:tc>
                  <a:txBody>
                    <a:bodyPr/>
                    <a:lstStyle/>
                    <a:p>
                      <a:pPr indent="0" marL="0">
                        <a:buNone/>
                      </a:pPr>
                      <a:r>
                        <a:rPr lang="en-US" sz="1250" b="1" dirty="0">
                          <a:solidFill>
                            <a:schemeClr val="tx1"/>
                          </a:solidFill>
                        </a:rPr>
                        <a:t>Direct Lake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Delta files in OneLake, read in place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Current once the model picks up the latest table version</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Close to Import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Capacity limits. Some cases fall back to DirectQuery</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Recommendation strip"/>
          <p:cNvSpPr/>
          <p:nvPr/>
        </p:nvSpPr>
        <p:spPr>
          <a:xfrm>
            <a:off x="548640" y="5029200"/>
            <a:ext cx="11094415" cy="777240"/>
          </a:xfrm>
          <a:prstGeom prst="roundRect">
            <a:avLst>
              <a:gd name="adj" fmla="val 14118"/>
            </a:avLst>
          </a:prstGeom>
          <a:solidFill>
            <a:schemeClr val="accent2">
              <a:alpha val="20000"/>
            </a:schemeClr>
          </a:solidFill>
          <a:ln/>
        </p:spPr>
      </p:sp>
      <p:sp>
        <p:nvSpPr>
          <p:cNvPr id="7" name="Recommendation text"/>
          <p:cNvSpPr txBox="1"/>
          <p:nvPr/>
        </p:nvSpPr>
        <p:spPr>
          <a:xfrm>
            <a:off x="777240" y="5029200"/>
            <a:ext cx="10637215" cy="777240"/>
          </a:xfrm>
          <a:prstGeom prst="rect">
            <a:avLst/>
          </a:prstGeom>
          <a:noFill/>
          <a:ln/>
        </p:spPr>
        <p:txBody>
          <a:bodyPr wrap="square" lIns="0" tIns="0" rIns="0" bIns="0" rtlCol="0" anchor="ctr"/>
          <a:lstStyle/>
          <a:p>
            <a:pPr indent="0" marL="0">
              <a:buNone/>
            </a:pPr>
            <a:r>
              <a:rPr lang="en-US" sz="1450" b="1" dirty="0">
                <a:solidFill>
                  <a:schemeClr val="tx1"/>
                </a:solidFill>
              </a:rPr>
              <a:t>For gold tables in a Fabric lakehouse, start with Direct Lake. </a:t>
            </a:r>
            <a:pPr indent="0" marL="0">
              <a:buNone/>
            </a:pPr>
            <a:r>
              <a:rPr lang="en-US" sz="1450" dirty="0">
                <a:solidFill>
                  <a:schemeClr val="tx1"/>
                </a:solidFill>
              </a:rPr>
              <a:t>Keep Import for small, static or non-Fabric sources.</a:t>
            </a:r>
            <a:endParaRPr lang="en-US" sz="1450" dirty="0"/>
          </a:p>
        </p:txBody>
      </p:sp>
      <p:sp>
        <p:nvSpPr>
          <p:cNvPr id="8" name="Footnote"/>
          <p:cNvSpPr txBox="1"/>
          <p:nvPr/>
        </p:nvSpPr>
        <p:spPr>
          <a:xfrm>
            <a:off x="548640" y="59893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Behaviour and limits depend on the capacity. Confirm against current Microsoft documentation for your SKU.</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REPORTING AND POWER BI</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semantic model is the table plus its meaning</a:t>
            </a:r>
            <a:endParaRPr lang="en-US" sz="3200" dirty="0"/>
          </a:p>
        </p:txBody>
      </p:sp>
      <p:sp>
        <p:nvSpPr>
          <p:cNvPr id="5" name="Field list card"/>
          <p:cNvSpPr/>
          <p:nvPr/>
        </p:nvSpPr>
        <p:spPr>
          <a:xfrm>
            <a:off x="548640" y="1783080"/>
            <a:ext cx="4297680" cy="4023360"/>
          </a:xfrm>
          <a:prstGeom prst="roundRect">
            <a:avLst>
              <a:gd name="adj" fmla="val 2727"/>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Field list label"/>
          <p:cNvSpPr txBox="1"/>
          <p:nvPr/>
        </p:nvSpPr>
        <p:spPr>
          <a:xfrm>
            <a:off x="777240" y="1892808"/>
            <a:ext cx="18288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DATA</a:t>
            </a:r>
            <a:endParaRPr lang="en-US" sz="1000" dirty="0"/>
          </a:p>
        </p:txBody>
      </p:sp>
      <p:sp>
        <p:nvSpPr>
          <p:cNvPr id="7" name="Model table"/>
          <p:cNvSpPr txBox="1"/>
          <p:nvPr/>
        </p:nvSpPr>
        <p:spPr>
          <a:xfrm>
            <a:off x="777240" y="2194560"/>
            <a:ext cx="3840480" cy="27432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gold_dst_apportioned</a:t>
            </a:r>
            <a:endParaRPr lang="en-US" sz="1300" dirty="0"/>
          </a:p>
        </p:txBody>
      </p:sp>
      <p:sp>
        <p:nvSpPr>
          <p:cNvPr id="8" name="Column marker"/>
          <p:cNvSpPr/>
          <p:nvPr/>
        </p:nvSpPr>
        <p:spPr>
          <a:xfrm>
            <a:off x="822960" y="2633472"/>
            <a:ext cx="128016" cy="128016"/>
          </a:xfrm>
          <a:prstGeom prst="rect">
            <a:avLst/>
          </a:prstGeom>
          <a:solidFill>
            <a:schemeClr val="tx1"/>
          </a:solidFill>
          <a:ln/>
        </p:spPr>
      </p:sp>
      <p:sp>
        <p:nvSpPr>
          <p:cNvPr id="9" name="Column name"/>
          <p:cNvSpPr txBox="1"/>
          <p:nvPr/>
        </p:nvSpPr>
        <p:spPr>
          <a:xfrm>
            <a:off x="1097280" y="2560320"/>
            <a:ext cx="2194560" cy="274320"/>
          </a:xfrm>
          <a:prstGeom prst="rect">
            <a:avLst/>
          </a:prstGeom>
          <a:noFill/>
          <a:ln/>
        </p:spPr>
        <p:txBody>
          <a:bodyPr wrap="square" lIns="0" tIns="0" rIns="0" bIns="0" rtlCol="0" anchor="ctr"/>
          <a:lstStyle/>
          <a:p>
            <a:pPr indent="0" marL="0">
              <a:buNone/>
            </a:pPr>
            <a:r>
              <a:rPr lang="en-US" sz="1250" dirty="0">
                <a:solidFill>
                  <a:schemeClr val="tx1"/>
                </a:solidFill>
                <a:latin typeface="Courier New" pitchFamily="34" charset="0"/>
                <a:ea typeface="Courier New" pitchFamily="34" charset="-122"/>
                <a:cs typeface="Courier New" pitchFamily="34" charset="-120"/>
              </a:rPr>
              <a:t>period</a:t>
            </a:r>
            <a:endParaRPr lang="en-US" sz="1250" dirty="0"/>
          </a:p>
        </p:txBody>
      </p:sp>
      <p:sp>
        <p:nvSpPr>
          <p:cNvPr id="10" name="Column marker"/>
          <p:cNvSpPr/>
          <p:nvPr/>
        </p:nvSpPr>
        <p:spPr>
          <a:xfrm>
            <a:off x="822960" y="2907792"/>
            <a:ext cx="128016" cy="128016"/>
          </a:xfrm>
          <a:prstGeom prst="rect">
            <a:avLst/>
          </a:prstGeom>
          <a:solidFill>
            <a:schemeClr val="tx1"/>
          </a:solidFill>
          <a:ln/>
        </p:spPr>
      </p:sp>
      <p:sp>
        <p:nvSpPr>
          <p:cNvPr id="11" name="Column name"/>
          <p:cNvSpPr txBox="1"/>
          <p:nvPr/>
        </p:nvSpPr>
        <p:spPr>
          <a:xfrm>
            <a:off x="1097280" y="2834640"/>
            <a:ext cx="2194560" cy="274320"/>
          </a:xfrm>
          <a:prstGeom prst="rect">
            <a:avLst/>
          </a:prstGeom>
          <a:noFill/>
          <a:ln/>
        </p:spPr>
        <p:txBody>
          <a:bodyPr wrap="square" lIns="0" tIns="0" rIns="0" bIns="0" rtlCol="0" anchor="ctr"/>
          <a:lstStyle/>
          <a:p>
            <a:pPr indent="0" marL="0">
              <a:buNone/>
            </a:pPr>
            <a:r>
              <a:rPr lang="en-US" sz="1250" dirty="0">
                <a:solidFill>
                  <a:schemeClr val="tx1"/>
                </a:solidFill>
                <a:latin typeface="Courier New" pitchFamily="34" charset="0"/>
                <a:ea typeface="Courier New" pitchFamily="34" charset="-122"/>
                <a:cs typeface="Courier New" pitchFamily="34" charset="-120"/>
              </a:rPr>
              <a:t>basis</a:t>
            </a:r>
            <a:endParaRPr lang="en-US" sz="1250" dirty="0"/>
          </a:p>
        </p:txBody>
      </p:sp>
      <p:sp>
        <p:nvSpPr>
          <p:cNvPr id="12" name="Column marker"/>
          <p:cNvSpPr/>
          <p:nvPr/>
        </p:nvSpPr>
        <p:spPr>
          <a:xfrm>
            <a:off x="822960" y="3182112"/>
            <a:ext cx="128016" cy="128016"/>
          </a:xfrm>
          <a:prstGeom prst="rect">
            <a:avLst/>
          </a:prstGeom>
          <a:solidFill>
            <a:schemeClr val="tx1"/>
          </a:solidFill>
          <a:ln/>
        </p:spPr>
      </p:sp>
      <p:sp>
        <p:nvSpPr>
          <p:cNvPr id="13" name="Column name"/>
          <p:cNvSpPr txBox="1"/>
          <p:nvPr/>
        </p:nvSpPr>
        <p:spPr>
          <a:xfrm>
            <a:off x="1097280" y="3108960"/>
            <a:ext cx="2194560" cy="274320"/>
          </a:xfrm>
          <a:prstGeom prst="rect">
            <a:avLst/>
          </a:prstGeom>
          <a:noFill/>
          <a:ln/>
        </p:spPr>
        <p:txBody>
          <a:bodyPr wrap="square" lIns="0" tIns="0" rIns="0" bIns="0" rtlCol="0" anchor="ctr"/>
          <a:lstStyle/>
          <a:p>
            <a:pPr indent="0" marL="0">
              <a:buNone/>
            </a:pPr>
            <a:r>
              <a:rPr lang="en-US" sz="1250" dirty="0">
                <a:solidFill>
                  <a:schemeClr val="tx1"/>
                </a:solidFill>
                <a:latin typeface="Courier New" pitchFamily="34" charset="0"/>
                <a:ea typeface="Courier New" pitchFamily="34" charset="-122"/>
                <a:cs typeface="Courier New" pitchFamily="34" charset="-120"/>
              </a:rPr>
              <a:t>entity</a:t>
            </a:r>
            <a:endParaRPr lang="en-US" sz="1250" dirty="0"/>
          </a:p>
        </p:txBody>
      </p:sp>
      <p:sp>
        <p:nvSpPr>
          <p:cNvPr id="14" name="Column marker"/>
          <p:cNvSpPr/>
          <p:nvPr/>
        </p:nvSpPr>
        <p:spPr>
          <a:xfrm>
            <a:off x="822960" y="3456432"/>
            <a:ext cx="128016" cy="128016"/>
          </a:xfrm>
          <a:prstGeom prst="rect">
            <a:avLst/>
          </a:prstGeom>
          <a:solidFill>
            <a:schemeClr val="tx1"/>
          </a:solidFill>
          <a:ln/>
        </p:spPr>
      </p:sp>
      <p:sp>
        <p:nvSpPr>
          <p:cNvPr id="15" name="Column name"/>
          <p:cNvSpPr txBox="1"/>
          <p:nvPr/>
        </p:nvSpPr>
        <p:spPr>
          <a:xfrm>
            <a:off x="1097280" y="3383280"/>
            <a:ext cx="2194560" cy="274320"/>
          </a:xfrm>
          <a:prstGeom prst="rect">
            <a:avLst/>
          </a:prstGeom>
          <a:noFill/>
          <a:ln/>
        </p:spPr>
        <p:txBody>
          <a:bodyPr wrap="square" lIns="0" tIns="0" rIns="0" bIns="0" rtlCol="0" anchor="ctr"/>
          <a:lstStyle/>
          <a:p>
            <a:pPr indent="0" marL="0">
              <a:buNone/>
            </a:pPr>
            <a:r>
              <a:rPr lang="en-US" sz="1250" dirty="0">
                <a:solidFill>
                  <a:schemeClr val="tx1"/>
                </a:solidFill>
                <a:latin typeface="Courier New" pitchFamily="34" charset="0"/>
                <a:ea typeface="Courier New" pitchFamily="34" charset="-122"/>
                <a:cs typeface="Courier New" pitchFamily="34" charset="-120"/>
              </a:rPr>
              <a:t>state</a:t>
            </a:r>
            <a:endParaRPr lang="en-US" sz="1250" dirty="0"/>
          </a:p>
        </p:txBody>
      </p:sp>
      <p:sp>
        <p:nvSpPr>
          <p:cNvPr id="16" name="Column marker"/>
          <p:cNvSpPr/>
          <p:nvPr/>
        </p:nvSpPr>
        <p:spPr>
          <a:xfrm>
            <a:off x="822960" y="3730752"/>
            <a:ext cx="128016" cy="128016"/>
          </a:xfrm>
          <a:prstGeom prst="rect">
            <a:avLst/>
          </a:prstGeom>
          <a:solidFill>
            <a:schemeClr val="accent5"/>
          </a:solidFill>
          <a:ln/>
        </p:spPr>
      </p:sp>
      <p:sp>
        <p:nvSpPr>
          <p:cNvPr id="17" name="Column name"/>
          <p:cNvSpPr txBox="1"/>
          <p:nvPr/>
        </p:nvSpPr>
        <p:spPr>
          <a:xfrm>
            <a:off x="1097280" y="3657600"/>
            <a:ext cx="2194560" cy="274320"/>
          </a:xfrm>
          <a:prstGeom prst="rect">
            <a:avLst/>
          </a:prstGeom>
          <a:noFill/>
          <a:ln/>
        </p:spPr>
        <p:txBody>
          <a:bodyPr wrap="square" lIns="0" tIns="0" rIns="0" bIns="0" rtlCol="0" anchor="ctr"/>
          <a:lstStyle/>
          <a:p>
            <a:pPr indent="0" marL="0">
              <a:buNone/>
            </a:pPr>
            <a:r>
              <a:rPr lang="en-US" sz="1250" dirty="0">
                <a:solidFill>
                  <a:schemeClr val="accent5"/>
                </a:solidFill>
                <a:latin typeface="Courier New" pitchFamily="34" charset="0"/>
                <a:ea typeface="Courier New" pitchFamily="34" charset="-122"/>
                <a:cs typeface="Courier New" pitchFamily="34" charset="-120"/>
              </a:rPr>
              <a:t>impressions</a:t>
            </a:r>
            <a:endParaRPr lang="en-US" sz="1250" dirty="0"/>
          </a:p>
        </p:txBody>
      </p:sp>
      <p:sp>
        <p:nvSpPr>
          <p:cNvPr id="18" name="Hidden tag"/>
          <p:cNvSpPr txBox="1"/>
          <p:nvPr/>
        </p:nvSpPr>
        <p:spPr>
          <a:xfrm>
            <a:off x="3566160" y="3657600"/>
            <a:ext cx="1005840" cy="274320"/>
          </a:xfrm>
          <a:prstGeom prst="rect">
            <a:avLst/>
          </a:prstGeom>
          <a:noFill/>
          <a:ln/>
        </p:spPr>
        <p:txBody>
          <a:bodyPr wrap="square" lIns="0" tIns="0" rIns="0" bIns="0" rtlCol="0" anchor="ctr"/>
          <a:lstStyle/>
          <a:p>
            <a:pPr algn="r" indent="0" marL="0">
              <a:buNone/>
            </a:pPr>
            <a:r>
              <a:rPr lang="en-US" sz="1050" i="1" dirty="0">
                <a:solidFill>
                  <a:schemeClr val="accent5"/>
                </a:solidFill>
              </a:rPr>
              <a:t>hidden</a:t>
            </a:r>
            <a:endParaRPr lang="en-US" sz="1050" dirty="0"/>
          </a:p>
        </p:txBody>
      </p:sp>
      <p:sp>
        <p:nvSpPr>
          <p:cNvPr id="19" name="Column marker"/>
          <p:cNvSpPr/>
          <p:nvPr/>
        </p:nvSpPr>
        <p:spPr>
          <a:xfrm>
            <a:off x="822960" y="4005072"/>
            <a:ext cx="128016" cy="128016"/>
          </a:xfrm>
          <a:prstGeom prst="rect">
            <a:avLst/>
          </a:prstGeom>
          <a:solidFill>
            <a:schemeClr val="accent5"/>
          </a:solidFill>
          <a:ln/>
        </p:spPr>
      </p:sp>
      <p:sp>
        <p:nvSpPr>
          <p:cNvPr id="20" name="Column name"/>
          <p:cNvSpPr txBox="1"/>
          <p:nvPr/>
        </p:nvSpPr>
        <p:spPr>
          <a:xfrm>
            <a:off x="1097280" y="3931920"/>
            <a:ext cx="2194560" cy="274320"/>
          </a:xfrm>
          <a:prstGeom prst="rect">
            <a:avLst/>
          </a:prstGeom>
          <a:noFill/>
          <a:ln/>
        </p:spPr>
        <p:txBody>
          <a:bodyPr wrap="square" lIns="0" tIns="0" rIns="0" bIns="0" rtlCol="0" anchor="ctr"/>
          <a:lstStyle/>
          <a:p>
            <a:pPr indent="0" marL="0">
              <a:buNone/>
            </a:pPr>
            <a:r>
              <a:rPr lang="en-US" sz="1250" dirty="0">
                <a:solidFill>
                  <a:schemeClr val="accent5"/>
                </a:solidFill>
                <a:latin typeface="Courier New" pitchFamily="34" charset="0"/>
                <a:ea typeface="Courier New" pitchFamily="34" charset="-122"/>
                <a:cs typeface="Courier New" pitchFamily="34" charset="-120"/>
              </a:rPr>
              <a:t>share</a:t>
            </a:r>
            <a:endParaRPr lang="en-US" sz="1250" dirty="0"/>
          </a:p>
        </p:txBody>
      </p:sp>
      <p:sp>
        <p:nvSpPr>
          <p:cNvPr id="21" name="Hidden tag"/>
          <p:cNvSpPr txBox="1"/>
          <p:nvPr/>
        </p:nvSpPr>
        <p:spPr>
          <a:xfrm>
            <a:off x="3566160" y="3931920"/>
            <a:ext cx="1005840" cy="274320"/>
          </a:xfrm>
          <a:prstGeom prst="rect">
            <a:avLst/>
          </a:prstGeom>
          <a:noFill/>
          <a:ln/>
        </p:spPr>
        <p:txBody>
          <a:bodyPr wrap="square" lIns="0" tIns="0" rIns="0" bIns="0" rtlCol="0" anchor="ctr"/>
          <a:lstStyle/>
          <a:p>
            <a:pPr algn="r" indent="0" marL="0">
              <a:buNone/>
            </a:pPr>
            <a:r>
              <a:rPr lang="en-US" sz="1050" i="1" dirty="0">
                <a:solidFill>
                  <a:schemeClr val="accent5"/>
                </a:solidFill>
              </a:rPr>
              <a:t>hidden</a:t>
            </a:r>
            <a:endParaRPr lang="en-US" sz="1050" dirty="0"/>
          </a:p>
        </p:txBody>
      </p:sp>
      <p:sp>
        <p:nvSpPr>
          <p:cNvPr id="22" name="Column marker"/>
          <p:cNvSpPr/>
          <p:nvPr/>
        </p:nvSpPr>
        <p:spPr>
          <a:xfrm>
            <a:off x="822960" y="4279392"/>
            <a:ext cx="128016" cy="128016"/>
          </a:xfrm>
          <a:prstGeom prst="rect">
            <a:avLst/>
          </a:prstGeom>
          <a:solidFill>
            <a:schemeClr val="accent5"/>
          </a:solidFill>
          <a:ln/>
        </p:spPr>
      </p:sp>
      <p:sp>
        <p:nvSpPr>
          <p:cNvPr id="23" name="Column name"/>
          <p:cNvSpPr txBox="1"/>
          <p:nvPr/>
        </p:nvSpPr>
        <p:spPr>
          <a:xfrm>
            <a:off x="1097280" y="4206240"/>
            <a:ext cx="2194560" cy="274320"/>
          </a:xfrm>
          <a:prstGeom prst="rect">
            <a:avLst/>
          </a:prstGeom>
          <a:noFill/>
          <a:ln/>
        </p:spPr>
        <p:txBody>
          <a:bodyPr wrap="square" lIns="0" tIns="0" rIns="0" bIns="0" rtlCol="0" anchor="ctr"/>
          <a:lstStyle/>
          <a:p>
            <a:pPr indent="0" marL="0">
              <a:buNone/>
            </a:pPr>
            <a:r>
              <a:rPr lang="en-US" sz="1250" dirty="0">
                <a:solidFill>
                  <a:schemeClr val="accent5"/>
                </a:solidFill>
                <a:latin typeface="Courier New" pitchFamily="34" charset="0"/>
                <a:ea typeface="Courier New" pitchFamily="34" charset="-122"/>
                <a:cs typeface="Courier New" pitchFamily="34" charset="-120"/>
              </a:rPr>
              <a:t>apportioned</a:t>
            </a:r>
            <a:endParaRPr lang="en-US" sz="1250" dirty="0"/>
          </a:p>
        </p:txBody>
      </p:sp>
      <p:sp>
        <p:nvSpPr>
          <p:cNvPr id="24" name="Hidden tag"/>
          <p:cNvSpPr txBox="1"/>
          <p:nvPr/>
        </p:nvSpPr>
        <p:spPr>
          <a:xfrm>
            <a:off x="3566160" y="4206240"/>
            <a:ext cx="1005840" cy="274320"/>
          </a:xfrm>
          <a:prstGeom prst="rect">
            <a:avLst/>
          </a:prstGeom>
          <a:noFill/>
          <a:ln/>
        </p:spPr>
        <p:txBody>
          <a:bodyPr wrap="square" lIns="0" tIns="0" rIns="0" bIns="0" rtlCol="0" anchor="ctr"/>
          <a:lstStyle/>
          <a:p>
            <a:pPr algn="r" indent="0" marL="0">
              <a:buNone/>
            </a:pPr>
            <a:r>
              <a:rPr lang="en-US" sz="1050" i="1" dirty="0">
                <a:solidFill>
                  <a:schemeClr val="accent5"/>
                </a:solidFill>
              </a:rPr>
              <a:t>hidden</a:t>
            </a:r>
            <a:endParaRPr lang="en-US" sz="1050" dirty="0"/>
          </a:p>
        </p:txBody>
      </p:sp>
      <p:sp>
        <p:nvSpPr>
          <p:cNvPr id="25" name="Column marker"/>
          <p:cNvSpPr/>
          <p:nvPr/>
        </p:nvSpPr>
        <p:spPr>
          <a:xfrm>
            <a:off x="822960" y="4553712"/>
            <a:ext cx="128016" cy="128016"/>
          </a:xfrm>
          <a:prstGeom prst="rect">
            <a:avLst/>
          </a:prstGeom>
          <a:solidFill>
            <a:schemeClr val="accent5"/>
          </a:solidFill>
          <a:ln/>
        </p:spPr>
      </p:sp>
      <p:sp>
        <p:nvSpPr>
          <p:cNvPr id="26" name="Column name"/>
          <p:cNvSpPr txBox="1"/>
          <p:nvPr/>
        </p:nvSpPr>
        <p:spPr>
          <a:xfrm>
            <a:off x="1097280" y="4480560"/>
            <a:ext cx="2194560" cy="274320"/>
          </a:xfrm>
          <a:prstGeom prst="rect">
            <a:avLst/>
          </a:prstGeom>
          <a:noFill/>
          <a:ln/>
        </p:spPr>
        <p:txBody>
          <a:bodyPr wrap="square" lIns="0" tIns="0" rIns="0" bIns="0" rtlCol="0" anchor="ctr"/>
          <a:lstStyle/>
          <a:p>
            <a:pPr indent="0" marL="0">
              <a:buNone/>
            </a:pPr>
            <a:r>
              <a:rPr lang="en-US" sz="1250" dirty="0">
                <a:solidFill>
                  <a:schemeClr val="accent5"/>
                </a:solidFill>
                <a:latin typeface="Courier New" pitchFamily="34" charset="0"/>
                <a:ea typeface="Courier New" pitchFamily="34" charset="-122"/>
                <a:cs typeface="Courier New" pitchFamily="34" charset="-120"/>
              </a:rPr>
              <a:t>run_id</a:t>
            </a:r>
            <a:endParaRPr lang="en-US" sz="1250" dirty="0"/>
          </a:p>
        </p:txBody>
      </p:sp>
      <p:sp>
        <p:nvSpPr>
          <p:cNvPr id="27" name="Hidden tag"/>
          <p:cNvSpPr txBox="1"/>
          <p:nvPr/>
        </p:nvSpPr>
        <p:spPr>
          <a:xfrm>
            <a:off x="3566160" y="4480560"/>
            <a:ext cx="1005840" cy="274320"/>
          </a:xfrm>
          <a:prstGeom prst="rect">
            <a:avLst/>
          </a:prstGeom>
          <a:noFill/>
          <a:ln/>
        </p:spPr>
        <p:txBody>
          <a:bodyPr wrap="square" lIns="0" tIns="0" rIns="0" bIns="0" rtlCol="0" anchor="ctr"/>
          <a:lstStyle/>
          <a:p>
            <a:pPr algn="r" indent="0" marL="0">
              <a:buNone/>
            </a:pPr>
            <a:r>
              <a:rPr lang="en-US" sz="1050" i="1" dirty="0">
                <a:solidFill>
                  <a:schemeClr val="accent5"/>
                </a:solidFill>
              </a:rPr>
              <a:t>hidden</a:t>
            </a:r>
            <a:endParaRPr lang="en-US" sz="1050" dirty="0"/>
          </a:p>
        </p:txBody>
      </p:sp>
      <p:sp>
        <p:nvSpPr>
          <p:cNvPr id="28" name="Measures label"/>
          <p:cNvSpPr txBox="1"/>
          <p:nvPr/>
        </p:nvSpPr>
        <p:spPr>
          <a:xfrm>
            <a:off x="777240" y="4846320"/>
            <a:ext cx="182880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MEASURES</a:t>
            </a:r>
            <a:endParaRPr lang="en-US" sz="1000" dirty="0"/>
          </a:p>
        </p:txBody>
      </p:sp>
      <p:sp>
        <p:nvSpPr>
          <p:cNvPr id="29" name="Measure marker"/>
          <p:cNvSpPr txBox="1"/>
          <p:nvPr/>
        </p:nvSpPr>
        <p:spPr>
          <a:xfrm>
            <a:off x="804672" y="5074920"/>
            <a:ext cx="201168" cy="228600"/>
          </a:xfrm>
          <a:prstGeom prst="rect">
            <a:avLst/>
          </a:prstGeom>
          <a:noFill/>
          <a:ln/>
        </p:spPr>
        <p:txBody>
          <a:bodyPr wrap="square" lIns="0" tIns="0" rIns="0" bIns="0" rtlCol="0" anchor="ctr"/>
          <a:lstStyle/>
          <a:p>
            <a:pPr indent="0" marL="0">
              <a:buNone/>
            </a:pPr>
            <a:r>
              <a:rPr lang="en-US" sz="1200" b="1" dirty="0">
                <a:solidFill>
                  <a:schemeClr val="accent2"/>
                </a:solidFill>
              </a:rPr>
              <a:t>Σ</a:t>
            </a:r>
            <a:endParaRPr lang="en-US" sz="1200" dirty="0"/>
          </a:p>
        </p:txBody>
      </p:sp>
      <p:sp>
        <p:nvSpPr>
          <p:cNvPr id="30" name="Measure name"/>
          <p:cNvSpPr txBox="1"/>
          <p:nvPr/>
        </p:nvSpPr>
        <p:spPr>
          <a:xfrm>
            <a:off x="1097280" y="5074920"/>
            <a:ext cx="3291840" cy="228600"/>
          </a:xfrm>
          <a:prstGeom prst="rect">
            <a:avLst/>
          </a:prstGeom>
          <a:noFill/>
          <a:ln/>
        </p:spPr>
        <p:txBody>
          <a:bodyPr wrap="square" lIns="0" tIns="0" rIns="0" bIns="0" rtlCol="0" anchor="ctr"/>
          <a:lstStyle/>
          <a:p>
            <a:pPr indent="0" marL="0">
              <a:buNone/>
            </a:pPr>
            <a:r>
              <a:rPr lang="en-US" sz="1200" b="1" dirty="0">
                <a:solidFill>
                  <a:schemeClr val="tx1"/>
                </a:solidFill>
              </a:rPr>
              <a:t>Apportioned Amount</a:t>
            </a:r>
            <a:endParaRPr lang="en-US" sz="1200" dirty="0"/>
          </a:p>
        </p:txBody>
      </p:sp>
      <p:sp>
        <p:nvSpPr>
          <p:cNvPr id="31" name="Measure marker"/>
          <p:cNvSpPr txBox="1"/>
          <p:nvPr/>
        </p:nvSpPr>
        <p:spPr>
          <a:xfrm>
            <a:off x="804672" y="5303520"/>
            <a:ext cx="201168" cy="228600"/>
          </a:xfrm>
          <a:prstGeom prst="rect">
            <a:avLst/>
          </a:prstGeom>
          <a:noFill/>
          <a:ln/>
        </p:spPr>
        <p:txBody>
          <a:bodyPr wrap="square" lIns="0" tIns="0" rIns="0" bIns="0" rtlCol="0" anchor="ctr"/>
          <a:lstStyle/>
          <a:p>
            <a:pPr indent="0" marL="0">
              <a:buNone/>
            </a:pPr>
            <a:r>
              <a:rPr lang="en-US" sz="1200" b="1" dirty="0">
                <a:solidFill>
                  <a:schemeClr val="accent2"/>
                </a:solidFill>
              </a:rPr>
              <a:t>Σ</a:t>
            </a:r>
            <a:endParaRPr lang="en-US" sz="1200" dirty="0"/>
          </a:p>
        </p:txBody>
      </p:sp>
      <p:sp>
        <p:nvSpPr>
          <p:cNvPr id="32" name="Measure name"/>
          <p:cNvSpPr txBox="1"/>
          <p:nvPr/>
        </p:nvSpPr>
        <p:spPr>
          <a:xfrm>
            <a:off x="1097280" y="5303520"/>
            <a:ext cx="3291840" cy="228600"/>
          </a:xfrm>
          <a:prstGeom prst="rect">
            <a:avLst/>
          </a:prstGeom>
          <a:noFill/>
          <a:ln/>
        </p:spPr>
        <p:txBody>
          <a:bodyPr wrap="square" lIns="0" tIns="0" rIns="0" bIns="0" rtlCol="0" anchor="ctr"/>
          <a:lstStyle/>
          <a:p>
            <a:pPr indent="0" marL="0">
              <a:buNone/>
            </a:pPr>
            <a:r>
              <a:rPr lang="en-US" sz="1200" b="1" dirty="0">
                <a:solidFill>
                  <a:schemeClr val="tx1"/>
                </a:solidFill>
              </a:rPr>
              <a:t>Impressions</a:t>
            </a:r>
            <a:endParaRPr lang="en-US" sz="1200" dirty="0"/>
          </a:p>
        </p:txBody>
      </p:sp>
      <p:sp>
        <p:nvSpPr>
          <p:cNvPr id="33" name="Measure marker"/>
          <p:cNvSpPr txBox="1"/>
          <p:nvPr/>
        </p:nvSpPr>
        <p:spPr>
          <a:xfrm>
            <a:off x="804672" y="5532120"/>
            <a:ext cx="201168" cy="228600"/>
          </a:xfrm>
          <a:prstGeom prst="rect">
            <a:avLst/>
          </a:prstGeom>
          <a:noFill/>
          <a:ln/>
        </p:spPr>
        <p:txBody>
          <a:bodyPr wrap="square" lIns="0" tIns="0" rIns="0" bIns="0" rtlCol="0" anchor="ctr"/>
          <a:lstStyle/>
          <a:p>
            <a:pPr indent="0" marL="0">
              <a:buNone/>
            </a:pPr>
            <a:r>
              <a:rPr lang="en-US" sz="1200" b="1" dirty="0">
                <a:solidFill>
                  <a:schemeClr val="accent2"/>
                </a:solidFill>
              </a:rPr>
              <a:t>Σ</a:t>
            </a:r>
            <a:endParaRPr lang="en-US" sz="1200" dirty="0"/>
          </a:p>
        </p:txBody>
      </p:sp>
      <p:sp>
        <p:nvSpPr>
          <p:cNvPr id="34" name="Measure name"/>
          <p:cNvSpPr txBox="1"/>
          <p:nvPr/>
        </p:nvSpPr>
        <p:spPr>
          <a:xfrm>
            <a:off x="1097280" y="5532120"/>
            <a:ext cx="3291840" cy="228600"/>
          </a:xfrm>
          <a:prstGeom prst="rect">
            <a:avLst/>
          </a:prstGeom>
          <a:noFill/>
          <a:ln/>
        </p:spPr>
        <p:txBody>
          <a:bodyPr wrap="square" lIns="0" tIns="0" rIns="0" bIns="0" rtlCol="0" anchor="ctr"/>
          <a:lstStyle/>
          <a:p>
            <a:pPr indent="0" marL="0">
              <a:buNone/>
            </a:pPr>
            <a:r>
              <a:rPr lang="en-US" sz="1200" b="1" dirty="0">
                <a:solidFill>
                  <a:schemeClr val="tx1"/>
                </a:solidFill>
              </a:rPr>
              <a:t>Share of Entity</a:t>
            </a:r>
            <a:endParaRPr lang="en-US" sz="1200" dirty="0"/>
          </a:p>
        </p:txBody>
      </p:sp>
      <p:sp>
        <p:nvSpPr>
          <p:cNvPr id="35" name="Name for people card"/>
          <p:cNvSpPr/>
          <p:nvPr/>
        </p:nvSpPr>
        <p:spPr>
          <a:xfrm>
            <a:off x="5120640" y="1783080"/>
            <a:ext cx="6519672" cy="932688"/>
          </a:xfrm>
          <a:prstGeom prst="roundRect">
            <a:avLst>
              <a:gd name="adj" fmla="val 11765"/>
            </a:avLst>
          </a:prstGeom>
          <a:solidFill>
            <a:schemeClr val="bg2"/>
          </a:solidFill>
          <a:ln/>
        </p:spPr>
      </p:sp>
      <p:sp>
        <p:nvSpPr>
          <p:cNvPr id="36" name="Habit chip 1"/>
          <p:cNvSpPr/>
          <p:nvPr/>
        </p:nvSpPr>
        <p:spPr>
          <a:xfrm>
            <a:off x="5303520" y="2020824"/>
            <a:ext cx="457200" cy="457200"/>
          </a:xfrm>
          <a:prstGeom prst="roundRect">
            <a:avLst>
              <a:gd name="adj" fmla="val 16000"/>
            </a:avLst>
          </a:prstGeom>
          <a:solidFill>
            <a:schemeClr val="accent1"/>
          </a:solidFill>
          <a:ln/>
        </p:spPr>
      </p:sp>
      <p:sp>
        <p:nvSpPr>
          <p:cNvPr id="37" name="Habit number"/>
          <p:cNvSpPr txBox="1"/>
          <p:nvPr/>
        </p:nvSpPr>
        <p:spPr>
          <a:xfrm>
            <a:off x="5303520" y="20208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38" name="Habit title"/>
          <p:cNvSpPr txBox="1"/>
          <p:nvPr/>
        </p:nvSpPr>
        <p:spPr>
          <a:xfrm>
            <a:off x="5943600" y="1874520"/>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Name for people</a:t>
            </a:r>
            <a:endParaRPr lang="en-US" sz="1500" dirty="0"/>
          </a:p>
        </p:txBody>
      </p:sp>
      <p:sp>
        <p:nvSpPr>
          <p:cNvPr id="39" name="Habit text"/>
          <p:cNvSpPr txBox="1"/>
          <p:nvPr/>
        </p:nvSpPr>
        <p:spPr>
          <a:xfrm>
            <a:off x="5943600" y="2240280"/>
            <a:ext cx="5486400" cy="457200"/>
          </a:xfrm>
          <a:prstGeom prst="rect">
            <a:avLst/>
          </a:prstGeom>
          <a:noFill/>
          <a:ln/>
        </p:spPr>
        <p:txBody>
          <a:bodyPr wrap="square" lIns="0" tIns="0" rIns="0" bIns="0" rtlCol="0" anchor="t"/>
          <a:lstStyle/>
          <a:p>
            <a:pPr indent="0" marL="0">
              <a:buNone/>
            </a:pPr>
            <a:r>
              <a:rPr lang="en-US" sz="1300" dirty="0">
                <a:solidFill>
                  <a:schemeClr val="tx1"/>
                </a:solidFill>
              </a:rPr>
              <a:t>Apportioned Amount, not sum_of_apportioned.</a:t>
            </a:r>
            <a:endParaRPr lang="en-US" sz="1300" dirty="0"/>
          </a:p>
        </p:txBody>
      </p:sp>
      <p:sp>
        <p:nvSpPr>
          <p:cNvPr id="40" name="Hide the plumbing card"/>
          <p:cNvSpPr/>
          <p:nvPr/>
        </p:nvSpPr>
        <p:spPr>
          <a:xfrm>
            <a:off x="5120640" y="2807208"/>
            <a:ext cx="6519672" cy="932688"/>
          </a:xfrm>
          <a:prstGeom prst="roundRect">
            <a:avLst>
              <a:gd name="adj" fmla="val 11765"/>
            </a:avLst>
          </a:prstGeom>
          <a:solidFill>
            <a:schemeClr val="bg2"/>
          </a:solidFill>
          <a:ln/>
        </p:spPr>
      </p:sp>
      <p:sp>
        <p:nvSpPr>
          <p:cNvPr id="41" name="Habit chip 2"/>
          <p:cNvSpPr/>
          <p:nvPr/>
        </p:nvSpPr>
        <p:spPr>
          <a:xfrm>
            <a:off x="5303520" y="3044952"/>
            <a:ext cx="457200" cy="457200"/>
          </a:xfrm>
          <a:prstGeom prst="roundRect">
            <a:avLst>
              <a:gd name="adj" fmla="val 16000"/>
            </a:avLst>
          </a:prstGeom>
          <a:solidFill>
            <a:schemeClr val="accent1"/>
          </a:solidFill>
          <a:ln/>
        </p:spPr>
      </p:sp>
      <p:sp>
        <p:nvSpPr>
          <p:cNvPr id="42" name="Habit number"/>
          <p:cNvSpPr txBox="1"/>
          <p:nvPr/>
        </p:nvSpPr>
        <p:spPr>
          <a:xfrm>
            <a:off x="5303520" y="30449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43" name="Habit title"/>
          <p:cNvSpPr txBox="1"/>
          <p:nvPr/>
        </p:nvSpPr>
        <p:spPr>
          <a:xfrm>
            <a:off x="5943600" y="2898648"/>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Hide the plumbing</a:t>
            </a:r>
            <a:endParaRPr lang="en-US" sz="1500" dirty="0"/>
          </a:p>
        </p:txBody>
      </p:sp>
      <p:sp>
        <p:nvSpPr>
          <p:cNvPr id="44" name="Habit text"/>
          <p:cNvSpPr txBox="1"/>
          <p:nvPr/>
        </p:nvSpPr>
        <p:spPr>
          <a:xfrm>
            <a:off x="5943600" y="3264408"/>
            <a:ext cx="5486400" cy="457200"/>
          </a:xfrm>
          <a:prstGeom prst="rect">
            <a:avLst/>
          </a:prstGeom>
          <a:noFill/>
          <a:ln/>
        </p:spPr>
        <p:txBody>
          <a:bodyPr wrap="square" lIns="0" tIns="0" rIns="0" bIns="0" rtlCol="0" anchor="t"/>
          <a:lstStyle/>
          <a:p>
            <a:pPr indent="0" marL="0">
              <a:buNone/>
            </a:pPr>
            <a:r>
              <a:rPr lang="en-US" sz="1300" dirty="0">
                <a:solidFill>
                  <a:schemeClr val="tx1"/>
                </a:solidFill>
              </a:rPr>
              <a:t>Raw numbers, the share and the run ID stay out of the field list.</a:t>
            </a:r>
            <a:endParaRPr lang="en-US" sz="1300" dirty="0"/>
          </a:p>
        </p:txBody>
      </p:sp>
      <p:sp>
        <p:nvSpPr>
          <p:cNvPr id="45" name="Format once card"/>
          <p:cNvSpPr/>
          <p:nvPr/>
        </p:nvSpPr>
        <p:spPr>
          <a:xfrm>
            <a:off x="5120640" y="3831336"/>
            <a:ext cx="6519672" cy="932688"/>
          </a:xfrm>
          <a:prstGeom prst="roundRect">
            <a:avLst>
              <a:gd name="adj" fmla="val 11765"/>
            </a:avLst>
          </a:prstGeom>
          <a:solidFill>
            <a:schemeClr val="bg2"/>
          </a:solidFill>
          <a:ln/>
        </p:spPr>
      </p:sp>
      <p:sp>
        <p:nvSpPr>
          <p:cNvPr id="46" name="Habit chip 3"/>
          <p:cNvSpPr/>
          <p:nvPr/>
        </p:nvSpPr>
        <p:spPr>
          <a:xfrm>
            <a:off x="5303520" y="4069080"/>
            <a:ext cx="457200" cy="457200"/>
          </a:xfrm>
          <a:prstGeom prst="roundRect">
            <a:avLst>
              <a:gd name="adj" fmla="val 16000"/>
            </a:avLst>
          </a:prstGeom>
          <a:solidFill>
            <a:schemeClr val="accent1"/>
          </a:solidFill>
          <a:ln/>
        </p:spPr>
      </p:sp>
      <p:sp>
        <p:nvSpPr>
          <p:cNvPr id="47" name="Habit number"/>
          <p:cNvSpPr txBox="1"/>
          <p:nvPr/>
        </p:nvSpPr>
        <p:spPr>
          <a:xfrm>
            <a:off x="530352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48" name="Habit title"/>
          <p:cNvSpPr txBox="1"/>
          <p:nvPr/>
        </p:nvSpPr>
        <p:spPr>
          <a:xfrm>
            <a:off x="5943600" y="3922776"/>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Format once</a:t>
            </a:r>
            <a:endParaRPr lang="en-US" sz="1500" dirty="0"/>
          </a:p>
        </p:txBody>
      </p:sp>
      <p:sp>
        <p:nvSpPr>
          <p:cNvPr id="49" name="Habit text"/>
          <p:cNvSpPr txBox="1"/>
          <p:nvPr/>
        </p:nvSpPr>
        <p:spPr>
          <a:xfrm>
            <a:off x="5943600" y="4288536"/>
            <a:ext cx="5486400" cy="457200"/>
          </a:xfrm>
          <a:prstGeom prst="rect">
            <a:avLst/>
          </a:prstGeom>
          <a:noFill/>
          <a:ln/>
        </p:spPr>
        <p:txBody>
          <a:bodyPr wrap="square" lIns="0" tIns="0" rIns="0" bIns="0" rtlCol="0" anchor="t"/>
          <a:lstStyle/>
          <a:p>
            <a:pPr indent="0" marL="0">
              <a:buNone/>
            </a:pPr>
            <a:r>
              <a:rPr lang="en-US" sz="1300" dirty="0">
                <a:solidFill>
                  <a:schemeClr val="tx1"/>
                </a:solidFill>
              </a:rPr>
              <a:t>Currency with two decimals. Shares as percentages. Set in the model.</a:t>
            </a:r>
            <a:endParaRPr lang="en-US" sz="1300" dirty="0"/>
          </a:p>
        </p:txBody>
      </p:sp>
      <p:sp>
        <p:nvSpPr>
          <p:cNvPr id="50" name="Describe it card"/>
          <p:cNvSpPr/>
          <p:nvPr/>
        </p:nvSpPr>
        <p:spPr>
          <a:xfrm>
            <a:off x="5120640" y="4855464"/>
            <a:ext cx="6519672" cy="932688"/>
          </a:xfrm>
          <a:prstGeom prst="roundRect">
            <a:avLst>
              <a:gd name="adj" fmla="val 11765"/>
            </a:avLst>
          </a:prstGeom>
          <a:solidFill>
            <a:schemeClr val="bg2"/>
          </a:solidFill>
          <a:ln/>
        </p:spPr>
      </p:sp>
      <p:sp>
        <p:nvSpPr>
          <p:cNvPr id="51" name="Habit chip 4"/>
          <p:cNvSpPr/>
          <p:nvPr/>
        </p:nvSpPr>
        <p:spPr>
          <a:xfrm>
            <a:off x="5303520" y="5093208"/>
            <a:ext cx="457200" cy="457200"/>
          </a:xfrm>
          <a:prstGeom prst="roundRect">
            <a:avLst>
              <a:gd name="adj" fmla="val 16000"/>
            </a:avLst>
          </a:prstGeom>
          <a:solidFill>
            <a:schemeClr val="accent1"/>
          </a:solidFill>
          <a:ln/>
        </p:spPr>
      </p:sp>
      <p:sp>
        <p:nvSpPr>
          <p:cNvPr id="52" name="Habit number"/>
          <p:cNvSpPr txBox="1"/>
          <p:nvPr/>
        </p:nvSpPr>
        <p:spPr>
          <a:xfrm>
            <a:off x="5303520" y="5093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53" name="Habit title"/>
          <p:cNvSpPr txBox="1"/>
          <p:nvPr/>
        </p:nvSpPr>
        <p:spPr>
          <a:xfrm>
            <a:off x="5943600" y="4946904"/>
            <a:ext cx="548640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Describe it</a:t>
            </a:r>
            <a:endParaRPr lang="en-US" sz="1500" dirty="0"/>
          </a:p>
        </p:txBody>
      </p:sp>
      <p:sp>
        <p:nvSpPr>
          <p:cNvPr id="54" name="Habit text"/>
          <p:cNvSpPr txBox="1"/>
          <p:nvPr/>
        </p:nvSpPr>
        <p:spPr>
          <a:xfrm>
            <a:off x="5943600" y="5312664"/>
            <a:ext cx="5486400" cy="457200"/>
          </a:xfrm>
          <a:prstGeom prst="rect">
            <a:avLst/>
          </a:prstGeom>
          <a:noFill/>
          <a:ln/>
        </p:spPr>
        <p:txBody>
          <a:bodyPr wrap="square" lIns="0" tIns="0" rIns="0" bIns="0" rtlCol="0" anchor="t"/>
          <a:lstStyle/>
          <a:p>
            <a:pPr indent="0" marL="0">
              <a:buNone/>
            </a:pPr>
            <a:r>
              <a:rPr lang="en-US" sz="1300" dirty="0">
                <a:solidFill>
                  <a:schemeClr val="tx1"/>
                </a:solidFill>
              </a:rPr>
              <a:t>A sentence on each measure shows as a tooltip for everyone.</a:t>
            </a:r>
            <a:endParaRPr lang="en-US" sz="1300" dirty="0"/>
          </a:p>
        </p:txBody>
      </p:sp>
      <p:sp>
        <p:nvSpPr>
          <p:cNvPr id="55"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Field list for the lab model. Columns and measures follow the gold table written in Lab A.</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REPORTING AND POWER BI</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Three measures do most of the work</a:t>
            </a:r>
            <a:endParaRPr lang="en-US" sz="3200" dirty="0"/>
          </a:p>
        </p:txBody>
      </p:sp>
      <p:sp>
        <p:nvSpPr>
          <p:cNvPr id="5" name="DAX measures"/>
          <p:cNvSpPr/>
          <p:nvPr/>
        </p:nvSpPr>
        <p:spPr>
          <a:xfrm>
            <a:off x="548640" y="1783080"/>
            <a:ext cx="6309360" cy="3867912"/>
          </a:xfrm>
          <a:prstGeom prst="roundRect">
            <a:avLst>
              <a:gd name="adj" fmla="val 2364"/>
            </a:avLst>
          </a:prstGeom>
          <a:solidFill>
            <a:schemeClr val="tx1"/>
          </a:solidFill>
          <a:ln/>
        </p:spPr>
      </p:sp>
      <p:sp>
        <p:nvSpPr>
          <p:cNvPr id="6" name="Code label"/>
          <p:cNvSpPr txBox="1"/>
          <p:nvPr/>
        </p:nvSpPr>
        <p:spPr>
          <a:xfrm>
            <a:off x="749808" y="1874520"/>
            <a:ext cx="59070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DAX · MEASURES ON GOLD_DST_APPORTIONED</a:t>
            </a:r>
            <a:endParaRPr lang="en-US" sz="1000" dirty="0"/>
          </a:p>
        </p:txBody>
      </p:sp>
      <p:sp>
        <p:nvSpPr>
          <p:cNvPr id="7" name="DAX measures text"/>
          <p:cNvSpPr txBox="1"/>
          <p:nvPr/>
        </p:nvSpPr>
        <p:spPr>
          <a:xfrm>
            <a:off x="749808" y="2167128"/>
            <a:ext cx="5907024" cy="3374136"/>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Apportioned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Amount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SUM</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gold_dst_apportioned[apportioned]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Impressions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SUM</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gold_dst_apportioned[impressions]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Share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of</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Entity</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DIVIDE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[Impressions],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CALCULATE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[Impressions],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REMOVEFILTERS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gold_dst_apportioned[state]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8" name="Why REMOVEFILTERS card"/>
          <p:cNvSpPr/>
          <p:nvPr/>
        </p:nvSpPr>
        <p:spPr>
          <a:xfrm>
            <a:off x="7040880" y="1783080"/>
            <a:ext cx="4599432" cy="1216152"/>
          </a:xfrm>
          <a:prstGeom prst="roundRect">
            <a:avLst>
              <a:gd name="adj" fmla="val 9023"/>
            </a:avLst>
          </a:prstGeom>
          <a:solidFill>
            <a:schemeClr val="bg2"/>
          </a:solidFill>
          <a:ln/>
        </p:spPr>
      </p:sp>
      <p:sp>
        <p:nvSpPr>
          <p:cNvPr id="9" name="Note title"/>
          <p:cNvSpPr txBox="1"/>
          <p:nvPr/>
        </p:nvSpPr>
        <p:spPr>
          <a:xfrm>
            <a:off x="7269480" y="1874520"/>
            <a:ext cx="420624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Why REMOVEFILTERS</a:t>
            </a:r>
            <a:endParaRPr lang="en-US" sz="1500" dirty="0"/>
          </a:p>
        </p:txBody>
      </p:sp>
      <p:sp>
        <p:nvSpPr>
          <p:cNvPr id="10" name="Note text"/>
          <p:cNvSpPr txBox="1"/>
          <p:nvPr/>
        </p:nvSpPr>
        <p:spPr>
          <a:xfrm>
            <a:off x="7269480" y="2240280"/>
            <a:ext cx="4206240" cy="713232"/>
          </a:xfrm>
          <a:prstGeom prst="rect">
            <a:avLst/>
          </a:prstGeom>
          <a:noFill/>
          <a:ln/>
        </p:spPr>
        <p:txBody>
          <a:bodyPr wrap="square" lIns="0" tIns="0" rIns="0" bIns="0" rtlCol="0" anchor="t"/>
          <a:lstStyle/>
          <a:p>
            <a:pPr indent="0" marL="0">
              <a:buNone/>
            </a:pPr>
            <a:r>
              <a:rPr lang="en-US" sz="1250" dirty="0">
                <a:solidFill>
                  <a:schemeClr val="tx1"/>
                </a:solidFill>
              </a:rPr>
              <a:t>It clears the state filter and keeps entity, period and basis. ALLEXCEPT would need every kept column listed.</a:t>
            </a:r>
            <a:endParaRPr lang="en-US" sz="1250" dirty="0"/>
          </a:p>
        </p:txBody>
      </p:sp>
      <p:sp>
        <p:nvSpPr>
          <p:cNvPr id="11" name="One basis at a time card"/>
          <p:cNvSpPr/>
          <p:nvPr/>
        </p:nvSpPr>
        <p:spPr>
          <a:xfrm>
            <a:off x="7040880" y="3108960"/>
            <a:ext cx="4599432" cy="1216152"/>
          </a:xfrm>
          <a:prstGeom prst="roundRect">
            <a:avLst>
              <a:gd name="adj" fmla="val 9023"/>
            </a:avLst>
          </a:prstGeom>
          <a:solidFill>
            <a:schemeClr val="accent3">
              <a:alpha val="22000"/>
            </a:schemeClr>
          </a:solidFill>
          <a:ln/>
        </p:spPr>
      </p:sp>
      <p:sp>
        <p:nvSpPr>
          <p:cNvPr id="12" name="Note title"/>
          <p:cNvSpPr txBox="1"/>
          <p:nvPr/>
        </p:nvSpPr>
        <p:spPr>
          <a:xfrm>
            <a:off x="7269480" y="3200400"/>
            <a:ext cx="420624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One basis at a time</a:t>
            </a:r>
            <a:endParaRPr lang="en-US" sz="1500" dirty="0"/>
          </a:p>
        </p:txBody>
      </p:sp>
      <p:sp>
        <p:nvSpPr>
          <p:cNvPr id="13" name="Note text"/>
          <p:cNvSpPr txBox="1"/>
          <p:nvPr/>
        </p:nvSpPr>
        <p:spPr>
          <a:xfrm>
            <a:off x="7269480" y="3566160"/>
            <a:ext cx="4206240" cy="713232"/>
          </a:xfrm>
          <a:prstGeom prst="rect">
            <a:avLst/>
          </a:prstGeom>
          <a:noFill/>
          <a:ln/>
        </p:spPr>
        <p:txBody>
          <a:bodyPr wrap="square" lIns="0" tIns="0" rIns="0" bIns="0" rtlCol="0" anchor="t"/>
          <a:lstStyle/>
          <a:p>
            <a:pPr indent="0" marL="0">
              <a:buNone/>
            </a:pPr>
            <a:r>
              <a:rPr lang="en-US" sz="1250" dirty="0">
                <a:solidFill>
                  <a:schemeClr val="tx1"/>
                </a:solidFill>
              </a:rPr>
              <a:t>Make basis a single-select slicer. Both together would double count.</a:t>
            </a:r>
            <a:endParaRPr lang="en-US" sz="1250" dirty="0"/>
          </a:p>
        </p:txBody>
      </p:sp>
      <p:sp>
        <p:nvSpPr>
          <p:cNvPr id="14" name="Check against the gate card"/>
          <p:cNvSpPr/>
          <p:nvPr/>
        </p:nvSpPr>
        <p:spPr>
          <a:xfrm>
            <a:off x="7040880" y="4434840"/>
            <a:ext cx="4599432" cy="1216152"/>
          </a:xfrm>
          <a:prstGeom prst="roundRect">
            <a:avLst>
              <a:gd name="adj" fmla="val 9023"/>
            </a:avLst>
          </a:prstGeom>
          <a:solidFill>
            <a:schemeClr val="bg2"/>
          </a:solidFill>
          <a:ln/>
        </p:spPr>
      </p:sp>
      <p:sp>
        <p:nvSpPr>
          <p:cNvPr id="15" name="Note title"/>
          <p:cNvSpPr txBox="1"/>
          <p:nvPr/>
        </p:nvSpPr>
        <p:spPr>
          <a:xfrm>
            <a:off x="7269480" y="4526280"/>
            <a:ext cx="420624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Check against the gate</a:t>
            </a:r>
            <a:endParaRPr lang="en-US" sz="1500" dirty="0"/>
          </a:p>
        </p:txBody>
      </p:sp>
      <p:sp>
        <p:nvSpPr>
          <p:cNvPr id="16" name="Note text"/>
          <p:cNvSpPr txBox="1"/>
          <p:nvPr/>
        </p:nvSpPr>
        <p:spPr>
          <a:xfrm>
            <a:off x="7269480" y="4892040"/>
            <a:ext cx="4206240" cy="713232"/>
          </a:xfrm>
          <a:prstGeom prst="rect">
            <a:avLst/>
          </a:prstGeom>
          <a:noFill/>
          <a:ln/>
        </p:spPr>
        <p:txBody>
          <a:bodyPr wrap="square" lIns="0" tIns="0" rIns="0" bIns="0" rtlCol="0" anchor="t"/>
          <a:lstStyle/>
          <a:p>
            <a:pPr indent="0" marL="0">
              <a:buNone/>
            </a:pPr>
            <a:r>
              <a:rPr lang="en-US" sz="1250" dirty="0">
                <a:solidFill>
                  <a:schemeClr val="tx1"/>
                </a:solidFill>
              </a:rPr>
              <a:t>Apportioned Amount by entity should equal revenue. If not, look at the model.</a:t>
            </a:r>
            <a:endParaRPr lang="en-US" sz="1250" dirty="0"/>
          </a:p>
        </p:txBody>
      </p:sp>
      <p:sp>
        <p:nvSpPr>
          <p:cNvPr id="17"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Standard DAX patterns written for the lab's gold table. Not executed in this training environment: test them in Lab B.</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REPORTING AND POWER BI</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report page people can trust says when, and how well</a:t>
            </a:r>
            <a:endParaRPr lang="en-US" sz="3200" dirty="0"/>
          </a:p>
        </p:txBody>
      </p:sp>
      <p:sp>
        <p:nvSpPr>
          <p:cNvPr id="5" name="Report frame"/>
          <p:cNvSpPr/>
          <p:nvPr/>
        </p:nvSpPr>
        <p:spPr>
          <a:xfrm>
            <a:off x="548640" y="1783080"/>
            <a:ext cx="7772400" cy="4069080"/>
          </a:xfrm>
          <a:prstGeom prst="roundRect">
            <a:avLst>
              <a:gd name="adj" fmla="val 2697"/>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6" name="Report title"/>
          <p:cNvSpPr txBox="1"/>
          <p:nvPr/>
        </p:nvSpPr>
        <p:spPr>
          <a:xfrm>
            <a:off x="777240" y="1874520"/>
            <a:ext cx="3657600" cy="36576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DST apportionment</a:t>
            </a:r>
            <a:endParaRPr lang="en-US" sz="1800" dirty="0"/>
          </a:p>
        </p:txBody>
      </p:sp>
      <p:sp>
        <p:nvSpPr>
          <p:cNvPr id="7" name="Freshness tag"/>
          <p:cNvSpPr txBox="1"/>
          <p:nvPr/>
        </p:nvSpPr>
        <p:spPr>
          <a:xfrm>
            <a:off x="4754880" y="1920240"/>
            <a:ext cx="3337560" cy="292608"/>
          </a:xfrm>
          <a:prstGeom prst="roundRect">
            <a:avLst>
              <a:gd name="adj" fmla="val 50000"/>
            </a:avLst>
          </a:prstGeom>
          <a:solidFill>
            <a:schemeClr val="accent2">
              <a:alpha val="25000"/>
            </a:schemeClr>
          </a:solidFill>
          <a:ln/>
        </p:spPr>
        <p:txBody>
          <a:bodyPr wrap="square" lIns="0" tIns="0" rIns="0" bIns="0" rtlCol="0" anchor="ctr"/>
          <a:lstStyle/>
          <a:p>
            <a:pPr algn="ctr" indent="0" marL="0">
              <a:buNone/>
            </a:pPr>
            <a:r>
              <a:rPr lang="en-US" sz="1100" b="1" dirty="0">
                <a:solidFill>
                  <a:schemeClr val="tx1"/>
                </a:solidFill>
              </a:rPr>
              <a:t>Data as of 2025-01 run · Passed</a:t>
            </a:r>
            <a:endParaRPr lang="en-US" sz="1100" dirty="0"/>
          </a:p>
        </p:txBody>
      </p:sp>
      <p:sp>
        <p:nvSpPr>
          <p:cNvPr id="8" name="Slicer Period"/>
          <p:cNvSpPr/>
          <p:nvPr/>
        </p:nvSpPr>
        <p:spPr>
          <a:xfrm>
            <a:off x="777240" y="2377440"/>
            <a:ext cx="1874520" cy="457200"/>
          </a:xfrm>
          <a:prstGeom prst="roundRect">
            <a:avLst>
              <a:gd name="adj" fmla="val 10000"/>
            </a:avLst>
          </a:prstGeom>
          <a:solidFill>
            <a:schemeClr val="bg1"/>
          </a:solidFill>
          <a:ln w="12700">
            <a:solidFill>
              <a:schemeClr val="accent5"/>
            </a:solidFill>
            <a:prstDash val="solid"/>
          </a:ln>
        </p:spPr>
      </p:sp>
      <p:sp>
        <p:nvSpPr>
          <p:cNvPr id="9" name="Slicer label"/>
          <p:cNvSpPr txBox="1"/>
          <p:nvPr/>
        </p:nvSpPr>
        <p:spPr>
          <a:xfrm>
            <a:off x="886968" y="2395728"/>
            <a:ext cx="1645920" cy="164592"/>
          </a:xfrm>
          <a:prstGeom prst="rect">
            <a:avLst/>
          </a:prstGeom>
          <a:noFill/>
          <a:ln/>
        </p:spPr>
        <p:txBody>
          <a:bodyPr wrap="square" lIns="0" tIns="0" rIns="0" bIns="0" rtlCol="0" anchor="t"/>
          <a:lstStyle/>
          <a:p>
            <a:pPr indent="0" marL="0">
              <a:buNone/>
            </a:pPr>
            <a:r>
              <a:rPr lang="en-US" sz="800" b="1" spc="100" kern="0" dirty="0">
                <a:solidFill>
                  <a:schemeClr val="accent5"/>
                </a:solidFill>
              </a:rPr>
              <a:t>PERIOD</a:t>
            </a:r>
            <a:endParaRPr lang="en-US" sz="800" dirty="0"/>
          </a:p>
        </p:txBody>
      </p:sp>
      <p:sp>
        <p:nvSpPr>
          <p:cNvPr id="10" name="Slicer value"/>
          <p:cNvSpPr txBox="1"/>
          <p:nvPr/>
        </p:nvSpPr>
        <p:spPr>
          <a:xfrm>
            <a:off x="886968" y="2560320"/>
            <a:ext cx="1645920" cy="237744"/>
          </a:xfrm>
          <a:prstGeom prst="rect">
            <a:avLst/>
          </a:prstGeom>
          <a:noFill/>
          <a:ln/>
        </p:spPr>
        <p:txBody>
          <a:bodyPr wrap="square" lIns="0" tIns="0" rIns="0" bIns="0" rtlCol="0" anchor="t"/>
          <a:lstStyle/>
          <a:p>
            <a:pPr indent="0" marL="0">
              <a:buNone/>
            </a:pPr>
            <a:r>
              <a:rPr lang="en-US" sz="1200" b="1" dirty="0">
                <a:solidFill>
                  <a:schemeClr val="tx1"/>
                </a:solidFill>
              </a:rPr>
              <a:t>2025-01</a:t>
            </a:r>
            <a:endParaRPr lang="en-US" sz="1200" dirty="0"/>
          </a:p>
        </p:txBody>
      </p:sp>
      <p:sp>
        <p:nvSpPr>
          <p:cNvPr id="11" name="Slicer Denominator"/>
          <p:cNvSpPr/>
          <p:nvPr/>
        </p:nvSpPr>
        <p:spPr>
          <a:xfrm>
            <a:off x="2788920" y="2377440"/>
            <a:ext cx="1874520" cy="457200"/>
          </a:xfrm>
          <a:prstGeom prst="roundRect">
            <a:avLst>
              <a:gd name="adj" fmla="val 10000"/>
            </a:avLst>
          </a:prstGeom>
          <a:solidFill>
            <a:schemeClr val="bg1"/>
          </a:solidFill>
          <a:ln w="12700">
            <a:solidFill>
              <a:schemeClr val="accent5"/>
            </a:solidFill>
            <a:prstDash val="solid"/>
          </a:ln>
        </p:spPr>
      </p:sp>
      <p:sp>
        <p:nvSpPr>
          <p:cNvPr id="12" name="Slicer label"/>
          <p:cNvSpPr txBox="1"/>
          <p:nvPr/>
        </p:nvSpPr>
        <p:spPr>
          <a:xfrm>
            <a:off x="2898648" y="2395728"/>
            <a:ext cx="1645920" cy="164592"/>
          </a:xfrm>
          <a:prstGeom prst="rect">
            <a:avLst/>
          </a:prstGeom>
          <a:noFill/>
          <a:ln/>
        </p:spPr>
        <p:txBody>
          <a:bodyPr wrap="square" lIns="0" tIns="0" rIns="0" bIns="0" rtlCol="0" anchor="t"/>
          <a:lstStyle/>
          <a:p>
            <a:pPr indent="0" marL="0">
              <a:buNone/>
            </a:pPr>
            <a:r>
              <a:rPr lang="en-US" sz="800" b="1" spc="100" kern="0" dirty="0">
                <a:solidFill>
                  <a:schemeClr val="accent5"/>
                </a:solidFill>
              </a:rPr>
              <a:t>DENOMINATOR</a:t>
            </a:r>
            <a:endParaRPr lang="en-US" sz="800" dirty="0"/>
          </a:p>
        </p:txBody>
      </p:sp>
      <p:sp>
        <p:nvSpPr>
          <p:cNvPr id="13" name="Slicer value"/>
          <p:cNvSpPr txBox="1"/>
          <p:nvPr/>
        </p:nvSpPr>
        <p:spPr>
          <a:xfrm>
            <a:off x="2898648" y="2560320"/>
            <a:ext cx="1645920" cy="237744"/>
          </a:xfrm>
          <a:prstGeom prst="rect">
            <a:avLst/>
          </a:prstGeom>
          <a:noFill/>
          <a:ln/>
        </p:spPr>
        <p:txBody>
          <a:bodyPr wrap="square" lIns="0" tIns="0" rIns="0" bIns="0" rtlCol="0" anchor="t"/>
          <a:lstStyle/>
          <a:p>
            <a:pPr indent="0" marL="0">
              <a:buNone/>
            </a:pPr>
            <a:r>
              <a:rPr lang="en-US" sz="1200" b="1" dirty="0">
                <a:solidFill>
                  <a:schemeClr val="tx1"/>
                </a:solidFill>
              </a:rPr>
              <a:t>without_na</a:t>
            </a:r>
            <a:endParaRPr lang="en-US" sz="1200" dirty="0"/>
          </a:p>
        </p:txBody>
      </p:sp>
      <p:sp>
        <p:nvSpPr>
          <p:cNvPr id="14" name="Apportioned card"/>
          <p:cNvSpPr/>
          <p:nvPr/>
        </p:nvSpPr>
        <p:spPr>
          <a:xfrm>
            <a:off x="777240" y="3017520"/>
            <a:ext cx="2331720" cy="868680"/>
          </a:xfrm>
          <a:prstGeom prst="roundRect">
            <a:avLst>
              <a:gd name="adj" fmla="val 12632"/>
            </a:avLst>
          </a:prstGeom>
          <a:solidFill>
            <a:schemeClr val="bg2"/>
          </a:solidFill>
          <a:ln/>
        </p:spPr>
      </p:sp>
      <p:sp>
        <p:nvSpPr>
          <p:cNvPr id="15" name="KPI label"/>
          <p:cNvSpPr txBox="1"/>
          <p:nvPr/>
        </p:nvSpPr>
        <p:spPr>
          <a:xfrm>
            <a:off x="914400" y="3090672"/>
            <a:ext cx="2103120" cy="201168"/>
          </a:xfrm>
          <a:prstGeom prst="rect">
            <a:avLst/>
          </a:prstGeom>
          <a:noFill/>
          <a:ln/>
        </p:spPr>
        <p:txBody>
          <a:bodyPr wrap="square" lIns="0" tIns="0" rIns="0" bIns="0" rtlCol="0" anchor="t"/>
          <a:lstStyle/>
          <a:p>
            <a:pPr indent="0" marL="0">
              <a:buNone/>
            </a:pPr>
            <a:r>
              <a:rPr lang="en-US" sz="900" b="1" spc="100" kern="0" dirty="0">
                <a:solidFill>
                  <a:schemeClr val="accent1"/>
                </a:solidFill>
              </a:rPr>
              <a:t>APPORTIONED</a:t>
            </a:r>
            <a:endParaRPr lang="en-US" sz="900" dirty="0"/>
          </a:p>
        </p:txBody>
      </p:sp>
      <p:sp>
        <p:nvSpPr>
          <p:cNvPr id="16" name="KPI value"/>
          <p:cNvSpPr txBox="1"/>
          <p:nvPr/>
        </p:nvSpPr>
        <p:spPr>
          <a:xfrm>
            <a:off x="914400" y="3310128"/>
            <a:ext cx="2103120" cy="50292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30,000.00</a:t>
            </a:r>
            <a:endParaRPr lang="en-US" sz="2400" dirty="0"/>
          </a:p>
        </p:txBody>
      </p:sp>
      <p:sp>
        <p:nvSpPr>
          <p:cNvPr id="17" name="Tie-out difference card"/>
          <p:cNvSpPr/>
          <p:nvPr/>
        </p:nvSpPr>
        <p:spPr>
          <a:xfrm>
            <a:off x="3246120" y="3017520"/>
            <a:ext cx="2331720" cy="868680"/>
          </a:xfrm>
          <a:prstGeom prst="roundRect">
            <a:avLst>
              <a:gd name="adj" fmla="val 12632"/>
            </a:avLst>
          </a:prstGeom>
          <a:solidFill>
            <a:schemeClr val="bg2"/>
          </a:solidFill>
          <a:ln/>
        </p:spPr>
      </p:sp>
      <p:sp>
        <p:nvSpPr>
          <p:cNvPr id="18" name="KPI label"/>
          <p:cNvSpPr txBox="1"/>
          <p:nvPr/>
        </p:nvSpPr>
        <p:spPr>
          <a:xfrm>
            <a:off x="3383280" y="3090672"/>
            <a:ext cx="2103120" cy="201168"/>
          </a:xfrm>
          <a:prstGeom prst="rect">
            <a:avLst/>
          </a:prstGeom>
          <a:noFill/>
          <a:ln/>
        </p:spPr>
        <p:txBody>
          <a:bodyPr wrap="square" lIns="0" tIns="0" rIns="0" bIns="0" rtlCol="0" anchor="t"/>
          <a:lstStyle/>
          <a:p>
            <a:pPr indent="0" marL="0">
              <a:buNone/>
            </a:pPr>
            <a:r>
              <a:rPr lang="en-US" sz="900" b="1" spc="100" kern="0" dirty="0">
                <a:solidFill>
                  <a:schemeClr val="accent1"/>
                </a:solidFill>
              </a:rPr>
              <a:t>TIE-OUT DIFFERENCE</a:t>
            </a:r>
            <a:endParaRPr lang="en-US" sz="900" dirty="0"/>
          </a:p>
        </p:txBody>
      </p:sp>
      <p:sp>
        <p:nvSpPr>
          <p:cNvPr id="19" name="KPI value"/>
          <p:cNvSpPr txBox="1"/>
          <p:nvPr/>
        </p:nvSpPr>
        <p:spPr>
          <a:xfrm>
            <a:off x="3383280" y="3310128"/>
            <a:ext cx="2103120" cy="50292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0.00</a:t>
            </a:r>
            <a:endParaRPr lang="en-US" sz="2400" dirty="0"/>
          </a:p>
        </p:txBody>
      </p:sp>
      <p:sp>
        <p:nvSpPr>
          <p:cNvPr id="20" name="Unmapped rows card"/>
          <p:cNvSpPr/>
          <p:nvPr/>
        </p:nvSpPr>
        <p:spPr>
          <a:xfrm>
            <a:off x="5715000" y="3017520"/>
            <a:ext cx="2331720" cy="868680"/>
          </a:xfrm>
          <a:prstGeom prst="roundRect">
            <a:avLst>
              <a:gd name="adj" fmla="val 12632"/>
            </a:avLst>
          </a:prstGeom>
          <a:solidFill>
            <a:schemeClr val="bg2"/>
          </a:solidFill>
          <a:ln/>
        </p:spPr>
      </p:sp>
      <p:sp>
        <p:nvSpPr>
          <p:cNvPr id="21" name="KPI label"/>
          <p:cNvSpPr txBox="1"/>
          <p:nvPr/>
        </p:nvSpPr>
        <p:spPr>
          <a:xfrm>
            <a:off x="5852160" y="3090672"/>
            <a:ext cx="2103120" cy="201168"/>
          </a:xfrm>
          <a:prstGeom prst="rect">
            <a:avLst/>
          </a:prstGeom>
          <a:noFill/>
          <a:ln/>
        </p:spPr>
        <p:txBody>
          <a:bodyPr wrap="square" lIns="0" tIns="0" rIns="0" bIns="0" rtlCol="0" anchor="t"/>
          <a:lstStyle/>
          <a:p>
            <a:pPr indent="0" marL="0">
              <a:buNone/>
            </a:pPr>
            <a:r>
              <a:rPr lang="en-US" sz="900" b="1" spc="100" kern="0" dirty="0">
                <a:solidFill>
                  <a:schemeClr val="accent1"/>
                </a:solidFill>
              </a:rPr>
              <a:t>UNMAPPED ROWS</a:t>
            </a:r>
            <a:endParaRPr lang="en-US" sz="900" dirty="0"/>
          </a:p>
        </p:txBody>
      </p:sp>
      <p:sp>
        <p:nvSpPr>
          <p:cNvPr id="22" name="KPI value"/>
          <p:cNvSpPr txBox="1"/>
          <p:nvPr/>
        </p:nvSpPr>
        <p:spPr>
          <a:xfrm>
            <a:off x="5852160" y="3310128"/>
            <a:ext cx="2103120" cy="502920"/>
          </a:xfrm>
          <a:prstGeom prst="rect">
            <a:avLst/>
          </a:prstGeom>
          <a:noFill/>
          <a:ln/>
        </p:spPr>
        <p:txBody>
          <a:bodyPr wrap="square" lIns="0" tIns="0" rIns="0" bIns="0" rtlCol="0" anchor="ctr"/>
          <a:lstStyle/>
          <a:p>
            <a:pPr indent="0" marL="0">
              <a:buNone/>
            </a:pPr>
            <a:r>
              <a:rPr lang="en-US" sz="2400" b="1" dirty="0">
                <a:solidFill>
                  <a:schemeClr val="tx1"/>
                </a:solidFill>
                <a:latin typeface="+mj-lt" pitchFamily="34" charset="0"/>
                <a:ea typeface="+mj-lt" pitchFamily="34" charset="-122"/>
                <a:cs typeface="+mj-lt" pitchFamily="34" charset="-120"/>
              </a:rPr>
              <a:t>1</a:t>
            </a:r>
            <a:endParaRPr lang="en-US" sz="2400" dirty="0"/>
          </a:p>
        </p:txBody>
      </p:sp>
      <p:graphicFrame>
        <p:nvGraphicFramePr>
          <p:cNvPr id="23" name="Chart 0" descr=""/>
          <p:cNvGraphicFramePr/>
          <p:nvPr/>
        </p:nvGraphicFramePr>
        <p:xfrm>
          <a:off x="731520" y="3977640"/>
          <a:ext cx="7406640" cy="1828800"/>
        </p:xfrm>
        <a:graphic xmlns:a="http://schemas.openxmlformats.org/drawingml/2006/main">
          <a:graphicData uri="http://schemas.openxmlformats.org/drawingml/2006/chart">
            <c:chart xmlns:c="http://schemas.openxmlformats.org/drawingml/2006/chart" r:id="rId1"/>
          </a:graphicData>
        </a:graphic>
      </p:graphicFrame>
      <p:sp>
        <p:nvSpPr>
          <p:cNvPr id="24" name="Freshness card"/>
          <p:cNvSpPr/>
          <p:nvPr/>
        </p:nvSpPr>
        <p:spPr>
          <a:xfrm>
            <a:off x="8503920" y="1783080"/>
            <a:ext cx="3136392" cy="1261872"/>
          </a:xfrm>
          <a:prstGeom prst="roundRect">
            <a:avLst>
              <a:gd name="adj" fmla="val 8696"/>
            </a:avLst>
          </a:prstGeom>
          <a:solidFill>
            <a:schemeClr val="accent2">
              <a:alpha val="15000"/>
            </a:schemeClr>
          </a:solidFill>
          <a:ln/>
        </p:spPr>
      </p:sp>
      <p:sp>
        <p:nvSpPr>
          <p:cNvPr id="25" name="Trust title"/>
          <p:cNvSpPr txBox="1"/>
          <p:nvPr/>
        </p:nvSpPr>
        <p:spPr>
          <a:xfrm>
            <a:off x="8686800" y="1874520"/>
            <a:ext cx="2743200" cy="301752"/>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Freshness</a:t>
            </a:r>
            <a:endParaRPr lang="en-US" sz="1500" dirty="0"/>
          </a:p>
        </p:txBody>
      </p:sp>
      <p:sp>
        <p:nvSpPr>
          <p:cNvPr id="26" name="Trust text"/>
          <p:cNvSpPr txBox="1"/>
          <p:nvPr/>
        </p:nvSpPr>
        <p:spPr>
          <a:xfrm>
            <a:off x="8686800" y="2240280"/>
            <a:ext cx="2788920" cy="777240"/>
          </a:xfrm>
          <a:prstGeom prst="rect">
            <a:avLst/>
          </a:prstGeom>
          <a:noFill/>
          <a:ln/>
        </p:spPr>
        <p:txBody>
          <a:bodyPr wrap="square" lIns="0" tIns="0" rIns="0" bIns="0" rtlCol="0" anchor="t"/>
          <a:lstStyle/>
          <a:p>
            <a:pPr indent="0" marL="0">
              <a:buNone/>
            </a:pPr>
            <a:r>
              <a:rPr lang="en-US" sz="1200" dirty="0">
                <a:solidFill>
                  <a:schemeClr val="tx1"/>
                </a:solidFill>
              </a:rPr>
              <a:t>When the data was produced, and whether that run passed. From the run log.</a:t>
            </a:r>
            <a:endParaRPr lang="en-US" sz="1200" dirty="0"/>
          </a:p>
        </p:txBody>
      </p:sp>
      <p:sp>
        <p:nvSpPr>
          <p:cNvPr id="27" name="Tie-out card"/>
          <p:cNvSpPr/>
          <p:nvPr/>
        </p:nvSpPr>
        <p:spPr>
          <a:xfrm>
            <a:off x="8503920" y="3154680"/>
            <a:ext cx="3136392" cy="1261872"/>
          </a:xfrm>
          <a:prstGeom prst="roundRect">
            <a:avLst>
              <a:gd name="adj" fmla="val 8696"/>
            </a:avLst>
          </a:prstGeom>
          <a:solidFill>
            <a:schemeClr val="accent2">
              <a:alpha val="15000"/>
            </a:schemeClr>
          </a:solidFill>
          <a:ln/>
        </p:spPr>
      </p:sp>
      <p:sp>
        <p:nvSpPr>
          <p:cNvPr id="28" name="Trust title"/>
          <p:cNvSpPr txBox="1"/>
          <p:nvPr/>
        </p:nvSpPr>
        <p:spPr>
          <a:xfrm>
            <a:off x="8686800" y="3246120"/>
            <a:ext cx="2743200" cy="301752"/>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Tie-out</a:t>
            </a:r>
            <a:endParaRPr lang="en-US" sz="1500" dirty="0"/>
          </a:p>
        </p:txBody>
      </p:sp>
      <p:sp>
        <p:nvSpPr>
          <p:cNvPr id="29" name="Trust text"/>
          <p:cNvSpPr txBox="1"/>
          <p:nvPr/>
        </p:nvSpPr>
        <p:spPr>
          <a:xfrm>
            <a:off x="8686800" y="3611880"/>
            <a:ext cx="2788920" cy="777240"/>
          </a:xfrm>
          <a:prstGeom prst="rect">
            <a:avLst/>
          </a:prstGeom>
          <a:noFill/>
          <a:ln/>
        </p:spPr>
        <p:txBody>
          <a:bodyPr wrap="square" lIns="0" tIns="0" rIns="0" bIns="0" rtlCol="0" anchor="t"/>
          <a:lstStyle/>
          <a:p>
            <a:pPr indent="0" marL="0">
              <a:buNone/>
            </a:pPr>
            <a:r>
              <a:rPr lang="en-US" sz="1200" dirty="0">
                <a:solidFill>
                  <a:schemeClr val="tx1"/>
                </a:solidFill>
              </a:rPr>
              <a:t>The difference between apportioned and revenue, shown, not hidden.</a:t>
            </a:r>
            <a:endParaRPr lang="en-US" sz="1200" dirty="0"/>
          </a:p>
        </p:txBody>
      </p:sp>
      <p:sp>
        <p:nvSpPr>
          <p:cNvPr id="30" name="Unmapped card"/>
          <p:cNvSpPr/>
          <p:nvPr/>
        </p:nvSpPr>
        <p:spPr>
          <a:xfrm>
            <a:off x="8503920" y="4526280"/>
            <a:ext cx="3136392" cy="1261872"/>
          </a:xfrm>
          <a:prstGeom prst="roundRect">
            <a:avLst>
              <a:gd name="adj" fmla="val 8696"/>
            </a:avLst>
          </a:prstGeom>
          <a:solidFill>
            <a:schemeClr val="accent2">
              <a:alpha val="15000"/>
            </a:schemeClr>
          </a:solidFill>
          <a:ln/>
        </p:spPr>
      </p:sp>
      <p:sp>
        <p:nvSpPr>
          <p:cNvPr id="31" name="Trust title"/>
          <p:cNvSpPr txBox="1"/>
          <p:nvPr/>
        </p:nvSpPr>
        <p:spPr>
          <a:xfrm>
            <a:off x="8686800" y="4617720"/>
            <a:ext cx="2743200" cy="301752"/>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Unmapped</a:t>
            </a:r>
            <a:endParaRPr lang="en-US" sz="1500" dirty="0"/>
          </a:p>
        </p:txBody>
      </p:sp>
      <p:sp>
        <p:nvSpPr>
          <p:cNvPr id="32" name="Trust text"/>
          <p:cNvSpPr txBox="1"/>
          <p:nvPr/>
        </p:nvSpPr>
        <p:spPr>
          <a:xfrm>
            <a:off x="8686800" y="4983480"/>
            <a:ext cx="2788920" cy="777240"/>
          </a:xfrm>
          <a:prstGeom prst="rect">
            <a:avLst/>
          </a:prstGeom>
          <a:noFill/>
          <a:ln/>
        </p:spPr>
        <p:txBody>
          <a:bodyPr wrap="square" lIns="0" tIns="0" rIns="0" bIns="0" rtlCol="0" anchor="t"/>
          <a:lstStyle/>
          <a:p>
            <a:pPr indent="0" marL="0">
              <a:buNone/>
            </a:pPr>
            <a:r>
              <a:rPr lang="en-US" sz="1200" dirty="0">
                <a:solidFill>
                  <a:schemeClr val="tx1"/>
                </a:solidFill>
              </a:rPr>
              <a:t>How many rows had no entity, with a drill-through to the list.</a:t>
            </a:r>
            <a:endParaRPr lang="en-US" sz="1200" dirty="0"/>
          </a:p>
        </p:txBody>
      </p:sp>
      <p:sp>
        <p:nvSpPr>
          <p:cNvPr id="33"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Mock-up using the Lab A results for 2025-01 without_na. All numbers are invented.</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REPORTING AND POWER BI</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Power Query lives in three places: shape it upstream</a:t>
            </a:r>
            <a:endParaRPr lang="en-US" sz="3200" dirty="0"/>
          </a:p>
        </p:txBody>
      </p:sp>
      <p:graphicFrame>
        <p:nvGraphicFramePr>
          <p:cNvPr id="58" name="Power Query places"/>
          <p:cNvGraphicFramePr>
            <a:graphicFrameLocks noGrp="1"/>
          </p:cNvGraphicFramePr>
          <p:nvPr>
            <p:extLst>
              <p:ext uri="{D42A27DB-BD31-4B8C-83A1-F6EECF244321}">
                <p14:modId xmlns:p14="http://schemas.microsoft.com/office/powerpoint/2010/main" val="1579011935"/>
              </p:ext>
            </p:extLst>
          </p:nvPr>
        </p:nvGraphicFramePr>
        <p:xfrm>
          <a:off x="548640" y="1783080"/>
          <a:ext cx="7315200" cy="914400"/>
        </p:xfrm>
        <a:graphic>
          <a:graphicData uri="http://schemas.openxmlformats.org/drawingml/2006/table">
            <a:tbl>
              <a:tblPr/>
              <a:tblGrid>
                <a:gridCol w="1737360"/>
                <a:gridCol w="2651760"/>
                <a:gridCol w="2926080"/>
              </a:tblGrid>
              <a:tr h="365760">
                <a:tc>
                  <a:txBody>
                    <a:bodyPr/>
                    <a:lstStyle/>
                    <a:p>
                      <a:pPr indent="0" marL="0">
                        <a:buNone/>
                      </a:pPr>
                      <a:r>
                        <a:rPr lang="en-US" sz="1200" b="1" dirty="0">
                          <a:solidFill>
                            <a:schemeClr val="bg1"/>
                          </a:solidFill>
                        </a:rPr>
                        <a:t>Where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Use it for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Disney example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1051560">
                <a:tc>
                  <a:txBody>
                    <a:bodyPr/>
                    <a:lstStyle/>
                    <a:p>
                      <a:pPr indent="0" marL="0">
                        <a:buNone/>
                      </a:pPr>
                      <a:r>
                        <a:rPr lang="en-US" sz="1200" b="1" dirty="0">
                          <a:solidFill>
                            <a:schemeClr val="tx1"/>
                          </a:solidFill>
                        </a:rPr>
                        <a:t>Dataflow Gen2</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Shaping small reference tables once, for everyone. Loads to the lakehouse.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Ingest_Reference_Data in the DST pipeline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1051560">
                <a:tc>
                  <a:txBody>
                    <a:bodyPr/>
                    <a:lstStyle/>
                    <a:p>
                      <a:pPr indent="0" marL="0">
                        <a:buNone/>
                      </a:pPr>
                      <a:r>
                        <a:rPr lang="en-US" sz="1200" b="1" dirty="0">
                          <a:solidFill>
                            <a:schemeClr val="tx1"/>
                          </a:solidFill>
                        </a:rPr>
                        <a:t>Excel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Personal shaping next to a pivot table.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The DST main file connects to the impressions CSV this way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1051560">
                <a:tc>
                  <a:txBody>
                    <a:bodyPr/>
                    <a:lstStyle/>
                    <a:p>
                      <a:pPr indent="0" marL="0">
                        <a:buNone/>
                      </a:pPr>
                      <a:r>
                        <a:rPr lang="en-US" sz="1200" b="1" dirty="0">
                          <a:solidFill>
                            <a:schemeClr val="tx1"/>
                          </a:solidFill>
                        </a:rPr>
                        <a:t>Power BI Desktop</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Report-specific tweaks before data loads to the model.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Nothing yet. Keep it that way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Rule card"/>
          <p:cNvSpPr/>
          <p:nvPr/>
        </p:nvSpPr>
        <p:spPr>
          <a:xfrm>
            <a:off x="8092440" y="1783080"/>
            <a:ext cx="3547872" cy="3749040"/>
          </a:xfrm>
          <a:prstGeom prst="roundRect">
            <a:avLst>
              <a:gd name="adj" fmla="val 3093"/>
            </a:avLst>
          </a:prstGeom>
          <a:solidFill>
            <a:schemeClr val="tx1"/>
          </a:solidFill>
          <a:ln/>
        </p:spPr>
      </p:sp>
      <p:sp>
        <p:nvSpPr>
          <p:cNvPr id="7" name="Rule label"/>
          <p:cNvSpPr txBox="1"/>
          <p:nvPr/>
        </p:nvSpPr>
        <p:spPr>
          <a:xfrm>
            <a:off x="8321040" y="1920240"/>
            <a:ext cx="310896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PUSH SHAPING UPSTREAM</a:t>
            </a:r>
            <a:endParaRPr lang="en-US" sz="1000" dirty="0"/>
          </a:p>
        </p:txBody>
      </p:sp>
      <p:sp>
        <p:nvSpPr>
          <p:cNvPr id="8" name="Rule chip 1"/>
          <p:cNvSpPr/>
          <p:nvPr/>
        </p:nvSpPr>
        <p:spPr>
          <a:xfrm>
            <a:off x="8321040" y="2423160"/>
            <a:ext cx="411480" cy="411480"/>
          </a:xfrm>
          <a:prstGeom prst="roundRect">
            <a:avLst>
              <a:gd name="adj" fmla="val 17778"/>
            </a:avLst>
          </a:prstGeom>
          <a:solidFill>
            <a:schemeClr val="accent2"/>
          </a:solidFill>
          <a:ln/>
        </p:spPr>
      </p:sp>
      <p:sp>
        <p:nvSpPr>
          <p:cNvPr id="9" name="Rule number"/>
          <p:cNvSpPr txBox="1"/>
          <p:nvPr/>
        </p:nvSpPr>
        <p:spPr>
          <a:xfrm>
            <a:off x="8321040" y="2423160"/>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1</a:t>
            </a:r>
            <a:endParaRPr lang="en-US" sz="1400" dirty="0"/>
          </a:p>
        </p:txBody>
      </p:sp>
      <p:sp>
        <p:nvSpPr>
          <p:cNvPr id="10" name="Rule step"/>
          <p:cNvSpPr txBox="1"/>
          <p:nvPr/>
        </p:nvSpPr>
        <p:spPr>
          <a:xfrm>
            <a:off x="8915400" y="2377440"/>
            <a:ext cx="2606040" cy="502920"/>
          </a:xfrm>
          <a:prstGeom prst="rect">
            <a:avLst/>
          </a:prstGeom>
          <a:noFill/>
          <a:ln/>
        </p:spPr>
        <p:txBody>
          <a:bodyPr wrap="square" lIns="0" tIns="0" rIns="0" bIns="0" rtlCol="0" anchor="ctr"/>
          <a:lstStyle/>
          <a:p>
            <a:pPr indent="0" marL="0">
              <a:buNone/>
            </a:pPr>
            <a:r>
              <a:rPr lang="en-US" sz="1400" b="1" dirty="0">
                <a:solidFill>
                  <a:schemeClr val="bg1"/>
                </a:solidFill>
              </a:rPr>
              <a:t>Notebook or SQL</a:t>
            </a:r>
            <a:endParaRPr lang="en-US" sz="1400" dirty="0"/>
          </a:p>
        </p:txBody>
      </p:sp>
      <p:sp>
        <p:nvSpPr>
          <p:cNvPr id="11" name="Rule chip 2"/>
          <p:cNvSpPr/>
          <p:nvPr/>
        </p:nvSpPr>
        <p:spPr>
          <a:xfrm>
            <a:off x="8321040" y="3200400"/>
            <a:ext cx="411480" cy="411480"/>
          </a:xfrm>
          <a:prstGeom prst="roundRect">
            <a:avLst>
              <a:gd name="adj" fmla="val 17778"/>
            </a:avLst>
          </a:prstGeom>
          <a:solidFill>
            <a:schemeClr val="accent5"/>
          </a:solidFill>
          <a:ln/>
        </p:spPr>
      </p:sp>
      <p:sp>
        <p:nvSpPr>
          <p:cNvPr id="12" name="Rule number"/>
          <p:cNvSpPr txBox="1"/>
          <p:nvPr/>
        </p:nvSpPr>
        <p:spPr>
          <a:xfrm>
            <a:off x="8321040" y="3200400"/>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2</a:t>
            </a:r>
            <a:endParaRPr lang="en-US" sz="1400" dirty="0"/>
          </a:p>
        </p:txBody>
      </p:sp>
      <p:sp>
        <p:nvSpPr>
          <p:cNvPr id="13" name="Rule step"/>
          <p:cNvSpPr txBox="1"/>
          <p:nvPr/>
        </p:nvSpPr>
        <p:spPr>
          <a:xfrm>
            <a:off x="8915400" y="3154680"/>
            <a:ext cx="2606040" cy="502920"/>
          </a:xfrm>
          <a:prstGeom prst="rect">
            <a:avLst/>
          </a:prstGeom>
          <a:noFill/>
          <a:ln/>
        </p:spPr>
        <p:txBody>
          <a:bodyPr wrap="square" lIns="0" tIns="0" rIns="0" bIns="0" rtlCol="0" anchor="ctr"/>
          <a:lstStyle/>
          <a:p>
            <a:pPr indent="0" marL="0">
              <a:buNone/>
            </a:pPr>
            <a:r>
              <a:rPr lang="en-US" sz="1400" b="1" dirty="0">
                <a:solidFill>
                  <a:schemeClr val="bg1"/>
                </a:solidFill>
              </a:rPr>
              <a:t>Dataflow Gen2</a:t>
            </a:r>
            <a:endParaRPr lang="en-US" sz="1400" dirty="0"/>
          </a:p>
        </p:txBody>
      </p:sp>
      <p:sp>
        <p:nvSpPr>
          <p:cNvPr id="14" name="Rule chip 3"/>
          <p:cNvSpPr/>
          <p:nvPr/>
        </p:nvSpPr>
        <p:spPr>
          <a:xfrm>
            <a:off x="8321040" y="3977640"/>
            <a:ext cx="411480" cy="411480"/>
          </a:xfrm>
          <a:prstGeom prst="roundRect">
            <a:avLst>
              <a:gd name="adj" fmla="val 17778"/>
            </a:avLst>
          </a:prstGeom>
          <a:solidFill>
            <a:schemeClr val="accent5"/>
          </a:solidFill>
          <a:ln/>
        </p:spPr>
      </p:sp>
      <p:sp>
        <p:nvSpPr>
          <p:cNvPr id="15" name="Rule number"/>
          <p:cNvSpPr txBox="1"/>
          <p:nvPr/>
        </p:nvSpPr>
        <p:spPr>
          <a:xfrm>
            <a:off x="8321040" y="3977640"/>
            <a:ext cx="411480" cy="411480"/>
          </a:xfrm>
          <a:prstGeom prst="rect">
            <a:avLst/>
          </a:prstGeom>
          <a:noFill/>
          <a:ln/>
        </p:spPr>
        <p:txBody>
          <a:bodyPr wrap="square" lIns="0" tIns="0" rIns="0" bIns="0" rtlCol="0" anchor="ctr"/>
          <a:lstStyle/>
          <a:p>
            <a:pPr algn="ctr" indent="0" marL="0">
              <a:buNone/>
            </a:pPr>
            <a:r>
              <a:rPr lang="en-US" sz="1400" b="1" dirty="0">
                <a:solidFill>
                  <a:schemeClr val="tx1"/>
                </a:solidFill>
                <a:latin typeface="+mj-lt" pitchFamily="34" charset="0"/>
                <a:ea typeface="+mj-lt" pitchFamily="34" charset="-122"/>
                <a:cs typeface="+mj-lt" pitchFamily="34" charset="-120"/>
              </a:rPr>
              <a:t>3</a:t>
            </a:r>
            <a:endParaRPr lang="en-US" sz="1400" dirty="0"/>
          </a:p>
        </p:txBody>
      </p:sp>
      <p:sp>
        <p:nvSpPr>
          <p:cNvPr id="16" name="Rule step"/>
          <p:cNvSpPr txBox="1"/>
          <p:nvPr/>
        </p:nvSpPr>
        <p:spPr>
          <a:xfrm>
            <a:off x="8915400" y="3931920"/>
            <a:ext cx="2606040" cy="502920"/>
          </a:xfrm>
          <a:prstGeom prst="rect">
            <a:avLst/>
          </a:prstGeom>
          <a:noFill/>
          <a:ln/>
        </p:spPr>
        <p:txBody>
          <a:bodyPr wrap="square" lIns="0" tIns="0" rIns="0" bIns="0" rtlCol="0" anchor="ctr"/>
          <a:lstStyle/>
          <a:p>
            <a:pPr indent="0" marL="0">
              <a:buNone/>
            </a:pPr>
            <a:r>
              <a:rPr lang="en-US" sz="1400" b="1" dirty="0">
                <a:solidFill>
                  <a:schemeClr val="bg1"/>
                </a:solidFill>
              </a:rPr>
              <a:t>Power Query in a report</a:t>
            </a:r>
            <a:endParaRPr lang="en-US" sz="1400" dirty="0"/>
          </a:p>
        </p:txBody>
      </p:sp>
      <p:sp>
        <p:nvSpPr>
          <p:cNvPr id="17" name="Rule note"/>
          <p:cNvSpPr txBox="1"/>
          <p:nvPr/>
        </p:nvSpPr>
        <p:spPr>
          <a:xfrm>
            <a:off x="8321040" y="4709160"/>
            <a:ext cx="3154680" cy="731520"/>
          </a:xfrm>
          <a:prstGeom prst="rect">
            <a:avLst/>
          </a:prstGeom>
          <a:noFill/>
          <a:ln/>
        </p:spPr>
        <p:txBody>
          <a:bodyPr wrap="square" lIns="0" tIns="0" rIns="0" bIns="0" rtlCol="0" anchor="t"/>
          <a:lstStyle/>
          <a:p>
            <a:pPr indent="0" marL="0">
              <a:buNone/>
            </a:pPr>
            <a:r>
              <a:rPr lang="en-US" sz="1200" i="1" dirty="0">
                <a:solidFill>
                  <a:schemeClr val="bg2"/>
                </a:solidFill>
              </a:rPr>
              <a:t>Each step further down is shaping that only one file can see.</a:t>
            </a:r>
            <a:endParaRPr lang="en-US" sz="1200" dirty="0"/>
          </a:p>
        </p:txBody>
      </p:sp>
      <p:sp>
        <p:nvSpPr>
          <p:cNvPr id="18" name="Footnote"/>
          <p:cNvSpPr txBox="1"/>
          <p:nvPr/>
        </p:nvSpPr>
        <p:spPr>
          <a:xfrm>
            <a:off x="548640" y="57607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DST workflow documentation (main file and impression CSV); pipeline_Run_withDataRefresh export (dataflow activity).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REPORTING AND POWER BI</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Excel stays. What sits under the pivot changes</a:t>
            </a:r>
            <a:endParaRPr lang="en-US" sz="3200" dirty="0"/>
          </a:p>
        </p:txBody>
      </p:sp>
      <p:sp>
        <p:nvSpPr>
          <p:cNvPr id="5" name="Today: the DST main file card"/>
          <p:cNvSpPr/>
          <p:nvPr/>
        </p:nvSpPr>
        <p:spPr>
          <a:xfrm>
            <a:off x="548640" y="1783080"/>
            <a:ext cx="5239512" cy="3429000"/>
          </a:xfrm>
          <a:prstGeom prst="roundRect">
            <a:avLst>
              <a:gd name="adj" fmla="val 3200"/>
            </a:avLst>
          </a:prstGeom>
          <a:solidFill>
            <a:schemeClr val="bg2"/>
          </a:solidFill>
          <a:ln/>
        </p:spPr>
      </p:sp>
      <p:sp>
        <p:nvSpPr>
          <p:cNvPr id="6" name="Card accent"/>
          <p:cNvSpPr/>
          <p:nvPr/>
        </p:nvSpPr>
        <p:spPr>
          <a:xfrm>
            <a:off x="777240" y="1938528"/>
            <a:ext cx="457200" cy="54864"/>
          </a:xfrm>
          <a:prstGeom prst="rect">
            <a:avLst/>
          </a:prstGeom>
          <a:solidFill>
            <a:schemeClr val="accent4"/>
          </a:solidFill>
          <a:ln/>
        </p:spPr>
      </p:sp>
      <p:sp>
        <p:nvSpPr>
          <p:cNvPr id="7" name="Compare title"/>
          <p:cNvSpPr txBox="1"/>
          <p:nvPr/>
        </p:nvSpPr>
        <p:spPr>
          <a:xfrm>
            <a:off x="777240" y="2057400"/>
            <a:ext cx="475488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Today: the DST main file</a:t>
            </a:r>
            <a:endParaRPr lang="en-US" sz="1700" dirty="0"/>
          </a:p>
        </p:txBody>
      </p:sp>
      <p:sp>
        <p:nvSpPr>
          <p:cNvPr id="8" name="Compare list"/>
          <p:cNvSpPr txBox="1"/>
          <p:nvPr/>
        </p:nvSpPr>
        <p:spPr>
          <a:xfrm>
            <a:off x="777240" y="2560320"/>
            <a:ext cx="4800600" cy="256032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rPr>
              <a:t>Alteryx writes the workbook: Revenue Data, Unmapped Ad Units and Unmapped CoCodes tabs.</a:t>
            </a:r>
            <a:endParaRPr lang="en-US" sz="1450" dirty="0"/>
          </a:p>
          <a:p>
            <a:pPr marL="342900" indent="-342900">
              <a:spcAft>
                <a:spcPts val="1000"/>
              </a:spcAft>
              <a:buSzPct val="100000"/>
              <a:buChar char="•"/>
            </a:pPr>
            <a:r>
              <a:rPr lang="en-US" sz="1450" dirty="0">
                <a:solidFill>
                  <a:schemeClr val="tx1"/>
                </a:solidFill>
              </a:rPr>
              <a:t>Impressions, 12 million+ records, go to a large CSV. Too big for Excel.</a:t>
            </a:r>
            <a:endParaRPr lang="en-US" sz="1450" dirty="0"/>
          </a:p>
          <a:p>
            <a:pPr marL="342900" indent="-342900">
              <a:spcAft>
                <a:spcPts val="1000"/>
              </a:spcAft>
              <a:buSzPct val="100000"/>
              <a:buChar char="•"/>
            </a:pPr>
            <a:r>
              <a:rPr lang="en-US" sz="1450" dirty="0">
                <a:solidFill>
                  <a:schemeClr val="tx1"/>
                </a:solidFill>
              </a:rPr>
              <a:t>Power Query in the workbook reads the CSV for the pivot tables.</a:t>
            </a:r>
            <a:endParaRPr lang="en-US" sz="1450" dirty="0"/>
          </a:p>
          <a:p>
            <a:pPr marL="342900" indent="-342900">
              <a:spcAft>
                <a:spcPts val="1000"/>
              </a:spcAft>
              <a:buSzPct val="100000"/>
              <a:buChar char="•"/>
            </a:pPr>
            <a:r>
              <a:rPr lang="en-US" sz="1450" dirty="0">
                <a:solidFill>
                  <a:schemeClr val="tx1"/>
                </a:solidFill>
              </a:rPr>
              <a:t>A summarized copy is pushed to the Data Hub for the dashboard.</a:t>
            </a:r>
            <a:endParaRPr lang="en-US" sz="1450" dirty="0"/>
          </a:p>
        </p:txBody>
      </p:sp>
      <p:sp>
        <p:nvSpPr>
          <p:cNvPr id="9" name="With Fabric: Analyze in Excel card"/>
          <p:cNvSpPr/>
          <p:nvPr/>
        </p:nvSpPr>
        <p:spPr>
          <a:xfrm>
            <a:off x="6400800" y="1783080"/>
            <a:ext cx="5239512" cy="3429000"/>
          </a:xfrm>
          <a:prstGeom prst="roundRect">
            <a:avLst>
              <a:gd name="adj" fmla="val 3200"/>
            </a:avLst>
          </a:prstGeom>
          <a:solidFill>
            <a:schemeClr val="bg2"/>
          </a:solidFill>
          <a:ln/>
        </p:spPr>
      </p:sp>
      <p:sp>
        <p:nvSpPr>
          <p:cNvPr id="10" name="Card accent"/>
          <p:cNvSpPr/>
          <p:nvPr/>
        </p:nvSpPr>
        <p:spPr>
          <a:xfrm>
            <a:off x="6629400" y="1938528"/>
            <a:ext cx="457200" cy="54864"/>
          </a:xfrm>
          <a:prstGeom prst="rect">
            <a:avLst/>
          </a:prstGeom>
          <a:solidFill>
            <a:schemeClr val="accent2"/>
          </a:solidFill>
          <a:ln/>
        </p:spPr>
      </p:sp>
      <p:sp>
        <p:nvSpPr>
          <p:cNvPr id="11" name="Compare title"/>
          <p:cNvSpPr txBox="1"/>
          <p:nvPr/>
        </p:nvSpPr>
        <p:spPr>
          <a:xfrm>
            <a:off x="6629400" y="2057400"/>
            <a:ext cx="4754880" cy="36576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With Fabric: Analyze in Excel</a:t>
            </a:r>
            <a:endParaRPr lang="en-US" sz="1700" dirty="0"/>
          </a:p>
        </p:txBody>
      </p:sp>
      <p:sp>
        <p:nvSpPr>
          <p:cNvPr id="12" name="Compare list"/>
          <p:cNvSpPr txBox="1"/>
          <p:nvPr/>
        </p:nvSpPr>
        <p:spPr>
          <a:xfrm>
            <a:off x="6629400" y="2560320"/>
            <a:ext cx="4800600" cy="256032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chemeClr val="tx1"/>
                </a:solidFill>
              </a:rPr>
              <a:t>The notebook writes gold, and the unmapped rows to their own table.</a:t>
            </a:r>
            <a:endParaRPr lang="en-US" sz="1450" dirty="0"/>
          </a:p>
          <a:p>
            <a:pPr marL="342900" indent="-342900">
              <a:spcAft>
                <a:spcPts val="1000"/>
              </a:spcAft>
              <a:buSzPct val="100000"/>
              <a:buChar char="•"/>
            </a:pPr>
            <a:r>
              <a:rPr lang="en-US" sz="1450" dirty="0">
                <a:solidFill>
                  <a:schemeClr val="tx1"/>
                </a:solidFill>
              </a:rPr>
              <a:t>Analyze in Excel connects the pivot tables to the semantic model.</a:t>
            </a:r>
            <a:endParaRPr lang="en-US" sz="1450" dirty="0"/>
          </a:p>
          <a:p>
            <a:pPr marL="342900" indent="-342900">
              <a:spcAft>
                <a:spcPts val="1000"/>
              </a:spcAft>
              <a:buSzPct val="100000"/>
              <a:buChar char="•"/>
            </a:pPr>
            <a:r>
              <a:rPr lang="en-US" sz="1450" dirty="0">
                <a:solidFill>
                  <a:schemeClr val="tx1"/>
                </a:solidFill>
              </a:rPr>
              <a:t>No CSV hop and no push. Refresh in Excel reads the latest.</a:t>
            </a:r>
            <a:endParaRPr lang="en-US" sz="1450" dirty="0"/>
          </a:p>
          <a:p>
            <a:pPr marL="342900" indent="-342900">
              <a:spcAft>
                <a:spcPts val="1000"/>
              </a:spcAft>
              <a:buSzPct val="100000"/>
              <a:buChar char="•"/>
            </a:pPr>
            <a:r>
              <a:rPr lang="en-US" sz="1450" dirty="0">
                <a:solidFill>
                  <a:schemeClr val="tx1"/>
                </a:solidFill>
              </a:rPr>
              <a:t>The measures are the model's, so Excel and the report agree.</a:t>
            </a:r>
            <a:endParaRPr lang="en-US" sz="1450" dirty="0"/>
          </a:p>
        </p:txBody>
      </p:sp>
      <p:sp>
        <p:nvSpPr>
          <p:cNvPr id="13" name="Compare arrow"/>
          <p:cNvSpPr/>
          <p:nvPr/>
        </p:nvSpPr>
        <p:spPr>
          <a:xfrm>
            <a:off x="5833872" y="3474720"/>
            <a:ext cx="548640" cy="0"/>
          </a:xfrm>
          <a:prstGeom prst="line">
            <a:avLst/>
          </a:prstGeom>
          <a:noFill/>
          <a:ln w="38100">
            <a:solidFill>
              <a:schemeClr val="accent5"/>
            </a:solidFill>
            <a:prstDash val="solid"/>
            <a:tailEnd type="triangle"/>
          </a:ln>
        </p:spPr>
      </p:sp>
      <p:sp>
        <p:nvSpPr>
          <p:cNvPr id="14" name="Takeaway"/>
          <p:cNvSpPr txBox="1"/>
          <p:nvPr/>
        </p:nvSpPr>
        <p:spPr>
          <a:xfrm>
            <a:off x="548640" y="5440680"/>
            <a:ext cx="11094415" cy="566928"/>
          </a:xfrm>
          <a:prstGeom prst="roundRect">
            <a:avLst>
              <a:gd name="adj" fmla="val 16129"/>
            </a:avLst>
          </a:prstGeom>
          <a:solidFill>
            <a:schemeClr val="tx1"/>
          </a:solidFill>
          <a:ln/>
        </p:spPr>
        <p:txBody>
          <a:bodyPr wrap="square" lIns="279400" tIns="0" rIns="279400" bIns="0" rtlCol="0" anchor="ctr"/>
          <a:lstStyle/>
          <a:p>
            <a:pPr indent="0" marL="0">
              <a:buNone/>
            </a:pPr>
            <a:r>
              <a:rPr lang="en-US" sz="1600" i="1" dirty="0">
                <a:solidFill>
                  <a:schemeClr val="bg1"/>
                </a:solidFill>
              </a:rPr>
              <a:t>Same pivots analysts know. A governed source underneath.</a:t>
            </a:r>
            <a:endParaRPr lang="en-US" sz="1600" dirty="0"/>
          </a:p>
        </p:txBody>
      </p:sp>
      <p:sp>
        <p:nvSpPr>
          <p:cNvPr id="15"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Source: DST Domestic Workflow documentation, Outputs section.</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REPORTING AND POWER BI</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Sharing: who reads, who builds, who sees which rows</a:t>
            </a:r>
            <a:endParaRPr lang="en-US" sz="3200" dirty="0"/>
          </a:p>
        </p:txBody>
      </p:sp>
      <p:graphicFrame>
        <p:nvGraphicFramePr>
          <p:cNvPr id="60" name="Sharing choice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4023360"/>
                <a:gridCol w="3291840"/>
                <a:gridCol w="3776472"/>
              </a:tblGrid>
              <a:tr h="384048">
                <a:tc>
                  <a:txBody>
                    <a:bodyPr/>
                    <a:lstStyle/>
                    <a:p>
                      <a:pPr indent="0" marL="0">
                        <a:buNone/>
                      </a:pPr>
                      <a:r>
                        <a:rPr lang="en-US" sz="1300" b="1" dirty="0">
                          <a:solidFill>
                            <a:schemeClr val="bg1"/>
                          </a:solidFill>
                        </a:rPr>
                        <a:t>If someone needs to…</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Give them…</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rPr>
                        <a:t>Good to know</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713232">
                <a:tc>
                  <a:txBody>
                    <a:bodyPr/>
                    <a:lstStyle/>
                    <a:p>
                      <a:pPr indent="0" marL="0">
                        <a:buNone/>
                      </a:pPr>
                      <a:r>
                        <a:rPr lang="en-US" sz="1300" b="1" dirty="0">
                          <a:solidFill>
                            <a:schemeClr val="tx1"/>
                          </a:solidFill>
                        </a:rPr>
                        <a:t>Read the report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Report or app access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No workspace access needed</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13232">
                <a:tc>
                  <a:txBody>
                    <a:bodyPr/>
                    <a:lstStyle/>
                    <a:p>
                      <a:pPr indent="0" marL="0">
                        <a:buNone/>
                      </a:pPr>
                      <a:r>
                        <a:rPr lang="en-US" sz="1300" b="1" dirty="0">
                          <a:solidFill>
                            <a:schemeClr val="tx1"/>
                          </a:solidFill>
                        </a:rPr>
                        <a:t>Build their own pivots or reports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Build permission on the semantic model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They can use the model but not change it</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13232">
                <a:tc>
                  <a:txBody>
                    <a:bodyPr/>
                    <a:lstStyle/>
                    <a:p>
                      <a:pPr indent="0" marL="0">
                        <a:buNone/>
                      </a:pPr>
                      <a:r>
                        <a:rPr lang="en-US" sz="1300" b="1" dirty="0">
                          <a:solidFill>
                            <a:schemeClr val="tx1"/>
                          </a:solidFill>
                        </a:rPr>
                        <a:t>See only their own entity</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Row-level security on the model</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Define it in the model, then assign roles</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13232">
                <a:tc>
                  <a:txBody>
                    <a:bodyPr/>
                    <a:lstStyle/>
                    <a:p>
                      <a:pPr indent="0" marL="0">
                        <a:buNone/>
                      </a:pPr>
                      <a:r>
                        <a:rPr lang="en-US" sz="1300" b="1" dirty="0">
                          <a:solidFill>
                            <a:schemeClr val="tx1"/>
                          </a:solidFill>
                        </a:rPr>
                        <a:t>Maintain the notebook and pipeline</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 workspace role such as Contributor</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 report share is not enough</a:t>
                      </a:r>
                      <a:endParaRPr lang="en-US" sz="13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Policy card"/>
          <p:cNvSpPr/>
          <p:nvPr/>
        </p:nvSpPr>
        <p:spPr>
          <a:xfrm>
            <a:off x="548640" y="5303520"/>
            <a:ext cx="11094415" cy="640080"/>
          </a:xfrm>
          <a:prstGeom prst="roundRect">
            <a:avLst>
              <a:gd name="adj" fmla="val 17143"/>
            </a:avLst>
          </a:prstGeom>
          <a:solidFill>
            <a:schemeClr val="accent3">
              <a:alpha val="22000"/>
            </a:schemeClr>
          </a:solidFill>
          <a:ln/>
        </p:spPr>
      </p:sp>
      <p:sp>
        <p:nvSpPr>
          <p:cNvPr id="7" name="Policy text"/>
          <p:cNvSpPr txBox="1"/>
          <p:nvPr/>
        </p:nvSpPr>
        <p:spPr>
          <a:xfrm>
            <a:off x="777240" y="5303520"/>
            <a:ext cx="10637215" cy="640080"/>
          </a:xfrm>
          <a:prstGeom prst="rect">
            <a:avLst/>
          </a:prstGeom>
          <a:noFill/>
          <a:ln/>
        </p:spPr>
        <p:txBody>
          <a:bodyPr wrap="square" lIns="0" tIns="0" rIns="0" bIns="0" rtlCol="0" anchor="ctr"/>
          <a:lstStyle/>
          <a:p>
            <a:pPr indent="0" marL="0">
              <a:buNone/>
            </a:pPr>
            <a:r>
              <a:rPr lang="en-US" sz="1350" b="1" dirty="0">
                <a:solidFill>
                  <a:schemeClr val="tx1"/>
                </a:solidFill>
              </a:rPr>
              <a:t>Policy is Disney's to set. </a:t>
            </a:r>
            <a:pPr indent="0" marL="0">
              <a:buNone/>
            </a:pPr>
            <a:r>
              <a:rPr lang="en-US" sz="1350" dirty="0">
                <a:solidFill>
                  <a:schemeClr val="tx1"/>
                </a:solidFill>
              </a:rPr>
              <a:t>Agree who may see what with Enterprise Technology before the model is shared widely.</a:t>
            </a:r>
            <a:endParaRPr lang="en-US" sz="13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Lab B: give the notebook a front door</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Flow Pipeline"/>
          <p:cNvSpPr/>
          <p:nvPr/>
        </p:nvSpPr>
        <p:spPr>
          <a:xfrm>
            <a:off x="548640" y="1783080"/>
            <a:ext cx="1700784" cy="1417320"/>
          </a:xfrm>
          <a:prstGeom prst="roundRect">
            <a:avLst>
              <a:gd name="adj" fmla="val 7742"/>
            </a:avLst>
          </a:prstGeom>
          <a:solidFill>
            <a:schemeClr val="bg2"/>
          </a:solidFill>
          <a:ln/>
        </p:spPr>
      </p:sp>
      <p:sp>
        <p:nvSpPr>
          <p:cNvPr id="7" name="Flow chip 1"/>
          <p:cNvSpPr/>
          <p:nvPr/>
        </p:nvSpPr>
        <p:spPr>
          <a:xfrm>
            <a:off x="685800" y="1920240"/>
            <a:ext cx="384048" cy="384048"/>
          </a:xfrm>
          <a:prstGeom prst="roundRect">
            <a:avLst>
              <a:gd name="adj" fmla="val 19048"/>
            </a:avLst>
          </a:prstGeom>
          <a:solidFill>
            <a:schemeClr val="accent1"/>
          </a:solidFill>
          <a:ln/>
        </p:spPr>
      </p:sp>
      <p:sp>
        <p:nvSpPr>
          <p:cNvPr id="8" name="Flow number"/>
          <p:cNvSpPr txBox="1"/>
          <p:nvPr/>
        </p:nvSpPr>
        <p:spPr>
          <a:xfrm>
            <a:off x="685800"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9" name="Flow name"/>
          <p:cNvSpPr txBox="1"/>
          <p:nvPr/>
        </p:nvSpPr>
        <p:spPr>
          <a:xfrm>
            <a:off x="685800"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Pipeline</a:t>
            </a:r>
            <a:endParaRPr lang="en-US" sz="1450" dirty="0"/>
          </a:p>
        </p:txBody>
      </p:sp>
      <p:sp>
        <p:nvSpPr>
          <p:cNvPr id="10" name="Flow detail"/>
          <p:cNvSpPr txBox="1"/>
          <p:nvPr/>
        </p:nvSpPr>
        <p:spPr>
          <a:xfrm>
            <a:off x="685800"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Two parameters: the inputs</a:t>
            </a:r>
            <a:endParaRPr lang="en-US" sz="1150" dirty="0"/>
          </a:p>
        </p:txBody>
      </p:sp>
      <p:sp>
        <p:nvSpPr>
          <p:cNvPr id="11" name="Flow arrow 1"/>
          <p:cNvSpPr/>
          <p:nvPr/>
        </p:nvSpPr>
        <p:spPr>
          <a:xfrm>
            <a:off x="2276856" y="2487168"/>
            <a:ext cx="123078" cy="0"/>
          </a:xfrm>
          <a:prstGeom prst="line">
            <a:avLst/>
          </a:prstGeom>
          <a:noFill/>
          <a:ln w="25400">
            <a:solidFill>
              <a:schemeClr val="accent5"/>
            </a:solidFill>
            <a:prstDash val="solid"/>
            <a:tailEnd type="triangle"/>
          </a:ln>
        </p:spPr>
      </p:sp>
      <p:sp>
        <p:nvSpPr>
          <p:cNvPr id="12" name="Flow Wire notebook"/>
          <p:cNvSpPr/>
          <p:nvPr/>
        </p:nvSpPr>
        <p:spPr>
          <a:xfrm>
            <a:off x="2427366" y="1783080"/>
            <a:ext cx="1700784" cy="1417320"/>
          </a:xfrm>
          <a:prstGeom prst="roundRect">
            <a:avLst>
              <a:gd name="adj" fmla="val 7742"/>
            </a:avLst>
          </a:prstGeom>
          <a:solidFill>
            <a:schemeClr val="bg2"/>
          </a:solidFill>
          <a:ln/>
        </p:spPr>
      </p:sp>
      <p:sp>
        <p:nvSpPr>
          <p:cNvPr id="13" name="Flow chip 2"/>
          <p:cNvSpPr/>
          <p:nvPr/>
        </p:nvSpPr>
        <p:spPr>
          <a:xfrm>
            <a:off x="2564526" y="1920240"/>
            <a:ext cx="384048" cy="384048"/>
          </a:xfrm>
          <a:prstGeom prst="roundRect">
            <a:avLst>
              <a:gd name="adj" fmla="val 19048"/>
            </a:avLst>
          </a:prstGeom>
          <a:solidFill>
            <a:schemeClr val="accent1"/>
          </a:solidFill>
          <a:ln/>
        </p:spPr>
      </p:sp>
      <p:sp>
        <p:nvSpPr>
          <p:cNvPr id="14" name="Flow number"/>
          <p:cNvSpPr txBox="1"/>
          <p:nvPr/>
        </p:nvSpPr>
        <p:spPr>
          <a:xfrm>
            <a:off x="2564526"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Flow name"/>
          <p:cNvSpPr txBox="1"/>
          <p:nvPr/>
        </p:nvSpPr>
        <p:spPr>
          <a:xfrm>
            <a:off x="2564526"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Wire notebook</a:t>
            </a:r>
            <a:endParaRPr lang="en-US" sz="1450" dirty="0"/>
          </a:p>
        </p:txBody>
      </p:sp>
      <p:sp>
        <p:nvSpPr>
          <p:cNvPr id="16" name="Flow detail"/>
          <p:cNvSpPr txBox="1"/>
          <p:nvPr/>
        </p:nvSpPr>
        <p:spPr>
          <a:xfrm>
            <a:off x="2564526"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Pass them to the notebook</a:t>
            </a:r>
            <a:endParaRPr lang="en-US" sz="1150" dirty="0"/>
          </a:p>
        </p:txBody>
      </p:sp>
      <p:sp>
        <p:nvSpPr>
          <p:cNvPr id="17" name="Flow arrow 2"/>
          <p:cNvSpPr/>
          <p:nvPr/>
        </p:nvSpPr>
        <p:spPr>
          <a:xfrm>
            <a:off x="4155582" y="2487168"/>
            <a:ext cx="123078" cy="0"/>
          </a:xfrm>
          <a:prstGeom prst="line">
            <a:avLst/>
          </a:prstGeom>
          <a:noFill/>
          <a:ln w="25400">
            <a:solidFill>
              <a:schemeClr val="accent5"/>
            </a:solidFill>
            <a:prstDash val="solid"/>
            <a:tailEnd type="triangle"/>
          </a:ln>
        </p:spPr>
      </p:sp>
      <p:sp>
        <p:nvSpPr>
          <p:cNvPr id="18" name="Flow Run and watch"/>
          <p:cNvSpPr/>
          <p:nvPr/>
        </p:nvSpPr>
        <p:spPr>
          <a:xfrm>
            <a:off x="4306092" y="1783080"/>
            <a:ext cx="1700784" cy="1417320"/>
          </a:xfrm>
          <a:prstGeom prst="roundRect">
            <a:avLst>
              <a:gd name="adj" fmla="val 7742"/>
            </a:avLst>
          </a:prstGeom>
          <a:solidFill>
            <a:schemeClr val="bg2"/>
          </a:solidFill>
          <a:ln/>
        </p:spPr>
      </p:sp>
      <p:sp>
        <p:nvSpPr>
          <p:cNvPr id="19" name="Flow chip 3"/>
          <p:cNvSpPr/>
          <p:nvPr/>
        </p:nvSpPr>
        <p:spPr>
          <a:xfrm>
            <a:off x="4443252" y="1920240"/>
            <a:ext cx="384048" cy="384048"/>
          </a:xfrm>
          <a:prstGeom prst="roundRect">
            <a:avLst>
              <a:gd name="adj" fmla="val 19048"/>
            </a:avLst>
          </a:prstGeom>
          <a:solidFill>
            <a:schemeClr val="accent1"/>
          </a:solidFill>
          <a:ln/>
        </p:spPr>
      </p:sp>
      <p:sp>
        <p:nvSpPr>
          <p:cNvPr id="20" name="Flow number"/>
          <p:cNvSpPr txBox="1"/>
          <p:nvPr/>
        </p:nvSpPr>
        <p:spPr>
          <a:xfrm>
            <a:off x="4443252"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1" name="Flow name"/>
          <p:cNvSpPr txBox="1"/>
          <p:nvPr/>
        </p:nvSpPr>
        <p:spPr>
          <a:xfrm>
            <a:off x="4443252"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Run and watch</a:t>
            </a:r>
            <a:endParaRPr lang="en-US" sz="1450" dirty="0"/>
          </a:p>
        </p:txBody>
      </p:sp>
      <p:sp>
        <p:nvSpPr>
          <p:cNvPr id="22" name="Flow detail"/>
          <p:cNvSpPr txBox="1"/>
          <p:nvPr/>
        </p:nvSpPr>
        <p:spPr>
          <a:xfrm>
            <a:off x="4443252"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Run dialog, monitoring, run log</a:t>
            </a:r>
            <a:endParaRPr lang="en-US" sz="1150" dirty="0"/>
          </a:p>
        </p:txBody>
      </p:sp>
      <p:sp>
        <p:nvSpPr>
          <p:cNvPr id="23" name="Flow arrow 3"/>
          <p:cNvSpPr/>
          <p:nvPr/>
        </p:nvSpPr>
        <p:spPr>
          <a:xfrm>
            <a:off x="6034308" y="2487168"/>
            <a:ext cx="123078" cy="0"/>
          </a:xfrm>
          <a:prstGeom prst="line">
            <a:avLst/>
          </a:prstGeom>
          <a:noFill/>
          <a:ln w="25400">
            <a:solidFill>
              <a:schemeClr val="accent5"/>
            </a:solidFill>
            <a:prstDash val="solid"/>
            <a:tailEnd type="triangle"/>
          </a:ln>
        </p:spPr>
      </p:sp>
      <p:sp>
        <p:nvSpPr>
          <p:cNvPr id="24" name="Flow Trigger and fail"/>
          <p:cNvSpPr/>
          <p:nvPr/>
        </p:nvSpPr>
        <p:spPr>
          <a:xfrm>
            <a:off x="6184819" y="1783080"/>
            <a:ext cx="1700784" cy="1417320"/>
          </a:xfrm>
          <a:prstGeom prst="roundRect">
            <a:avLst>
              <a:gd name="adj" fmla="val 7742"/>
            </a:avLst>
          </a:prstGeom>
          <a:solidFill>
            <a:schemeClr val="bg2"/>
          </a:solidFill>
          <a:ln/>
        </p:spPr>
      </p:sp>
      <p:sp>
        <p:nvSpPr>
          <p:cNvPr id="25" name="Flow chip 4"/>
          <p:cNvSpPr/>
          <p:nvPr/>
        </p:nvSpPr>
        <p:spPr>
          <a:xfrm>
            <a:off x="6321979" y="1920240"/>
            <a:ext cx="384048" cy="384048"/>
          </a:xfrm>
          <a:prstGeom prst="roundRect">
            <a:avLst>
              <a:gd name="adj" fmla="val 19048"/>
            </a:avLst>
          </a:prstGeom>
          <a:solidFill>
            <a:schemeClr val="accent1"/>
          </a:solidFill>
          <a:ln/>
        </p:spPr>
      </p:sp>
      <p:sp>
        <p:nvSpPr>
          <p:cNvPr id="26" name="Flow number"/>
          <p:cNvSpPr txBox="1"/>
          <p:nvPr/>
        </p:nvSpPr>
        <p:spPr>
          <a:xfrm>
            <a:off x="6321979"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27" name="Flow name"/>
          <p:cNvSpPr txBox="1"/>
          <p:nvPr/>
        </p:nvSpPr>
        <p:spPr>
          <a:xfrm>
            <a:off x="6321979"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Trigger and fail</a:t>
            </a:r>
            <a:endParaRPr lang="en-US" sz="1450" dirty="0"/>
          </a:p>
        </p:txBody>
      </p:sp>
      <p:sp>
        <p:nvSpPr>
          <p:cNvPr id="28" name="Flow detail"/>
          <p:cNvSpPr txBox="1"/>
          <p:nvPr/>
        </p:nvSpPr>
        <p:spPr>
          <a:xfrm>
            <a:off x="6321979"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A schedule, then a bad input</a:t>
            </a:r>
            <a:endParaRPr lang="en-US" sz="1150" dirty="0"/>
          </a:p>
        </p:txBody>
      </p:sp>
      <p:sp>
        <p:nvSpPr>
          <p:cNvPr id="29" name="Flow arrow 4"/>
          <p:cNvSpPr/>
          <p:nvPr/>
        </p:nvSpPr>
        <p:spPr>
          <a:xfrm>
            <a:off x="7913035" y="2487168"/>
            <a:ext cx="123078" cy="0"/>
          </a:xfrm>
          <a:prstGeom prst="line">
            <a:avLst/>
          </a:prstGeom>
          <a:noFill/>
          <a:ln w="25400">
            <a:solidFill>
              <a:schemeClr val="accent5"/>
            </a:solidFill>
            <a:prstDash val="solid"/>
            <a:tailEnd type="triangle"/>
          </a:ln>
        </p:spPr>
      </p:sp>
      <p:sp>
        <p:nvSpPr>
          <p:cNvPr id="30" name="Flow Model"/>
          <p:cNvSpPr/>
          <p:nvPr/>
        </p:nvSpPr>
        <p:spPr>
          <a:xfrm>
            <a:off x="8063545" y="1783080"/>
            <a:ext cx="1700784" cy="1417320"/>
          </a:xfrm>
          <a:prstGeom prst="roundRect">
            <a:avLst>
              <a:gd name="adj" fmla="val 7742"/>
            </a:avLst>
          </a:prstGeom>
          <a:solidFill>
            <a:schemeClr val="bg2"/>
          </a:solidFill>
          <a:ln/>
        </p:spPr>
      </p:sp>
      <p:sp>
        <p:nvSpPr>
          <p:cNvPr id="31" name="Flow chip 5"/>
          <p:cNvSpPr/>
          <p:nvPr/>
        </p:nvSpPr>
        <p:spPr>
          <a:xfrm>
            <a:off x="8200705" y="1920240"/>
            <a:ext cx="384048" cy="384048"/>
          </a:xfrm>
          <a:prstGeom prst="roundRect">
            <a:avLst>
              <a:gd name="adj" fmla="val 19048"/>
            </a:avLst>
          </a:prstGeom>
          <a:solidFill>
            <a:schemeClr val="accent2"/>
          </a:solidFill>
          <a:ln/>
        </p:spPr>
      </p:sp>
      <p:sp>
        <p:nvSpPr>
          <p:cNvPr id="32" name="Flow number"/>
          <p:cNvSpPr txBox="1"/>
          <p:nvPr/>
        </p:nvSpPr>
        <p:spPr>
          <a:xfrm>
            <a:off x="8200705"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33" name="Flow name"/>
          <p:cNvSpPr txBox="1"/>
          <p:nvPr/>
        </p:nvSpPr>
        <p:spPr>
          <a:xfrm>
            <a:off x="8200705"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Model</a:t>
            </a:r>
            <a:endParaRPr lang="en-US" sz="1450" dirty="0"/>
          </a:p>
        </p:txBody>
      </p:sp>
      <p:sp>
        <p:nvSpPr>
          <p:cNvPr id="34" name="Flow detail"/>
          <p:cNvSpPr txBox="1"/>
          <p:nvPr/>
        </p:nvSpPr>
        <p:spPr>
          <a:xfrm>
            <a:off x="8200705"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Direct Lake model and measures</a:t>
            </a:r>
            <a:endParaRPr lang="en-US" sz="1150" dirty="0"/>
          </a:p>
        </p:txBody>
      </p:sp>
      <p:sp>
        <p:nvSpPr>
          <p:cNvPr id="35" name="Flow arrow 5"/>
          <p:cNvSpPr/>
          <p:nvPr/>
        </p:nvSpPr>
        <p:spPr>
          <a:xfrm>
            <a:off x="9791761" y="2487168"/>
            <a:ext cx="123078" cy="0"/>
          </a:xfrm>
          <a:prstGeom prst="line">
            <a:avLst/>
          </a:prstGeom>
          <a:noFill/>
          <a:ln w="25400">
            <a:solidFill>
              <a:schemeClr val="accent5"/>
            </a:solidFill>
            <a:prstDash val="solid"/>
            <a:tailEnd type="triangle"/>
          </a:ln>
        </p:spPr>
      </p:sp>
      <p:sp>
        <p:nvSpPr>
          <p:cNvPr id="36" name="Flow Report and Excel"/>
          <p:cNvSpPr/>
          <p:nvPr/>
        </p:nvSpPr>
        <p:spPr>
          <a:xfrm>
            <a:off x="9942271" y="1783080"/>
            <a:ext cx="1700784" cy="1417320"/>
          </a:xfrm>
          <a:prstGeom prst="roundRect">
            <a:avLst>
              <a:gd name="adj" fmla="val 7742"/>
            </a:avLst>
          </a:prstGeom>
          <a:solidFill>
            <a:schemeClr val="bg2"/>
          </a:solidFill>
          <a:ln/>
        </p:spPr>
      </p:sp>
      <p:sp>
        <p:nvSpPr>
          <p:cNvPr id="37" name="Flow chip 6"/>
          <p:cNvSpPr/>
          <p:nvPr/>
        </p:nvSpPr>
        <p:spPr>
          <a:xfrm>
            <a:off x="10079431" y="1920240"/>
            <a:ext cx="384048" cy="384048"/>
          </a:xfrm>
          <a:prstGeom prst="roundRect">
            <a:avLst>
              <a:gd name="adj" fmla="val 19048"/>
            </a:avLst>
          </a:prstGeom>
          <a:solidFill>
            <a:schemeClr val="accent2"/>
          </a:solidFill>
          <a:ln/>
        </p:spPr>
      </p:sp>
      <p:sp>
        <p:nvSpPr>
          <p:cNvPr id="38" name="Flow number"/>
          <p:cNvSpPr txBox="1"/>
          <p:nvPr/>
        </p:nvSpPr>
        <p:spPr>
          <a:xfrm>
            <a:off x="10079431"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6</a:t>
            </a:r>
            <a:endParaRPr lang="en-US" sz="1400" dirty="0"/>
          </a:p>
        </p:txBody>
      </p:sp>
      <p:sp>
        <p:nvSpPr>
          <p:cNvPr id="39" name="Flow name"/>
          <p:cNvSpPr txBox="1"/>
          <p:nvPr/>
        </p:nvSpPr>
        <p:spPr>
          <a:xfrm>
            <a:off x="10079431" y="2395728"/>
            <a:ext cx="1426464" cy="292608"/>
          </a:xfrm>
          <a:prstGeom prst="rect">
            <a:avLst/>
          </a:prstGeom>
          <a:noFill/>
          <a:ln/>
        </p:spPr>
        <p:txBody>
          <a:bodyPr wrap="square" lIns="0" tIns="0" rIns="0" bIns="0" rtlCol="0" anchor="t"/>
          <a:lstStyle/>
          <a:p>
            <a:pPr indent="0" marL="0">
              <a:buNone/>
            </a:pPr>
            <a:r>
              <a:rPr lang="en-US" sz="1450" b="1" dirty="0">
                <a:solidFill>
                  <a:schemeClr val="tx1"/>
                </a:solidFill>
                <a:latin typeface="+mj-lt" pitchFamily="34" charset="0"/>
                <a:ea typeface="+mj-lt" pitchFamily="34" charset="-122"/>
                <a:cs typeface="+mj-lt" pitchFamily="34" charset="-120"/>
              </a:rPr>
              <a:t>Report and Excel</a:t>
            </a:r>
            <a:endParaRPr lang="en-US" sz="1450" dirty="0"/>
          </a:p>
        </p:txBody>
      </p:sp>
      <p:sp>
        <p:nvSpPr>
          <p:cNvPr id="40" name="Flow detail"/>
          <p:cNvSpPr txBox="1"/>
          <p:nvPr/>
        </p:nvSpPr>
        <p:spPr>
          <a:xfrm>
            <a:off x="10079431" y="2715768"/>
            <a:ext cx="1426464" cy="411480"/>
          </a:xfrm>
          <a:prstGeom prst="rect">
            <a:avLst/>
          </a:prstGeom>
          <a:noFill/>
          <a:ln/>
        </p:spPr>
        <p:txBody>
          <a:bodyPr wrap="square" lIns="0" tIns="0" rIns="0" bIns="0" rtlCol="0" anchor="t"/>
          <a:lstStyle/>
          <a:p>
            <a:pPr indent="0" marL="0">
              <a:buNone/>
            </a:pPr>
            <a:r>
              <a:rPr lang="en-US" sz="1150" dirty="0">
                <a:solidFill>
                  <a:schemeClr val="tx1"/>
                </a:solidFill>
              </a:rPr>
              <a:t>A page people trust, and a pivot</a:t>
            </a:r>
            <a:endParaRPr lang="en-US" sz="1150" dirty="0"/>
          </a:p>
        </p:txBody>
      </p:sp>
      <p:sp>
        <p:nvSpPr>
          <p:cNvPr id="41" name="What you start with card"/>
          <p:cNvSpPr/>
          <p:nvPr/>
        </p:nvSpPr>
        <p:spPr>
          <a:xfrm>
            <a:off x="548640" y="3474720"/>
            <a:ext cx="3593592" cy="1783080"/>
          </a:xfrm>
          <a:prstGeom prst="roundRect">
            <a:avLst>
              <a:gd name="adj" fmla="val 6154"/>
            </a:avLst>
          </a:prstGeom>
          <a:solidFill>
            <a:schemeClr val="accent1">
              <a:alpha val="15000"/>
            </a:schemeClr>
          </a:solidFill>
          <a:ln/>
        </p:spPr>
      </p:sp>
      <p:sp>
        <p:nvSpPr>
          <p:cNvPr id="42" name="Card title"/>
          <p:cNvSpPr txBox="1"/>
          <p:nvPr/>
        </p:nvSpPr>
        <p:spPr>
          <a:xfrm>
            <a:off x="777240" y="3584448"/>
            <a:ext cx="31089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What you start with</a:t>
            </a:r>
            <a:endParaRPr lang="en-US" sz="1700" dirty="0"/>
          </a:p>
        </p:txBody>
      </p:sp>
      <p:sp>
        <p:nvSpPr>
          <p:cNvPr id="43" name="Card text"/>
          <p:cNvSpPr txBox="1"/>
          <p:nvPr/>
        </p:nvSpPr>
        <p:spPr>
          <a:xfrm>
            <a:off x="777240" y="4023360"/>
            <a:ext cx="3154680" cy="1188720"/>
          </a:xfrm>
          <a:prstGeom prst="rect">
            <a:avLst/>
          </a:prstGeom>
          <a:noFill/>
          <a:ln/>
        </p:spPr>
        <p:txBody>
          <a:bodyPr wrap="square" lIns="0" tIns="0" rIns="0" bIns="0" rtlCol="0" anchor="t"/>
          <a:lstStyle/>
          <a:p>
            <a:pPr indent="0" marL="0">
              <a:buNone/>
            </a:pPr>
            <a:r>
              <a:rPr lang="en-US" sz="1350" dirty="0">
                <a:solidFill>
                  <a:schemeClr val="tx1"/>
                </a:solidFill>
              </a:rPr>
              <a:t>The Lab A notebook, with its parameter cell marked, and the gold and run log tables it writes.</a:t>
            </a:r>
            <a:endParaRPr lang="en-US" sz="1350" dirty="0"/>
          </a:p>
        </p:txBody>
      </p:sp>
      <p:sp>
        <p:nvSpPr>
          <p:cNvPr id="44" name="What you finish with card"/>
          <p:cNvSpPr/>
          <p:nvPr/>
        </p:nvSpPr>
        <p:spPr>
          <a:xfrm>
            <a:off x="4297680" y="3474720"/>
            <a:ext cx="3593592" cy="1783080"/>
          </a:xfrm>
          <a:prstGeom prst="roundRect">
            <a:avLst>
              <a:gd name="adj" fmla="val 6154"/>
            </a:avLst>
          </a:prstGeom>
          <a:solidFill>
            <a:schemeClr val="accent2">
              <a:alpha val="15000"/>
            </a:schemeClr>
          </a:solidFill>
          <a:ln/>
        </p:spPr>
      </p:sp>
      <p:sp>
        <p:nvSpPr>
          <p:cNvPr id="45" name="Card title"/>
          <p:cNvSpPr txBox="1"/>
          <p:nvPr/>
        </p:nvSpPr>
        <p:spPr>
          <a:xfrm>
            <a:off x="4526280" y="3584448"/>
            <a:ext cx="31089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What you finish with</a:t>
            </a:r>
            <a:endParaRPr lang="en-US" sz="1700" dirty="0"/>
          </a:p>
        </p:txBody>
      </p:sp>
      <p:sp>
        <p:nvSpPr>
          <p:cNvPr id="46" name="Card text"/>
          <p:cNvSpPr txBox="1"/>
          <p:nvPr/>
        </p:nvSpPr>
        <p:spPr>
          <a:xfrm>
            <a:off x="4526280" y="4023360"/>
            <a:ext cx="3154680" cy="1188720"/>
          </a:xfrm>
          <a:prstGeom prst="rect">
            <a:avLst/>
          </a:prstGeom>
          <a:noFill/>
          <a:ln/>
        </p:spPr>
        <p:txBody>
          <a:bodyPr wrap="square" lIns="0" tIns="0" rIns="0" bIns="0" rtlCol="0" anchor="t"/>
          <a:lstStyle/>
          <a:p>
            <a:pPr indent="0" marL="0">
              <a:buNone/>
            </a:pPr>
            <a:r>
              <a:rPr lang="en-US" sz="1350" dirty="0">
                <a:solidFill>
                  <a:schemeClr val="tx1"/>
                </a:solidFill>
              </a:rPr>
              <a:t>A pipeline anyone can run, a status they can read, and a report and pivot on a governed model.</a:t>
            </a:r>
            <a:endParaRPr lang="en-US" sz="1350" dirty="0"/>
          </a:p>
        </p:txBody>
      </p:sp>
      <p:sp>
        <p:nvSpPr>
          <p:cNvPr id="47" name="Two ways to fail card"/>
          <p:cNvSpPr/>
          <p:nvPr/>
        </p:nvSpPr>
        <p:spPr>
          <a:xfrm>
            <a:off x="8046720" y="3474720"/>
            <a:ext cx="3593592" cy="1783080"/>
          </a:xfrm>
          <a:prstGeom prst="roundRect">
            <a:avLst>
              <a:gd name="adj" fmla="val 6154"/>
            </a:avLst>
          </a:prstGeom>
          <a:solidFill>
            <a:schemeClr val="accent3">
              <a:alpha val="15000"/>
            </a:schemeClr>
          </a:solidFill>
          <a:ln/>
        </p:spPr>
      </p:sp>
      <p:sp>
        <p:nvSpPr>
          <p:cNvPr id="48" name="Card title"/>
          <p:cNvSpPr txBox="1"/>
          <p:nvPr/>
        </p:nvSpPr>
        <p:spPr>
          <a:xfrm>
            <a:off x="8275320" y="3584448"/>
            <a:ext cx="310896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Two ways to fail</a:t>
            </a:r>
            <a:endParaRPr lang="en-US" sz="1700" dirty="0"/>
          </a:p>
        </p:txBody>
      </p:sp>
      <p:sp>
        <p:nvSpPr>
          <p:cNvPr id="49" name="Card text"/>
          <p:cNvSpPr txBox="1"/>
          <p:nvPr/>
        </p:nvSpPr>
        <p:spPr>
          <a:xfrm>
            <a:off x="8275320" y="4023360"/>
            <a:ext cx="3154680" cy="1188720"/>
          </a:xfrm>
          <a:prstGeom prst="rect">
            <a:avLst/>
          </a:prstGeom>
          <a:noFill/>
          <a:ln/>
        </p:spPr>
        <p:txBody>
          <a:bodyPr wrap="square" lIns="0" tIns="0" rIns="0" bIns="0" rtlCol="0" anchor="t"/>
          <a:lstStyle/>
          <a:p>
            <a:pPr indent="0" marL="0">
              <a:buNone/>
            </a:pPr>
            <a:r>
              <a:rPr lang="en-US" sz="1350" dirty="0">
                <a:solidFill>
                  <a:schemeClr val="tx1"/>
                </a:solidFill>
              </a:rPr>
              <a:t>Refused at the door for bad input. Failed at the gate for numbers that do not tie. You will cause both.</a:t>
            </a:r>
            <a:endParaRPr lang="en-US" sz="1350" dirty="0"/>
          </a:p>
        </p:txBody>
      </p:sp>
      <p:sp>
        <p:nvSpPr>
          <p:cNvPr id="50" name="Footnote"/>
          <p:cNvSpPr txBox="1"/>
          <p:nvPr/>
        </p:nvSpPr>
        <p:spPr>
          <a:xfrm>
            <a:off x="548640" y="54864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Steps 1 to 4 build the pipeline and run it. Steps 5 and 6 build what people open.</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 · STEP 1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1: a pipeline whose parameters are the inputs</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bg2"/>
          </a:solidFill>
          <a:ln/>
        </p:spPr>
      </p:sp>
      <p:sp>
        <p:nvSpPr>
          <p:cNvPr id="8" name="Progress 3"/>
          <p:cNvSpPr/>
          <p:nvPr/>
        </p:nvSpPr>
        <p:spPr>
          <a:xfrm>
            <a:off x="4271162" y="1481328"/>
            <a:ext cx="1788109" cy="73152"/>
          </a:xfrm>
          <a:prstGeom prst="roundRect">
            <a:avLst>
              <a:gd name="adj" fmla="val 50000"/>
            </a:avLst>
          </a:prstGeom>
          <a:solidFill>
            <a:schemeClr val="bg2"/>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graphicFrame>
        <p:nvGraphicFramePr>
          <p:cNvPr id="62" name="Pipeline parameters"/>
          <p:cNvGraphicFramePr>
            <a:graphicFrameLocks noGrp="1"/>
          </p:cNvGraphicFramePr>
          <p:nvPr>
            <p:extLst>
              <p:ext uri="{D42A27DB-BD31-4B8C-83A1-F6EECF244321}">
                <p14:modId xmlns:p14="http://schemas.microsoft.com/office/powerpoint/2010/main" val="1579011935"/>
              </p:ext>
            </p:extLst>
          </p:nvPr>
        </p:nvGraphicFramePr>
        <p:xfrm>
          <a:off x="548640" y="1783080"/>
          <a:ext cx="7315200" cy="914400"/>
        </p:xfrm>
        <a:graphic>
          <a:graphicData uri="http://schemas.openxmlformats.org/drawingml/2006/table">
            <a:tbl>
              <a:tblPr/>
              <a:tblGrid>
                <a:gridCol w="2377440"/>
                <a:gridCol w="2194560"/>
                <a:gridCol w="2743200"/>
              </a:tblGrid>
              <a:tr h="411480">
                <a:tc>
                  <a:txBody>
                    <a:bodyPr/>
                    <a:lstStyle/>
                    <a:p>
                      <a:pPr indent="0" marL="0">
                        <a:buNone/>
                      </a:pPr>
                      <a:r>
                        <a:rPr lang="en-US" sz="1400" b="1" dirty="0">
                          <a:solidFill>
                            <a:schemeClr val="bg1"/>
                          </a:solidFill>
                        </a:rPr>
                        <a:t>Name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Type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Default value</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4864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period</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String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2025-01</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denominator</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String</a:t>
                      </a:r>
                      <a:endParaRPr lang="en-US" sz="14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without_na</a:t>
                      </a:r>
                      <a:endParaRPr lang="en-US" sz="13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3" name="Names match the notebook card"/>
          <p:cNvSpPr/>
          <p:nvPr/>
        </p:nvSpPr>
        <p:spPr>
          <a:xfrm>
            <a:off x="548640" y="3749040"/>
            <a:ext cx="2359152" cy="2011680"/>
          </a:xfrm>
          <a:prstGeom prst="roundRect">
            <a:avLst>
              <a:gd name="adj" fmla="val 5455"/>
            </a:avLst>
          </a:prstGeom>
          <a:solidFill>
            <a:schemeClr val="bg2"/>
          </a:solidFill>
          <a:ln/>
        </p:spPr>
      </p:sp>
      <p:sp>
        <p:nvSpPr>
          <p:cNvPr id="14" name="Point title"/>
          <p:cNvSpPr txBox="1"/>
          <p:nvPr/>
        </p:nvSpPr>
        <p:spPr>
          <a:xfrm>
            <a:off x="685800" y="3840480"/>
            <a:ext cx="2103120"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Names match the notebook</a:t>
            </a:r>
            <a:endParaRPr lang="en-US" sz="1400" dirty="0"/>
          </a:p>
        </p:txBody>
      </p:sp>
      <p:sp>
        <p:nvSpPr>
          <p:cNvPr id="15" name="Point text"/>
          <p:cNvSpPr txBox="1"/>
          <p:nvPr/>
        </p:nvSpPr>
        <p:spPr>
          <a:xfrm>
            <a:off x="685800" y="4434840"/>
            <a:ext cx="2103120" cy="1280160"/>
          </a:xfrm>
          <a:prstGeom prst="rect">
            <a:avLst/>
          </a:prstGeom>
          <a:noFill/>
          <a:ln/>
        </p:spPr>
        <p:txBody>
          <a:bodyPr wrap="square" lIns="0" tIns="0" rIns="0" bIns="0" rtlCol="0" anchor="t"/>
          <a:lstStyle/>
          <a:p>
            <a:pPr indent="0" marL="0">
              <a:buNone/>
            </a:pPr>
            <a:r>
              <a:rPr lang="en-US" sz="1250" dirty="0">
                <a:solidFill>
                  <a:schemeClr val="tx1"/>
                </a:solidFill>
              </a:rPr>
              <a:t>Same spelling and case as the parameter cell in Lab A. Step 2 connects them by name.</a:t>
            </a:r>
            <a:endParaRPr lang="en-US" sz="1250" dirty="0"/>
          </a:p>
        </p:txBody>
      </p:sp>
      <p:sp>
        <p:nvSpPr>
          <p:cNvPr id="16" name="Defaults are safe card"/>
          <p:cNvSpPr/>
          <p:nvPr/>
        </p:nvSpPr>
        <p:spPr>
          <a:xfrm>
            <a:off x="3017520" y="3749040"/>
            <a:ext cx="2359152" cy="2011680"/>
          </a:xfrm>
          <a:prstGeom prst="roundRect">
            <a:avLst>
              <a:gd name="adj" fmla="val 5455"/>
            </a:avLst>
          </a:prstGeom>
          <a:solidFill>
            <a:schemeClr val="bg2"/>
          </a:solidFill>
          <a:ln/>
        </p:spPr>
      </p:sp>
      <p:sp>
        <p:nvSpPr>
          <p:cNvPr id="17" name="Point title"/>
          <p:cNvSpPr txBox="1"/>
          <p:nvPr/>
        </p:nvSpPr>
        <p:spPr>
          <a:xfrm>
            <a:off x="3154680" y="3840480"/>
            <a:ext cx="2103120"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Defaults are safe</a:t>
            </a:r>
            <a:endParaRPr lang="en-US" sz="1400" dirty="0"/>
          </a:p>
        </p:txBody>
      </p:sp>
      <p:sp>
        <p:nvSpPr>
          <p:cNvPr id="18" name="Point text"/>
          <p:cNvSpPr txBox="1"/>
          <p:nvPr/>
        </p:nvSpPr>
        <p:spPr>
          <a:xfrm>
            <a:off x="3154680" y="4434840"/>
            <a:ext cx="2103120" cy="1280160"/>
          </a:xfrm>
          <a:prstGeom prst="rect">
            <a:avLst/>
          </a:prstGeom>
          <a:noFill/>
          <a:ln/>
        </p:spPr>
        <p:txBody>
          <a:bodyPr wrap="square" lIns="0" tIns="0" rIns="0" bIns="0" rtlCol="0" anchor="t"/>
          <a:lstStyle/>
          <a:p>
            <a:pPr indent="0" marL="0">
              <a:buNone/>
            </a:pPr>
            <a:r>
              <a:rPr lang="en-US" sz="1250" dirty="0">
                <a:solidFill>
                  <a:schemeClr val="tx1"/>
                </a:solidFill>
              </a:rPr>
              <a:t>The same values as the notebook, so a run with no changes still works.</a:t>
            </a:r>
            <a:endParaRPr lang="en-US" sz="1250" dirty="0"/>
          </a:p>
        </p:txBody>
      </p:sp>
      <p:sp>
        <p:nvSpPr>
          <p:cNvPr id="19" name="Two, not seven card"/>
          <p:cNvSpPr/>
          <p:nvPr/>
        </p:nvSpPr>
        <p:spPr>
          <a:xfrm>
            <a:off x="5486400" y="3749040"/>
            <a:ext cx="2359152" cy="2011680"/>
          </a:xfrm>
          <a:prstGeom prst="roundRect">
            <a:avLst>
              <a:gd name="adj" fmla="val 5455"/>
            </a:avLst>
          </a:prstGeom>
          <a:solidFill>
            <a:schemeClr val="bg2"/>
          </a:solidFill>
          <a:ln/>
        </p:spPr>
      </p:sp>
      <p:sp>
        <p:nvSpPr>
          <p:cNvPr id="20" name="Point title"/>
          <p:cNvSpPr txBox="1"/>
          <p:nvPr/>
        </p:nvSpPr>
        <p:spPr>
          <a:xfrm>
            <a:off x="5623560" y="3840480"/>
            <a:ext cx="2103120" cy="548640"/>
          </a:xfrm>
          <a:prstGeom prst="rect">
            <a:avLst/>
          </a:prstGeom>
          <a:noFill/>
          <a:ln/>
        </p:spPr>
        <p:txBody>
          <a:bodyPr wrap="square" lIns="0" tIns="0" rIns="0" bIns="0" rtlCol="0" anchor="t"/>
          <a:lstStyle/>
          <a:p>
            <a:pPr indent="0" marL="0">
              <a:buNone/>
            </a:pPr>
            <a:r>
              <a:rPr lang="en-US" sz="1400" b="1" dirty="0">
                <a:solidFill>
                  <a:schemeClr val="tx1"/>
                </a:solidFill>
                <a:latin typeface="+mj-lt" pitchFamily="34" charset="0"/>
                <a:ea typeface="+mj-lt" pitchFamily="34" charset="-122"/>
                <a:cs typeface="+mj-lt" pitchFamily="34" charset="-120"/>
              </a:rPr>
              <a:t>Two, not seven</a:t>
            </a:r>
            <a:endParaRPr lang="en-US" sz="1400" dirty="0"/>
          </a:p>
        </p:txBody>
      </p:sp>
      <p:sp>
        <p:nvSpPr>
          <p:cNvPr id="21" name="Point text"/>
          <p:cNvSpPr txBox="1"/>
          <p:nvPr/>
        </p:nvSpPr>
        <p:spPr>
          <a:xfrm>
            <a:off x="5623560" y="4434840"/>
            <a:ext cx="2103120" cy="1280160"/>
          </a:xfrm>
          <a:prstGeom prst="rect">
            <a:avLst/>
          </a:prstGeom>
          <a:noFill/>
          <a:ln/>
        </p:spPr>
        <p:txBody>
          <a:bodyPr wrap="square" lIns="0" tIns="0" rIns="0" bIns="0" rtlCol="0" anchor="t"/>
          <a:lstStyle/>
          <a:p>
            <a:pPr indent="0" marL="0">
              <a:buNone/>
            </a:pPr>
            <a:r>
              <a:rPr lang="en-US" sz="1250" dirty="0">
                <a:solidFill>
                  <a:schemeClr val="tx1"/>
                </a:solidFill>
              </a:rPr>
              <a:t>Ask only for what the run uses. The real pipeline declares seven and wires two.</a:t>
            </a:r>
            <a:endParaRPr lang="en-US" sz="1250" dirty="0"/>
          </a:p>
        </p:txBody>
      </p:sp>
      <p:sp>
        <p:nvSpPr>
          <p:cNvPr id="22" name="Do this card"/>
          <p:cNvSpPr/>
          <p:nvPr/>
        </p:nvSpPr>
        <p:spPr>
          <a:xfrm>
            <a:off x="8092440" y="1783080"/>
            <a:ext cx="3547872" cy="2203704"/>
          </a:xfrm>
          <a:prstGeom prst="roundRect">
            <a:avLst>
              <a:gd name="adj" fmla="val 4979"/>
            </a:avLst>
          </a:prstGeom>
          <a:solidFill>
            <a:schemeClr val="bg2"/>
          </a:solidFill>
          <a:ln/>
        </p:spPr>
      </p:sp>
      <p:sp>
        <p:nvSpPr>
          <p:cNvPr id="23"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4" name="Do chip 1"/>
          <p:cNvSpPr/>
          <p:nvPr/>
        </p:nvSpPr>
        <p:spPr>
          <a:xfrm>
            <a:off x="8293608" y="2377440"/>
            <a:ext cx="310896" cy="310896"/>
          </a:xfrm>
          <a:prstGeom prst="roundRect">
            <a:avLst>
              <a:gd name="adj" fmla="val 23529"/>
            </a:avLst>
          </a:prstGeom>
          <a:solidFill>
            <a:schemeClr val="accent1"/>
          </a:solidFill>
          <a:ln/>
        </p:spPr>
      </p:sp>
      <p:sp>
        <p:nvSpPr>
          <p:cNvPr id="25"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6"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Create a data pipeline. Add your initials to its name.</a:t>
            </a:r>
            <a:endParaRPr lang="en-US" sz="1250" dirty="0"/>
          </a:p>
        </p:txBody>
      </p:sp>
      <p:sp>
        <p:nvSpPr>
          <p:cNvPr id="27" name="Do chip 2"/>
          <p:cNvSpPr/>
          <p:nvPr/>
        </p:nvSpPr>
        <p:spPr>
          <a:xfrm>
            <a:off x="8293608" y="2944368"/>
            <a:ext cx="310896" cy="310896"/>
          </a:xfrm>
          <a:prstGeom prst="roundRect">
            <a:avLst>
              <a:gd name="adj" fmla="val 23529"/>
            </a:avLst>
          </a:prstGeom>
          <a:solidFill>
            <a:schemeClr val="accent1"/>
          </a:solidFill>
          <a:ln/>
        </p:spPr>
      </p:sp>
      <p:sp>
        <p:nvSpPr>
          <p:cNvPr id="28"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9"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Open Parameters. Add period and denominator as strings.</a:t>
            </a:r>
            <a:endParaRPr lang="en-US" sz="1250" dirty="0"/>
          </a:p>
        </p:txBody>
      </p:sp>
      <p:sp>
        <p:nvSpPr>
          <p:cNvPr id="30" name="Do chip 3"/>
          <p:cNvSpPr/>
          <p:nvPr/>
        </p:nvSpPr>
        <p:spPr>
          <a:xfrm>
            <a:off x="8293608" y="3511296"/>
            <a:ext cx="310896" cy="310896"/>
          </a:xfrm>
          <a:prstGeom prst="roundRect">
            <a:avLst>
              <a:gd name="adj" fmla="val 23529"/>
            </a:avLst>
          </a:prstGeom>
          <a:solidFill>
            <a:schemeClr val="accent1"/>
          </a:solidFill>
          <a:ln/>
        </p:spPr>
      </p:sp>
      <p:sp>
        <p:nvSpPr>
          <p:cNvPr id="31"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2"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Set the defaults to 2025-01 and without_na. Save.</a:t>
            </a:r>
            <a:endParaRPr lang="en-US" sz="1250" dirty="0"/>
          </a:p>
        </p:txBody>
      </p:sp>
      <p:sp>
        <p:nvSpPr>
          <p:cNvPr id="33"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4"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5"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A saved, empty pipeline with two parameters.</a:t>
            </a:r>
            <a:endParaRPr lang="en-US" sz="1250" dirty="0"/>
          </a:p>
          <a:p>
            <a:pPr indent="0" marL="0">
              <a:buNone/>
            </a:pPr>
            <a:endParaRPr lang="en-US" sz="1250" dirty="0"/>
          </a:p>
          <a:p>
            <a:pPr indent="0" marL="0">
              <a:buNone/>
            </a:pPr>
            <a:r>
              <a:rPr lang="en-US" sz="1250" dirty="0">
                <a:solidFill>
                  <a:schemeClr val="tx1"/>
                </a:solidFill>
              </a:rPr>
              <a:t>Nothing runs yet. The parameters appear when you choose Run later.</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 · STEP 2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2: pass the parameters to the notebook</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bg2"/>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Canvas card"/>
          <p:cNvSpPr/>
          <p:nvPr/>
        </p:nvSpPr>
        <p:spPr>
          <a:xfrm>
            <a:off x="548640" y="1783080"/>
            <a:ext cx="7315200" cy="1234440"/>
          </a:xfrm>
          <a:prstGeom prst="roundRect">
            <a:avLst>
              <a:gd name="adj" fmla="val 8889"/>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3" name="Canvas label"/>
          <p:cNvSpPr txBox="1"/>
          <p:nvPr/>
        </p:nvSpPr>
        <p:spPr>
          <a:xfrm>
            <a:off x="777240" y="1874520"/>
            <a:ext cx="2743200" cy="201168"/>
          </a:xfrm>
          <a:prstGeom prst="rect">
            <a:avLst/>
          </a:prstGeom>
          <a:noFill/>
          <a:ln/>
        </p:spPr>
        <p:txBody>
          <a:bodyPr wrap="square" lIns="0" tIns="0" rIns="0" bIns="0" rtlCol="0" anchor="t"/>
          <a:lstStyle/>
          <a:p>
            <a:pPr indent="0" marL="0">
              <a:buNone/>
            </a:pPr>
            <a:r>
              <a:rPr lang="en-US" sz="950" b="1" spc="200" kern="0" dirty="0">
                <a:solidFill>
                  <a:schemeClr val="accent5"/>
                </a:solidFill>
              </a:rPr>
              <a:t>PIPELINE CANVAS</a:t>
            </a:r>
            <a:endParaRPr lang="en-US" sz="950" dirty="0"/>
          </a:p>
        </p:txBody>
      </p:sp>
      <p:sp>
        <p:nvSpPr>
          <p:cNvPr id="14" name="Notebook activity"/>
          <p:cNvSpPr/>
          <p:nvPr/>
        </p:nvSpPr>
        <p:spPr>
          <a:xfrm>
            <a:off x="777240" y="2194560"/>
            <a:ext cx="3291840" cy="640080"/>
          </a:xfrm>
          <a:prstGeom prst="roundRect">
            <a:avLst>
              <a:gd name="adj" fmla="val 11429"/>
            </a:avLst>
          </a:prstGeom>
          <a:solidFill>
            <a:schemeClr val="bg2"/>
          </a:solidFill>
          <a:ln w="15875">
            <a:solidFill>
              <a:schemeClr val="accent1"/>
            </a:solidFill>
            <a:prstDash val="solid"/>
          </a:ln>
        </p:spPr>
      </p:sp>
      <p:sp>
        <p:nvSpPr>
          <p:cNvPr id="15" name="Activity label"/>
          <p:cNvSpPr txBox="1"/>
          <p:nvPr/>
        </p:nvSpPr>
        <p:spPr>
          <a:xfrm>
            <a:off x="960120" y="2194560"/>
            <a:ext cx="3017520" cy="640080"/>
          </a:xfrm>
          <a:prstGeom prst="rect">
            <a:avLst/>
          </a:prstGeom>
          <a:noFill/>
          <a:ln/>
        </p:spPr>
        <p:txBody>
          <a:bodyPr wrap="square" lIns="0" tIns="0" rIns="0" bIns="0" rtlCol="0" anchor="ctr"/>
          <a:lstStyle/>
          <a:p>
            <a:pPr indent="0" marL="0">
              <a:buNone/>
            </a:pPr>
            <a:r>
              <a:rPr lang="en-US" sz="1100" b="1" dirty="0">
                <a:solidFill>
                  <a:schemeClr val="accent1"/>
                </a:solidFill>
              </a:rPr>
              <a:t>Notebook</a:t>
            </a:r>
            <a:endParaRPr lang="en-US" sz="1400" dirty="0"/>
          </a:p>
          <a:p>
            <a:pPr indent="0" marL="0">
              <a:buNone/>
            </a:pPr>
            <a:r>
              <a:rPr lang="en-US" sz="1250" b="1" dirty="0">
                <a:solidFill>
                  <a:schemeClr val="tx1"/>
                </a:solidFill>
                <a:latin typeface="Courier New" pitchFamily="34" charset="0"/>
                <a:ea typeface="Courier New" pitchFamily="34" charset="-122"/>
                <a:cs typeface="Courier New" pitchFamily="34" charset="-120"/>
              </a:rPr>
              <a:t>Run_DST_Notebook</a:t>
            </a:r>
            <a:endParaRPr lang="en-US" sz="1400" dirty="0"/>
          </a:p>
        </p:txBody>
      </p:sp>
      <p:sp>
        <p:nvSpPr>
          <p:cNvPr id="16" name="Canvas hint"/>
          <p:cNvSpPr txBox="1"/>
          <p:nvPr/>
        </p:nvSpPr>
        <p:spPr>
          <a:xfrm>
            <a:off x="4389120" y="2194560"/>
            <a:ext cx="3291840" cy="640080"/>
          </a:xfrm>
          <a:prstGeom prst="rect">
            <a:avLst/>
          </a:prstGeom>
          <a:noFill/>
          <a:ln/>
        </p:spPr>
        <p:txBody>
          <a:bodyPr wrap="square" lIns="0" tIns="0" rIns="0" bIns="0" rtlCol="0" anchor="ctr"/>
          <a:lstStyle/>
          <a:p>
            <a:pPr indent="0" marL="0">
              <a:buNone/>
            </a:pPr>
            <a:r>
              <a:rPr lang="en-US" sz="1200" dirty="0">
                <a:solidFill>
                  <a:schemeClr val="tx1"/>
                </a:solidFill>
              </a:rPr>
              <a:t>Settings  &gt;  Notebook: your Lab A notebook.</a:t>
            </a:r>
            <a:endParaRPr lang="en-US" sz="1200" dirty="0"/>
          </a:p>
          <a:p>
            <a:pPr indent="0" marL="0">
              <a:buNone/>
            </a:pPr>
            <a:r>
              <a:rPr lang="en-US" sz="1200" dirty="0">
                <a:solidFill>
                  <a:schemeClr val="tx1"/>
                </a:solidFill>
              </a:rPr>
              <a:t>Base parameters: three rows, below.</a:t>
            </a:r>
            <a:endParaRPr lang="en-US" sz="1200" dirty="0"/>
          </a:p>
        </p:txBody>
      </p:sp>
      <p:sp>
        <p:nvSpPr>
          <p:cNvPr id="17" name="Base parameters"/>
          <p:cNvSpPr/>
          <p:nvPr/>
        </p:nvSpPr>
        <p:spPr>
          <a:xfrm>
            <a:off x="548640" y="3200400"/>
            <a:ext cx="7315200" cy="1691640"/>
          </a:xfrm>
          <a:prstGeom prst="roundRect">
            <a:avLst>
              <a:gd name="adj" fmla="val 5405"/>
            </a:avLst>
          </a:prstGeom>
          <a:solidFill>
            <a:schemeClr val="tx1"/>
          </a:solidFill>
          <a:ln/>
        </p:spPr>
      </p:sp>
      <p:sp>
        <p:nvSpPr>
          <p:cNvPr id="18" name="Code label"/>
          <p:cNvSpPr txBox="1"/>
          <p:nvPr/>
        </p:nvSpPr>
        <p:spPr>
          <a:xfrm>
            <a:off x="749808" y="329184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NOTEBOOK ACTIVITY · BASE PARAMETERS (NAME, THEN VALUE)</a:t>
            </a:r>
            <a:endParaRPr lang="en-US" sz="1000" dirty="0"/>
          </a:p>
        </p:txBody>
      </p:sp>
      <p:sp>
        <p:nvSpPr>
          <p:cNvPr id="19" name="Base parameters text"/>
          <p:cNvSpPr txBox="1"/>
          <p:nvPr/>
        </p:nvSpPr>
        <p:spPr>
          <a:xfrm>
            <a:off x="749808" y="3584448"/>
            <a:ext cx="6912864" cy="119786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period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@pipeline().parameters.period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denominator</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@pipeline().parameters.denominator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run_id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@pipeline().RunId</a:t>
            </a:r>
            <a:endParaRPr lang="en-US" sz="1300" dirty="0"/>
          </a:p>
        </p:txBody>
      </p:sp>
      <p:sp>
        <p:nvSpPr>
          <p:cNvPr id="20" name="Gap card"/>
          <p:cNvSpPr/>
          <p:nvPr/>
        </p:nvSpPr>
        <p:spPr>
          <a:xfrm>
            <a:off x="548640" y="5029200"/>
            <a:ext cx="7315200" cy="777240"/>
          </a:xfrm>
          <a:prstGeom prst="roundRect">
            <a:avLst>
              <a:gd name="adj" fmla="val 14118"/>
            </a:avLst>
          </a:prstGeom>
          <a:solidFill>
            <a:schemeClr val="accent3">
              <a:alpha val="22000"/>
            </a:schemeClr>
          </a:solidFill>
          <a:ln/>
        </p:spPr>
      </p:sp>
      <p:sp>
        <p:nvSpPr>
          <p:cNvPr id="21" name="Gap text"/>
          <p:cNvSpPr txBox="1"/>
          <p:nvPr/>
        </p:nvSpPr>
        <p:spPr>
          <a:xfrm>
            <a:off x="777240" y="5029200"/>
            <a:ext cx="6858000" cy="777240"/>
          </a:xfrm>
          <a:prstGeom prst="rect">
            <a:avLst/>
          </a:prstGeom>
          <a:noFill/>
          <a:ln/>
        </p:spPr>
        <p:txBody>
          <a:bodyPr wrap="square" lIns="0" tIns="0" rIns="0" bIns="0" rtlCol="0" anchor="ctr"/>
          <a:lstStyle/>
          <a:p>
            <a:pPr indent="0" marL="0">
              <a:buNone/>
            </a:pPr>
            <a:r>
              <a:rPr lang="en-US" sz="1300" b="1" dirty="0">
                <a:solidFill>
                  <a:schemeClr val="tx1"/>
                </a:solidFill>
              </a:rPr>
              <a:t>The fix for the POC gap: </a:t>
            </a:r>
            <a:pPr indent="0" marL="0">
              <a:buNone/>
            </a:pPr>
            <a:r>
              <a:rPr lang="en-US" sz="1300" dirty="0">
                <a:solidFill>
                  <a:schemeClr val="tx1"/>
                </a:solidFill>
              </a:rPr>
              <a:t>run_id is passed, so the log, gold and bronze all carry the pipeline's run ID.</a:t>
            </a:r>
            <a:endParaRPr lang="en-US" sz="1300" dirty="0"/>
          </a:p>
        </p:txBody>
      </p:sp>
      <p:sp>
        <p:nvSpPr>
          <p:cNvPr id="22" name="Do this card"/>
          <p:cNvSpPr/>
          <p:nvPr/>
        </p:nvSpPr>
        <p:spPr>
          <a:xfrm>
            <a:off x="8092440" y="1783080"/>
            <a:ext cx="3547872" cy="2203704"/>
          </a:xfrm>
          <a:prstGeom prst="roundRect">
            <a:avLst>
              <a:gd name="adj" fmla="val 4979"/>
            </a:avLst>
          </a:prstGeom>
          <a:solidFill>
            <a:schemeClr val="bg2"/>
          </a:solidFill>
          <a:ln/>
        </p:spPr>
      </p:sp>
      <p:sp>
        <p:nvSpPr>
          <p:cNvPr id="23"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4" name="Do chip 1"/>
          <p:cNvSpPr/>
          <p:nvPr/>
        </p:nvSpPr>
        <p:spPr>
          <a:xfrm>
            <a:off x="8293608" y="2377440"/>
            <a:ext cx="310896" cy="310896"/>
          </a:xfrm>
          <a:prstGeom prst="roundRect">
            <a:avLst>
              <a:gd name="adj" fmla="val 23529"/>
            </a:avLst>
          </a:prstGeom>
          <a:solidFill>
            <a:schemeClr val="accent1"/>
          </a:solidFill>
          <a:ln/>
        </p:spPr>
      </p:sp>
      <p:sp>
        <p:nvSpPr>
          <p:cNvPr id="25"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6"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Add a Notebook activity. Select your Lab A notebook.</a:t>
            </a:r>
            <a:endParaRPr lang="en-US" sz="1250" dirty="0"/>
          </a:p>
        </p:txBody>
      </p:sp>
      <p:sp>
        <p:nvSpPr>
          <p:cNvPr id="27" name="Do chip 2"/>
          <p:cNvSpPr/>
          <p:nvPr/>
        </p:nvSpPr>
        <p:spPr>
          <a:xfrm>
            <a:off x="8293608" y="2944368"/>
            <a:ext cx="310896" cy="310896"/>
          </a:xfrm>
          <a:prstGeom prst="roundRect">
            <a:avLst>
              <a:gd name="adj" fmla="val 23529"/>
            </a:avLst>
          </a:prstGeom>
          <a:solidFill>
            <a:schemeClr val="accent1"/>
          </a:solidFill>
          <a:ln/>
        </p:spPr>
      </p:sp>
      <p:sp>
        <p:nvSpPr>
          <p:cNvPr id="28"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9"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Under Base parameters, add the three rows from the panel.</a:t>
            </a:r>
            <a:endParaRPr lang="en-US" sz="1250" dirty="0"/>
          </a:p>
        </p:txBody>
      </p:sp>
      <p:sp>
        <p:nvSpPr>
          <p:cNvPr id="30" name="Do chip 3"/>
          <p:cNvSpPr/>
          <p:nvPr/>
        </p:nvSpPr>
        <p:spPr>
          <a:xfrm>
            <a:off x="8293608" y="3511296"/>
            <a:ext cx="310896" cy="310896"/>
          </a:xfrm>
          <a:prstGeom prst="roundRect">
            <a:avLst>
              <a:gd name="adj" fmla="val 23529"/>
            </a:avLst>
          </a:prstGeom>
          <a:solidFill>
            <a:schemeClr val="accent1"/>
          </a:solidFill>
          <a:ln/>
        </p:spPr>
      </p:sp>
      <p:sp>
        <p:nvSpPr>
          <p:cNvPr id="31"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2"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Use Add dynamic content for the values. Save.</a:t>
            </a:r>
            <a:endParaRPr lang="en-US" sz="1250" dirty="0"/>
          </a:p>
        </p:txBody>
      </p:sp>
      <p:sp>
        <p:nvSpPr>
          <p:cNvPr id="33"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4"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5"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The Notebook activity with three base parameters, all as dynamic expressions.</a:t>
            </a:r>
            <a:endParaRPr lang="en-US" sz="1250" dirty="0"/>
          </a:p>
          <a:p>
            <a:pPr indent="0" marL="0">
              <a:buNone/>
            </a:pPr>
            <a:endParaRPr lang="en-US" sz="1250" dirty="0"/>
          </a:p>
          <a:p>
            <a:pPr indent="0" marL="0">
              <a:buNone/>
            </a:pPr>
            <a:r>
              <a:rPr lang="en-US" sz="1250" dirty="0">
                <a:solidFill>
                  <a:schemeClr val="tx1"/>
                </a:solidFill>
              </a:rPr>
              <a:t>Validate shows no errors.</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 · STEP 3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3: run it, watch it, read the receipt</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bg2"/>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Run dialog card"/>
          <p:cNvSpPr/>
          <p:nvPr/>
        </p:nvSpPr>
        <p:spPr>
          <a:xfrm>
            <a:off x="548640" y="1783080"/>
            <a:ext cx="7315200" cy="1216152"/>
          </a:xfrm>
          <a:prstGeom prst="roundRect">
            <a:avLst>
              <a:gd name="adj" fmla="val 9023"/>
            </a:avLst>
          </a:prstGeom>
          <a:solidFill>
            <a:schemeClr val="bg2"/>
          </a:solidFill>
          <a:ln/>
        </p:spPr>
      </p:sp>
      <p:sp>
        <p:nvSpPr>
          <p:cNvPr id="13" name="Run dialog badge"/>
          <p:cNvSpPr/>
          <p:nvPr/>
        </p:nvSpPr>
        <p:spPr>
          <a:xfrm>
            <a:off x="777240" y="2112264"/>
            <a:ext cx="566928" cy="566928"/>
          </a:xfrm>
          <a:prstGeom prst="ellipse">
            <a:avLst/>
          </a:prstGeom>
          <a:solidFill>
            <a:schemeClr val="accent1"/>
          </a:solidFill>
          <a:ln/>
        </p:spPr>
      </p:sp>
      <p:pic>
        <p:nvPicPr>
          <p:cNvPr id="14" name="Image 0" descr="Run dialog icon">    </p:cNvPr>
          <p:cNvPicPr>
            <a:picLocks noChangeAspect="1"/>
          </p:cNvPicPr>
          <p:nvPr/>
        </p:nvPicPr>
        <p:blipFill>
          <a:blip r:embed="rId1"/>
          <a:stretch>
            <a:fillRect/>
          </a:stretch>
        </p:blipFill>
        <p:spPr>
          <a:xfrm>
            <a:off x="918972" y="2253996"/>
            <a:ext cx="283464" cy="283464"/>
          </a:xfrm>
          <a:prstGeom prst="rect">
            <a:avLst/>
          </a:prstGeom>
        </p:spPr>
      </p:pic>
      <p:sp>
        <p:nvSpPr>
          <p:cNvPr id="15" name="Place title"/>
          <p:cNvSpPr txBox="1"/>
          <p:nvPr/>
        </p:nvSpPr>
        <p:spPr>
          <a:xfrm>
            <a:off x="1645920" y="1920240"/>
            <a:ext cx="594360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Run dialog</a:t>
            </a:r>
            <a:endParaRPr lang="en-US" sz="1700" dirty="0"/>
          </a:p>
        </p:txBody>
      </p:sp>
      <p:sp>
        <p:nvSpPr>
          <p:cNvPr id="16" name="Place text"/>
          <p:cNvSpPr txBox="1"/>
          <p:nvPr/>
        </p:nvSpPr>
        <p:spPr>
          <a:xfrm>
            <a:off x="1645920" y="2313432"/>
            <a:ext cx="5943600" cy="640080"/>
          </a:xfrm>
          <a:prstGeom prst="rect">
            <a:avLst/>
          </a:prstGeom>
          <a:noFill/>
          <a:ln/>
        </p:spPr>
        <p:txBody>
          <a:bodyPr wrap="square" lIns="0" tIns="0" rIns="0" bIns="0" rtlCol="0" anchor="t"/>
          <a:lstStyle/>
          <a:p>
            <a:pPr indent="0" marL="0">
              <a:buNone/>
            </a:pPr>
            <a:r>
              <a:rPr lang="en-US" sz="1350" dirty="0">
                <a:solidFill>
                  <a:schemeClr val="tx1"/>
                </a:solidFill>
              </a:rPr>
              <a:t>Choose Run on the pipeline. Enter period 2025-02 and denominator with_na.</a:t>
            </a:r>
            <a:endParaRPr lang="en-US" sz="1350" dirty="0"/>
          </a:p>
        </p:txBody>
      </p:sp>
      <p:sp>
        <p:nvSpPr>
          <p:cNvPr id="17" name="Monitoring hub card"/>
          <p:cNvSpPr/>
          <p:nvPr/>
        </p:nvSpPr>
        <p:spPr>
          <a:xfrm>
            <a:off x="548640" y="3108960"/>
            <a:ext cx="7315200" cy="1216152"/>
          </a:xfrm>
          <a:prstGeom prst="roundRect">
            <a:avLst>
              <a:gd name="adj" fmla="val 9023"/>
            </a:avLst>
          </a:prstGeom>
          <a:solidFill>
            <a:schemeClr val="bg2"/>
          </a:solidFill>
          <a:ln/>
        </p:spPr>
      </p:sp>
      <p:sp>
        <p:nvSpPr>
          <p:cNvPr id="18" name="Monitoring hub badge"/>
          <p:cNvSpPr/>
          <p:nvPr/>
        </p:nvSpPr>
        <p:spPr>
          <a:xfrm>
            <a:off x="777240" y="3438144"/>
            <a:ext cx="566928" cy="566928"/>
          </a:xfrm>
          <a:prstGeom prst="ellipse">
            <a:avLst/>
          </a:prstGeom>
          <a:solidFill>
            <a:schemeClr val="accent2"/>
          </a:solidFill>
          <a:ln/>
        </p:spPr>
      </p:sp>
      <p:pic>
        <p:nvPicPr>
          <p:cNvPr id="19" name="Image 1" descr="Monitoring hub icon">    </p:cNvPr>
          <p:cNvPicPr>
            <a:picLocks noChangeAspect="1"/>
          </p:cNvPicPr>
          <p:nvPr/>
        </p:nvPicPr>
        <p:blipFill>
          <a:blip r:embed="rId2"/>
          <a:stretch>
            <a:fillRect/>
          </a:stretch>
        </p:blipFill>
        <p:spPr>
          <a:xfrm>
            <a:off x="918972" y="3579876"/>
            <a:ext cx="283464" cy="283464"/>
          </a:xfrm>
          <a:prstGeom prst="rect">
            <a:avLst/>
          </a:prstGeom>
        </p:spPr>
      </p:pic>
      <p:sp>
        <p:nvSpPr>
          <p:cNvPr id="20" name="Place title"/>
          <p:cNvSpPr txBox="1"/>
          <p:nvPr/>
        </p:nvSpPr>
        <p:spPr>
          <a:xfrm>
            <a:off x="1645920" y="3246120"/>
            <a:ext cx="594360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Monitoring hub</a:t>
            </a:r>
            <a:endParaRPr lang="en-US" sz="1700" dirty="0"/>
          </a:p>
        </p:txBody>
      </p:sp>
      <p:sp>
        <p:nvSpPr>
          <p:cNvPr id="21" name="Place text"/>
          <p:cNvSpPr txBox="1"/>
          <p:nvPr/>
        </p:nvSpPr>
        <p:spPr>
          <a:xfrm>
            <a:off x="1645920" y="3639312"/>
            <a:ext cx="5943600" cy="640080"/>
          </a:xfrm>
          <a:prstGeom prst="rect">
            <a:avLst/>
          </a:prstGeom>
          <a:noFill/>
          <a:ln/>
        </p:spPr>
        <p:txBody>
          <a:bodyPr wrap="square" lIns="0" tIns="0" rIns="0" bIns="0" rtlCol="0" anchor="t"/>
          <a:lstStyle/>
          <a:p>
            <a:pPr indent="0" marL="0">
              <a:buNone/>
            </a:pPr>
            <a:r>
              <a:rPr lang="en-US" sz="1350" dirty="0">
                <a:solidFill>
                  <a:schemeClr val="tx1"/>
                </a:solidFill>
              </a:rPr>
              <a:t>Find the run. Expand it to see the Notebook activity, its duration and its output.</a:t>
            </a:r>
            <a:endParaRPr lang="en-US" sz="1350" dirty="0"/>
          </a:p>
        </p:txBody>
      </p:sp>
      <p:sp>
        <p:nvSpPr>
          <p:cNvPr id="22" name="Run log table card"/>
          <p:cNvSpPr/>
          <p:nvPr/>
        </p:nvSpPr>
        <p:spPr>
          <a:xfrm>
            <a:off x="548640" y="4434840"/>
            <a:ext cx="7315200" cy="1216152"/>
          </a:xfrm>
          <a:prstGeom prst="roundRect">
            <a:avLst>
              <a:gd name="adj" fmla="val 9023"/>
            </a:avLst>
          </a:prstGeom>
          <a:solidFill>
            <a:schemeClr val="bg2"/>
          </a:solidFill>
          <a:ln/>
        </p:spPr>
      </p:sp>
      <p:sp>
        <p:nvSpPr>
          <p:cNvPr id="23" name="Run log table badge"/>
          <p:cNvSpPr/>
          <p:nvPr/>
        </p:nvSpPr>
        <p:spPr>
          <a:xfrm>
            <a:off x="777240" y="4764024"/>
            <a:ext cx="566928" cy="566928"/>
          </a:xfrm>
          <a:prstGeom prst="ellipse">
            <a:avLst/>
          </a:prstGeom>
          <a:solidFill>
            <a:schemeClr val="tx2"/>
          </a:solidFill>
          <a:ln/>
        </p:spPr>
      </p:sp>
      <p:pic>
        <p:nvPicPr>
          <p:cNvPr id="24" name="Image 2" descr="Run log table icon">    </p:cNvPr>
          <p:cNvPicPr>
            <a:picLocks noChangeAspect="1"/>
          </p:cNvPicPr>
          <p:nvPr/>
        </p:nvPicPr>
        <p:blipFill>
          <a:blip r:embed="rId3"/>
          <a:stretch>
            <a:fillRect/>
          </a:stretch>
        </p:blipFill>
        <p:spPr>
          <a:xfrm>
            <a:off x="918972" y="4905756"/>
            <a:ext cx="283464" cy="283464"/>
          </a:xfrm>
          <a:prstGeom prst="rect">
            <a:avLst/>
          </a:prstGeom>
        </p:spPr>
      </p:pic>
      <p:sp>
        <p:nvSpPr>
          <p:cNvPr id="25" name="Place title"/>
          <p:cNvSpPr txBox="1"/>
          <p:nvPr/>
        </p:nvSpPr>
        <p:spPr>
          <a:xfrm>
            <a:off x="1645920" y="4572000"/>
            <a:ext cx="5943600" cy="347472"/>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Run log table</a:t>
            </a:r>
            <a:endParaRPr lang="en-US" sz="1700" dirty="0"/>
          </a:p>
        </p:txBody>
      </p:sp>
      <p:sp>
        <p:nvSpPr>
          <p:cNvPr id="26" name="Place text"/>
          <p:cNvSpPr txBox="1"/>
          <p:nvPr/>
        </p:nvSpPr>
        <p:spPr>
          <a:xfrm>
            <a:off x="1645920" y="4965192"/>
            <a:ext cx="5943600" cy="640080"/>
          </a:xfrm>
          <a:prstGeom prst="rect">
            <a:avLst/>
          </a:prstGeom>
          <a:noFill/>
          <a:ln/>
        </p:spPr>
        <p:txBody>
          <a:bodyPr wrap="square" lIns="0" tIns="0" rIns="0" bIns="0" rtlCol="0" anchor="t"/>
          <a:lstStyle/>
          <a:p>
            <a:pPr indent="0" marL="0">
              <a:buNone/>
            </a:pPr>
            <a:r>
              <a:rPr lang="en-US" sz="1350" dirty="0">
                <a:solidFill>
                  <a:schemeClr val="tx1"/>
                </a:solidFill>
              </a:rPr>
              <a:t>Query gold_dst_run_log. The newest row has the pipeline's run ID and status passed.</a:t>
            </a:r>
            <a:endParaRPr lang="en-US" sz="1350" dirty="0"/>
          </a:p>
        </p:txBody>
      </p:sp>
      <p:sp>
        <p:nvSpPr>
          <p:cNvPr id="27" name="Do this card"/>
          <p:cNvSpPr/>
          <p:nvPr/>
        </p:nvSpPr>
        <p:spPr>
          <a:xfrm>
            <a:off x="8092440" y="1783080"/>
            <a:ext cx="3547872" cy="2203704"/>
          </a:xfrm>
          <a:prstGeom prst="roundRect">
            <a:avLst>
              <a:gd name="adj" fmla="val 4979"/>
            </a:avLst>
          </a:prstGeom>
          <a:solidFill>
            <a:schemeClr val="bg2"/>
          </a:solidFill>
          <a:ln/>
        </p:spPr>
      </p:sp>
      <p:sp>
        <p:nvSpPr>
          <p:cNvPr id="28"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9" name="Do chip 1"/>
          <p:cNvSpPr/>
          <p:nvPr/>
        </p:nvSpPr>
        <p:spPr>
          <a:xfrm>
            <a:off x="8293608" y="2377440"/>
            <a:ext cx="310896" cy="310896"/>
          </a:xfrm>
          <a:prstGeom prst="roundRect">
            <a:avLst>
              <a:gd name="adj" fmla="val 23529"/>
            </a:avLst>
          </a:prstGeom>
          <a:solidFill>
            <a:schemeClr val="accent1"/>
          </a:solidFill>
          <a:ln/>
        </p:spPr>
      </p:sp>
      <p:sp>
        <p:nvSpPr>
          <p:cNvPr id="30"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31"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Choose Run. Enter 2025-02 and with_na.</a:t>
            </a:r>
            <a:endParaRPr lang="en-US" sz="1250" dirty="0"/>
          </a:p>
        </p:txBody>
      </p:sp>
      <p:sp>
        <p:nvSpPr>
          <p:cNvPr id="32" name="Do chip 2"/>
          <p:cNvSpPr/>
          <p:nvPr/>
        </p:nvSpPr>
        <p:spPr>
          <a:xfrm>
            <a:off x="8293608" y="2944368"/>
            <a:ext cx="310896" cy="310896"/>
          </a:xfrm>
          <a:prstGeom prst="roundRect">
            <a:avLst>
              <a:gd name="adj" fmla="val 23529"/>
            </a:avLst>
          </a:prstGeom>
          <a:solidFill>
            <a:schemeClr val="accent1"/>
          </a:solidFill>
          <a:ln/>
        </p:spPr>
      </p:sp>
      <p:sp>
        <p:nvSpPr>
          <p:cNvPr id="33"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34"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Open the monitoring hub. Find the run and its Notebook activity.</a:t>
            </a:r>
            <a:endParaRPr lang="en-US" sz="1250" dirty="0"/>
          </a:p>
        </p:txBody>
      </p:sp>
      <p:sp>
        <p:nvSpPr>
          <p:cNvPr id="35" name="Do chip 3"/>
          <p:cNvSpPr/>
          <p:nvPr/>
        </p:nvSpPr>
        <p:spPr>
          <a:xfrm>
            <a:off x="8293608" y="3511296"/>
            <a:ext cx="310896" cy="310896"/>
          </a:xfrm>
          <a:prstGeom prst="roundRect">
            <a:avLst>
              <a:gd name="adj" fmla="val 23529"/>
            </a:avLst>
          </a:prstGeom>
          <a:solidFill>
            <a:schemeClr val="accent1"/>
          </a:solidFill>
          <a:ln/>
        </p:spPr>
      </p:sp>
      <p:sp>
        <p:nvSpPr>
          <p:cNvPr id="36"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7"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Query gold_dst_run_log for the newest row.</a:t>
            </a:r>
            <a:endParaRPr lang="en-US" sz="1250" dirty="0"/>
          </a:p>
        </p:txBody>
      </p:sp>
      <p:sp>
        <p:nvSpPr>
          <p:cNvPr id="38"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9"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40"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Status Succeeded in the monitor.</a:t>
            </a:r>
            <a:endParaRPr lang="en-US" sz="1250" dirty="0"/>
          </a:p>
          <a:p>
            <a:pPr indent="0" marL="0">
              <a:buNone/>
            </a:pPr>
            <a:endParaRPr lang="en-US" sz="1250" dirty="0"/>
          </a:p>
          <a:p>
            <a:pPr indent="0" marL="0">
              <a:buNone/>
            </a:pPr>
            <a:r>
              <a:rPr lang="en-US" sz="1250" dirty="0">
                <a:solidFill>
                  <a:schemeClr val="tx1"/>
                </a:solidFill>
              </a:rPr>
              <a:t>A new log row: your period, with_na, passed, 30,000.00 against 30,000.00, 1 unmapped row, and a run_id that equals the pipeline run ID.</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 · STEP 4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4: a schedule, then two ways to fail</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bg2"/>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graphicFrame>
        <p:nvGraphicFramePr>
          <p:cNvPr id="65" name="Two ways to fail"/>
          <p:cNvGraphicFramePr>
            <a:graphicFrameLocks noGrp="1"/>
          </p:cNvGraphicFramePr>
          <p:nvPr>
            <p:extLst>
              <p:ext uri="{D42A27DB-BD31-4B8C-83A1-F6EECF244321}">
                <p14:modId xmlns:p14="http://schemas.microsoft.com/office/powerpoint/2010/main" val="1579011935"/>
              </p:ext>
            </p:extLst>
          </p:nvPr>
        </p:nvGraphicFramePr>
        <p:xfrm>
          <a:off x="548640" y="1783080"/>
          <a:ext cx="7315200" cy="914400"/>
        </p:xfrm>
        <a:graphic>
          <a:graphicData uri="http://schemas.openxmlformats.org/drawingml/2006/table">
            <a:tbl>
              <a:tblPr/>
              <a:tblGrid>
                <a:gridCol w="1645920"/>
                <a:gridCol w="2834640"/>
                <a:gridCol w="2834640"/>
              </a:tblGrid>
              <a:tr h="384048">
                <a:tc>
                  <a:txBody>
                    <a:bodyPr/>
                    <a:lstStyle/>
                    <a:p>
                      <a:pPr indent="0" marL="0">
                        <a:buNone/>
                      </a:pP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Refused at the door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Failed at the gate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200" b="1" dirty="0">
                          <a:solidFill>
                            <a:schemeClr val="tx1"/>
                          </a:solidFill>
                        </a:rPr>
                        <a:t>Cause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bad input, such as period Jan-25</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Numbers that do not tie out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Stops at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The first cell of the notebook</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After gold is built, before it is written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411480">
                <a:tc>
                  <a:txBody>
                    <a:bodyPr/>
                    <a:lstStyle/>
                    <a:p>
                      <a:pPr indent="0" marL="0">
                        <a:buNone/>
                      </a:pPr>
                      <a:r>
                        <a:rPr lang="en-US" sz="1200" b="1" dirty="0">
                          <a:solidFill>
                            <a:schemeClr val="tx1"/>
                          </a:solidFill>
                        </a:rPr>
                        <a:t>Pipeline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Failed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Failed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411480">
                <a:tc>
                  <a:txBody>
                    <a:bodyPr/>
                    <a:lstStyle/>
                    <a:p>
                      <a:pPr indent="0" marL="0">
                        <a:buNone/>
                      </a:pPr>
                      <a:r>
                        <a:rPr lang="en-US" sz="1200" b="1" dirty="0">
                          <a:solidFill>
                            <a:schemeClr val="tx1"/>
                          </a:solidFill>
                        </a:rPr>
                        <a:t>Gold table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Untouched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Untouched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200" b="1" dirty="0">
                          <a:solidFill>
                            <a:schemeClr val="tx1"/>
                          </a:solidFill>
                        </a:rPr>
                        <a:t>Run log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No row. It never got that far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failed row, with the totals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02920">
                <a:tc>
                  <a:txBody>
                    <a:bodyPr/>
                    <a:lstStyle/>
                    <a:p>
                      <a:pPr indent="0" marL="0">
                        <a:buNone/>
                      </a:pPr>
                      <a:r>
                        <a:rPr lang="en-US" sz="1200" b="1" dirty="0">
                          <a:solidFill>
                            <a:schemeClr val="tx1"/>
                          </a:solidFill>
                        </a:rPr>
                        <a:t>Who hears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The person who typed it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The team that owns the numbers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13" name="Schedule note"/>
          <p:cNvSpPr/>
          <p:nvPr/>
        </p:nvSpPr>
        <p:spPr>
          <a:xfrm>
            <a:off x="548640" y="5212080"/>
            <a:ext cx="7315200" cy="685800"/>
          </a:xfrm>
          <a:prstGeom prst="roundRect">
            <a:avLst>
              <a:gd name="adj" fmla="val 16000"/>
            </a:avLst>
          </a:prstGeom>
          <a:solidFill>
            <a:schemeClr val="accent3">
              <a:alpha val="22000"/>
            </a:schemeClr>
          </a:solidFill>
          <a:ln/>
        </p:spPr>
      </p:sp>
      <p:sp>
        <p:nvSpPr>
          <p:cNvPr id="14" name="Schedule note text"/>
          <p:cNvSpPr txBox="1"/>
          <p:nvPr/>
        </p:nvSpPr>
        <p:spPr>
          <a:xfrm>
            <a:off x="777240" y="5212080"/>
            <a:ext cx="6858000" cy="685800"/>
          </a:xfrm>
          <a:prstGeom prst="rect">
            <a:avLst/>
          </a:prstGeom>
          <a:noFill/>
          <a:ln/>
        </p:spPr>
        <p:txBody>
          <a:bodyPr wrap="square" lIns="0" tIns="0" rIns="0" bIns="0" rtlCol="0" anchor="ctr"/>
          <a:lstStyle/>
          <a:p>
            <a:pPr indent="0" marL="0">
              <a:buNone/>
            </a:pPr>
            <a:r>
              <a:rPr lang="en-US" sz="1300" b="1" dirty="0">
                <a:solidFill>
                  <a:schemeClr val="tx1"/>
                </a:solidFill>
              </a:rPr>
              <a:t>A scheduled run uses the default parameters. </a:t>
            </a:r>
            <a:pPr indent="0" marL="0">
              <a:buNone/>
            </a:pPr>
            <a:r>
              <a:rPr lang="en-US" sz="1300" dirty="0">
                <a:solidFill>
                  <a:schemeClr val="tx1"/>
                </a:solidFill>
              </a:rPr>
              <a:t>Safe to repeat, because the write replaces its own slice.</a:t>
            </a:r>
            <a:endParaRPr lang="en-US" sz="130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Run with period Jan-25. Find the error in the monitor.</a:t>
            </a:r>
            <a:endParaRPr lang="en-US" sz="125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Add Lab A's break-it line. Run with defaults. Then remove it.</a:t>
            </a:r>
            <a:endParaRPr lang="en-US" sz="125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Schedule a run a few minutes ahead. Watch it. Turn it off.</a:t>
            </a:r>
            <a:endParaRPr lang="en-US" sz="125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Two failed runs. The bad period leaves no log row. The gate failure leaves a failed one.</a:t>
            </a:r>
            <a:endParaRPr lang="en-US" sz="1250" dirty="0"/>
          </a:p>
          <a:p>
            <a:pPr indent="0" marL="0">
              <a:buNone/>
            </a:pPr>
            <a:endParaRPr lang="en-US" sz="1250" dirty="0"/>
          </a:p>
          <a:p>
            <a:pPr indent="0" marL="0">
              <a:buNone/>
            </a:pPr>
            <a:r>
              <a:rPr lang="en-US" sz="1250" dirty="0">
                <a:solidFill>
                  <a:schemeClr val="tx1"/>
                </a:solidFill>
              </a:rPr>
              <a:t>The scheduled run succeeds with 2025-01 and without_na.</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 · STEP 5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5: a Direct Lake model with three measures</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bg2"/>
          </a:solidFill>
          <a:ln/>
        </p:spPr>
      </p:sp>
      <p:sp>
        <p:nvSpPr>
          <p:cNvPr id="12" name="DAX measures"/>
          <p:cNvSpPr/>
          <p:nvPr/>
        </p:nvSpPr>
        <p:spPr>
          <a:xfrm>
            <a:off x="548640" y="1783080"/>
            <a:ext cx="7315200" cy="4023360"/>
          </a:xfrm>
          <a:prstGeom prst="roundRect">
            <a:avLst>
              <a:gd name="adj" fmla="val 2273"/>
            </a:avLst>
          </a:prstGeom>
          <a:solidFill>
            <a:schemeClr val="tx1"/>
          </a:solidFill>
          <a:ln/>
        </p:spPr>
      </p:sp>
      <p:sp>
        <p:nvSpPr>
          <p:cNvPr id="13" name="Code label"/>
          <p:cNvSpPr txBox="1"/>
          <p:nvPr/>
        </p:nvSpPr>
        <p:spPr>
          <a:xfrm>
            <a:off x="749808" y="1874520"/>
            <a:ext cx="691286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DAX · THREE MEASURES ON GOLD_DST_APPORTIONED</a:t>
            </a:r>
            <a:endParaRPr lang="en-US" sz="1000" dirty="0"/>
          </a:p>
        </p:txBody>
      </p:sp>
      <p:sp>
        <p:nvSpPr>
          <p:cNvPr id="14" name="DAX measures text"/>
          <p:cNvSpPr txBox="1"/>
          <p:nvPr/>
        </p:nvSpPr>
        <p:spPr>
          <a:xfrm>
            <a:off x="749808" y="2167128"/>
            <a:ext cx="6912864" cy="3529584"/>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Apportioned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Amount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SUM</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gold_dst_apportioned[apportioned]</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Impressions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SUM</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gold_dst_apportioned[impressions]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Share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of</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Entity</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DIVIDE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[Impressions],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CALCULATE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[Impressions],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REMOVEFILTERS</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gold_dst_apportioned[state]</a:t>
            </a:r>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a:t>
            </a:r>
            <a:pPr indent="0" marL="0">
              <a:buNone/>
            </a:pPr>
            <a:r>
              <a:rPr lang="en-US" sz="1300" dirty="0">
                <a:solidFill>
                  <a:schemeClr val="bg1"/>
                </a:solidFill>
                <a:latin typeface="Courier New" pitchFamily="34" charset="0"/>
                <a:ea typeface="Courier New" pitchFamily="34" charset="-122"/>
                <a:cs typeface="Courier New" pitchFamily="34" charset="-120"/>
              </a:rPr>
              <a:t>)</a:t>
            </a:r>
            <a:endParaRPr lang="en-US" sz="1300" dirty="0"/>
          </a:p>
        </p:txBody>
      </p:sp>
      <p:sp>
        <p:nvSpPr>
          <p:cNvPr id="15" name="Do this card"/>
          <p:cNvSpPr/>
          <p:nvPr/>
        </p:nvSpPr>
        <p:spPr>
          <a:xfrm>
            <a:off x="8092440" y="1783080"/>
            <a:ext cx="3547872" cy="2203704"/>
          </a:xfrm>
          <a:prstGeom prst="roundRect">
            <a:avLst>
              <a:gd name="adj" fmla="val 4979"/>
            </a:avLst>
          </a:prstGeom>
          <a:solidFill>
            <a:schemeClr val="bg2"/>
          </a:solidFill>
          <a:ln/>
        </p:spPr>
      </p:sp>
      <p:sp>
        <p:nvSpPr>
          <p:cNvPr id="16"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17" name="Do chip 1"/>
          <p:cNvSpPr/>
          <p:nvPr/>
        </p:nvSpPr>
        <p:spPr>
          <a:xfrm>
            <a:off x="8293608" y="2377440"/>
            <a:ext cx="310896" cy="310896"/>
          </a:xfrm>
          <a:prstGeom prst="roundRect">
            <a:avLst>
              <a:gd name="adj" fmla="val 23529"/>
            </a:avLst>
          </a:prstGeom>
          <a:solidFill>
            <a:schemeClr val="accent1"/>
          </a:solidFill>
          <a:ln/>
        </p:spPr>
      </p:sp>
      <p:sp>
        <p:nvSpPr>
          <p:cNvPr id="18"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9"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In the lakehouse, choose New semantic model. Pick the gold and run log tables.</a:t>
            </a:r>
            <a:endParaRPr lang="en-US" sz="1250" dirty="0"/>
          </a:p>
        </p:txBody>
      </p:sp>
      <p:sp>
        <p:nvSpPr>
          <p:cNvPr id="20" name="Do chip 2"/>
          <p:cNvSpPr/>
          <p:nvPr/>
        </p:nvSpPr>
        <p:spPr>
          <a:xfrm>
            <a:off x="8293608" y="2944368"/>
            <a:ext cx="310896" cy="310896"/>
          </a:xfrm>
          <a:prstGeom prst="roundRect">
            <a:avLst>
              <a:gd name="adj" fmla="val 23529"/>
            </a:avLst>
          </a:prstGeom>
          <a:solidFill>
            <a:schemeClr val="accent1"/>
          </a:solidFill>
          <a:ln/>
        </p:spPr>
      </p:sp>
      <p:sp>
        <p:nvSpPr>
          <p:cNvPr id="21"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22"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Add the three measures. Hide the raw columns.</a:t>
            </a:r>
            <a:endParaRPr lang="en-US" sz="1250" dirty="0"/>
          </a:p>
        </p:txBody>
      </p:sp>
      <p:sp>
        <p:nvSpPr>
          <p:cNvPr id="23" name="Do chip 3"/>
          <p:cNvSpPr/>
          <p:nvPr/>
        </p:nvSpPr>
        <p:spPr>
          <a:xfrm>
            <a:off x="8293608" y="3511296"/>
            <a:ext cx="310896" cy="310896"/>
          </a:xfrm>
          <a:prstGeom prst="roundRect">
            <a:avLst>
              <a:gd name="adj" fmla="val 23529"/>
            </a:avLst>
          </a:prstGeom>
          <a:solidFill>
            <a:schemeClr val="accent1"/>
          </a:solidFill>
          <a:ln/>
        </p:spPr>
      </p:sp>
      <p:sp>
        <p:nvSpPr>
          <p:cNvPr id="24"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5"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Check it in a table: period 2025-02, basis with_na.</a:t>
            </a:r>
            <a:endParaRPr lang="en-US" sz="1250" dirty="0"/>
          </a:p>
        </p:txBody>
      </p:sp>
      <p:sp>
        <p:nvSpPr>
          <p:cNvPr id="26"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27"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28"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Entity A 12,000.00 and Entity B 18,000.00.</a:t>
            </a:r>
            <a:endParaRPr lang="en-US" sz="1250" dirty="0"/>
          </a:p>
          <a:p>
            <a:pPr indent="0" marL="0">
              <a:buNone/>
            </a:pPr>
            <a:endParaRPr lang="en-US" sz="1250" dirty="0"/>
          </a:p>
          <a:p>
            <a:pPr indent="0" marL="0">
              <a:buNone/>
            </a:pPr>
            <a:r>
              <a:rPr lang="en-US" sz="1250" dirty="0">
                <a:solidFill>
                  <a:schemeClr val="tx1"/>
                </a:solidFill>
              </a:rPr>
              <a:t>Share of Entity for Entity A, CA is 70.0%.</a:t>
            </a:r>
            <a:endParaRPr lang="en-US" sz="1250" dirty="0"/>
          </a:p>
          <a:p>
            <a:pPr indent="0" marL="0">
              <a:buNone/>
            </a:pPr>
            <a:endParaRPr lang="en-US" sz="1250" dirty="0"/>
          </a:p>
          <a:p>
            <a:pPr indent="0" marL="0">
              <a:buNone/>
            </a:pPr>
            <a:r>
              <a:rPr lang="en-US" sz="1250" dirty="0">
                <a:solidFill>
                  <a:schemeClr val="tx1"/>
                </a:solidFill>
              </a:rPr>
              <a:t>Selecting both bases doubles the totals. Use a single-select slicer.</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 · STEP 6 OF 6</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Step 6: a report page, then the same numbers in Excel</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Progress 1"/>
          <p:cNvSpPr/>
          <p:nvPr/>
        </p:nvSpPr>
        <p:spPr>
          <a:xfrm>
            <a:off x="548640" y="1481328"/>
            <a:ext cx="1788109" cy="73152"/>
          </a:xfrm>
          <a:prstGeom prst="roundRect">
            <a:avLst>
              <a:gd name="adj" fmla="val 50000"/>
            </a:avLst>
          </a:prstGeom>
          <a:solidFill>
            <a:schemeClr val="accent1"/>
          </a:solidFill>
          <a:ln/>
        </p:spPr>
      </p:sp>
      <p:sp>
        <p:nvSpPr>
          <p:cNvPr id="7" name="Progress 2"/>
          <p:cNvSpPr/>
          <p:nvPr/>
        </p:nvSpPr>
        <p:spPr>
          <a:xfrm>
            <a:off x="2409901" y="1481328"/>
            <a:ext cx="1788109" cy="73152"/>
          </a:xfrm>
          <a:prstGeom prst="roundRect">
            <a:avLst>
              <a:gd name="adj" fmla="val 50000"/>
            </a:avLst>
          </a:prstGeom>
          <a:solidFill>
            <a:schemeClr val="accent1"/>
          </a:solidFill>
          <a:ln/>
        </p:spPr>
      </p:sp>
      <p:sp>
        <p:nvSpPr>
          <p:cNvPr id="8" name="Progress 3"/>
          <p:cNvSpPr/>
          <p:nvPr/>
        </p:nvSpPr>
        <p:spPr>
          <a:xfrm>
            <a:off x="4271162" y="1481328"/>
            <a:ext cx="1788109" cy="73152"/>
          </a:xfrm>
          <a:prstGeom prst="roundRect">
            <a:avLst>
              <a:gd name="adj" fmla="val 50000"/>
            </a:avLst>
          </a:prstGeom>
          <a:solidFill>
            <a:schemeClr val="accent1"/>
          </a:solidFill>
          <a:ln/>
        </p:spPr>
      </p:sp>
      <p:sp>
        <p:nvSpPr>
          <p:cNvPr id="9" name="Progress 4"/>
          <p:cNvSpPr/>
          <p:nvPr/>
        </p:nvSpPr>
        <p:spPr>
          <a:xfrm>
            <a:off x="6132424" y="1481328"/>
            <a:ext cx="1788109" cy="73152"/>
          </a:xfrm>
          <a:prstGeom prst="roundRect">
            <a:avLst>
              <a:gd name="adj" fmla="val 50000"/>
            </a:avLst>
          </a:prstGeom>
          <a:solidFill>
            <a:schemeClr val="accent1"/>
          </a:solidFill>
          <a:ln/>
        </p:spPr>
      </p:sp>
      <p:sp>
        <p:nvSpPr>
          <p:cNvPr id="10" name="Progress 5"/>
          <p:cNvSpPr/>
          <p:nvPr/>
        </p:nvSpPr>
        <p:spPr>
          <a:xfrm>
            <a:off x="7993685" y="1481328"/>
            <a:ext cx="1788109" cy="73152"/>
          </a:xfrm>
          <a:prstGeom prst="roundRect">
            <a:avLst>
              <a:gd name="adj" fmla="val 50000"/>
            </a:avLst>
          </a:prstGeom>
          <a:solidFill>
            <a:schemeClr val="accent1"/>
          </a:solidFill>
          <a:ln/>
        </p:spPr>
      </p:sp>
      <p:sp>
        <p:nvSpPr>
          <p:cNvPr id="11" name="Progress 6"/>
          <p:cNvSpPr/>
          <p:nvPr/>
        </p:nvSpPr>
        <p:spPr>
          <a:xfrm>
            <a:off x="9854946" y="1481328"/>
            <a:ext cx="1788109" cy="73152"/>
          </a:xfrm>
          <a:prstGeom prst="roundRect">
            <a:avLst>
              <a:gd name="adj" fmla="val 50000"/>
            </a:avLst>
          </a:prstGeom>
          <a:solidFill>
            <a:schemeClr val="accent1"/>
          </a:solidFill>
          <a:ln/>
        </p:spPr>
      </p:sp>
      <p:sp>
        <p:nvSpPr>
          <p:cNvPr id="12" name="Wireframe frame"/>
          <p:cNvSpPr/>
          <p:nvPr/>
        </p:nvSpPr>
        <p:spPr>
          <a:xfrm>
            <a:off x="548640" y="1783080"/>
            <a:ext cx="7315200" cy="4023360"/>
          </a:xfrm>
          <a:prstGeom prst="roundRect">
            <a:avLst>
              <a:gd name="adj" fmla="val 2727"/>
            </a:avLst>
          </a:prstGeom>
          <a:solidFill>
            <a:schemeClr val="bg1"/>
          </a:solidFill>
          <a:ln w="15875">
            <a:solidFill>
              <a:schemeClr val="bg2"/>
            </a:solidFill>
            <a:prstDash val="solid"/>
          </a:ln>
          <a:effectLst>
            <a:outerShdw sx="100000" sy="100000" kx="0" ky="0" algn="bl" rotWithShape="0" blurRad="76200" dist="25400" dir="5400000">
              <a:srgbClr val="0B1F3A">
                <a:alpha val="12000"/>
              </a:srgbClr>
            </a:outerShdw>
          </a:effectLst>
        </p:spPr>
      </p:sp>
      <p:sp>
        <p:nvSpPr>
          <p:cNvPr id="13" name="Wireframe label"/>
          <p:cNvSpPr txBox="1"/>
          <p:nvPr/>
        </p:nvSpPr>
        <p:spPr>
          <a:xfrm>
            <a:off x="777240" y="1874520"/>
            <a:ext cx="2743200" cy="201168"/>
          </a:xfrm>
          <a:prstGeom prst="rect">
            <a:avLst/>
          </a:prstGeom>
          <a:noFill/>
          <a:ln/>
        </p:spPr>
        <p:txBody>
          <a:bodyPr wrap="square" lIns="0" tIns="0" rIns="0" bIns="0" rtlCol="0" anchor="t"/>
          <a:lstStyle/>
          <a:p>
            <a:pPr indent="0" marL="0">
              <a:buNone/>
            </a:pPr>
            <a:r>
              <a:rPr lang="en-US" sz="950" b="1" spc="200" kern="0" dirty="0">
                <a:solidFill>
                  <a:schemeClr val="accent5"/>
                </a:solidFill>
              </a:rPr>
              <a:t>PAGE LAYOUT</a:t>
            </a:r>
            <a:endParaRPr lang="en-US" sz="950" dirty="0"/>
          </a:p>
        </p:txBody>
      </p:sp>
      <p:sp>
        <p:nvSpPr>
          <p:cNvPr id="14" name="Slicer visual"/>
          <p:cNvSpPr/>
          <p:nvPr/>
        </p:nvSpPr>
        <p:spPr>
          <a:xfrm>
            <a:off x="777240" y="2194560"/>
            <a:ext cx="1691640" cy="594360"/>
          </a:xfrm>
          <a:prstGeom prst="roundRect">
            <a:avLst>
              <a:gd name="adj" fmla="val 9231"/>
            </a:avLst>
          </a:prstGeom>
          <a:solidFill>
            <a:schemeClr val="bg2"/>
          </a:solidFill>
          <a:ln w="9525">
            <a:solidFill>
              <a:schemeClr val="accent5"/>
            </a:solidFill>
            <a:prstDash val="dash"/>
          </a:ln>
        </p:spPr>
      </p:sp>
      <p:sp>
        <p:nvSpPr>
          <p:cNvPr id="15" name="Slicer text"/>
          <p:cNvSpPr txBox="1"/>
          <p:nvPr/>
        </p:nvSpPr>
        <p:spPr>
          <a:xfrm>
            <a:off x="886968" y="2194560"/>
            <a:ext cx="1472184" cy="594360"/>
          </a:xfrm>
          <a:prstGeom prst="rect">
            <a:avLst/>
          </a:prstGeom>
          <a:noFill/>
          <a:ln/>
        </p:spPr>
        <p:txBody>
          <a:bodyPr wrap="square" lIns="0" tIns="0" rIns="0" bIns="0" rtlCol="0" anchor="ctr"/>
          <a:lstStyle/>
          <a:p>
            <a:pPr indent="0" marL="0">
              <a:buNone/>
            </a:pPr>
            <a:r>
              <a:rPr lang="en-US" sz="1250" b="1" dirty="0">
                <a:solidFill>
                  <a:schemeClr val="tx1"/>
                </a:solidFill>
              </a:rPr>
              <a:t>Slicer</a:t>
            </a:r>
            <a:endParaRPr lang="en-US" sz="1400" dirty="0"/>
          </a:p>
          <a:p>
            <a:pPr indent="0" marL="0">
              <a:buNone/>
            </a:pPr>
            <a:r>
              <a:rPr lang="en-US" sz="1050" dirty="0">
                <a:solidFill>
                  <a:schemeClr val="tx1"/>
                </a:solidFill>
              </a:rPr>
              <a:t>period</a:t>
            </a:r>
            <a:endParaRPr lang="en-US" sz="1400" dirty="0"/>
          </a:p>
        </p:txBody>
      </p:sp>
      <p:sp>
        <p:nvSpPr>
          <p:cNvPr id="16" name="Slicer visual"/>
          <p:cNvSpPr/>
          <p:nvPr/>
        </p:nvSpPr>
        <p:spPr>
          <a:xfrm>
            <a:off x="2606040" y="2194560"/>
            <a:ext cx="1691640" cy="594360"/>
          </a:xfrm>
          <a:prstGeom prst="roundRect">
            <a:avLst>
              <a:gd name="adj" fmla="val 9231"/>
            </a:avLst>
          </a:prstGeom>
          <a:solidFill>
            <a:schemeClr val="bg2"/>
          </a:solidFill>
          <a:ln w="9525">
            <a:solidFill>
              <a:schemeClr val="accent5"/>
            </a:solidFill>
            <a:prstDash val="dash"/>
          </a:ln>
        </p:spPr>
      </p:sp>
      <p:sp>
        <p:nvSpPr>
          <p:cNvPr id="17" name="Slicer text"/>
          <p:cNvSpPr txBox="1"/>
          <p:nvPr/>
        </p:nvSpPr>
        <p:spPr>
          <a:xfrm>
            <a:off x="2715768" y="2194560"/>
            <a:ext cx="1472184" cy="594360"/>
          </a:xfrm>
          <a:prstGeom prst="rect">
            <a:avLst/>
          </a:prstGeom>
          <a:noFill/>
          <a:ln/>
        </p:spPr>
        <p:txBody>
          <a:bodyPr wrap="square" lIns="0" tIns="0" rIns="0" bIns="0" rtlCol="0" anchor="ctr"/>
          <a:lstStyle/>
          <a:p>
            <a:pPr indent="0" marL="0">
              <a:buNone/>
            </a:pPr>
            <a:r>
              <a:rPr lang="en-US" sz="1250" b="1" dirty="0">
                <a:solidFill>
                  <a:schemeClr val="tx1"/>
                </a:solidFill>
              </a:rPr>
              <a:t>Slicer</a:t>
            </a:r>
            <a:endParaRPr lang="en-US" sz="1400" dirty="0"/>
          </a:p>
          <a:p>
            <a:pPr indent="0" marL="0">
              <a:buNone/>
            </a:pPr>
            <a:r>
              <a:rPr lang="en-US" sz="1050" dirty="0">
                <a:solidFill>
                  <a:schemeClr val="tx1"/>
                </a:solidFill>
              </a:rPr>
              <a:t>basis, single select</a:t>
            </a:r>
            <a:endParaRPr lang="en-US" sz="1400" dirty="0"/>
          </a:p>
        </p:txBody>
      </p:sp>
      <p:sp>
        <p:nvSpPr>
          <p:cNvPr id="18" name="Card visual"/>
          <p:cNvSpPr/>
          <p:nvPr/>
        </p:nvSpPr>
        <p:spPr>
          <a:xfrm>
            <a:off x="777240" y="2926080"/>
            <a:ext cx="3520440" cy="868680"/>
          </a:xfrm>
          <a:prstGeom prst="roundRect">
            <a:avLst>
              <a:gd name="adj" fmla="val 6316"/>
            </a:avLst>
          </a:prstGeom>
          <a:solidFill>
            <a:schemeClr val="bg2"/>
          </a:solidFill>
          <a:ln w="9525">
            <a:solidFill>
              <a:schemeClr val="accent5"/>
            </a:solidFill>
            <a:prstDash val="dash"/>
          </a:ln>
        </p:spPr>
      </p:sp>
      <p:sp>
        <p:nvSpPr>
          <p:cNvPr id="19" name="Card text"/>
          <p:cNvSpPr txBox="1"/>
          <p:nvPr/>
        </p:nvSpPr>
        <p:spPr>
          <a:xfrm>
            <a:off x="886968" y="2926080"/>
            <a:ext cx="3300984" cy="868680"/>
          </a:xfrm>
          <a:prstGeom prst="rect">
            <a:avLst/>
          </a:prstGeom>
          <a:noFill/>
          <a:ln/>
        </p:spPr>
        <p:txBody>
          <a:bodyPr wrap="square" lIns="0" tIns="0" rIns="0" bIns="0" rtlCol="0" anchor="ctr"/>
          <a:lstStyle/>
          <a:p>
            <a:pPr indent="0" marL="0">
              <a:buNone/>
            </a:pPr>
            <a:r>
              <a:rPr lang="en-US" sz="1250" b="1" dirty="0">
                <a:solidFill>
                  <a:schemeClr val="tx1"/>
                </a:solidFill>
              </a:rPr>
              <a:t>Card</a:t>
            </a:r>
            <a:endParaRPr lang="en-US" sz="1400" dirty="0"/>
          </a:p>
          <a:p>
            <a:pPr indent="0" marL="0">
              <a:buNone/>
            </a:pPr>
            <a:r>
              <a:rPr lang="en-US" sz="1050" dirty="0">
                <a:solidFill>
                  <a:schemeClr val="tx1"/>
                </a:solidFill>
              </a:rPr>
              <a:t>Apportioned Amount</a:t>
            </a:r>
            <a:endParaRPr lang="en-US" sz="1400" dirty="0"/>
          </a:p>
        </p:txBody>
      </p:sp>
      <p:sp>
        <p:nvSpPr>
          <p:cNvPr id="20" name="Column chart visual"/>
          <p:cNvSpPr/>
          <p:nvPr/>
        </p:nvSpPr>
        <p:spPr>
          <a:xfrm>
            <a:off x="4480560" y="2194560"/>
            <a:ext cx="3154680" cy="1600200"/>
          </a:xfrm>
          <a:prstGeom prst="roundRect">
            <a:avLst>
              <a:gd name="adj" fmla="val 3429"/>
            </a:avLst>
          </a:prstGeom>
          <a:solidFill>
            <a:schemeClr val="accent2">
              <a:alpha val="20000"/>
            </a:schemeClr>
          </a:solidFill>
          <a:ln w="9525">
            <a:solidFill>
              <a:schemeClr val="accent5"/>
            </a:solidFill>
            <a:prstDash val="dash"/>
          </a:ln>
        </p:spPr>
      </p:sp>
      <p:sp>
        <p:nvSpPr>
          <p:cNvPr id="21" name="Column chart text"/>
          <p:cNvSpPr txBox="1"/>
          <p:nvPr/>
        </p:nvSpPr>
        <p:spPr>
          <a:xfrm>
            <a:off x="4590288" y="2194560"/>
            <a:ext cx="2935224" cy="1600200"/>
          </a:xfrm>
          <a:prstGeom prst="rect">
            <a:avLst/>
          </a:prstGeom>
          <a:noFill/>
          <a:ln/>
        </p:spPr>
        <p:txBody>
          <a:bodyPr wrap="square" lIns="0" tIns="0" rIns="0" bIns="0" rtlCol="0" anchor="ctr"/>
          <a:lstStyle/>
          <a:p>
            <a:pPr indent="0" marL="0">
              <a:buNone/>
            </a:pPr>
            <a:r>
              <a:rPr lang="en-US" sz="1250" b="1" dirty="0">
                <a:solidFill>
                  <a:schemeClr val="tx1"/>
                </a:solidFill>
              </a:rPr>
              <a:t>Column chart</a:t>
            </a:r>
            <a:endParaRPr lang="en-US" sz="1400" dirty="0"/>
          </a:p>
          <a:p>
            <a:pPr indent="0" marL="0">
              <a:buNone/>
            </a:pPr>
            <a:r>
              <a:rPr lang="en-US" sz="1050" dirty="0">
                <a:solidFill>
                  <a:schemeClr val="tx1"/>
                </a:solidFill>
              </a:rPr>
              <a:t>Apportioned Amount by entity and state</a:t>
            </a:r>
            <a:endParaRPr lang="en-US" sz="1400" dirty="0"/>
          </a:p>
        </p:txBody>
      </p:sp>
      <p:sp>
        <p:nvSpPr>
          <p:cNvPr id="22" name="Table from the run log visual"/>
          <p:cNvSpPr/>
          <p:nvPr/>
        </p:nvSpPr>
        <p:spPr>
          <a:xfrm>
            <a:off x="777240" y="3931920"/>
            <a:ext cx="6858000" cy="1737360"/>
          </a:xfrm>
          <a:prstGeom prst="roundRect">
            <a:avLst>
              <a:gd name="adj" fmla="val 3158"/>
            </a:avLst>
          </a:prstGeom>
          <a:solidFill>
            <a:schemeClr val="accent2">
              <a:alpha val="20000"/>
            </a:schemeClr>
          </a:solidFill>
          <a:ln w="9525">
            <a:solidFill>
              <a:schemeClr val="accent5"/>
            </a:solidFill>
            <a:prstDash val="dash"/>
          </a:ln>
        </p:spPr>
      </p:sp>
      <p:sp>
        <p:nvSpPr>
          <p:cNvPr id="23" name="Table from the run log text"/>
          <p:cNvSpPr txBox="1"/>
          <p:nvPr/>
        </p:nvSpPr>
        <p:spPr>
          <a:xfrm>
            <a:off x="886968" y="3931920"/>
            <a:ext cx="6638544" cy="1737360"/>
          </a:xfrm>
          <a:prstGeom prst="rect">
            <a:avLst/>
          </a:prstGeom>
          <a:noFill/>
          <a:ln/>
        </p:spPr>
        <p:txBody>
          <a:bodyPr wrap="square" lIns="0" tIns="0" rIns="0" bIns="0" rtlCol="0" anchor="ctr"/>
          <a:lstStyle/>
          <a:p>
            <a:pPr indent="0" marL="0">
              <a:buNone/>
            </a:pPr>
            <a:r>
              <a:rPr lang="en-US" sz="1250" b="1" dirty="0">
                <a:solidFill>
                  <a:schemeClr val="tx1"/>
                </a:solidFill>
              </a:rPr>
              <a:t>Table from the run log</a:t>
            </a:r>
            <a:endParaRPr lang="en-US" sz="1400" dirty="0"/>
          </a:p>
          <a:p>
            <a:pPr indent="0" marL="0">
              <a:buNone/>
            </a:pPr>
            <a:r>
              <a:rPr lang="en-US" sz="1050" dirty="0">
                <a:solidFill>
                  <a:schemeClr val="tx1"/>
                </a:solidFill>
              </a:rPr>
              <a:t>finished_at, run_id, period, basis, status. Newest first.</a:t>
            </a:r>
            <a:endParaRPr lang="en-US" sz="1400" dirty="0"/>
          </a:p>
        </p:txBody>
      </p:sp>
      <p:sp>
        <p:nvSpPr>
          <p:cNvPr id="24" name="Do this card"/>
          <p:cNvSpPr/>
          <p:nvPr/>
        </p:nvSpPr>
        <p:spPr>
          <a:xfrm>
            <a:off x="8092440" y="1783080"/>
            <a:ext cx="3547872" cy="2203704"/>
          </a:xfrm>
          <a:prstGeom prst="roundRect">
            <a:avLst>
              <a:gd name="adj" fmla="val 4979"/>
            </a:avLst>
          </a:prstGeom>
          <a:solidFill>
            <a:schemeClr val="bg2"/>
          </a:solidFill>
          <a:ln/>
        </p:spPr>
      </p:sp>
      <p:sp>
        <p:nvSpPr>
          <p:cNvPr id="25" name="Do this title"/>
          <p:cNvSpPr txBox="1"/>
          <p:nvPr/>
        </p:nvSpPr>
        <p:spPr>
          <a:xfrm>
            <a:off x="8293608" y="1874520"/>
            <a:ext cx="3182112"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Do this</a:t>
            </a:r>
            <a:endParaRPr lang="en-US" sz="1600" dirty="0"/>
          </a:p>
        </p:txBody>
      </p:sp>
      <p:sp>
        <p:nvSpPr>
          <p:cNvPr id="26" name="Do chip 1"/>
          <p:cNvSpPr/>
          <p:nvPr/>
        </p:nvSpPr>
        <p:spPr>
          <a:xfrm>
            <a:off x="8293608" y="2377440"/>
            <a:ext cx="310896" cy="310896"/>
          </a:xfrm>
          <a:prstGeom prst="roundRect">
            <a:avLst>
              <a:gd name="adj" fmla="val 23529"/>
            </a:avLst>
          </a:prstGeom>
          <a:solidFill>
            <a:schemeClr val="accent1"/>
          </a:solidFill>
          <a:ln/>
        </p:spPr>
      </p:sp>
      <p:sp>
        <p:nvSpPr>
          <p:cNvPr id="27" name="Do number"/>
          <p:cNvSpPr txBox="1"/>
          <p:nvPr/>
        </p:nvSpPr>
        <p:spPr>
          <a:xfrm>
            <a:off x="8293608" y="2377440"/>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28" name="Do text"/>
          <p:cNvSpPr txBox="1"/>
          <p:nvPr/>
        </p:nvSpPr>
        <p:spPr>
          <a:xfrm>
            <a:off x="8714232" y="2267712"/>
            <a:ext cx="2743200" cy="530352"/>
          </a:xfrm>
          <a:prstGeom prst="rect">
            <a:avLst/>
          </a:prstGeom>
          <a:noFill/>
          <a:ln/>
        </p:spPr>
        <p:txBody>
          <a:bodyPr wrap="square" lIns="0" tIns="0" rIns="0" bIns="0" rtlCol="0" anchor="ctr"/>
          <a:lstStyle/>
          <a:p>
            <a:pPr indent="0" marL="0">
              <a:buNone/>
            </a:pPr>
            <a:r>
              <a:rPr lang="en-US" sz="1250" dirty="0">
                <a:solidFill>
                  <a:schemeClr val="tx1"/>
                </a:solidFill>
              </a:rPr>
              <a:t>Create a report from the model. Build the layout shown.</a:t>
            </a:r>
            <a:endParaRPr lang="en-US" sz="1250" dirty="0"/>
          </a:p>
        </p:txBody>
      </p:sp>
      <p:sp>
        <p:nvSpPr>
          <p:cNvPr id="29" name="Do chip 2"/>
          <p:cNvSpPr/>
          <p:nvPr/>
        </p:nvSpPr>
        <p:spPr>
          <a:xfrm>
            <a:off x="8293608" y="2944368"/>
            <a:ext cx="310896" cy="310896"/>
          </a:xfrm>
          <a:prstGeom prst="roundRect">
            <a:avLst>
              <a:gd name="adj" fmla="val 23529"/>
            </a:avLst>
          </a:prstGeom>
          <a:solidFill>
            <a:schemeClr val="accent1"/>
          </a:solidFill>
          <a:ln/>
        </p:spPr>
      </p:sp>
      <p:sp>
        <p:nvSpPr>
          <p:cNvPr id="30" name="Do number"/>
          <p:cNvSpPr txBox="1"/>
          <p:nvPr/>
        </p:nvSpPr>
        <p:spPr>
          <a:xfrm>
            <a:off x="8293608" y="2944368"/>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31" name="Do text"/>
          <p:cNvSpPr txBox="1"/>
          <p:nvPr/>
        </p:nvSpPr>
        <p:spPr>
          <a:xfrm>
            <a:off x="8714232" y="2834640"/>
            <a:ext cx="2743200" cy="530352"/>
          </a:xfrm>
          <a:prstGeom prst="rect">
            <a:avLst/>
          </a:prstGeom>
          <a:noFill/>
          <a:ln/>
        </p:spPr>
        <p:txBody>
          <a:bodyPr wrap="square" lIns="0" tIns="0" rIns="0" bIns="0" rtlCol="0" anchor="ctr"/>
          <a:lstStyle/>
          <a:p>
            <a:pPr indent="0" marL="0">
              <a:buNone/>
            </a:pPr>
            <a:r>
              <a:rPr lang="en-US" sz="1250" dirty="0">
                <a:solidFill>
                  <a:schemeClr val="tx1"/>
                </a:solidFill>
              </a:rPr>
              <a:t>Switch the basis slicer. Which numbers move, and which do not?</a:t>
            </a:r>
            <a:endParaRPr lang="en-US" sz="1250" dirty="0"/>
          </a:p>
        </p:txBody>
      </p:sp>
      <p:sp>
        <p:nvSpPr>
          <p:cNvPr id="32" name="Do chip 3"/>
          <p:cNvSpPr/>
          <p:nvPr/>
        </p:nvSpPr>
        <p:spPr>
          <a:xfrm>
            <a:off x="8293608" y="3511296"/>
            <a:ext cx="310896" cy="310896"/>
          </a:xfrm>
          <a:prstGeom prst="roundRect">
            <a:avLst>
              <a:gd name="adj" fmla="val 23529"/>
            </a:avLst>
          </a:prstGeom>
          <a:solidFill>
            <a:schemeClr val="accent1"/>
          </a:solidFill>
          <a:ln/>
        </p:spPr>
      </p:sp>
      <p:sp>
        <p:nvSpPr>
          <p:cNvPr id="33" name="Do number"/>
          <p:cNvSpPr txBox="1"/>
          <p:nvPr/>
        </p:nvSpPr>
        <p:spPr>
          <a:xfrm>
            <a:off x="8293608" y="3511296"/>
            <a:ext cx="310896" cy="310896"/>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34" name="Do text"/>
          <p:cNvSpPr txBox="1"/>
          <p:nvPr/>
        </p:nvSpPr>
        <p:spPr>
          <a:xfrm>
            <a:off x="8714232" y="3401568"/>
            <a:ext cx="2743200" cy="530352"/>
          </a:xfrm>
          <a:prstGeom prst="rect">
            <a:avLst/>
          </a:prstGeom>
          <a:noFill/>
          <a:ln/>
        </p:spPr>
        <p:txBody>
          <a:bodyPr wrap="square" lIns="0" tIns="0" rIns="0" bIns="0" rtlCol="0" anchor="ctr"/>
          <a:lstStyle/>
          <a:p>
            <a:pPr indent="0" marL="0">
              <a:buNone/>
            </a:pPr>
            <a:r>
              <a:rPr lang="en-US" sz="1250" dirty="0">
                <a:solidFill>
                  <a:schemeClr val="tx1"/>
                </a:solidFill>
              </a:rPr>
              <a:t>Choose Analyze in Excel. Build a pivot and compare it.</a:t>
            </a:r>
            <a:endParaRPr lang="en-US" sz="1250" dirty="0"/>
          </a:p>
        </p:txBody>
      </p:sp>
      <p:sp>
        <p:nvSpPr>
          <p:cNvPr id="35" name="See card"/>
          <p:cNvSpPr/>
          <p:nvPr/>
        </p:nvSpPr>
        <p:spPr>
          <a:xfrm>
            <a:off x="8092440" y="4123944"/>
            <a:ext cx="3547872" cy="1865376"/>
          </a:xfrm>
          <a:prstGeom prst="roundRect">
            <a:avLst>
              <a:gd name="adj" fmla="val 5882"/>
            </a:avLst>
          </a:prstGeom>
          <a:solidFill>
            <a:schemeClr val="accent2">
              <a:alpha val="20000"/>
            </a:schemeClr>
          </a:solidFill>
          <a:ln/>
        </p:spPr>
      </p:sp>
      <p:sp>
        <p:nvSpPr>
          <p:cNvPr id="36" name="See title"/>
          <p:cNvSpPr txBox="1"/>
          <p:nvPr/>
        </p:nvSpPr>
        <p:spPr>
          <a:xfrm>
            <a:off x="8293608" y="4215384"/>
            <a:ext cx="3182112"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You should see</a:t>
            </a:r>
            <a:endParaRPr lang="en-US" sz="1500" dirty="0"/>
          </a:p>
        </p:txBody>
      </p:sp>
      <p:sp>
        <p:nvSpPr>
          <p:cNvPr id="37" name="See text"/>
          <p:cNvSpPr txBox="1"/>
          <p:nvPr/>
        </p:nvSpPr>
        <p:spPr>
          <a:xfrm>
            <a:off x="8293608" y="4581144"/>
            <a:ext cx="3145536" cy="1335024"/>
          </a:xfrm>
          <a:prstGeom prst="rect">
            <a:avLst/>
          </a:prstGeom>
          <a:noFill/>
          <a:ln/>
        </p:spPr>
        <p:txBody>
          <a:bodyPr wrap="square" lIns="0" tIns="0" rIns="0" bIns="0" rtlCol="0" anchor="t"/>
          <a:lstStyle/>
          <a:p>
            <a:pPr indent="0" marL="0">
              <a:buNone/>
            </a:pPr>
            <a:r>
              <a:rPr lang="en-US" sz="1250" dirty="0">
                <a:solidFill>
                  <a:schemeClr val="tx1"/>
                </a:solidFill>
              </a:rPr>
              <a:t>The card, chart and pivot agree.</a:t>
            </a:r>
            <a:endParaRPr lang="en-US" sz="1250" dirty="0"/>
          </a:p>
          <a:p>
            <a:pPr indent="0" marL="0">
              <a:buNone/>
            </a:pPr>
            <a:endParaRPr lang="en-US" sz="1250" dirty="0"/>
          </a:p>
          <a:p>
            <a:pPr indent="0" marL="0">
              <a:buNone/>
            </a:pPr>
            <a:r>
              <a:rPr lang="en-US" sz="1250" dirty="0">
                <a:solidFill>
                  <a:schemeClr val="tx1"/>
                </a:solidFill>
              </a:rPr>
              <a:t>Changing the basis moves the shares. Entity totals stay at their revenue.</a:t>
            </a:r>
            <a:endParaRPr lang="en-US" sz="1250" dirty="0"/>
          </a:p>
          <a:p>
            <a:pPr indent="0" marL="0">
              <a:buNone/>
            </a:pPr>
            <a:endParaRPr lang="en-US" sz="1250" dirty="0"/>
          </a:p>
          <a:p>
            <a:pPr indent="0" marL="0">
              <a:buNone/>
            </a:pPr>
            <a:r>
              <a:rPr lang="en-US" sz="1250" dirty="0">
                <a:solidFill>
                  <a:schemeClr val="tx1"/>
                </a:solidFill>
              </a:rPr>
              <a:t>The run log table shows your runs, all passed.</a:t>
            </a:r>
            <a:endParaRPr lang="en-US" sz="12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Expected results, and what to try when it does not match</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graphicFrame>
        <p:nvGraphicFramePr>
          <p:cNvPr id="68" name="Lab B checks"/>
          <p:cNvGraphicFramePr>
            <a:graphicFrameLocks noGrp="1"/>
          </p:cNvGraphicFramePr>
          <p:nvPr>
            <p:extLst>
              <p:ext uri="{D42A27DB-BD31-4B8C-83A1-F6EECF244321}">
                <p14:modId xmlns:p14="http://schemas.microsoft.com/office/powerpoint/2010/main" val="1579011935"/>
              </p:ext>
            </p:extLst>
          </p:nvPr>
        </p:nvGraphicFramePr>
        <p:xfrm>
          <a:off x="548640" y="1783080"/>
          <a:ext cx="5852160" cy="914400"/>
        </p:xfrm>
        <a:graphic>
          <a:graphicData uri="http://schemas.openxmlformats.org/drawingml/2006/table">
            <a:tbl>
              <a:tblPr/>
              <a:tblGrid>
                <a:gridCol w="2286000"/>
                <a:gridCol w="3566160"/>
              </a:tblGrid>
              <a:tr h="365760">
                <a:tc>
                  <a:txBody>
                    <a:bodyPr/>
                    <a:lstStyle/>
                    <a:p>
                      <a:pPr indent="0" marL="0">
                        <a:buNone/>
                      </a:pPr>
                      <a:r>
                        <a:rPr lang="en-US" sz="1150" b="1" dirty="0">
                          <a:solidFill>
                            <a:schemeClr val="bg1"/>
                          </a:solidFill>
                        </a:rPr>
                        <a:t>Check</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Expected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02920">
                <a:tc>
                  <a:txBody>
                    <a:bodyPr/>
                    <a:lstStyle/>
                    <a:p>
                      <a:pPr indent="0" marL="0">
                        <a:buNone/>
                      </a:pPr>
                      <a:r>
                        <a:rPr lang="en-US" sz="1150" b="1" dirty="0">
                          <a:solidFill>
                            <a:schemeClr val="tx1"/>
                          </a:solidFill>
                        </a:rPr>
                        <a:t>Run 2025-02, with_na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Succeeded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150" b="1" dirty="0">
                          <a:solidFill>
                            <a:schemeClr val="tx1"/>
                          </a:solidFill>
                        </a:rPr>
                        <a:t>Newest run log row</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run_id equals the pipeline run ID. Passed. 30,000.00 against 30,000.00. 1 unmapped row</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150" b="1" dirty="0">
                          <a:solidFill>
                            <a:schemeClr val="tx1"/>
                          </a:solidFill>
                        </a:rPr>
                        <a:t>Run with period Jan-25</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Failed with a bad period error. No new gold or log row</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150" b="1" dirty="0">
                          <a:solidFill>
                            <a:schemeClr val="tx1"/>
                          </a:solidFill>
                        </a:rPr>
                        <a:t>Run with the break-it line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Failed. A failed log row. Gold unchanged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02920">
                <a:tc>
                  <a:txBody>
                    <a:bodyPr/>
                    <a:lstStyle/>
                    <a:p>
                      <a:pPr indent="0" marL="0">
                        <a:buNone/>
                      </a:pPr>
                      <a:r>
                        <a:rPr lang="en-US" sz="1150" b="1" dirty="0">
                          <a:solidFill>
                            <a:schemeClr val="tx1"/>
                          </a:solidFill>
                        </a:rPr>
                        <a:t>Model, 2025-02 with_na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Entity A 12,000.00. Entity B 18,000.00</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65760">
                <a:tc>
                  <a:txBody>
                    <a:bodyPr/>
                    <a:lstStyle/>
                    <a:p>
                      <a:pPr indent="0" marL="0">
                        <a:buNone/>
                      </a:pPr>
                      <a:r>
                        <a:rPr lang="en-US" sz="1150" b="1" dirty="0">
                          <a:solidFill>
                            <a:schemeClr val="tx1"/>
                          </a:solidFill>
                        </a:rPr>
                        <a:t>Share of Entity, A in CA</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70.0%</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65760">
                <a:tc>
                  <a:txBody>
                    <a:bodyPr/>
                    <a:lstStyle/>
                    <a:p>
                      <a:pPr indent="0" marL="0">
                        <a:buNone/>
                      </a:pPr>
                      <a:r>
                        <a:rPr lang="en-US" sz="1150" b="1" dirty="0">
                          <a:solidFill>
                            <a:schemeClr val="tx1"/>
                          </a:solidFill>
                        </a:rPr>
                        <a:t>Excel pivot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Same as the report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graphicFrame>
        <p:nvGraphicFramePr>
          <p:cNvPr id="135" name="Lab B troubleshooting"/>
          <p:cNvGraphicFramePr>
            <a:graphicFrameLocks noGrp="1"/>
          </p:cNvGraphicFramePr>
          <p:nvPr>
            <p:extLst>
              <p:ext uri="{D42A27DB-BD31-4B8C-83A1-F6EECF244321}">
                <p14:modId xmlns:p14="http://schemas.microsoft.com/office/powerpoint/2010/main" val="1579011935"/>
              </p:ext>
            </p:extLst>
          </p:nvPr>
        </p:nvGraphicFramePr>
        <p:xfrm>
          <a:off x="6583680" y="1783080"/>
          <a:ext cx="5056632" cy="914400"/>
        </p:xfrm>
        <a:graphic>
          <a:graphicData uri="http://schemas.openxmlformats.org/drawingml/2006/table">
            <a:tbl>
              <a:tblPr/>
              <a:tblGrid>
                <a:gridCol w="2103120"/>
                <a:gridCol w="2953512"/>
              </a:tblGrid>
              <a:tr h="365760">
                <a:tc>
                  <a:txBody>
                    <a:bodyPr/>
                    <a:lstStyle/>
                    <a:p>
                      <a:pPr indent="0" marL="0">
                        <a:buNone/>
                      </a:pPr>
                      <a:r>
                        <a:rPr lang="en-US" sz="1150" b="1" dirty="0">
                          <a:solidFill>
                            <a:schemeClr val="bg1"/>
                          </a:solidFill>
                        </a:rPr>
                        <a:t>Symptom</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150" b="1" dirty="0">
                          <a:solidFill>
                            <a:schemeClr val="bg1"/>
                          </a:solidFill>
                        </a:rPr>
                        <a:t>Likely fix</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868680">
                <a:tc>
                  <a:txBody>
                    <a:bodyPr/>
                    <a:lstStyle/>
                    <a:p>
                      <a:pPr indent="0" marL="0">
                        <a:buNone/>
                      </a:pPr>
                      <a:r>
                        <a:rPr lang="en-US" sz="1150" dirty="0">
                          <a:solidFill>
                            <a:schemeClr val="tx1"/>
                          </a:solidFill>
                        </a:rPr>
                        <a:t>Pipeline succeeds but the notebook used its defaults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Names differ, or the first cell is not marked as the parameter cell. Names are case-sensitive</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150" dirty="0">
                          <a:solidFill>
                            <a:schemeClr val="tx1"/>
                          </a:solidFill>
                        </a:rPr>
                        <a:t>run_id in the log says manual</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The run_id base parameter is missing or misspelt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150" dirty="0">
                          <a:solidFill>
                            <a:schemeClr val="tx1"/>
                          </a:solidFill>
                        </a:rPr>
                        <a:t>The report shows old numbers</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Refresh the model and the report. Check the run really passed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150" dirty="0">
                          <a:solidFill>
                            <a:schemeClr val="tx1"/>
                          </a:solidFill>
                        </a:rPr>
                        <a:t>Totals look doubled</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50" dirty="0">
                          <a:solidFill>
                            <a:schemeClr val="tx1"/>
                          </a:solidFill>
                        </a:rPr>
                        <a:t>Basis has both values selected. Make it single select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731520">
                <a:tc>
                  <a:txBody>
                    <a:bodyPr/>
                    <a:lstStyle/>
                    <a:p>
                      <a:pPr indent="0" marL="0">
                        <a:buNone/>
                      </a:pPr>
                      <a:r>
                        <a:rPr lang="en-US" sz="1150" dirty="0">
                          <a:solidFill>
                            <a:schemeClr val="tx1"/>
                          </a:solidFill>
                        </a:rPr>
                        <a:t>Analyze in Excel is greyed out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150" dirty="0">
                          <a:solidFill>
                            <a:schemeClr val="tx1"/>
                          </a:solidFill>
                        </a:rPr>
                        <a:t>Needs build permission on the model, and the tenant setting must allow it</a:t>
                      </a:r>
                      <a:endParaRPr lang="en-US" sz="11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If you finish early: make the front door friendlier</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sp>
        <p:nvSpPr>
          <p:cNvPr id="6" name="Stretch 1"/>
          <p:cNvSpPr/>
          <p:nvPr/>
        </p:nvSpPr>
        <p:spPr>
          <a:xfrm>
            <a:off x="548640" y="1783080"/>
            <a:ext cx="6309360" cy="932688"/>
          </a:xfrm>
          <a:prstGeom prst="roundRect">
            <a:avLst>
              <a:gd name="adj" fmla="val 11765"/>
            </a:avLst>
          </a:prstGeom>
          <a:solidFill>
            <a:schemeClr val="accent2">
              <a:alpha val="15000"/>
            </a:schemeClr>
          </a:solidFill>
          <a:ln/>
        </p:spPr>
      </p:sp>
      <p:sp>
        <p:nvSpPr>
          <p:cNvPr id="7" name="Stretch chip 1"/>
          <p:cNvSpPr/>
          <p:nvPr/>
        </p:nvSpPr>
        <p:spPr>
          <a:xfrm>
            <a:off x="731520" y="2020824"/>
            <a:ext cx="457200" cy="457200"/>
          </a:xfrm>
          <a:prstGeom prst="roundRect">
            <a:avLst>
              <a:gd name="adj" fmla="val 16000"/>
            </a:avLst>
          </a:prstGeom>
          <a:solidFill>
            <a:schemeClr val="accent2"/>
          </a:solidFill>
          <a:ln/>
        </p:spPr>
      </p:sp>
      <p:sp>
        <p:nvSpPr>
          <p:cNvPr id="8" name="Stretch number"/>
          <p:cNvSpPr txBox="1"/>
          <p:nvPr/>
        </p:nvSpPr>
        <p:spPr>
          <a:xfrm>
            <a:off x="731520" y="202082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9" name="Stretch title"/>
          <p:cNvSpPr txBox="1"/>
          <p:nvPr/>
        </p:nvSpPr>
        <p:spPr>
          <a:xfrm>
            <a:off x="1371600" y="1874520"/>
            <a:ext cx="53035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Make the schedule useful</a:t>
            </a:r>
            <a:endParaRPr lang="en-US" sz="1500" dirty="0"/>
          </a:p>
        </p:txBody>
      </p:sp>
      <p:sp>
        <p:nvSpPr>
          <p:cNvPr id="10" name="Stretch text"/>
          <p:cNvSpPr txBox="1"/>
          <p:nvPr/>
        </p:nvSpPr>
        <p:spPr>
          <a:xfrm>
            <a:off x="1371600" y="2240280"/>
            <a:ext cx="5303520" cy="457200"/>
          </a:xfrm>
          <a:prstGeom prst="rect">
            <a:avLst/>
          </a:prstGeom>
          <a:noFill/>
          <a:ln/>
        </p:spPr>
        <p:txBody>
          <a:bodyPr wrap="square" lIns="0" tIns="0" rIns="0" bIns="0" rtlCol="0" anchor="t"/>
          <a:lstStyle/>
          <a:p>
            <a:pPr indent="0" marL="0">
              <a:buNone/>
            </a:pPr>
            <a:r>
              <a:rPr lang="en-US" sz="1250" dirty="0">
                <a:solidFill>
                  <a:schemeClr val="tx1"/>
                </a:solidFill>
              </a:rPr>
              <a:t>Default period to auto. Compute last month when it is auto. Expression on the right.</a:t>
            </a:r>
            <a:endParaRPr lang="en-US" sz="1250" dirty="0"/>
          </a:p>
        </p:txBody>
      </p:sp>
      <p:sp>
        <p:nvSpPr>
          <p:cNvPr id="11" name="Stretch 2"/>
          <p:cNvSpPr/>
          <p:nvPr/>
        </p:nvSpPr>
        <p:spPr>
          <a:xfrm>
            <a:off x="548640" y="2807208"/>
            <a:ext cx="6309360" cy="932688"/>
          </a:xfrm>
          <a:prstGeom prst="roundRect">
            <a:avLst>
              <a:gd name="adj" fmla="val 11765"/>
            </a:avLst>
          </a:prstGeom>
          <a:solidFill>
            <a:schemeClr val="accent2">
              <a:alpha val="15000"/>
            </a:schemeClr>
          </a:solidFill>
          <a:ln/>
        </p:spPr>
      </p:sp>
      <p:sp>
        <p:nvSpPr>
          <p:cNvPr id="12" name="Stretch chip 2"/>
          <p:cNvSpPr/>
          <p:nvPr/>
        </p:nvSpPr>
        <p:spPr>
          <a:xfrm>
            <a:off x="731520" y="3044952"/>
            <a:ext cx="457200" cy="457200"/>
          </a:xfrm>
          <a:prstGeom prst="roundRect">
            <a:avLst>
              <a:gd name="adj" fmla="val 16000"/>
            </a:avLst>
          </a:prstGeom>
          <a:solidFill>
            <a:schemeClr val="accent2"/>
          </a:solidFill>
          <a:ln/>
        </p:spPr>
      </p:sp>
      <p:sp>
        <p:nvSpPr>
          <p:cNvPr id="13" name="Stretch number"/>
          <p:cNvSpPr txBox="1"/>
          <p:nvPr/>
        </p:nvSpPr>
        <p:spPr>
          <a:xfrm>
            <a:off x="731520" y="304495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4" name="Stretch title"/>
          <p:cNvSpPr txBox="1"/>
          <p:nvPr/>
        </p:nvSpPr>
        <p:spPr>
          <a:xfrm>
            <a:off x="1371600" y="2898648"/>
            <a:ext cx="53035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Refresh the model</a:t>
            </a:r>
            <a:endParaRPr lang="en-US" sz="1500" dirty="0"/>
          </a:p>
        </p:txBody>
      </p:sp>
      <p:sp>
        <p:nvSpPr>
          <p:cNvPr id="15" name="Stretch text"/>
          <p:cNvSpPr txBox="1"/>
          <p:nvPr/>
        </p:nvSpPr>
        <p:spPr>
          <a:xfrm>
            <a:off x="1371600" y="3264408"/>
            <a:ext cx="5303520" cy="457200"/>
          </a:xfrm>
          <a:prstGeom prst="rect">
            <a:avLst/>
          </a:prstGeom>
          <a:noFill/>
          <a:ln/>
        </p:spPr>
        <p:txBody>
          <a:bodyPr wrap="square" lIns="0" tIns="0" rIns="0" bIns="0" rtlCol="0" anchor="t"/>
          <a:lstStyle/>
          <a:p>
            <a:pPr indent="0" marL="0">
              <a:buNone/>
            </a:pPr>
            <a:r>
              <a:rPr lang="en-US" sz="1250" dirty="0">
                <a:solidFill>
                  <a:schemeClr val="tx1"/>
                </a:solidFill>
              </a:rPr>
              <a:t>Add a Semantic model refresh activity after the notebook, on success.</a:t>
            </a:r>
            <a:endParaRPr lang="en-US" sz="1250" dirty="0"/>
          </a:p>
        </p:txBody>
      </p:sp>
      <p:sp>
        <p:nvSpPr>
          <p:cNvPr id="16" name="Stretch 3"/>
          <p:cNvSpPr/>
          <p:nvPr/>
        </p:nvSpPr>
        <p:spPr>
          <a:xfrm>
            <a:off x="548640" y="3831336"/>
            <a:ext cx="6309360" cy="932688"/>
          </a:xfrm>
          <a:prstGeom prst="roundRect">
            <a:avLst>
              <a:gd name="adj" fmla="val 11765"/>
            </a:avLst>
          </a:prstGeom>
          <a:solidFill>
            <a:schemeClr val="accent2">
              <a:alpha val="15000"/>
            </a:schemeClr>
          </a:solidFill>
          <a:ln/>
        </p:spPr>
      </p:sp>
      <p:sp>
        <p:nvSpPr>
          <p:cNvPr id="17" name="Stretch chip 3"/>
          <p:cNvSpPr/>
          <p:nvPr/>
        </p:nvSpPr>
        <p:spPr>
          <a:xfrm>
            <a:off x="731520" y="4069080"/>
            <a:ext cx="457200" cy="457200"/>
          </a:xfrm>
          <a:prstGeom prst="roundRect">
            <a:avLst>
              <a:gd name="adj" fmla="val 16000"/>
            </a:avLst>
          </a:prstGeom>
          <a:solidFill>
            <a:schemeClr val="accent2"/>
          </a:solidFill>
          <a:ln/>
        </p:spPr>
      </p:sp>
      <p:sp>
        <p:nvSpPr>
          <p:cNvPr id="18" name="Stretch number"/>
          <p:cNvSpPr txBox="1"/>
          <p:nvPr/>
        </p:nvSpPr>
        <p:spPr>
          <a:xfrm>
            <a:off x="731520" y="4069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9" name="Stretch title"/>
          <p:cNvSpPr txBox="1"/>
          <p:nvPr/>
        </p:nvSpPr>
        <p:spPr>
          <a:xfrm>
            <a:off x="1371600" y="3922776"/>
            <a:ext cx="53035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Log the refusals</a:t>
            </a:r>
            <a:endParaRPr lang="en-US" sz="1500" dirty="0"/>
          </a:p>
        </p:txBody>
      </p:sp>
      <p:sp>
        <p:nvSpPr>
          <p:cNvPr id="20" name="Stretch text"/>
          <p:cNvSpPr txBox="1"/>
          <p:nvPr/>
        </p:nvSpPr>
        <p:spPr>
          <a:xfrm>
            <a:off x="1371600" y="4288536"/>
            <a:ext cx="5303520" cy="457200"/>
          </a:xfrm>
          <a:prstGeom prst="rect">
            <a:avLst/>
          </a:prstGeom>
          <a:noFill/>
          <a:ln/>
        </p:spPr>
        <p:txBody>
          <a:bodyPr wrap="square" lIns="0" tIns="0" rIns="0" bIns="0" rtlCol="0" anchor="t"/>
          <a:lstStyle/>
          <a:p>
            <a:pPr indent="0" marL="0">
              <a:buNone/>
            </a:pPr>
            <a:r>
              <a:rPr lang="en-US" sz="1250" dirty="0">
                <a:solidFill>
                  <a:schemeClr val="tx1"/>
                </a:solidFill>
              </a:rPr>
              <a:t>Catch a bad input and write a refused row to the run log before stopping.</a:t>
            </a:r>
            <a:endParaRPr lang="en-US" sz="1250" dirty="0"/>
          </a:p>
        </p:txBody>
      </p:sp>
      <p:sp>
        <p:nvSpPr>
          <p:cNvPr id="21" name="Stretch 4"/>
          <p:cNvSpPr/>
          <p:nvPr/>
        </p:nvSpPr>
        <p:spPr>
          <a:xfrm>
            <a:off x="548640" y="4855464"/>
            <a:ext cx="6309360" cy="932688"/>
          </a:xfrm>
          <a:prstGeom prst="roundRect">
            <a:avLst>
              <a:gd name="adj" fmla="val 11765"/>
            </a:avLst>
          </a:prstGeom>
          <a:solidFill>
            <a:schemeClr val="accent2">
              <a:alpha val="15000"/>
            </a:schemeClr>
          </a:solidFill>
          <a:ln/>
        </p:spPr>
      </p:sp>
      <p:sp>
        <p:nvSpPr>
          <p:cNvPr id="22" name="Stretch chip 4"/>
          <p:cNvSpPr/>
          <p:nvPr/>
        </p:nvSpPr>
        <p:spPr>
          <a:xfrm>
            <a:off x="731520" y="5093208"/>
            <a:ext cx="457200" cy="457200"/>
          </a:xfrm>
          <a:prstGeom prst="roundRect">
            <a:avLst>
              <a:gd name="adj" fmla="val 16000"/>
            </a:avLst>
          </a:prstGeom>
          <a:solidFill>
            <a:schemeClr val="accent2"/>
          </a:solidFill>
          <a:ln/>
        </p:spPr>
      </p:sp>
      <p:sp>
        <p:nvSpPr>
          <p:cNvPr id="23" name="Stretch number"/>
          <p:cNvSpPr txBox="1"/>
          <p:nvPr/>
        </p:nvSpPr>
        <p:spPr>
          <a:xfrm>
            <a:off x="731520" y="5093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4" name="Stretch title"/>
          <p:cNvSpPr txBox="1"/>
          <p:nvPr/>
        </p:nvSpPr>
        <p:spPr>
          <a:xfrm>
            <a:off x="1371600" y="4946904"/>
            <a:ext cx="5303520" cy="320040"/>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Record who asked</a:t>
            </a:r>
            <a:endParaRPr lang="en-US" sz="1500" dirty="0"/>
          </a:p>
        </p:txBody>
      </p:sp>
      <p:sp>
        <p:nvSpPr>
          <p:cNvPr id="25" name="Stretch text"/>
          <p:cNvSpPr txBox="1"/>
          <p:nvPr/>
        </p:nvSpPr>
        <p:spPr>
          <a:xfrm>
            <a:off x="1371600" y="5312664"/>
            <a:ext cx="5303520" cy="457200"/>
          </a:xfrm>
          <a:prstGeom prst="rect">
            <a:avLst/>
          </a:prstGeom>
          <a:noFill/>
          <a:ln/>
        </p:spPr>
        <p:txBody>
          <a:bodyPr wrap="square" lIns="0" tIns="0" rIns="0" bIns="0" rtlCol="0" anchor="t"/>
          <a:lstStyle/>
          <a:p>
            <a:pPr indent="0" marL="0">
              <a:buNone/>
            </a:pPr>
            <a:r>
              <a:rPr lang="en-US" sz="1250" dirty="0">
                <a:solidFill>
                  <a:schemeClr val="tx1"/>
                </a:solidFill>
              </a:rPr>
              <a:t>Add a requested_by parameter and a column in the run log.</a:t>
            </a:r>
            <a:endParaRPr lang="en-US" sz="1250" dirty="0"/>
          </a:p>
        </p:txBody>
      </p:sp>
      <p:sp>
        <p:nvSpPr>
          <p:cNvPr id="26" name="Auto period"/>
          <p:cNvSpPr/>
          <p:nvPr/>
        </p:nvSpPr>
        <p:spPr>
          <a:xfrm>
            <a:off x="7040880" y="1783080"/>
            <a:ext cx="4599432" cy="1371600"/>
          </a:xfrm>
          <a:prstGeom prst="roundRect">
            <a:avLst>
              <a:gd name="adj" fmla="val 6667"/>
            </a:avLst>
          </a:prstGeom>
          <a:solidFill>
            <a:schemeClr val="tx1"/>
          </a:solidFill>
          <a:ln/>
        </p:spPr>
      </p:sp>
      <p:sp>
        <p:nvSpPr>
          <p:cNvPr id="27" name="Code label"/>
          <p:cNvSpPr txBox="1"/>
          <p:nvPr/>
        </p:nvSpPr>
        <p:spPr>
          <a:xfrm>
            <a:off x="7242048" y="1874520"/>
            <a:ext cx="419709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PIPELINE EXPRESSION · LAST MONTH AS YYYY-MM</a:t>
            </a:r>
            <a:endParaRPr lang="en-US" sz="1000" dirty="0"/>
          </a:p>
        </p:txBody>
      </p:sp>
      <p:sp>
        <p:nvSpPr>
          <p:cNvPr id="28" name="Auto period text"/>
          <p:cNvSpPr txBox="1"/>
          <p:nvPr/>
        </p:nvSpPr>
        <p:spPr>
          <a:xfrm>
            <a:off x="7242048" y="2167128"/>
            <a:ext cx="4197096" cy="877824"/>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@formatDateTime(addToTime(utcnow(),</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-1,</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'Month'),</a:t>
            </a:r>
            <a:pPr indent="0" marL="0">
              <a:buNone/>
            </a:pPr>
            <a:r>
              <a:rPr lang="en-US" sz="1150" dirty="0">
                <a:solidFill>
                  <a:schemeClr val="bg1"/>
                </a:solidFill>
                <a:latin typeface="Courier New" pitchFamily="34" charset="0"/>
                <a:ea typeface="Courier New" pitchFamily="34" charset="-122"/>
                <a:cs typeface="Courier New" pitchFamily="34" charset="-120"/>
              </a:rPr>
              <a:t> </a:t>
            </a:r>
            <a:pPr indent="0" marL="0">
              <a:buNone/>
            </a:pPr>
            <a:r>
              <a:rPr lang="en-US" sz="1150" dirty="0">
                <a:solidFill>
                  <a:schemeClr val="bg1"/>
                </a:solidFill>
                <a:latin typeface="Courier New" pitchFamily="34" charset="0"/>
                <a:ea typeface="Courier New" pitchFamily="34" charset="-122"/>
                <a:cs typeface="Courier New" pitchFamily="34" charset="-120"/>
              </a:rPr>
              <a:t>'yyyy-MM')</a:t>
            </a:r>
            <a:endParaRPr lang="en-US" sz="1150" dirty="0"/>
          </a:p>
        </p:txBody>
      </p:sp>
      <p:sp>
        <p:nvSpPr>
          <p:cNvPr id="29" name="Check card"/>
          <p:cNvSpPr/>
          <p:nvPr/>
        </p:nvSpPr>
        <p:spPr>
          <a:xfrm>
            <a:off x="7040880" y="3291840"/>
            <a:ext cx="4599432" cy="1371600"/>
          </a:xfrm>
          <a:prstGeom prst="roundRect">
            <a:avLst>
              <a:gd name="adj" fmla="val 8000"/>
            </a:avLst>
          </a:prstGeom>
          <a:solidFill>
            <a:schemeClr val="accent3">
              <a:alpha val="22000"/>
            </a:schemeClr>
          </a:solidFill>
          <a:ln/>
        </p:spPr>
      </p:sp>
      <p:sp>
        <p:nvSpPr>
          <p:cNvPr id="30" name="Check text"/>
          <p:cNvSpPr txBox="1"/>
          <p:nvPr/>
        </p:nvSpPr>
        <p:spPr>
          <a:xfrm>
            <a:off x="7269480" y="3291840"/>
            <a:ext cx="4160520" cy="1371600"/>
          </a:xfrm>
          <a:prstGeom prst="rect">
            <a:avLst/>
          </a:prstGeom>
          <a:noFill/>
          <a:ln/>
        </p:spPr>
        <p:txBody>
          <a:bodyPr wrap="square" lIns="0" tIns="0" rIns="0" bIns="0" rtlCol="0" anchor="ctr"/>
          <a:lstStyle/>
          <a:p>
            <a:pPr indent="0" marL="0">
              <a:buNone/>
            </a:pPr>
            <a:r>
              <a:rPr lang="en-US" sz="1300" b="1" dirty="0">
                <a:solidFill>
                  <a:schemeClr val="tx1"/>
                </a:solidFill>
              </a:rPr>
              <a:t>Check it first. </a:t>
            </a:r>
            <a:pPr indent="0" marL="0">
              <a:buNone/>
            </a:pPr>
            <a:r>
              <a:rPr lang="en-US" sz="1300" dirty="0">
                <a:solidFill>
                  <a:schemeClr val="tx1"/>
                </a:solidFill>
              </a:rPr>
              <a:t>Pipeline expressions are checked in the expression builder, not by the notebook. Test with a manual run before you rely on a schedule.</a:t>
            </a:r>
            <a:endParaRPr lang="en-US" sz="1300" dirty="0"/>
          </a:p>
        </p:txBody>
      </p:sp>
      <p:sp>
        <p:nvSpPr>
          <p:cNvPr id="31"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Expression pattern for a pipeline. Not executed in this training environment.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PART 4 · LAB B</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Debrief: which of the five parts did you build?</a:t>
            </a:r>
            <a:endParaRPr lang="en-US" sz="3200" dirty="0"/>
          </a:p>
        </p:txBody>
      </p:sp>
      <p:sp>
        <p:nvSpPr>
          <p:cNvPr id="5" name="Exercise tag"/>
          <p:cNvSpPr txBox="1"/>
          <p:nvPr/>
        </p:nvSpPr>
        <p:spPr>
          <a:xfrm>
            <a:off x="9357055" y="310896"/>
            <a:ext cx="2286000" cy="292608"/>
          </a:xfrm>
          <a:prstGeom prst="roundRect">
            <a:avLst>
              <a:gd name="adj" fmla="val 46875"/>
            </a:avLst>
          </a:prstGeom>
          <a:solidFill>
            <a:schemeClr val="accent3"/>
          </a:solidFill>
          <a:ln/>
        </p:spPr>
        <p:txBody>
          <a:bodyPr wrap="square" lIns="0" tIns="0" rIns="0" bIns="0" rtlCol="0" anchor="ctr"/>
          <a:lstStyle/>
          <a:p>
            <a:pPr algn="ctr" indent="0" marL="0">
              <a:buNone/>
            </a:pPr>
            <a:r>
              <a:rPr lang="en-US" sz="1100" b="1" spc="200" kern="0" dirty="0">
                <a:solidFill>
                  <a:schemeClr val="tx1"/>
                </a:solidFill>
              </a:rPr>
              <a:t>HANDS-ON · 90 MIN</a:t>
            </a:r>
            <a:endParaRPr lang="en-US" sz="1100" dirty="0"/>
          </a:p>
        </p:txBody>
      </p:sp>
      <p:graphicFrame>
        <p:nvGraphicFramePr>
          <p:cNvPr id="70" name="Five parts review"/>
          <p:cNvGraphicFramePr>
            <a:graphicFrameLocks noGrp="1"/>
          </p:cNvGraphicFramePr>
          <p:nvPr>
            <p:extLst>
              <p:ext uri="{D42A27DB-BD31-4B8C-83A1-F6EECF244321}">
                <p14:modId xmlns:p14="http://schemas.microsoft.com/office/powerpoint/2010/main" val="1579011935"/>
              </p:ext>
            </p:extLst>
          </p:nvPr>
        </p:nvGraphicFramePr>
        <p:xfrm>
          <a:off x="548640" y="1783080"/>
          <a:ext cx="7223760" cy="914400"/>
        </p:xfrm>
        <a:graphic>
          <a:graphicData uri="http://schemas.openxmlformats.org/drawingml/2006/table">
            <a:tbl>
              <a:tblPr/>
              <a:tblGrid>
                <a:gridCol w="1280160"/>
                <a:gridCol w="2926080"/>
                <a:gridCol w="3017520"/>
              </a:tblGrid>
              <a:tr h="365760">
                <a:tc>
                  <a:txBody>
                    <a:bodyPr/>
                    <a:lstStyle/>
                    <a:p>
                      <a:pPr indent="0" marL="0">
                        <a:buNone/>
                      </a:pPr>
                      <a:r>
                        <a:rPr lang="en-US" sz="1200" b="1" dirty="0">
                          <a:solidFill>
                            <a:schemeClr val="bg1"/>
                          </a:solidFill>
                        </a:rPr>
                        <a:t>Part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What you built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What is still missing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48640">
                <a:tc>
                  <a:txBody>
                    <a:bodyPr/>
                    <a:lstStyle/>
                    <a:p>
                      <a:pPr indent="0" marL="0">
                        <a:buNone/>
                      </a:pPr>
                      <a:r>
                        <a:rPr lang="en-US" sz="1200" b="1" dirty="0">
                          <a:solidFill>
                            <a:schemeClr val="tx1"/>
                          </a:solidFill>
                        </a:rPr>
                        <a:t>Inputs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Two pipeline parameters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list of choices, or a form</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200" b="1" dirty="0">
                          <a:solidFill>
                            <a:schemeClr val="tx1"/>
                          </a:solidFill>
                        </a:rPr>
                        <a:t>Trigger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Run dialog and a schedule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An event, or an API call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200" b="1" dirty="0">
                          <a:solidFill>
                            <a:schemeClr val="tx1"/>
                          </a:solidFill>
                        </a:rPr>
                        <a:t>Status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Monitoring hub and the run log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friendly status page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200" b="1" dirty="0">
                          <a:solidFill>
                            <a:schemeClr val="tx1"/>
                          </a:solidFill>
                        </a:rPr>
                        <a:t>Output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model, a report and a pivot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Row-level security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200" b="1" dirty="0">
                          <a:solidFill>
                            <a:schemeClr val="tx1"/>
                          </a:solidFill>
                        </a:rPr>
                        <a:t>Guardrails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Validation, the gate, the slice write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concurrency check, who asked, approvals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7" name="Question 1"/>
          <p:cNvSpPr/>
          <p:nvPr/>
        </p:nvSpPr>
        <p:spPr>
          <a:xfrm>
            <a:off x="7955280" y="1783080"/>
            <a:ext cx="3685032" cy="1097280"/>
          </a:xfrm>
          <a:prstGeom prst="roundRect">
            <a:avLst>
              <a:gd name="adj" fmla="val 10000"/>
            </a:avLst>
          </a:prstGeom>
          <a:solidFill>
            <a:schemeClr val="bg2"/>
          </a:solidFill>
          <a:ln/>
        </p:spPr>
      </p:sp>
      <p:sp>
        <p:nvSpPr>
          <p:cNvPr id="8" name="Question chip 1"/>
          <p:cNvSpPr/>
          <p:nvPr/>
        </p:nvSpPr>
        <p:spPr>
          <a:xfrm>
            <a:off x="8138160" y="2103120"/>
            <a:ext cx="457200" cy="457200"/>
          </a:xfrm>
          <a:prstGeom prst="roundRect">
            <a:avLst>
              <a:gd name="adj" fmla="val 16000"/>
            </a:avLst>
          </a:prstGeom>
          <a:solidFill>
            <a:schemeClr val="accent3"/>
          </a:solidFill>
          <a:ln/>
        </p:spPr>
      </p:sp>
      <p:sp>
        <p:nvSpPr>
          <p:cNvPr id="9" name="Question number"/>
          <p:cNvSpPr txBox="1"/>
          <p:nvPr/>
        </p:nvSpPr>
        <p:spPr>
          <a:xfrm>
            <a:off x="8138160" y="2103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1</a:t>
            </a:r>
            <a:endParaRPr lang="en-US" sz="1600" dirty="0"/>
          </a:p>
        </p:txBody>
      </p:sp>
      <p:sp>
        <p:nvSpPr>
          <p:cNvPr id="10" name="Question text"/>
          <p:cNvSpPr txBox="1"/>
          <p:nvPr/>
        </p:nvSpPr>
        <p:spPr>
          <a:xfrm>
            <a:off x="8732520" y="1783080"/>
            <a:ext cx="2788920" cy="1097280"/>
          </a:xfrm>
          <a:prstGeom prst="rect">
            <a:avLst/>
          </a:prstGeom>
          <a:noFill/>
          <a:ln/>
        </p:spPr>
        <p:txBody>
          <a:bodyPr wrap="square" lIns="0" tIns="0" rIns="0" bIns="0" rtlCol="0" anchor="ctr"/>
          <a:lstStyle/>
          <a:p>
            <a:pPr indent="0" marL="0">
              <a:buNone/>
            </a:pPr>
            <a:r>
              <a:rPr lang="en-US" sz="1300" dirty="0">
                <a:solidFill>
                  <a:schemeClr val="tx1"/>
                </a:solidFill>
              </a:rPr>
              <a:t>What would you hand a business user: the Run dialog, or a form? Why?</a:t>
            </a:r>
            <a:endParaRPr lang="en-US" sz="1300" dirty="0"/>
          </a:p>
        </p:txBody>
      </p:sp>
      <p:sp>
        <p:nvSpPr>
          <p:cNvPr id="11" name="Question 2"/>
          <p:cNvSpPr/>
          <p:nvPr/>
        </p:nvSpPr>
        <p:spPr>
          <a:xfrm>
            <a:off x="7955280" y="2971800"/>
            <a:ext cx="3685032" cy="1097280"/>
          </a:xfrm>
          <a:prstGeom prst="roundRect">
            <a:avLst>
              <a:gd name="adj" fmla="val 10000"/>
            </a:avLst>
          </a:prstGeom>
          <a:solidFill>
            <a:schemeClr val="bg2"/>
          </a:solidFill>
          <a:ln/>
        </p:spPr>
      </p:sp>
      <p:sp>
        <p:nvSpPr>
          <p:cNvPr id="12" name="Question chip 2"/>
          <p:cNvSpPr/>
          <p:nvPr/>
        </p:nvSpPr>
        <p:spPr>
          <a:xfrm>
            <a:off x="8138160" y="3291840"/>
            <a:ext cx="457200" cy="457200"/>
          </a:xfrm>
          <a:prstGeom prst="roundRect">
            <a:avLst>
              <a:gd name="adj" fmla="val 16000"/>
            </a:avLst>
          </a:prstGeom>
          <a:solidFill>
            <a:schemeClr val="accent3"/>
          </a:solidFill>
          <a:ln/>
        </p:spPr>
      </p:sp>
      <p:sp>
        <p:nvSpPr>
          <p:cNvPr id="13" name="Question number"/>
          <p:cNvSpPr txBox="1"/>
          <p:nvPr/>
        </p:nvSpPr>
        <p:spPr>
          <a:xfrm>
            <a:off x="8138160" y="32918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2</a:t>
            </a:r>
            <a:endParaRPr lang="en-US" sz="1600" dirty="0"/>
          </a:p>
        </p:txBody>
      </p:sp>
      <p:sp>
        <p:nvSpPr>
          <p:cNvPr id="14" name="Question text"/>
          <p:cNvSpPr txBox="1"/>
          <p:nvPr/>
        </p:nvSpPr>
        <p:spPr>
          <a:xfrm>
            <a:off x="8732520" y="2971800"/>
            <a:ext cx="2788920" cy="1097280"/>
          </a:xfrm>
          <a:prstGeom prst="rect">
            <a:avLst/>
          </a:prstGeom>
          <a:noFill/>
          <a:ln/>
        </p:spPr>
        <p:txBody>
          <a:bodyPr wrap="square" lIns="0" tIns="0" rIns="0" bIns="0" rtlCol="0" anchor="ctr"/>
          <a:lstStyle/>
          <a:p>
            <a:pPr indent="0" marL="0">
              <a:buNone/>
            </a:pPr>
            <a:r>
              <a:rPr lang="en-US" sz="1300" dirty="0">
                <a:solidFill>
                  <a:schemeClr val="tx1"/>
                </a:solidFill>
              </a:rPr>
              <a:t>Two people press Run for the same period at once. What happens?</a:t>
            </a:r>
            <a:endParaRPr lang="en-US" sz="1300" dirty="0"/>
          </a:p>
        </p:txBody>
      </p:sp>
      <p:sp>
        <p:nvSpPr>
          <p:cNvPr id="15" name="Question 3"/>
          <p:cNvSpPr/>
          <p:nvPr/>
        </p:nvSpPr>
        <p:spPr>
          <a:xfrm>
            <a:off x="7955280" y="4160520"/>
            <a:ext cx="3685032" cy="1097280"/>
          </a:xfrm>
          <a:prstGeom prst="roundRect">
            <a:avLst>
              <a:gd name="adj" fmla="val 10000"/>
            </a:avLst>
          </a:prstGeom>
          <a:solidFill>
            <a:schemeClr val="bg2"/>
          </a:solidFill>
          <a:ln/>
        </p:spPr>
      </p:sp>
      <p:sp>
        <p:nvSpPr>
          <p:cNvPr id="16" name="Question chip 3"/>
          <p:cNvSpPr/>
          <p:nvPr/>
        </p:nvSpPr>
        <p:spPr>
          <a:xfrm>
            <a:off x="8138160" y="4480560"/>
            <a:ext cx="457200" cy="457200"/>
          </a:xfrm>
          <a:prstGeom prst="roundRect">
            <a:avLst>
              <a:gd name="adj" fmla="val 16000"/>
            </a:avLst>
          </a:prstGeom>
          <a:solidFill>
            <a:schemeClr val="accent3"/>
          </a:solidFill>
          <a:ln/>
        </p:spPr>
      </p:sp>
      <p:sp>
        <p:nvSpPr>
          <p:cNvPr id="17" name="Question number"/>
          <p:cNvSpPr txBox="1"/>
          <p:nvPr/>
        </p:nvSpPr>
        <p:spPr>
          <a:xfrm>
            <a:off x="8138160" y="44805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mj-lt" pitchFamily="34" charset="0"/>
                <a:ea typeface="+mj-lt" pitchFamily="34" charset="-122"/>
                <a:cs typeface="+mj-lt" pitchFamily="34" charset="-120"/>
              </a:rPr>
              <a:t>3</a:t>
            </a:r>
            <a:endParaRPr lang="en-US" sz="1600" dirty="0"/>
          </a:p>
        </p:txBody>
      </p:sp>
      <p:sp>
        <p:nvSpPr>
          <p:cNvPr id="18" name="Question text"/>
          <p:cNvSpPr txBox="1"/>
          <p:nvPr/>
        </p:nvSpPr>
        <p:spPr>
          <a:xfrm>
            <a:off x="8732520" y="4160520"/>
            <a:ext cx="2788920" cy="1097280"/>
          </a:xfrm>
          <a:prstGeom prst="rect">
            <a:avLst/>
          </a:prstGeom>
          <a:noFill/>
          <a:ln/>
        </p:spPr>
        <p:txBody>
          <a:bodyPr wrap="square" lIns="0" tIns="0" rIns="0" bIns="0" rtlCol="0" anchor="ctr"/>
          <a:lstStyle/>
          <a:p>
            <a:pPr indent="0" marL="0">
              <a:buNone/>
            </a:pPr>
            <a:r>
              <a:rPr lang="en-US" sz="1300" dirty="0">
                <a:solidFill>
                  <a:schemeClr val="tx1"/>
                </a:solidFill>
              </a:rPr>
              <a:t>Who needs which permission: to run, to read, to build, to change?</a:t>
            </a:r>
            <a:endParaRPr lang="en-US" sz="1300" dirty="0"/>
          </a:p>
        </p:txBody>
      </p:sp>
      <p:sp>
        <p:nvSpPr>
          <p:cNvPr id="19" name="Takeaway"/>
          <p:cNvSpPr txBox="1"/>
          <p:nvPr/>
        </p:nvSpPr>
        <p:spPr>
          <a:xfrm>
            <a:off x="548640" y="5486400"/>
            <a:ext cx="11094415" cy="548640"/>
          </a:xfrm>
          <a:prstGeom prst="roundRect">
            <a:avLst>
              <a:gd name="adj" fmla="val 16667"/>
            </a:avLst>
          </a:prstGeom>
          <a:solidFill>
            <a:schemeClr val="tx1"/>
          </a:solidFill>
          <a:ln/>
        </p:spPr>
        <p:txBody>
          <a:bodyPr wrap="square" lIns="279400" tIns="0" rIns="279400" bIns="0" rtlCol="0" anchor="ctr"/>
          <a:lstStyle/>
          <a:p>
            <a:pPr indent="0" marL="0">
              <a:buNone/>
            </a:pPr>
            <a:r>
              <a:rPr lang="en-US" sz="1600" i="1" dirty="0">
                <a:solidFill>
                  <a:schemeClr val="bg1"/>
                </a:solidFill>
              </a:rPr>
              <a:t>The missing items are the work between a lab and a service. Tomorrow starts with them.</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WRAP-UP</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Day Two in six sentences</a:t>
            </a:r>
            <a:endParaRPr lang="en-US" sz="3200" dirty="0"/>
          </a:p>
        </p:txBody>
      </p:sp>
      <p:sp>
        <p:nvSpPr>
          <p:cNvPr id="5" name="Recap 1"/>
          <p:cNvSpPr/>
          <p:nvPr/>
        </p:nvSpPr>
        <p:spPr>
          <a:xfrm>
            <a:off x="548640" y="1783080"/>
            <a:ext cx="3593592" cy="1828800"/>
          </a:xfrm>
          <a:prstGeom prst="roundRect">
            <a:avLst>
              <a:gd name="adj" fmla="val 6000"/>
            </a:avLst>
          </a:prstGeom>
          <a:solidFill>
            <a:schemeClr val="bg2"/>
          </a:solidFill>
          <a:ln/>
        </p:spPr>
      </p:sp>
      <p:sp>
        <p:nvSpPr>
          <p:cNvPr id="6" name="Recap chip 1"/>
          <p:cNvSpPr/>
          <p:nvPr/>
        </p:nvSpPr>
        <p:spPr>
          <a:xfrm>
            <a:off x="777240" y="2011680"/>
            <a:ext cx="457200" cy="457200"/>
          </a:xfrm>
          <a:prstGeom prst="roundRect">
            <a:avLst>
              <a:gd name="adj" fmla="val 16000"/>
            </a:avLst>
          </a:prstGeom>
          <a:solidFill>
            <a:schemeClr val="accent1"/>
          </a:solidFill>
          <a:ln/>
        </p:spPr>
      </p:sp>
      <p:sp>
        <p:nvSpPr>
          <p:cNvPr id="7" name="Recap number"/>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8" name="Recap label"/>
          <p:cNvSpPr txBox="1"/>
          <p:nvPr/>
        </p:nvSpPr>
        <p:spPr>
          <a:xfrm>
            <a:off x="141732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NOTEBOOK DEVELOPMENT</a:t>
            </a:r>
            <a:endParaRPr lang="en-US" sz="1000" dirty="0"/>
          </a:p>
        </p:txBody>
      </p:sp>
      <p:sp>
        <p:nvSpPr>
          <p:cNvPr id="9" name="Recap sentence"/>
          <p:cNvSpPr txBox="1"/>
          <p:nvPr/>
        </p:nvSpPr>
        <p:spPr>
          <a:xfrm>
            <a:off x="777240" y="2606040"/>
            <a:ext cx="3154680" cy="960120"/>
          </a:xfrm>
          <a:prstGeom prst="rect">
            <a:avLst/>
          </a:prstGeom>
          <a:noFill/>
          <a:ln/>
        </p:spPr>
        <p:txBody>
          <a:bodyPr wrap="square" lIns="0" tIns="0" rIns="0" bIns="0" rtlCol="0" anchor="t"/>
          <a:lstStyle/>
          <a:p>
            <a:pPr indent="0" marL="0">
              <a:buNone/>
            </a:pPr>
            <a:r>
              <a:rPr lang="en-US" sz="1400" dirty="0">
                <a:solidFill>
                  <a:schemeClr val="tx1"/>
                </a:solidFill>
              </a:rPr>
              <a:t>A notebook has five parts: parameters, read, transform, gate and write. Declare what you use and wire what you declare.</a:t>
            </a:r>
            <a:endParaRPr lang="en-US" sz="1400" dirty="0"/>
          </a:p>
        </p:txBody>
      </p:sp>
      <p:sp>
        <p:nvSpPr>
          <p:cNvPr id="10" name="Recap 2"/>
          <p:cNvSpPr/>
          <p:nvPr/>
        </p:nvSpPr>
        <p:spPr>
          <a:xfrm>
            <a:off x="4297680" y="1783080"/>
            <a:ext cx="3593592" cy="1828800"/>
          </a:xfrm>
          <a:prstGeom prst="roundRect">
            <a:avLst>
              <a:gd name="adj" fmla="val 6000"/>
            </a:avLst>
          </a:prstGeom>
          <a:solidFill>
            <a:schemeClr val="bg2"/>
          </a:solidFill>
          <a:ln/>
        </p:spPr>
      </p:sp>
      <p:sp>
        <p:nvSpPr>
          <p:cNvPr id="11" name="Recap chip 2"/>
          <p:cNvSpPr/>
          <p:nvPr/>
        </p:nvSpPr>
        <p:spPr>
          <a:xfrm>
            <a:off x="4526280" y="2011680"/>
            <a:ext cx="457200" cy="457200"/>
          </a:xfrm>
          <a:prstGeom prst="roundRect">
            <a:avLst>
              <a:gd name="adj" fmla="val 16000"/>
            </a:avLst>
          </a:prstGeom>
          <a:solidFill>
            <a:schemeClr val="accent1"/>
          </a:solidFill>
          <a:ln/>
        </p:spPr>
      </p:sp>
      <p:sp>
        <p:nvSpPr>
          <p:cNvPr id="12" name="Recap number"/>
          <p:cNvSpPr txBox="1"/>
          <p:nvPr/>
        </p:nvSpPr>
        <p:spPr>
          <a:xfrm>
            <a:off x="452628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13" name="Recap label"/>
          <p:cNvSpPr txBox="1"/>
          <p:nvPr/>
        </p:nvSpPr>
        <p:spPr>
          <a:xfrm>
            <a:off x="516636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ALTERYX TO NOTEBOOKS</a:t>
            </a:r>
            <a:endParaRPr lang="en-US" sz="1000" dirty="0"/>
          </a:p>
        </p:txBody>
      </p:sp>
      <p:sp>
        <p:nvSpPr>
          <p:cNvPr id="14" name="Recap sentence"/>
          <p:cNvSpPr txBox="1"/>
          <p:nvPr/>
        </p:nvSpPr>
        <p:spPr>
          <a:xfrm>
            <a:off x="4526280" y="2606040"/>
            <a:ext cx="3154680" cy="960120"/>
          </a:xfrm>
          <a:prstGeom prst="rect">
            <a:avLst/>
          </a:prstGeom>
          <a:noFill/>
          <a:ln/>
        </p:spPr>
        <p:txBody>
          <a:bodyPr wrap="square" lIns="0" tIns="0" rIns="0" bIns="0" rtlCol="0" anchor="t"/>
          <a:lstStyle/>
          <a:p>
            <a:pPr indent="0" marL="0">
              <a:buNone/>
            </a:pPr>
            <a:r>
              <a:rPr lang="en-US" sz="1400" dirty="0">
                <a:solidFill>
                  <a:schemeClr val="tx1"/>
                </a:solidFill>
              </a:rPr>
              <a:t>Macros become functions, loops become polling with an exit, and secrets belong in a vault.</a:t>
            </a:r>
            <a:endParaRPr lang="en-US" sz="1400" dirty="0"/>
          </a:p>
        </p:txBody>
      </p:sp>
      <p:sp>
        <p:nvSpPr>
          <p:cNvPr id="15" name="Recap 3"/>
          <p:cNvSpPr/>
          <p:nvPr/>
        </p:nvSpPr>
        <p:spPr>
          <a:xfrm>
            <a:off x="8046720" y="1783080"/>
            <a:ext cx="3593592" cy="1828800"/>
          </a:xfrm>
          <a:prstGeom prst="roundRect">
            <a:avLst>
              <a:gd name="adj" fmla="val 6000"/>
            </a:avLst>
          </a:prstGeom>
          <a:solidFill>
            <a:schemeClr val="bg2"/>
          </a:solidFill>
          <a:ln/>
        </p:spPr>
      </p:sp>
      <p:sp>
        <p:nvSpPr>
          <p:cNvPr id="16" name="Recap chip 3"/>
          <p:cNvSpPr/>
          <p:nvPr/>
        </p:nvSpPr>
        <p:spPr>
          <a:xfrm>
            <a:off x="8275320" y="2011680"/>
            <a:ext cx="457200" cy="457200"/>
          </a:xfrm>
          <a:prstGeom prst="roundRect">
            <a:avLst>
              <a:gd name="adj" fmla="val 16000"/>
            </a:avLst>
          </a:prstGeom>
          <a:solidFill>
            <a:schemeClr val="accent1"/>
          </a:solidFill>
          <a:ln/>
        </p:spPr>
      </p:sp>
      <p:sp>
        <p:nvSpPr>
          <p:cNvPr id="17" name="Recap number"/>
          <p:cNvSpPr txBox="1"/>
          <p:nvPr/>
        </p:nvSpPr>
        <p:spPr>
          <a:xfrm>
            <a:off x="8275320" y="201168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8" name="Recap label"/>
          <p:cNvSpPr txBox="1"/>
          <p:nvPr/>
        </p:nvSpPr>
        <p:spPr>
          <a:xfrm>
            <a:off x="8915400" y="201168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LAB A</a:t>
            </a:r>
            <a:endParaRPr lang="en-US" sz="1000" dirty="0"/>
          </a:p>
        </p:txBody>
      </p:sp>
      <p:sp>
        <p:nvSpPr>
          <p:cNvPr id="19" name="Recap sentence"/>
          <p:cNvSpPr txBox="1"/>
          <p:nvPr/>
        </p:nvSpPr>
        <p:spPr>
          <a:xfrm>
            <a:off x="8275320" y="2606040"/>
            <a:ext cx="3154680" cy="960120"/>
          </a:xfrm>
          <a:prstGeom prst="rect">
            <a:avLst/>
          </a:prstGeom>
          <a:noFill/>
          <a:ln/>
        </p:spPr>
        <p:txBody>
          <a:bodyPr wrap="square" lIns="0" tIns="0" rIns="0" bIns="0" rtlCol="0" anchor="t"/>
          <a:lstStyle/>
          <a:p>
            <a:pPr indent="0" marL="0">
              <a:buNone/>
            </a:pPr>
            <a:r>
              <a:rPr lang="en-US" sz="1400" dirty="0">
                <a:solidFill>
                  <a:schemeClr val="tx1"/>
                </a:solidFill>
              </a:rPr>
              <a:t>Bronze keeps it, silver maps it, gold apportions it, and a gate stops the run when the numbers do not tie.</a:t>
            </a:r>
            <a:endParaRPr lang="en-US" sz="1400" dirty="0"/>
          </a:p>
        </p:txBody>
      </p:sp>
      <p:sp>
        <p:nvSpPr>
          <p:cNvPr id="20" name="Recap 4"/>
          <p:cNvSpPr/>
          <p:nvPr/>
        </p:nvSpPr>
        <p:spPr>
          <a:xfrm>
            <a:off x="548640" y="3749040"/>
            <a:ext cx="3593592" cy="1828800"/>
          </a:xfrm>
          <a:prstGeom prst="roundRect">
            <a:avLst>
              <a:gd name="adj" fmla="val 6000"/>
            </a:avLst>
          </a:prstGeom>
          <a:solidFill>
            <a:schemeClr val="bg2"/>
          </a:solidFill>
          <a:ln/>
        </p:spPr>
      </p:sp>
      <p:sp>
        <p:nvSpPr>
          <p:cNvPr id="21" name="Recap chip 4"/>
          <p:cNvSpPr/>
          <p:nvPr/>
        </p:nvSpPr>
        <p:spPr>
          <a:xfrm>
            <a:off x="777240" y="3977640"/>
            <a:ext cx="457200" cy="457200"/>
          </a:xfrm>
          <a:prstGeom prst="roundRect">
            <a:avLst>
              <a:gd name="adj" fmla="val 16000"/>
            </a:avLst>
          </a:prstGeom>
          <a:solidFill>
            <a:schemeClr val="accent2"/>
          </a:solidFill>
          <a:ln/>
        </p:spPr>
      </p:sp>
      <p:sp>
        <p:nvSpPr>
          <p:cNvPr id="22" name="Recap number"/>
          <p:cNvSpPr txBox="1"/>
          <p:nvPr/>
        </p:nvSpPr>
        <p:spPr>
          <a:xfrm>
            <a:off x="77724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23" name="Recap label"/>
          <p:cNvSpPr txBox="1"/>
          <p:nvPr/>
        </p:nvSpPr>
        <p:spPr>
          <a:xfrm>
            <a:off x="141732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PORTAL-DRIVEN EXECUTION</a:t>
            </a:r>
            <a:endParaRPr lang="en-US" sz="1000" dirty="0"/>
          </a:p>
        </p:txBody>
      </p:sp>
      <p:sp>
        <p:nvSpPr>
          <p:cNvPr id="24" name="Recap sentence"/>
          <p:cNvSpPr txBox="1"/>
          <p:nvPr/>
        </p:nvSpPr>
        <p:spPr>
          <a:xfrm>
            <a:off x="777240" y="4572000"/>
            <a:ext cx="3154680" cy="960120"/>
          </a:xfrm>
          <a:prstGeom prst="rect">
            <a:avLst/>
          </a:prstGeom>
          <a:noFill/>
          <a:ln/>
        </p:spPr>
        <p:txBody>
          <a:bodyPr wrap="square" lIns="0" tIns="0" rIns="0" bIns="0" rtlCol="0" anchor="t"/>
          <a:lstStyle/>
          <a:p>
            <a:pPr indent="0" marL="0">
              <a:buNone/>
            </a:pPr>
            <a:r>
              <a:rPr lang="en-US" sz="1400" dirty="0">
                <a:solidFill>
                  <a:schemeClr val="tx1"/>
                </a:solidFill>
              </a:rPr>
              <a:t>A front door is inputs, a trigger, a status, an output and guardrails. The parameters are the contract.</a:t>
            </a:r>
            <a:endParaRPr lang="en-US" sz="1400" dirty="0"/>
          </a:p>
        </p:txBody>
      </p:sp>
      <p:sp>
        <p:nvSpPr>
          <p:cNvPr id="25" name="Recap 5"/>
          <p:cNvSpPr/>
          <p:nvPr/>
        </p:nvSpPr>
        <p:spPr>
          <a:xfrm>
            <a:off x="4297680" y="3749040"/>
            <a:ext cx="3593592" cy="1828800"/>
          </a:xfrm>
          <a:prstGeom prst="roundRect">
            <a:avLst>
              <a:gd name="adj" fmla="val 6000"/>
            </a:avLst>
          </a:prstGeom>
          <a:solidFill>
            <a:schemeClr val="bg2"/>
          </a:solidFill>
          <a:ln/>
        </p:spPr>
      </p:sp>
      <p:sp>
        <p:nvSpPr>
          <p:cNvPr id="26" name="Recap chip 5"/>
          <p:cNvSpPr/>
          <p:nvPr/>
        </p:nvSpPr>
        <p:spPr>
          <a:xfrm>
            <a:off x="4526280" y="3977640"/>
            <a:ext cx="457200" cy="457200"/>
          </a:xfrm>
          <a:prstGeom prst="roundRect">
            <a:avLst>
              <a:gd name="adj" fmla="val 16000"/>
            </a:avLst>
          </a:prstGeom>
          <a:solidFill>
            <a:schemeClr val="accent2"/>
          </a:solidFill>
          <a:ln/>
        </p:spPr>
      </p:sp>
      <p:sp>
        <p:nvSpPr>
          <p:cNvPr id="27" name="Recap number"/>
          <p:cNvSpPr txBox="1"/>
          <p:nvPr/>
        </p:nvSpPr>
        <p:spPr>
          <a:xfrm>
            <a:off x="452628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5</a:t>
            </a:r>
            <a:endParaRPr lang="en-US" sz="2000" dirty="0"/>
          </a:p>
        </p:txBody>
      </p:sp>
      <p:sp>
        <p:nvSpPr>
          <p:cNvPr id="28" name="Recap label"/>
          <p:cNvSpPr txBox="1"/>
          <p:nvPr/>
        </p:nvSpPr>
        <p:spPr>
          <a:xfrm>
            <a:off x="516636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REPORTING AND POWER BI</a:t>
            </a:r>
            <a:endParaRPr lang="en-US" sz="1000" dirty="0"/>
          </a:p>
        </p:txBody>
      </p:sp>
      <p:sp>
        <p:nvSpPr>
          <p:cNvPr id="29" name="Recap sentence"/>
          <p:cNvSpPr txBox="1"/>
          <p:nvPr/>
        </p:nvSpPr>
        <p:spPr>
          <a:xfrm>
            <a:off x="4526280" y="4572000"/>
            <a:ext cx="3154680" cy="960120"/>
          </a:xfrm>
          <a:prstGeom prst="rect">
            <a:avLst/>
          </a:prstGeom>
          <a:noFill/>
          <a:ln/>
        </p:spPr>
        <p:txBody>
          <a:bodyPr wrap="square" lIns="0" tIns="0" rIns="0" bIns="0" rtlCol="0" anchor="t"/>
          <a:lstStyle/>
          <a:p>
            <a:pPr indent="0" marL="0">
              <a:buNone/>
            </a:pPr>
            <a:r>
              <a:rPr lang="en-US" sz="1400" dirty="0">
                <a:solidFill>
                  <a:schemeClr val="tx1"/>
                </a:solidFill>
              </a:rPr>
              <a:t>Put the logic in the model once, read gold with Direct Lake, and let Excel and the report agree.</a:t>
            </a:r>
            <a:endParaRPr lang="en-US" sz="1400" dirty="0"/>
          </a:p>
        </p:txBody>
      </p:sp>
      <p:sp>
        <p:nvSpPr>
          <p:cNvPr id="30" name="Recap 6"/>
          <p:cNvSpPr/>
          <p:nvPr/>
        </p:nvSpPr>
        <p:spPr>
          <a:xfrm>
            <a:off x="8046720" y="3749040"/>
            <a:ext cx="3593592" cy="1828800"/>
          </a:xfrm>
          <a:prstGeom prst="roundRect">
            <a:avLst>
              <a:gd name="adj" fmla="val 6000"/>
            </a:avLst>
          </a:prstGeom>
          <a:solidFill>
            <a:schemeClr val="bg2"/>
          </a:solidFill>
          <a:ln/>
        </p:spPr>
      </p:sp>
      <p:sp>
        <p:nvSpPr>
          <p:cNvPr id="31" name="Recap chip 6"/>
          <p:cNvSpPr/>
          <p:nvPr/>
        </p:nvSpPr>
        <p:spPr>
          <a:xfrm>
            <a:off x="8275320" y="3977640"/>
            <a:ext cx="457200" cy="457200"/>
          </a:xfrm>
          <a:prstGeom prst="roundRect">
            <a:avLst>
              <a:gd name="adj" fmla="val 16000"/>
            </a:avLst>
          </a:prstGeom>
          <a:solidFill>
            <a:schemeClr val="accent2"/>
          </a:solidFill>
          <a:ln/>
        </p:spPr>
      </p:sp>
      <p:sp>
        <p:nvSpPr>
          <p:cNvPr id="32" name="Recap number"/>
          <p:cNvSpPr txBox="1"/>
          <p:nvPr/>
        </p:nvSpPr>
        <p:spPr>
          <a:xfrm>
            <a:off x="8275320" y="3977640"/>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6</a:t>
            </a:r>
            <a:endParaRPr lang="en-US" sz="2000" dirty="0"/>
          </a:p>
        </p:txBody>
      </p:sp>
      <p:sp>
        <p:nvSpPr>
          <p:cNvPr id="33" name="Recap label"/>
          <p:cNvSpPr txBox="1"/>
          <p:nvPr/>
        </p:nvSpPr>
        <p:spPr>
          <a:xfrm>
            <a:off x="8915400" y="3977640"/>
            <a:ext cx="2560320" cy="457200"/>
          </a:xfrm>
          <a:prstGeom prst="rect">
            <a:avLst/>
          </a:prstGeom>
          <a:noFill/>
          <a:ln/>
        </p:spPr>
        <p:txBody>
          <a:bodyPr wrap="square" lIns="0" tIns="0" rIns="0" bIns="0" rtlCol="0" anchor="ctr"/>
          <a:lstStyle/>
          <a:p>
            <a:pPr indent="0" marL="0">
              <a:buNone/>
            </a:pPr>
            <a:r>
              <a:rPr lang="en-US" sz="1000" b="1" spc="200" kern="0" dirty="0">
                <a:solidFill>
                  <a:schemeClr val="accent1"/>
                </a:solidFill>
              </a:rPr>
              <a:t>LAB B</a:t>
            </a:r>
            <a:endParaRPr lang="en-US" sz="1000" dirty="0"/>
          </a:p>
        </p:txBody>
      </p:sp>
      <p:sp>
        <p:nvSpPr>
          <p:cNvPr id="34" name="Recap sentence"/>
          <p:cNvSpPr txBox="1"/>
          <p:nvPr/>
        </p:nvSpPr>
        <p:spPr>
          <a:xfrm>
            <a:off x="8275320" y="4572000"/>
            <a:ext cx="3154680" cy="960120"/>
          </a:xfrm>
          <a:prstGeom prst="rect">
            <a:avLst/>
          </a:prstGeom>
          <a:noFill/>
          <a:ln/>
        </p:spPr>
        <p:txBody>
          <a:bodyPr wrap="square" lIns="0" tIns="0" rIns="0" bIns="0" rtlCol="0" anchor="t"/>
          <a:lstStyle/>
          <a:p>
            <a:pPr indent="0" marL="0">
              <a:buNone/>
            </a:pPr>
            <a:r>
              <a:rPr lang="en-US" sz="1400" dirty="0">
                <a:solidFill>
                  <a:schemeClr val="tx1"/>
                </a:solidFill>
              </a:rPr>
              <a:t>Pass parameters through a pipeline, watch the run, and know the two ways a run can fail.</a:t>
            </a:r>
            <a:endParaRPr lang="en-US" sz="1400" dirty="0"/>
          </a:p>
        </p:txBody>
      </p:sp>
      <p:sp>
        <p:nvSpPr>
          <p:cNvPr id="35" name="Footnote"/>
          <p:cNvSpPr txBox="1"/>
          <p:nvPr/>
        </p:nvSpPr>
        <p:spPr>
          <a:xfrm>
            <a:off x="548640" y="580644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Questions parked today go to the owners named at the start of the day.</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2"/>
                </a:solidFill>
              </a:rPr>
              <a:t>NEXT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bg1"/>
                </a:solidFill>
              </a:rPr>
              <a:t>Tomorrow: ship what you built</a:t>
            </a:r>
            <a:endParaRPr lang="en-US" sz="3200" dirty="0"/>
          </a:p>
        </p:txBody>
      </p:sp>
      <p:sp>
        <p:nvSpPr>
          <p:cNvPr id="5" name="Day three label"/>
          <p:cNvSpPr txBox="1"/>
          <p:nvPr/>
        </p:nvSpPr>
        <p:spPr>
          <a:xfrm>
            <a:off x="548640" y="1783080"/>
            <a:ext cx="7315200" cy="228600"/>
          </a:xfrm>
          <a:prstGeom prst="rect">
            <a:avLst/>
          </a:prstGeom>
          <a:noFill/>
          <a:ln/>
        </p:spPr>
        <p:txBody>
          <a:bodyPr wrap="square" lIns="0" tIns="0" rIns="0" bIns="0" rtlCol="0" anchor="t"/>
          <a:lstStyle/>
          <a:p>
            <a:pPr indent="0" marL="0">
              <a:buNone/>
            </a:pPr>
            <a:r>
              <a:rPr lang="en-US" sz="1100" b="1" spc="300" kern="0" dirty="0">
                <a:solidFill>
                  <a:schemeClr val="accent2"/>
                </a:solidFill>
              </a:rPr>
              <a:t>DAY THREE  ·  SHIPPING TO PRODUCTION</a:t>
            </a:r>
            <a:endParaRPr lang="en-US" sz="1100" dirty="0"/>
          </a:p>
        </p:txBody>
      </p:sp>
      <p:sp>
        <p:nvSpPr>
          <p:cNvPr id="6" name="Day three module 05"/>
          <p:cNvSpPr/>
          <p:nvPr/>
        </p:nvSpPr>
        <p:spPr>
          <a:xfrm>
            <a:off x="548640" y="2103120"/>
            <a:ext cx="3291840" cy="2834640"/>
          </a:xfrm>
          <a:prstGeom prst="roundRect">
            <a:avLst>
              <a:gd name="adj" fmla="val 3871"/>
            </a:avLst>
          </a:prstGeom>
          <a:solidFill>
            <a:schemeClr val="tx2"/>
          </a:solidFill>
          <a:ln/>
        </p:spPr>
      </p:sp>
      <p:sp>
        <p:nvSpPr>
          <p:cNvPr id="7" name="Module number"/>
          <p:cNvSpPr txBox="1"/>
          <p:nvPr/>
        </p:nvSpPr>
        <p:spPr>
          <a:xfrm>
            <a:off x="777240" y="2194560"/>
            <a:ext cx="914400" cy="548640"/>
          </a:xfrm>
          <a:prstGeom prst="rect">
            <a:avLst/>
          </a:prstGeom>
          <a:noFill/>
          <a:ln/>
        </p:spPr>
        <p:txBody>
          <a:bodyPr wrap="square" lIns="0" tIns="0" rIns="0" bIns="0" rtlCol="0" anchor="t"/>
          <a:lstStyle/>
          <a:p>
            <a:pPr indent="0" marL="0">
              <a:buNone/>
            </a:pPr>
            <a:r>
              <a:rPr lang="en-US" sz="3200" b="1" dirty="0">
                <a:solidFill>
                  <a:schemeClr val="accent2"/>
                </a:solidFill>
                <a:latin typeface="+mj-lt" pitchFamily="34" charset="0"/>
                <a:ea typeface="+mj-lt" pitchFamily="34" charset="-122"/>
                <a:cs typeface="+mj-lt" pitchFamily="34" charset="-120"/>
              </a:rPr>
              <a:t>05</a:t>
            </a:r>
            <a:endParaRPr lang="en-US" sz="3200" dirty="0"/>
          </a:p>
        </p:txBody>
      </p:sp>
      <p:sp>
        <p:nvSpPr>
          <p:cNvPr id="8" name="Module name"/>
          <p:cNvSpPr txBox="1"/>
          <p:nvPr/>
        </p:nvSpPr>
        <p:spPr>
          <a:xfrm>
            <a:off x="777240" y="2788920"/>
            <a:ext cx="2834640" cy="59436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DevOps, Governance &amp; Deployment</a:t>
            </a:r>
            <a:endParaRPr lang="en-US" sz="1700" dirty="0"/>
          </a:p>
        </p:txBody>
      </p:sp>
      <p:sp>
        <p:nvSpPr>
          <p:cNvPr id="9" name="Module topics"/>
          <p:cNvSpPr txBox="1"/>
          <p:nvPr/>
        </p:nvSpPr>
        <p:spPr>
          <a:xfrm>
            <a:off x="777240" y="3520440"/>
            <a:ext cx="2880360" cy="12801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bg1"/>
                </a:solidFill>
              </a:rPr>
              <a:t>Git fundamentals</a:t>
            </a:r>
            <a:endParaRPr lang="en-US" sz="1400" dirty="0"/>
          </a:p>
          <a:p>
            <a:pPr marL="342900" indent="-342900">
              <a:spcAft>
                <a:spcPts val="700"/>
              </a:spcAft>
              <a:buSzPct val="100000"/>
              <a:buChar char="•"/>
            </a:pPr>
            <a:r>
              <a:rPr lang="en-US" sz="1400" dirty="0">
                <a:solidFill>
                  <a:schemeClr val="bg1"/>
                </a:solidFill>
              </a:rPr>
              <a:t>Deployment patterns</a:t>
            </a:r>
            <a:endParaRPr lang="en-US" sz="1400" dirty="0"/>
          </a:p>
          <a:p>
            <a:pPr marL="342900" indent="-342900">
              <a:spcAft>
                <a:spcPts val="700"/>
              </a:spcAft>
              <a:buSzPct val="100000"/>
              <a:buChar char="•"/>
            </a:pPr>
            <a:r>
              <a:rPr lang="en-US" sz="1400" dirty="0">
                <a:solidFill>
                  <a:schemeClr val="bg1"/>
                </a:solidFill>
              </a:rPr>
              <a:t>Lab: ship what you built</a:t>
            </a:r>
            <a:endParaRPr lang="en-US" sz="1400" dirty="0"/>
          </a:p>
        </p:txBody>
      </p:sp>
      <p:sp>
        <p:nvSpPr>
          <p:cNvPr id="10" name="Day three module 06"/>
          <p:cNvSpPr/>
          <p:nvPr/>
        </p:nvSpPr>
        <p:spPr>
          <a:xfrm>
            <a:off x="3977640" y="2103120"/>
            <a:ext cx="3291840" cy="2834640"/>
          </a:xfrm>
          <a:prstGeom prst="roundRect">
            <a:avLst>
              <a:gd name="adj" fmla="val 3871"/>
            </a:avLst>
          </a:prstGeom>
          <a:solidFill>
            <a:schemeClr val="tx2"/>
          </a:solidFill>
          <a:ln/>
        </p:spPr>
      </p:sp>
      <p:sp>
        <p:nvSpPr>
          <p:cNvPr id="11" name="Module number"/>
          <p:cNvSpPr txBox="1"/>
          <p:nvPr/>
        </p:nvSpPr>
        <p:spPr>
          <a:xfrm>
            <a:off x="4206240" y="2194560"/>
            <a:ext cx="914400" cy="548640"/>
          </a:xfrm>
          <a:prstGeom prst="rect">
            <a:avLst/>
          </a:prstGeom>
          <a:noFill/>
          <a:ln/>
        </p:spPr>
        <p:txBody>
          <a:bodyPr wrap="square" lIns="0" tIns="0" rIns="0" bIns="0" rtlCol="0" anchor="t"/>
          <a:lstStyle/>
          <a:p>
            <a:pPr indent="0" marL="0">
              <a:buNone/>
            </a:pPr>
            <a:r>
              <a:rPr lang="en-US" sz="3200" b="1" dirty="0">
                <a:solidFill>
                  <a:schemeClr val="accent2"/>
                </a:solidFill>
                <a:latin typeface="+mj-lt" pitchFamily="34" charset="0"/>
                <a:ea typeface="+mj-lt" pitchFamily="34" charset="-122"/>
                <a:cs typeface="+mj-lt" pitchFamily="34" charset="-120"/>
              </a:rPr>
              <a:t>06</a:t>
            </a:r>
            <a:endParaRPr lang="en-US" sz="3200" dirty="0"/>
          </a:p>
        </p:txBody>
      </p:sp>
      <p:sp>
        <p:nvSpPr>
          <p:cNvPr id="12" name="Module name"/>
          <p:cNvSpPr txBox="1"/>
          <p:nvPr/>
        </p:nvSpPr>
        <p:spPr>
          <a:xfrm>
            <a:off x="4206240" y="2788920"/>
            <a:ext cx="2834640" cy="594360"/>
          </a:xfrm>
          <a:prstGeom prst="rect">
            <a:avLst/>
          </a:prstGeom>
          <a:noFill/>
          <a:ln/>
        </p:spPr>
        <p:txBody>
          <a:bodyPr wrap="square" lIns="0" tIns="0" rIns="0" bIns="0" rtlCol="0" anchor="t"/>
          <a:lstStyle/>
          <a:p>
            <a:pPr indent="0" marL="0">
              <a:buNone/>
            </a:pPr>
            <a:r>
              <a:rPr lang="en-US" sz="1700" b="1" dirty="0">
                <a:solidFill>
                  <a:schemeClr val="bg1"/>
                </a:solidFill>
                <a:latin typeface="+mj-lt" pitchFamily="34" charset="0"/>
                <a:ea typeface="+mj-lt" pitchFamily="34" charset="-122"/>
                <a:cs typeface="+mj-lt" pitchFamily="34" charset="-120"/>
              </a:rPr>
              <a:t>Taking Applications to Production</a:t>
            </a:r>
            <a:endParaRPr lang="en-US" sz="1700" dirty="0"/>
          </a:p>
        </p:txBody>
      </p:sp>
      <p:sp>
        <p:nvSpPr>
          <p:cNvPr id="13" name="Module topics"/>
          <p:cNvSpPr txBox="1"/>
          <p:nvPr/>
        </p:nvSpPr>
        <p:spPr>
          <a:xfrm>
            <a:off x="4206240" y="3520440"/>
            <a:ext cx="2880360" cy="12801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bg1"/>
                </a:solidFill>
              </a:rPr>
              <a:t>The Paved Path</a:t>
            </a:r>
            <a:endParaRPr lang="en-US" sz="1400" dirty="0"/>
          </a:p>
          <a:p>
            <a:pPr marL="342900" indent="-342900">
              <a:spcAft>
                <a:spcPts val="700"/>
              </a:spcAft>
              <a:buSzPct val="100000"/>
              <a:buChar char="•"/>
            </a:pPr>
            <a:r>
              <a:rPr lang="en-US" sz="1400" dirty="0">
                <a:solidFill>
                  <a:schemeClr val="bg1"/>
                </a:solidFill>
              </a:rPr>
              <a:t>Who you need, and when</a:t>
            </a:r>
            <a:endParaRPr lang="en-US" sz="1400" dirty="0"/>
          </a:p>
          <a:p>
            <a:pPr marL="342900" indent="-342900">
              <a:spcAft>
                <a:spcPts val="700"/>
              </a:spcAft>
              <a:buSzPct val="100000"/>
              <a:buChar char="•"/>
            </a:pPr>
            <a:r>
              <a:rPr lang="en-US" sz="1400" dirty="0">
                <a:solidFill>
                  <a:schemeClr val="bg1"/>
                </a:solidFill>
              </a:rPr>
              <a:t>The long poles, UAT to go-live</a:t>
            </a:r>
            <a:endParaRPr lang="en-US" sz="1400" dirty="0"/>
          </a:p>
        </p:txBody>
      </p:sp>
      <p:sp>
        <p:nvSpPr>
          <p:cNvPr id="14" name="Before tomorrow card"/>
          <p:cNvSpPr/>
          <p:nvPr/>
        </p:nvSpPr>
        <p:spPr>
          <a:xfrm>
            <a:off x="7589520" y="2103120"/>
            <a:ext cx="4050792" cy="2834640"/>
          </a:xfrm>
          <a:prstGeom prst="roundRect">
            <a:avLst>
              <a:gd name="adj" fmla="val 3871"/>
            </a:avLst>
          </a:prstGeom>
          <a:solidFill>
            <a:schemeClr val="bg2"/>
          </a:solidFill>
          <a:ln/>
        </p:spPr>
      </p:sp>
      <p:sp>
        <p:nvSpPr>
          <p:cNvPr id="15" name="Pill"/>
          <p:cNvSpPr txBox="1"/>
          <p:nvPr/>
        </p:nvSpPr>
        <p:spPr>
          <a:xfrm>
            <a:off x="7818120" y="2240280"/>
            <a:ext cx="173736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050" b="1" spc="200" kern="0" dirty="0">
                <a:solidFill>
                  <a:schemeClr val="tx1"/>
                </a:solidFill>
              </a:rPr>
              <a:t>BEFORE TOMORROW</a:t>
            </a:r>
            <a:endParaRPr lang="en-US" sz="1050" dirty="0"/>
          </a:p>
        </p:txBody>
      </p:sp>
      <p:sp>
        <p:nvSpPr>
          <p:cNvPr id="16" name="Before tomorrow list"/>
          <p:cNvSpPr txBox="1"/>
          <p:nvPr/>
        </p:nvSpPr>
        <p:spPr>
          <a:xfrm>
            <a:off x="7818120" y="2697480"/>
            <a:ext cx="3611880" cy="21488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Keep your notebook, pipeline, model and report. Write down their names.</a:t>
            </a:r>
            <a:endParaRPr lang="en-US" sz="1400" dirty="0"/>
          </a:p>
          <a:p>
            <a:pPr marL="342900" indent="-342900">
              <a:spcAft>
                <a:spcPts val="1000"/>
              </a:spcAft>
              <a:buSzPct val="100000"/>
              <a:buChar char="•"/>
            </a:pPr>
            <a:r>
              <a:rPr lang="en-US" sz="1400" dirty="0">
                <a:solidFill>
                  <a:schemeClr val="tx1"/>
                </a:solidFill>
              </a:rPr>
              <a:t>Confirm you can sign in to Azure DevOps.</a:t>
            </a:r>
            <a:endParaRPr lang="en-US" sz="1400" dirty="0"/>
          </a:p>
          <a:p>
            <a:pPr marL="342900" indent="-342900">
              <a:spcAft>
                <a:spcPts val="1000"/>
              </a:spcAft>
              <a:buSzPct val="100000"/>
              <a:buChar char="•"/>
            </a:pPr>
            <a:r>
              <a:rPr lang="en-US" sz="1400" dirty="0">
                <a:solidFill>
                  <a:schemeClr val="tx1"/>
                </a:solidFill>
              </a:rPr>
              <a:t>Note one thing your front door would need approved before go-live.</a:t>
            </a:r>
            <a:endParaRPr lang="en-US" sz="1400" dirty="0"/>
          </a:p>
        </p:txBody>
      </p:sp>
      <p:sp>
        <p:nvSpPr>
          <p:cNvPr id="17" name="Warm-up strip"/>
          <p:cNvSpPr/>
          <p:nvPr/>
        </p:nvSpPr>
        <p:spPr>
          <a:xfrm>
            <a:off x="548640" y="5120640"/>
            <a:ext cx="11094415" cy="731520"/>
          </a:xfrm>
          <a:prstGeom prst="roundRect">
            <a:avLst>
              <a:gd name="adj" fmla="val 15000"/>
            </a:avLst>
          </a:prstGeom>
          <a:solidFill>
            <a:schemeClr val="tx2"/>
          </a:solidFill>
          <a:ln/>
        </p:spPr>
      </p:sp>
      <p:sp>
        <p:nvSpPr>
          <p:cNvPr id="18" name="Warm-up text"/>
          <p:cNvSpPr txBox="1"/>
          <p:nvPr/>
        </p:nvSpPr>
        <p:spPr>
          <a:xfrm>
            <a:off x="822960" y="5120640"/>
            <a:ext cx="10545775" cy="731520"/>
          </a:xfrm>
          <a:prstGeom prst="rect">
            <a:avLst/>
          </a:prstGeom>
          <a:noFill/>
          <a:ln/>
        </p:spPr>
        <p:txBody>
          <a:bodyPr wrap="square" lIns="0" tIns="0" rIns="0" bIns="0" rtlCol="0" anchor="ctr"/>
          <a:lstStyle/>
          <a:p>
            <a:pPr indent="0" marL="0">
              <a:buNone/>
            </a:pPr>
            <a:r>
              <a:rPr lang="en-US" sz="1450" b="1" dirty="0">
                <a:solidFill>
                  <a:schemeClr val="bg1"/>
                </a:solidFill>
              </a:rPr>
              <a:t>Warm-up: </a:t>
            </a:r>
            <a:pPr indent="0" marL="0">
              <a:buNone/>
            </a:pPr>
            <a:r>
              <a:rPr lang="en-US" sz="1450" dirty="0">
                <a:solidFill>
                  <a:schemeClr val="bg1"/>
                </a:solidFill>
              </a:rPr>
              <a:t>the two ways a run can fail, and who needs to hear about each.</a:t>
            </a:r>
            <a:endParaRPr lang="en-US" sz="14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6858000" cy="320040"/>
          </a:xfrm>
          <a:prstGeom prst="rect">
            <a:avLst/>
          </a:prstGeom>
          <a:noFill/>
          <a:ln/>
        </p:spPr>
        <p:txBody>
          <a:bodyPr wrap="square" lIns="0" tIns="0" rIns="0" bIns="0" rtlCol="0" anchor="t"/>
          <a:lstStyle/>
          <a:p>
            <a:pPr algn="l" indent="0" marL="0">
              <a:buNone/>
            </a:pPr>
            <a:r>
              <a:rPr lang="en-US" sz="1400" b="1" spc="400" kern="0" dirty="0">
                <a:solidFill>
                  <a:schemeClr val="bg2"/>
                </a:solidFill>
              </a:rPr>
              <a:t>APPENDIX</a:t>
            </a:r>
            <a:endParaRPr lang="en-US" sz="1400" dirty="0"/>
          </a:p>
        </p:txBody>
      </p:sp>
      <p:sp>
        <p:nvSpPr>
          <p:cNvPr id="3" name="Text 0"/>
          <p:cNvSpPr/>
          <p:nvPr>
            <p:ph idx="101" type="title" hasCustomPrompt="1"/>
          </p:nvPr>
        </p:nvSpPr>
        <p:spPr>
          <a:xfrm>
            <a:off x="731520" y="2240280"/>
            <a:ext cx="6766560" cy="1737360"/>
          </a:xfrm>
          <a:prstGeom prst="rect">
            <a:avLst/>
          </a:prstGeom>
          <a:noFill/>
          <a:ln/>
        </p:spPr>
        <p:txBody>
          <a:bodyPr wrap="square" lIns="0" tIns="0" rIns="0" bIns="0" rtlCol="0" anchor="t"/>
          <a:lstStyle/>
          <a:p>
            <a:pPr algn="l" indent="0" marL="0">
              <a:buNone/>
            </a:pPr>
            <a:r>
              <a:rPr lang="en-US" sz="4400" b="1" dirty="0">
                <a:solidFill>
                  <a:schemeClr val="bg1"/>
                </a:solidFill>
              </a:rPr>
              <a:t>Reference material</a:t>
            </a:r>
            <a:endParaRPr lang="en-US" sz="4400" dirty="0"/>
          </a:p>
        </p:txBody>
      </p:sp>
      <p:sp>
        <p:nvSpPr>
          <p:cNvPr id="4" name="Text 0"/>
          <p:cNvSpPr/>
          <p:nvPr>
            <p:ph idx="102" type="body" hasCustomPrompt="1"/>
          </p:nvPr>
        </p:nvSpPr>
        <p:spPr>
          <a:xfrm>
            <a:off x="731520" y="4069080"/>
            <a:ext cx="6217920" cy="914400"/>
          </a:xfrm>
          <a:prstGeom prst="rect">
            <a:avLst/>
          </a:prstGeom>
          <a:noFill/>
          <a:ln/>
        </p:spPr>
        <p:txBody>
          <a:bodyPr wrap="square" lIns="0" tIns="0" rIns="0" bIns="0" rtlCol="0" anchor="t"/>
          <a:lstStyle/>
          <a:p>
            <a:pPr algn="l" indent="0" marL="0">
              <a:buNone/>
            </a:pPr>
            <a:r>
              <a:rPr lang="en-US" sz="1800" dirty="0">
                <a:solidFill>
                  <a:schemeClr val="bg2"/>
                </a:solidFill>
              </a:rPr>
              <a:t>Cheat sheets, the lab kit script and a glossary.</a:t>
            </a:r>
            <a:endParaRPr lang="en-US" sz="1800" dirty="0"/>
          </a:p>
        </p:txBody>
      </p:sp>
      <p:sp>
        <p:nvSpPr>
          <p:cNvPr id="6" name="Appendix contents"/>
          <p:cNvSpPr txBox="1"/>
          <p:nvPr/>
        </p:nvSpPr>
        <p:spPr>
          <a:xfrm>
            <a:off x="7680960" y="3566160"/>
            <a:ext cx="3931920" cy="201168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Notebook patterns</a:t>
            </a:r>
            <a:endParaRPr lang="en-US" sz="1800" dirty="0"/>
          </a:p>
          <a:p>
            <a:pPr indent="0" marL="0">
              <a:spcAft>
                <a:spcPts val="600"/>
              </a:spcAft>
              <a:buNone/>
            </a:pPr>
            <a:r>
              <a:rPr lang="en-US" sz="1800" dirty="0">
                <a:solidFill>
                  <a:schemeClr val="bg1"/>
                </a:solidFill>
              </a:rPr>
              <a:t>Pipeline expressions</a:t>
            </a:r>
            <a:endParaRPr lang="en-US" sz="1800" dirty="0"/>
          </a:p>
          <a:p>
            <a:pPr indent="0" marL="0">
              <a:spcAft>
                <a:spcPts val="600"/>
              </a:spcAft>
              <a:buNone/>
            </a:pPr>
            <a:r>
              <a:rPr lang="en-US" sz="1800" dirty="0">
                <a:solidFill>
                  <a:schemeClr val="bg1"/>
                </a:solidFill>
              </a:rPr>
              <a:t>DAX starter measures</a:t>
            </a:r>
            <a:endParaRPr lang="en-US" sz="1800" dirty="0"/>
          </a:p>
          <a:p>
            <a:pPr indent="0" marL="0">
              <a:spcAft>
                <a:spcPts val="600"/>
              </a:spcAft>
              <a:buNone/>
            </a:pPr>
            <a:r>
              <a:rPr lang="en-US" sz="1800" dirty="0">
                <a:solidFill>
                  <a:schemeClr val="bg1"/>
                </a:solidFill>
              </a:rPr>
              <a:t>Alteryx tools, the next twelve</a:t>
            </a:r>
            <a:endParaRPr lang="en-US" sz="1800" dirty="0"/>
          </a:p>
          <a:p>
            <a:pPr indent="0" marL="0">
              <a:spcAft>
                <a:spcPts val="600"/>
              </a:spcAft>
              <a:buNone/>
            </a:pPr>
            <a:r>
              <a:rPr lang="en-US" sz="1800" dirty="0">
                <a:solidFill>
                  <a:schemeClr val="bg1"/>
                </a:solidFill>
              </a:rPr>
              <a:t>Lab kit script</a:t>
            </a:r>
            <a:endParaRPr lang="en-US" sz="1800" dirty="0"/>
          </a:p>
          <a:p>
            <a:pPr indent="0" marL="0">
              <a:spcAft>
                <a:spcPts val="600"/>
              </a:spcAft>
              <a:buNone/>
            </a:pPr>
            <a:r>
              <a:rPr lang="en-US" sz="1800" dirty="0">
                <a:solidFill>
                  <a:schemeClr val="bg1"/>
                </a:solidFill>
              </a:rPr>
              <a:t>Glossary</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1"/>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CHEAT SHEET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Notebook patterns cheat sheet</a:t>
            </a:r>
            <a:endParaRPr lang="en-US" sz="3200" dirty="0"/>
          </a:p>
        </p:txBody>
      </p:sp>
      <p:sp>
        <p:nvSpPr>
          <p:cNvPr id="5" name="Parameters cell, validated"/>
          <p:cNvSpPr/>
          <p:nvPr/>
        </p:nvSpPr>
        <p:spPr>
          <a:xfrm>
            <a:off x="548640" y="1783080"/>
            <a:ext cx="3593592" cy="1938528"/>
          </a:xfrm>
          <a:prstGeom prst="roundRect">
            <a:avLst>
              <a:gd name="adj" fmla="val 4717"/>
            </a:avLst>
          </a:prstGeom>
          <a:solidFill>
            <a:schemeClr val="tx1"/>
          </a:solidFill>
          <a:ln/>
        </p:spPr>
      </p:sp>
      <p:sp>
        <p:nvSpPr>
          <p:cNvPr id="6" name="Code label"/>
          <p:cNvSpPr txBox="1"/>
          <p:nvPr/>
        </p:nvSpPr>
        <p:spPr>
          <a:xfrm>
            <a:off x="749808" y="18745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PARAMETERS CELL, VALIDATED</a:t>
            </a:r>
            <a:endParaRPr lang="en-US" sz="1000" dirty="0"/>
          </a:p>
        </p:txBody>
      </p:sp>
      <p:sp>
        <p:nvSpPr>
          <p:cNvPr id="7" name="Parameters cell, validated text"/>
          <p:cNvSpPr txBox="1"/>
          <p:nvPr/>
        </p:nvSpPr>
        <p:spPr>
          <a:xfrm>
            <a:off x="749808" y="2167128"/>
            <a:ext cx="3191256" cy="144475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period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"2025-01"</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denominator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"without_na"</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run_id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"manual"</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assert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denominator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2"/>
                </a:solidFill>
                <a:latin typeface="Courier New" pitchFamily="34" charset="0"/>
                <a:ea typeface="Courier New" pitchFamily="34" charset="-122"/>
                <a:cs typeface="Courier New" pitchFamily="34" charset="-120"/>
              </a:rPr>
              <a:t>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"without_na"</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"with_na"</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8" name="Explicit schema"/>
          <p:cNvSpPr/>
          <p:nvPr/>
        </p:nvSpPr>
        <p:spPr>
          <a:xfrm>
            <a:off x="4297680" y="1783080"/>
            <a:ext cx="3593592" cy="1938528"/>
          </a:xfrm>
          <a:prstGeom prst="roundRect">
            <a:avLst>
              <a:gd name="adj" fmla="val 4717"/>
            </a:avLst>
          </a:prstGeom>
          <a:solidFill>
            <a:schemeClr val="tx1"/>
          </a:solidFill>
          <a:ln/>
        </p:spPr>
      </p:sp>
      <p:sp>
        <p:nvSpPr>
          <p:cNvPr id="9" name="Code label"/>
          <p:cNvSpPr txBox="1"/>
          <p:nvPr/>
        </p:nvSpPr>
        <p:spPr>
          <a:xfrm>
            <a:off x="4498848" y="18745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EXPLICIT SCHEMA</a:t>
            </a:r>
            <a:endParaRPr lang="en-US" sz="1000" dirty="0"/>
          </a:p>
        </p:txBody>
      </p:sp>
      <p:sp>
        <p:nvSpPr>
          <p:cNvPr id="10" name="Explicit schema text"/>
          <p:cNvSpPr txBox="1"/>
          <p:nvPr/>
        </p:nvSpPr>
        <p:spPr>
          <a:xfrm>
            <a:off x="4498848" y="2167128"/>
            <a:ext cx="3191256" cy="144475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spark</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read</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option</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"header"</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2"/>
                </a:solidFill>
                <a:latin typeface="Courier New" pitchFamily="34" charset="0"/>
                <a:ea typeface="Courier New" pitchFamily="34" charset="-122"/>
                <a:cs typeface="Courier New" pitchFamily="34" charset="-120"/>
              </a:rPr>
              <a:t>True</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schema</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"period string, n int"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csv</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path</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11" name="Audit columns"/>
          <p:cNvSpPr/>
          <p:nvPr/>
        </p:nvSpPr>
        <p:spPr>
          <a:xfrm>
            <a:off x="8046720" y="1783080"/>
            <a:ext cx="3593592" cy="1938528"/>
          </a:xfrm>
          <a:prstGeom prst="roundRect">
            <a:avLst>
              <a:gd name="adj" fmla="val 4717"/>
            </a:avLst>
          </a:prstGeom>
          <a:solidFill>
            <a:schemeClr val="tx1"/>
          </a:solidFill>
          <a:ln/>
        </p:spPr>
      </p:sp>
      <p:sp>
        <p:nvSpPr>
          <p:cNvPr id="12" name="Code label"/>
          <p:cNvSpPr txBox="1"/>
          <p:nvPr/>
        </p:nvSpPr>
        <p:spPr>
          <a:xfrm>
            <a:off x="8247888" y="18745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AUDIT COLUMNS</a:t>
            </a:r>
            <a:endParaRPr lang="en-US" sz="1000" dirty="0"/>
          </a:p>
        </p:txBody>
      </p:sp>
      <p:sp>
        <p:nvSpPr>
          <p:cNvPr id="13" name="Audit columns text"/>
          <p:cNvSpPr txBox="1"/>
          <p:nvPr/>
        </p:nvSpPr>
        <p:spPr>
          <a:xfrm>
            <a:off x="8247888" y="2167128"/>
            <a:ext cx="3191256" cy="144475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withColumn</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"_source_file"</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input_file_name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withColumn</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"_run_id"</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lit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run_id</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withColumn</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"_loaded_at"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current_timestamp</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14" name="Write one slice"/>
          <p:cNvSpPr/>
          <p:nvPr/>
        </p:nvSpPr>
        <p:spPr>
          <a:xfrm>
            <a:off x="548640" y="3840480"/>
            <a:ext cx="3593592" cy="1938528"/>
          </a:xfrm>
          <a:prstGeom prst="roundRect">
            <a:avLst>
              <a:gd name="adj" fmla="val 4717"/>
            </a:avLst>
          </a:prstGeom>
          <a:solidFill>
            <a:schemeClr val="tx1"/>
          </a:solidFill>
          <a:ln/>
        </p:spPr>
      </p:sp>
      <p:sp>
        <p:nvSpPr>
          <p:cNvPr id="15" name="Code label"/>
          <p:cNvSpPr txBox="1"/>
          <p:nvPr/>
        </p:nvSpPr>
        <p:spPr>
          <a:xfrm>
            <a:off x="749808" y="39319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WRITE ONE SLICE</a:t>
            </a:r>
            <a:endParaRPr lang="en-US" sz="1000" dirty="0"/>
          </a:p>
        </p:txBody>
      </p:sp>
      <p:sp>
        <p:nvSpPr>
          <p:cNvPr id="16" name="Write one slice text"/>
          <p:cNvSpPr txBox="1"/>
          <p:nvPr/>
        </p:nvSpPr>
        <p:spPr>
          <a:xfrm>
            <a:off x="749808" y="4224528"/>
            <a:ext cx="3191256" cy="144475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df</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write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format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"delta"</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mode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"overwrite"</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option</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"replaceWhere"</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t>
            </a:r>
            <a:pPr indent="0" marL="0">
              <a:buNone/>
            </a:pPr>
            <a:r>
              <a:rPr lang="en-US" sz="1000" dirty="0">
                <a:solidFill>
                  <a:schemeClr val="accent3"/>
                </a:solidFill>
                <a:latin typeface="Courier New" pitchFamily="34" charset="0"/>
                <a:ea typeface="Courier New" pitchFamily="34" charset="-122"/>
                <a:cs typeface="Courier New" pitchFamily="34" charset="-120"/>
              </a:rPr>
              <a:t>"period = '{period}'"</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saveAsTable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"gold_table"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17" name="Gate: log first, then stop"/>
          <p:cNvSpPr/>
          <p:nvPr/>
        </p:nvSpPr>
        <p:spPr>
          <a:xfrm>
            <a:off x="4297680" y="3840480"/>
            <a:ext cx="3593592" cy="1938528"/>
          </a:xfrm>
          <a:prstGeom prst="roundRect">
            <a:avLst>
              <a:gd name="adj" fmla="val 4717"/>
            </a:avLst>
          </a:prstGeom>
          <a:solidFill>
            <a:schemeClr val="tx1"/>
          </a:solidFill>
          <a:ln/>
        </p:spPr>
      </p:sp>
      <p:sp>
        <p:nvSpPr>
          <p:cNvPr id="18" name="Code label"/>
          <p:cNvSpPr txBox="1"/>
          <p:nvPr/>
        </p:nvSpPr>
        <p:spPr>
          <a:xfrm>
            <a:off x="4498848" y="39319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GATE: LOG FIRST, THEN STOP</a:t>
            </a:r>
            <a:endParaRPr lang="en-US" sz="1000" dirty="0"/>
          </a:p>
        </p:txBody>
      </p:sp>
      <p:sp>
        <p:nvSpPr>
          <p:cNvPr id="19" name="Gate: log first, then stop text"/>
          <p:cNvSpPr txBox="1"/>
          <p:nvPr/>
        </p:nvSpPr>
        <p:spPr>
          <a:xfrm>
            <a:off x="4498848" y="4224528"/>
            <a:ext cx="3191256" cy="144475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failed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check</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filter</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abs</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"difference"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&gt;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6"/>
                </a:solidFill>
                <a:latin typeface="Courier New" pitchFamily="34" charset="0"/>
                <a:ea typeface="Courier New" pitchFamily="34" charset="-122"/>
                <a:cs typeface="Courier New" pitchFamily="34" charset="-120"/>
              </a:rPr>
              <a:t>0.05</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count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i="1" dirty="0">
                <a:solidFill>
                  <a:schemeClr val="accent5"/>
                </a:solidFill>
                <a:latin typeface="Courier New" pitchFamily="34" charset="0"/>
                <a:ea typeface="Courier New" pitchFamily="34" charset="-122"/>
                <a:cs typeface="Courier New" pitchFamily="34" charset="-120"/>
              </a:rPr>
              <a:t># append the run log row here</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assert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failed</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6"/>
                </a:solidFill>
                <a:latin typeface="Courier New" pitchFamily="34" charset="0"/>
                <a:ea typeface="Courier New" pitchFamily="34" charset="-122"/>
                <a:cs typeface="Courier New" pitchFamily="34" charset="-120"/>
              </a:rPr>
              <a:t>0</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"Tie-out failed"</a:t>
            </a:r>
            <a:endParaRPr lang="en-US" sz="1000" dirty="0"/>
          </a:p>
        </p:txBody>
      </p:sp>
      <p:sp>
        <p:nvSpPr>
          <p:cNvPr id="20" name="Secret from a vault"/>
          <p:cNvSpPr/>
          <p:nvPr/>
        </p:nvSpPr>
        <p:spPr>
          <a:xfrm>
            <a:off x="8046720" y="3840480"/>
            <a:ext cx="3593592" cy="1938528"/>
          </a:xfrm>
          <a:prstGeom prst="roundRect">
            <a:avLst>
              <a:gd name="adj" fmla="val 4717"/>
            </a:avLst>
          </a:prstGeom>
          <a:solidFill>
            <a:schemeClr val="tx1"/>
          </a:solidFill>
          <a:ln/>
        </p:spPr>
      </p:sp>
      <p:sp>
        <p:nvSpPr>
          <p:cNvPr id="21" name="Code label"/>
          <p:cNvSpPr txBox="1"/>
          <p:nvPr/>
        </p:nvSpPr>
        <p:spPr>
          <a:xfrm>
            <a:off x="8247888" y="3931920"/>
            <a:ext cx="31912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SECRET FROM A VAULT</a:t>
            </a:r>
            <a:endParaRPr lang="en-US" sz="1000" dirty="0"/>
          </a:p>
        </p:txBody>
      </p:sp>
      <p:sp>
        <p:nvSpPr>
          <p:cNvPr id="22" name="Secret from a vault text"/>
          <p:cNvSpPr txBox="1"/>
          <p:nvPr/>
        </p:nvSpPr>
        <p:spPr>
          <a:xfrm>
            <a:off x="8247888" y="4224528"/>
            <a:ext cx="3191256" cy="1444752"/>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vault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"https://&lt;vault&gt;.vault.azure.net/"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secret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notebookutils</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credentials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getSecret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vault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"secret-name"</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23"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Assumes: from pyspark.sql import functions as F. The vault address is a placeholder.</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CHEAT SHEET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Pipeline expressions cheat sheet</a:t>
            </a:r>
            <a:endParaRPr lang="en-US" sz="3200" dirty="0"/>
          </a:p>
        </p:txBody>
      </p:sp>
      <p:graphicFrame>
        <p:nvGraphicFramePr>
          <p:cNvPr id="75" name="Pipeline expression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743200"/>
                <a:gridCol w="5879592"/>
                <a:gridCol w="2468880"/>
              </a:tblGrid>
              <a:tr h="384048">
                <a:tc>
                  <a:txBody>
                    <a:bodyPr/>
                    <a:lstStyle/>
                    <a:p>
                      <a:pPr indent="0" marL="0">
                        <a:buNone/>
                      </a:pPr>
                      <a:r>
                        <a:rPr lang="en-US" sz="1250" b="1" dirty="0">
                          <a:solidFill>
                            <a:schemeClr val="bg1"/>
                          </a:solidFill>
                        </a:rPr>
                        <a:t>I need…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Write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50" b="1" dirty="0">
                          <a:solidFill>
                            <a:schemeClr val="bg1"/>
                          </a:solidFill>
                        </a:rPr>
                        <a:t>Notes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250" b="1" dirty="0">
                          <a:solidFill>
                            <a:schemeClr val="tx1"/>
                          </a:solidFill>
                        </a:rPr>
                        <a:t>A pipeline parameter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@pipeline().parameters.period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The name must match the declared parameter</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This run's ID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@pipeline().RunId</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Pass it to the notebook as run_id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50" b="1" dirty="0">
                          <a:solidFill>
                            <a:schemeClr val="tx1"/>
                          </a:solidFill>
                        </a:rPr>
                        <a:t>When the run was triggered</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@pipeline().TriggerTime</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A timestamp</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Last month as YYYY-MM</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@formatDateTime(addToTime(utcnow(), -1, 'Month'), 'yyyy-MM')</a:t>
                      </a:r>
                      <a:endParaRPr lang="en-US" sz="11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Pipeline date functions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822960">
                <a:tc>
                  <a:txBody>
                    <a:bodyPr/>
                    <a:lstStyle/>
                    <a:p>
                      <a:pPr indent="0" marL="0">
                        <a:buNone/>
                      </a:pPr>
                      <a:r>
                        <a:rPr lang="en-US" sz="1250" b="1" dirty="0">
                          <a:solidFill>
                            <a:schemeClr val="tx1"/>
                          </a:solidFill>
                        </a:rPr>
                        <a:t>Last month if the value is auto</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@if(equals(pipeline().parameters.period, 'auto'),</a:t>
                      </a:r>
                      <a:endParaRPr lang="en-US" sz="1050" dirty="0">
                        <a:latin typeface="Courier New" charset="0"/>
                        <a:ea typeface="Courier New" charset="0"/>
                        <a:cs typeface="Courier New" charset="0"/>
                      </a:endParaRPr>
                    </a:p>
                    <a:p>
                      <a:pPr indent="0" marL="0">
                        <a:buNone/>
                      </a:pPr>
                      <a:r>
                        <a:rPr lang="en-US" sz="1050" dirty="0">
                          <a:solidFill>
                            <a:schemeClr val="tx1"/>
                          </a:solidFill>
                          <a:latin typeface="Courier New" pitchFamily="34" charset="0"/>
                          <a:ea typeface="Courier New" pitchFamily="34" charset="-122"/>
                          <a:cs typeface="Courier New" pitchFamily="34" charset="-120"/>
                        </a:rPr>
                        <a:t>   formatDateTime(addToTime(utcnow(), -1, 'Month'), 'yyyy-MM'),</a:t>
                      </a:r>
                      <a:endParaRPr lang="en-US" sz="1050" dirty="0">
                        <a:latin typeface="Courier New" charset="0"/>
                        <a:ea typeface="Courier New" charset="0"/>
                        <a:cs typeface="Courier New" charset="0"/>
                      </a:endParaRPr>
                    </a:p>
                    <a:p>
                      <a:pPr indent="0" marL="0">
                        <a:buNone/>
                      </a:pPr>
                      <a:r>
                        <a:rPr lang="en-US" sz="1050" dirty="0">
                          <a:solidFill>
                            <a:schemeClr val="tx1"/>
                          </a:solidFill>
                          <a:latin typeface="Courier New" pitchFamily="34" charset="0"/>
                          <a:ea typeface="Courier New" pitchFamily="34" charset="-122"/>
                          <a:cs typeface="Courier New" pitchFamily="34" charset="-120"/>
                        </a:rPr>
                        <a:t>   pipeline().parameters.period)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50" dirty="0">
                          <a:solidFill>
                            <a:schemeClr val="tx1"/>
                          </a:solidFill>
                        </a:rPr>
                        <a:t>Lets a schedule use the defaults</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50" b="1" dirty="0">
                          <a:solidFill>
                            <a:schemeClr val="tx1"/>
                          </a:solidFill>
                        </a:rPr>
                        <a:t>An earlier activity's output</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@activity('Run_DST_Notebook').output</a:t>
                      </a:r>
                      <a:endParaRPr lang="en-US" sz="120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50" dirty="0">
                          <a:solidFill>
                            <a:schemeClr val="tx1"/>
                          </a:solidFill>
                        </a:rPr>
                        <a:t>Use the exact activity name</a:t>
                      </a:r>
                      <a:endParaRPr lang="en-US" sz="125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Pipeline expression patterns. Test in the expression builder and with a manual run. Not executed in this training environment.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CHEAT SHEET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DAX starter measures</a:t>
            </a:r>
            <a:endParaRPr lang="en-US" sz="3200" dirty="0"/>
          </a:p>
        </p:txBody>
      </p:sp>
      <p:sp>
        <p:nvSpPr>
          <p:cNvPr id="5" name="Core measures"/>
          <p:cNvSpPr/>
          <p:nvPr/>
        </p:nvSpPr>
        <p:spPr>
          <a:xfrm>
            <a:off x="548640" y="1783080"/>
            <a:ext cx="5394960" cy="3794760"/>
          </a:xfrm>
          <a:prstGeom prst="roundRect">
            <a:avLst>
              <a:gd name="adj" fmla="val 2410"/>
            </a:avLst>
          </a:prstGeom>
          <a:solidFill>
            <a:schemeClr val="tx1"/>
          </a:solidFill>
          <a:ln/>
        </p:spPr>
      </p:sp>
      <p:sp>
        <p:nvSpPr>
          <p:cNvPr id="6" name="Code label"/>
          <p:cNvSpPr txBox="1"/>
          <p:nvPr/>
        </p:nvSpPr>
        <p:spPr>
          <a:xfrm>
            <a:off x="749808" y="1874520"/>
            <a:ext cx="49926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CORE MEASURES</a:t>
            </a:r>
            <a:endParaRPr lang="en-US" sz="1000" dirty="0"/>
          </a:p>
        </p:txBody>
      </p:sp>
      <p:sp>
        <p:nvSpPr>
          <p:cNvPr id="7" name="Core measures text"/>
          <p:cNvSpPr txBox="1"/>
          <p:nvPr/>
        </p:nvSpPr>
        <p:spPr>
          <a:xfrm>
            <a:off x="749808" y="2167128"/>
            <a:ext cx="4992624" cy="330098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Apportioned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Amount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SUM</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gold_dst_apportioned[apportioned]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Impressions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SUM</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gold_dst_apportioned[impressions]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Share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of</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Entity</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DIVIDE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[Impressions],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CALCULATE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[Impressions],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REMOVEFILTERS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gold_dst_apportioned[state]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8" name="Trust measures"/>
          <p:cNvSpPr/>
          <p:nvPr/>
        </p:nvSpPr>
        <p:spPr>
          <a:xfrm>
            <a:off x="6217920" y="1783080"/>
            <a:ext cx="5422392" cy="3794760"/>
          </a:xfrm>
          <a:prstGeom prst="roundRect">
            <a:avLst>
              <a:gd name="adj" fmla="val 2410"/>
            </a:avLst>
          </a:prstGeom>
          <a:solidFill>
            <a:schemeClr val="tx1"/>
          </a:solidFill>
          <a:ln/>
        </p:spPr>
      </p:sp>
      <p:sp>
        <p:nvSpPr>
          <p:cNvPr id="9" name="Code label"/>
          <p:cNvSpPr txBox="1"/>
          <p:nvPr/>
        </p:nvSpPr>
        <p:spPr>
          <a:xfrm>
            <a:off x="6419088" y="1874520"/>
            <a:ext cx="5020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TRUST MEASURES, FROM THE RUN LOG</a:t>
            </a:r>
            <a:endParaRPr lang="en-US" sz="1000" dirty="0"/>
          </a:p>
        </p:txBody>
      </p:sp>
      <p:sp>
        <p:nvSpPr>
          <p:cNvPr id="10" name="Trust measures text"/>
          <p:cNvSpPr txBox="1"/>
          <p:nvPr/>
        </p:nvSpPr>
        <p:spPr>
          <a:xfrm>
            <a:off x="6419088" y="2167128"/>
            <a:ext cx="5020056" cy="3300984"/>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Data</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Of</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MAX</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gold_dst_run_log[finished_at]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Latest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Run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Status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LOOKUPVALUE</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gold_dst_run_log[status],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gold_dst_run_log[finished_at],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[Data</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Of]</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Latest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Unmapped</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Rows</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MAXX</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TOPN</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1,</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gold_dst_run_log,</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gold_dst_run_log[finished_at],</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DESC</a:t>
            </a:r>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gold_dst_run_log[unmapped_rows]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11" name="Footnote"/>
          <p:cNvSpPr txBox="1"/>
          <p:nvPr/>
        </p:nvSpPr>
        <p:spPr>
          <a:xfrm>
            <a:off x="548640" y="576072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Standard DAX patterns written for the lab tables. Not executed in this training environment: test them in Lab B.</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CHEAT SHEET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Alteryx tools, the next twelve</a:t>
            </a:r>
            <a:endParaRPr lang="en-US" sz="3200" dirty="0"/>
          </a:p>
        </p:txBody>
      </p:sp>
      <p:graphicFrame>
        <p:nvGraphicFramePr>
          <p:cNvPr id="77" name="Next twelve tools"/>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286000"/>
                <a:gridCol w="8805672"/>
              </a:tblGrid>
              <a:tr h="347472">
                <a:tc>
                  <a:txBody>
                    <a:bodyPr/>
                    <a:lstStyle/>
                    <a:p>
                      <a:pPr indent="0" marL="0">
                        <a:buNone/>
                      </a:pPr>
                      <a:r>
                        <a:rPr lang="en-US" sz="1200" b="1" dirty="0">
                          <a:solidFill>
                            <a:schemeClr val="bg1"/>
                          </a:solidFill>
                        </a:rPr>
                        <a:t>Alteryx tool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Notebook form</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324612">
                <a:tc>
                  <a:txBody>
                    <a:bodyPr/>
                    <a:lstStyle/>
                    <a:p>
                      <a:pPr indent="0" marL="0">
                        <a:buNone/>
                      </a:pPr>
                      <a:r>
                        <a:rPr lang="en-US" sz="1200" b="1" dirty="0">
                          <a:solidFill>
                            <a:schemeClr val="tx1"/>
                          </a:solidFill>
                        </a:rPr>
                        <a:t>Text Input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spark.createDataFrame([("kitchen_tv", "Entity A")], "ad_unit string, entity string")</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24612">
                <a:tc>
                  <a:txBody>
                    <a:bodyPr/>
                    <a:lstStyle/>
                    <a:p>
                      <a:pPr indent="0" marL="0">
                        <a:buNone/>
                      </a:pPr>
                      <a:r>
                        <a:rPr lang="en-US" sz="1200" b="1" dirty="0">
                          <a:solidFill>
                            <a:schemeClr val="tx1"/>
                          </a:solidFill>
                        </a:rPr>
                        <a:t>Dynamic Input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spark.read.csv(f"Files/raw/dst/impressions_{period}.csv", header=True)</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24612">
                <a:tc>
                  <a:txBody>
                    <a:bodyPr/>
                    <a:lstStyle/>
                    <a:p>
                      <a:pPr indent="0" marL="0">
                        <a:buNone/>
                      </a:pPr>
                      <a:r>
                        <a:rPr lang="en-US" sz="1200" b="1" dirty="0">
                          <a:solidFill>
                            <a:schemeClr val="tx1"/>
                          </a:solidFill>
                        </a:rPr>
                        <a:t>Append Fields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df.crossJoin(totals)</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24612">
                <a:tc>
                  <a:txBody>
                    <a:bodyPr/>
                    <a:lstStyle/>
                    <a:p>
                      <a:pPr indent="0" marL="0">
                        <a:buNone/>
                      </a:pPr>
                      <a:r>
                        <a:rPr lang="en-US" sz="1200" b="1" dirty="0">
                          <a:solidFill>
                            <a:schemeClr val="tx1"/>
                          </a:solidFill>
                        </a:rPr>
                        <a:t>Unique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df.dropDuplicates(["period", "ad_unit"])</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24612">
                <a:tc>
                  <a:txBody>
                    <a:bodyPr/>
                    <a:lstStyle/>
                    <a:p>
                      <a:pPr indent="0" marL="0">
                        <a:buNone/>
                      </a:pPr>
                      <a:r>
                        <a:rPr lang="en-US" sz="1200" b="1" dirty="0">
                          <a:solidFill>
                            <a:schemeClr val="tx1"/>
                          </a:solidFill>
                        </a:rPr>
                        <a:t>Sort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df.orderBy("period", F.col("impressions").desc())</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24612">
                <a:tc>
                  <a:txBody>
                    <a:bodyPr/>
                    <a:lstStyle/>
                    <a:p>
                      <a:pPr indent="0" marL="0">
                        <a:buNone/>
                      </a:pPr>
                      <a:r>
                        <a:rPr lang="en-US" sz="1200" b="1" dirty="0">
                          <a:solidFill>
                            <a:schemeClr val="tx1"/>
                          </a:solidFill>
                        </a:rPr>
                        <a:t>Text to Columns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F.split("code", "-")[0]</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24612">
                <a:tc>
                  <a:txBody>
                    <a:bodyPr/>
                    <a:lstStyle/>
                    <a:p>
                      <a:pPr indent="0" marL="0">
                        <a:buNone/>
                      </a:pPr>
                      <a:r>
                        <a:rPr lang="en-US" sz="1200" b="1" dirty="0">
                          <a:solidFill>
                            <a:schemeClr val="tx1"/>
                          </a:solidFill>
                        </a:rPr>
                        <a:t>RegEx</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F.regexp_extract("code", r"(\d+)", 1)</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24612">
                <a:tc>
                  <a:txBody>
                    <a:bodyPr/>
                    <a:lstStyle/>
                    <a:p>
                      <a:pPr indent="0" marL="0">
                        <a:buNone/>
                      </a:pPr>
                      <a:r>
                        <a:rPr lang="en-US" sz="1200" b="1" dirty="0">
                          <a:solidFill>
                            <a:schemeClr val="tx1"/>
                          </a:solidFill>
                        </a:rPr>
                        <a:t>DateTime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F.add_months(F.to_date("period", "yyyy-MM"), -3)</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24612">
                <a:tc>
                  <a:txBody>
                    <a:bodyPr/>
                    <a:lstStyle/>
                    <a:p>
                      <a:pPr indent="0" marL="0">
                        <a:buNone/>
                      </a:pPr>
                      <a:r>
                        <a:rPr lang="en-US" sz="1200" b="1" dirty="0">
                          <a:solidFill>
                            <a:schemeClr val="tx1"/>
                          </a:solidFill>
                        </a:rPr>
                        <a:t>Generate Rows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spark.range(1, 13)</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24612">
                <a:tc>
                  <a:txBody>
                    <a:bodyPr/>
                    <a:lstStyle/>
                    <a:p>
                      <a:pPr indent="0" marL="0">
                        <a:buNone/>
                      </a:pPr>
                      <a:r>
                        <a:rPr lang="en-US" sz="1200" b="1" dirty="0">
                          <a:solidFill>
                            <a:schemeClr val="tx1"/>
                          </a:solidFill>
                        </a:rPr>
                        <a:t>Multi-Row Formula</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F.lag("total").over(Window.partitionBy("entity").orderBy("period"))</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324612">
                <a:tc>
                  <a:txBody>
                    <a:bodyPr/>
                    <a:lstStyle/>
                    <a:p>
                      <a:pPr indent="0" marL="0">
                        <a:buNone/>
                      </a:pPr>
                      <a:r>
                        <a:rPr lang="en-US" sz="1200" b="1" dirty="0">
                          <a:solidFill>
                            <a:schemeClr val="tx1"/>
                          </a:solidFill>
                        </a:rPr>
                        <a:t>Cross Tab</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df.groupBy("entity").pivot("period", ["2025-01", "2025-02"]).agg(F.sum("total"))</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324612">
                <a:tc>
                  <a:txBody>
                    <a:bodyPr/>
                    <a:lstStyle/>
                    <a:p>
                      <a:pPr indent="0" marL="0">
                        <a:buNone/>
                      </a:pPr>
                      <a:r>
                        <a:rPr lang="en-US" sz="1200" b="1" dirty="0">
                          <a:solidFill>
                            <a:schemeClr val="tx1"/>
                          </a:solidFill>
                        </a:rPr>
                        <a:t>Transpose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050" dirty="0">
                          <a:solidFill>
                            <a:schemeClr val="tx1"/>
                          </a:solidFill>
                          <a:latin typeface="Courier New" pitchFamily="34" charset="0"/>
                          <a:ea typeface="Courier New" pitchFamily="34" charset="-122"/>
                          <a:cs typeface="Courier New" pitchFamily="34" charset="-120"/>
                        </a:rPr>
                        <a:t>wide.unpivot("entity", ["2025-01", "2025-02"], "period", "total")</a:t>
                      </a:r>
                      <a:endParaRPr lang="en-US" sz="1050" dirty="0">
                        <a:latin typeface="Courier New" charset="0"/>
                        <a:ea typeface="Courier New" charset="0"/>
                        <a:cs typeface="Courier New" charset="0"/>
                      </a:endParaRPr>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6" name="Footnote"/>
          <p:cNvSpPr txBox="1"/>
          <p:nvPr/>
        </p:nvSpPr>
        <p:spPr>
          <a:xfrm>
            <a:off x="548640" y="612648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Assumes: from pyspark.sql import functions as F, Window. Every line except Sort was run on a small Spark dataset.</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LAB KIT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Lab kit script, part 1: the four input files</a:t>
            </a:r>
            <a:endParaRPr lang="en-US" sz="3200" dirty="0"/>
          </a:p>
        </p:txBody>
      </p:sp>
      <p:sp>
        <p:nvSpPr>
          <p:cNvPr id="5" name="Kit impressions"/>
          <p:cNvSpPr/>
          <p:nvPr/>
        </p:nvSpPr>
        <p:spPr>
          <a:xfrm>
            <a:off x="548640" y="1783080"/>
            <a:ext cx="5394960" cy="3977640"/>
          </a:xfrm>
          <a:prstGeom prst="roundRect">
            <a:avLst>
              <a:gd name="adj" fmla="val 2299"/>
            </a:avLst>
          </a:prstGeom>
          <a:solidFill>
            <a:schemeClr val="tx1"/>
          </a:solidFill>
          <a:ln/>
        </p:spPr>
      </p:sp>
      <p:sp>
        <p:nvSpPr>
          <p:cNvPr id="6" name="Code label"/>
          <p:cNvSpPr txBox="1"/>
          <p:nvPr/>
        </p:nvSpPr>
        <p:spPr>
          <a:xfrm>
            <a:off x="749808" y="1874520"/>
            <a:ext cx="4992624"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1 · IMPRESSIONS</a:t>
            </a:r>
            <a:endParaRPr lang="en-US" sz="1000" dirty="0"/>
          </a:p>
        </p:txBody>
      </p:sp>
      <p:sp>
        <p:nvSpPr>
          <p:cNvPr id="7" name="Kit impressions text"/>
          <p:cNvSpPr txBox="1"/>
          <p:nvPr/>
        </p:nvSpPr>
        <p:spPr>
          <a:xfrm>
            <a:off x="749808" y="2167128"/>
            <a:ext cx="4992624" cy="3483864"/>
          </a:xfrm>
          <a:prstGeom prst="rect">
            <a:avLst/>
          </a:prstGeom>
          <a:noFill/>
          <a:ln/>
        </p:spPr>
        <p:txBody>
          <a:bodyPr wrap="square" lIns="0" tIns="0" rIns="0" bIns="0" rtlCol="0" anchor="t"/>
          <a:lstStyle/>
          <a:p>
            <a:pPr indent="0" marL="0">
              <a:buNone/>
            </a:pPr>
            <a:r>
              <a:rPr lang="en-US" sz="1050" i="1" dirty="0">
                <a:solidFill>
                  <a:schemeClr val="accent5"/>
                </a:solidFill>
                <a:latin typeface="Courier New" pitchFamily="34" charset="0"/>
                <a:ea typeface="Courier New" pitchFamily="34" charset="-122"/>
                <a:cs typeface="Courier New" pitchFamily="34" charset="-120"/>
              </a:rPr>
              <a:t># Lab kit, part 1a: the impressions files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IMP_JAN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period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ad_unit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region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impressions</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01</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kitchen_tv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600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01</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kitchen_tv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NY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300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01</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kitchen_tv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100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01</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sports_hub</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200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01</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sports_hub</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TX</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800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01</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sports_hub</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NO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REGION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150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01</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mystery_unit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50</a:t>
            </a:r>
            <a:endParaRPr lang="en-US" sz="1050" dirty="0"/>
          </a:p>
          <a:p>
            <a:pPr indent="0" marL="0">
              <a:buNone/>
            </a:pPr>
            <a:r>
              <a:rPr lang="en-US" sz="1050" dirty="0">
                <a:solidFill>
                  <a:schemeClr val="accent3"/>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IMP_FEB</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period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ad_unit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region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impressions</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02</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kitchen_tv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700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02</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kitchen_tv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NY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200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02</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kitchen_tv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100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02</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sports_hub</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300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02</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sports_hub</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TX</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700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02</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sports_hub</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NO</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REGION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200</a:t>
            </a:r>
            <a:endParaRPr lang="en-US" sz="1050" dirty="0"/>
          </a:p>
          <a:p>
            <a:pPr indent="0" marL="0">
              <a:buNone/>
            </a:pPr>
            <a:r>
              <a:rPr lang="en-US" sz="1050" dirty="0">
                <a:solidFill>
                  <a:schemeClr val="accent6"/>
                </a:solidFill>
                <a:latin typeface="Courier New" pitchFamily="34" charset="0"/>
                <a:ea typeface="Courier New" pitchFamily="34" charset="-122"/>
                <a:cs typeface="Courier New" pitchFamily="34" charset="-120"/>
              </a:rPr>
              <a:t>2025</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02</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mystery_unit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40</a:t>
            </a:r>
            <a:endParaRPr lang="en-US" sz="1050" dirty="0"/>
          </a:p>
          <a:p>
            <a:pPr indent="0" marL="0">
              <a:buNone/>
            </a:pPr>
            <a:r>
              <a:rPr lang="en-US" sz="1050" dirty="0">
                <a:solidFill>
                  <a:schemeClr val="accent3"/>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8" name="Kit map and revenue"/>
          <p:cNvSpPr/>
          <p:nvPr/>
        </p:nvSpPr>
        <p:spPr>
          <a:xfrm>
            <a:off x="6217920" y="1783080"/>
            <a:ext cx="5422392" cy="3977640"/>
          </a:xfrm>
          <a:prstGeom prst="roundRect">
            <a:avLst>
              <a:gd name="adj" fmla="val 2299"/>
            </a:avLst>
          </a:prstGeom>
          <a:solidFill>
            <a:schemeClr val="tx1"/>
          </a:solidFill>
          <a:ln/>
        </p:spPr>
      </p:sp>
      <p:sp>
        <p:nvSpPr>
          <p:cNvPr id="9" name="Code label"/>
          <p:cNvSpPr txBox="1"/>
          <p:nvPr/>
        </p:nvSpPr>
        <p:spPr>
          <a:xfrm>
            <a:off x="6419088" y="1874520"/>
            <a:ext cx="5020056"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2 · MAP, REVENUE AND THE WRITER</a:t>
            </a:r>
            <a:endParaRPr lang="en-US" sz="1000" dirty="0"/>
          </a:p>
        </p:txBody>
      </p:sp>
      <p:sp>
        <p:nvSpPr>
          <p:cNvPr id="10" name="Kit map and revenue text"/>
          <p:cNvSpPr txBox="1"/>
          <p:nvPr/>
        </p:nvSpPr>
        <p:spPr>
          <a:xfrm>
            <a:off x="6419088" y="2167128"/>
            <a:ext cx="5020056" cy="3483864"/>
          </a:xfrm>
          <a:prstGeom prst="rect">
            <a:avLst/>
          </a:prstGeom>
          <a:noFill/>
          <a:ln/>
        </p:spPr>
        <p:txBody>
          <a:bodyPr wrap="square" lIns="0" tIns="0" rIns="0" bIns="0" rtlCol="0" anchor="t"/>
          <a:lstStyle/>
          <a:p>
            <a:pPr indent="0" marL="0">
              <a:buNone/>
            </a:pPr>
            <a:r>
              <a:rPr lang="en-US" sz="1000" i="1" dirty="0">
                <a:solidFill>
                  <a:schemeClr val="accent5"/>
                </a:solidFill>
                <a:latin typeface="Courier New" pitchFamily="34" charset="0"/>
                <a:ea typeface="Courier New" pitchFamily="34" charset="-122"/>
                <a:cs typeface="Courier New" pitchFamily="34" charset="-120"/>
              </a:rPr>
              <a:t># Lab kit, part 1b: the map, revenue, and the writer</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MAP</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ad_unit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entity</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kitchen_tv</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Entity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sports_hub</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Entity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a:t>
            </a:r>
            <a:endParaRPr lang="en-US" sz="1000" dirty="0"/>
          </a:p>
          <a:p>
            <a:pPr indent="0" marL="0">
              <a:buNone/>
            </a:pPr>
            <a:r>
              <a:rPr lang="en-US" sz="1000" dirty="0">
                <a:solidFill>
                  <a:schemeClr val="accent3"/>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REVENUE</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period</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entity</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amount</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2025</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01</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Entity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10000.0</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2025</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01</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Entity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20000.0</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2025</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02</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Entity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12000.0</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2025</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02</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Entity</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B</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6"/>
                </a:solidFill>
                <a:latin typeface="Courier New" pitchFamily="34" charset="0"/>
                <a:ea typeface="Courier New" pitchFamily="34" charset="-122"/>
                <a:cs typeface="Courier New" pitchFamily="34" charset="-120"/>
              </a:rPr>
              <a:t>18000.0</a:t>
            </a:r>
            <a:endParaRPr lang="en-US" sz="1000" dirty="0"/>
          </a:p>
          <a:p>
            <a:pPr indent="0" marL="0">
              <a:buNone/>
            </a:pPr>
            <a:r>
              <a:rPr lang="en-US" sz="1000" dirty="0">
                <a:solidFill>
                  <a:schemeClr val="accent3"/>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import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os</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root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"/lakehouse/default/Files/raw/dst"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i="1" dirty="0">
                <a:solidFill>
                  <a:schemeClr val="accent5"/>
                </a:solidFill>
                <a:latin typeface="Courier New" pitchFamily="34" charset="0"/>
                <a:ea typeface="Courier New" pitchFamily="34" charset="-122"/>
                <a:cs typeface="Courier New" pitchFamily="34" charset="-120"/>
              </a:rPr>
              <a:t># attached lakehouse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os</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makedirs</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root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exist_ok</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2"/>
                </a:solidFill>
                <a:latin typeface="Courier New" pitchFamily="34" charset="0"/>
                <a:ea typeface="Courier New" pitchFamily="34" charset="-122"/>
                <a:cs typeface="Courier New" pitchFamily="34" charset="-120"/>
              </a:rPr>
              <a:t>True</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accent2"/>
                </a:solidFill>
                <a:latin typeface="Courier New" pitchFamily="34" charset="0"/>
                <a:ea typeface="Courier New" pitchFamily="34" charset="-122"/>
                <a:cs typeface="Courier New" pitchFamily="34" charset="-120"/>
              </a:rPr>
              <a:t>for</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name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text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2"/>
                </a:solidFill>
                <a:latin typeface="Courier New" pitchFamily="34" charset="0"/>
                <a:ea typeface="Courier New" pitchFamily="34" charset="-122"/>
                <a:cs typeface="Courier New" pitchFamily="34" charset="-120"/>
              </a:rPr>
              <a:t>in</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accent3"/>
                </a:solidFill>
                <a:latin typeface="Courier New" pitchFamily="34" charset="0"/>
                <a:ea typeface="Courier New" pitchFamily="34" charset="-122"/>
                <a:cs typeface="Courier New" pitchFamily="34" charset="-120"/>
              </a:rPr>
              <a:t>"impressions_2025-01.csv"</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IMP_JAN</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"impressions_2025-02.csv"</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IMP_FEB</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"ad_unit_map.csv"</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MAP</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"revenue.csv"</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REVENUE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items</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2"/>
                </a:solidFill>
                <a:latin typeface="Courier New" pitchFamily="34" charset="0"/>
                <a:ea typeface="Courier New" pitchFamily="34" charset="-122"/>
                <a:cs typeface="Courier New" pitchFamily="34" charset="-120"/>
              </a:rPr>
              <a:t>with</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open</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f</a:t>
            </a:r>
            <a:pPr indent="0" marL="0">
              <a:buNone/>
            </a:pPr>
            <a:r>
              <a:rPr lang="en-US" sz="1000" dirty="0">
                <a:solidFill>
                  <a:schemeClr val="accent3"/>
                </a:solidFill>
                <a:latin typeface="Courier New" pitchFamily="34" charset="0"/>
                <a:ea typeface="Courier New" pitchFamily="34" charset="-122"/>
                <a:cs typeface="Courier New" pitchFamily="34" charset="-120"/>
              </a:rPr>
              <a:t>"{root}/{name}"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3"/>
                </a:solidFill>
                <a:latin typeface="Courier New" pitchFamily="34" charset="0"/>
                <a:ea typeface="Courier New" pitchFamily="34" charset="-122"/>
                <a:cs typeface="Courier New" pitchFamily="34" charset="-120"/>
              </a:rPr>
              <a:t>"w"</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accent2"/>
                </a:solidFill>
                <a:latin typeface="Courier New" pitchFamily="34" charset="0"/>
                <a:ea typeface="Courier New" pitchFamily="34" charset="-122"/>
                <a:cs typeface="Courier New" pitchFamily="34" charset="-120"/>
              </a:rPr>
              <a:t>as</a:t>
            </a:r>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pPr indent="0" marL="0">
              <a:buNone/>
            </a:pPr>
            <a:r>
              <a:rPr lang="en-US" sz="1000" dirty="0">
                <a:solidFill>
                  <a:schemeClr val="bg1"/>
                </a:solidFill>
                <a:latin typeface="Courier New" pitchFamily="34" charset="0"/>
                <a:ea typeface="Courier New" pitchFamily="34" charset="-122"/>
                <a:cs typeface="Courier New" pitchFamily="34" charset="-120"/>
              </a:rPr>
              <a:t>f</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write</a:t>
            </a:r>
            <a:pPr indent="0" marL="0">
              <a:buNone/>
            </a:pPr>
            <a:r>
              <a:rPr lang="en-US" sz="1000" dirty="0">
                <a:solidFill>
                  <a:schemeClr val="bg1"/>
                </a:solidFill>
                <a:latin typeface="Courier New" pitchFamily="34" charset="0"/>
                <a:ea typeface="Courier New" pitchFamily="34" charset="-122"/>
                <a:cs typeface="Courier New" pitchFamily="34" charset="-120"/>
              </a:rPr>
              <a:t>(</a:t>
            </a:r>
            <a:pPr indent="0" marL="0">
              <a:buNone/>
            </a:pPr>
            <a:r>
              <a:rPr lang="en-US" sz="1000" dirty="0">
                <a:solidFill>
                  <a:schemeClr val="bg1"/>
                </a:solidFill>
                <a:latin typeface="Courier New" pitchFamily="34" charset="0"/>
                <a:ea typeface="Courier New" pitchFamily="34" charset="-122"/>
                <a:cs typeface="Courier New" pitchFamily="34" charset="-120"/>
              </a:rPr>
              <a:t>text</a:t>
            </a:r>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11"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Invented data. The default lakehouse is mounted at /lakehouse/default in a Fabric notebook.</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LAB KIT</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Lab kit script, part 2: the answer key</a:t>
            </a:r>
            <a:endParaRPr lang="en-US" sz="3200" dirty="0"/>
          </a:p>
        </p:txBody>
      </p:sp>
      <p:sp>
        <p:nvSpPr>
          <p:cNvPr id="5" name="Kit answer key"/>
          <p:cNvSpPr/>
          <p:nvPr/>
        </p:nvSpPr>
        <p:spPr>
          <a:xfrm>
            <a:off x="548640" y="1783080"/>
            <a:ext cx="11094415" cy="3977640"/>
          </a:xfrm>
          <a:prstGeom prst="roundRect">
            <a:avLst>
              <a:gd name="adj" fmla="val 2299"/>
            </a:avLst>
          </a:prstGeom>
          <a:solidFill>
            <a:schemeClr val="tx1"/>
          </a:solidFill>
          <a:ln/>
        </p:spPr>
      </p:sp>
      <p:sp>
        <p:nvSpPr>
          <p:cNvPr id="6" name="Code label"/>
          <p:cNvSpPr txBox="1"/>
          <p:nvPr/>
        </p:nvSpPr>
        <p:spPr>
          <a:xfrm>
            <a:off x="749808" y="1874520"/>
            <a:ext cx="10692079" cy="228600"/>
          </a:xfrm>
          <a:prstGeom prst="rect">
            <a:avLst/>
          </a:prstGeom>
          <a:noFill/>
          <a:ln/>
        </p:spPr>
        <p:txBody>
          <a:bodyPr wrap="square" lIns="0" tIns="0" rIns="0" bIns="0" rtlCol="0" anchor="ctr"/>
          <a:lstStyle/>
          <a:p>
            <a:pPr indent="0" marL="0">
              <a:buNone/>
            </a:pPr>
            <a:r>
              <a:rPr lang="en-US" sz="1000" b="1" spc="200" kern="0" dirty="0">
                <a:solidFill>
                  <a:schemeClr val="accent5"/>
                </a:solidFill>
              </a:rPr>
              <a:t>CELL 3 · ANSWER KEY</a:t>
            </a:r>
            <a:endParaRPr lang="en-US" sz="1000" dirty="0"/>
          </a:p>
        </p:txBody>
      </p:sp>
      <p:sp>
        <p:nvSpPr>
          <p:cNvPr id="7" name="Kit answer key text"/>
          <p:cNvSpPr txBox="1"/>
          <p:nvPr/>
        </p:nvSpPr>
        <p:spPr>
          <a:xfrm>
            <a:off x="749808" y="2167128"/>
            <a:ext cx="10692079" cy="3483864"/>
          </a:xfrm>
          <a:prstGeom prst="rect">
            <a:avLst/>
          </a:prstGeom>
          <a:noFill/>
          <a:ln/>
        </p:spPr>
        <p:txBody>
          <a:bodyPr wrap="square" lIns="0" tIns="0" rIns="0" bIns="0" rtlCol="0" anchor="t"/>
          <a:lstStyle/>
          <a:p>
            <a:pPr indent="0" marL="0">
              <a:buNone/>
            </a:pPr>
            <a:r>
              <a:rPr lang="en-US" sz="1050" i="1" dirty="0">
                <a:solidFill>
                  <a:schemeClr val="accent5"/>
                </a:solidFill>
                <a:latin typeface="Courier New" pitchFamily="34" charset="0"/>
                <a:ea typeface="Courier New" pitchFamily="34" charset="-122"/>
                <a:cs typeface="Courier New" pitchFamily="34" charset="-120"/>
              </a:rPr>
              <a:t># Lab kit, part 2: the answer key, worked out in pandas (not Spark, not Alteryx)</a:t>
            </a:r>
            <a:endParaRPr lang="en-US" sz="1050" dirty="0"/>
          </a:p>
          <a:p>
            <a:pPr indent="0" marL="0">
              <a:buNone/>
            </a:pPr>
            <a:r>
              <a:rPr lang="en-US" sz="1050" dirty="0">
                <a:solidFill>
                  <a:schemeClr val="accent2"/>
                </a:solidFill>
                <a:latin typeface="Courier New" pitchFamily="34" charset="0"/>
                <a:ea typeface="Courier New" pitchFamily="34" charset="-122"/>
                <a:cs typeface="Courier New" pitchFamily="34" charset="-120"/>
              </a:rPr>
              <a:t>import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pandas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as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imp</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concat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pd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read_csv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"{root}/impressions_{p}.csv"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for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"2025-01"</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"2025-02"</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imp</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pd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read_csv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"{root}/ad_unit_map.csv"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"ad_unit"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i="1" dirty="0">
                <a:solidFill>
                  <a:schemeClr val="accent5"/>
                </a:solidFill>
                <a:latin typeface="Courier New" pitchFamily="34" charset="0"/>
                <a:ea typeface="Courier New" pitchFamily="34" charset="-122"/>
                <a:cs typeface="Courier New" pitchFamily="34" charset="-120"/>
              </a:rPr>
              <a:t># unmapped rows drop out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rev</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pd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read_csv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"{root}/revenue.csv"</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"is_na"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"region"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isna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"region"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isin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"N/A"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"NO REGION"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"state"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"region"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where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"is_na"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"N/A"</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out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accent2"/>
                </a:solidFill>
                <a:latin typeface="Courier New" pitchFamily="34" charset="0"/>
                <a:ea typeface="Courier New" pitchFamily="34" charset="-122"/>
                <a:cs typeface="Courier New" pitchFamily="34" charset="-120"/>
              </a:rPr>
              <a:t>for</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basis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in</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"without_na"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"with_na"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if</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basis</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"with_na"</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2"/>
                </a:solidFill>
                <a:latin typeface="Courier New" pitchFamily="34" charset="0"/>
                <a:ea typeface="Courier New" pitchFamily="34" charset="-122"/>
                <a:cs typeface="Courier New" pitchFamily="34" charset="-120"/>
              </a:rPr>
              <a:t>else</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"is_na"</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groupby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"period"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"entity"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"state"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as_index</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2"/>
                </a:solidFill>
                <a:latin typeface="Courier New" pitchFamily="34" charset="0"/>
                <a:ea typeface="Courier New" pitchFamily="34" charset="-122"/>
                <a:cs typeface="Courier New" pitchFamily="34" charset="-120"/>
              </a:rPr>
              <a:t>False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"impressions"</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sum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"share"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"impressions"</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groupby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"period"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"entity"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"impressions"</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transform</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"sum"</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merge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rev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on</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"period"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"entity"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"apportioned"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"amount"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"share"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round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6"/>
                </a:solidFill>
                <a:latin typeface="Courier New" pitchFamily="34" charset="0"/>
                <a:ea typeface="Courier New" pitchFamily="34" charset="-122"/>
                <a:cs typeface="Courier New" pitchFamily="34" charset="-120"/>
              </a:rPr>
              <a:t>2</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"basis"</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basis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out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append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g</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3"/>
                </a:solidFill>
                <a:latin typeface="Courier New" pitchFamily="34" charset="0"/>
                <a:ea typeface="Courier New" pitchFamily="34" charset="-122"/>
                <a:cs typeface="Courier New" pitchFamily="34" charset="-120"/>
              </a:rPr>
              <a:t>"period"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"basis"</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"entity"</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"state"</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accent3"/>
                </a:solidFill>
                <a:latin typeface="Courier New" pitchFamily="34" charset="0"/>
                <a:ea typeface="Courier New" pitchFamily="34" charset="-122"/>
                <a:cs typeface="Courier New" pitchFamily="34" charset="-120"/>
              </a:rPr>
              <a:t>"apportioned"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pd</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concat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out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to_csv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f</a:t>
            </a:r>
            <a:pPr indent="0" marL="0">
              <a:buNone/>
            </a:pPr>
            <a:r>
              <a:rPr lang="en-US" sz="1050" dirty="0">
                <a:solidFill>
                  <a:schemeClr val="accent3"/>
                </a:solidFill>
                <a:latin typeface="Courier New" pitchFamily="34" charset="0"/>
                <a:ea typeface="Courier New" pitchFamily="34" charset="-122"/>
                <a:cs typeface="Courier New" pitchFamily="34" charset="-120"/>
              </a:rPr>
              <a:t>"{root}/alteryx_expected.csv"</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bg1"/>
                </a:solidFill>
                <a:latin typeface="Courier New" pitchFamily="34" charset="0"/>
                <a:ea typeface="Courier New" pitchFamily="34" charset="-122"/>
                <a:cs typeface="Courier New" pitchFamily="34" charset="-120"/>
              </a:rPr>
              <a:t> </a:t>
            </a:r>
            <a:pPr indent="0" marL="0">
              <a:buNone/>
            </a:pPr>
            <a:r>
              <a:rPr lang="en-US" sz="1050" dirty="0">
                <a:solidFill>
                  <a:schemeClr val="bg1"/>
                </a:solidFill>
                <a:latin typeface="Courier New" pitchFamily="34" charset="0"/>
                <a:ea typeface="Courier New" pitchFamily="34" charset="-122"/>
                <a:cs typeface="Courier New" pitchFamily="34" charset="-120"/>
              </a:rPr>
              <a:t>index</a:t>
            </a:r>
            <a:pPr indent="0" marL="0">
              <a:buNone/>
            </a:pPr>
            <a:r>
              <a:rPr lang="en-US" sz="1050" dirty="0">
                <a:solidFill>
                  <a:schemeClr val="bg1"/>
                </a:solidFill>
                <a:latin typeface="Courier New" pitchFamily="34" charset="0"/>
                <a:ea typeface="Courier New" pitchFamily="34" charset="-122"/>
                <a:cs typeface="Courier New" pitchFamily="34" charset="-120"/>
              </a:rPr>
              <a:t>=</a:t>
            </a:r>
            <a:pPr indent="0" marL="0">
              <a:buNone/>
            </a:pPr>
            <a:r>
              <a:rPr lang="en-US" sz="1050" dirty="0">
                <a:solidFill>
                  <a:schemeClr val="accent2"/>
                </a:solidFill>
                <a:latin typeface="Courier New" pitchFamily="34" charset="0"/>
                <a:ea typeface="Courier New" pitchFamily="34" charset="-122"/>
                <a:cs typeface="Courier New" pitchFamily="34" charset="-120"/>
              </a:rPr>
              <a:t>False</a:t>
            </a:r>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8" name="Footnote"/>
          <p:cNvSpPr txBox="1"/>
          <p:nvPr/>
        </p:nvSpPr>
        <p:spPr>
          <a:xfrm>
            <a:off x="548640" y="5943600"/>
            <a:ext cx="11094415" cy="228600"/>
          </a:xfrm>
          <a:prstGeom prst="rect">
            <a:avLst/>
          </a:prstGeom>
          <a:noFill/>
          <a:ln/>
        </p:spPr>
        <p:txBody>
          <a:bodyPr wrap="square" lIns="0" tIns="0" rIns="0" bIns="0" rtlCol="0" anchor="t"/>
          <a:lstStyle/>
          <a:p>
            <a:pPr indent="0" marL="0">
              <a:buNone/>
            </a:pPr>
            <a:r>
              <a:rPr lang="en-US" sz="1050" i="1" dirty="0">
                <a:solidFill>
                  <a:schemeClr val="tx1">
                    <a:alpha val="70000"/>
                  </a:schemeClr>
                </a:solidFill>
              </a:rPr>
              <a:t>Run after part 1: it reads the files that part wrote. Not an Alteryx export: swap in a real Alteryx run if you have one.</a:t>
            </a:r>
            <a:endParaRPr lang="en-US" sz="10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0058400" cy="274320"/>
          </a:xfrm>
          <a:prstGeom prst="rect">
            <a:avLst/>
          </a:prstGeom>
          <a:noFill/>
          <a:ln/>
        </p:spPr>
        <p:txBody>
          <a:bodyPr wrap="square" lIns="0" tIns="0" rIns="0" bIns="0" rtlCol="0" anchor="t"/>
          <a:lstStyle/>
          <a:p>
            <a:pPr algn="l" indent="0" marL="0">
              <a:buNone/>
            </a:pPr>
            <a:r>
              <a:rPr lang="en-US" sz="1100" b="1" spc="300" kern="0" dirty="0">
                <a:solidFill>
                  <a:schemeClr val="accent1"/>
                </a:solidFill>
              </a:rPr>
              <a:t>APPENDIX · GLOSSARY</a:t>
            </a:r>
            <a:endParaRPr lang="en-US" sz="1100" dirty="0"/>
          </a:p>
        </p:txBody>
      </p:sp>
      <p:sp>
        <p:nvSpPr>
          <p:cNvPr id="3" name="Text 0"/>
          <p:cNvSpPr/>
          <p:nvPr>
            <p:ph idx="101" type="title" hasCustomPrompt="1"/>
          </p:nvPr>
        </p:nvSpPr>
        <p:spPr>
          <a:xfrm>
            <a:off x="548640" y="640080"/>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Glossary: terms from Day Two</a:t>
            </a:r>
            <a:endParaRPr lang="en-US" sz="3200" dirty="0"/>
          </a:p>
        </p:txBody>
      </p:sp>
      <p:graphicFrame>
        <p:nvGraphicFramePr>
          <p:cNvPr id="80" name="Glossary 1"/>
          <p:cNvGraphicFramePr>
            <a:graphicFrameLocks noGrp="1"/>
          </p:cNvGraphicFramePr>
          <p:nvPr>
            <p:extLst>
              <p:ext uri="{D42A27DB-BD31-4B8C-83A1-F6EECF244321}">
                <p14:modId xmlns:p14="http://schemas.microsoft.com/office/powerpoint/2010/main" val="1579011935"/>
              </p:ext>
            </p:extLst>
          </p:nvPr>
        </p:nvGraphicFramePr>
        <p:xfrm>
          <a:off x="548640" y="1783080"/>
          <a:ext cx="5468112" cy="914400"/>
        </p:xfrm>
        <a:graphic>
          <a:graphicData uri="http://schemas.openxmlformats.org/drawingml/2006/table">
            <a:tbl>
              <a:tblPr/>
              <a:tblGrid>
                <a:gridCol w="1737360"/>
                <a:gridCol w="3730752"/>
              </a:tblGrid>
              <a:tr h="365760">
                <a:tc>
                  <a:txBody>
                    <a:bodyPr/>
                    <a:lstStyle/>
                    <a:p>
                      <a:pPr indent="0" marL="0">
                        <a:buNone/>
                      </a:pPr>
                      <a:r>
                        <a:rPr lang="en-US" sz="1200" b="1" dirty="0">
                          <a:solidFill>
                            <a:schemeClr val="bg1"/>
                          </a:solidFill>
                        </a:rPr>
                        <a:t>Term</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Meaning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200" b="1" dirty="0">
                          <a:solidFill>
                            <a:schemeClr val="tx1"/>
                          </a:solidFill>
                        </a:rPr>
                        <a:t>Parameter cell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The notebook cell whose values a pipeline replaces at run time.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00" b="1" dirty="0">
                          <a:solidFill>
                            <a:schemeClr val="tx1"/>
                          </a:solidFill>
                        </a:rPr>
                        <a:t>Base parameters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The values a Notebook activity passes to the parameter cell.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00" b="1" dirty="0">
                          <a:solidFill>
                            <a:schemeClr val="tx1"/>
                          </a:solidFill>
                        </a:rPr>
                        <a:t>Gate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check that stops the run before bad numbers are written.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00" b="1" dirty="0">
                          <a:solidFill>
                            <a:schemeClr val="tx1"/>
                          </a:solidFill>
                        </a:rPr>
                        <a:t>Run log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One row per run: status, totals and unmapped count.</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00" b="1" dirty="0">
                          <a:solidFill>
                            <a:schemeClr val="tx1"/>
                          </a:solidFill>
                        </a:rPr>
                        <a:t>Idempotent write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write that gives the same table when repeated.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00" b="1" dirty="0">
                          <a:solidFill>
                            <a:schemeClr val="tx1"/>
                          </a:solidFill>
                        </a:rPr>
                        <a:t>Front door</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Inputs, trigger, status, output and guardrails around a run.</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graphicFrame>
        <p:nvGraphicFramePr>
          <p:cNvPr id="159" name="Glossary 2"/>
          <p:cNvGraphicFramePr>
            <a:graphicFrameLocks noGrp="1"/>
          </p:cNvGraphicFramePr>
          <p:nvPr>
            <p:extLst>
              <p:ext uri="{D42A27DB-BD31-4B8C-83A1-F6EECF244321}">
                <p14:modId xmlns:p14="http://schemas.microsoft.com/office/powerpoint/2010/main" val="1579011935"/>
              </p:ext>
            </p:extLst>
          </p:nvPr>
        </p:nvGraphicFramePr>
        <p:xfrm>
          <a:off x="6172200" y="1783080"/>
          <a:ext cx="5468112" cy="914400"/>
        </p:xfrm>
        <a:graphic>
          <a:graphicData uri="http://schemas.openxmlformats.org/drawingml/2006/table">
            <a:tbl>
              <a:tblPr/>
              <a:tblGrid>
                <a:gridCol w="1737360"/>
                <a:gridCol w="3730752"/>
              </a:tblGrid>
              <a:tr h="365760">
                <a:tc>
                  <a:txBody>
                    <a:bodyPr/>
                    <a:lstStyle/>
                    <a:p>
                      <a:pPr indent="0" marL="0">
                        <a:buNone/>
                      </a:pPr>
                      <a:r>
                        <a:rPr lang="en-US" sz="1200" b="1" dirty="0">
                          <a:solidFill>
                            <a:schemeClr val="bg1"/>
                          </a:solidFill>
                        </a:rPr>
                        <a:t>Term</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Meaning</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200" b="1" dirty="0">
                          <a:solidFill>
                            <a:schemeClr val="tx1"/>
                          </a:solidFill>
                        </a:rPr>
                        <a:t>Semantic model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Tables plus measures, relationships and security that reports read.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00" b="1" dirty="0">
                          <a:solidFill>
                            <a:schemeClr val="tx1"/>
                          </a:solidFill>
                        </a:rPr>
                        <a:t>Direct Lake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A model mode that reads Delta tables in OneLake in place.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00" b="1" dirty="0">
                          <a:solidFill>
                            <a:schemeClr val="tx1"/>
                          </a:solidFill>
                        </a:rPr>
                        <a:t>Measure</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calculation, written in DAX, evaluated for whatever is filtered.</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00" b="1" dirty="0">
                          <a:solidFill>
                            <a:schemeClr val="tx1"/>
                          </a:solidFill>
                        </a:rPr>
                        <a:t>Analyze in Excel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Pivot tables connected live to a semantic model.</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200" b="1" dirty="0">
                          <a:solidFill>
                            <a:schemeClr val="tx1"/>
                          </a:solidFill>
                        </a:rPr>
                        <a:t>Row-level security</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rPr>
                        <a:t>A model rule that limits which rows a person sees.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200" b="1" dirty="0">
                          <a:solidFill>
                            <a:schemeClr val="tx1"/>
                          </a:solidFill>
                        </a:rPr>
                        <a:t>Monitoring hub</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rPr>
                        <a:t>Where Fabric lists runs, their activities and their errors.</a:t>
                      </a:r>
                      <a:endParaRPr lang="en-US" sz="1200" dirty="0"/>
                    </a:p>
                  </a:txBody>
                  <a:tcPr marL="109728" marR="109728"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79</a:t>
            </a:fld>
            <a:endParaRPr lang="en-US"/>
          </a:p>
        </p:txBody>
      </p:sp>
    </p:spTree>
  </p:cSld>
  <p:clrMapOvr>
    <a:masterClrMapping/>
  </p:clrMapOvr>
</p:sld>
</file>

<file path=ppt/theme/theme1.xml><?xml version="1.0" encoding="utf-8"?>
<a:theme xmlns:a="http://schemas.openxmlformats.org/drawingml/2006/main" name="TDMI Fabric Training">
  <a:themeElements>
    <a:clrScheme name="TDMI Fabric Training">
      <a:dk1>
        <a:srgbClr val="0B1F3A"/>
      </a:dk1>
      <a:lt1>
        <a:srgbClr val="FFFFFF"/>
      </a:lt1>
      <a:dk2>
        <a:srgbClr val="00338D"/>
      </a:dk2>
      <a:lt2>
        <a:srgbClr val="EEF3FB"/>
      </a:lt2>
      <a:accent1>
        <a:srgbClr val="1E49E2"/>
      </a:accent1>
      <a:accent2>
        <a:srgbClr val="00A3A1"/>
      </a:accent2>
      <a:accent3>
        <a:srgbClr val="F2A900"/>
      </a:accent3>
      <a:accent4>
        <a:srgbClr val="B5651D"/>
      </a:accent4>
      <a:accent5>
        <a:srgbClr val="8D99A6"/>
      </a:accent5>
      <a:accent6>
        <a:srgbClr val="C9A227"/>
      </a:accent6>
      <a:hlink>
        <a:srgbClr val="1E49E2"/>
      </a:hlink>
      <a:folHlink>
        <a:srgbClr val="6B3FA0"/>
      </a:folHlink>
    </a:clrScheme>
    <a:fontScheme name="TDMI Fabric Train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KPMG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Fabric &amp; DevOps Enablement: Day Two, Building in Fabric</dc:title>
  <dc:subject>Disney Tax Data Management &amp; Innovation: Fabric training, Day Two</dc:subject>
  <dc:creator>KPMG</dc:creator>
  <cp:lastModifiedBy>KPMG</cp:lastModifiedBy>
  <cp:revision>1</cp:revision>
  <dcterms:created xsi:type="dcterms:W3CDTF">2026-10-09T18:26:49Z</dcterms:created>
  <dcterms:modified xsi:type="dcterms:W3CDTF">2026-10-09T18:26:49Z</dcterms:modified>
</cp:coreProperties>
</file>