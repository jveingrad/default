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f0fa9d-83c3-bfe7-255b-7091cf15ed67}">
          <p14:sldIdLst>
            <p14:sldId id="256"/>
            <p14:sldId id="257"/>
            <p14:sldId id="258"/>
            <p14:sldId id="259"/>
          </p14:sldIdLst>
        </p14:section>
        <p14:section name="Part 1 · Fabric Foundations &amp; Architecture" id="{35763e7c-0ff1-0d7a-28ca-7a6ef2bcef0b}">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Lst>
        </p14:section>
        <p14:section name="Part 2 · SQL, Python &amp; Data Concepts" id="{b8cad1dc-18f3-3256-8a5e-dd6f27018dbc}">
          <p14:sldIdLst>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Lst>
        </p14:section>
        <p14:section name="Wrap-up" id="{43ff9f0c-9e41-48c8-263a-315a214c5a5e}">
          <p14:sldIdLst>
            <p14:sldId id="316"/>
            <p14:sldId id="317"/>
          </p14:sldIdLst>
        </p14:section>
        <p14:section name="Appendix" id="{e993132a-7f65-c1c5-7ffd-8ad8deb3ca07}">
          <p14:sldIdLst>
            <p14:sldId id="318"/>
            <p14:sldId id="319"/>
            <p14:sldId id="320"/>
            <p14:sldId id="321"/>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mn-lt"/>
              </a:defRPr>
            </a:pPr>
            <a:r>
              <a:rPr sz="1300" b="0" i="0" u="none" strike="noStrike">
                <a:solidFill>
                  <a:srgbClr val="0B1F3A"/>
                </a:solidFill>
                <a:latin typeface="+mn-lt"/>
              </a:rPr>
              <a:t>Data-logic tools by type, three workflows combined</a:t>
            </a:r>
          </a:p>
        </c:rich>
      </c:tx>
      <c:layout/>
      <c:overlay val="0"/>
    </c:title>
    <c:autoTitleDeleted val="0"/>
    <c:plotArea>
      <c:layout/>
      <c:barChart>
        <c:barDir val="bar"/>
        <c:grouping val="clustered"/>
        <c:varyColors val="0"/>
        <c:ser>
          <c:idx val="0"/>
          <c:order val="0"/>
          <c:tx>
            <c:strRef>
              <c:f>Sheet1!$B$1</c:f>
              <c:strCache>
                <c:ptCount val="1"/>
                <c:pt idx="0">
                  <c:v>Tools</c:v>
                </c:pt>
              </c:strCache>
            </c:strRef>
          </c:tx>
          <c:spPr>
            <a:solidFill>
              <a:srgbClr val="1E49E2"/>
            </a:solidFill>
            <a:effectLst/>
          </c:spPr>
          <c:invertIfNegative val="0"/>
          <c:dLbls>
            <c:numFmt formatCode="#,##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1E49E2"/>
              </a:solidFill>
              <a:effectLst/>
            </c:spPr>
          </c:dPt>
          <c:dPt>
            <c:idx val="1"/>
            <c:invertIfNegative val="0"/>
            <c:bubble3D val="0"/>
            <c:spPr>
              <a:solidFill>
                <a:srgbClr val="1E49E2"/>
              </a:solidFill>
              <a:effectLst/>
            </c:spPr>
          </c:dPt>
          <c:dPt>
            <c:idx val="2"/>
            <c:invertIfNegative val="0"/>
            <c:bubble3D val="0"/>
            <c:spPr>
              <a:solidFill>
                <a:srgbClr val="1E49E2"/>
              </a:solidFill>
              <a:effectLst/>
            </c:spPr>
          </c:dPt>
          <c:dPt>
            <c:idx val="3"/>
            <c:invertIfNegative val="0"/>
            <c:bubble3D val="0"/>
            <c:spPr>
              <a:solidFill>
                <a:srgbClr val="1E49E2"/>
              </a:solidFill>
              <a:effectLst/>
            </c:spPr>
          </c:dPt>
          <c:dPt>
            <c:idx val="4"/>
            <c:invertIfNegative val="0"/>
            <c:bubble3D val="0"/>
            <c:spPr>
              <a:solidFill>
                <a:srgbClr val="1E49E2"/>
              </a:solidFill>
              <a:effectLst/>
            </c:spPr>
          </c:dPt>
          <c:dPt>
            <c:idx val="5"/>
            <c:invertIfNegative val="0"/>
            <c:bubble3D val="0"/>
            <c:spPr>
              <a:solidFill>
                <a:srgbClr val="1E49E2"/>
              </a:solidFill>
              <a:effectLst/>
            </c:spPr>
          </c:dPt>
          <c:dPt>
            <c:idx val="6"/>
            <c:invertIfNegative val="0"/>
            <c:bubble3D val="0"/>
            <c:spPr>
              <a:solidFill>
                <a:srgbClr val="8D99A6"/>
              </a:solidFill>
              <a:effectLst/>
            </c:spPr>
          </c:dPt>
          <c:dPt>
            <c:idx val="7"/>
            <c:invertIfNegative val="0"/>
            <c:bubble3D val="0"/>
            <c:spPr>
              <a:solidFill>
                <a:srgbClr val="8D99A6"/>
              </a:solidFill>
              <a:effectLst/>
            </c:spPr>
          </c:dPt>
          <c:dPt>
            <c:idx val="8"/>
            <c:invertIfNegative val="0"/>
            <c:bubble3D val="0"/>
            <c:spPr>
              <a:solidFill>
                <a:srgbClr val="8D99A6"/>
              </a:solidFill>
              <a:effectLst/>
            </c:spPr>
          </c:dPt>
          <c:dPt>
            <c:idx val="9"/>
            <c:invertIfNegative val="0"/>
            <c:bubble3D val="0"/>
            <c:spPr>
              <a:solidFill>
                <a:srgbClr val="8D99A6"/>
              </a:solidFill>
              <a:effectLst/>
            </c:spPr>
          </c:dPt>
          <c:cat>
            <c:multiLvlStrRef>
              <c:f>Sheet1!$A$2:$A$11</c:f>
              <c:multiLvlStrCache>
                <c:ptCount val="10"/>
                <c:lvl>
                  <c:pt idx="0">
                    <c:v>Formula</c:v>
                  </c:pt>
                  <c:pt idx="1">
                    <c:v>Select</c:v>
                  </c:pt>
                  <c:pt idx="2">
                    <c:v>Filter</c:v>
                  </c:pt>
                  <c:pt idx="3">
                    <c:v>Union</c:v>
                  </c:pt>
                  <c:pt idx="4">
                    <c:v>Summarize</c:v>
                  </c:pt>
                  <c:pt idx="5">
                    <c:v>Join</c:v>
                  </c:pt>
                  <c:pt idx="6">
                    <c:v>Text Input</c:v>
                  </c:pt>
                  <c:pt idx="7">
                    <c:v>Dynamic Input</c:v>
                  </c:pt>
                  <c:pt idx="8">
                    <c:v>Append Fields</c:v>
                  </c:pt>
                  <c:pt idx="9">
                    <c:v>Unique</c:v>
                  </c:pt>
                </c:lvl>
              </c:multiLvlStrCache>
            </c:multiLvlStrRef>
          </c:cat>
          <c:val>
            <c:numRef>
              <c:f>Sheet1!$B$2:$B$11</c:f>
              <c:numCache>
                <c:formatCode>General</c:formatCode>
                <c:ptCount val="10"/>
                <c:pt idx="0">
                  <c:v>186</c:v>
                </c:pt>
                <c:pt idx="1">
                  <c:v>63</c:v>
                </c:pt>
                <c:pt idx="2">
                  <c:v>36</c:v>
                </c:pt>
                <c:pt idx="3">
                  <c:v>33</c:v>
                </c:pt>
                <c:pt idx="4">
                  <c:v>26</c:v>
                </c:pt>
                <c:pt idx="5">
                  <c:v>24</c:v>
                </c:pt>
                <c:pt idx="6">
                  <c:v>15</c:v>
                </c:pt>
                <c:pt idx="7">
                  <c:v>14</c:v>
                </c:pt>
                <c:pt idx="8">
                  <c:v>12</c:v>
                </c:pt>
                <c:pt idx="9">
                  <c:v>10</c:v>
                </c:pt>
              </c:numCache>
            </c:numRef>
          </c:val>
        </c:ser>
        <c:dLbls>
          <c:numFmt formatCode="#,##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Set the frame in one breath: today is shared vocabulary and the technical baseline. Nobody is expected to leave as a developer. Day Two is where we build in Fabric, and Day Three is where we ship to production. Today makes both of those days easier. Check the room mix: how many tax professionals, how many technologists. Say that the pace will be set by the people newest 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columns left to right. Part 1 is the platform: what Fabric is, how Disney has set it up, how the Alteryx estate moves across, and where data lives. Part 2 is the skills: SQL, Python, and the medallion pattern that organises the data. Point out that Part 2 has exercises throughout. Remind the room this mirrors the agreed agenda, so there are no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outcomes aloud. These are the test of whether the day worked, so come back to this slide in the wrap-up. Each card maps to one module. If someone asks whether they will be writing production code today, the honest answer is no: they will read, run and adjust code, and understand why it is shaped the way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working agreements on the left. Stress that the exercise data is invented: it has the same shape as the DST workflow data but contains no real Disney values, so nothing sensitive is on screen. On the right, the prerequisite is access: attendees must be pre-credentialed before day one. Close by naming what is deliberately not covered today and where it is handled, so questions about governance or bring-your-own-workflow migration can be parked without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has three modules: Fabric at Disney, Migration strategy, and Lakehouse and OneLake. Suggested pacing is roughly half of the day, with the live tour and the lakehouse exercise as the interactive points. Adjust to the agreed day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workloads. Fabric bundles several experiences that used to be separate products. This week we use three of them: Data Factory for pipelines, Data Engineering for lakehouses and notebooks, and Power BI for reporting. The other three exist but are not part of this training. The dark band is the important idea: OneLake. Every workload reads and writes the same store, so a notebook, a pipeline and a report can share one table without copying it. Bottom row: capacity is the compute everyone shares, and identity and governance decide who can do what. Keep this slide to about four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orientation slide for anyone who lives in Alteryx today. Four rows: where the data comes from, where the logic runs, where the results go, and how it gets run. The sources barely change. What changes is the middle: logic moves from Alteryx workflows to notebooks, orchestrated by pipelines, and the outputs become tables that Power BI and Excel read. The last row previews Day Two: business users should be able to trigger a run from a portal without the Tax team in the middle. Do not dwell on details; Module 2 goes deep on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the tenant is Disney's Microsoft tenant, where identities and policies live and where OneLake sits. A capacity is purchased compute, sized by F SKU, shared by the workspaces assigned to it. A workspace is a container for items with its own list of members; Disney separates environments by workspace, for example development and test. Items are the things you build and use. Below, the four workspace roles: your role decides what you can change, and the live tour shows where to see yours. Be clear that exact workspace names, capacity size and role assignments follow Disney Enterprise Technology standards, and we will look at the real ones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reference slide, not one to read line by line. Point to the two tags that matter: TODAY means we use it in this session; DAY 2 means we introduce it today and build with it tomorrow; AWARENESS means you should recognise it but we will not build with it. The one-line summary at the bottom is the mental model to keep: lakehouses hold the data, notebooks transform it, pipelines orchestrate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expectations about who owns what, which prevents a lot of friction later. Enterprise Technology owns the platform and the approvals that gate production. TDMI and Tax Technology build the solutions. The business supplies inputs and signs off. Day Three covers each approval and its realistic timeline. Name what is out of scope today: Disney's governance, operating model and Fabric management decisions are handled in a separate internal session, and platform security sits with Enterprise Technology. If someone asks a governance question, thank them and park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demo, about 15 minutes, in Disney's real environment. Do the six steps in order and pause at each 'notice' line: ask the room what they see before telling them. Invite attendees to follow along on their own screens, since they are pre-credentialed. The point is orientation: after this, 'where does this live?' should be answerable for any item. If a step fails for someone, note it and fix access at the break rather than stopping the room. Facilitator prep: choose a workspace that has a lakehouse, a notebook and a pipeline with some run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 is not translating tool by tool. It is re-expressing the business logic in a new home, and proving it still gives the same answer. Five steps. Triage first, so you start with the right workflow. Decompose so you know what the pieces are. Rebuild in layers, which is the medallion idea we cover in Part 2. Prove equivalence by running old and new side by side on the same inputs. Then retire the old workflow and hand off with documentation. Point out that step four mirrors the DST proof of concept, which compared Fabric output against current Alteryx runs. Tomorrow's lab takes a prepared workflow through steps two to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three real workflows from the estate, chosen because they look different on the canvas but share the same four columns. Do not read the cells. Ask the room to look across a row and then down a column. Down the columns you can see the same kinds of work: inputs, preparation, calculation and validation, outputs. That sameness is what makes a repeatable migration approach possible. Notice the trial balance workflow stops its loads when validations fail: we will reuse that pattern in the medallion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counted the data-logic tools in the three workflows: 467 in total, ignoring comments, containers, interface tools and Browse tools. Six tool types make up 79 percent of them, and Formula alone is 40 percent. A Formula tool is a business rule written as an expression, so the headline is that most migration effort is translating rules, not plumbing. That is exactly why we spend Part 2 on SQL and Python. The trial balance macro also has 188 Browse tools, which are debugging taps; we exclude them, and we come back to what replaces them. Method is in the footnote, for anyone who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translation table to keep. Each Alteryx tool has a direct SQL idea and a direct PySpark idea. You will use both over the next two days, so we show them side by side now and practise them in Part 2. Notice Formula is the loosest mapping: it can be a CASE expression, a calculated column or a function, depending on the rule. The next five tools by count, for completeness, are Text Input, Dynamic Input, Append Fields, Unique and Sort; they are in the appendix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are only half the vocabulary. The other half is the platform: how a workflow is packaged, scheduled, connected and shared. Walk the table top to bottom. The two that cause the most surprise are Excel as a database, where the main file is both input and output, and network drive paths, which have no equivalent in a lakehouse. We cover both again on the gotchas slide. Data connections are set up and approved with Enterprise Technology, so name that dependency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diagram for step two. Take the DST workflow and ask of every piece: is it a parameter, a table, a notebook or a pipeline? The year, which today is parsed from a file name, becomes a pipeline parameter. The Snowflake and SAP / EDP queries are pipeline copy steps that land data in the lakehouse. The Google Ad Manager CSVs are files in the lakehouse. The four Excel mapping tabs become reference tables. The transformations become three notebooks. The outputs are tables, an exports step and a Power BI feed. The pipeline bar at the bottom ties it together. Be clear that this is an illustrative decomposition for discussion; tomorrow's lab uses a prepared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surprises we found reading the actual workflows, so they are the ones to look for. One: Excel as a database. Two: rules hidden in file and folder naming. Three: business rules buried in formulas; the DST workflow treats Business Area 533 as company code 1002, shifts fiscal periods back three months, and treats non-US regions as N/A for one publisher but not the others. Four: formatted reports built with report tools have no one-to-one equivalent. Five: the trial balance macro has 188 Browse tools, which are debugging taps; in a notebook the equivalent is a check that fails loudly. Finish on the dark card: every hidden rule is a test you will need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or table discussion, about ten minutes, then a show of hands. There is no single right answer, which is the point; the discussion is about criteria. A reasonable read: DST has the clearest boundaries and already has a documented proof of concept, so it is a safe first mover. NatGeo is the most rule-dense, with 116 Formula tools and one rule per category, so it needs the business to confirm the rules and decide how the formatted report is rebuilt. The trial balance workflow is the largest and has validation gating and period splitting, so it needs the most care. Draw out hidden rules and what must be confirmed with the business before work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OneLake is the single place all Fabric data lives. The analogy that lands with a mixed room is OneDrive for data: there is one per tenant, you do not set it up, and everything in Fabric reads and writes it. In the diagram, workspaces sit inside OneLake and each holds a lakehouse. Workspace B has a shortcut to a table in workspace A: it looks like a table in B but the data stays in A. That is the 'one copy' principle. On the right, three properties to remember: one per tenant, open format, one copy. Open format matters: Delta tables are readable by any engine that understands Delta, so the data is not locked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is illustrative: names are examples, and Disney's naming standards apply. What matters is the split. Files is a landing zone for any format with no schema: CSV extracts, Excel workbooks, JSON, PDFs. Tables holds managed Delta tables with typed columns, which SQL, notebooks and Power BI can all query. Fabric also creates a SQL analytics endpoint for the lakehouse automatically, which lets people query the tables with T-SQL, read-only. Ask the room: in this tree, what would you expect to find in bronze_impressions that you would not find in the CSV file it came from? Answer: typed columns and a table you can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tax professionals, the spreadsheet is the mental model, so be explicit about where it breaks. Walk the five rows. The two that matter most: logic lives in code that can be reviewed and re-run, instead of in cells; and every change is a version, so a rerun can be compared with what came before. The size row has a Disney example: the DST impression data is over twelve million records, which is more than eleven Excel sheets could hold, which is why that workflow already writes a CSV instead of Excel. The small panel shows what a Delta table looks like on disk: Parquet data files plus a delta log folder that records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rule. Raw things as received go in Files, so you always have the original. Anything you intend to query, join or report on goes in Tables. Walk the six examples and ask the room to guess the middle column before you reveal it. The common mistake is leaving working data as CSV in Files and querying it from a notebook forever; it works, but you lose typing, history and SQL access. If in doubt: if you will query it, it belongs in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shortcut is a pointer. It appears as a folder or table in your lakehouse, but the data stays where it is. Use it when someone else owns the data and you only need to read it: a shared reference table owned by another team, or curated data held in another lakehouse or in cloud storage. Four benefits on the right: always current, nothing to reconcile, the owner stays in charge, and deleting a shortcut does not delete the source. The amber card is the caveat that catches people: a shortcut does not transform anything. If you need to clean or reshape, bring the data in with a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new to Fabric often ask which tool to use to look at a table. The answer is that every door reads the same Delta tables, so the choice is about what you need to do. A notebook can read and write and is where you build. The SQL analytics endpoint is a read-only T-SQL view of lakehouse tables, good for quick checks, for analysts, and for tools that speak SQL. The warehouse is a full T-SQL warehouse where you can read and write; we mention it for awareness. In today's exercises, SQL runs either at the endpoint or in a notebook with Spark SQL, and the answers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names make a lakehouse navigable by someone who did not build it. Left column: a layer prefix tells you where the table sits in the medallion pattern, which we cover shortly; ref_ marks reference tables; folders by source and year; lower snake case with no spaces. Right column: what to avoid, each with the reason. The strip at the bottom matters: Disney's Enterprise Technology naming conventions and workspace policies take precedence over these examples. If the standards say something different, follow the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about 20 minutes, on the practice lakehouse. Facilitator prep: load the practice tables with the script in the appendix, put a sample GAM-style CSV in Files/raw, and create one shortcut to a reference table in a second lakehouse so there is something to find in step four. Walk the room once, then let pairs work. Use the right-hand questions as the debrief: Files versus Tables, what the column types tell you, and when to use a shortcut. Answers: the raw CSV goes in Files and cleaned impressions in Tables; bronze_impressions has four columns and impressions is an integer; a shortcut is for data someone else owns that you only read, not for data you need to reshape.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is the skills half of the day: SQL fundamentals, Python fundamentals, then the medallion pattern that ties them together. There are three exercises, each with a solutions slide. Remind the room that the practice data is invented and shaped like the DST workflow data. Suggested pacing: about a third of the day for SQL, a third for Python, and a shorter block for medallion. Adjust to the agreed day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four words everything else rests on: table, row, column, key, each with its spreadsheet equivalent. The key is the one that needs care: it is how two tables are connected. Then the picture: three tables from the practice data. Impressions and revenue are facts, meaning events and amounts. The mapping table is a lookup, meaning it describes the facts. ad_unit connects impressions to the mapping; entity connects the mapping to revenue. The design principle on the dark bar is the payoff: keep each fact in one place and describe it with lookups, so a mapping changes once, not in every workbook that has a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tables are loaded in the exercise lakehouse and used for every SQL and Python exercise today. They have the same shape as the DST workflow data but every value is invented. The highlighted rows are traps built in on purpose, because real extracts always have them: a NULL region, a literal NO REGION value, and an ad unit with no mapping. We will meet each trap in turn. Use this slide as the reference whenever someone asks what a query should return. The load script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query first and let people read it as English: from the impressions table, for January, group by ad unit, keep groups over 500, sort by total. Then the table on the right gives each clause its plain-English meaning and its Excel equivalent. The numbers show the order SQL actually runs in, which is not the order you write: FROM first, then WHERE, GROUP BY, HAVING, SELECT, ORDER BY. That explains why you cannot use a SELECT alias inside WHERE. The result below shows two rows: mystery_unit is gone because its total of 50 fails the HAVING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most likely to save someone from a wrong number. The first query looks right: exclude N/A regions. It returns six rows. The NULL row disappears by accident, because comparing NULL with anything is neither true nor false, and the NO REGION row slips through because we never mentioned it. The second query says exactly what we mean using COALESCE to turn NULL into a value we can test, and returns the five valid rows. On the right, CASE is the SQL form of the Alteryx Formula tool; this is the same N/A rule the DST workflow keeps in a Formula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joins, one practice dataset. An inner join keeps only rows that match on both sides: six rows, and mystery_unit vanishes silently. A left join keeps every row from the left table and fills the right side with NULL where there is no match: seven rows, with mystery_unit showing a NULL entity. The anti-join is a left join plus a test for NULL on the right, which returns only the rows with no match: one row. For Excel users: VLOOKUP returns the first match and shows #N/A when nothing matches. A join returns every match, and it lets you test for the missing ones, which is how you find unmapped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anti-join applied to a real pattern. In the DST workflow, any ad unit or company code with no mapping is written to an Unmapped tab in the main file, so someone can fix the mapping table. The SQL does the same thing: left join to the mapping table, keep the rows with no match, and total them so you can see the size of the problem. The rule on the right matters more than the syntax: unmapped rows are a finding, not a rounding error. Report them, then decide what to do, and never let them disappear into 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is the Summarize tool. The result has one row per group, so the first question is always: what is the grain? One row per ad unit, per entity and month, per state? Say it out loud before you write the query, because mixing grains is how totals go wrong. The five aggregate functions are on the right; COUNT star counts rows, the others work on a column. Reinforce the difference between WHERE and HAVING: WHERE filters rows before they are grouped, and HAVING filters the groups afterwards. In the result, sports_hub totals 1,150 across three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advanced idea we introduce, because it replaces a whole pattern in the DST workflow. GROUP BY collapses rows into one per group. A window function with OVER keeps every row and adds the group total beside it. Here, PARTITION BY entity gives each row the total impressions for its entity, and dividing gives each region's share of that entity. In the Alteryx workflow the same thing took a Summarize tool to compute the denominator and a Join to bring it back to the detail rows; the window function does both in one line. Note the times 1.0, which forces decimal division. In T-SQL, dividing two integers returns an integer, so 600 divided by 900 would be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DST apportionment in one query, built only from ideas we have just covered. Read it in four moves: the CTE called valid filters and joins, keeping only impressions that have an entity and a real region; the window divides each row by its entity total; the join to revenue brings in the amount for the entity and period; and multiplying gives each region its share of the revenue. On the right, the result, and the tie-out that matters for tax work: the apportioned amounts add back to the revenue. Entity A: 6,666.67 plus 3,333.33 is 10,000. Entity B: 4,000 plus 16,000 is 20,000. We will make that tie-out a formal gate in the medallion module. Real-data note: SAP revenue arrives as negative credits, and the DST workflow flips the sign when it apportions.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speaks two SQL dialects. T-SQL is what you use at the SQL analytics endpoint and in a warehouse. Spark SQL is what you use in a notebook. The core language is identical: SELECT, JOIN, GROUP BY, CASE and window functions all work the same way. The differences are small and mostly about functions. Do not try to memorise this table; know that it exists, and look up the difference when an error points at it. The one worth remembering is integer division: one divided by two is zero in T-SQL and 0.5 in Spark SQL, which is why the earlier queries multiply by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about 30 minutes. Run it at the SQL analytics endpoint or in a notebook with Spark SQL; the answers are the same. Let people work in pairs and circulate. Task one tests the NULL trap, task two is GROUP BY, task three is the anti-join, task four is the window function. The expected results are on the cards so people can self-check. The stretch task is the apportionment query from earlier: encourage anyone who finishes to build it up step by step rather than copying it. Hints if stuck: look back at the NULL slide for task one and the unmapped slide for task three. Solutions follow on the next two slides; do not reveal them until most pairs have finished tasks one to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solution and ask what would have gone wrong with the obvious first attempt. Task one: the NOT IN list with COALESCE handles NULL, N/A and NO REGION in one test. Task two: GROUP BY with SUM and ORDER BY descending. Task three: the anti-join. Note the DISTINCT in task three, which keeps the answer to one row per ad unit if an unmapped ad unit appears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four is the window function. The CTE keeps only valid, mapped rows, and the window divides each row by its entity total. Check that the shares add to one within each entity. The stretch task is the full apportionment query from the earlier slide: multiply the share by the entity revenue after joining silver_revenue. Anyone who got there has done the core of the DST calculation in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in Fabric lives in notebooks, so start there. A notebook is a document made of cells: some are text (markdown), some are code. You run a code cell and the output appears directly underneath. Variables persist between cells, so a value set in one cell is available in the next. That is also the source of the most common confusion: if you skip a cell or run cells out of order, a later cell can fail because the thing it needs does not exist yet. For Alteryx users, the canvas shows you the flow all at once; a notebook is read top to bottom, so use markdown cells to label each step. The mock-up shows the pieces: the attached lakehouse chip, a markdown cell, a code cell and its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learn Python; you need to be able to read it. Five ideas cover most of what you will see in a data notebook. A variable is a named value, like a named cell in Excel and like an interface input in an Alteryx app. A list is an ordered set of values, like a column. A dictionary is a lookup table: a key and its value. The state mapping from the DST workflow, Silicon Valley to CA, is exactly a dictionary. A function packages a rule so you write it once; it is the notebook equivalent of a macro. A loop does the same thing for each item in a list. Read the code on the left top to bottom and match each line to a row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rule from the DST workflow: SAP and EDP periods are fiscal, and the workflow shifts them back three months to align with calendar periods. In Alteryx that is one Formula tool, DateTimeAdd with minus three months, and the reason for it lives only in someone's head. Here the rule is a function with a name and a docstring, and three assert lines that test it. If an assert fails, Python stops with an error, so you find out immediately when someone changes the rule. For example, fiscal year 2025 period 1 becomes 2024-10. The habit to teach: when a rule matters, write its test cases first. Illustrative values; confirm the exact fiscal mapping with the business before relying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DataFrame is just a table in memory: named columns, each with a type, and rows. In a Fabric notebook the spark session already exists, and the default way to work is with Spark DataFrames, which can handle tables far larger than a laptop. The left shows the schema idea: each column has a type, and printSchema prints it. On the right, pandas is the other DataFrame library you will meet; it is great for small data and quick checks. Spark is lazy: transformations build a plan and nothing runs until you ask for a result with display, count or write. That is why a transformation cell can seem instant and the next cell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notebook has the same skeleton. Read data in, look at it, transform it, write the result out. This slide is the read, look and write; the transform comes next. Three practical points. First, table names and Files paths are resolved against the lakehouse attached to the notebook, which is why the live tour pointed at the attached lakehouse. Second, always look before you transform: print the schema and a few rows, because the type or the content is rarely what you assumed. Third, overwrite versus append: overwrite replaces the table so a rerun gives the same result; append adds rows, so running the cell twice duplicates the data. Prefer overwrite until you have a reason to append.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Alteryx Formula logic from the DST workflow translated into a notebook cell. On the left, the two rules as they exist today: flag a region as N/A if it is null or one of the two placeholder values, and label an ad unit with no mapping as Unmapped. On the right, the PySpark: a left join to the mapping table so no row is lost, coalesce to label the unmapped, and a coalesce-isin test for the N/A flag. The table shows the result on the practice data: seven rows, one Unmapped, two flagged N/A. Notice the same coalesce trick as in SQL. The rules are now readable text that can be reviewed, versioned and tested, rather than a configuration inside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calculation as the SQL query, now in PySpark, continuing from the mapped DataFrame on the previous slide. A window specification partitions by period and entity; the filter drops N/A and Unmapped rows; each row's share is its impressions over the window total; the join brings in the entity revenue; and multiplying gives the apportioned amount, rounded to cents. The result is identical to the SQL: that is the point. The same logic can be written in either language, and teams choose by who needs to read it. The tie-out holds: 6,666.67 plus 3,333.33 is 10,000 for Entity A. Real-data note: SAP revenue arrives as negative credits, so the DST workflow flips the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 are intimidating because tracebacks are long. The useful part is almost always the last line. Walk the five most common ones. A column that cannot be resolved is nearly always a typo or a rename; Spark even suggests the closest names. Table or view not found is usually a wrong name or a missing attached lakehouse. A NameError means a cell was skipped or run out of order. The last two are silent: no error message at all, just a wrong answer. Numbers that sort as text were read as strings; check the schema. Counts that double after a rerun mean an append ran twice. Teach people to be more suspicious of the silent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about 30 minutes, in a notebook with the exercise lakehouse attached. Give people the starter cell on the right; it reads the two tables and lists the four tasks as comments. Run it in pairs. Task one is the read and look loop. Task two adds the N/A flag. Task three finds the unmapped rows with a left join. Task four computes the share with a window. Expected results are on the cards. The stretch is the clean_state function from the building blocks slide, applied to a list of five values. Circulate and check that people are reading the last line of any error before asking for help. Solutions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task. One: printSchema and count. Two: the coalesce-isin test creates the flag; there should be two true rows. Three: a left join then filter for a NULL entity gives mystery_unit. Four: a window partitioned by entity gives each region's share; drop N/A and unmapped rows first. If the stretch was attempted, the function is the same dictionary lookup from the building blocks slide. Ask: where would you put these four cells in the medallion layers? That leads straight into the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medallion architecture is just an organising habit: land data raw, make it right, then make it useful, in three layers named bronze, silver and gold. Bronze is the data exactly as it arrived, plus load metadata. Silver is cleaned and conformed: typed, deduplicated, mapped, validated. Gold is shaped for the business question: aggregated, calculated, named for the people who use it. Data only moves one way, and each layer can be rebuilt from the one before. That last point is the practical payoff: if a rule changes, rebuild from the layer where that rule lives. Everything you did in the SQL and Python exercises sits in one of these layers, and the next slides will 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Bronze is the arrival lounge. Four rules. Keep source columns and values untouched, even if they look wrong; you will fix them in silver. Add load metadata, so you can answer when and from where. Append only, so history is never lost. And no business rules: if you find yourself writing an if statement about tax logic, you are in the wrong layer. In the DST example there are three bronze tables, one per source: the Google Ad Manager CSVs as downloaded, the Snowflake extract, and the SAP and EDP query result. The payoff is replay: if a rule changes, you can rebuild silver from bronze without going back to the source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Silver is where the business rules live. Five jobs: fix types and formats; standardise values, like Silicon Valley becoming CA; remove duplicates; join to reference tables and flag what does not map; and validate, quarantining bad rows rather than dropping them silently. On the right, the real DST rules that belong here: parsing EDP periods and shifting them three months, cleansing state values and flagging embassies, mapping ad units and company codes to entities, and flagging N/A regions. These are exactly the rules we wrote in SQL and PySpark earlier. Because the rules live here, this is also where the tests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is built for consumption. Aggregate to the grain the business needs; calculate the measures, such as shares and apportioned amounts; name columns for the people who will read them; and keep the table stable and documented, because reports and users will depend on it. In the DST example the gold table has the shape of the Data Hub collection the workflow writes today: period, entity, state, impressions, the share, and the apportioned amount. Power BI can read a gold table directly, which Fabric calls Direct Lake, and Excel and portal-driven apps read it too; that is Day Two. A useful rule: gold answers one question well. If a new question needs a different shape, add another gold table rather than bending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aid. Read down the left column and ask the room which layer each step belongs in before showing the mark. The pattern: anything about preserving what arrived is bronze; anything about cleaning, standardising, joining to reference data and flagging problems is silver; anything about answering a specific business question is gold. If a step could sit in two layers, ask: if this rule changed, which layer would I want to rebuild from? That is where the rule lives. Debatable ones: summarising to reduce volume can be a silver step; summarising to a report's grain is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capstone picture. Sources on the left are what the Alteryx workflow reads today. Each source lands in its own bronze table. Silver cleans and conforms them: states cleansed, periods shifted, entities mapped, N/A flagged, and unmapped rows set aside in their own table. The Excel mapping tabs are loaded once as reference tables and joined in silver. Gold holds the single apportioned table. Consumers on the right: a Power BI report, the Excel workpaper and a CSV extract, replacing today's three outputs. Trace one thing end to end: a Google Ad Manager CSV becomes bronze_gam, then part of silver_impressions, then contributes to gold_dst_apportioned. Illustrative design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Layers are only useful if you can trust the move between them, so put a gate at each boundary: a short list of checks that must pass before the next layer is built. Gate one, bronze to silver, is about whether the data arrived intact: counts, columns, parsing, keys. Gate two, silver to gold, is about whether the numbers can be trusted: no unmapped keys left unexplained, no NULLs in required fields, and the tie-out we saw earlier, where apportioned amounts add back to the revenue. On the right is the part that should reassure Disney's team: the trial balance workflow already works this way. It counts validation errors and, if the count is above zero, the loads do not run. We are not inventing a new discipline; we are naming one you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card-sort in pairs, about 20 minutes including debrief. Give each pair the twelve steps, as printed cards or on a whiteboard, and ask them to write B, S or G beside each. Then compare answers across the room and ask the pairs that disagree to defend their choice. Expect disagreement on step eleven, summarising: it can be a silver step if it is only reducing volume, and a gold step if the grain is specific to one report. Use the rule: if this changed, which layer would I rebuild from? The answers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answers and spend most of the time on the disagreements. Bronze: steps one to three, all about preserving what arrived. Silver: steps four to eight, all about cleaning, standardising, mapping and flagging. Gold: steps nine to twelve, all about answering the business question. The debatable one is step eleven. Summarising can legitimately be a silver step if it is only compacting volume, as the Alteryx workflow does before mapping; it is a gold step when the grain is specific to the report. Either answer is defensible if the pair can say which layer they would rebuild from when the rule changes. Close by connecting back to the opening outcome: you can now place any step in a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six outcomes from the start of the day and read these as the answers. One sentence per module. Ask the room to pick the one that surprised them most, and the one they are least sure about, and note those for tomorrow's warm-up. If time allows, ask for a volunteer to explain the NULL trap or the Files-versus-Tables rule in their own words; teaching it back is the best check. Park any open questions on governance or bring-your-own-workflow migration with the owners named at the start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Day Two, which follows the agreed agenda. Module three is data engineering in Fabric: notebook development, how common Alteryx steps translate into notebook logic, and a guided lab that migrates a prepared Alteryx workflow into Fabric. Module four is user experience and consumption: portal-driven execution, where users enter inputs and notebooks run in the background; reporting with Power BI and Power Query; and a lab that gives the lab workflow inputs, a trigger and an output. Ask everyone to complete the three items under 'Before tomorrow'. Mention Day Three in one breath: it covers how changes ship and the path to go-live. Bring-your-own-workflow migration is handled in a separate Disney working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slides for participants to keep. Nothing here needs to be presented. Point people to the cheat sheets during exercises and to the load script if anyone wants to rebuild the practice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Clauses on the left in the order they run; patterns on the right for the five things you do most. The two TOP and LIMIT lines at the bottom are the dialect difference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Each line is one Alteryx idea in PySpark. Assumes the usual imports: functions as F, and Window. The last two lines are the write pattern and the share-of-total pattern used in the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Plain-English meanings with the nearest Alteryx or Excel idea where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facilitators, and for anyone who wants to rebuild the practice tables. Run it once in a notebook with the exercise lakehouse attached. It creates the three tables used in every SQL and Python exercise. For Exercise 1 you also need a sample CSV in Files/raw and one shortcut to a reference table in a second lakehouse. Every value is invented; nothing here comes from a Disney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4"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tx1">
                    <a:alpha val="65000"/>
                  </a:schemeClr>
                </a:solidFill>
              </a:rPr>
              <a:t>KPMG  ·  Disney Tax Data Management &amp; Innovation  ·  Day One: Foundations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858000" cy="320040"/>
          </a:xfrm>
          <a:prstGeom prst="rect">
            <a:avLst/>
          </a:prstGeom>
          <a:noFill/>
          <a:ln/>
        </p:spPr>
        <p:txBody>
          <a:bodyPr wrap="square" rtlCol="0"/>
          <a:lstStyle>
            <a:lvl1pPr indent="0" marL="0">
              <a:buNone/>
              <a:defRPr lang="en-US" sz="1400" b="1" spc="4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731520" y="1965960"/>
            <a:ext cx="6949440" cy="2011680"/>
          </a:xfrm>
          <a:prstGeom prst="rect">
            <a:avLst/>
          </a:prstGeom>
          <a:noFill/>
          <a:ln/>
        </p:spPr>
        <p:txBody>
          <a:bodyPr wrap="square" rtlCol="0"/>
          <a:lstStyle>
            <a:lvl1pPr indent="0" marL="0">
              <a:buNone/>
              <a:defRPr lang="en-US" sz="5000" b="1" dirty="0">
                <a:solidFill>
                  <a:schemeClr val="bg1"/>
                </a:solidFill>
              </a:defRPr>
            </a:lvl1pPr>
          </a:lstStyle>
          <a:p>
            <a:pPr indent="0" marL="0">
              <a:buNone/>
            </a:pPr>
            <a:endParaRPr lang="en-US" sz="5000" dirty="0"/>
          </a:p>
        </p:txBody>
      </p:sp>
      <p:sp>
        <p:nvSpPr>
          <p:cNvPr id="4" name="Text 0"/>
          <p:cNvSpPr/>
          <p:nvPr>
            <p:ph idx="102" type="body" hasCustomPrompt="1"/>
          </p:nvPr>
        </p:nvSpPr>
        <p:spPr>
          <a:xfrm>
            <a:off x="731520" y="4160520"/>
            <a:ext cx="66751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6035040"/>
            <a:ext cx="8229600" cy="274320"/>
          </a:xfrm>
          <a:prstGeom prst="rect">
            <a:avLst/>
          </a:prstGeom>
          <a:noFill/>
          <a:ln/>
        </p:spPr>
        <p:txBody>
          <a:bodyPr wrap="square" lIns="0" tIns="0" rIns="0" bIns="0" rtlCol="0" anchor="ctr"/>
          <a:lstStyle/>
          <a:p>
            <a:pPr indent="0" marL="0">
              <a:buNone/>
            </a:pPr>
            <a:r>
              <a:rPr lang="en-US" sz="1200" dirty="0">
                <a:solidFill>
                  <a:schemeClr val="bg1">
                    <a:alpha val="75000"/>
                  </a:schemeClr>
                </a:solidFill>
              </a:rPr>
              <a:t>KPMG  ·  Disney Tax Data Management &amp; Innovation  ·  October 2026</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rtlCol="0"/>
          <a:lstStyle>
            <a:lvl1pPr indent="0" marL="0">
              <a:buNone/>
              <a:defRPr lang="en-US" sz="1400" b="1" spc="400" kern="0" dirty="0">
                <a:solidFill>
                  <a:schemeClr val="bg2"/>
                </a:solidFill>
              </a:defRPr>
            </a:lvl1pPr>
          </a:lstStyle>
          <a:p>
            <a:pPr indent="0" marL="0">
              <a:buNone/>
            </a:pP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bg1">
                    <a:alpha val="65000"/>
                  </a:schemeClr>
                </a:solidFill>
              </a:rPr>
              <a:t>KPMG  ·  Disney Tax Data Management &amp; Innovation  ·  Day One: Foundations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rtlCol="0"/>
          <a:lstStyle>
            <a:lvl1pPr indent="0" marL="0">
              <a:buNone/>
              <a:defRPr lang="en-US" sz="1100" b="1" spc="3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4"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bg1">
                    <a:alpha val="65000"/>
                  </a:schemeClr>
                </a:solidFill>
              </a:rPr>
              <a:t>KPMG  ·  Disney Tax Data Management &amp; Innovation  ·  Day One: Foundations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2.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2.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858000" cy="320040"/>
          </a:xfrm>
          <a:prstGeom prst="rect">
            <a:avLst/>
          </a:prstGeom>
          <a:noFill/>
          <a:ln/>
        </p:spPr>
        <p:txBody>
          <a:bodyPr wrap="square" lIns="0" tIns="0" rIns="0" bIns="0" rtlCol="0" anchor="t"/>
          <a:lstStyle/>
          <a:p>
            <a:pPr algn="l" indent="0" marL="0">
              <a:buNone/>
            </a:pPr>
            <a:r>
              <a:rPr lang="en-US" sz="1400" b="1" spc="400" kern="0" dirty="0">
                <a:solidFill>
                  <a:schemeClr val="accent2"/>
                </a:solidFill>
              </a:rPr>
              <a:t>DAY ONE · FOUNDATIONS</a:t>
            </a:r>
            <a:endParaRPr lang="en-US" sz="1400" dirty="0"/>
          </a:p>
        </p:txBody>
      </p:sp>
      <p:sp>
        <p:nvSpPr>
          <p:cNvPr id="3" name="Text 0"/>
          <p:cNvSpPr/>
          <p:nvPr>
            <p:ph idx="101" type="title" hasCustomPrompt="1"/>
          </p:nvPr>
        </p:nvSpPr>
        <p:spPr>
          <a:xfrm>
            <a:off x="731520" y="1965960"/>
            <a:ext cx="6949440" cy="2011680"/>
          </a:xfrm>
          <a:prstGeom prst="rect">
            <a:avLst/>
          </a:prstGeom>
          <a:noFill/>
          <a:ln/>
        </p:spPr>
        <p:txBody>
          <a:bodyPr wrap="square" lIns="0" tIns="0" rIns="0" bIns="0" rtlCol="0" anchor="t"/>
          <a:lstStyle/>
          <a:p>
            <a:pPr algn="l" indent="0" marL="0">
              <a:buNone/>
            </a:pPr>
            <a:r>
              <a:rPr lang="en-US" sz="5000" b="1" dirty="0">
                <a:solidFill>
                  <a:schemeClr val="bg1"/>
                </a:solidFill>
              </a:rPr>
              <a:t>Microsoft Fabric &amp; DevOps enablement</a:t>
            </a:r>
            <a:endParaRPr lang="en-US" sz="5000" dirty="0"/>
          </a:p>
        </p:txBody>
      </p:sp>
      <p:sp>
        <p:nvSpPr>
          <p:cNvPr id="4" name="Text 0"/>
          <p:cNvSpPr/>
          <p:nvPr>
            <p:ph idx="102" type="body" hasCustomPrompt="1"/>
          </p:nvPr>
        </p:nvSpPr>
        <p:spPr>
          <a:xfrm>
            <a:off x="731520" y="4160520"/>
            <a:ext cx="6675120" cy="914400"/>
          </a:xfrm>
          <a:prstGeom prst="rect">
            <a:avLst/>
          </a:prstGeom>
          <a:noFill/>
          <a:ln/>
        </p:spPr>
        <p:txBody>
          <a:bodyPr wrap="square" lIns="0" tIns="0" rIns="0" bIns="0" rtlCol="0" anchor="t"/>
          <a:lstStyle/>
          <a:p>
            <a:pPr algn="l" indent="0" marL="0">
              <a:buNone/>
            </a:pPr>
            <a:r>
              <a:rPr lang="en-US" sz="1800" dirty="0">
                <a:solidFill>
                  <a:schemeClr val="bg2"/>
                </a:solidFill>
              </a:rPr>
              <a:t>Part 1: Fabric Foundations &amp; Architecture</a:t>
            </a:r>
            <a:endParaRPr lang="en-US" sz="1800" dirty="0"/>
          </a:p>
          <a:p>
            <a:pPr algn="l" indent="0" marL="0">
              <a:buNone/>
            </a:pPr>
            <a:r>
              <a:rPr lang="en-US" sz="1800" dirty="0">
                <a:solidFill>
                  <a:schemeClr val="bg2"/>
                </a:solidFill>
              </a:rPr>
              <a:t>Part 2: SQL, Python &amp; Data Concepts</a:t>
            </a:r>
            <a:endParaRPr lang="en-US" sz="1800" dirty="0"/>
          </a:p>
        </p:txBody>
      </p:sp>
      <p:sp>
        <p:nvSpPr>
          <p:cNvPr id="6" name="Decorative tile 1"/>
          <p:cNvSpPr/>
          <p:nvPr/>
        </p:nvSpPr>
        <p:spPr>
          <a:xfrm>
            <a:off x="8138160" y="1554480"/>
            <a:ext cx="1051560" cy="1051560"/>
          </a:xfrm>
          <a:prstGeom prst="roundRect">
            <a:avLst>
              <a:gd name="adj" fmla="val 12174"/>
            </a:avLst>
          </a:prstGeom>
          <a:solidFill>
            <a:schemeClr val="accent1">
              <a:alpha val="70000"/>
            </a:schemeClr>
          </a:solidFill>
          <a:ln/>
        </p:spPr>
      </p:sp>
      <p:sp>
        <p:nvSpPr>
          <p:cNvPr id="7" name="Decorative tile 2"/>
          <p:cNvSpPr/>
          <p:nvPr/>
        </p:nvSpPr>
        <p:spPr>
          <a:xfrm>
            <a:off x="9326880" y="1554480"/>
            <a:ext cx="1051560" cy="1051560"/>
          </a:xfrm>
          <a:prstGeom prst="roundRect">
            <a:avLst>
              <a:gd name="adj" fmla="val 12174"/>
            </a:avLst>
          </a:prstGeom>
          <a:solidFill>
            <a:schemeClr val="accent2">
              <a:alpha val="55000"/>
            </a:schemeClr>
          </a:solidFill>
          <a:ln/>
        </p:spPr>
      </p:sp>
      <p:sp>
        <p:nvSpPr>
          <p:cNvPr id="8" name="Decorative tile 3"/>
          <p:cNvSpPr/>
          <p:nvPr/>
        </p:nvSpPr>
        <p:spPr>
          <a:xfrm>
            <a:off x="10515600" y="1554480"/>
            <a:ext cx="1051560" cy="1051560"/>
          </a:xfrm>
          <a:prstGeom prst="roundRect">
            <a:avLst>
              <a:gd name="adj" fmla="val 12174"/>
            </a:avLst>
          </a:prstGeom>
          <a:solidFill>
            <a:schemeClr val="tx2">
              <a:alpha val="45000"/>
            </a:schemeClr>
          </a:solidFill>
          <a:ln/>
        </p:spPr>
      </p:sp>
      <p:sp>
        <p:nvSpPr>
          <p:cNvPr id="9" name="Decorative tile 4"/>
          <p:cNvSpPr/>
          <p:nvPr/>
        </p:nvSpPr>
        <p:spPr>
          <a:xfrm>
            <a:off x="8138160" y="2743200"/>
            <a:ext cx="1051560" cy="1051560"/>
          </a:xfrm>
          <a:prstGeom prst="roundRect">
            <a:avLst>
              <a:gd name="adj" fmla="val 12174"/>
            </a:avLst>
          </a:prstGeom>
          <a:solidFill>
            <a:schemeClr val="accent2">
              <a:alpha val="40000"/>
            </a:schemeClr>
          </a:solidFill>
          <a:ln/>
        </p:spPr>
      </p:sp>
      <p:sp>
        <p:nvSpPr>
          <p:cNvPr id="10" name="Decorative tile 5"/>
          <p:cNvSpPr/>
          <p:nvPr/>
        </p:nvSpPr>
        <p:spPr>
          <a:xfrm>
            <a:off x="9326880" y="2743200"/>
            <a:ext cx="1051560" cy="1051560"/>
          </a:xfrm>
          <a:prstGeom prst="roundRect">
            <a:avLst>
              <a:gd name="adj" fmla="val 12174"/>
            </a:avLst>
          </a:prstGeom>
          <a:solidFill>
            <a:schemeClr val="accent1">
              <a:alpha val="60000"/>
            </a:schemeClr>
          </a:solidFill>
          <a:ln/>
        </p:spPr>
      </p:sp>
      <p:sp>
        <p:nvSpPr>
          <p:cNvPr id="11" name="Decorative tile 6"/>
          <p:cNvSpPr/>
          <p:nvPr/>
        </p:nvSpPr>
        <p:spPr>
          <a:xfrm>
            <a:off x="10515600" y="2743200"/>
            <a:ext cx="1051560" cy="1051560"/>
          </a:xfrm>
          <a:prstGeom prst="roundRect">
            <a:avLst>
              <a:gd name="adj" fmla="val 12174"/>
            </a:avLst>
          </a:prstGeom>
          <a:solidFill>
            <a:schemeClr val="tx2">
              <a:alpha val="75000"/>
            </a:schemeClr>
          </a:solidFill>
          <a:ln/>
        </p:spPr>
      </p:sp>
      <p:sp>
        <p:nvSpPr>
          <p:cNvPr id="12" name="Decorative tile 7"/>
          <p:cNvSpPr/>
          <p:nvPr/>
        </p:nvSpPr>
        <p:spPr>
          <a:xfrm>
            <a:off x="8138160" y="3931920"/>
            <a:ext cx="1051560" cy="1051560"/>
          </a:xfrm>
          <a:prstGeom prst="roundRect">
            <a:avLst>
              <a:gd name="adj" fmla="val 12174"/>
            </a:avLst>
          </a:prstGeom>
          <a:solidFill>
            <a:schemeClr val="tx2">
              <a:alpha val="40000"/>
            </a:schemeClr>
          </a:solidFill>
          <a:ln/>
        </p:spPr>
      </p:sp>
      <p:sp>
        <p:nvSpPr>
          <p:cNvPr id="13" name="Decorative tile 8"/>
          <p:cNvSpPr/>
          <p:nvPr/>
        </p:nvSpPr>
        <p:spPr>
          <a:xfrm>
            <a:off x="9326880" y="3931920"/>
            <a:ext cx="1051560" cy="1051560"/>
          </a:xfrm>
          <a:prstGeom prst="roundRect">
            <a:avLst>
              <a:gd name="adj" fmla="val 12174"/>
            </a:avLst>
          </a:prstGeom>
          <a:solidFill>
            <a:schemeClr val="accent1">
              <a:alpha val="45000"/>
            </a:schemeClr>
          </a:solidFill>
          <a:ln/>
        </p:spPr>
      </p:sp>
      <p:sp>
        <p:nvSpPr>
          <p:cNvPr id="14" name="Decorative tile 9"/>
          <p:cNvSpPr/>
          <p:nvPr/>
        </p:nvSpPr>
        <p:spPr>
          <a:xfrm>
            <a:off x="10515600" y="3931920"/>
            <a:ext cx="1051560" cy="1051560"/>
          </a:xfrm>
          <a:prstGeom prst="roundRect">
            <a:avLst>
              <a:gd name="adj" fmla="val 12174"/>
            </a:avLst>
          </a:prstGeom>
          <a:solidFill>
            <a:schemeClr val="accent2">
              <a:alpha val="65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Day One: two parts, six modules</a:t>
            </a:r>
            <a:endParaRPr lang="en-US" sz="3200" dirty="0"/>
          </a:p>
        </p:txBody>
      </p:sp>
      <p:sp>
        <p:nvSpPr>
          <p:cNvPr id="5" name="Part 01 panel"/>
          <p:cNvSpPr/>
          <p:nvPr/>
        </p:nvSpPr>
        <p:spPr>
          <a:xfrm>
            <a:off x="548640" y="1783080"/>
            <a:ext cx="5440680" cy="3657600"/>
          </a:xfrm>
          <a:prstGeom prst="roundRect">
            <a:avLst>
              <a:gd name="adj" fmla="val 3000"/>
            </a:avLst>
          </a:prstGeom>
          <a:solidFill>
            <a:schemeClr val="bg2"/>
          </a:solidFill>
          <a:ln/>
        </p:spPr>
      </p:sp>
      <p:sp>
        <p:nvSpPr>
          <p:cNvPr id="6" name="Part number"/>
          <p:cNvSpPr txBox="1"/>
          <p:nvPr/>
        </p:nvSpPr>
        <p:spPr>
          <a:xfrm>
            <a:off x="822960" y="1920240"/>
            <a:ext cx="914400" cy="54864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01</a:t>
            </a:r>
            <a:endParaRPr lang="en-US" sz="3600" dirty="0"/>
          </a:p>
        </p:txBody>
      </p:sp>
      <p:sp>
        <p:nvSpPr>
          <p:cNvPr id="7" name="Part title"/>
          <p:cNvSpPr txBox="1"/>
          <p:nvPr/>
        </p:nvSpPr>
        <p:spPr>
          <a:xfrm>
            <a:off x="1737360" y="1938528"/>
            <a:ext cx="402336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Fabric Foundations &amp; Architecture</a:t>
            </a:r>
            <a:endParaRPr lang="en-US" sz="1800" dirty="0"/>
          </a:p>
        </p:txBody>
      </p:sp>
      <p:sp>
        <p:nvSpPr>
          <p:cNvPr id="8" name="Part subtitle"/>
          <p:cNvSpPr txBox="1"/>
          <p:nvPr/>
        </p:nvSpPr>
        <p:spPr>
          <a:xfrm>
            <a:off x="1737360" y="2331720"/>
            <a:ext cx="4069080" cy="457200"/>
          </a:xfrm>
          <a:prstGeom prst="rect">
            <a:avLst/>
          </a:prstGeom>
          <a:noFill/>
          <a:ln/>
        </p:spPr>
        <p:txBody>
          <a:bodyPr wrap="square" lIns="0" tIns="0" rIns="0" bIns="0" rtlCol="0" anchor="t"/>
          <a:lstStyle/>
          <a:p>
            <a:pPr indent="0" marL="0">
              <a:buNone/>
            </a:pPr>
            <a:r>
              <a:rPr lang="en-US" sz="1250" dirty="0">
                <a:solidFill>
                  <a:schemeClr val="tx1">
                    <a:alpha val="75000"/>
                  </a:schemeClr>
                </a:solidFill>
              </a:rPr>
              <a:t>Common ground for a room that mixes tax professionals with technologists.</a:t>
            </a:r>
            <a:endParaRPr lang="en-US" sz="1250" dirty="0"/>
          </a:p>
        </p:txBody>
      </p:sp>
      <p:sp>
        <p:nvSpPr>
          <p:cNvPr id="9" name="Module chip"/>
          <p:cNvSpPr/>
          <p:nvPr/>
        </p:nvSpPr>
        <p:spPr>
          <a:xfrm>
            <a:off x="822960" y="3072384"/>
            <a:ext cx="457200" cy="457200"/>
          </a:xfrm>
          <a:prstGeom prst="roundRect">
            <a:avLst>
              <a:gd name="adj" fmla="val 16000"/>
            </a:avLst>
          </a:prstGeom>
          <a:solidFill>
            <a:schemeClr val="bg1"/>
          </a:solidFill>
          <a:ln/>
        </p:spPr>
      </p:sp>
      <p:sp>
        <p:nvSpPr>
          <p:cNvPr id="10" name="Module number"/>
          <p:cNvSpPr txBox="1"/>
          <p:nvPr/>
        </p:nvSpPr>
        <p:spPr>
          <a:xfrm>
            <a:off x="822960" y="3072384"/>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1</a:t>
            </a:r>
            <a:endParaRPr lang="en-US" sz="1800" dirty="0"/>
          </a:p>
        </p:txBody>
      </p:sp>
      <p:sp>
        <p:nvSpPr>
          <p:cNvPr id="11" name="Module name"/>
          <p:cNvSpPr txBox="1"/>
          <p:nvPr/>
        </p:nvSpPr>
        <p:spPr>
          <a:xfrm>
            <a:off x="1463040" y="3017520"/>
            <a:ext cx="4297680" cy="274320"/>
          </a:xfrm>
          <a:prstGeom prst="rect">
            <a:avLst/>
          </a:prstGeom>
          <a:noFill/>
          <a:ln/>
        </p:spPr>
        <p:txBody>
          <a:bodyPr wrap="square" lIns="0" tIns="0" rIns="0" bIns="0" rtlCol="0" anchor="t"/>
          <a:lstStyle/>
          <a:p>
            <a:pPr indent="0" marL="0">
              <a:buNone/>
            </a:pPr>
            <a:r>
              <a:rPr lang="en-US" sz="1600" b="1" dirty="0">
                <a:solidFill>
                  <a:schemeClr val="tx1"/>
                </a:solidFill>
              </a:rPr>
              <a:t>Fabric at Disney</a:t>
            </a:r>
            <a:endParaRPr lang="en-US" sz="1600" dirty="0"/>
          </a:p>
        </p:txBody>
      </p:sp>
      <p:sp>
        <p:nvSpPr>
          <p:cNvPr id="12" name="Module description"/>
          <p:cNvSpPr txBox="1"/>
          <p:nvPr/>
        </p:nvSpPr>
        <p:spPr>
          <a:xfrm>
            <a:off x="1463040" y="3310128"/>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The environment your team works in, and how it is set up</a:t>
            </a:r>
            <a:endParaRPr lang="en-US" sz="1300" dirty="0"/>
          </a:p>
        </p:txBody>
      </p:sp>
      <p:sp>
        <p:nvSpPr>
          <p:cNvPr id="13" name="Module chip"/>
          <p:cNvSpPr/>
          <p:nvPr/>
        </p:nvSpPr>
        <p:spPr>
          <a:xfrm>
            <a:off x="822960" y="3877056"/>
            <a:ext cx="457200" cy="457200"/>
          </a:xfrm>
          <a:prstGeom prst="roundRect">
            <a:avLst>
              <a:gd name="adj" fmla="val 16000"/>
            </a:avLst>
          </a:prstGeom>
          <a:solidFill>
            <a:schemeClr val="bg1"/>
          </a:solidFill>
          <a:ln/>
        </p:spPr>
      </p:sp>
      <p:sp>
        <p:nvSpPr>
          <p:cNvPr id="14" name="Module number"/>
          <p:cNvSpPr txBox="1"/>
          <p:nvPr/>
        </p:nvSpPr>
        <p:spPr>
          <a:xfrm>
            <a:off x="822960" y="3877056"/>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2</a:t>
            </a:r>
            <a:endParaRPr lang="en-US" sz="1800" dirty="0"/>
          </a:p>
        </p:txBody>
      </p:sp>
      <p:sp>
        <p:nvSpPr>
          <p:cNvPr id="15" name="Module name"/>
          <p:cNvSpPr txBox="1"/>
          <p:nvPr/>
        </p:nvSpPr>
        <p:spPr>
          <a:xfrm>
            <a:off x="1463040" y="3822192"/>
            <a:ext cx="4297680" cy="274320"/>
          </a:xfrm>
          <a:prstGeom prst="rect">
            <a:avLst/>
          </a:prstGeom>
          <a:noFill/>
          <a:ln/>
        </p:spPr>
        <p:txBody>
          <a:bodyPr wrap="square" lIns="0" tIns="0" rIns="0" bIns="0" rtlCol="0" anchor="t"/>
          <a:lstStyle/>
          <a:p>
            <a:pPr indent="0" marL="0">
              <a:buNone/>
            </a:pPr>
            <a:r>
              <a:rPr lang="en-US" sz="1600" b="1" dirty="0">
                <a:solidFill>
                  <a:schemeClr val="tx1"/>
                </a:solidFill>
              </a:rPr>
              <a:t>Migration strategy</a:t>
            </a:r>
            <a:endParaRPr lang="en-US" sz="1600" dirty="0"/>
          </a:p>
        </p:txBody>
      </p:sp>
      <p:sp>
        <p:nvSpPr>
          <p:cNvPr id="16" name="Module description"/>
          <p:cNvSpPr txBox="1"/>
          <p:nvPr/>
        </p:nvSpPr>
        <p:spPr>
          <a:xfrm>
            <a:off x="1463040" y="4114800"/>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How the Alteryx estate moves across, with terms mapped back</a:t>
            </a:r>
            <a:endParaRPr lang="en-US" sz="1300" dirty="0"/>
          </a:p>
        </p:txBody>
      </p:sp>
      <p:sp>
        <p:nvSpPr>
          <p:cNvPr id="17" name="Module chip"/>
          <p:cNvSpPr/>
          <p:nvPr/>
        </p:nvSpPr>
        <p:spPr>
          <a:xfrm>
            <a:off x="822960" y="4681728"/>
            <a:ext cx="457200" cy="457200"/>
          </a:xfrm>
          <a:prstGeom prst="roundRect">
            <a:avLst>
              <a:gd name="adj" fmla="val 16000"/>
            </a:avLst>
          </a:prstGeom>
          <a:solidFill>
            <a:schemeClr val="bg1"/>
          </a:solidFill>
          <a:ln/>
        </p:spPr>
      </p:sp>
      <p:sp>
        <p:nvSpPr>
          <p:cNvPr id="18" name="Module number"/>
          <p:cNvSpPr txBox="1"/>
          <p:nvPr/>
        </p:nvSpPr>
        <p:spPr>
          <a:xfrm>
            <a:off x="822960" y="4681728"/>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3</a:t>
            </a:r>
            <a:endParaRPr lang="en-US" sz="1800" dirty="0"/>
          </a:p>
        </p:txBody>
      </p:sp>
      <p:sp>
        <p:nvSpPr>
          <p:cNvPr id="19" name="Module name"/>
          <p:cNvSpPr txBox="1"/>
          <p:nvPr/>
        </p:nvSpPr>
        <p:spPr>
          <a:xfrm>
            <a:off x="1463040" y="4626864"/>
            <a:ext cx="4297680" cy="274320"/>
          </a:xfrm>
          <a:prstGeom prst="rect">
            <a:avLst/>
          </a:prstGeom>
          <a:noFill/>
          <a:ln/>
        </p:spPr>
        <p:txBody>
          <a:bodyPr wrap="square" lIns="0" tIns="0" rIns="0" bIns="0" rtlCol="0" anchor="t"/>
          <a:lstStyle/>
          <a:p>
            <a:pPr indent="0" marL="0">
              <a:buNone/>
            </a:pPr>
            <a:r>
              <a:rPr lang="en-US" sz="1600" b="1" dirty="0">
                <a:solidFill>
                  <a:schemeClr val="tx1"/>
                </a:solidFill>
              </a:rPr>
              <a:t>Lakehouse and OneLake</a:t>
            </a:r>
            <a:endParaRPr lang="en-US" sz="1600" dirty="0"/>
          </a:p>
        </p:txBody>
      </p:sp>
      <p:sp>
        <p:nvSpPr>
          <p:cNvPr id="20" name="Module description"/>
          <p:cNvSpPr txBox="1"/>
          <p:nvPr/>
        </p:nvSpPr>
        <p:spPr>
          <a:xfrm>
            <a:off x="1463040" y="4919472"/>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Workspaces, tables, shortcuts and data organisation</a:t>
            </a:r>
            <a:endParaRPr lang="en-US" sz="1300" dirty="0"/>
          </a:p>
        </p:txBody>
      </p:sp>
      <p:sp>
        <p:nvSpPr>
          <p:cNvPr id="21" name="Part 02 panel"/>
          <p:cNvSpPr/>
          <p:nvPr/>
        </p:nvSpPr>
        <p:spPr>
          <a:xfrm>
            <a:off x="6126480" y="1783080"/>
            <a:ext cx="5440680" cy="3657600"/>
          </a:xfrm>
          <a:prstGeom prst="roundRect">
            <a:avLst>
              <a:gd name="adj" fmla="val 3000"/>
            </a:avLst>
          </a:prstGeom>
          <a:solidFill>
            <a:schemeClr val="bg2"/>
          </a:solidFill>
          <a:ln/>
        </p:spPr>
      </p:sp>
      <p:sp>
        <p:nvSpPr>
          <p:cNvPr id="22" name="Part number"/>
          <p:cNvSpPr txBox="1"/>
          <p:nvPr/>
        </p:nvSpPr>
        <p:spPr>
          <a:xfrm>
            <a:off x="6400800" y="1920240"/>
            <a:ext cx="914400" cy="54864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02</a:t>
            </a:r>
            <a:endParaRPr lang="en-US" sz="3600" dirty="0"/>
          </a:p>
        </p:txBody>
      </p:sp>
      <p:sp>
        <p:nvSpPr>
          <p:cNvPr id="23" name="Part title"/>
          <p:cNvSpPr txBox="1"/>
          <p:nvPr/>
        </p:nvSpPr>
        <p:spPr>
          <a:xfrm>
            <a:off x="7315200" y="1938528"/>
            <a:ext cx="402336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SQL, Python &amp; Data Concepts</a:t>
            </a:r>
            <a:endParaRPr lang="en-US" sz="1800" dirty="0"/>
          </a:p>
        </p:txBody>
      </p:sp>
      <p:sp>
        <p:nvSpPr>
          <p:cNvPr id="24" name="Part subtitle"/>
          <p:cNvSpPr txBox="1"/>
          <p:nvPr/>
        </p:nvSpPr>
        <p:spPr>
          <a:xfrm>
            <a:off x="7315200" y="2331720"/>
            <a:ext cx="4069080" cy="457200"/>
          </a:xfrm>
          <a:prstGeom prst="rect">
            <a:avLst/>
          </a:prstGeom>
          <a:noFill/>
          <a:ln/>
        </p:spPr>
        <p:txBody>
          <a:bodyPr wrap="square" lIns="0" tIns="0" rIns="0" bIns="0" rtlCol="0" anchor="t"/>
          <a:lstStyle/>
          <a:p>
            <a:pPr indent="0" marL="0">
              <a:buNone/>
            </a:pPr>
            <a:r>
              <a:rPr lang="en-US" sz="1250" dirty="0">
                <a:solidFill>
                  <a:schemeClr val="tx1">
                    <a:alpha val="75000"/>
                  </a:schemeClr>
                </a:solidFill>
              </a:rPr>
              <a:t>The technical baseline, pitched for non-developers. Exercises throughout.</a:t>
            </a:r>
            <a:endParaRPr lang="en-US" sz="1250" dirty="0"/>
          </a:p>
        </p:txBody>
      </p:sp>
      <p:sp>
        <p:nvSpPr>
          <p:cNvPr id="25" name="Module chip"/>
          <p:cNvSpPr/>
          <p:nvPr/>
        </p:nvSpPr>
        <p:spPr>
          <a:xfrm>
            <a:off x="6400800" y="3072384"/>
            <a:ext cx="457200" cy="457200"/>
          </a:xfrm>
          <a:prstGeom prst="roundRect">
            <a:avLst>
              <a:gd name="adj" fmla="val 16000"/>
            </a:avLst>
          </a:prstGeom>
          <a:solidFill>
            <a:schemeClr val="bg1"/>
          </a:solidFill>
          <a:ln/>
        </p:spPr>
      </p:sp>
      <p:sp>
        <p:nvSpPr>
          <p:cNvPr id="26" name="Module number"/>
          <p:cNvSpPr txBox="1"/>
          <p:nvPr/>
        </p:nvSpPr>
        <p:spPr>
          <a:xfrm>
            <a:off x="6400800" y="3072384"/>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1</a:t>
            </a:r>
            <a:endParaRPr lang="en-US" sz="1800" dirty="0"/>
          </a:p>
        </p:txBody>
      </p:sp>
      <p:sp>
        <p:nvSpPr>
          <p:cNvPr id="27" name="Module name"/>
          <p:cNvSpPr txBox="1"/>
          <p:nvPr/>
        </p:nvSpPr>
        <p:spPr>
          <a:xfrm>
            <a:off x="7040880" y="3017520"/>
            <a:ext cx="4297680" cy="274320"/>
          </a:xfrm>
          <a:prstGeom prst="rect">
            <a:avLst/>
          </a:prstGeom>
          <a:noFill/>
          <a:ln/>
        </p:spPr>
        <p:txBody>
          <a:bodyPr wrap="square" lIns="0" tIns="0" rIns="0" bIns="0" rtlCol="0" anchor="t"/>
          <a:lstStyle/>
          <a:p>
            <a:pPr indent="0" marL="0">
              <a:buNone/>
            </a:pPr>
            <a:r>
              <a:rPr lang="en-US" sz="1600" b="1" dirty="0">
                <a:solidFill>
                  <a:schemeClr val="tx1"/>
                </a:solidFill>
              </a:rPr>
              <a:t>SQL fundamentals</a:t>
            </a:r>
            <a:endParaRPr lang="en-US" sz="1600" dirty="0"/>
          </a:p>
        </p:txBody>
      </p:sp>
      <p:sp>
        <p:nvSpPr>
          <p:cNvPr id="28" name="Module description"/>
          <p:cNvSpPr txBox="1"/>
          <p:nvPr/>
        </p:nvSpPr>
        <p:spPr>
          <a:xfrm>
            <a:off x="7040880" y="3310128"/>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Querying concepts and basic data modelling</a:t>
            </a:r>
            <a:endParaRPr lang="en-US" sz="1300" dirty="0"/>
          </a:p>
        </p:txBody>
      </p:sp>
      <p:sp>
        <p:nvSpPr>
          <p:cNvPr id="29" name="Module chip"/>
          <p:cNvSpPr/>
          <p:nvPr/>
        </p:nvSpPr>
        <p:spPr>
          <a:xfrm>
            <a:off x="6400800" y="3877056"/>
            <a:ext cx="457200" cy="457200"/>
          </a:xfrm>
          <a:prstGeom prst="roundRect">
            <a:avLst>
              <a:gd name="adj" fmla="val 16000"/>
            </a:avLst>
          </a:prstGeom>
          <a:solidFill>
            <a:schemeClr val="bg1"/>
          </a:solidFill>
          <a:ln/>
        </p:spPr>
      </p:sp>
      <p:sp>
        <p:nvSpPr>
          <p:cNvPr id="30" name="Module number"/>
          <p:cNvSpPr txBox="1"/>
          <p:nvPr/>
        </p:nvSpPr>
        <p:spPr>
          <a:xfrm>
            <a:off x="6400800" y="3877056"/>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2</a:t>
            </a:r>
            <a:endParaRPr lang="en-US" sz="1800" dirty="0"/>
          </a:p>
        </p:txBody>
      </p:sp>
      <p:sp>
        <p:nvSpPr>
          <p:cNvPr id="31" name="Module name"/>
          <p:cNvSpPr txBox="1"/>
          <p:nvPr/>
        </p:nvSpPr>
        <p:spPr>
          <a:xfrm>
            <a:off x="7040880" y="3822192"/>
            <a:ext cx="4297680" cy="274320"/>
          </a:xfrm>
          <a:prstGeom prst="rect">
            <a:avLst/>
          </a:prstGeom>
          <a:noFill/>
          <a:ln/>
        </p:spPr>
        <p:txBody>
          <a:bodyPr wrap="square" lIns="0" tIns="0" rIns="0" bIns="0" rtlCol="0" anchor="t"/>
          <a:lstStyle/>
          <a:p>
            <a:pPr indent="0" marL="0">
              <a:buNone/>
            </a:pPr>
            <a:r>
              <a:rPr lang="en-US" sz="1600" b="1" dirty="0">
                <a:solidFill>
                  <a:schemeClr val="tx1"/>
                </a:solidFill>
              </a:rPr>
              <a:t>Python fundamentals</a:t>
            </a:r>
            <a:endParaRPr lang="en-US" sz="1600" dirty="0"/>
          </a:p>
        </p:txBody>
      </p:sp>
      <p:sp>
        <p:nvSpPr>
          <p:cNvPr id="32" name="Module description"/>
          <p:cNvSpPr txBox="1"/>
          <p:nvPr/>
        </p:nvSpPr>
        <p:spPr>
          <a:xfrm>
            <a:off x="7040880" y="4114800"/>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Python basics and working with data in Fabric</a:t>
            </a:r>
            <a:endParaRPr lang="en-US" sz="1300" dirty="0"/>
          </a:p>
        </p:txBody>
      </p:sp>
      <p:sp>
        <p:nvSpPr>
          <p:cNvPr id="33" name="Module chip"/>
          <p:cNvSpPr/>
          <p:nvPr/>
        </p:nvSpPr>
        <p:spPr>
          <a:xfrm>
            <a:off x="6400800" y="4681728"/>
            <a:ext cx="457200" cy="457200"/>
          </a:xfrm>
          <a:prstGeom prst="roundRect">
            <a:avLst>
              <a:gd name="adj" fmla="val 16000"/>
            </a:avLst>
          </a:prstGeom>
          <a:solidFill>
            <a:schemeClr val="bg1"/>
          </a:solidFill>
          <a:ln/>
        </p:spPr>
      </p:sp>
      <p:sp>
        <p:nvSpPr>
          <p:cNvPr id="34" name="Module number"/>
          <p:cNvSpPr txBox="1"/>
          <p:nvPr/>
        </p:nvSpPr>
        <p:spPr>
          <a:xfrm>
            <a:off x="6400800" y="4681728"/>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3</a:t>
            </a:r>
            <a:endParaRPr lang="en-US" sz="1800" dirty="0"/>
          </a:p>
        </p:txBody>
      </p:sp>
      <p:sp>
        <p:nvSpPr>
          <p:cNvPr id="35" name="Module name"/>
          <p:cNvSpPr txBox="1"/>
          <p:nvPr/>
        </p:nvSpPr>
        <p:spPr>
          <a:xfrm>
            <a:off x="7040880" y="4626864"/>
            <a:ext cx="4297680" cy="274320"/>
          </a:xfrm>
          <a:prstGeom prst="rect">
            <a:avLst/>
          </a:prstGeom>
          <a:noFill/>
          <a:ln/>
        </p:spPr>
        <p:txBody>
          <a:bodyPr wrap="square" lIns="0" tIns="0" rIns="0" bIns="0" rtlCol="0" anchor="t"/>
          <a:lstStyle/>
          <a:p>
            <a:pPr indent="0" marL="0">
              <a:buNone/>
            </a:pPr>
            <a:r>
              <a:rPr lang="en-US" sz="1600" b="1" dirty="0">
                <a:solidFill>
                  <a:schemeClr val="tx1"/>
                </a:solidFill>
              </a:rPr>
              <a:t>Medallion architecture</a:t>
            </a:r>
            <a:endParaRPr lang="en-US" sz="1600" dirty="0"/>
          </a:p>
        </p:txBody>
      </p:sp>
      <p:sp>
        <p:nvSpPr>
          <p:cNvPr id="36" name="Module description"/>
          <p:cNvSpPr txBox="1"/>
          <p:nvPr/>
        </p:nvSpPr>
        <p:spPr>
          <a:xfrm>
            <a:off x="7040880" y="4919472"/>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Bronze, silver and gold layers, and what belongs at each</a:t>
            </a:r>
            <a:endParaRPr lang="en-US" sz="1300" dirty="0"/>
          </a:p>
        </p:txBody>
      </p:sp>
      <p:sp>
        <p:nvSpPr>
          <p:cNvPr id="37" name="Takeaway"/>
          <p:cNvSpPr txBox="1"/>
          <p:nvPr/>
        </p:nvSpPr>
        <p:spPr>
          <a:xfrm>
            <a:off x="548640" y="5596128"/>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Day Two builds in Fabric and Day Three ships to production. Today is the shared vocabulary for both.</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By the end of the day you can do six things</a:t>
            </a:r>
            <a:endParaRPr lang="en-US" sz="3200" dirty="0"/>
          </a:p>
        </p:txBody>
      </p:sp>
      <p:sp>
        <p:nvSpPr>
          <p:cNvPr id="5" name="Outcome card 1"/>
          <p:cNvSpPr/>
          <p:nvPr/>
        </p:nvSpPr>
        <p:spPr>
          <a:xfrm>
            <a:off x="548640" y="1783080"/>
            <a:ext cx="3593592" cy="1874520"/>
          </a:xfrm>
          <a:prstGeom prst="roundRect">
            <a:avLst>
              <a:gd name="adj" fmla="val 5854"/>
            </a:avLst>
          </a:prstGeom>
          <a:solidFill>
            <a:schemeClr val="bg2"/>
          </a:solidFill>
          <a:ln/>
        </p:spPr>
      </p:sp>
      <p:sp>
        <p:nvSpPr>
          <p:cNvPr id="6" name="Find your way around badge"/>
          <p:cNvSpPr/>
          <p:nvPr/>
        </p:nvSpPr>
        <p:spPr>
          <a:xfrm>
            <a:off x="804672" y="2020824"/>
            <a:ext cx="566928" cy="566928"/>
          </a:xfrm>
          <a:prstGeom prst="ellipse">
            <a:avLst/>
          </a:prstGeom>
          <a:solidFill>
            <a:schemeClr val="accent1"/>
          </a:solidFill>
          <a:ln/>
        </p:spPr>
      </p:sp>
      <p:pic>
        <p:nvPicPr>
          <p:cNvPr id="7" name="Image 0" descr="Find your way around icon">    </p:cNvPr>
          <p:cNvPicPr>
            <a:picLocks noChangeAspect="1"/>
          </p:cNvPicPr>
          <p:nvPr/>
        </p:nvPicPr>
        <p:blipFill>
          <a:blip r:embed="rId1"/>
          <a:stretch>
            <a:fillRect/>
          </a:stretch>
        </p:blipFill>
        <p:spPr>
          <a:xfrm>
            <a:off x="946404" y="2162556"/>
            <a:ext cx="283464" cy="283464"/>
          </a:xfrm>
          <a:prstGeom prst="rect">
            <a:avLst/>
          </a:prstGeom>
        </p:spPr>
      </p:pic>
      <p:sp>
        <p:nvSpPr>
          <p:cNvPr id="8" name="Module label"/>
          <p:cNvSpPr txBox="1"/>
          <p:nvPr/>
        </p:nvSpPr>
        <p:spPr>
          <a:xfrm>
            <a:off x="1508760" y="2057400"/>
            <a:ext cx="246888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FABRIC AT DISNEY</a:t>
            </a:r>
            <a:endParaRPr lang="en-US" sz="1000" dirty="0"/>
          </a:p>
        </p:txBody>
      </p:sp>
      <p:sp>
        <p:nvSpPr>
          <p:cNvPr id="9" name="Outcome title"/>
          <p:cNvSpPr txBox="1"/>
          <p:nvPr/>
        </p:nvSpPr>
        <p:spPr>
          <a:xfrm>
            <a:off x="80467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Find your way around</a:t>
            </a:r>
            <a:endParaRPr lang="en-US" sz="1800" dirty="0"/>
          </a:p>
        </p:txBody>
      </p:sp>
      <p:sp>
        <p:nvSpPr>
          <p:cNvPr id="10" name="Outcome text"/>
          <p:cNvSpPr txBox="1"/>
          <p:nvPr/>
        </p:nvSpPr>
        <p:spPr>
          <a:xfrm>
            <a:off x="80467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Name the parts of Disney's Fabric environment and where your work lives.</a:t>
            </a:r>
            <a:endParaRPr lang="en-US" sz="1300" dirty="0"/>
          </a:p>
        </p:txBody>
      </p:sp>
      <p:sp>
        <p:nvSpPr>
          <p:cNvPr id="11" name="Outcome card 2"/>
          <p:cNvSpPr/>
          <p:nvPr/>
        </p:nvSpPr>
        <p:spPr>
          <a:xfrm>
            <a:off x="4297680" y="1783080"/>
            <a:ext cx="3593592" cy="1874520"/>
          </a:xfrm>
          <a:prstGeom prst="roundRect">
            <a:avLst>
              <a:gd name="adj" fmla="val 5854"/>
            </a:avLst>
          </a:prstGeom>
          <a:solidFill>
            <a:schemeClr val="bg2"/>
          </a:solidFill>
          <a:ln/>
        </p:spPr>
      </p:sp>
      <p:sp>
        <p:nvSpPr>
          <p:cNvPr id="12" name="Translate from Alteryx badge"/>
          <p:cNvSpPr/>
          <p:nvPr/>
        </p:nvSpPr>
        <p:spPr>
          <a:xfrm>
            <a:off x="4553712" y="2020824"/>
            <a:ext cx="566928" cy="566928"/>
          </a:xfrm>
          <a:prstGeom prst="ellipse">
            <a:avLst/>
          </a:prstGeom>
          <a:solidFill>
            <a:schemeClr val="accent1"/>
          </a:solidFill>
          <a:ln/>
        </p:spPr>
      </p:sp>
      <p:pic>
        <p:nvPicPr>
          <p:cNvPr id="13" name="Image 1" descr="Translate from Alteryx icon">    </p:cNvPr>
          <p:cNvPicPr>
            <a:picLocks noChangeAspect="1"/>
          </p:cNvPicPr>
          <p:nvPr/>
        </p:nvPicPr>
        <p:blipFill>
          <a:blip r:embed="rId2"/>
          <a:stretch>
            <a:fillRect/>
          </a:stretch>
        </p:blipFill>
        <p:spPr>
          <a:xfrm>
            <a:off x="4695444" y="2162556"/>
            <a:ext cx="283464" cy="283464"/>
          </a:xfrm>
          <a:prstGeom prst="rect">
            <a:avLst/>
          </a:prstGeom>
        </p:spPr>
      </p:pic>
      <p:sp>
        <p:nvSpPr>
          <p:cNvPr id="14" name="Module label"/>
          <p:cNvSpPr txBox="1"/>
          <p:nvPr/>
        </p:nvSpPr>
        <p:spPr>
          <a:xfrm>
            <a:off x="5257800" y="2057400"/>
            <a:ext cx="246888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MIGRATION STRATEGY</a:t>
            </a:r>
            <a:endParaRPr lang="en-US" sz="1000" dirty="0"/>
          </a:p>
        </p:txBody>
      </p:sp>
      <p:sp>
        <p:nvSpPr>
          <p:cNvPr id="15" name="Outcome title"/>
          <p:cNvSpPr txBox="1"/>
          <p:nvPr/>
        </p:nvSpPr>
        <p:spPr>
          <a:xfrm>
            <a:off x="455371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Translate from Alteryx</a:t>
            </a:r>
            <a:endParaRPr lang="en-US" sz="1800" dirty="0"/>
          </a:p>
        </p:txBody>
      </p:sp>
      <p:sp>
        <p:nvSpPr>
          <p:cNvPr id="16" name="Outcome text"/>
          <p:cNvSpPr txBox="1"/>
          <p:nvPr/>
        </p:nvSpPr>
        <p:spPr>
          <a:xfrm>
            <a:off x="455371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Map the Alteryx tools and terms you know to their Fabric equivalents.</a:t>
            </a:r>
            <a:endParaRPr lang="en-US" sz="1300" dirty="0"/>
          </a:p>
        </p:txBody>
      </p:sp>
      <p:sp>
        <p:nvSpPr>
          <p:cNvPr id="17" name="Outcome card 3"/>
          <p:cNvSpPr/>
          <p:nvPr/>
        </p:nvSpPr>
        <p:spPr>
          <a:xfrm>
            <a:off x="8046720" y="1783080"/>
            <a:ext cx="3593592" cy="1874520"/>
          </a:xfrm>
          <a:prstGeom prst="roundRect">
            <a:avLst>
              <a:gd name="adj" fmla="val 5854"/>
            </a:avLst>
          </a:prstGeom>
          <a:solidFill>
            <a:schemeClr val="bg2"/>
          </a:solidFill>
          <a:ln/>
        </p:spPr>
      </p:sp>
      <p:sp>
        <p:nvSpPr>
          <p:cNvPr id="18" name="Explain OneLake badge"/>
          <p:cNvSpPr/>
          <p:nvPr/>
        </p:nvSpPr>
        <p:spPr>
          <a:xfrm>
            <a:off x="8302752" y="2020824"/>
            <a:ext cx="566928" cy="566928"/>
          </a:xfrm>
          <a:prstGeom prst="ellipse">
            <a:avLst/>
          </a:prstGeom>
          <a:solidFill>
            <a:schemeClr val="accent1"/>
          </a:solidFill>
          <a:ln/>
        </p:spPr>
      </p:sp>
      <p:pic>
        <p:nvPicPr>
          <p:cNvPr id="19" name="Image 2" descr="Explain OneLake icon">    </p:cNvPr>
          <p:cNvPicPr>
            <a:picLocks noChangeAspect="1"/>
          </p:cNvPicPr>
          <p:nvPr/>
        </p:nvPicPr>
        <p:blipFill>
          <a:blip r:embed="rId3"/>
          <a:stretch>
            <a:fillRect/>
          </a:stretch>
        </p:blipFill>
        <p:spPr>
          <a:xfrm>
            <a:off x="8444484" y="2162556"/>
            <a:ext cx="283464" cy="283464"/>
          </a:xfrm>
          <a:prstGeom prst="rect">
            <a:avLst/>
          </a:prstGeom>
        </p:spPr>
      </p:pic>
      <p:sp>
        <p:nvSpPr>
          <p:cNvPr id="20" name="Module label"/>
          <p:cNvSpPr txBox="1"/>
          <p:nvPr/>
        </p:nvSpPr>
        <p:spPr>
          <a:xfrm>
            <a:off x="9006840" y="2057400"/>
            <a:ext cx="246888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LAKEHOUSE AND ONELAKE</a:t>
            </a:r>
            <a:endParaRPr lang="en-US" sz="1000" dirty="0"/>
          </a:p>
        </p:txBody>
      </p:sp>
      <p:sp>
        <p:nvSpPr>
          <p:cNvPr id="21" name="Outcome title"/>
          <p:cNvSpPr txBox="1"/>
          <p:nvPr/>
        </p:nvSpPr>
        <p:spPr>
          <a:xfrm>
            <a:off x="830275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Explain OneLake</a:t>
            </a:r>
            <a:endParaRPr lang="en-US" sz="1800" dirty="0"/>
          </a:p>
        </p:txBody>
      </p:sp>
      <p:sp>
        <p:nvSpPr>
          <p:cNvPr id="22" name="Outcome text"/>
          <p:cNvSpPr txBox="1"/>
          <p:nvPr/>
        </p:nvSpPr>
        <p:spPr>
          <a:xfrm>
            <a:off x="830275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Describe how workspaces, lakehouses, tables and shortcuts fit together.</a:t>
            </a:r>
            <a:endParaRPr lang="en-US" sz="1300" dirty="0"/>
          </a:p>
        </p:txBody>
      </p:sp>
      <p:sp>
        <p:nvSpPr>
          <p:cNvPr id="23" name="Outcome card 4"/>
          <p:cNvSpPr/>
          <p:nvPr/>
        </p:nvSpPr>
        <p:spPr>
          <a:xfrm>
            <a:off x="548640" y="3794760"/>
            <a:ext cx="3593592" cy="1874520"/>
          </a:xfrm>
          <a:prstGeom prst="roundRect">
            <a:avLst>
              <a:gd name="adj" fmla="val 5854"/>
            </a:avLst>
          </a:prstGeom>
          <a:solidFill>
            <a:schemeClr val="bg2"/>
          </a:solidFill>
          <a:ln/>
        </p:spPr>
      </p:sp>
      <p:sp>
        <p:nvSpPr>
          <p:cNvPr id="24" name="Read and write SQL badge"/>
          <p:cNvSpPr/>
          <p:nvPr/>
        </p:nvSpPr>
        <p:spPr>
          <a:xfrm>
            <a:off x="804672" y="4032504"/>
            <a:ext cx="566928" cy="566928"/>
          </a:xfrm>
          <a:prstGeom prst="ellipse">
            <a:avLst/>
          </a:prstGeom>
          <a:solidFill>
            <a:schemeClr val="accent2"/>
          </a:solidFill>
          <a:ln/>
        </p:spPr>
      </p:sp>
      <p:pic>
        <p:nvPicPr>
          <p:cNvPr id="25" name="Image 3" descr="Read and write SQL icon">    </p:cNvPr>
          <p:cNvPicPr>
            <a:picLocks noChangeAspect="1"/>
          </p:cNvPicPr>
          <p:nvPr/>
        </p:nvPicPr>
        <p:blipFill>
          <a:blip r:embed="rId4"/>
          <a:stretch>
            <a:fillRect/>
          </a:stretch>
        </p:blipFill>
        <p:spPr>
          <a:xfrm>
            <a:off x="946404" y="4174236"/>
            <a:ext cx="283464" cy="283464"/>
          </a:xfrm>
          <a:prstGeom prst="rect">
            <a:avLst/>
          </a:prstGeom>
        </p:spPr>
      </p:pic>
      <p:sp>
        <p:nvSpPr>
          <p:cNvPr id="26" name="Module label"/>
          <p:cNvSpPr txBox="1"/>
          <p:nvPr/>
        </p:nvSpPr>
        <p:spPr>
          <a:xfrm>
            <a:off x="1508760" y="4069080"/>
            <a:ext cx="246888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SQL FUNDAMENTALS</a:t>
            </a:r>
            <a:endParaRPr lang="en-US" sz="1000" dirty="0"/>
          </a:p>
        </p:txBody>
      </p:sp>
      <p:sp>
        <p:nvSpPr>
          <p:cNvPr id="27" name="Outcome title"/>
          <p:cNvSpPr txBox="1"/>
          <p:nvPr/>
        </p:nvSpPr>
        <p:spPr>
          <a:xfrm>
            <a:off x="80467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Read and write SQL</a:t>
            </a:r>
            <a:endParaRPr lang="en-US" sz="1800" dirty="0"/>
          </a:p>
        </p:txBody>
      </p:sp>
      <p:sp>
        <p:nvSpPr>
          <p:cNvPr id="28" name="Outcome text"/>
          <p:cNvSpPr txBox="1"/>
          <p:nvPr/>
        </p:nvSpPr>
        <p:spPr>
          <a:xfrm>
            <a:off x="80467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Filter, join and aggregate a table, and spot the NULL trap.</a:t>
            </a:r>
            <a:endParaRPr lang="en-US" sz="1300" dirty="0"/>
          </a:p>
        </p:txBody>
      </p:sp>
      <p:sp>
        <p:nvSpPr>
          <p:cNvPr id="29" name="Outcome card 5"/>
          <p:cNvSpPr/>
          <p:nvPr/>
        </p:nvSpPr>
        <p:spPr>
          <a:xfrm>
            <a:off x="4297680" y="3794760"/>
            <a:ext cx="3593592" cy="1874520"/>
          </a:xfrm>
          <a:prstGeom prst="roundRect">
            <a:avLst>
              <a:gd name="adj" fmla="val 5854"/>
            </a:avLst>
          </a:prstGeom>
          <a:solidFill>
            <a:schemeClr val="bg2"/>
          </a:solidFill>
          <a:ln/>
        </p:spPr>
      </p:sp>
      <p:sp>
        <p:nvSpPr>
          <p:cNvPr id="30" name="Read a Python notebook badge"/>
          <p:cNvSpPr/>
          <p:nvPr/>
        </p:nvSpPr>
        <p:spPr>
          <a:xfrm>
            <a:off x="4553712" y="4032504"/>
            <a:ext cx="566928" cy="566928"/>
          </a:xfrm>
          <a:prstGeom prst="ellipse">
            <a:avLst/>
          </a:prstGeom>
          <a:solidFill>
            <a:schemeClr val="accent2"/>
          </a:solidFill>
          <a:ln/>
        </p:spPr>
      </p:sp>
      <p:pic>
        <p:nvPicPr>
          <p:cNvPr id="31" name="Image 4" descr="Read a Python notebook icon">    </p:cNvPr>
          <p:cNvPicPr>
            <a:picLocks noChangeAspect="1"/>
          </p:cNvPicPr>
          <p:nvPr/>
        </p:nvPicPr>
        <p:blipFill>
          <a:blip r:embed="rId5"/>
          <a:stretch>
            <a:fillRect/>
          </a:stretch>
        </p:blipFill>
        <p:spPr>
          <a:xfrm>
            <a:off x="4695444" y="4174236"/>
            <a:ext cx="283464" cy="283464"/>
          </a:xfrm>
          <a:prstGeom prst="rect">
            <a:avLst/>
          </a:prstGeom>
        </p:spPr>
      </p:pic>
      <p:sp>
        <p:nvSpPr>
          <p:cNvPr id="32" name="Module label"/>
          <p:cNvSpPr txBox="1"/>
          <p:nvPr/>
        </p:nvSpPr>
        <p:spPr>
          <a:xfrm>
            <a:off x="5257800" y="4069080"/>
            <a:ext cx="246888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PYTHON FUNDAMENTALS</a:t>
            </a:r>
            <a:endParaRPr lang="en-US" sz="1000" dirty="0"/>
          </a:p>
        </p:txBody>
      </p:sp>
      <p:sp>
        <p:nvSpPr>
          <p:cNvPr id="33" name="Outcome title"/>
          <p:cNvSpPr txBox="1"/>
          <p:nvPr/>
        </p:nvSpPr>
        <p:spPr>
          <a:xfrm>
            <a:off x="455371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Read a Python notebook</a:t>
            </a:r>
            <a:endParaRPr lang="en-US" sz="1800" dirty="0"/>
          </a:p>
        </p:txBody>
      </p:sp>
      <p:sp>
        <p:nvSpPr>
          <p:cNvPr id="34" name="Outcome text"/>
          <p:cNvSpPr txBox="1"/>
          <p:nvPr/>
        </p:nvSpPr>
        <p:spPr>
          <a:xfrm>
            <a:off x="455371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Follow and adjust notebook code that cleans and reshapes a table.</a:t>
            </a:r>
            <a:endParaRPr lang="en-US" sz="1300" dirty="0"/>
          </a:p>
        </p:txBody>
      </p:sp>
      <p:sp>
        <p:nvSpPr>
          <p:cNvPr id="35" name="Outcome card 6"/>
          <p:cNvSpPr/>
          <p:nvPr/>
        </p:nvSpPr>
        <p:spPr>
          <a:xfrm>
            <a:off x="8046720" y="3794760"/>
            <a:ext cx="3593592" cy="1874520"/>
          </a:xfrm>
          <a:prstGeom prst="roundRect">
            <a:avLst>
              <a:gd name="adj" fmla="val 5854"/>
            </a:avLst>
          </a:prstGeom>
          <a:solidFill>
            <a:schemeClr val="bg2"/>
          </a:solidFill>
          <a:ln/>
        </p:spPr>
      </p:sp>
      <p:sp>
        <p:nvSpPr>
          <p:cNvPr id="36" name="Place data in a layer badge"/>
          <p:cNvSpPr/>
          <p:nvPr/>
        </p:nvSpPr>
        <p:spPr>
          <a:xfrm>
            <a:off x="8302752" y="4032504"/>
            <a:ext cx="566928" cy="566928"/>
          </a:xfrm>
          <a:prstGeom prst="ellipse">
            <a:avLst/>
          </a:prstGeom>
          <a:solidFill>
            <a:schemeClr val="accent2"/>
          </a:solidFill>
          <a:ln/>
        </p:spPr>
      </p:sp>
      <p:pic>
        <p:nvPicPr>
          <p:cNvPr id="37" name="Image 5" descr="Place data in a layer icon">    </p:cNvPr>
          <p:cNvPicPr>
            <a:picLocks noChangeAspect="1"/>
          </p:cNvPicPr>
          <p:nvPr/>
        </p:nvPicPr>
        <p:blipFill>
          <a:blip r:embed="rId6"/>
          <a:stretch>
            <a:fillRect/>
          </a:stretch>
        </p:blipFill>
        <p:spPr>
          <a:xfrm>
            <a:off x="8444484" y="4174236"/>
            <a:ext cx="283464" cy="283464"/>
          </a:xfrm>
          <a:prstGeom prst="rect">
            <a:avLst/>
          </a:prstGeom>
        </p:spPr>
      </p:pic>
      <p:sp>
        <p:nvSpPr>
          <p:cNvPr id="38" name="Module label"/>
          <p:cNvSpPr txBox="1"/>
          <p:nvPr/>
        </p:nvSpPr>
        <p:spPr>
          <a:xfrm>
            <a:off x="9006840" y="4069080"/>
            <a:ext cx="246888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MEDALLION ARCHITECTURE</a:t>
            </a:r>
            <a:endParaRPr lang="en-US" sz="1000" dirty="0"/>
          </a:p>
        </p:txBody>
      </p:sp>
      <p:sp>
        <p:nvSpPr>
          <p:cNvPr id="39" name="Outcome title"/>
          <p:cNvSpPr txBox="1"/>
          <p:nvPr/>
        </p:nvSpPr>
        <p:spPr>
          <a:xfrm>
            <a:off x="830275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Place data in a layer</a:t>
            </a:r>
            <a:endParaRPr lang="en-US" sz="1800" dirty="0"/>
          </a:p>
        </p:txBody>
      </p:sp>
      <p:sp>
        <p:nvSpPr>
          <p:cNvPr id="40" name="Outcome text"/>
          <p:cNvSpPr txBox="1"/>
          <p:nvPr/>
        </p:nvSpPr>
        <p:spPr>
          <a:xfrm>
            <a:off x="830275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Decide whether a step belongs in bronze, silver or gold.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BEFORE WE START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How today works</a:t>
            </a:r>
            <a:endParaRPr lang="en-US" sz="3200" dirty="0"/>
          </a:p>
        </p:txBody>
      </p:sp>
      <p:sp>
        <p:nvSpPr>
          <p:cNvPr id="5" name="Working agreement 1"/>
          <p:cNvSpPr/>
          <p:nvPr/>
        </p:nvSpPr>
        <p:spPr>
          <a:xfrm>
            <a:off x="548640" y="1783080"/>
            <a:ext cx="5760720" cy="1143000"/>
          </a:xfrm>
          <a:prstGeom prst="roundRect">
            <a:avLst>
              <a:gd name="adj" fmla="val 9600"/>
            </a:avLst>
          </a:prstGeom>
          <a:solidFill>
            <a:schemeClr val="bg2"/>
          </a:solidFill>
          <a:ln/>
        </p:spPr>
      </p:sp>
      <p:sp>
        <p:nvSpPr>
          <p:cNvPr id="6" name="Pitched for non-developers badge"/>
          <p:cNvSpPr/>
          <p:nvPr/>
        </p:nvSpPr>
        <p:spPr>
          <a:xfrm>
            <a:off x="777240" y="2075688"/>
            <a:ext cx="548640" cy="548640"/>
          </a:xfrm>
          <a:prstGeom prst="ellipse">
            <a:avLst/>
          </a:prstGeom>
          <a:solidFill>
            <a:schemeClr val="accent1"/>
          </a:solidFill>
          <a:ln/>
        </p:spPr>
      </p:sp>
      <p:pic>
        <p:nvPicPr>
          <p:cNvPr id="7" name="Image 0" descr="Pitched for non-developers icon">    </p:cNvPr>
          <p:cNvPicPr>
            <a:picLocks noChangeAspect="1"/>
          </p:cNvPicPr>
          <p:nvPr/>
        </p:nvPicPr>
        <p:blipFill>
          <a:blip r:embed="rId1"/>
          <a:stretch>
            <a:fillRect/>
          </a:stretch>
        </p:blipFill>
        <p:spPr>
          <a:xfrm>
            <a:off x="914400" y="2212848"/>
            <a:ext cx="274320" cy="274320"/>
          </a:xfrm>
          <a:prstGeom prst="rect">
            <a:avLst/>
          </a:prstGeom>
        </p:spPr>
      </p:pic>
      <p:sp>
        <p:nvSpPr>
          <p:cNvPr id="8" name="Agreement title"/>
          <p:cNvSpPr txBox="1"/>
          <p:nvPr/>
        </p:nvSpPr>
        <p:spPr>
          <a:xfrm>
            <a:off x="1554480" y="1938528"/>
            <a:ext cx="45720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Pitched for non-developers</a:t>
            </a:r>
            <a:endParaRPr lang="en-US" sz="1700" dirty="0"/>
          </a:p>
        </p:txBody>
      </p:sp>
      <p:sp>
        <p:nvSpPr>
          <p:cNvPr id="9" name="Agreement text"/>
          <p:cNvSpPr txBox="1"/>
          <p:nvPr/>
        </p:nvSpPr>
        <p:spPr>
          <a:xfrm>
            <a:off x="1554480" y="2313432"/>
            <a:ext cx="4572000" cy="548640"/>
          </a:xfrm>
          <a:prstGeom prst="rect">
            <a:avLst/>
          </a:prstGeom>
          <a:noFill/>
          <a:ln/>
        </p:spPr>
        <p:txBody>
          <a:bodyPr wrap="square" lIns="0" tIns="0" rIns="0" bIns="0" rtlCol="0" anchor="t"/>
          <a:lstStyle/>
          <a:p>
            <a:pPr indent="0" marL="0">
              <a:buNone/>
            </a:pPr>
            <a:r>
              <a:rPr lang="en-US" sz="1350" dirty="0">
                <a:solidFill>
                  <a:schemeClr val="tx1"/>
                </a:solidFill>
              </a:rPr>
              <a:t>Concepts first, syntax second. Tax professionals and technologists work side by side.</a:t>
            </a:r>
            <a:endParaRPr lang="en-US" sz="1350" dirty="0"/>
          </a:p>
        </p:txBody>
      </p:sp>
      <p:sp>
        <p:nvSpPr>
          <p:cNvPr id="10" name="Working agreement 2"/>
          <p:cNvSpPr/>
          <p:nvPr/>
        </p:nvSpPr>
        <p:spPr>
          <a:xfrm>
            <a:off x="548640" y="3044952"/>
            <a:ext cx="5760720" cy="1143000"/>
          </a:xfrm>
          <a:prstGeom prst="roundRect">
            <a:avLst>
              <a:gd name="adj" fmla="val 9600"/>
            </a:avLst>
          </a:prstGeom>
          <a:solidFill>
            <a:schemeClr val="bg2"/>
          </a:solidFill>
          <a:ln/>
        </p:spPr>
      </p:sp>
      <p:sp>
        <p:nvSpPr>
          <p:cNvPr id="11" name="Exercises use invented data badge"/>
          <p:cNvSpPr/>
          <p:nvPr/>
        </p:nvSpPr>
        <p:spPr>
          <a:xfrm>
            <a:off x="777240" y="3337560"/>
            <a:ext cx="548640" cy="548640"/>
          </a:xfrm>
          <a:prstGeom prst="ellipse">
            <a:avLst/>
          </a:prstGeom>
          <a:solidFill>
            <a:schemeClr val="accent2"/>
          </a:solidFill>
          <a:ln/>
        </p:spPr>
      </p:sp>
      <p:pic>
        <p:nvPicPr>
          <p:cNvPr id="12" name="Image 1" descr="Exercises use invented data icon">    </p:cNvPr>
          <p:cNvPicPr>
            <a:picLocks noChangeAspect="1"/>
          </p:cNvPicPr>
          <p:nvPr/>
        </p:nvPicPr>
        <p:blipFill>
          <a:blip r:embed="rId2"/>
          <a:stretch>
            <a:fillRect/>
          </a:stretch>
        </p:blipFill>
        <p:spPr>
          <a:xfrm>
            <a:off x="914400" y="3474720"/>
            <a:ext cx="274320" cy="274320"/>
          </a:xfrm>
          <a:prstGeom prst="rect">
            <a:avLst/>
          </a:prstGeom>
        </p:spPr>
      </p:pic>
      <p:sp>
        <p:nvSpPr>
          <p:cNvPr id="13" name="Agreement title"/>
          <p:cNvSpPr txBox="1"/>
          <p:nvPr/>
        </p:nvSpPr>
        <p:spPr>
          <a:xfrm>
            <a:off x="1554480" y="3200400"/>
            <a:ext cx="45720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Exercises use invented data</a:t>
            </a:r>
            <a:endParaRPr lang="en-US" sz="1700" dirty="0"/>
          </a:p>
        </p:txBody>
      </p:sp>
      <p:sp>
        <p:nvSpPr>
          <p:cNvPr id="14" name="Agreement text"/>
          <p:cNvSpPr txBox="1"/>
          <p:nvPr/>
        </p:nvSpPr>
        <p:spPr>
          <a:xfrm>
            <a:off x="1554480" y="3575304"/>
            <a:ext cx="4572000" cy="548640"/>
          </a:xfrm>
          <a:prstGeom prst="rect">
            <a:avLst/>
          </a:prstGeom>
          <a:noFill/>
          <a:ln/>
        </p:spPr>
        <p:txBody>
          <a:bodyPr wrap="square" lIns="0" tIns="0" rIns="0" bIns="0" rtlCol="0" anchor="t"/>
          <a:lstStyle/>
          <a:p>
            <a:pPr indent="0" marL="0">
              <a:buNone/>
            </a:pPr>
            <a:r>
              <a:rPr lang="en-US" sz="1350" dirty="0">
                <a:solidFill>
                  <a:schemeClr val="tx1"/>
                </a:solidFill>
              </a:rPr>
              <a:t>Practice tables are shaped like the DST workflow data but hold made-up values.</a:t>
            </a:r>
            <a:endParaRPr lang="en-US" sz="1350" dirty="0"/>
          </a:p>
        </p:txBody>
      </p:sp>
      <p:sp>
        <p:nvSpPr>
          <p:cNvPr id="15" name="Working agreement 3"/>
          <p:cNvSpPr/>
          <p:nvPr/>
        </p:nvSpPr>
        <p:spPr>
          <a:xfrm>
            <a:off x="548640" y="4306824"/>
            <a:ext cx="5760720" cy="1143000"/>
          </a:xfrm>
          <a:prstGeom prst="roundRect">
            <a:avLst>
              <a:gd name="adj" fmla="val 9600"/>
            </a:avLst>
          </a:prstGeom>
          <a:solidFill>
            <a:schemeClr val="bg2"/>
          </a:solidFill>
          <a:ln/>
        </p:spPr>
      </p:sp>
      <p:sp>
        <p:nvSpPr>
          <p:cNvPr id="16" name="Guided, not open-ended badge"/>
          <p:cNvSpPr/>
          <p:nvPr/>
        </p:nvSpPr>
        <p:spPr>
          <a:xfrm>
            <a:off x="777240" y="4599432"/>
            <a:ext cx="548640" cy="548640"/>
          </a:xfrm>
          <a:prstGeom prst="ellipse">
            <a:avLst/>
          </a:prstGeom>
          <a:solidFill>
            <a:schemeClr val="tx2"/>
          </a:solidFill>
          <a:ln/>
        </p:spPr>
      </p:sp>
      <p:pic>
        <p:nvPicPr>
          <p:cNvPr id="17" name="Image 2" descr="Guided, not open-ended icon">    </p:cNvPr>
          <p:cNvPicPr>
            <a:picLocks noChangeAspect="1"/>
          </p:cNvPicPr>
          <p:nvPr/>
        </p:nvPicPr>
        <p:blipFill>
          <a:blip r:embed="rId3"/>
          <a:stretch>
            <a:fillRect/>
          </a:stretch>
        </p:blipFill>
        <p:spPr>
          <a:xfrm>
            <a:off x="914400" y="4736592"/>
            <a:ext cx="274320" cy="274320"/>
          </a:xfrm>
          <a:prstGeom prst="rect">
            <a:avLst/>
          </a:prstGeom>
        </p:spPr>
      </p:pic>
      <p:sp>
        <p:nvSpPr>
          <p:cNvPr id="18" name="Agreement title"/>
          <p:cNvSpPr txBox="1"/>
          <p:nvPr/>
        </p:nvSpPr>
        <p:spPr>
          <a:xfrm>
            <a:off x="1554480" y="4462272"/>
            <a:ext cx="45720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Guided, not open-ended</a:t>
            </a:r>
            <a:endParaRPr lang="en-US" sz="1700" dirty="0"/>
          </a:p>
        </p:txBody>
      </p:sp>
      <p:sp>
        <p:nvSpPr>
          <p:cNvPr id="19" name="Agreement text"/>
          <p:cNvSpPr txBox="1"/>
          <p:nvPr/>
        </p:nvSpPr>
        <p:spPr>
          <a:xfrm>
            <a:off x="1554480" y="4837176"/>
            <a:ext cx="4572000" cy="548640"/>
          </a:xfrm>
          <a:prstGeom prst="rect">
            <a:avLst/>
          </a:prstGeom>
          <a:noFill/>
          <a:ln/>
        </p:spPr>
        <p:txBody>
          <a:bodyPr wrap="square" lIns="0" tIns="0" rIns="0" bIns="0" rtlCol="0" anchor="t"/>
          <a:lstStyle/>
          <a:p>
            <a:pPr indent="0" marL="0">
              <a:buNone/>
            </a:pPr>
            <a:r>
              <a:rPr lang="en-US" sz="1350" dirty="0">
                <a:solidFill>
                  <a:schemeClr val="tx1"/>
                </a:solidFill>
              </a:rPr>
              <a:t>Labs are structured so nobody gets blocked on a one-off workflow issue.</a:t>
            </a:r>
            <a:endParaRPr lang="en-US" sz="1350" dirty="0"/>
          </a:p>
        </p:txBody>
      </p:sp>
      <p:sp>
        <p:nvSpPr>
          <p:cNvPr id="20" name="Before you start card"/>
          <p:cNvSpPr/>
          <p:nvPr/>
        </p:nvSpPr>
        <p:spPr>
          <a:xfrm>
            <a:off x="6583680" y="1783080"/>
            <a:ext cx="5056632" cy="1783080"/>
          </a:xfrm>
          <a:prstGeom prst="roundRect">
            <a:avLst>
              <a:gd name="adj" fmla="val 6154"/>
            </a:avLst>
          </a:prstGeom>
          <a:solidFill>
            <a:schemeClr val="accent3">
              <a:alpha val="22000"/>
            </a:schemeClr>
          </a:solidFill>
          <a:ln/>
        </p:spPr>
      </p:sp>
      <p:sp>
        <p:nvSpPr>
          <p:cNvPr id="21" name="Pill"/>
          <p:cNvSpPr txBox="1"/>
          <p:nvPr/>
        </p:nvSpPr>
        <p:spPr>
          <a:xfrm>
            <a:off x="6812280" y="1938528"/>
            <a:ext cx="16459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BEFORE YOU START</a:t>
            </a:r>
            <a:endParaRPr lang="en-US" sz="1050" dirty="0"/>
          </a:p>
        </p:txBody>
      </p:sp>
      <p:sp>
        <p:nvSpPr>
          <p:cNvPr id="22" name="Prerequisites list"/>
          <p:cNvSpPr txBox="1"/>
          <p:nvPr/>
        </p:nvSpPr>
        <p:spPr>
          <a:xfrm>
            <a:off x="6812280" y="2331720"/>
            <a:ext cx="4617720" cy="114300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Fabric and Azure DevOps access confirmed. Attendees must be pre-credentialed before day one.</a:t>
            </a:r>
            <a:endParaRPr lang="en-US" sz="1350" dirty="0"/>
          </a:p>
          <a:p>
            <a:pPr marL="342900" indent="-342900">
              <a:spcAft>
                <a:spcPts val="400"/>
              </a:spcAft>
              <a:buSzPct val="100000"/>
              <a:buChar char="•"/>
            </a:pPr>
            <a:r>
              <a:rPr lang="en-US" sz="1350" dirty="0">
                <a:solidFill>
                  <a:schemeClr val="tx1"/>
                </a:solidFill>
              </a:rPr>
              <a:t>Exercise workspace and practice tables loaded.</a:t>
            </a:r>
            <a:endParaRPr lang="en-US" sz="1350" dirty="0"/>
          </a:p>
          <a:p>
            <a:pPr marL="342900" indent="-342900">
              <a:spcAft>
                <a:spcPts val="400"/>
              </a:spcAft>
              <a:buSzPct val="100000"/>
              <a:buChar char="•"/>
            </a:pPr>
            <a:r>
              <a:rPr lang="en-US" sz="1350" dirty="0">
                <a:solidFill>
                  <a:schemeClr val="tx1"/>
                </a:solidFill>
              </a:rPr>
              <a:t>Browser signed in to Fabric.</a:t>
            </a:r>
            <a:endParaRPr lang="en-US" sz="1350" dirty="0"/>
          </a:p>
        </p:txBody>
      </p:sp>
      <p:sp>
        <p:nvSpPr>
          <p:cNvPr id="23" name="Handled elsewhere card"/>
          <p:cNvSpPr/>
          <p:nvPr/>
        </p:nvSpPr>
        <p:spPr>
          <a:xfrm>
            <a:off x="6583680" y="3703320"/>
            <a:ext cx="5056632" cy="1737360"/>
          </a:xfrm>
          <a:prstGeom prst="roundRect">
            <a:avLst>
              <a:gd name="adj" fmla="val 6316"/>
            </a:avLst>
          </a:prstGeom>
          <a:solidFill>
            <a:schemeClr val="bg2"/>
          </a:solidFill>
          <a:ln/>
        </p:spPr>
      </p:sp>
      <p:sp>
        <p:nvSpPr>
          <p:cNvPr id="24" name="Pill"/>
          <p:cNvSpPr txBox="1"/>
          <p:nvPr/>
        </p:nvSpPr>
        <p:spPr>
          <a:xfrm>
            <a:off x="6812280" y="3858768"/>
            <a:ext cx="2834640"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50" b="1" spc="200" kern="0" dirty="0">
                <a:solidFill>
                  <a:schemeClr val="bg1"/>
                </a:solidFill>
              </a:rPr>
              <a:t>HANDLED IN OTHER SESSIONS</a:t>
            </a:r>
            <a:endParaRPr lang="en-US" sz="1050" dirty="0"/>
          </a:p>
        </p:txBody>
      </p:sp>
      <p:sp>
        <p:nvSpPr>
          <p:cNvPr id="25" name="Out of scope list"/>
          <p:cNvSpPr txBox="1"/>
          <p:nvPr/>
        </p:nvSpPr>
        <p:spPr>
          <a:xfrm>
            <a:off x="6812280" y="4251960"/>
            <a:ext cx="4617720"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Bring-your-own-workflow migration: a separate Disney working session.</a:t>
            </a:r>
            <a:endParaRPr lang="en-US" sz="1300" dirty="0"/>
          </a:p>
          <a:p>
            <a:pPr marL="342900" indent="-342900">
              <a:spcAft>
                <a:spcPts val="300"/>
              </a:spcAft>
              <a:buSzPct val="100000"/>
              <a:buChar char="•"/>
            </a:pPr>
            <a:r>
              <a:rPr lang="en-US" sz="1300" dirty="0">
                <a:solidFill>
                  <a:schemeClr val="tx1"/>
                </a:solidFill>
              </a:rPr>
              <a:t>Governance, operating model and Fabric management decisions: a separate internal session.</a:t>
            </a:r>
            <a:endParaRPr lang="en-US" sz="1300" dirty="0"/>
          </a:p>
          <a:p>
            <a:pPr marL="342900" indent="-342900">
              <a:spcAft>
                <a:spcPts val="300"/>
              </a:spcAft>
              <a:buSzPct val="100000"/>
              <a:buChar char="•"/>
            </a:pPr>
            <a:r>
              <a:rPr lang="en-US" sz="1300" dirty="0">
                <a:solidFill>
                  <a:schemeClr val="tx1"/>
                </a:solidFill>
              </a:rPr>
              <a:t>Platform security: Disney Enterprise Technology.</a:t>
            </a:r>
            <a:endParaRPr lang="en-US" sz="1300" dirty="0"/>
          </a:p>
        </p:txBody>
      </p:sp>
      <p:sp>
        <p:nvSpPr>
          <p:cNvPr id="26" name="Footnote"/>
          <p:cNvSpPr txBox="1"/>
          <p:nvPr/>
        </p:nvSpPr>
        <p:spPr>
          <a:xfrm>
            <a:off x="548640" y="56692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agreed agenda, Fabric Training and Enablement, October 2026.</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PART 1</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Fabric Foundations &amp; Architecture</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Common ground for a room that mixes tax professionals with technologists.</a:t>
            </a:r>
            <a:endParaRPr lang="en-US" sz="1800" dirty="0"/>
          </a:p>
        </p:txBody>
      </p:sp>
      <p:sp>
        <p:nvSpPr>
          <p:cNvPr id="6" name="Part number watermark"/>
          <p:cNvSpPr txBox="1"/>
          <p:nvPr/>
        </p:nvSpPr>
        <p:spPr>
          <a:xfrm>
            <a:off x="7498080" y="822960"/>
            <a:ext cx="4206240" cy="2926080"/>
          </a:xfrm>
          <a:prstGeom prst="rect">
            <a:avLst/>
          </a:prstGeom>
          <a:noFill/>
          <a:ln/>
        </p:spPr>
        <p:txBody>
          <a:bodyPr wrap="square" lIns="0" tIns="0" rIns="0" bIns="0" rtlCol="0" anchor="ctr"/>
          <a:lstStyle/>
          <a:p>
            <a:pPr algn="r" indent="0" marL="0">
              <a:buNone/>
            </a:pPr>
            <a:r>
              <a:rPr lang="en-US" sz="20000" b="1" dirty="0">
                <a:solidFill>
                  <a:schemeClr val="bg1">
                    <a:alpha val="18000"/>
                  </a:schemeClr>
                </a:solidFill>
                <a:latin typeface="+mj-lt" pitchFamily="34" charset="0"/>
                <a:ea typeface="+mj-lt" pitchFamily="34" charset="-122"/>
                <a:cs typeface="+mj-lt" pitchFamily="34" charset="-120"/>
              </a:rPr>
              <a:t>01</a:t>
            </a:r>
            <a:endParaRPr lang="en-US" sz="20000" dirty="0"/>
          </a:p>
        </p:txBody>
      </p:sp>
      <p:sp>
        <p:nvSpPr>
          <p:cNvPr id="7" name="Module list"/>
          <p:cNvSpPr txBox="1"/>
          <p:nvPr/>
        </p:nvSpPr>
        <p:spPr>
          <a:xfrm>
            <a:off x="7680960" y="4160520"/>
            <a:ext cx="3931920" cy="109728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1   Fabric at Disney</a:t>
            </a:r>
            <a:endParaRPr lang="en-US" sz="1800" dirty="0"/>
          </a:p>
          <a:p>
            <a:pPr indent="0" marL="0">
              <a:spcAft>
                <a:spcPts val="600"/>
              </a:spcAft>
              <a:buNone/>
            </a:pPr>
            <a:r>
              <a:rPr lang="en-US" sz="1800" dirty="0">
                <a:solidFill>
                  <a:schemeClr val="bg1"/>
                </a:solidFill>
              </a:rPr>
              <a:t>2   Migration strategy</a:t>
            </a:r>
            <a:endParaRPr lang="en-US" sz="1800" dirty="0"/>
          </a:p>
          <a:p>
            <a:pPr indent="0" marL="0">
              <a:spcAft>
                <a:spcPts val="600"/>
              </a:spcAft>
              <a:buNone/>
            </a:pPr>
            <a:r>
              <a:rPr lang="en-US" sz="1800" dirty="0">
                <a:solidFill>
                  <a:schemeClr val="bg1"/>
                </a:solidFill>
              </a:rPr>
              <a:t>3   Lakehouse and OneLake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FABRIC AT DISNEY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Fabric is one platform on one copy of the data</a:t>
            </a:r>
            <a:endParaRPr lang="en-US" sz="3200" dirty="0"/>
          </a:p>
        </p:txBody>
      </p:sp>
      <p:sp>
        <p:nvSpPr>
          <p:cNvPr id="5" name="Workloads label"/>
          <p:cNvSpPr txBox="1"/>
          <p:nvPr/>
        </p:nvSpPr>
        <p:spPr>
          <a:xfrm>
            <a:off x="548640" y="1783080"/>
            <a:ext cx="7315200" cy="228600"/>
          </a:xfrm>
          <a:prstGeom prst="rect">
            <a:avLst/>
          </a:prstGeom>
          <a:noFill/>
          <a:ln/>
        </p:spPr>
        <p:txBody>
          <a:bodyPr wrap="square" lIns="0" tIns="0" rIns="0" bIns="0" rtlCol="0" anchor="t"/>
          <a:lstStyle/>
          <a:p>
            <a:pPr indent="0" marL="0">
              <a:buNone/>
            </a:pPr>
            <a:r>
              <a:rPr lang="en-US" sz="1050" b="1" spc="200" kern="0" dirty="0">
                <a:solidFill>
                  <a:schemeClr val="accent1"/>
                </a:solidFill>
              </a:rPr>
              <a:t>WORKLOADS  ·  SOLID = USED THIS WEEK</a:t>
            </a:r>
            <a:endParaRPr lang="en-US" sz="1050" dirty="0"/>
          </a:p>
        </p:txBody>
      </p:sp>
      <p:sp>
        <p:nvSpPr>
          <p:cNvPr id="6" name="Workload Data Factory"/>
          <p:cNvSpPr/>
          <p:nvPr/>
        </p:nvSpPr>
        <p:spPr>
          <a:xfrm>
            <a:off x="548640" y="2057400"/>
            <a:ext cx="1737360" cy="1463040"/>
          </a:xfrm>
          <a:prstGeom prst="roundRect">
            <a:avLst>
              <a:gd name="adj" fmla="val 7500"/>
            </a:avLst>
          </a:prstGeom>
          <a:solidFill>
            <a:schemeClr val="accent1"/>
          </a:solidFill>
          <a:ln/>
        </p:spPr>
      </p:sp>
      <p:sp>
        <p:nvSpPr>
          <p:cNvPr id="7" name="Data Factory badge"/>
          <p:cNvSpPr/>
          <p:nvPr/>
        </p:nvSpPr>
        <p:spPr>
          <a:xfrm>
            <a:off x="713232" y="2185416"/>
            <a:ext cx="420624" cy="420624"/>
          </a:xfrm>
          <a:prstGeom prst="ellipse">
            <a:avLst/>
          </a:prstGeom>
          <a:solidFill>
            <a:schemeClr val="tx2"/>
          </a:solidFill>
          <a:ln/>
        </p:spPr>
      </p:sp>
      <p:pic>
        <p:nvPicPr>
          <p:cNvPr id="8" name="Image 0" descr="Data Factory icon">    </p:cNvPr>
          <p:cNvPicPr>
            <a:picLocks noChangeAspect="1"/>
          </p:cNvPicPr>
          <p:nvPr/>
        </p:nvPicPr>
        <p:blipFill>
          <a:blip r:embed="rId1"/>
          <a:stretch>
            <a:fillRect/>
          </a:stretch>
        </p:blipFill>
        <p:spPr>
          <a:xfrm>
            <a:off x="818388" y="2290572"/>
            <a:ext cx="210312" cy="210312"/>
          </a:xfrm>
          <a:prstGeom prst="rect">
            <a:avLst/>
          </a:prstGeom>
        </p:spPr>
      </p:pic>
      <p:sp>
        <p:nvSpPr>
          <p:cNvPr id="9" name="Workload name"/>
          <p:cNvSpPr txBox="1"/>
          <p:nvPr/>
        </p:nvSpPr>
        <p:spPr>
          <a:xfrm>
            <a:off x="713232" y="2679192"/>
            <a:ext cx="1463040" cy="384048"/>
          </a:xfrm>
          <a:prstGeom prst="rect">
            <a:avLst/>
          </a:prstGeom>
          <a:noFill/>
          <a:ln/>
        </p:spPr>
        <p:txBody>
          <a:bodyPr wrap="square" lIns="0" tIns="0" rIns="0" bIns="0" rtlCol="0" anchor="t"/>
          <a:lstStyle/>
          <a:p>
            <a:pPr indent="0" marL="0">
              <a:buNone/>
            </a:pPr>
            <a:r>
              <a:rPr lang="en-US" sz="1300" b="1" dirty="0">
                <a:solidFill>
                  <a:schemeClr val="bg1"/>
                </a:solidFill>
              </a:rPr>
              <a:t>Data Factory</a:t>
            </a:r>
            <a:endParaRPr lang="en-US" sz="1300" dirty="0"/>
          </a:p>
        </p:txBody>
      </p:sp>
      <p:sp>
        <p:nvSpPr>
          <p:cNvPr id="10" name="Workload detail"/>
          <p:cNvSpPr txBox="1"/>
          <p:nvPr/>
        </p:nvSpPr>
        <p:spPr>
          <a:xfrm>
            <a:off x="713232" y="3099816"/>
            <a:ext cx="1463040" cy="384048"/>
          </a:xfrm>
          <a:prstGeom prst="rect">
            <a:avLst/>
          </a:prstGeom>
          <a:noFill/>
          <a:ln/>
        </p:spPr>
        <p:txBody>
          <a:bodyPr wrap="square" lIns="0" tIns="0" rIns="0" bIns="0" rtlCol="0" anchor="t"/>
          <a:lstStyle/>
          <a:p>
            <a:pPr indent="0" marL="0">
              <a:buNone/>
            </a:pPr>
            <a:r>
              <a:rPr lang="en-US" sz="1100" dirty="0">
                <a:solidFill>
                  <a:schemeClr val="bg1"/>
                </a:solidFill>
              </a:rPr>
              <a:t>Pipelines, Dataflow Gen2</a:t>
            </a:r>
            <a:endParaRPr lang="en-US" sz="1100" dirty="0"/>
          </a:p>
        </p:txBody>
      </p:sp>
      <p:sp>
        <p:nvSpPr>
          <p:cNvPr id="11" name="Workload Data Engineering"/>
          <p:cNvSpPr/>
          <p:nvPr/>
        </p:nvSpPr>
        <p:spPr>
          <a:xfrm>
            <a:off x="2419502" y="2057400"/>
            <a:ext cx="1737360" cy="1463040"/>
          </a:xfrm>
          <a:prstGeom prst="roundRect">
            <a:avLst>
              <a:gd name="adj" fmla="val 7500"/>
            </a:avLst>
          </a:prstGeom>
          <a:solidFill>
            <a:schemeClr val="accent1"/>
          </a:solidFill>
          <a:ln/>
        </p:spPr>
      </p:sp>
      <p:sp>
        <p:nvSpPr>
          <p:cNvPr id="12" name="Data Engineering badge"/>
          <p:cNvSpPr/>
          <p:nvPr/>
        </p:nvSpPr>
        <p:spPr>
          <a:xfrm>
            <a:off x="2584094" y="2185416"/>
            <a:ext cx="420624" cy="420624"/>
          </a:xfrm>
          <a:prstGeom prst="ellipse">
            <a:avLst/>
          </a:prstGeom>
          <a:solidFill>
            <a:schemeClr val="tx2"/>
          </a:solidFill>
          <a:ln/>
        </p:spPr>
      </p:sp>
      <p:pic>
        <p:nvPicPr>
          <p:cNvPr id="13" name="Image 1" descr="Data Engineering icon">    </p:cNvPr>
          <p:cNvPicPr>
            <a:picLocks noChangeAspect="1"/>
          </p:cNvPicPr>
          <p:nvPr/>
        </p:nvPicPr>
        <p:blipFill>
          <a:blip r:embed="rId2"/>
          <a:stretch>
            <a:fillRect/>
          </a:stretch>
        </p:blipFill>
        <p:spPr>
          <a:xfrm>
            <a:off x="2689250" y="2290572"/>
            <a:ext cx="210312" cy="210312"/>
          </a:xfrm>
          <a:prstGeom prst="rect">
            <a:avLst/>
          </a:prstGeom>
        </p:spPr>
      </p:pic>
      <p:sp>
        <p:nvSpPr>
          <p:cNvPr id="14" name="Workload name"/>
          <p:cNvSpPr txBox="1"/>
          <p:nvPr/>
        </p:nvSpPr>
        <p:spPr>
          <a:xfrm>
            <a:off x="2584094" y="2679192"/>
            <a:ext cx="1463040" cy="384048"/>
          </a:xfrm>
          <a:prstGeom prst="rect">
            <a:avLst/>
          </a:prstGeom>
          <a:noFill/>
          <a:ln/>
        </p:spPr>
        <p:txBody>
          <a:bodyPr wrap="square" lIns="0" tIns="0" rIns="0" bIns="0" rtlCol="0" anchor="t"/>
          <a:lstStyle/>
          <a:p>
            <a:pPr indent="0" marL="0">
              <a:buNone/>
            </a:pPr>
            <a:r>
              <a:rPr lang="en-US" sz="1300" b="1" dirty="0">
                <a:solidFill>
                  <a:schemeClr val="bg1"/>
                </a:solidFill>
              </a:rPr>
              <a:t>Data Engineering</a:t>
            </a:r>
            <a:endParaRPr lang="en-US" sz="1300" dirty="0"/>
          </a:p>
        </p:txBody>
      </p:sp>
      <p:sp>
        <p:nvSpPr>
          <p:cNvPr id="15" name="Workload detail"/>
          <p:cNvSpPr txBox="1"/>
          <p:nvPr/>
        </p:nvSpPr>
        <p:spPr>
          <a:xfrm>
            <a:off x="2584094" y="3099816"/>
            <a:ext cx="1463040" cy="384048"/>
          </a:xfrm>
          <a:prstGeom prst="rect">
            <a:avLst/>
          </a:prstGeom>
          <a:noFill/>
          <a:ln/>
        </p:spPr>
        <p:txBody>
          <a:bodyPr wrap="square" lIns="0" tIns="0" rIns="0" bIns="0" rtlCol="0" anchor="t"/>
          <a:lstStyle/>
          <a:p>
            <a:pPr indent="0" marL="0">
              <a:buNone/>
            </a:pPr>
            <a:r>
              <a:rPr lang="en-US" sz="1100" dirty="0">
                <a:solidFill>
                  <a:schemeClr val="bg1"/>
                </a:solidFill>
              </a:rPr>
              <a:t>Lakehouses, notebooks</a:t>
            </a:r>
            <a:endParaRPr lang="en-US" sz="1100" dirty="0"/>
          </a:p>
        </p:txBody>
      </p:sp>
      <p:sp>
        <p:nvSpPr>
          <p:cNvPr id="16" name="Workload Data Warehouse"/>
          <p:cNvSpPr/>
          <p:nvPr/>
        </p:nvSpPr>
        <p:spPr>
          <a:xfrm>
            <a:off x="4290365" y="2057400"/>
            <a:ext cx="1737360" cy="1463040"/>
          </a:xfrm>
          <a:prstGeom prst="roundRect">
            <a:avLst>
              <a:gd name="adj" fmla="val 7500"/>
            </a:avLst>
          </a:prstGeom>
          <a:solidFill>
            <a:schemeClr val="bg2"/>
          </a:solidFill>
          <a:ln/>
        </p:spPr>
      </p:sp>
      <p:sp>
        <p:nvSpPr>
          <p:cNvPr id="17" name="Data Warehouse badge"/>
          <p:cNvSpPr/>
          <p:nvPr/>
        </p:nvSpPr>
        <p:spPr>
          <a:xfrm>
            <a:off x="4454957" y="2185416"/>
            <a:ext cx="420624" cy="420624"/>
          </a:xfrm>
          <a:prstGeom prst="ellipse">
            <a:avLst/>
          </a:prstGeom>
          <a:solidFill>
            <a:schemeClr val="accent1"/>
          </a:solidFill>
          <a:ln/>
        </p:spPr>
      </p:sp>
      <p:pic>
        <p:nvPicPr>
          <p:cNvPr id="18" name="Image 2" descr="Data Warehouse icon">    </p:cNvPr>
          <p:cNvPicPr>
            <a:picLocks noChangeAspect="1"/>
          </p:cNvPicPr>
          <p:nvPr/>
        </p:nvPicPr>
        <p:blipFill>
          <a:blip r:embed="rId3"/>
          <a:stretch>
            <a:fillRect/>
          </a:stretch>
        </p:blipFill>
        <p:spPr>
          <a:xfrm>
            <a:off x="4560113" y="2290572"/>
            <a:ext cx="210312" cy="210312"/>
          </a:xfrm>
          <a:prstGeom prst="rect">
            <a:avLst/>
          </a:prstGeom>
        </p:spPr>
      </p:pic>
      <p:sp>
        <p:nvSpPr>
          <p:cNvPr id="19" name="Workload name"/>
          <p:cNvSpPr txBox="1"/>
          <p:nvPr/>
        </p:nvSpPr>
        <p:spPr>
          <a:xfrm>
            <a:off x="4454957" y="2679192"/>
            <a:ext cx="1463040" cy="384048"/>
          </a:xfrm>
          <a:prstGeom prst="rect">
            <a:avLst/>
          </a:prstGeom>
          <a:noFill/>
          <a:ln/>
        </p:spPr>
        <p:txBody>
          <a:bodyPr wrap="square" lIns="0" tIns="0" rIns="0" bIns="0" rtlCol="0" anchor="t"/>
          <a:lstStyle/>
          <a:p>
            <a:pPr indent="0" marL="0">
              <a:buNone/>
            </a:pPr>
            <a:r>
              <a:rPr lang="en-US" sz="1300" b="1" dirty="0">
                <a:solidFill>
                  <a:schemeClr val="tx1"/>
                </a:solidFill>
              </a:rPr>
              <a:t>Data Warehouse</a:t>
            </a:r>
            <a:endParaRPr lang="en-US" sz="1300" dirty="0"/>
          </a:p>
        </p:txBody>
      </p:sp>
      <p:sp>
        <p:nvSpPr>
          <p:cNvPr id="20" name="Workload detail"/>
          <p:cNvSpPr txBox="1"/>
          <p:nvPr/>
        </p:nvSpPr>
        <p:spPr>
          <a:xfrm>
            <a:off x="4454957" y="3099816"/>
            <a:ext cx="1463040" cy="384048"/>
          </a:xfrm>
          <a:prstGeom prst="rect">
            <a:avLst/>
          </a:prstGeom>
          <a:noFill/>
          <a:ln/>
        </p:spPr>
        <p:txBody>
          <a:bodyPr wrap="square" lIns="0" tIns="0" rIns="0" bIns="0" rtlCol="0" anchor="t"/>
          <a:lstStyle/>
          <a:p>
            <a:pPr indent="0" marL="0">
              <a:buNone/>
            </a:pPr>
            <a:r>
              <a:rPr lang="en-US" sz="1100" dirty="0">
                <a:solidFill>
                  <a:schemeClr val="tx1"/>
                </a:solidFill>
              </a:rPr>
              <a:t>A full T-SQL warehouse</a:t>
            </a:r>
            <a:endParaRPr lang="en-US" sz="1100" dirty="0"/>
          </a:p>
        </p:txBody>
      </p:sp>
      <p:sp>
        <p:nvSpPr>
          <p:cNvPr id="21" name="Workload Power BI"/>
          <p:cNvSpPr/>
          <p:nvPr/>
        </p:nvSpPr>
        <p:spPr>
          <a:xfrm>
            <a:off x="6161227" y="2057400"/>
            <a:ext cx="1737360" cy="1463040"/>
          </a:xfrm>
          <a:prstGeom prst="roundRect">
            <a:avLst>
              <a:gd name="adj" fmla="val 7500"/>
            </a:avLst>
          </a:prstGeom>
          <a:solidFill>
            <a:schemeClr val="accent1"/>
          </a:solidFill>
          <a:ln/>
        </p:spPr>
      </p:sp>
      <p:sp>
        <p:nvSpPr>
          <p:cNvPr id="22" name="Power BI badge"/>
          <p:cNvSpPr/>
          <p:nvPr/>
        </p:nvSpPr>
        <p:spPr>
          <a:xfrm>
            <a:off x="6325819" y="2185416"/>
            <a:ext cx="420624" cy="420624"/>
          </a:xfrm>
          <a:prstGeom prst="ellipse">
            <a:avLst/>
          </a:prstGeom>
          <a:solidFill>
            <a:schemeClr val="tx2"/>
          </a:solidFill>
          <a:ln/>
        </p:spPr>
      </p:sp>
      <p:pic>
        <p:nvPicPr>
          <p:cNvPr id="23" name="Image 3" descr="Power BI icon">    </p:cNvPr>
          <p:cNvPicPr>
            <a:picLocks noChangeAspect="1"/>
          </p:cNvPicPr>
          <p:nvPr/>
        </p:nvPicPr>
        <p:blipFill>
          <a:blip r:embed="rId4"/>
          <a:stretch>
            <a:fillRect/>
          </a:stretch>
        </p:blipFill>
        <p:spPr>
          <a:xfrm>
            <a:off x="6430975" y="2290572"/>
            <a:ext cx="210312" cy="210312"/>
          </a:xfrm>
          <a:prstGeom prst="rect">
            <a:avLst/>
          </a:prstGeom>
        </p:spPr>
      </p:pic>
      <p:sp>
        <p:nvSpPr>
          <p:cNvPr id="24" name="Workload name"/>
          <p:cNvSpPr txBox="1"/>
          <p:nvPr/>
        </p:nvSpPr>
        <p:spPr>
          <a:xfrm>
            <a:off x="6325819" y="2679192"/>
            <a:ext cx="1463040" cy="384048"/>
          </a:xfrm>
          <a:prstGeom prst="rect">
            <a:avLst/>
          </a:prstGeom>
          <a:noFill/>
          <a:ln/>
        </p:spPr>
        <p:txBody>
          <a:bodyPr wrap="square" lIns="0" tIns="0" rIns="0" bIns="0" rtlCol="0" anchor="t"/>
          <a:lstStyle/>
          <a:p>
            <a:pPr indent="0" marL="0">
              <a:buNone/>
            </a:pPr>
            <a:r>
              <a:rPr lang="en-US" sz="1300" b="1" dirty="0">
                <a:solidFill>
                  <a:schemeClr val="bg1"/>
                </a:solidFill>
              </a:rPr>
              <a:t>Power BI</a:t>
            </a:r>
            <a:endParaRPr lang="en-US" sz="1300" dirty="0"/>
          </a:p>
        </p:txBody>
      </p:sp>
      <p:sp>
        <p:nvSpPr>
          <p:cNvPr id="25" name="Workload detail"/>
          <p:cNvSpPr txBox="1"/>
          <p:nvPr/>
        </p:nvSpPr>
        <p:spPr>
          <a:xfrm>
            <a:off x="6325819" y="3099816"/>
            <a:ext cx="1463040" cy="384048"/>
          </a:xfrm>
          <a:prstGeom prst="rect">
            <a:avLst/>
          </a:prstGeom>
          <a:noFill/>
          <a:ln/>
        </p:spPr>
        <p:txBody>
          <a:bodyPr wrap="square" lIns="0" tIns="0" rIns="0" bIns="0" rtlCol="0" anchor="t"/>
          <a:lstStyle/>
          <a:p>
            <a:pPr indent="0" marL="0">
              <a:buNone/>
            </a:pPr>
            <a:r>
              <a:rPr lang="en-US" sz="1100" dirty="0">
                <a:solidFill>
                  <a:schemeClr val="bg1"/>
                </a:solidFill>
              </a:rPr>
              <a:t>Models, reports, dashboards</a:t>
            </a:r>
            <a:endParaRPr lang="en-US" sz="1100" dirty="0"/>
          </a:p>
        </p:txBody>
      </p:sp>
      <p:sp>
        <p:nvSpPr>
          <p:cNvPr id="26" name="Workload Real-Time Intelligence"/>
          <p:cNvSpPr/>
          <p:nvPr/>
        </p:nvSpPr>
        <p:spPr>
          <a:xfrm>
            <a:off x="8032090" y="2057400"/>
            <a:ext cx="1737360" cy="1463040"/>
          </a:xfrm>
          <a:prstGeom prst="roundRect">
            <a:avLst>
              <a:gd name="adj" fmla="val 7500"/>
            </a:avLst>
          </a:prstGeom>
          <a:solidFill>
            <a:schemeClr val="bg2"/>
          </a:solidFill>
          <a:ln/>
        </p:spPr>
      </p:sp>
      <p:sp>
        <p:nvSpPr>
          <p:cNvPr id="27" name="Real-Time Intelligence badge"/>
          <p:cNvSpPr/>
          <p:nvPr/>
        </p:nvSpPr>
        <p:spPr>
          <a:xfrm>
            <a:off x="8196682" y="2185416"/>
            <a:ext cx="420624" cy="420624"/>
          </a:xfrm>
          <a:prstGeom prst="ellipse">
            <a:avLst/>
          </a:prstGeom>
          <a:solidFill>
            <a:schemeClr val="accent1"/>
          </a:solidFill>
          <a:ln/>
        </p:spPr>
      </p:sp>
      <p:pic>
        <p:nvPicPr>
          <p:cNvPr id="28" name="Image 4" descr="Real-Time Intelligence icon">    </p:cNvPr>
          <p:cNvPicPr>
            <a:picLocks noChangeAspect="1"/>
          </p:cNvPicPr>
          <p:nvPr/>
        </p:nvPicPr>
        <p:blipFill>
          <a:blip r:embed="rId5"/>
          <a:stretch>
            <a:fillRect/>
          </a:stretch>
        </p:blipFill>
        <p:spPr>
          <a:xfrm>
            <a:off x="8301838" y="2290572"/>
            <a:ext cx="210312" cy="210312"/>
          </a:xfrm>
          <a:prstGeom prst="rect">
            <a:avLst/>
          </a:prstGeom>
        </p:spPr>
      </p:pic>
      <p:sp>
        <p:nvSpPr>
          <p:cNvPr id="29" name="Workload name"/>
          <p:cNvSpPr txBox="1"/>
          <p:nvPr/>
        </p:nvSpPr>
        <p:spPr>
          <a:xfrm>
            <a:off x="8196682" y="2679192"/>
            <a:ext cx="1463040" cy="384048"/>
          </a:xfrm>
          <a:prstGeom prst="rect">
            <a:avLst/>
          </a:prstGeom>
          <a:noFill/>
          <a:ln/>
        </p:spPr>
        <p:txBody>
          <a:bodyPr wrap="square" lIns="0" tIns="0" rIns="0" bIns="0" rtlCol="0" anchor="t"/>
          <a:lstStyle/>
          <a:p>
            <a:pPr indent="0" marL="0">
              <a:buNone/>
            </a:pPr>
            <a:r>
              <a:rPr lang="en-US" sz="1300" b="1" dirty="0">
                <a:solidFill>
                  <a:schemeClr val="tx1"/>
                </a:solidFill>
              </a:rPr>
              <a:t>Real-Time Intelligence</a:t>
            </a:r>
            <a:endParaRPr lang="en-US" sz="1300" dirty="0"/>
          </a:p>
        </p:txBody>
      </p:sp>
      <p:sp>
        <p:nvSpPr>
          <p:cNvPr id="30" name="Workload detail"/>
          <p:cNvSpPr txBox="1"/>
          <p:nvPr/>
        </p:nvSpPr>
        <p:spPr>
          <a:xfrm>
            <a:off x="8196682" y="3099816"/>
            <a:ext cx="1463040" cy="384048"/>
          </a:xfrm>
          <a:prstGeom prst="rect">
            <a:avLst/>
          </a:prstGeom>
          <a:noFill/>
          <a:ln/>
        </p:spPr>
        <p:txBody>
          <a:bodyPr wrap="square" lIns="0" tIns="0" rIns="0" bIns="0" rtlCol="0" anchor="t"/>
          <a:lstStyle/>
          <a:p>
            <a:pPr indent="0" marL="0">
              <a:buNone/>
            </a:pPr>
            <a:r>
              <a:rPr lang="en-US" sz="1100" dirty="0">
                <a:solidFill>
                  <a:schemeClr val="tx1"/>
                </a:solidFill>
              </a:rPr>
              <a:t>Streaming and event data</a:t>
            </a:r>
            <a:endParaRPr lang="en-US" sz="1100" dirty="0"/>
          </a:p>
        </p:txBody>
      </p:sp>
      <p:sp>
        <p:nvSpPr>
          <p:cNvPr id="31" name="Workload Data Science"/>
          <p:cNvSpPr/>
          <p:nvPr/>
        </p:nvSpPr>
        <p:spPr>
          <a:xfrm>
            <a:off x="9902952" y="2057400"/>
            <a:ext cx="1737360" cy="1463040"/>
          </a:xfrm>
          <a:prstGeom prst="roundRect">
            <a:avLst>
              <a:gd name="adj" fmla="val 7500"/>
            </a:avLst>
          </a:prstGeom>
          <a:solidFill>
            <a:schemeClr val="bg2"/>
          </a:solidFill>
          <a:ln/>
        </p:spPr>
      </p:sp>
      <p:sp>
        <p:nvSpPr>
          <p:cNvPr id="32" name="Data Science badge"/>
          <p:cNvSpPr/>
          <p:nvPr/>
        </p:nvSpPr>
        <p:spPr>
          <a:xfrm>
            <a:off x="10067544" y="2185416"/>
            <a:ext cx="420624" cy="420624"/>
          </a:xfrm>
          <a:prstGeom prst="ellipse">
            <a:avLst/>
          </a:prstGeom>
          <a:solidFill>
            <a:schemeClr val="accent1"/>
          </a:solidFill>
          <a:ln/>
        </p:spPr>
      </p:sp>
      <p:pic>
        <p:nvPicPr>
          <p:cNvPr id="33" name="Image 5" descr="Data Science icon">    </p:cNvPr>
          <p:cNvPicPr>
            <a:picLocks noChangeAspect="1"/>
          </p:cNvPicPr>
          <p:nvPr/>
        </p:nvPicPr>
        <p:blipFill>
          <a:blip r:embed="rId6"/>
          <a:stretch>
            <a:fillRect/>
          </a:stretch>
        </p:blipFill>
        <p:spPr>
          <a:xfrm>
            <a:off x="10172700" y="2290572"/>
            <a:ext cx="210312" cy="210312"/>
          </a:xfrm>
          <a:prstGeom prst="rect">
            <a:avLst/>
          </a:prstGeom>
        </p:spPr>
      </p:pic>
      <p:sp>
        <p:nvSpPr>
          <p:cNvPr id="34" name="Workload name"/>
          <p:cNvSpPr txBox="1"/>
          <p:nvPr/>
        </p:nvSpPr>
        <p:spPr>
          <a:xfrm>
            <a:off x="10067544" y="2679192"/>
            <a:ext cx="1463040" cy="384048"/>
          </a:xfrm>
          <a:prstGeom prst="rect">
            <a:avLst/>
          </a:prstGeom>
          <a:noFill/>
          <a:ln/>
        </p:spPr>
        <p:txBody>
          <a:bodyPr wrap="square" lIns="0" tIns="0" rIns="0" bIns="0" rtlCol="0" anchor="t"/>
          <a:lstStyle/>
          <a:p>
            <a:pPr indent="0" marL="0">
              <a:buNone/>
            </a:pPr>
            <a:r>
              <a:rPr lang="en-US" sz="1300" b="1" dirty="0">
                <a:solidFill>
                  <a:schemeClr val="tx1"/>
                </a:solidFill>
              </a:rPr>
              <a:t>Data Science</a:t>
            </a:r>
            <a:endParaRPr lang="en-US" sz="1300" dirty="0"/>
          </a:p>
        </p:txBody>
      </p:sp>
      <p:sp>
        <p:nvSpPr>
          <p:cNvPr id="35" name="Workload detail"/>
          <p:cNvSpPr txBox="1"/>
          <p:nvPr/>
        </p:nvSpPr>
        <p:spPr>
          <a:xfrm>
            <a:off x="10067544" y="3099816"/>
            <a:ext cx="1463040" cy="384048"/>
          </a:xfrm>
          <a:prstGeom prst="rect">
            <a:avLst/>
          </a:prstGeom>
          <a:noFill/>
          <a:ln/>
        </p:spPr>
        <p:txBody>
          <a:bodyPr wrap="square" lIns="0" tIns="0" rIns="0" bIns="0" rtlCol="0" anchor="t"/>
          <a:lstStyle/>
          <a:p>
            <a:pPr indent="0" marL="0">
              <a:buNone/>
            </a:pPr>
            <a:r>
              <a:rPr lang="en-US" sz="1100" dirty="0">
                <a:solidFill>
                  <a:schemeClr val="tx1"/>
                </a:solidFill>
              </a:rPr>
              <a:t>Machine learning models</a:t>
            </a:r>
            <a:endParaRPr lang="en-US" sz="1100" dirty="0"/>
          </a:p>
        </p:txBody>
      </p:sp>
      <p:sp>
        <p:nvSpPr>
          <p:cNvPr id="36" name="OneLake band"/>
          <p:cNvSpPr/>
          <p:nvPr/>
        </p:nvSpPr>
        <p:spPr>
          <a:xfrm>
            <a:off x="548640" y="3675888"/>
            <a:ext cx="11094415" cy="777240"/>
          </a:xfrm>
          <a:prstGeom prst="roundRect">
            <a:avLst>
              <a:gd name="adj" fmla="val 11765"/>
            </a:avLst>
          </a:prstGeom>
          <a:solidFill>
            <a:schemeClr val="tx2"/>
          </a:solidFill>
          <a:ln/>
        </p:spPr>
      </p:sp>
      <p:sp>
        <p:nvSpPr>
          <p:cNvPr id="37" name="OneLake label"/>
          <p:cNvSpPr txBox="1"/>
          <p:nvPr/>
        </p:nvSpPr>
        <p:spPr>
          <a:xfrm>
            <a:off x="868680" y="3675888"/>
            <a:ext cx="2011680" cy="777240"/>
          </a:xfrm>
          <a:prstGeom prst="rect">
            <a:avLst/>
          </a:prstGeom>
          <a:noFill/>
          <a:ln/>
        </p:spPr>
        <p:txBody>
          <a:bodyPr wrap="square" lIns="0" tIns="0" rIns="0" bIns="0" rtlCol="0" anchor="ctr"/>
          <a:lstStyle/>
          <a:p>
            <a:pPr indent="0" marL="0">
              <a:buNone/>
            </a:pPr>
            <a:r>
              <a:rPr lang="en-US" sz="2400" b="1" dirty="0">
                <a:solidFill>
                  <a:schemeClr val="bg1"/>
                </a:solidFill>
                <a:latin typeface="+mj-lt" pitchFamily="34" charset="0"/>
                <a:ea typeface="+mj-lt" pitchFamily="34" charset="-122"/>
                <a:cs typeface="+mj-lt" pitchFamily="34" charset="-120"/>
              </a:rPr>
              <a:t>OneLake</a:t>
            </a:r>
            <a:endParaRPr lang="en-US" sz="2400" dirty="0"/>
          </a:p>
        </p:txBody>
      </p:sp>
      <p:sp>
        <p:nvSpPr>
          <p:cNvPr id="38" name="OneLake description"/>
          <p:cNvSpPr txBox="1"/>
          <p:nvPr/>
        </p:nvSpPr>
        <p:spPr>
          <a:xfrm>
            <a:off x="3017520" y="3675888"/>
            <a:ext cx="8351215" cy="777240"/>
          </a:xfrm>
          <a:prstGeom prst="rect">
            <a:avLst/>
          </a:prstGeom>
          <a:noFill/>
          <a:ln/>
        </p:spPr>
        <p:txBody>
          <a:bodyPr wrap="square" lIns="0" tIns="0" rIns="0" bIns="0" rtlCol="0" anchor="ctr"/>
          <a:lstStyle/>
          <a:p>
            <a:pPr indent="0" marL="0">
              <a:buNone/>
            </a:pPr>
            <a:r>
              <a:rPr lang="en-US" sz="1500" dirty="0">
                <a:solidFill>
                  <a:schemeClr val="bg1"/>
                </a:solidFill>
              </a:rPr>
              <a:t>One logical data lake for the whole tenant. One copy of the data, stored as open Delta and Parquet files.</a:t>
            </a:r>
            <a:endParaRPr lang="en-US" sz="1500" dirty="0"/>
          </a:p>
        </p:txBody>
      </p:sp>
      <p:sp>
        <p:nvSpPr>
          <p:cNvPr id="39" name="Capacity card"/>
          <p:cNvSpPr/>
          <p:nvPr/>
        </p:nvSpPr>
        <p:spPr>
          <a:xfrm>
            <a:off x="548640" y="4590288"/>
            <a:ext cx="5522976" cy="850392"/>
          </a:xfrm>
          <a:prstGeom prst="roundRect">
            <a:avLst>
              <a:gd name="adj" fmla="val 12903"/>
            </a:avLst>
          </a:prstGeom>
          <a:solidFill>
            <a:schemeClr val="bg2"/>
          </a:solidFill>
          <a:ln/>
        </p:spPr>
      </p:sp>
      <p:sp>
        <p:nvSpPr>
          <p:cNvPr id="40" name="Capacity badge"/>
          <p:cNvSpPr/>
          <p:nvPr/>
        </p:nvSpPr>
        <p:spPr>
          <a:xfrm>
            <a:off x="731520" y="4754880"/>
            <a:ext cx="502920" cy="502920"/>
          </a:xfrm>
          <a:prstGeom prst="ellipse">
            <a:avLst/>
          </a:prstGeom>
          <a:solidFill>
            <a:schemeClr val="accent2"/>
          </a:solidFill>
          <a:ln/>
        </p:spPr>
      </p:sp>
      <p:pic>
        <p:nvPicPr>
          <p:cNvPr id="41" name="Image 6" descr="Capacity icon">    </p:cNvPr>
          <p:cNvPicPr>
            <a:picLocks noChangeAspect="1"/>
          </p:cNvPicPr>
          <p:nvPr/>
        </p:nvPicPr>
        <p:blipFill>
          <a:blip r:embed="rId7"/>
          <a:stretch>
            <a:fillRect/>
          </a:stretch>
        </p:blipFill>
        <p:spPr>
          <a:xfrm>
            <a:off x="857250" y="4880610"/>
            <a:ext cx="251460" cy="251460"/>
          </a:xfrm>
          <a:prstGeom prst="rect">
            <a:avLst/>
          </a:prstGeom>
        </p:spPr>
      </p:pic>
      <p:sp>
        <p:nvSpPr>
          <p:cNvPr id="42" name="Base title"/>
          <p:cNvSpPr txBox="1"/>
          <p:nvPr/>
        </p:nvSpPr>
        <p:spPr>
          <a:xfrm>
            <a:off x="1417320" y="4663440"/>
            <a:ext cx="4480560" cy="274320"/>
          </a:xfrm>
          <a:prstGeom prst="rect">
            <a:avLst/>
          </a:prstGeom>
          <a:noFill/>
          <a:ln/>
        </p:spPr>
        <p:txBody>
          <a:bodyPr wrap="square" lIns="0" tIns="0" rIns="0" bIns="0" rtlCol="0" anchor="t"/>
          <a:lstStyle/>
          <a:p>
            <a:pPr indent="0" marL="0">
              <a:buNone/>
            </a:pPr>
            <a:r>
              <a:rPr lang="en-US" sz="1500" b="1" dirty="0">
                <a:solidFill>
                  <a:schemeClr val="tx1"/>
                </a:solidFill>
              </a:rPr>
              <a:t>Capacity</a:t>
            </a:r>
            <a:endParaRPr lang="en-US" sz="1500" dirty="0"/>
          </a:p>
        </p:txBody>
      </p:sp>
      <p:sp>
        <p:nvSpPr>
          <p:cNvPr id="43" name="Base text"/>
          <p:cNvSpPr txBox="1"/>
          <p:nvPr/>
        </p:nvSpPr>
        <p:spPr>
          <a:xfrm>
            <a:off x="1417320" y="4937760"/>
            <a:ext cx="4480560" cy="457200"/>
          </a:xfrm>
          <a:prstGeom prst="rect">
            <a:avLst/>
          </a:prstGeom>
          <a:noFill/>
          <a:ln/>
        </p:spPr>
        <p:txBody>
          <a:bodyPr wrap="square" lIns="0" tIns="0" rIns="0" bIns="0" rtlCol="0" anchor="t"/>
          <a:lstStyle/>
          <a:p>
            <a:pPr indent="0" marL="0">
              <a:buNone/>
            </a:pPr>
            <a:r>
              <a:rPr lang="en-US" sz="1250" dirty="0">
                <a:solidFill>
                  <a:schemeClr val="tx1"/>
                </a:solidFill>
              </a:rPr>
              <a:t>The compute your workspaces share. Disney provisions and sizes it.</a:t>
            </a:r>
            <a:endParaRPr lang="en-US" sz="1250" dirty="0"/>
          </a:p>
        </p:txBody>
      </p:sp>
      <p:sp>
        <p:nvSpPr>
          <p:cNvPr id="44" name="Identity and governance card"/>
          <p:cNvSpPr/>
          <p:nvPr/>
        </p:nvSpPr>
        <p:spPr>
          <a:xfrm>
            <a:off x="6117336" y="4590288"/>
            <a:ext cx="5522976" cy="850392"/>
          </a:xfrm>
          <a:prstGeom prst="roundRect">
            <a:avLst>
              <a:gd name="adj" fmla="val 12903"/>
            </a:avLst>
          </a:prstGeom>
          <a:solidFill>
            <a:schemeClr val="bg2"/>
          </a:solidFill>
          <a:ln/>
        </p:spPr>
      </p:sp>
      <p:sp>
        <p:nvSpPr>
          <p:cNvPr id="45" name="Identity and governance badge"/>
          <p:cNvSpPr/>
          <p:nvPr/>
        </p:nvSpPr>
        <p:spPr>
          <a:xfrm>
            <a:off x="6300216" y="4754880"/>
            <a:ext cx="502920" cy="502920"/>
          </a:xfrm>
          <a:prstGeom prst="ellipse">
            <a:avLst/>
          </a:prstGeom>
          <a:solidFill>
            <a:schemeClr val="accent2"/>
          </a:solidFill>
          <a:ln/>
        </p:spPr>
      </p:sp>
      <p:pic>
        <p:nvPicPr>
          <p:cNvPr id="46" name="Image 7" descr="Identity and governance icon">    </p:cNvPr>
          <p:cNvPicPr>
            <a:picLocks noChangeAspect="1"/>
          </p:cNvPicPr>
          <p:nvPr/>
        </p:nvPicPr>
        <p:blipFill>
          <a:blip r:embed="rId8"/>
          <a:stretch>
            <a:fillRect/>
          </a:stretch>
        </p:blipFill>
        <p:spPr>
          <a:xfrm>
            <a:off x="6425946" y="4880610"/>
            <a:ext cx="251460" cy="251460"/>
          </a:xfrm>
          <a:prstGeom prst="rect">
            <a:avLst/>
          </a:prstGeom>
        </p:spPr>
      </p:pic>
      <p:sp>
        <p:nvSpPr>
          <p:cNvPr id="47" name="Base title"/>
          <p:cNvSpPr txBox="1"/>
          <p:nvPr/>
        </p:nvSpPr>
        <p:spPr>
          <a:xfrm>
            <a:off x="6986016" y="4663440"/>
            <a:ext cx="4480560" cy="274320"/>
          </a:xfrm>
          <a:prstGeom prst="rect">
            <a:avLst/>
          </a:prstGeom>
          <a:noFill/>
          <a:ln/>
        </p:spPr>
        <p:txBody>
          <a:bodyPr wrap="square" lIns="0" tIns="0" rIns="0" bIns="0" rtlCol="0" anchor="t"/>
          <a:lstStyle/>
          <a:p>
            <a:pPr indent="0" marL="0">
              <a:buNone/>
            </a:pPr>
            <a:r>
              <a:rPr lang="en-US" sz="1500" b="1" dirty="0">
                <a:solidFill>
                  <a:schemeClr val="tx1"/>
                </a:solidFill>
              </a:rPr>
              <a:t>Identity and governance</a:t>
            </a:r>
            <a:endParaRPr lang="en-US" sz="1500" dirty="0"/>
          </a:p>
        </p:txBody>
      </p:sp>
      <p:sp>
        <p:nvSpPr>
          <p:cNvPr id="48" name="Base text"/>
          <p:cNvSpPr txBox="1"/>
          <p:nvPr/>
        </p:nvSpPr>
        <p:spPr>
          <a:xfrm>
            <a:off x="6986016" y="4937760"/>
            <a:ext cx="4480560" cy="457200"/>
          </a:xfrm>
          <a:prstGeom prst="rect">
            <a:avLst/>
          </a:prstGeom>
          <a:noFill/>
          <a:ln/>
        </p:spPr>
        <p:txBody>
          <a:bodyPr wrap="square" lIns="0" tIns="0" rIns="0" bIns="0" rtlCol="0" anchor="t"/>
          <a:lstStyle/>
          <a:p>
            <a:pPr indent="0" marL="0">
              <a:buNone/>
            </a:pPr>
            <a:r>
              <a:rPr lang="en-US" sz="1250" dirty="0">
                <a:solidFill>
                  <a:schemeClr val="tx1"/>
                </a:solidFill>
              </a:rPr>
              <a:t>Microsoft Entra ID sign-in, workspace roles and Disney Enterprise Technology standards.</a:t>
            </a:r>
            <a:endParaRPr lang="en-US" sz="1250" dirty="0"/>
          </a:p>
        </p:txBody>
      </p:sp>
      <p:sp>
        <p:nvSpPr>
          <p:cNvPr id="49" name="Takeaway"/>
          <p:cNvSpPr txBox="1"/>
          <p:nvPr/>
        </p:nvSpPr>
        <p:spPr>
          <a:xfrm>
            <a:off x="548640" y="562356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Every Fabric tool reads and writes the same OneLake data, so a notebook, a pipeline and a report can share one table.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FABRIC AT DISNEY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Same job, new home: from Alteryx to Fabric</a:t>
            </a:r>
            <a:endParaRPr lang="en-US" sz="3200" dirty="0"/>
          </a:p>
        </p:txBody>
      </p:sp>
      <p:sp>
        <p:nvSpPr>
          <p:cNvPr id="5" name="Today header"/>
          <p:cNvSpPr txBox="1"/>
          <p:nvPr/>
        </p:nvSpPr>
        <p:spPr>
          <a:xfrm>
            <a:off x="2788920" y="1783080"/>
            <a:ext cx="4023360" cy="274320"/>
          </a:xfrm>
          <a:prstGeom prst="rect">
            <a:avLst/>
          </a:prstGeom>
          <a:noFill/>
          <a:ln/>
        </p:spPr>
        <p:txBody>
          <a:bodyPr wrap="square" lIns="0" tIns="0" rIns="0" bIns="0" rtlCol="0" anchor="t"/>
          <a:lstStyle/>
          <a:p>
            <a:pPr indent="0" marL="0">
              <a:buNone/>
            </a:pPr>
            <a:r>
              <a:rPr lang="en-US" sz="1200" b="1" spc="200" kern="0" dirty="0">
                <a:solidFill>
                  <a:schemeClr val="tx2"/>
                </a:solidFill>
              </a:rPr>
              <a:t>TODAY: ALTERYX</a:t>
            </a:r>
            <a:endParaRPr lang="en-US" sz="1200" dirty="0"/>
          </a:p>
        </p:txBody>
      </p:sp>
      <p:sp>
        <p:nvSpPr>
          <p:cNvPr id="6" name="Target header"/>
          <p:cNvSpPr txBox="1"/>
          <p:nvPr/>
        </p:nvSpPr>
        <p:spPr>
          <a:xfrm>
            <a:off x="7452360" y="1783080"/>
            <a:ext cx="41148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TARGET: FABRIC</a:t>
            </a:r>
            <a:endParaRPr lang="en-US" sz="1200" dirty="0"/>
          </a:p>
        </p:txBody>
      </p:sp>
      <p:sp>
        <p:nvSpPr>
          <p:cNvPr id="7" name="Where data comes from badge"/>
          <p:cNvSpPr/>
          <p:nvPr/>
        </p:nvSpPr>
        <p:spPr>
          <a:xfrm>
            <a:off x="548640" y="2286000"/>
            <a:ext cx="457200" cy="457200"/>
          </a:xfrm>
          <a:prstGeom prst="ellipse">
            <a:avLst/>
          </a:prstGeom>
          <a:solidFill>
            <a:schemeClr val="tx2"/>
          </a:solidFill>
          <a:ln/>
        </p:spPr>
      </p:sp>
      <p:pic>
        <p:nvPicPr>
          <p:cNvPr id="8" name="Image 0" descr="Where data comes from icon">    </p:cNvPr>
          <p:cNvPicPr>
            <a:picLocks noChangeAspect="1"/>
          </p:cNvPicPr>
          <p:nvPr/>
        </p:nvPicPr>
        <p:blipFill>
          <a:blip r:embed="rId1"/>
          <a:stretch>
            <a:fillRect/>
          </a:stretch>
        </p:blipFill>
        <p:spPr>
          <a:xfrm>
            <a:off x="662940" y="2400300"/>
            <a:ext cx="228600" cy="228600"/>
          </a:xfrm>
          <a:prstGeom prst="rect">
            <a:avLst/>
          </a:prstGeom>
        </p:spPr>
      </p:pic>
      <p:sp>
        <p:nvSpPr>
          <p:cNvPr id="9" name="Row label"/>
          <p:cNvSpPr txBox="1"/>
          <p:nvPr/>
        </p:nvSpPr>
        <p:spPr>
          <a:xfrm>
            <a:off x="1143000" y="2221992"/>
            <a:ext cx="1600200" cy="594360"/>
          </a:xfrm>
          <a:prstGeom prst="rect">
            <a:avLst/>
          </a:prstGeom>
          <a:noFill/>
          <a:ln/>
        </p:spPr>
        <p:txBody>
          <a:bodyPr wrap="square" lIns="0" tIns="0" rIns="0" bIns="0" rtlCol="0" anchor="ctr"/>
          <a:lstStyle/>
          <a:p>
            <a:pPr indent="0" marL="0">
              <a:buNone/>
            </a:pPr>
            <a:r>
              <a:rPr lang="en-US" sz="1350" b="1" dirty="0">
                <a:solidFill>
                  <a:schemeClr val="tx1"/>
                </a:solidFill>
              </a:rPr>
              <a:t>Where data comes from</a:t>
            </a:r>
            <a:endParaRPr lang="en-US" sz="1350" dirty="0"/>
          </a:p>
        </p:txBody>
      </p:sp>
      <p:sp>
        <p:nvSpPr>
          <p:cNvPr id="10" name="Today card 1"/>
          <p:cNvSpPr/>
          <p:nvPr/>
        </p:nvSpPr>
        <p:spPr>
          <a:xfrm>
            <a:off x="2788920" y="2176272"/>
            <a:ext cx="4069080" cy="694944"/>
          </a:xfrm>
          <a:prstGeom prst="roundRect">
            <a:avLst>
              <a:gd name="adj" fmla="val 15789"/>
            </a:avLst>
          </a:prstGeom>
          <a:solidFill>
            <a:schemeClr val="bg2"/>
          </a:solidFill>
          <a:ln/>
        </p:spPr>
      </p:sp>
      <p:sp>
        <p:nvSpPr>
          <p:cNvPr id="11" name="Today text"/>
          <p:cNvSpPr txBox="1"/>
          <p:nvPr/>
        </p:nvSpPr>
        <p:spPr>
          <a:xfrm>
            <a:off x="2971800" y="2176272"/>
            <a:ext cx="3749040" cy="694944"/>
          </a:xfrm>
          <a:prstGeom prst="rect">
            <a:avLst/>
          </a:prstGeom>
          <a:noFill/>
          <a:ln/>
        </p:spPr>
        <p:txBody>
          <a:bodyPr wrap="square" lIns="0" tIns="0" rIns="0" bIns="0" rtlCol="0" anchor="ctr"/>
          <a:lstStyle/>
          <a:p>
            <a:pPr indent="0" marL="0">
              <a:buNone/>
            </a:pPr>
            <a:r>
              <a:rPr lang="en-US" sz="1300" dirty="0">
                <a:solidFill>
                  <a:schemeClr val="tx1"/>
                </a:solidFill>
              </a:rPr>
              <a:t>Snowflake, SAP / EDP, and CSV and Excel files on network drives</a:t>
            </a:r>
            <a:endParaRPr lang="en-US" sz="1300" dirty="0"/>
          </a:p>
        </p:txBody>
      </p:sp>
      <p:sp>
        <p:nvSpPr>
          <p:cNvPr id="12" name="Arrow 1"/>
          <p:cNvSpPr/>
          <p:nvPr/>
        </p:nvSpPr>
        <p:spPr>
          <a:xfrm>
            <a:off x="6967728" y="2350008"/>
            <a:ext cx="347472" cy="347472"/>
          </a:xfrm>
          <a:prstGeom prst="rightArrow">
            <a:avLst/>
          </a:prstGeom>
          <a:solidFill>
            <a:schemeClr val="accent5"/>
          </a:solidFill>
          <a:ln/>
        </p:spPr>
      </p:sp>
      <p:sp>
        <p:nvSpPr>
          <p:cNvPr id="13" name="Target card 1"/>
          <p:cNvSpPr/>
          <p:nvPr/>
        </p:nvSpPr>
        <p:spPr>
          <a:xfrm>
            <a:off x="7424928" y="2176272"/>
            <a:ext cx="4215384" cy="694944"/>
          </a:xfrm>
          <a:prstGeom prst="roundRect">
            <a:avLst>
              <a:gd name="adj" fmla="val 15789"/>
            </a:avLst>
          </a:prstGeom>
          <a:solidFill>
            <a:schemeClr val="accent2">
              <a:alpha val="18000"/>
            </a:schemeClr>
          </a:solidFill>
          <a:ln/>
        </p:spPr>
      </p:sp>
      <p:sp>
        <p:nvSpPr>
          <p:cNvPr id="14" name="Target text"/>
          <p:cNvSpPr txBox="1"/>
          <p:nvPr/>
        </p:nvSpPr>
        <p:spPr>
          <a:xfrm>
            <a:off x="7607808" y="2176272"/>
            <a:ext cx="3886200" cy="694944"/>
          </a:xfrm>
          <a:prstGeom prst="rect">
            <a:avLst/>
          </a:prstGeom>
          <a:noFill/>
          <a:ln/>
        </p:spPr>
        <p:txBody>
          <a:bodyPr wrap="square" lIns="0" tIns="0" rIns="0" bIns="0" rtlCol="0" anchor="ctr"/>
          <a:lstStyle/>
          <a:p>
            <a:pPr indent="0" marL="0">
              <a:buNone/>
            </a:pPr>
            <a:r>
              <a:rPr lang="en-US" sz="1300" dirty="0">
                <a:solidFill>
                  <a:schemeClr val="tx1"/>
                </a:solidFill>
              </a:rPr>
              <a:t>The same sources, landed in a lakehouse in OneLake</a:t>
            </a:r>
            <a:endParaRPr lang="en-US" sz="1300" dirty="0"/>
          </a:p>
        </p:txBody>
      </p:sp>
      <p:sp>
        <p:nvSpPr>
          <p:cNvPr id="15" name="Where the logic runs badge"/>
          <p:cNvSpPr/>
          <p:nvPr/>
        </p:nvSpPr>
        <p:spPr>
          <a:xfrm>
            <a:off x="548640" y="3090672"/>
            <a:ext cx="457200" cy="457200"/>
          </a:xfrm>
          <a:prstGeom prst="ellipse">
            <a:avLst/>
          </a:prstGeom>
          <a:solidFill>
            <a:schemeClr val="tx2"/>
          </a:solidFill>
          <a:ln/>
        </p:spPr>
      </p:sp>
      <p:pic>
        <p:nvPicPr>
          <p:cNvPr id="16" name="Image 1" descr="Where the logic runs icon">    </p:cNvPr>
          <p:cNvPicPr>
            <a:picLocks noChangeAspect="1"/>
          </p:cNvPicPr>
          <p:nvPr/>
        </p:nvPicPr>
        <p:blipFill>
          <a:blip r:embed="rId2"/>
          <a:stretch>
            <a:fillRect/>
          </a:stretch>
        </p:blipFill>
        <p:spPr>
          <a:xfrm>
            <a:off x="662940" y="3204972"/>
            <a:ext cx="228600" cy="228600"/>
          </a:xfrm>
          <a:prstGeom prst="rect">
            <a:avLst/>
          </a:prstGeom>
        </p:spPr>
      </p:pic>
      <p:sp>
        <p:nvSpPr>
          <p:cNvPr id="17" name="Row label"/>
          <p:cNvSpPr txBox="1"/>
          <p:nvPr/>
        </p:nvSpPr>
        <p:spPr>
          <a:xfrm>
            <a:off x="1143000" y="3026664"/>
            <a:ext cx="1600200" cy="594360"/>
          </a:xfrm>
          <a:prstGeom prst="rect">
            <a:avLst/>
          </a:prstGeom>
          <a:noFill/>
          <a:ln/>
        </p:spPr>
        <p:txBody>
          <a:bodyPr wrap="square" lIns="0" tIns="0" rIns="0" bIns="0" rtlCol="0" anchor="ctr"/>
          <a:lstStyle/>
          <a:p>
            <a:pPr indent="0" marL="0">
              <a:buNone/>
            </a:pPr>
            <a:r>
              <a:rPr lang="en-US" sz="1350" b="1" dirty="0">
                <a:solidFill>
                  <a:schemeClr val="tx1"/>
                </a:solidFill>
              </a:rPr>
              <a:t>Where the logic runs</a:t>
            </a:r>
            <a:endParaRPr lang="en-US" sz="1350" dirty="0"/>
          </a:p>
        </p:txBody>
      </p:sp>
      <p:sp>
        <p:nvSpPr>
          <p:cNvPr id="18" name="Today card 2"/>
          <p:cNvSpPr/>
          <p:nvPr/>
        </p:nvSpPr>
        <p:spPr>
          <a:xfrm>
            <a:off x="2788920" y="2980944"/>
            <a:ext cx="4069080" cy="694944"/>
          </a:xfrm>
          <a:prstGeom prst="roundRect">
            <a:avLst>
              <a:gd name="adj" fmla="val 15789"/>
            </a:avLst>
          </a:prstGeom>
          <a:solidFill>
            <a:schemeClr val="bg2"/>
          </a:solidFill>
          <a:ln/>
        </p:spPr>
      </p:sp>
      <p:sp>
        <p:nvSpPr>
          <p:cNvPr id="19" name="Today text"/>
          <p:cNvSpPr txBox="1"/>
          <p:nvPr/>
        </p:nvSpPr>
        <p:spPr>
          <a:xfrm>
            <a:off x="2971800" y="2980944"/>
            <a:ext cx="3749040" cy="694944"/>
          </a:xfrm>
          <a:prstGeom prst="rect">
            <a:avLst/>
          </a:prstGeom>
          <a:noFill/>
          <a:ln/>
        </p:spPr>
        <p:txBody>
          <a:bodyPr wrap="square" lIns="0" tIns="0" rIns="0" bIns="0" rtlCol="0" anchor="ctr"/>
          <a:lstStyle/>
          <a:p>
            <a:pPr indent="0" marL="0">
              <a:buNone/>
            </a:pPr>
            <a:r>
              <a:rPr lang="en-US" sz="1300" dirty="0">
                <a:solidFill>
                  <a:schemeClr val="tx1"/>
                </a:solidFill>
              </a:rPr>
              <a:t>Alteryx workflows on Designer and Server</a:t>
            </a:r>
            <a:endParaRPr lang="en-US" sz="1300" dirty="0"/>
          </a:p>
        </p:txBody>
      </p:sp>
      <p:sp>
        <p:nvSpPr>
          <p:cNvPr id="20" name="Arrow 2"/>
          <p:cNvSpPr/>
          <p:nvPr/>
        </p:nvSpPr>
        <p:spPr>
          <a:xfrm>
            <a:off x="6967728" y="3154680"/>
            <a:ext cx="347472" cy="347472"/>
          </a:xfrm>
          <a:prstGeom prst="rightArrow">
            <a:avLst/>
          </a:prstGeom>
          <a:solidFill>
            <a:schemeClr val="accent5"/>
          </a:solidFill>
          <a:ln/>
        </p:spPr>
      </p:sp>
      <p:sp>
        <p:nvSpPr>
          <p:cNvPr id="21" name="Target card 2"/>
          <p:cNvSpPr/>
          <p:nvPr/>
        </p:nvSpPr>
        <p:spPr>
          <a:xfrm>
            <a:off x="7424928" y="2980944"/>
            <a:ext cx="4215384" cy="694944"/>
          </a:xfrm>
          <a:prstGeom prst="roundRect">
            <a:avLst>
              <a:gd name="adj" fmla="val 15789"/>
            </a:avLst>
          </a:prstGeom>
          <a:solidFill>
            <a:schemeClr val="accent2">
              <a:alpha val="18000"/>
            </a:schemeClr>
          </a:solidFill>
          <a:ln/>
        </p:spPr>
      </p:sp>
      <p:sp>
        <p:nvSpPr>
          <p:cNvPr id="22" name="Target text"/>
          <p:cNvSpPr txBox="1"/>
          <p:nvPr/>
        </p:nvSpPr>
        <p:spPr>
          <a:xfrm>
            <a:off x="7607808" y="2980944"/>
            <a:ext cx="3886200" cy="694944"/>
          </a:xfrm>
          <a:prstGeom prst="rect">
            <a:avLst/>
          </a:prstGeom>
          <a:noFill/>
          <a:ln/>
        </p:spPr>
        <p:txBody>
          <a:bodyPr wrap="square" lIns="0" tIns="0" rIns="0" bIns="0" rtlCol="0" anchor="ctr"/>
          <a:lstStyle/>
          <a:p>
            <a:pPr indent="0" marL="0">
              <a:buNone/>
            </a:pPr>
            <a:r>
              <a:rPr lang="en-US" sz="1300" dirty="0">
                <a:solidFill>
                  <a:schemeClr val="tx1"/>
                </a:solidFill>
              </a:rPr>
              <a:t>Notebooks in Python and SQL, orchestrated by pipelines</a:t>
            </a:r>
            <a:endParaRPr lang="en-US" sz="1300" dirty="0"/>
          </a:p>
        </p:txBody>
      </p:sp>
      <p:sp>
        <p:nvSpPr>
          <p:cNvPr id="23" name="Where results go badge"/>
          <p:cNvSpPr/>
          <p:nvPr/>
        </p:nvSpPr>
        <p:spPr>
          <a:xfrm>
            <a:off x="548640" y="3895344"/>
            <a:ext cx="457200" cy="457200"/>
          </a:xfrm>
          <a:prstGeom prst="ellipse">
            <a:avLst/>
          </a:prstGeom>
          <a:solidFill>
            <a:schemeClr val="tx2"/>
          </a:solidFill>
          <a:ln/>
        </p:spPr>
      </p:sp>
      <p:pic>
        <p:nvPicPr>
          <p:cNvPr id="24" name="Image 2" descr="Where results go icon">    </p:cNvPr>
          <p:cNvPicPr>
            <a:picLocks noChangeAspect="1"/>
          </p:cNvPicPr>
          <p:nvPr/>
        </p:nvPicPr>
        <p:blipFill>
          <a:blip r:embed="rId3"/>
          <a:stretch>
            <a:fillRect/>
          </a:stretch>
        </p:blipFill>
        <p:spPr>
          <a:xfrm>
            <a:off x="662940" y="4009644"/>
            <a:ext cx="228600" cy="228600"/>
          </a:xfrm>
          <a:prstGeom prst="rect">
            <a:avLst/>
          </a:prstGeom>
        </p:spPr>
      </p:pic>
      <p:sp>
        <p:nvSpPr>
          <p:cNvPr id="25" name="Row label"/>
          <p:cNvSpPr txBox="1"/>
          <p:nvPr/>
        </p:nvSpPr>
        <p:spPr>
          <a:xfrm>
            <a:off x="1143000" y="3831336"/>
            <a:ext cx="1600200" cy="594360"/>
          </a:xfrm>
          <a:prstGeom prst="rect">
            <a:avLst/>
          </a:prstGeom>
          <a:noFill/>
          <a:ln/>
        </p:spPr>
        <p:txBody>
          <a:bodyPr wrap="square" lIns="0" tIns="0" rIns="0" bIns="0" rtlCol="0" anchor="ctr"/>
          <a:lstStyle/>
          <a:p>
            <a:pPr indent="0" marL="0">
              <a:buNone/>
            </a:pPr>
            <a:r>
              <a:rPr lang="en-US" sz="1350" b="1" dirty="0">
                <a:solidFill>
                  <a:schemeClr val="tx1"/>
                </a:solidFill>
              </a:rPr>
              <a:t>Where results go</a:t>
            </a:r>
            <a:endParaRPr lang="en-US" sz="1350" dirty="0"/>
          </a:p>
        </p:txBody>
      </p:sp>
      <p:sp>
        <p:nvSpPr>
          <p:cNvPr id="26" name="Today card 3"/>
          <p:cNvSpPr/>
          <p:nvPr/>
        </p:nvSpPr>
        <p:spPr>
          <a:xfrm>
            <a:off x="2788920" y="3785616"/>
            <a:ext cx="4069080" cy="694944"/>
          </a:xfrm>
          <a:prstGeom prst="roundRect">
            <a:avLst>
              <a:gd name="adj" fmla="val 15789"/>
            </a:avLst>
          </a:prstGeom>
          <a:solidFill>
            <a:schemeClr val="bg2"/>
          </a:solidFill>
          <a:ln/>
        </p:spPr>
      </p:sp>
      <p:sp>
        <p:nvSpPr>
          <p:cNvPr id="27" name="Today text"/>
          <p:cNvSpPr txBox="1"/>
          <p:nvPr/>
        </p:nvSpPr>
        <p:spPr>
          <a:xfrm>
            <a:off x="2971800" y="3785616"/>
            <a:ext cx="3749040" cy="694944"/>
          </a:xfrm>
          <a:prstGeom prst="rect">
            <a:avLst/>
          </a:prstGeom>
          <a:noFill/>
          <a:ln/>
        </p:spPr>
        <p:txBody>
          <a:bodyPr wrap="square" lIns="0" tIns="0" rIns="0" bIns="0" rtlCol="0" anchor="ctr"/>
          <a:lstStyle/>
          <a:p>
            <a:pPr indent="0" marL="0">
              <a:buNone/>
            </a:pPr>
            <a:r>
              <a:rPr lang="en-US" sz="1300" dirty="0">
                <a:solidFill>
                  <a:schemeClr val="tx1"/>
                </a:solidFill>
              </a:rPr>
              <a:t>Excel workpapers, large CSV files, Data Hub collections</a:t>
            </a:r>
            <a:endParaRPr lang="en-US" sz="1300" dirty="0"/>
          </a:p>
        </p:txBody>
      </p:sp>
      <p:sp>
        <p:nvSpPr>
          <p:cNvPr id="28" name="Arrow 3"/>
          <p:cNvSpPr/>
          <p:nvPr/>
        </p:nvSpPr>
        <p:spPr>
          <a:xfrm>
            <a:off x="6967728" y="3959352"/>
            <a:ext cx="347472" cy="347472"/>
          </a:xfrm>
          <a:prstGeom prst="rightArrow">
            <a:avLst/>
          </a:prstGeom>
          <a:solidFill>
            <a:schemeClr val="accent5"/>
          </a:solidFill>
          <a:ln/>
        </p:spPr>
      </p:sp>
      <p:sp>
        <p:nvSpPr>
          <p:cNvPr id="29" name="Target card 3"/>
          <p:cNvSpPr/>
          <p:nvPr/>
        </p:nvSpPr>
        <p:spPr>
          <a:xfrm>
            <a:off x="7424928" y="3785616"/>
            <a:ext cx="4215384" cy="694944"/>
          </a:xfrm>
          <a:prstGeom prst="roundRect">
            <a:avLst>
              <a:gd name="adj" fmla="val 15789"/>
            </a:avLst>
          </a:prstGeom>
          <a:solidFill>
            <a:schemeClr val="accent2">
              <a:alpha val="18000"/>
            </a:schemeClr>
          </a:solidFill>
          <a:ln/>
        </p:spPr>
      </p:sp>
      <p:sp>
        <p:nvSpPr>
          <p:cNvPr id="30" name="Target text"/>
          <p:cNvSpPr txBox="1"/>
          <p:nvPr/>
        </p:nvSpPr>
        <p:spPr>
          <a:xfrm>
            <a:off x="7607808" y="3785616"/>
            <a:ext cx="3886200" cy="694944"/>
          </a:xfrm>
          <a:prstGeom prst="rect">
            <a:avLst/>
          </a:prstGeom>
          <a:noFill/>
          <a:ln/>
        </p:spPr>
        <p:txBody>
          <a:bodyPr wrap="square" lIns="0" tIns="0" rIns="0" bIns="0" rtlCol="0" anchor="ctr"/>
          <a:lstStyle/>
          <a:p>
            <a:pPr indent="0" marL="0">
              <a:buNone/>
            </a:pPr>
            <a:r>
              <a:rPr lang="en-US" sz="1300" dirty="0">
                <a:solidFill>
                  <a:schemeClr val="tx1"/>
                </a:solidFill>
              </a:rPr>
              <a:t>Delta tables that Power BI, Excel and applications read</a:t>
            </a:r>
            <a:endParaRPr lang="en-US" sz="1300" dirty="0"/>
          </a:p>
        </p:txBody>
      </p:sp>
      <p:sp>
        <p:nvSpPr>
          <p:cNvPr id="31" name="How it gets run badge"/>
          <p:cNvSpPr/>
          <p:nvPr/>
        </p:nvSpPr>
        <p:spPr>
          <a:xfrm>
            <a:off x="548640" y="4700016"/>
            <a:ext cx="457200" cy="457200"/>
          </a:xfrm>
          <a:prstGeom prst="ellipse">
            <a:avLst/>
          </a:prstGeom>
          <a:solidFill>
            <a:schemeClr val="tx2"/>
          </a:solidFill>
          <a:ln/>
        </p:spPr>
      </p:sp>
      <p:pic>
        <p:nvPicPr>
          <p:cNvPr id="32" name="Image 3" descr="How it gets run icon">    </p:cNvPr>
          <p:cNvPicPr>
            <a:picLocks noChangeAspect="1"/>
          </p:cNvPicPr>
          <p:nvPr/>
        </p:nvPicPr>
        <p:blipFill>
          <a:blip r:embed="rId4"/>
          <a:stretch>
            <a:fillRect/>
          </a:stretch>
        </p:blipFill>
        <p:spPr>
          <a:xfrm>
            <a:off x="662940" y="4814316"/>
            <a:ext cx="228600" cy="228600"/>
          </a:xfrm>
          <a:prstGeom prst="rect">
            <a:avLst/>
          </a:prstGeom>
        </p:spPr>
      </p:pic>
      <p:sp>
        <p:nvSpPr>
          <p:cNvPr id="33" name="Row label"/>
          <p:cNvSpPr txBox="1"/>
          <p:nvPr/>
        </p:nvSpPr>
        <p:spPr>
          <a:xfrm>
            <a:off x="1143000" y="4636008"/>
            <a:ext cx="1600200" cy="594360"/>
          </a:xfrm>
          <a:prstGeom prst="rect">
            <a:avLst/>
          </a:prstGeom>
          <a:noFill/>
          <a:ln/>
        </p:spPr>
        <p:txBody>
          <a:bodyPr wrap="square" lIns="0" tIns="0" rIns="0" bIns="0" rtlCol="0" anchor="ctr"/>
          <a:lstStyle/>
          <a:p>
            <a:pPr indent="0" marL="0">
              <a:buNone/>
            </a:pPr>
            <a:r>
              <a:rPr lang="en-US" sz="1350" b="1" dirty="0">
                <a:solidFill>
                  <a:schemeClr val="tx1"/>
                </a:solidFill>
              </a:rPr>
              <a:t>How it gets run</a:t>
            </a:r>
            <a:endParaRPr lang="en-US" sz="1350" dirty="0"/>
          </a:p>
        </p:txBody>
      </p:sp>
      <p:sp>
        <p:nvSpPr>
          <p:cNvPr id="34" name="Today card 4"/>
          <p:cNvSpPr/>
          <p:nvPr/>
        </p:nvSpPr>
        <p:spPr>
          <a:xfrm>
            <a:off x="2788920" y="4590288"/>
            <a:ext cx="4069080" cy="694944"/>
          </a:xfrm>
          <a:prstGeom prst="roundRect">
            <a:avLst>
              <a:gd name="adj" fmla="val 15789"/>
            </a:avLst>
          </a:prstGeom>
          <a:solidFill>
            <a:schemeClr val="bg2"/>
          </a:solidFill>
          <a:ln/>
        </p:spPr>
      </p:sp>
      <p:sp>
        <p:nvSpPr>
          <p:cNvPr id="35" name="Today text"/>
          <p:cNvSpPr txBox="1"/>
          <p:nvPr/>
        </p:nvSpPr>
        <p:spPr>
          <a:xfrm>
            <a:off x="2971800" y="4590288"/>
            <a:ext cx="3749040" cy="694944"/>
          </a:xfrm>
          <a:prstGeom prst="rect">
            <a:avLst/>
          </a:prstGeom>
          <a:noFill/>
          <a:ln/>
        </p:spPr>
        <p:txBody>
          <a:bodyPr wrap="square" lIns="0" tIns="0" rIns="0" bIns="0" rtlCol="0" anchor="ctr"/>
          <a:lstStyle/>
          <a:p>
            <a:pPr indent="0" marL="0">
              <a:buNone/>
            </a:pPr>
            <a:r>
              <a:rPr lang="en-US" sz="1300" dirty="0">
                <a:solidFill>
                  <a:schemeClr val="tx1"/>
                </a:solidFill>
              </a:rPr>
              <a:t>Opened and run by the Tax team from the Alteryx Gallery</a:t>
            </a:r>
            <a:endParaRPr lang="en-US" sz="1300" dirty="0"/>
          </a:p>
        </p:txBody>
      </p:sp>
      <p:sp>
        <p:nvSpPr>
          <p:cNvPr id="36" name="Arrow 4"/>
          <p:cNvSpPr/>
          <p:nvPr/>
        </p:nvSpPr>
        <p:spPr>
          <a:xfrm>
            <a:off x="6967728" y="4764024"/>
            <a:ext cx="347472" cy="347472"/>
          </a:xfrm>
          <a:prstGeom prst="rightArrow">
            <a:avLst/>
          </a:prstGeom>
          <a:solidFill>
            <a:schemeClr val="accent5"/>
          </a:solidFill>
          <a:ln/>
        </p:spPr>
      </p:sp>
      <p:sp>
        <p:nvSpPr>
          <p:cNvPr id="37" name="Target card 4"/>
          <p:cNvSpPr/>
          <p:nvPr/>
        </p:nvSpPr>
        <p:spPr>
          <a:xfrm>
            <a:off x="7424928" y="4590288"/>
            <a:ext cx="4215384" cy="694944"/>
          </a:xfrm>
          <a:prstGeom prst="roundRect">
            <a:avLst>
              <a:gd name="adj" fmla="val 15789"/>
            </a:avLst>
          </a:prstGeom>
          <a:solidFill>
            <a:schemeClr val="accent2">
              <a:alpha val="18000"/>
            </a:schemeClr>
          </a:solidFill>
          <a:ln/>
        </p:spPr>
      </p:sp>
      <p:sp>
        <p:nvSpPr>
          <p:cNvPr id="38" name="Target text"/>
          <p:cNvSpPr txBox="1"/>
          <p:nvPr/>
        </p:nvSpPr>
        <p:spPr>
          <a:xfrm>
            <a:off x="7607808" y="4590288"/>
            <a:ext cx="3886200" cy="694944"/>
          </a:xfrm>
          <a:prstGeom prst="rect">
            <a:avLst/>
          </a:prstGeom>
          <a:noFill/>
          <a:ln/>
        </p:spPr>
        <p:txBody>
          <a:bodyPr wrap="square" lIns="0" tIns="0" rIns="0" bIns="0" rtlCol="0" anchor="ctr"/>
          <a:lstStyle/>
          <a:p>
            <a:pPr indent="0" marL="0">
              <a:buNone/>
            </a:pPr>
            <a:r>
              <a:rPr lang="en-US" sz="1300" dirty="0">
                <a:solidFill>
                  <a:schemeClr val="tx1"/>
                </a:solidFill>
              </a:rPr>
              <a:t>Pipeline runs, triggered by business users from a portal (Day Two)</a:t>
            </a:r>
            <a:endParaRPr lang="en-US" sz="1300" dirty="0"/>
          </a:p>
        </p:txBody>
      </p:sp>
      <p:sp>
        <p:nvSpPr>
          <p:cNvPr id="39" name="Takeaway"/>
          <p:cNvSpPr txBox="1"/>
          <p:nvPr/>
        </p:nvSpPr>
        <p:spPr>
          <a:xfrm>
            <a:off x="548640" y="557784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The business logic carries over. The tools that express it, and the way people run it, change.</a:t>
            </a:r>
            <a:endParaRPr lang="en-US" sz="1600" dirty="0"/>
          </a:p>
        </p:txBody>
      </p:sp>
      <p:sp>
        <p:nvSpPr>
          <p:cNvPr id="40" name="Footnote"/>
          <p:cNvSpPr txBox="1"/>
          <p:nvPr/>
        </p:nvSpPr>
        <p:spPr>
          <a:xfrm>
            <a:off x="548640" y="6199632"/>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Domestic DST workflow documentation; agreed agenda modules 03 and 04.</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FABRIC AT DISNEY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Four layers explain how Fabric is set up</a:t>
            </a:r>
            <a:endParaRPr lang="en-US" sz="3200" dirty="0"/>
          </a:p>
        </p:txBody>
      </p:sp>
      <p:sp>
        <p:nvSpPr>
          <p:cNvPr id="5" name="Layer 1"/>
          <p:cNvSpPr/>
          <p:nvPr/>
        </p:nvSpPr>
        <p:spPr>
          <a:xfrm>
            <a:off x="548640" y="1783080"/>
            <a:ext cx="2560320" cy="1874520"/>
          </a:xfrm>
          <a:prstGeom prst="roundRect">
            <a:avLst>
              <a:gd name="adj" fmla="val 5854"/>
            </a:avLst>
          </a:prstGeom>
          <a:solidFill>
            <a:schemeClr val="bg2"/>
          </a:solidFill>
          <a:ln/>
        </p:spPr>
      </p:sp>
      <p:sp>
        <p:nvSpPr>
          <p:cNvPr id="6" name="Layer number"/>
          <p:cNvSpPr txBox="1"/>
          <p:nvPr/>
        </p:nvSpPr>
        <p:spPr>
          <a:xfrm>
            <a:off x="749808" y="1874520"/>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1</a:t>
            </a:r>
            <a:endParaRPr lang="en-US" sz="3200" dirty="0"/>
          </a:p>
        </p:txBody>
      </p:sp>
      <p:sp>
        <p:nvSpPr>
          <p:cNvPr id="7" name="Layer name"/>
          <p:cNvSpPr txBox="1"/>
          <p:nvPr/>
        </p:nvSpPr>
        <p:spPr>
          <a:xfrm>
            <a:off x="749808" y="2423160"/>
            <a:ext cx="2194560" cy="32004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Tenant</a:t>
            </a:r>
            <a:endParaRPr lang="en-US" sz="1900" dirty="0"/>
          </a:p>
        </p:txBody>
      </p:sp>
      <p:sp>
        <p:nvSpPr>
          <p:cNvPr id="8" name="Layer description"/>
          <p:cNvSpPr txBox="1"/>
          <p:nvPr/>
        </p:nvSpPr>
        <p:spPr>
          <a:xfrm>
            <a:off x="749808" y="2788920"/>
            <a:ext cx="2194560" cy="822960"/>
          </a:xfrm>
          <a:prstGeom prst="rect">
            <a:avLst/>
          </a:prstGeom>
          <a:noFill/>
          <a:ln/>
        </p:spPr>
        <p:txBody>
          <a:bodyPr wrap="square" lIns="0" tIns="0" rIns="0" bIns="0" rtlCol="0" anchor="t"/>
          <a:lstStyle/>
          <a:p>
            <a:pPr indent="0" marL="0">
              <a:buNone/>
            </a:pPr>
            <a:r>
              <a:rPr lang="en-US" sz="1250" dirty="0">
                <a:solidFill>
                  <a:schemeClr val="tx1"/>
                </a:solidFill>
              </a:rPr>
              <a:t>Disney's Microsoft tenant: identities, policies and OneLake.</a:t>
            </a:r>
            <a:endParaRPr lang="en-US" sz="1250" dirty="0"/>
          </a:p>
        </p:txBody>
      </p:sp>
      <p:sp>
        <p:nvSpPr>
          <p:cNvPr id="9" name="Chevron 1"/>
          <p:cNvSpPr/>
          <p:nvPr/>
        </p:nvSpPr>
        <p:spPr>
          <a:xfrm>
            <a:off x="3154680" y="2542032"/>
            <a:ext cx="201168" cy="365760"/>
          </a:xfrm>
          <a:prstGeom prst="chevron">
            <a:avLst/>
          </a:prstGeom>
          <a:solidFill>
            <a:schemeClr val="accent5"/>
          </a:solidFill>
          <a:ln/>
        </p:spPr>
      </p:sp>
      <p:sp>
        <p:nvSpPr>
          <p:cNvPr id="10" name="Layer 2"/>
          <p:cNvSpPr/>
          <p:nvPr/>
        </p:nvSpPr>
        <p:spPr>
          <a:xfrm>
            <a:off x="3392424" y="1783080"/>
            <a:ext cx="2560320" cy="1874520"/>
          </a:xfrm>
          <a:prstGeom prst="roundRect">
            <a:avLst>
              <a:gd name="adj" fmla="val 5854"/>
            </a:avLst>
          </a:prstGeom>
          <a:solidFill>
            <a:schemeClr val="bg2"/>
          </a:solidFill>
          <a:ln/>
        </p:spPr>
      </p:sp>
      <p:sp>
        <p:nvSpPr>
          <p:cNvPr id="11" name="Layer number"/>
          <p:cNvSpPr txBox="1"/>
          <p:nvPr/>
        </p:nvSpPr>
        <p:spPr>
          <a:xfrm>
            <a:off x="3593592" y="1874520"/>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2</a:t>
            </a:r>
            <a:endParaRPr lang="en-US" sz="3200" dirty="0"/>
          </a:p>
        </p:txBody>
      </p:sp>
      <p:sp>
        <p:nvSpPr>
          <p:cNvPr id="12" name="Layer name"/>
          <p:cNvSpPr txBox="1"/>
          <p:nvPr/>
        </p:nvSpPr>
        <p:spPr>
          <a:xfrm>
            <a:off x="3593592" y="2423160"/>
            <a:ext cx="2194560" cy="32004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Capacity</a:t>
            </a:r>
            <a:endParaRPr lang="en-US" sz="1900" dirty="0"/>
          </a:p>
        </p:txBody>
      </p:sp>
      <p:sp>
        <p:nvSpPr>
          <p:cNvPr id="13" name="Layer description"/>
          <p:cNvSpPr txBox="1"/>
          <p:nvPr/>
        </p:nvSpPr>
        <p:spPr>
          <a:xfrm>
            <a:off x="3593592" y="2788920"/>
            <a:ext cx="2194560" cy="822960"/>
          </a:xfrm>
          <a:prstGeom prst="rect">
            <a:avLst/>
          </a:prstGeom>
          <a:noFill/>
          <a:ln/>
        </p:spPr>
        <p:txBody>
          <a:bodyPr wrap="square" lIns="0" tIns="0" rIns="0" bIns="0" rtlCol="0" anchor="t"/>
          <a:lstStyle/>
          <a:p>
            <a:pPr indent="0" marL="0">
              <a:buNone/>
            </a:pPr>
            <a:r>
              <a:rPr lang="en-US" sz="1250" dirty="0">
                <a:solidFill>
                  <a:schemeClr val="tx1"/>
                </a:solidFill>
              </a:rPr>
              <a:t>Purchased compute (an F SKU) shared by the workspaces assigned to it.</a:t>
            </a:r>
            <a:endParaRPr lang="en-US" sz="1250" dirty="0"/>
          </a:p>
        </p:txBody>
      </p:sp>
      <p:sp>
        <p:nvSpPr>
          <p:cNvPr id="14" name="Chevron 2"/>
          <p:cNvSpPr/>
          <p:nvPr/>
        </p:nvSpPr>
        <p:spPr>
          <a:xfrm>
            <a:off x="5998464" y="2542032"/>
            <a:ext cx="201168" cy="365760"/>
          </a:xfrm>
          <a:prstGeom prst="chevron">
            <a:avLst/>
          </a:prstGeom>
          <a:solidFill>
            <a:schemeClr val="accent5"/>
          </a:solidFill>
          <a:ln/>
        </p:spPr>
      </p:sp>
      <p:sp>
        <p:nvSpPr>
          <p:cNvPr id="15" name="Layer 3"/>
          <p:cNvSpPr/>
          <p:nvPr/>
        </p:nvSpPr>
        <p:spPr>
          <a:xfrm>
            <a:off x="6236208" y="1783080"/>
            <a:ext cx="2560320" cy="1874520"/>
          </a:xfrm>
          <a:prstGeom prst="roundRect">
            <a:avLst>
              <a:gd name="adj" fmla="val 5854"/>
            </a:avLst>
          </a:prstGeom>
          <a:solidFill>
            <a:schemeClr val="bg2"/>
          </a:solidFill>
          <a:ln/>
        </p:spPr>
      </p:sp>
      <p:sp>
        <p:nvSpPr>
          <p:cNvPr id="16" name="Layer number"/>
          <p:cNvSpPr txBox="1"/>
          <p:nvPr/>
        </p:nvSpPr>
        <p:spPr>
          <a:xfrm>
            <a:off x="6437376" y="1874520"/>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3</a:t>
            </a:r>
            <a:endParaRPr lang="en-US" sz="3200" dirty="0"/>
          </a:p>
        </p:txBody>
      </p:sp>
      <p:sp>
        <p:nvSpPr>
          <p:cNvPr id="17" name="Layer name"/>
          <p:cNvSpPr txBox="1"/>
          <p:nvPr/>
        </p:nvSpPr>
        <p:spPr>
          <a:xfrm>
            <a:off x="6437376" y="2423160"/>
            <a:ext cx="2194560" cy="32004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Workspaces</a:t>
            </a:r>
            <a:endParaRPr lang="en-US" sz="1900" dirty="0"/>
          </a:p>
        </p:txBody>
      </p:sp>
      <p:sp>
        <p:nvSpPr>
          <p:cNvPr id="18" name="Layer description"/>
          <p:cNvSpPr txBox="1"/>
          <p:nvPr/>
        </p:nvSpPr>
        <p:spPr>
          <a:xfrm>
            <a:off x="6437376" y="2788920"/>
            <a:ext cx="2194560" cy="822960"/>
          </a:xfrm>
          <a:prstGeom prst="rect">
            <a:avLst/>
          </a:prstGeom>
          <a:noFill/>
          <a:ln/>
        </p:spPr>
        <p:txBody>
          <a:bodyPr wrap="square" lIns="0" tIns="0" rIns="0" bIns="0" rtlCol="0" anchor="t"/>
          <a:lstStyle/>
          <a:p>
            <a:pPr indent="0" marL="0">
              <a:buNone/>
            </a:pPr>
            <a:r>
              <a:rPr lang="en-US" sz="1250" dirty="0">
                <a:solidFill>
                  <a:schemeClr val="tx1"/>
                </a:solidFill>
              </a:rPr>
              <a:t>A container of items with its own members. One per environment, such as DEV and TEST.</a:t>
            </a:r>
            <a:endParaRPr lang="en-US" sz="1250" dirty="0"/>
          </a:p>
        </p:txBody>
      </p:sp>
      <p:sp>
        <p:nvSpPr>
          <p:cNvPr id="19" name="Chevron 3"/>
          <p:cNvSpPr/>
          <p:nvPr/>
        </p:nvSpPr>
        <p:spPr>
          <a:xfrm>
            <a:off x="8842248" y="2542032"/>
            <a:ext cx="201168" cy="365760"/>
          </a:xfrm>
          <a:prstGeom prst="chevron">
            <a:avLst/>
          </a:prstGeom>
          <a:solidFill>
            <a:schemeClr val="accent5"/>
          </a:solidFill>
          <a:ln/>
        </p:spPr>
      </p:sp>
      <p:sp>
        <p:nvSpPr>
          <p:cNvPr id="20" name="Layer 4"/>
          <p:cNvSpPr/>
          <p:nvPr/>
        </p:nvSpPr>
        <p:spPr>
          <a:xfrm>
            <a:off x="9079992" y="1783080"/>
            <a:ext cx="2560320" cy="1874520"/>
          </a:xfrm>
          <a:prstGeom prst="roundRect">
            <a:avLst>
              <a:gd name="adj" fmla="val 5854"/>
            </a:avLst>
          </a:prstGeom>
          <a:solidFill>
            <a:schemeClr val="bg2"/>
          </a:solidFill>
          <a:ln/>
        </p:spPr>
      </p:sp>
      <p:sp>
        <p:nvSpPr>
          <p:cNvPr id="21" name="Layer number"/>
          <p:cNvSpPr txBox="1"/>
          <p:nvPr/>
        </p:nvSpPr>
        <p:spPr>
          <a:xfrm>
            <a:off x="9281160" y="1874520"/>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4</a:t>
            </a:r>
            <a:endParaRPr lang="en-US" sz="3200" dirty="0"/>
          </a:p>
        </p:txBody>
      </p:sp>
      <p:sp>
        <p:nvSpPr>
          <p:cNvPr id="22" name="Layer name"/>
          <p:cNvSpPr txBox="1"/>
          <p:nvPr/>
        </p:nvSpPr>
        <p:spPr>
          <a:xfrm>
            <a:off x="9281160" y="2423160"/>
            <a:ext cx="2194560" cy="32004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Items</a:t>
            </a:r>
            <a:endParaRPr lang="en-US" sz="1900" dirty="0"/>
          </a:p>
        </p:txBody>
      </p:sp>
      <p:sp>
        <p:nvSpPr>
          <p:cNvPr id="23" name="Layer description"/>
          <p:cNvSpPr txBox="1"/>
          <p:nvPr/>
        </p:nvSpPr>
        <p:spPr>
          <a:xfrm>
            <a:off x="9281160" y="2788920"/>
            <a:ext cx="2194560" cy="822960"/>
          </a:xfrm>
          <a:prstGeom prst="rect">
            <a:avLst/>
          </a:prstGeom>
          <a:noFill/>
          <a:ln/>
        </p:spPr>
        <p:txBody>
          <a:bodyPr wrap="square" lIns="0" tIns="0" rIns="0" bIns="0" rtlCol="0" anchor="t"/>
          <a:lstStyle/>
          <a:p>
            <a:pPr indent="0" marL="0">
              <a:buNone/>
            </a:pPr>
            <a:r>
              <a:rPr lang="en-US" sz="1250" dirty="0">
                <a:solidFill>
                  <a:schemeClr val="tx1"/>
                </a:solidFill>
              </a:rPr>
              <a:t>What you build and use: lakehouses, notebooks, pipelines, models and reports.</a:t>
            </a:r>
            <a:endParaRPr lang="en-US" sz="1250" dirty="0"/>
          </a:p>
        </p:txBody>
      </p:sp>
      <p:sp>
        <p:nvSpPr>
          <p:cNvPr id="24" name="Roles label"/>
          <p:cNvSpPr txBox="1"/>
          <p:nvPr/>
        </p:nvSpPr>
        <p:spPr>
          <a:xfrm>
            <a:off x="548640" y="3840480"/>
            <a:ext cx="7315200" cy="228600"/>
          </a:xfrm>
          <a:prstGeom prst="rect">
            <a:avLst/>
          </a:prstGeom>
          <a:noFill/>
          <a:ln/>
        </p:spPr>
        <p:txBody>
          <a:bodyPr wrap="square" lIns="0" tIns="0" rIns="0" bIns="0" rtlCol="0" anchor="t"/>
          <a:lstStyle/>
          <a:p>
            <a:pPr indent="0" marL="0">
              <a:buNone/>
            </a:pPr>
            <a:r>
              <a:rPr lang="en-US" sz="1050" b="1" spc="200" kern="0" dirty="0">
                <a:solidFill>
                  <a:schemeClr val="accent1"/>
                </a:solidFill>
              </a:rPr>
              <a:t>WORKSPACE ROLES DECIDE WHAT YOU CAN DO</a:t>
            </a:r>
            <a:endParaRPr lang="en-US" sz="1050" dirty="0"/>
          </a:p>
        </p:txBody>
      </p:sp>
      <p:sp>
        <p:nvSpPr>
          <p:cNvPr id="25" name="Role Admin"/>
          <p:cNvSpPr/>
          <p:nvPr/>
        </p:nvSpPr>
        <p:spPr>
          <a:xfrm>
            <a:off x="548640" y="4160520"/>
            <a:ext cx="2697480" cy="1188720"/>
          </a:xfrm>
          <a:prstGeom prst="roundRect">
            <a:avLst>
              <a:gd name="adj" fmla="val 923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26" name="Role name"/>
          <p:cNvSpPr txBox="1"/>
          <p:nvPr/>
        </p:nvSpPr>
        <p:spPr>
          <a:xfrm>
            <a:off x="749808" y="4279392"/>
            <a:ext cx="228600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Admin</a:t>
            </a:r>
            <a:endParaRPr lang="en-US" sz="1600" dirty="0"/>
          </a:p>
        </p:txBody>
      </p:sp>
      <p:sp>
        <p:nvSpPr>
          <p:cNvPr id="27" name="Role description"/>
          <p:cNvSpPr txBox="1"/>
          <p:nvPr/>
        </p:nvSpPr>
        <p:spPr>
          <a:xfrm>
            <a:off x="749808" y="4617720"/>
            <a:ext cx="2331720" cy="640080"/>
          </a:xfrm>
          <a:prstGeom prst="rect">
            <a:avLst/>
          </a:prstGeom>
          <a:noFill/>
          <a:ln/>
        </p:spPr>
        <p:txBody>
          <a:bodyPr wrap="square" lIns="0" tIns="0" rIns="0" bIns="0" rtlCol="0" anchor="t"/>
          <a:lstStyle/>
          <a:p>
            <a:pPr indent="0" marL="0">
              <a:buNone/>
            </a:pPr>
            <a:r>
              <a:rPr lang="en-US" sz="1300" dirty="0">
                <a:solidFill>
                  <a:schemeClr val="tx1"/>
                </a:solidFill>
              </a:rPr>
              <a:t>Controls settings and who has access.</a:t>
            </a:r>
            <a:endParaRPr lang="en-US" sz="1300" dirty="0"/>
          </a:p>
        </p:txBody>
      </p:sp>
      <p:sp>
        <p:nvSpPr>
          <p:cNvPr id="28" name="Role Member"/>
          <p:cNvSpPr/>
          <p:nvPr/>
        </p:nvSpPr>
        <p:spPr>
          <a:xfrm>
            <a:off x="3328416" y="4160520"/>
            <a:ext cx="2697480" cy="1188720"/>
          </a:xfrm>
          <a:prstGeom prst="roundRect">
            <a:avLst>
              <a:gd name="adj" fmla="val 923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29" name="Role name"/>
          <p:cNvSpPr txBox="1"/>
          <p:nvPr/>
        </p:nvSpPr>
        <p:spPr>
          <a:xfrm>
            <a:off x="3529584" y="4279392"/>
            <a:ext cx="228600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Member</a:t>
            </a:r>
            <a:endParaRPr lang="en-US" sz="1600" dirty="0"/>
          </a:p>
        </p:txBody>
      </p:sp>
      <p:sp>
        <p:nvSpPr>
          <p:cNvPr id="30" name="Role description"/>
          <p:cNvSpPr txBox="1"/>
          <p:nvPr/>
        </p:nvSpPr>
        <p:spPr>
          <a:xfrm>
            <a:off x="3529584" y="4617720"/>
            <a:ext cx="2331720" cy="640080"/>
          </a:xfrm>
          <a:prstGeom prst="rect">
            <a:avLst/>
          </a:prstGeom>
          <a:noFill/>
          <a:ln/>
        </p:spPr>
        <p:txBody>
          <a:bodyPr wrap="square" lIns="0" tIns="0" rIns="0" bIns="0" rtlCol="0" anchor="t"/>
          <a:lstStyle/>
          <a:p>
            <a:pPr indent="0" marL="0">
              <a:buNone/>
            </a:pPr>
            <a:r>
              <a:rPr lang="en-US" sz="1300" dirty="0">
                <a:solidFill>
                  <a:schemeClr val="tx1"/>
                </a:solidFill>
              </a:rPr>
              <a:t>Creates and edits items, and shares them.</a:t>
            </a:r>
            <a:endParaRPr lang="en-US" sz="1300" dirty="0"/>
          </a:p>
        </p:txBody>
      </p:sp>
      <p:sp>
        <p:nvSpPr>
          <p:cNvPr id="31" name="Role Contributor"/>
          <p:cNvSpPr/>
          <p:nvPr/>
        </p:nvSpPr>
        <p:spPr>
          <a:xfrm>
            <a:off x="6108192" y="4160520"/>
            <a:ext cx="2697480" cy="1188720"/>
          </a:xfrm>
          <a:prstGeom prst="roundRect">
            <a:avLst>
              <a:gd name="adj" fmla="val 923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2" name="Role name"/>
          <p:cNvSpPr txBox="1"/>
          <p:nvPr/>
        </p:nvSpPr>
        <p:spPr>
          <a:xfrm>
            <a:off x="6309360" y="4279392"/>
            <a:ext cx="228600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Contributor</a:t>
            </a:r>
            <a:endParaRPr lang="en-US" sz="1600" dirty="0"/>
          </a:p>
        </p:txBody>
      </p:sp>
      <p:sp>
        <p:nvSpPr>
          <p:cNvPr id="33" name="Role description"/>
          <p:cNvSpPr txBox="1"/>
          <p:nvPr/>
        </p:nvSpPr>
        <p:spPr>
          <a:xfrm>
            <a:off x="6309360" y="4617720"/>
            <a:ext cx="2331720" cy="640080"/>
          </a:xfrm>
          <a:prstGeom prst="rect">
            <a:avLst/>
          </a:prstGeom>
          <a:noFill/>
          <a:ln/>
        </p:spPr>
        <p:txBody>
          <a:bodyPr wrap="square" lIns="0" tIns="0" rIns="0" bIns="0" rtlCol="0" anchor="t"/>
          <a:lstStyle/>
          <a:p>
            <a:pPr indent="0" marL="0">
              <a:buNone/>
            </a:pPr>
            <a:r>
              <a:rPr lang="en-US" sz="1300" dirty="0">
                <a:solidFill>
                  <a:schemeClr val="tx1"/>
                </a:solidFill>
              </a:rPr>
              <a:t>Creates and edits items.</a:t>
            </a:r>
            <a:endParaRPr lang="en-US" sz="1300" dirty="0"/>
          </a:p>
        </p:txBody>
      </p:sp>
      <p:sp>
        <p:nvSpPr>
          <p:cNvPr id="34" name="Role Viewer"/>
          <p:cNvSpPr/>
          <p:nvPr/>
        </p:nvSpPr>
        <p:spPr>
          <a:xfrm>
            <a:off x="8887968" y="4160520"/>
            <a:ext cx="2697480" cy="1188720"/>
          </a:xfrm>
          <a:prstGeom prst="roundRect">
            <a:avLst>
              <a:gd name="adj" fmla="val 923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5" name="Role name"/>
          <p:cNvSpPr txBox="1"/>
          <p:nvPr/>
        </p:nvSpPr>
        <p:spPr>
          <a:xfrm>
            <a:off x="9089136" y="4279392"/>
            <a:ext cx="228600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Viewer</a:t>
            </a:r>
            <a:endParaRPr lang="en-US" sz="1600" dirty="0"/>
          </a:p>
        </p:txBody>
      </p:sp>
      <p:sp>
        <p:nvSpPr>
          <p:cNvPr id="36" name="Role description"/>
          <p:cNvSpPr txBox="1"/>
          <p:nvPr/>
        </p:nvSpPr>
        <p:spPr>
          <a:xfrm>
            <a:off x="9089136" y="4617720"/>
            <a:ext cx="2331720" cy="640080"/>
          </a:xfrm>
          <a:prstGeom prst="rect">
            <a:avLst/>
          </a:prstGeom>
          <a:noFill/>
          <a:ln/>
        </p:spPr>
        <p:txBody>
          <a:bodyPr wrap="square" lIns="0" tIns="0" rIns="0" bIns="0" rtlCol="0" anchor="t"/>
          <a:lstStyle/>
          <a:p>
            <a:pPr indent="0" marL="0">
              <a:buNone/>
            </a:pPr>
            <a:r>
              <a:rPr lang="en-US" sz="1300" dirty="0">
                <a:solidFill>
                  <a:schemeClr val="tx1"/>
                </a:solidFill>
              </a:rPr>
              <a:t>Views items and their outputs only.</a:t>
            </a:r>
            <a:endParaRPr lang="en-US" sz="1300" dirty="0"/>
          </a:p>
        </p:txBody>
      </p:sp>
      <p:sp>
        <p:nvSpPr>
          <p:cNvPr id="37" name="Takeaway"/>
          <p:cNvSpPr txBox="1"/>
          <p:nvPr/>
        </p:nvSpPr>
        <p:spPr>
          <a:xfrm>
            <a:off x="548640" y="557784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Your access is decided by workspace role, and environments are separated by workspace.</a:t>
            </a:r>
            <a:endParaRPr lang="en-US" sz="1600" dirty="0"/>
          </a:p>
        </p:txBody>
      </p:sp>
      <p:sp>
        <p:nvSpPr>
          <p:cNvPr id="38" name="Footnote"/>
          <p:cNvSpPr txBox="1"/>
          <p:nvPr/>
        </p:nvSpPr>
        <p:spPr>
          <a:xfrm>
            <a:off x="548640" y="6199632"/>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Workspace names, capacity size and role assignments follow Disney Enterprise Technology standards. The live tour shows yours.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FABRIC AT DISNEY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Eight item types you will meet this week</a:t>
            </a:r>
            <a:endParaRPr lang="en-US" sz="3200" dirty="0"/>
          </a:p>
        </p:txBody>
      </p:sp>
      <p:sp>
        <p:nvSpPr>
          <p:cNvPr id="5" name="Item Lakehouse"/>
          <p:cNvSpPr/>
          <p:nvPr/>
        </p:nvSpPr>
        <p:spPr>
          <a:xfrm>
            <a:off x="548640" y="1783080"/>
            <a:ext cx="2679192" cy="1691640"/>
          </a:xfrm>
          <a:prstGeom prst="roundRect">
            <a:avLst>
              <a:gd name="adj" fmla="val 6486"/>
            </a:avLst>
          </a:prstGeom>
          <a:solidFill>
            <a:schemeClr val="bg2"/>
          </a:solidFill>
          <a:ln/>
        </p:spPr>
      </p:sp>
      <p:sp>
        <p:nvSpPr>
          <p:cNvPr id="6" name="Lakehouse badge"/>
          <p:cNvSpPr/>
          <p:nvPr/>
        </p:nvSpPr>
        <p:spPr>
          <a:xfrm>
            <a:off x="749808" y="1965960"/>
            <a:ext cx="475488" cy="475488"/>
          </a:xfrm>
          <a:prstGeom prst="ellipse">
            <a:avLst/>
          </a:prstGeom>
          <a:solidFill>
            <a:schemeClr val="accent2"/>
          </a:solidFill>
          <a:ln/>
        </p:spPr>
      </p:sp>
      <p:pic>
        <p:nvPicPr>
          <p:cNvPr id="7" name="Image 0" descr="Lakehouse icon">    </p:cNvPr>
          <p:cNvPicPr>
            <a:picLocks noChangeAspect="1"/>
          </p:cNvPicPr>
          <p:nvPr/>
        </p:nvPicPr>
        <p:blipFill>
          <a:blip r:embed="rId1"/>
          <a:stretch>
            <a:fillRect/>
          </a:stretch>
        </p:blipFill>
        <p:spPr>
          <a:xfrm>
            <a:off x="868680" y="2084832"/>
            <a:ext cx="237744" cy="237744"/>
          </a:xfrm>
          <a:prstGeom prst="rect">
            <a:avLst/>
          </a:prstGeom>
        </p:spPr>
      </p:pic>
      <p:sp>
        <p:nvSpPr>
          <p:cNvPr id="8" name="Pill"/>
          <p:cNvSpPr txBox="1"/>
          <p:nvPr/>
        </p:nvSpPr>
        <p:spPr>
          <a:xfrm>
            <a:off x="1965960" y="2057400"/>
            <a:ext cx="1097280" cy="256032"/>
          </a:xfrm>
          <a:prstGeom prst="roundRect">
            <a:avLst>
              <a:gd name="adj" fmla="val 53571"/>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TODAY</a:t>
            </a:r>
            <a:endParaRPr lang="en-US" sz="1000" dirty="0"/>
          </a:p>
        </p:txBody>
      </p:sp>
      <p:sp>
        <p:nvSpPr>
          <p:cNvPr id="9" name="Item name"/>
          <p:cNvSpPr txBox="1"/>
          <p:nvPr/>
        </p:nvSpPr>
        <p:spPr>
          <a:xfrm>
            <a:off x="749808" y="2587752"/>
            <a:ext cx="233172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Lakehouse</a:t>
            </a:r>
            <a:endParaRPr lang="en-US" sz="1600" dirty="0"/>
          </a:p>
        </p:txBody>
      </p:sp>
      <p:sp>
        <p:nvSpPr>
          <p:cNvPr id="10" name="Item description"/>
          <p:cNvSpPr txBox="1"/>
          <p:nvPr/>
        </p:nvSpPr>
        <p:spPr>
          <a:xfrm>
            <a:off x="749808" y="2880360"/>
            <a:ext cx="2331720" cy="502920"/>
          </a:xfrm>
          <a:prstGeom prst="rect">
            <a:avLst/>
          </a:prstGeom>
          <a:noFill/>
          <a:ln/>
        </p:spPr>
        <p:txBody>
          <a:bodyPr wrap="square" lIns="0" tIns="0" rIns="0" bIns="0" rtlCol="0" anchor="t"/>
          <a:lstStyle/>
          <a:p>
            <a:pPr indent="0" marL="0">
              <a:buNone/>
            </a:pPr>
            <a:r>
              <a:rPr lang="en-US" sz="1250" dirty="0">
                <a:solidFill>
                  <a:schemeClr val="tx1"/>
                </a:solidFill>
              </a:rPr>
              <a:t>Files and tables in OneLake</a:t>
            </a:r>
            <a:endParaRPr lang="en-US" sz="1250" dirty="0"/>
          </a:p>
        </p:txBody>
      </p:sp>
      <p:sp>
        <p:nvSpPr>
          <p:cNvPr id="11" name="Item SQL analytics endpoint"/>
          <p:cNvSpPr/>
          <p:nvPr/>
        </p:nvSpPr>
        <p:spPr>
          <a:xfrm>
            <a:off x="3355848" y="1783080"/>
            <a:ext cx="2679192" cy="1691640"/>
          </a:xfrm>
          <a:prstGeom prst="roundRect">
            <a:avLst>
              <a:gd name="adj" fmla="val 6486"/>
            </a:avLst>
          </a:prstGeom>
          <a:solidFill>
            <a:schemeClr val="bg2"/>
          </a:solidFill>
          <a:ln/>
        </p:spPr>
      </p:sp>
      <p:sp>
        <p:nvSpPr>
          <p:cNvPr id="12" name="SQL analytics endpoint badge"/>
          <p:cNvSpPr/>
          <p:nvPr/>
        </p:nvSpPr>
        <p:spPr>
          <a:xfrm>
            <a:off x="3557016" y="1965960"/>
            <a:ext cx="475488" cy="475488"/>
          </a:xfrm>
          <a:prstGeom prst="ellipse">
            <a:avLst/>
          </a:prstGeom>
          <a:solidFill>
            <a:schemeClr val="accent2"/>
          </a:solidFill>
          <a:ln/>
        </p:spPr>
      </p:sp>
      <p:pic>
        <p:nvPicPr>
          <p:cNvPr id="13" name="Image 1" descr="SQL analytics endpoint icon">    </p:cNvPr>
          <p:cNvPicPr>
            <a:picLocks noChangeAspect="1"/>
          </p:cNvPicPr>
          <p:nvPr/>
        </p:nvPicPr>
        <p:blipFill>
          <a:blip r:embed="rId2"/>
          <a:stretch>
            <a:fillRect/>
          </a:stretch>
        </p:blipFill>
        <p:spPr>
          <a:xfrm>
            <a:off x="3675888" y="2084832"/>
            <a:ext cx="237744" cy="237744"/>
          </a:xfrm>
          <a:prstGeom prst="rect">
            <a:avLst/>
          </a:prstGeom>
        </p:spPr>
      </p:pic>
      <p:sp>
        <p:nvSpPr>
          <p:cNvPr id="14" name="Pill"/>
          <p:cNvSpPr txBox="1"/>
          <p:nvPr/>
        </p:nvSpPr>
        <p:spPr>
          <a:xfrm>
            <a:off x="4773168" y="2057400"/>
            <a:ext cx="1097280" cy="256032"/>
          </a:xfrm>
          <a:prstGeom prst="roundRect">
            <a:avLst>
              <a:gd name="adj" fmla="val 53571"/>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TODAY</a:t>
            </a:r>
            <a:endParaRPr lang="en-US" sz="1000" dirty="0"/>
          </a:p>
        </p:txBody>
      </p:sp>
      <p:sp>
        <p:nvSpPr>
          <p:cNvPr id="15" name="Item name"/>
          <p:cNvSpPr txBox="1"/>
          <p:nvPr/>
        </p:nvSpPr>
        <p:spPr>
          <a:xfrm>
            <a:off x="3557016" y="2587752"/>
            <a:ext cx="233172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SQL analytics endpoint</a:t>
            </a:r>
            <a:endParaRPr lang="en-US" sz="1600" dirty="0"/>
          </a:p>
        </p:txBody>
      </p:sp>
      <p:sp>
        <p:nvSpPr>
          <p:cNvPr id="16" name="Item description"/>
          <p:cNvSpPr txBox="1"/>
          <p:nvPr/>
        </p:nvSpPr>
        <p:spPr>
          <a:xfrm>
            <a:off x="3557016" y="2880360"/>
            <a:ext cx="2331720" cy="502920"/>
          </a:xfrm>
          <a:prstGeom prst="rect">
            <a:avLst/>
          </a:prstGeom>
          <a:noFill/>
          <a:ln/>
        </p:spPr>
        <p:txBody>
          <a:bodyPr wrap="square" lIns="0" tIns="0" rIns="0" bIns="0" rtlCol="0" anchor="t"/>
          <a:lstStyle/>
          <a:p>
            <a:pPr indent="0" marL="0">
              <a:buNone/>
            </a:pPr>
            <a:r>
              <a:rPr lang="en-US" sz="1250" dirty="0">
                <a:solidFill>
                  <a:schemeClr val="tx1"/>
                </a:solidFill>
              </a:rPr>
              <a:t>Read-only T-SQL over lakehouse tables</a:t>
            </a:r>
            <a:endParaRPr lang="en-US" sz="1250" dirty="0"/>
          </a:p>
        </p:txBody>
      </p:sp>
      <p:sp>
        <p:nvSpPr>
          <p:cNvPr id="17" name="Item Notebook"/>
          <p:cNvSpPr/>
          <p:nvPr/>
        </p:nvSpPr>
        <p:spPr>
          <a:xfrm>
            <a:off x="6163056" y="1783080"/>
            <a:ext cx="2679192" cy="1691640"/>
          </a:xfrm>
          <a:prstGeom prst="roundRect">
            <a:avLst>
              <a:gd name="adj" fmla="val 6486"/>
            </a:avLst>
          </a:prstGeom>
          <a:solidFill>
            <a:schemeClr val="bg2"/>
          </a:solidFill>
          <a:ln/>
        </p:spPr>
      </p:sp>
      <p:sp>
        <p:nvSpPr>
          <p:cNvPr id="18" name="Notebook badge"/>
          <p:cNvSpPr/>
          <p:nvPr/>
        </p:nvSpPr>
        <p:spPr>
          <a:xfrm>
            <a:off x="6364224" y="1965960"/>
            <a:ext cx="475488" cy="475488"/>
          </a:xfrm>
          <a:prstGeom prst="ellipse">
            <a:avLst/>
          </a:prstGeom>
          <a:solidFill>
            <a:schemeClr val="accent1"/>
          </a:solidFill>
          <a:ln/>
        </p:spPr>
      </p:sp>
      <p:pic>
        <p:nvPicPr>
          <p:cNvPr id="19" name="Image 2" descr="Notebook icon">    </p:cNvPr>
          <p:cNvPicPr>
            <a:picLocks noChangeAspect="1"/>
          </p:cNvPicPr>
          <p:nvPr/>
        </p:nvPicPr>
        <p:blipFill>
          <a:blip r:embed="rId3"/>
          <a:stretch>
            <a:fillRect/>
          </a:stretch>
        </p:blipFill>
        <p:spPr>
          <a:xfrm>
            <a:off x="6483096" y="2084832"/>
            <a:ext cx="237744" cy="237744"/>
          </a:xfrm>
          <a:prstGeom prst="rect">
            <a:avLst/>
          </a:prstGeom>
        </p:spPr>
      </p:pic>
      <p:sp>
        <p:nvSpPr>
          <p:cNvPr id="20" name="Pill"/>
          <p:cNvSpPr txBox="1"/>
          <p:nvPr/>
        </p:nvSpPr>
        <p:spPr>
          <a:xfrm>
            <a:off x="7580376" y="2057400"/>
            <a:ext cx="1097280" cy="256032"/>
          </a:xfrm>
          <a:prstGeom prst="roundRect">
            <a:avLst>
              <a:gd name="adj" fmla="val 53571"/>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DAY 2</a:t>
            </a:r>
            <a:endParaRPr lang="en-US" sz="1000" dirty="0"/>
          </a:p>
        </p:txBody>
      </p:sp>
      <p:sp>
        <p:nvSpPr>
          <p:cNvPr id="21" name="Item name"/>
          <p:cNvSpPr txBox="1"/>
          <p:nvPr/>
        </p:nvSpPr>
        <p:spPr>
          <a:xfrm>
            <a:off x="6364224" y="2587752"/>
            <a:ext cx="233172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Notebook</a:t>
            </a:r>
            <a:endParaRPr lang="en-US" sz="1600" dirty="0"/>
          </a:p>
        </p:txBody>
      </p:sp>
      <p:sp>
        <p:nvSpPr>
          <p:cNvPr id="22" name="Item description"/>
          <p:cNvSpPr txBox="1"/>
          <p:nvPr/>
        </p:nvSpPr>
        <p:spPr>
          <a:xfrm>
            <a:off x="6364224" y="2880360"/>
            <a:ext cx="2331720" cy="502920"/>
          </a:xfrm>
          <a:prstGeom prst="rect">
            <a:avLst/>
          </a:prstGeom>
          <a:noFill/>
          <a:ln/>
        </p:spPr>
        <p:txBody>
          <a:bodyPr wrap="square" lIns="0" tIns="0" rIns="0" bIns="0" rtlCol="0" anchor="t"/>
          <a:lstStyle/>
          <a:p>
            <a:pPr indent="0" marL="0">
              <a:buNone/>
            </a:pPr>
            <a:r>
              <a:rPr lang="en-US" sz="1250" dirty="0">
                <a:solidFill>
                  <a:schemeClr val="tx1"/>
                </a:solidFill>
              </a:rPr>
              <a:t>Python and SQL, run in the browser</a:t>
            </a:r>
            <a:endParaRPr lang="en-US" sz="1250" dirty="0"/>
          </a:p>
        </p:txBody>
      </p:sp>
      <p:sp>
        <p:nvSpPr>
          <p:cNvPr id="23" name="Item Pipeline"/>
          <p:cNvSpPr/>
          <p:nvPr/>
        </p:nvSpPr>
        <p:spPr>
          <a:xfrm>
            <a:off x="8970264" y="1783080"/>
            <a:ext cx="2679192" cy="1691640"/>
          </a:xfrm>
          <a:prstGeom prst="roundRect">
            <a:avLst>
              <a:gd name="adj" fmla="val 6486"/>
            </a:avLst>
          </a:prstGeom>
          <a:solidFill>
            <a:schemeClr val="bg2"/>
          </a:solidFill>
          <a:ln/>
        </p:spPr>
      </p:sp>
      <p:sp>
        <p:nvSpPr>
          <p:cNvPr id="24" name="Pipeline badge"/>
          <p:cNvSpPr/>
          <p:nvPr/>
        </p:nvSpPr>
        <p:spPr>
          <a:xfrm>
            <a:off x="9171432" y="1965960"/>
            <a:ext cx="475488" cy="475488"/>
          </a:xfrm>
          <a:prstGeom prst="ellipse">
            <a:avLst/>
          </a:prstGeom>
          <a:solidFill>
            <a:schemeClr val="accent1"/>
          </a:solidFill>
          <a:ln/>
        </p:spPr>
      </p:sp>
      <p:pic>
        <p:nvPicPr>
          <p:cNvPr id="25" name="Image 3" descr="Pipeline icon">    </p:cNvPr>
          <p:cNvPicPr>
            <a:picLocks noChangeAspect="1"/>
          </p:cNvPicPr>
          <p:nvPr/>
        </p:nvPicPr>
        <p:blipFill>
          <a:blip r:embed="rId4"/>
          <a:stretch>
            <a:fillRect/>
          </a:stretch>
        </p:blipFill>
        <p:spPr>
          <a:xfrm>
            <a:off x="9290304" y="2084832"/>
            <a:ext cx="237744" cy="237744"/>
          </a:xfrm>
          <a:prstGeom prst="rect">
            <a:avLst/>
          </a:prstGeom>
        </p:spPr>
      </p:pic>
      <p:sp>
        <p:nvSpPr>
          <p:cNvPr id="26" name="Pill"/>
          <p:cNvSpPr txBox="1"/>
          <p:nvPr/>
        </p:nvSpPr>
        <p:spPr>
          <a:xfrm>
            <a:off x="10387584" y="2057400"/>
            <a:ext cx="1097280" cy="256032"/>
          </a:xfrm>
          <a:prstGeom prst="roundRect">
            <a:avLst>
              <a:gd name="adj" fmla="val 53571"/>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DAY 2</a:t>
            </a:r>
            <a:endParaRPr lang="en-US" sz="1000" dirty="0"/>
          </a:p>
        </p:txBody>
      </p:sp>
      <p:sp>
        <p:nvSpPr>
          <p:cNvPr id="27" name="Item name"/>
          <p:cNvSpPr txBox="1"/>
          <p:nvPr/>
        </p:nvSpPr>
        <p:spPr>
          <a:xfrm>
            <a:off x="9171432" y="2587752"/>
            <a:ext cx="233172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Pipeline</a:t>
            </a:r>
            <a:endParaRPr lang="en-US" sz="1600" dirty="0"/>
          </a:p>
        </p:txBody>
      </p:sp>
      <p:sp>
        <p:nvSpPr>
          <p:cNvPr id="28" name="Item description"/>
          <p:cNvSpPr txBox="1"/>
          <p:nvPr/>
        </p:nvSpPr>
        <p:spPr>
          <a:xfrm>
            <a:off x="9171432" y="2880360"/>
            <a:ext cx="2331720" cy="502920"/>
          </a:xfrm>
          <a:prstGeom prst="rect">
            <a:avLst/>
          </a:prstGeom>
          <a:noFill/>
          <a:ln/>
        </p:spPr>
        <p:txBody>
          <a:bodyPr wrap="square" lIns="0" tIns="0" rIns="0" bIns="0" rtlCol="0" anchor="t"/>
          <a:lstStyle/>
          <a:p>
            <a:pPr indent="0" marL="0">
              <a:buNone/>
            </a:pPr>
            <a:r>
              <a:rPr lang="en-US" sz="1250" dirty="0">
                <a:solidFill>
                  <a:schemeClr val="tx1"/>
                </a:solidFill>
              </a:rPr>
              <a:t>Runs steps in order, on a schedule</a:t>
            </a:r>
            <a:endParaRPr lang="en-US" sz="1250" dirty="0"/>
          </a:p>
        </p:txBody>
      </p:sp>
      <p:sp>
        <p:nvSpPr>
          <p:cNvPr id="29" name="Item Dataflow Gen2"/>
          <p:cNvSpPr/>
          <p:nvPr/>
        </p:nvSpPr>
        <p:spPr>
          <a:xfrm>
            <a:off x="548640" y="3611880"/>
            <a:ext cx="2679192" cy="1691640"/>
          </a:xfrm>
          <a:prstGeom prst="roundRect">
            <a:avLst>
              <a:gd name="adj" fmla="val 6486"/>
            </a:avLst>
          </a:prstGeom>
          <a:solidFill>
            <a:schemeClr val="bg2"/>
          </a:solidFill>
          <a:ln/>
        </p:spPr>
      </p:sp>
      <p:sp>
        <p:nvSpPr>
          <p:cNvPr id="30" name="Dataflow Gen2 badge"/>
          <p:cNvSpPr/>
          <p:nvPr/>
        </p:nvSpPr>
        <p:spPr>
          <a:xfrm>
            <a:off x="749808" y="3794760"/>
            <a:ext cx="475488" cy="475488"/>
          </a:xfrm>
          <a:prstGeom prst="ellipse">
            <a:avLst/>
          </a:prstGeom>
          <a:solidFill>
            <a:schemeClr val="accent5"/>
          </a:solidFill>
          <a:ln/>
        </p:spPr>
      </p:sp>
      <p:pic>
        <p:nvPicPr>
          <p:cNvPr id="31" name="Image 4" descr="Dataflow Gen2 icon">    </p:cNvPr>
          <p:cNvPicPr>
            <a:picLocks noChangeAspect="1"/>
          </p:cNvPicPr>
          <p:nvPr/>
        </p:nvPicPr>
        <p:blipFill>
          <a:blip r:embed="rId5"/>
          <a:stretch>
            <a:fillRect/>
          </a:stretch>
        </p:blipFill>
        <p:spPr>
          <a:xfrm>
            <a:off x="868680" y="3913632"/>
            <a:ext cx="237744" cy="237744"/>
          </a:xfrm>
          <a:prstGeom prst="rect">
            <a:avLst/>
          </a:prstGeom>
        </p:spPr>
      </p:pic>
      <p:sp>
        <p:nvSpPr>
          <p:cNvPr id="32" name="Pill"/>
          <p:cNvSpPr txBox="1"/>
          <p:nvPr/>
        </p:nvSpPr>
        <p:spPr>
          <a:xfrm>
            <a:off x="1965960" y="3886200"/>
            <a:ext cx="1097280" cy="256032"/>
          </a:xfrm>
          <a:prstGeom prst="roundRect">
            <a:avLst>
              <a:gd name="adj" fmla="val 53571"/>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AWARENESS</a:t>
            </a:r>
            <a:endParaRPr lang="en-US" sz="1000" dirty="0"/>
          </a:p>
        </p:txBody>
      </p:sp>
      <p:sp>
        <p:nvSpPr>
          <p:cNvPr id="33" name="Item name"/>
          <p:cNvSpPr txBox="1"/>
          <p:nvPr/>
        </p:nvSpPr>
        <p:spPr>
          <a:xfrm>
            <a:off x="749808" y="4416552"/>
            <a:ext cx="233172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Dataflow Gen2</a:t>
            </a:r>
            <a:endParaRPr lang="en-US" sz="1600" dirty="0"/>
          </a:p>
        </p:txBody>
      </p:sp>
      <p:sp>
        <p:nvSpPr>
          <p:cNvPr id="34" name="Item description"/>
          <p:cNvSpPr txBox="1"/>
          <p:nvPr/>
        </p:nvSpPr>
        <p:spPr>
          <a:xfrm>
            <a:off x="749808" y="4709160"/>
            <a:ext cx="2331720" cy="502920"/>
          </a:xfrm>
          <a:prstGeom prst="rect">
            <a:avLst/>
          </a:prstGeom>
          <a:noFill/>
          <a:ln/>
        </p:spPr>
        <p:txBody>
          <a:bodyPr wrap="square" lIns="0" tIns="0" rIns="0" bIns="0" rtlCol="0" anchor="t"/>
          <a:lstStyle/>
          <a:p>
            <a:pPr indent="0" marL="0">
              <a:buNone/>
            </a:pPr>
            <a:r>
              <a:rPr lang="en-US" sz="1250" dirty="0">
                <a:solidFill>
                  <a:schemeClr val="tx1"/>
                </a:solidFill>
              </a:rPr>
              <a:t>Low-code, Power Query-style transforms</a:t>
            </a:r>
            <a:endParaRPr lang="en-US" sz="1250" dirty="0"/>
          </a:p>
        </p:txBody>
      </p:sp>
      <p:sp>
        <p:nvSpPr>
          <p:cNvPr id="35" name="Item Warehouse"/>
          <p:cNvSpPr/>
          <p:nvPr/>
        </p:nvSpPr>
        <p:spPr>
          <a:xfrm>
            <a:off x="3355848" y="3611880"/>
            <a:ext cx="2679192" cy="1691640"/>
          </a:xfrm>
          <a:prstGeom prst="roundRect">
            <a:avLst>
              <a:gd name="adj" fmla="val 6486"/>
            </a:avLst>
          </a:prstGeom>
          <a:solidFill>
            <a:schemeClr val="bg2"/>
          </a:solidFill>
          <a:ln/>
        </p:spPr>
      </p:sp>
      <p:sp>
        <p:nvSpPr>
          <p:cNvPr id="36" name="Warehouse badge"/>
          <p:cNvSpPr/>
          <p:nvPr/>
        </p:nvSpPr>
        <p:spPr>
          <a:xfrm>
            <a:off x="3557016" y="3794760"/>
            <a:ext cx="475488" cy="475488"/>
          </a:xfrm>
          <a:prstGeom prst="ellipse">
            <a:avLst/>
          </a:prstGeom>
          <a:solidFill>
            <a:schemeClr val="accent5"/>
          </a:solidFill>
          <a:ln/>
        </p:spPr>
      </p:sp>
      <p:pic>
        <p:nvPicPr>
          <p:cNvPr id="37" name="Image 5" descr="Warehouse icon">    </p:cNvPr>
          <p:cNvPicPr>
            <a:picLocks noChangeAspect="1"/>
          </p:cNvPicPr>
          <p:nvPr/>
        </p:nvPicPr>
        <p:blipFill>
          <a:blip r:embed="rId6"/>
          <a:stretch>
            <a:fillRect/>
          </a:stretch>
        </p:blipFill>
        <p:spPr>
          <a:xfrm>
            <a:off x="3675888" y="3913632"/>
            <a:ext cx="237744" cy="237744"/>
          </a:xfrm>
          <a:prstGeom prst="rect">
            <a:avLst/>
          </a:prstGeom>
        </p:spPr>
      </p:pic>
      <p:sp>
        <p:nvSpPr>
          <p:cNvPr id="38" name="Pill"/>
          <p:cNvSpPr txBox="1"/>
          <p:nvPr/>
        </p:nvSpPr>
        <p:spPr>
          <a:xfrm>
            <a:off x="4773168" y="3886200"/>
            <a:ext cx="1097280" cy="256032"/>
          </a:xfrm>
          <a:prstGeom prst="roundRect">
            <a:avLst>
              <a:gd name="adj" fmla="val 53571"/>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AWARENESS</a:t>
            </a:r>
            <a:endParaRPr lang="en-US" sz="1000" dirty="0"/>
          </a:p>
        </p:txBody>
      </p:sp>
      <p:sp>
        <p:nvSpPr>
          <p:cNvPr id="39" name="Item name"/>
          <p:cNvSpPr txBox="1"/>
          <p:nvPr/>
        </p:nvSpPr>
        <p:spPr>
          <a:xfrm>
            <a:off x="3557016" y="4416552"/>
            <a:ext cx="233172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Warehouse</a:t>
            </a:r>
            <a:endParaRPr lang="en-US" sz="1600" dirty="0"/>
          </a:p>
        </p:txBody>
      </p:sp>
      <p:sp>
        <p:nvSpPr>
          <p:cNvPr id="40" name="Item description"/>
          <p:cNvSpPr txBox="1"/>
          <p:nvPr/>
        </p:nvSpPr>
        <p:spPr>
          <a:xfrm>
            <a:off x="3557016" y="4709160"/>
            <a:ext cx="2331720" cy="502920"/>
          </a:xfrm>
          <a:prstGeom prst="rect">
            <a:avLst/>
          </a:prstGeom>
          <a:noFill/>
          <a:ln/>
        </p:spPr>
        <p:txBody>
          <a:bodyPr wrap="square" lIns="0" tIns="0" rIns="0" bIns="0" rtlCol="0" anchor="t"/>
          <a:lstStyle/>
          <a:p>
            <a:pPr indent="0" marL="0">
              <a:buNone/>
            </a:pPr>
            <a:r>
              <a:rPr lang="en-US" sz="1250" dirty="0">
                <a:solidFill>
                  <a:schemeClr val="tx1"/>
                </a:solidFill>
              </a:rPr>
              <a:t>A full T-SQL data warehouse</a:t>
            </a:r>
            <a:endParaRPr lang="en-US" sz="1250" dirty="0"/>
          </a:p>
        </p:txBody>
      </p:sp>
      <p:sp>
        <p:nvSpPr>
          <p:cNvPr id="41" name="Item Semantic model"/>
          <p:cNvSpPr/>
          <p:nvPr/>
        </p:nvSpPr>
        <p:spPr>
          <a:xfrm>
            <a:off x="6163056" y="3611880"/>
            <a:ext cx="2679192" cy="1691640"/>
          </a:xfrm>
          <a:prstGeom prst="roundRect">
            <a:avLst>
              <a:gd name="adj" fmla="val 6486"/>
            </a:avLst>
          </a:prstGeom>
          <a:solidFill>
            <a:schemeClr val="bg2"/>
          </a:solidFill>
          <a:ln/>
        </p:spPr>
      </p:sp>
      <p:sp>
        <p:nvSpPr>
          <p:cNvPr id="42" name="Semantic model badge"/>
          <p:cNvSpPr/>
          <p:nvPr/>
        </p:nvSpPr>
        <p:spPr>
          <a:xfrm>
            <a:off x="6364224" y="3794760"/>
            <a:ext cx="475488" cy="475488"/>
          </a:xfrm>
          <a:prstGeom prst="ellipse">
            <a:avLst/>
          </a:prstGeom>
          <a:solidFill>
            <a:schemeClr val="accent1"/>
          </a:solidFill>
          <a:ln/>
        </p:spPr>
      </p:sp>
      <p:pic>
        <p:nvPicPr>
          <p:cNvPr id="43" name="Image 6" descr="Semantic model icon">    </p:cNvPr>
          <p:cNvPicPr>
            <a:picLocks noChangeAspect="1"/>
          </p:cNvPicPr>
          <p:nvPr/>
        </p:nvPicPr>
        <p:blipFill>
          <a:blip r:embed="rId7"/>
          <a:stretch>
            <a:fillRect/>
          </a:stretch>
        </p:blipFill>
        <p:spPr>
          <a:xfrm>
            <a:off x="6483096" y="3913632"/>
            <a:ext cx="237744" cy="237744"/>
          </a:xfrm>
          <a:prstGeom prst="rect">
            <a:avLst/>
          </a:prstGeom>
        </p:spPr>
      </p:pic>
      <p:sp>
        <p:nvSpPr>
          <p:cNvPr id="44" name="Pill"/>
          <p:cNvSpPr txBox="1"/>
          <p:nvPr/>
        </p:nvSpPr>
        <p:spPr>
          <a:xfrm>
            <a:off x="7580376" y="3886200"/>
            <a:ext cx="1097280" cy="256032"/>
          </a:xfrm>
          <a:prstGeom prst="roundRect">
            <a:avLst>
              <a:gd name="adj" fmla="val 53571"/>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DAY 2</a:t>
            </a:r>
            <a:endParaRPr lang="en-US" sz="1000" dirty="0"/>
          </a:p>
        </p:txBody>
      </p:sp>
      <p:sp>
        <p:nvSpPr>
          <p:cNvPr id="45" name="Item name"/>
          <p:cNvSpPr txBox="1"/>
          <p:nvPr/>
        </p:nvSpPr>
        <p:spPr>
          <a:xfrm>
            <a:off x="6364224" y="4416552"/>
            <a:ext cx="233172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Semantic model</a:t>
            </a:r>
            <a:endParaRPr lang="en-US" sz="1600" dirty="0"/>
          </a:p>
        </p:txBody>
      </p:sp>
      <p:sp>
        <p:nvSpPr>
          <p:cNvPr id="46" name="Item description"/>
          <p:cNvSpPr txBox="1"/>
          <p:nvPr/>
        </p:nvSpPr>
        <p:spPr>
          <a:xfrm>
            <a:off x="6364224" y="4709160"/>
            <a:ext cx="2331720" cy="502920"/>
          </a:xfrm>
          <a:prstGeom prst="rect">
            <a:avLst/>
          </a:prstGeom>
          <a:noFill/>
          <a:ln/>
        </p:spPr>
        <p:txBody>
          <a:bodyPr wrap="square" lIns="0" tIns="0" rIns="0" bIns="0" rtlCol="0" anchor="t"/>
          <a:lstStyle/>
          <a:p>
            <a:pPr indent="0" marL="0">
              <a:buNone/>
            </a:pPr>
            <a:r>
              <a:rPr lang="en-US" sz="1250" dirty="0">
                <a:solidFill>
                  <a:schemeClr val="tx1"/>
                </a:solidFill>
              </a:rPr>
              <a:t>Business-friendly model for Power BI and Excel</a:t>
            </a:r>
            <a:endParaRPr lang="en-US" sz="1250" dirty="0"/>
          </a:p>
        </p:txBody>
      </p:sp>
      <p:sp>
        <p:nvSpPr>
          <p:cNvPr id="47" name="Item Report"/>
          <p:cNvSpPr/>
          <p:nvPr/>
        </p:nvSpPr>
        <p:spPr>
          <a:xfrm>
            <a:off x="8970264" y="3611880"/>
            <a:ext cx="2679192" cy="1691640"/>
          </a:xfrm>
          <a:prstGeom prst="roundRect">
            <a:avLst>
              <a:gd name="adj" fmla="val 6486"/>
            </a:avLst>
          </a:prstGeom>
          <a:solidFill>
            <a:schemeClr val="bg2"/>
          </a:solidFill>
          <a:ln/>
        </p:spPr>
      </p:sp>
      <p:sp>
        <p:nvSpPr>
          <p:cNvPr id="48" name="Report badge"/>
          <p:cNvSpPr/>
          <p:nvPr/>
        </p:nvSpPr>
        <p:spPr>
          <a:xfrm>
            <a:off x="9171432" y="3794760"/>
            <a:ext cx="475488" cy="475488"/>
          </a:xfrm>
          <a:prstGeom prst="ellipse">
            <a:avLst/>
          </a:prstGeom>
          <a:solidFill>
            <a:schemeClr val="accent1"/>
          </a:solidFill>
          <a:ln/>
        </p:spPr>
      </p:sp>
      <p:pic>
        <p:nvPicPr>
          <p:cNvPr id="49" name="Image 7" descr="Report icon">    </p:cNvPr>
          <p:cNvPicPr>
            <a:picLocks noChangeAspect="1"/>
          </p:cNvPicPr>
          <p:nvPr/>
        </p:nvPicPr>
        <p:blipFill>
          <a:blip r:embed="rId8"/>
          <a:stretch>
            <a:fillRect/>
          </a:stretch>
        </p:blipFill>
        <p:spPr>
          <a:xfrm>
            <a:off x="9290304" y="3913632"/>
            <a:ext cx="237744" cy="237744"/>
          </a:xfrm>
          <a:prstGeom prst="rect">
            <a:avLst/>
          </a:prstGeom>
        </p:spPr>
      </p:pic>
      <p:sp>
        <p:nvSpPr>
          <p:cNvPr id="50" name="Pill"/>
          <p:cNvSpPr txBox="1"/>
          <p:nvPr/>
        </p:nvSpPr>
        <p:spPr>
          <a:xfrm>
            <a:off x="10387584" y="3886200"/>
            <a:ext cx="1097280" cy="256032"/>
          </a:xfrm>
          <a:prstGeom prst="roundRect">
            <a:avLst>
              <a:gd name="adj" fmla="val 53571"/>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DAY 2</a:t>
            </a:r>
            <a:endParaRPr lang="en-US" sz="1000" dirty="0"/>
          </a:p>
        </p:txBody>
      </p:sp>
      <p:sp>
        <p:nvSpPr>
          <p:cNvPr id="51" name="Item name"/>
          <p:cNvSpPr txBox="1"/>
          <p:nvPr/>
        </p:nvSpPr>
        <p:spPr>
          <a:xfrm>
            <a:off x="9171432" y="4416552"/>
            <a:ext cx="233172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Report</a:t>
            </a:r>
            <a:endParaRPr lang="en-US" sz="1600" dirty="0"/>
          </a:p>
        </p:txBody>
      </p:sp>
      <p:sp>
        <p:nvSpPr>
          <p:cNvPr id="52" name="Item description"/>
          <p:cNvSpPr txBox="1"/>
          <p:nvPr/>
        </p:nvSpPr>
        <p:spPr>
          <a:xfrm>
            <a:off x="9171432" y="4709160"/>
            <a:ext cx="2331720" cy="502920"/>
          </a:xfrm>
          <a:prstGeom prst="rect">
            <a:avLst/>
          </a:prstGeom>
          <a:noFill/>
          <a:ln/>
        </p:spPr>
        <p:txBody>
          <a:bodyPr wrap="square" lIns="0" tIns="0" rIns="0" bIns="0" rtlCol="0" anchor="t"/>
          <a:lstStyle/>
          <a:p>
            <a:pPr indent="0" marL="0">
              <a:buNone/>
            </a:pPr>
            <a:r>
              <a:rPr lang="en-US" sz="1250" dirty="0">
                <a:solidFill>
                  <a:schemeClr val="tx1"/>
                </a:solidFill>
              </a:rPr>
              <a:t>Power BI visuals on top of the model</a:t>
            </a:r>
            <a:endParaRPr lang="en-US" sz="1250" dirty="0"/>
          </a:p>
        </p:txBody>
      </p:sp>
      <p:sp>
        <p:nvSpPr>
          <p:cNvPr id="53" name="Takeaway"/>
          <p:cNvSpPr txBox="1"/>
          <p:nvPr/>
        </p:nvSpPr>
        <p:spPr>
          <a:xfrm>
            <a:off x="548640" y="557784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Lakehouses hold the data, notebooks transform it, and pipelines orchestrate it.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FABRIC AT DISNEY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groups, three kinds of ownership</a:t>
            </a:r>
            <a:endParaRPr lang="en-US" sz="3200" dirty="0"/>
          </a:p>
        </p:txBody>
      </p:sp>
      <p:sp>
        <p:nvSpPr>
          <p:cNvPr id="5" name="Enterprise Technology card"/>
          <p:cNvSpPr/>
          <p:nvPr/>
        </p:nvSpPr>
        <p:spPr>
          <a:xfrm>
            <a:off x="548640" y="1783080"/>
            <a:ext cx="3593592" cy="3246120"/>
          </a:xfrm>
          <a:prstGeom prst="roundRect">
            <a:avLst>
              <a:gd name="adj" fmla="val 3380"/>
            </a:avLst>
          </a:prstGeom>
          <a:solidFill>
            <a:schemeClr val="bg2"/>
          </a:solidFill>
          <a:ln/>
        </p:spPr>
      </p:sp>
      <p:sp>
        <p:nvSpPr>
          <p:cNvPr id="6" name="Enterprise Technology badge"/>
          <p:cNvSpPr/>
          <p:nvPr/>
        </p:nvSpPr>
        <p:spPr>
          <a:xfrm>
            <a:off x="804672" y="2011680"/>
            <a:ext cx="566928" cy="566928"/>
          </a:xfrm>
          <a:prstGeom prst="ellipse">
            <a:avLst/>
          </a:prstGeom>
          <a:solidFill>
            <a:schemeClr val="tx2"/>
          </a:solidFill>
          <a:ln/>
        </p:spPr>
      </p:sp>
      <p:pic>
        <p:nvPicPr>
          <p:cNvPr id="7" name="Image 0" descr="Enterprise Technology icon">    </p:cNvPr>
          <p:cNvPicPr>
            <a:picLocks noChangeAspect="1"/>
          </p:cNvPicPr>
          <p:nvPr/>
        </p:nvPicPr>
        <p:blipFill>
          <a:blip r:embed="rId1"/>
          <a:stretch>
            <a:fillRect/>
          </a:stretch>
        </p:blipFill>
        <p:spPr>
          <a:xfrm>
            <a:off x="946404" y="2153412"/>
            <a:ext cx="283464" cy="283464"/>
          </a:xfrm>
          <a:prstGeom prst="rect">
            <a:avLst/>
          </a:prstGeom>
        </p:spPr>
      </p:pic>
      <p:sp>
        <p:nvSpPr>
          <p:cNvPr id="8" name="Group name"/>
          <p:cNvSpPr txBox="1"/>
          <p:nvPr/>
        </p:nvSpPr>
        <p:spPr>
          <a:xfrm>
            <a:off x="804672" y="274320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Enterprise Technology</a:t>
            </a:r>
            <a:endParaRPr lang="en-US" sz="1800" dirty="0"/>
          </a:p>
        </p:txBody>
      </p:sp>
      <p:sp>
        <p:nvSpPr>
          <p:cNvPr id="9" name="Group role"/>
          <p:cNvSpPr txBox="1"/>
          <p:nvPr/>
        </p:nvSpPr>
        <p:spPr>
          <a:xfrm>
            <a:off x="804672" y="3090672"/>
            <a:ext cx="3108960" cy="274320"/>
          </a:xfrm>
          <a:prstGeom prst="rect">
            <a:avLst/>
          </a:prstGeom>
          <a:noFill/>
          <a:ln/>
        </p:spPr>
        <p:txBody>
          <a:bodyPr wrap="square" lIns="0" tIns="0" rIns="0" bIns="0" rtlCol="0" anchor="t"/>
          <a:lstStyle/>
          <a:p>
            <a:pPr indent="0" marL="0">
              <a:buNone/>
            </a:pPr>
            <a:r>
              <a:rPr lang="en-US" sz="1350" i="1" dirty="0">
                <a:solidFill>
                  <a:schemeClr val="accent1"/>
                </a:solidFill>
              </a:rPr>
              <a:t>Owns the platform</a:t>
            </a:r>
            <a:endParaRPr lang="en-US" sz="1350" dirty="0"/>
          </a:p>
        </p:txBody>
      </p:sp>
      <p:sp>
        <p:nvSpPr>
          <p:cNvPr id="10" name="Group duties"/>
          <p:cNvSpPr txBox="1"/>
          <p:nvPr/>
        </p:nvSpPr>
        <p:spPr>
          <a:xfrm>
            <a:off x="804672" y="3474720"/>
            <a:ext cx="3108960" cy="14630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rPr>
              <a:t>Tenant, capacity and platform security</a:t>
            </a:r>
            <a:endParaRPr lang="en-US" sz="1450" dirty="0"/>
          </a:p>
          <a:p>
            <a:pPr marL="342900" indent="-342900">
              <a:spcAft>
                <a:spcPts val="900"/>
              </a:spcAft>
              <a:buSzPct val="100000"/>
              <a:buChar char="•"/>
            </a:pPr>
            <a:r>
              <a:rPr lang="en-US" sz="1450" dirty="0">
                <a:solidFill>
                  <a:schemeClr val="tx1"/>
                </a:solidFill>
              </a:rPr>
              <a:t>Governance and standards</a:t>
            </a:r>
            <a:endParaRPr lang="en-US" sz="1450" dirty="0"/>
          </a:p>
          <a:p>
            <a:pPr marL="342900" indent="-342900">
              <a:spcAft>
                <a:spcPts val="900"/>
              </a:spcAft>
              <a:buSzPct val="100000"/>
              <a:buChar char="•"/>
            </a:pPr>
            <a:r>
              <a:rPr lang="en-US" sz="1450" dirty="0">
                <a:solidFill>
                  <a:schemeClr val="tx1"/>
                </a:solidFill>
              </a:rPr>
              <a:t>Approvals and consents that gate production</a:t>
            </a:r>
            <a:endParaRPr lang="en-US" sz="1450" dirty="0"/>
          </a:p>
        </p:txBody>
      </p:sp>
      <p:sp>
        <p:nvSpPr>
          <p:cNvPr id="11" name="TDMI and Tax Technology card"/>
          <p:cNvSpPr/>
          <p:nvPr/>
        </p:nvSpPr>
        <p:spPr>
          <a:xfrm>
            <a:off x="4297680" y="1783080"/>
            <a:ext cx="3593592" cy="3246120"/>
          </a:xfrm>
          <a:prstGeom prst="roundRect">
            <a:avLst>
              <a:gd name="adj" fmla="val 3380"/>
            </a:avLst>
          </a:prstGeom>
          <a:solidFill>
            <a:schemeClr val="bg2"/>
          </a:solidFill>
          <a:ln/>
        </p:spPr>
      </p:sp>
      <p:sp>
        <p:nvSpPr>
          <p:cNvPr id="12" name="TDMI and Tax Technology badge"/>
          <p:cNvSpPr/>
          <p:nvPr/>
        </p:nvSpPr>
        <p:spPr>
          <a:xfrm>
            <a:off x="4553712" y="2011680"/>
            <a:ext cx="566928" cy="566928"/>
          </a:xfrm>
          <a:prstGeom prst="ellipse">
            <a:avLst/>
          </a:prstGeom>
          <a:solidFill>
            <a:schemeClr val="accent1"/>
          </a:solidFill>
          <a:ln/>
        </p:spPr>
      </p:sp>
      <p:pic>
        <p:nvPicPr>
          <p:cNvPr id="13" name="Image 1" descr="TDMI and Tax Technology icon">    </p:cNvPr>
          <p:cNvPicPr>
            <a:picLocks noChangeAspect="1"/>
          </p:cNvPicPr>
          <p:nvPr/>
        </p:nvPicPr>
        <p:blipFill>
          <a:blip r:embed="rId2"/>
          <a:stretch>
            <a:fillRect/>
          </a:stretch>
        </p:blipFill>
        <p:spPr>
          <a:xfrm>
            <a:off x="4695444" y="2153412"/>
            <a:ext cx="283464" cy="283464"/>
          </a:xfrm>
          <a:prstGeom prst="rect">
            <a:avLst/>
          </a:prstGeom>
        </p:spPr>
      </p:pic>
      <p:sp>
        <p:nvSpPr>
          <p:cNvPr id="14" name="Group name"/>
          <p:cNvSpPr txBox="1"/>
          <p:nvPr/>
        </p:nvSpPr>
        <p:spPr>
          <a:xfrm>
            <a:off x="4553712" y="274320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TDMI and Tax Technology</a:t>
            </a:r>
            <a:endParaRPr lang="en-US" sz="1800" dirty="0"/>
          </a:p>
        </p:txBody>
      </p:sp>
      <p:sp>
        <p:nvSpPr>
          <p:cNvPr id="15" name="Group role"/>
          <p:cNvSpPr txBox="1"/>
          <p:nvPr/>
        </p:nvSpPr>
        <p:spPr>
          <a:xfrm>
            <a:off x="4553712" y="3090672"/>
            <a:ext cx="3108960" cy="274320"/>
          </a:xfrm>
          <a:prstGeom prst="rect">
            <a:avLst/>
          </a:prstGeom>
          <a:noFill/>
          <a:ln/>
        </p:spPr>
        <p:txBody>
          <a:bodyPr wrap="square" lIns="0" tIns="0" rIns="0" bIns="0" rtlCol="0" anchor="t"/>
          <a:lstStyle/>
          <a:p>
            <a:pPr indent="0" marL="0">
              <a:buNone/>
            </a:pPr>
            <a:r>
              <a:rPr lang="en-US" sz="1350" i="1" dirty="0">
                <a:solidFill>
                  <a:schemeClr val="accent1"/>
                </a:solidFill>
              </a:rPr>
              <a:t>Builds the solutions</a:t>
            </a:r>
            <a:endParaRPr lang="en-US" sz="1350" dirty="0"/>
          </a:p>
        </p:txBody>
      </p:sp>
      <p:sp>
        <p:nvSpPr>
          <p:cNvPr id="16" name="Group duties"/>
          <p:cNvSpPr txBox="1"/>
          <p:nvPr/>
        </p:nvSpPr>
        <p:spPr>
          <a:xfrm>
            <a:off x="4553712" y="3474720"/>
            <a:ext cx="3108960" cy="14630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rPr>
              <a:t>Lakehouses, notebooks and pipelines</a:t>
            </a:r>
            <a:endParaRPr lang="en-US" sz="1450" dirty="0"/>
          </a:p>
          <a:p>
            <a:pPr marL="342900" indent="-342900">
              <a:spcAft>
                <a:spcPts val="900"/>
              </a:spcAft>
              <a:buSzPct val="100000"/>
              <a:buChar char="•"/>
            </a:pPr>
            <a:r>
              <a:rPr lang="en-US" sz="1450" dirty="0">
                <a:solidFill>
                  <a:schemeClr val="tx1"/>
                </a:solidFill>
              </a:rPr>
              <a:t>Business rules and data quality</a:t>
            </a:r>
            <a:endParaRPr lang="en-US" sz="1450" dirty="0"/>
          </a:p>
          <a:p>
            <a:pPr marL="342900" indent="-342900">
              <a:spcAft>
                <a:spcPts val="900"/>
              </a:spcAft>
              <a:buSzPct val="100000"/>
              <a:buChar char="•"/>
            </a:pPr>
            <a:r>
              <a:rPr lang="en-US" sz="1450" dirty="0">
                <a:solidFill>
                  <a:schemeClr val="tx1"/>
                </a:solidFill>
              </a:rPr>
              <a:t>Documentation for support handoff</a:t>
            </a:r>
            <a:endParaRPr lang="en-US" sz="1450" dirty="0"/>
          </a:p>
        </p:txBody>
      </p:sp>
      <p:sp>
        <p:nvSpPr>
          <p:cNvPr id="17" name="The business card"/>
          <p:cNvSpPr/>
          <p:nvPr/>
        </p:nvSpPr>
        <p:spPr>
          <a:xfrm>
            <a:off x="8046720" y="1783080"/>
            <a:ext cx="3593592" cy="3246120"/>
          </a:xfrm>
          <a:prstGeom prst="roundRect">
            <a:avLst>
              <a:gd name="adj" fmla="val 3380"/>
            </a:avLst>
          </a:prstGeom>
          <a:solidFill>
            <a:schemeClr val="bg2"/>
          </a:solidFill>
          <a:ln/>
        </p:spPr>
      </p:sp>
      <p:sp>
        <p:nvSpPr>
          <p:cNvPr id="18" name="The business badge"/>
          <p:cNvSpPr/>
          <p:nvPr/>
        </p:nvSpPr>
        <p:spPr>
          <a:xfrm>
            <a:off x="8302752" y="2011680"/>
            <a:ext cx="566928" cy="566928"/>
          </a:xfrm>
          <a:prstGeom prst="ellipse">
            <a:avLst/>
          </a:prstGeom>
          <a:solidFill>
            <a:schemeClr val="accent2"/>
          </a:solidFill>
          <a:ln/>
        </p:spPr>
      </p:sp>
      <p:pic>
        <p:nvPicPr>
          <p:cNvPr id="19" name="Image 2" descr="The business icon">    </p:cNvPr>
          <p:cNvPicPr>
            <a:picLocks noChangeAspect="1"/>
          </p:cNvPicPr>
          <p:nvPr/>
        </p:nvPicPr>
        <p:blipFill>
          <a:blip r:embed="rId3"/>
          <a:stretch>
            <a:fillRect/>
          </a:stretch>
        </p:blipFill>
        <p:spPr>
          <a:xfrm>
            <a:off x="8444484" y="2153412"/>
            <a:ext cx="283464" cy="283464"/>
          </a:xfrm>
          <a:prstGeom prst="rect">
            <a:avLst/>
          </a:prstGeom>
        </p:spPr>
      </p:pic>
      <p:sp>
        <p:nvSpPr>
          <p:cNvPr id="20" name="Group name"/>
          <p:cNvSpPr txBox="1"/>
          <p:nvPr/>
        </p:nvSpPr>
        <p:spPr>
          <a:xfrm>
            <a:off x="8302752" y="274320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The business</a:t>
            </a:r>
            <a:endParaRPr lang="en-US" sz="1800" dirty="0"/>
          </a:p>
        </p:txBody>
      </p:sp>
      <p:sp>
        <p:nvSpPr>
          <p:cNvPr id="21" name="Group role"/>
          <p:cNvSpPr txBox="1"/>
          <p:nvPr/>
        </p:nvSpPr>
        <p:spPr>
          <a:xfrm>
            <a:off x="8302752" y="3090672"/>
            <a:ext cx="3108960" cy="274320"/>
          </a:xfrm>
          <a:prstGeom prst="rect">
            <a:avLst/>
          </a:prstGeom>
          <a:noFill/>
          <a:ln/>
        </p:spPr>
        <p:txBody>
          <a:bodyPr wrap="square" lIns="0" tIns="0" rIns="0" bIns="0" rtlCol="0" anchor="t"/>
          <a:lstStyle/>
          <a:p>
            <a:pPr indent="0" marL="0">
              <a:buNone/>
            </a:pPr>
            <a:r>
              <a:rPr lang="en-US" sz="1350" i="1" dirty="0">
                <a:solidFill>
                  <a:schemeClr val="accent1"/>
                </a:solidFill>
              </a:rPr>
              <a:t>Owns the process</a:t>
            </a:r>
            <a:endParaRPr lang="en-US" sz="1350" dirty="0"/>
          </a:p>
        </p:txBody>
      </p:sp>
      <p:sp>
        <p:nvSpPr>
          <p:cNvPr id="22" name="Group duties"/>
          <p:cNvSpPr txBox="1"/>
          <p:nvPr/>
        </p:nvSpPr>
        <p:spPr>
          <a:xfrm>
            <a:off x="8302752" y="3474720"/>
            <a:ext cx="3108960" cy="146304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chemeClr val="tx1"/>
                </a:solidFill>
              </a:rPr>
              <a:t>Supplies the inputs and runs workflows</a:t>
            </a:r>
            <a:endParaRPr lang="en-US" sz="1450" dirty="0"/>
          </a:p>
          <a:p>
            <a:pPr marL="342900" indent="-342900">
              <a:spcAft>
                <a:spcPts val="900"/>
              </a:spcAft>
              <a:buSzPct val="100000"/>
              <a:buChar char="•"/>
            </a:pPr>
            <a:r>
              <a:rPr lang="en-US" sz="1450" dirty="0">
                <a:solidFill>
                  <a:schemeClr val="tx1"/>
                </a:solidFill>
              </a:rPr>
              <a:t>User acceptance testing</a:t>
            </a:r>
            <a:endParaRPr lang="en-US" sz="1450" dirty="0"/>
          </a:p>
          <a:p>
            <a:pPr marL="342900" indent="-342900">
              <a:spcAft>
                <a:spcPts val="900"/>
              </a:spcAft>
              <a:buSzPct val="100000"/>
              <a:buChar char="•"/>
            </a:pPr>
            <a:r>
              <a:rPr lang="en-US" sz="1450" dirty="0">
                <a:solidFill>
                  <a:schemeClr val="tx1"/>
                </a:solidFill>
              </a:rPr>
              <a:t>Functional sign-off before go-live</a:t>
            </a:r>
            <a:endParaRPr lang="en-US" sz="1450" dirty="0"/>
          </a:p>
        </p:txBody>
      </p:sp>
      <p:sp>
        <p:nvSpPr>
          <p:cNvPr id="23" name="Out of scope strip"/>
          <p:cNvSpPr/>
          <p:nvPr/>
        </p:nvSpPr>
        <p:spPr>
          <a:xfrm>
            <a:off x="548640" y="5166360"/>
            <a:ext cx="11094415" cy="566928"/>
          </a:xfrm>
          <a:prstGeom prst="roundRect">
            <a:avLst>
              <a:gd name="adj" fmla="val 19355"/>
            </a:avLst>
          </a:prstGeom>
          <a:solidFill>
            <a:schemeClr val="accent3">
              <a:alpha val="22000"/>
            </a:schemeClr>
          </a:solidFill>
          <a:ln/>
        </p:spPr>
      </p:sp>
      <p:sp>
        <p:nvSpPr>
          <p:cNvPr id="24" name="Out of scope text"/>
          <p:cNvSpPr txBox="1"/>
          <p:nvPr/>
        </p:nvSpPr>
        <p:spPr>
          <a:xfrm>
            <a:off x="777240" y="5166360"/>
            <a:ext cx="10637215" cy="566928"/>
          </a:xfrm>
          <a:prstGeom prst="rect">
            <a:avLst/>
          </a:prstGeom>
          <a:noFill/>
          <a:ln/>
        </p:spPr>
        <p:txBody>
          <a:bodyPr wrap="square" lIns="0" tIns="0" rIns="0" bIns="0" rtlCol="0" anchor="ctr"/>
          <a:lstStyle/>
          <a:p>
            <a:pPr indent="0" marL="0">
              <a:buNone/>
            </a:pPr>
            <a:r>
              <a:rPr lang="en-US" sz="1350" b="1" dirty="0">
                <a:solidFill>
                  <a:schemeClr val="tx1"/>
                </a:solidFill>
              </a:rPr>
              <a:t>Not covered today: </a:t>
            </a:r>
            <a:pPr indent="0" marL="0">
              <a:buNone/>
            </a:pPr>
            <a:r>
              <a:rPr lang="en-US" sz="1350" dirty="0">
                <a:solidFill>
                  <a:schemeClr val="tx1"/>
                </a:solidFill>
              </a:rPr>
              <a:t>Disney governance, operating model and Fabric management decisions are handled in a separate internal session.</a:t>
            </a:r>
            <a:endParaRPr lang="en-US" sz="1350" dirty="0"/>
          </a:p>
        </p:txBody>
      </p:sp>
      <p:sp>
        <p:nvSpPr>
          <p:cNvPr id="25" name="Footnote"/>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Day Three covers who you need and when: BAPPID, ESIS, consents, AI intake and email relay.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FABRIC AT DISNEY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Live tour: find your way around</a:t>
            </a:r>
            <a:endParaRPr lang="en-US" sz="3200" dirty="0"/>
          </a:p>
        </p:txBody>
      </p:sp>
      <p:sp>
        <p:nvSpPr>
          <p:cNvPr id="5" name="Pill"/>
          <p:cNvSpPr txBox="1"/>
          <p:nvPr/>
        </p:nvSpPr>
        <p:spPr>
          <a:xfrm>
            <a:off x="9354312" y="310896"/>
            <a:ext cx="2286000" cy="292608"/>
          </a:xfrm>
          <a:prstGeom prst="roundRect">
            <a:avLst>
              <a:gd name="adj" fmla="val 46875"/>
            </a:avLst>
          </a:prstGeom>
          <a:solidFill>
            <a:schemeClr val="accent2"/>
          </a:solidFill>
          <a:ln/>
        </p:spPr>
        <p:txBody>
          <a:bodyPr wrap="square" lIns="0" tIns="0" rIns="0" bIns="0" rtlCol="0" anchor="ctr"/>
          <a:lstStyle/>
          <a:p>
            <a:pPr algn="ctr" indent="0" marL="0">
              <a:buNone/>
            </a:pPr>
            <a:r>
              <a:rPr lang="en-US" sz="1100" b="1" spc="200" kern="0" dirty="0">
                <a:solidFill>
                  <a:schemeClr val="bg1"/>
                </a:solidFill>
              </a:rPr>
              <a:t>DEMO · 15 MIN</a:t>
            </a:r>
            <a:endParaRPr lang="en-US" sz="1100" dirty="0"/>
          </a:p>
        </p:txBody>
      </p:sp>
      <p:sp>
        <p:nvSpPr>
          <p:cNvPr id="6" name="Tour step 1"/>
          <p:cNvSpPr/>
          <p:nvPr/>
        </p:nvSpPr>
        <p:spPr>
          <a:xfrm>
            <a:off x="548640" y="1783080"/>
            <a:ext cx="5440680" cy="1143000"/>
          </a:xfrm>
          <a:prstGeom prst="roundRect">
            <a:avLst>
              <a:gd name="adj" fmla="val 9600"/>
            </a:avLst>
          </a:prstGeom>
          <a:solidFill>
            <a:schemeClr val="bg2"/>
          </a:solidFill>
          <a:ln/>
        </p:spPr>
      </p:sp>
      <p:sp>
        <p:nvSpPr>
          <p:cNvPr id="7" name="Step chip 1"/>
          <p:cNvSpPr/>
          <p:nvPr/>
        </p:nvSpPr>
        <p:spPr>
          <a:xfrm>
            <a:off x="749808" y="2057400"/>
            <a:ext cx="566928" cy="566928"/>
          </a:xfrm>
          <a:prstGeom prst="roundRect">
            <a:avLst>
              <a:gd name="adj" fmla="val 16129"/>
            </a:avLst>
          </a:prstGeom>
          <a:solidFill>
            <a:schemeClr val="accent1"/>
          </a:solidFill>
          <a:ln/>
        </p:spPr>
      </p:sp>
      <p:sp>
        <p:nvSpPr>
          <p:cNvPr id="8" name="Step number"/>
          <p:cNvSpPr txBox="1"/>
          <p:nvPr/>
        </p:nvSpPr>
        <p:spPr>
          <a:xfrm>
            <a:off x="749808" y="2057400"/>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a:t>
            </a:r>
            <a:endParaRPr lang="en-US" sz="2400" dirty="0"/>
          </a:p>
        </p:txBody>
      </p:sp>
      <p:sp>
        <p:nvSpPr>
          <p:cNvPr id="9" name="Step action"/>
          <p:cNvSpPr txBox="1"/>
          <p:nvPr/>
        </p:nvSpPr>
        <p:spPr>
          <a:xfrm>
            <a:off x="1508760" y="1920240"/>
            <a:ext cx="4343400" cy="320040"/>
          </a:xfrm>
          <a:prstGeom prst="rect">
            <a:avLst/>
          </a:prstGeom>
          <a:noFill/>
          <a:ln/>
        </p:spPr>
        <p:txBody>
          <a:bodyPr wrap="square" lIns="0" tIns="0" rIns="0" bIns="0" rtlCol="0" anchor="t"/>
          <a:lstStyle/>
          <a:p>
            <a:pPr indent="0" marL="0">
              <a:buNone/>
            </a:pPr>
            <a:r>
              <a:rPr lang="en-US" sz="1600" b="1" dirty="0">
                <a:solidFill>
                  <a:schemeClr val="tx1"/>
                </a:solidFill>
              </a:rPr>
              <a:t>Sign in and open the workspace list</a:t>
            </a:r>
            <a:endParaRPr lang="en-US" sz="1600" dirty="0"/>
          </a:p>
        </p:txBody>
      </p:sp>
      <p:sp>
        <p:nvSpPr>
          <p:cNvPr id="10" name="Step notice"/>
          <p:cNvSpPr txBox="1"/>
          <p:nvPr/>
        </p:nvSpPr>
        <p:spPr>
          <a:xfrm>
            <a:off x="1508760" y="2286000"/>
            <a:ext cx="4343400" cy="548640"/>
          </a:xfrm>
          <a:prstGeom prst="rect">
            <a:avLst/>
          </a:prstGeom>
          <a:noFill/>
          <a:ln/>
        </p:spPr>
        <p:txBody>
          <a:bodyPr wrap="square" lIns="0" tIns="0" rIns="0" bIns="0" rtlCol="0" anchor="t"/>
          <a:lstStyle/>
          <a:p>
            <a:pPr indent="0" marL="0">
              <a:buNone/>
            </a:pPr>
            <a:r>
              <a:rPr lang="en-US" sz="1300" b="1" dirty="0">
                <a:solidFill>
                  <a:schemeClr val="accent1"/>
                </a:solidFill>
              </a:rPr>
              <a:t>Notice: </a:t>
            </a:r>
            <a:pPr indent="0" marL="0">
              <a:buNone/>
            </a:pPr>
            <a:r>
              <a:rPr lang="en-US" sz="1300" dirty="0">
                <a:solidFill>
                  <a:schemeClr val="tx1"/>
                </a:solidFill>
              </a:rPr>
              <a:t>Which workspaces you can see, and which environment each one is.</a:t>
            </a:r>
            <a:endParaRPr lang="en-US" sz="1300" dirty="0"/>
          </a:p>
        </p:txBody>
      </p:sp>
      <p:sp>
        <p:nvSpPr>
          <p:cNvPr id="11" name="Tour step 2"/>
          <p:cNvSpPr/>
          <p:nvPr/>
        </p:nvSpPr>
        <p:spPr>
          <a:xfrm>
            <a:off x="6126480" y="1783080"/>
            <a:ext cx="5440680" cy="1143000"/>
          </a:xfrm>
          <a:prstGeom prst="roundRect">
            <a:avLst>
              <a:gd name="adj" fmla="val 9600"/>
            </a:avLst>
          </a:prstGeom>
          <a:solidFill>
            <a:schemeClr val="bg2"/>
          </a:solidFill>
          <a:ln/>
        </p:spPr>
      </p:sp>
      <p:sp>
        <p:nvSpPr>
          <p:cNvPr id="12" name="Step chip 2"/>
          <p:cNvSpPr/>
          <p:nvPr/>
        </p:nvSpPr>
        <p:spPr>
          <a:xfrm>
            <a:off x="6327648" y="2057400"/>
            <a:ext cx="566928" cy="566928"/>
          </a:xfrm>
          <a:prstGeom prst="roundRect">
            <a:avLst>
              <a:gd name="adj" fmla="val 16129"/>
            </a:avLst>
          </a:prstGeom>
          <a:solidFill>
            <a:schemeClr val="accent1"/>
          </a:solidFill>
          <a:ln/>
        </p:spPr>
      </p:sp>
      <p:sp>
        <p:nvSpPr>
          <p:cNvPr id="13" name="Step number"/>
          <p:cNvSpPr txBox="1"/>
          <p:nvPr/>
        </p:nvSpPr>
        <p:spPr>
          <a:xfrm>
            <a:off x="6327648" y="2057400"/>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a:t>
            </a:r>
            <a:endParaRPr lang="en-US" sz="2400" dirty="0"/>
          </a:p>
        </p:txBody>
      </p:sp>
      <p:sp>
        <p:nvSpPr>
          <p:cNvPr id="14" name="Step action"/>
          <p:cNvSpPr txBox="1"/>
          <p:nvPr/>
        </p:nvSpPr>
        <p:spPr>
          <a:xfrm>
            <a:off x="7086600" y="1920240"/>
            <a:ext cx="4343400" cy="320040"/>
          </a:xfrm>
          <a:prstGeom prst="rect">
            <a:avLst/>
          </a:prstGeom>
          <a:noFill/>
          <a:ln/>
        </p:spPr>
        <p:txBody>
          <a:bodyPr wrap="square" lIns="0" tIns="0" rIns="0" bIns="0" rtlCol="0" anchor="t"/>
          <a:lstStyle/>
          <a:p>
            <a:pPr indent="0" marL="0">
              <a:buNone/>
            </a:pPr>
            <a:r>
              <a:rPr lang="en-US" sz="1600" b="1" dirty="0">
                <a:solidFill>
                  <a:schemeClr val="tx1"/>
                </a:solidFill>
              </a:rPr>
              <a:t>Open a workspace</a:t>
            </a:r>
            <a:endParaRPr lang="en-US" sz="1600" dirty="0"/>
          </a:p>
        </p:txBody>
      </p:sp>
      <p:sp>
        <p:nvSpPr>
          <p:cNvPr id="15" name="Step notice"/>
          <p:cNvSpPr txBox="1"/>
          <p:nvPr/>
        </p:nvSpPr>
        <p:spPr>
          <a:xfrm>
            <a:off x="7086600" y="2286000"/>
            <a:ext cx="4343400" cy="548640"/>
          </a:xfrm>
          <a:prstGeom prst="rect">
            <a:avLst/>
          </a:prstGeom>
          <a:noFill/>
          <a:ln/>
        </p:spPr>
        <p:txBody>
          <a:bodyPr wrap="square" lIns="0" tIns="0" rIns="0" bIns="0" rtlCol="0" anchor="t"/>
          <a:lstStyle/>
          <a:p>
            <a:pPr indent="0" marL="0">
              <a:buNone/>
            </a:pPr>
            <a:r>
              <a:rPr lang="en-US" sz="1300" b="1" dirty="0">
                <a:solidFill>
                  <a:schemeClr val="accent1"/>
                </a:solidFill>
              </a:rPr>
              <a:t>Notice: </a:t>
            </a:r>
            <a:pPr indent="0" marL="0">
              <a:buNone/>
            </a:pPr>
            <a:r>
              <a:rPr lang="en-US" sz="1300" dirty="0">
                <a:solidFill>
                  <a:schemeClr val="tx1"/>
                </a:solidFill>
              </a:rPr>
              <a:t>Items grouped by type, with the icons from the last slide.</a:t>
            </a:r>
            <a:endParaRPr lang="en-US" sz="1300" dirty="0"/>
          </a:p>
        </p:txBody>
      </p:sp>
      <p:sp>
        <p:nvSpPr>
          <p:cNvPr id="16" name="Tour step 3"/>
          <p:cNvSpPr/>
          <p:nvPr/>
        </p:nvSpPr>
        <p:spPr>
          <a:xfrm>
            <a:off x="548640" y="3044952"/>
            <a:ext cx="5440680" cy="1143000"/>
          </a:xfrm>
          <a:prstGeom prst="roundRect">
            <a:avLst>
              <a:gd name="adj" fmla="val 9600"/>
            </a:avLst>
          </a:prstGeom>
          <a:solidFill>
            <a:schemeClr val="bg2"/>
          </a:solidFill>
          <a:ln/>
        </p:spPr>
      </p:sp>
      <p:sp>
        <p:nvSpPr>
          <p:cNvPr id="17" name="Step chip 3"/>
          <p:cNvSpPr/>
          <p:nvPr/>
        </p:nvSpPr>
        <p:spPr>
          <a:xfrm>
            <a:off x="749808" y="3319272"/>
            <a:ext cx="566928" cy="566928"/>
          </a:xfrm>
          <a:prstGeom prst="roundRect">
            <a:avLst>
              <a:gd name="adj" fmla="val 16129"/>
            </a:avLst>
          </a:prstGeom>
          <a:solidFill>
            <a:schemeClr val="accent1"/>
          </a:solidFill>
          <a:ln/>
        </p:spPr>
      </p:sp>
      <p:sp>
        <p:nvSpPr>
          <p:cNvPr id="18" name="Step number"/>
          <p:cNvSpPr txBox="1"/>
          <p:nvPr/>
        </p:nvSpPr>
        <p:spPr>
          <a:xfrm>
            <a:off x="749808" y="33192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a:t>
            </a:r>
            <a:endParaRPr lang="en-US" sz="2400" dirty="0"/>
          </a:p>
        </p:txBody>
      </p:sp>
      <p:sp>
        <p:nvSpPr>
          <p:cNvPr id="19" name="Step action"/>
          <p:cNvSpPr txBox="1"/>
          <p:nvPr/>
        </p:nvSpPr>
        <p:spPr>
          <a:xfrm>
            <a:off x="1508760" y="3182112"/>
            <a:ext cx="4343400" cy="320040"/>
          </a:xfrm>
          <a:prstGeom prst="rect">
            <a:avLst/>
          </a:prstGeom>
          <a:noFill/>
          <a:ln/>
        </p:spPr>
        <p:txBody>
          <a:bodyPr wrap="square" lIns="0" tIns="0" rIns="0" bIns="0" rtlCol="0" anchor="t"/>
          <a:lstStyle/>
          <a:p>
            <a:pPr indent="0" marL="0">
              <a:buNone/>
            </a:pPr>
            <a:r>
              <a:rPr lang="en-US" sz="1600" b="1" dirty="0">
                <a:solidFill>
                  <a:schemeClr val="tx1"/>
                </a:solidFill>
              </a:rPr>
              <a:t>Open a lakehouse</a:t>
            </a:r>
            <a:endParaRPr lang="en-US" sz="1600" dirty="0"/>
          </a:p>
        </p:txBody>
      </p:sp>
      <p:sp>
        <p:nvSpPr>
          <p:cNvPr id="20" name="Step notice"/>
          <p:cNvSpPr txBox="1"/>
          <p:nvPr/>
        </p:nvSpPr>
        <p:spPr>
          <a:xfrm>
            <a:off x="1508760" y="3547872"/>
            <a:ext cx="4343400" cy="548640"/>
          </a:xfrm>
          <a:prstGeom prst="rect">
            <a:avLst/>
          </a:prstGeom>
          <a:noFill/>
          <a:ln/>
        </p:spPr>
        <p:txBody>
          <a:bodyPr wrap="square" lIns="0" tIns="0" rIns="0" bIns="0" rtlCol="0" anchor="t"/>
          <a:lstStyle/>
          <a:p>
            <a:pPr indent="0" marL="0">
              <a:buNone/>
            </a:pPr>
            <a:r>
              <a:rPr lang="en-US" sz="1300" b="1" dirty="0">
                <a:solidFill>
                  <a:schemeClr val="accent1"/>
                </a:solidFill>
              </a:rPr>
              <a:t>Notice: </a:t>
            </a:r>
            <a:pPr indent="0" marL="0">
              <a:buNone/>
            </a:pPr>
            <a:r>
              <a:rPr lang="en-US" sz="1300" dirty="0">
                <a:solidFill>
                  <a:schemeClr val="tx1"/>
                </a:solidFill>
              </a:rPr>
              <a:t>The Files and Tables sections, and any shortcut icon.</a:t>
            </a:r>
            <a:endParaRPr lang="en-US" sz="1300" dirty="0"/>
          </a:p>
        </p:txBody>
      </p:sp>
      <p:sp>
        <p:nvSpPr>
          <p:cNvPr id="21" name="Tour step 4"/>
          <p:cNvSpPr/>
          <p:nvPr/>
        </p:nvSpPr>
        <p:spPr>
          <a:xfrm>
            <a:off x="6126480" y="3044952"/>
            <a:ext cx="5440680" cy="1143000"/>
          </a:xfrm>
          <a:prstGeom prst="roundRect">
            <a:avLst>
              <a:gd name="adj" fmla="val 9600"/>
            </a:avLst>
          </a:prstGeom>
          <a:solidFill>
            <a:schemeClr val="bg2"/>
          </a:solidFill>
          <a:ln/>
        </p:spPr>
      </p:sp>
      <p:sp>
        <p:nvSpPr>
          <p:cNvPr id="22" name="Step chip 4"/>
          <p:cNvSpPr/>
          <p:nvPr/>
        </p:nvSpPr>
        <p:spPr>
          <a:xfrm>
            <a:off x="6327648" y="3319272"/>
            <a:ext cx="566928" cy="566928"/>
          </a:xfrm>
          <a:prstGeom prst="roundRect">
            <a:avLst>
              <a:gd name="adj" fmla="val 16129"/>
            </a:avLst>
          </a:prstGeom>
          <a:solidFill>
            <a:schemeClr val="accent1"/>
          </a:solidFill>
          <a:ln/>
        </p:spPr>
      </p:sp>
      <p:sp>
        <p:nvSpPr>
          <p:cNvPr id="23" name="Step number"/>
          <p:cNvSpPr txBox="1"/>
          <p:nvPr/>
        </p:nvSpPr>
        <p:spPr>
          <a:xfrm>
            <a:off x="6327648" y="33192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4</a:t>
            </a:r>
            <a:endParaRPr lang="en-US" sz="2400" dirty="0"/>
          </a:p>
        </p:txBody>
      </p:sp>
      <p:sp>
        <p:nvSpPr>
          <p:cNvPr id="24" name="Step action"/>
          <p:cNvSpPr txBox="1"/>
          <p:nvPr/>
        </p:nvSpPr>
        <p:spPr>
          <a:xfrm>
            <a:off x="7086600" y="3182112"/>
            <a:ext cx="4343400" cy="320040"/>
          </a:xfrm>
          <a:prstGeom prst="rect">
            <a:avLst/>
          </a:prstGeom>
          <a:noFill/>
          <a:ln/>
        </p:spPr>
        <p:txBody>
          <a:bodyPr wrap="square" lIns="0" tIns="0" rIns="0" bIns="0" rtlCol="0" anchor="t"/>
          <a:lstStyle/>
          <a:p>
            <a:pPr indent="0" marL="0">
              <a:buNone/>
            </a:pPr>
            <a:r>
              <a:rPr lang="en-US" sz="1600" b="1" dirty="0">
                <a:solidFill>
                  <a:schemeClr val="tx1"/>
                </a:solidFill>
              </a:rPr>
              <a:t>Open a notebook</a:t>
            </a:r>
            <a:endParaRPr lang="en-US" sz="1600" dirty="0"/>
          </a:p>
        </p:txBody>
      </p:sp>
      <p:sp>
        <p:nvSpPr>
          <p:cNvPr id="25" name="Step notice"/>
          <p:cNvSpPr txBox="1"/>
          <p:nvPr/>
        </p:nvSpPr>
        <p:spPr>
          <a:xfrm>
            <a:off x="7086600" y="3547872"/>
            <a:ext cx="4343400" cy="548640"/>
          </a:xfrm>
          <a:prstGeom prst="rect">
            <a:avLst/>
          </a:prstGeom>
          <a:noFill/>
          <a:ln/>
        </p:spPr>
        <p:txBody>
          <a:bodyPr wrap="square" lIns="0" tIns="0" rIns="0" bIns="0" rtlCol="0" anchor="t"/>
          <a:lstStyle/>
          <a:p>
            <a:pPr indent="0" marL="0">
              <a:buNone/>
            </a:pPr>
            <a:r>
              <a:rPr lang="en-US" sz="1300" b="1" dirty="0">
                <a:solidFill>
                  <a:schemeClr val="accent1"/>
                </a:solidFill>
              </a:rPr>
              <a:t>Notice: </a:t>
            </a:r>
            <a:pPr indent="0" marL="0">
              <a:buNone/>
            </a:pPr>
            <a:r>
              <a:rPr lang="en-US" sz="1300" dirty="0">
                <a:solidFill>
                  <a:schemeClr val="tx1"/>
                </a:solidFill>
              </a:rPr>
              <a:t>The lakehouse attached on the left, and the cell types.</a:t>
            </a:r>
            <a:endParaRPr lang="en-US" sz="1300" dirty="0"/>
          </a:p>
        </p:txBody>
      </p:sp>
      <p:sp>
        <p:nvSpPr>
          <p:cNvPr id="26" name="Tour step 5"/>
          <p:cNvSpPr/>
          <p:nvPr/>
        </p:nvSpPr>
        <p:spPr>
          <a:xfrm>
            <a:off x="548640" y="4306824"/>
            <a:ext cx="5440680" cy="1143000"/>
          </a:xfrm>
          <a:prstGeom prst="roundRect">
            <a:avLst>
              <a:gd name="adj" fmla="val 9600"/>
            </a:avLst>
          </a:prstGeom>
          <a:solidFill>
            <a:schemeClr val="bg2"/>
          </a:solidFill>
          <a:ln/>
        </p:spPr>
      </p:sp>
      <p:sp>
        <p:nvSpPr>
          <p:cNvPr id="27" name="Step chip 5"/>
          <p:cNvSpPr/>
          <p:nvPr/>
        </p:nvSpPr>
        <p:spPr>
          <a:xfrm>
            <a:off x="749808" y="4581144"/>
            <a:ext cx="566928" cy="566928"/>
          </a:xfrm>
          <a:prstGeom prst="roundRect">
            <a:avLst>
              <a:gd name="adj" fmla="val 16129"/>
            </a:avLst>
          </a:prstGeom>
          <a:solidFill>
            <a:schemeClr val="accent1"/>
          </a:solidFill>
          <a:ln/>
        </p:spPr>
      </p:sp>
      <p:sp>
        <p:nvSpPr>
          <p:cNvPr id="28" name="Step number"/>
          <p:cNvSpPr txBox="1"/>
          <p:nvPr/>
        </p:nvSpPr>
        <p:spPr>
          <a:xfrm>
            <a:off x="749808" y="4581144"/>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5</a:t>
            </a:r>
            <a:endParaRPr lang="en-US" sz="2400" dirty="0"/>
          </a:p>
        </p:txBody>
      </p:sp>
      <p:sp>
        <p:nvSpPr>
          <p:cNvPr id="29" name="Step action"/>
          <p:cNvSpPr txBox="1"/>
          <p:nvPr/>
        </p:nvSpPr>
        <p:spPr>
          <a:xfrm>
            <a:off x="1508760" y="4443984"/>
            <a:ext cx="4343400" cy="320040"/>
          </a:xfrm>
          <a:prstGeom prst="rect">
            <a:avLst/>
          </a:prstGeom>
          <a:noFill/>
          <a:ln/>
        </p:spPr>
        <p:txBody>
          <a:bodyPr wrap="square" lIns="0" tIns="0" rIns="0" bIns="0" rtlCol="0" anchor="t"/>
          <a:lstStyle/>
          <a:p>
            <a:pPr indent="0" marL="0">
              <a:buNone/>
            </a:pPr>
            <a:r>
              <a:rPr lang="en-US" sz="1600" b="1" dirty="0">
                <a:solidFill>
                  <a:schemeClr val="tx1"/>
                </a:solidFill>
              </a:rPr>
              <a:t>Open a pipeline and its run history</a:t>
            </a:r>
            <a:endParaRPr lang="en-US" sz="1600" dirty="0"/>
          </a:p>
        </p:txBody>
      </p:sp>
      <p:sp>
        <p:nvSpPr>
          <p:cNvPr id="30" name="Step notice"/>
          <p:cNvSpPr txBox="1"/>
          <p:nvPr/>
        </p:nvSpPr>
        <p:spPr>
          <a:xfrm>
            <a:off x="1508760" y="4809744"/>
            <a:ext cx="4343400" cy="548640"/>
          </a:xfrm>
          <a:prstGeom prst="rect">
            <a:avLst/>
          </a:prstGeom>
          <a:noFill/>
          <a:ln/>
        </p:spPr>
        <p:txBody>
          <a:bodyPr wrap="square" lIns="0" tIns="0" rIns="0" bIns="0" rtlCol="0" anchor="t"/>
          <a:lstStyle/>
          <a:p>
            <a:pPr indent="0" marL="0">
              <a:buNone/>
            </a:pPr>
            <a:r>
              <a:rPr lang="en-US" sz="1300" b="1" dirty="0">
                <a:solidFill>
                  <a:schemeClr val="accent1"/>
                </a:solidFill>
              </a:rPr>
              <a:t>Notice: </a:t>
            </a:r>
            <a:pPr indent="0" marL="0">
              <a:buNone/>
            </a:pPr>
            <a:r>
              <a:rPr lang="en-US" sz="1300" dirty="0">
                <a:solidFill>
                  <a:schemeClr val="tx1"/>
                </a:solidFill>
              </a:rPr>
              <a:t>Status, duration and who started each run.</a:t>
            </a:r>
            <a:endParaRPr lang="en-US" sz="1300" dirty="0"/>
          </a:p>
        </p:txBody>
      </p:sp>
      <p:sp>
        <p:nvSpPr>
          <p:cNvPr id="31" name="Tour step 6"/>
          <p:cNvSpPr/>
          <p:nvPr/>
        </p:nvSpPr>
        <p:spPr>
          <a:xfrm>
            <a:off x="6126480" y="4306824"/>
            <a:ext cx="5440680" cy="1143000"/>
          </a:xfrm>
          <a:prstGeom prst="roundRect">
            <a:avLst>
              <a:gd name="adj" fmla="val 9600"/>
            </a:avLst>
          </a:prstGeom>
          <a:solidFill>
            <a:schemeClr val="bg2"/>
          </a:solidFill>
          <a:ln/>
        </p:spPr>
      </p:sp>
      <p:sp>
        <p:nvSpPr>
          <p:cNvPr id="32" name="Step chip 6"/>
          <p:cNvSpPr/>
          <p:nvPr/>
        </p:nvSpPr>
        <p:spPr>
          <a:xfrm>
            <a:off x="6327648" y="4581144"/>
            <a:ext cx="566928" cy="566928"/>
          </a:xfrm>
          <a:prstGeom prst="roundRect">
            <a:avLst>
              <a:gd name="adj" fmla="val 16129"/>
            </a:avLst>
          </a:prstGeom>
          <a:solidFill>
            <a:schemeClr val="accent1"/>
          </a:solidFill>
          <a:ln/>
        </p:spPr>
      </p:sp>
      <p:sp>
        <p:nvSpPr>
          <p:cNvPr id="33" name="Step number"/>
          <p:cNvSpPr txBox="1"/>
          <p:nvPr/>
        </p:nvSpPr>
        <p:spPr>
          <a:xfrm>
            <a:off x="6327648" y="4581144"/>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6</a:t>
            </a:r>
            <a:endParaRPr lang="en-US" sz="2400" dirty="0"/>
          </a:p>
        </p:txBody>
      </p:sp>
      <p:sp>
        <p:nvSpPr>
          <p:cNvPr id="34" name="Step action"/>
          <p:cNvSpPr txBox="1"/>
          <p:nvPr/>
        </p:nvSpPr>
        <p:spPr>
          <a:xfrm>
            <a:off x="7086600" y="4443984"/>
            <a:ext cx="4343400" cy="320040"/>
          </a:xfrm>
          <a:prstGeom prst="rect">
            <a:avLst/>
          </a:prstGeom>
          <a:noFill/>
          <a:ln/>
        </p:spPr>
        <p:txBody>
          <a:bodyPr wrap="square" lIns="0" tIns="0" rIns="0" bIns="0" rtlCol="0" anchor="t"/>
          <a:lstStyle/>
          <a:p>
            <a:pPr indent="0" marL="0">
              <a:buNone/>
            </a:pPr>
            <a:r>
              <a:rPr lang="en-US" sz="1600" b="1" dirty="0">
                <a:solidFill>
                  <a:schemeClr val="tx1"/>
                </a:solidFill>
              </a:rPr>
              <a:t>Check your own workspace role</a:t>
            </a:r>
            <a:endParaRPr lang="en-US" sz="1600" dirty="0"/>
          </a:p>
        </p:txBody>
      </p:sp>
      <p:sp>
        <p:nvSpPr>
          <p:cNvPr id="35" name="Step notice"/>
          <p:cNvSpPr txBox="1"/>
          <p:nvPr/>
        </p:nvSpPr>
        <p:spPr>
          <a:xfrm>
            <a:off x="7086600" y="4809744"/>
            <a:ext cx="4343400" cy="548640"/>
          </a:xfrm>
          <a:prstGeom prst="rect">
            <a:avLst/>
          </a:prstGeom>
          <a:noFill/>
          <a:ln/>
        </p:spPr>
        <p:txBody>
          <a:bodyPr wrap="square" lIns="0" tIns="0" rIns="0" bIns="0" rtlCol="0" anchor="t"/>
          <a:lstStyle/>
          <a:p>
            <a:pPr indent="0" marL="0">
              <a:buNone/>
            </a:pPr>
            <a:r>
              <a:rPr lang="en-US" sz="1300" b="1" dirty="0">
                <a:solidFill>
                  <a:schemeClr val="accent1"/>
                </a:solidFill>
              </a:rPr>
              <a:t>Notice: </a:t>
            </a:r>
            <a:pPr indent="0" marL="0">
              <a:buNone/>
            </a:pPr>
            <a:r>
              <a:rPr lang="en-US" sz="1300" dirty="0">
                <a:solidFill>
                  <a:schemeClr val="tx1"/>
                </a:solidFill>
              </a:rPr>
              <a:t>What you can and cannot change. Look under Manage access.</a:t>
            </a:r>
            <a:endParaRPr lang="en-US" sz="1300" dirty="0"/>
          </a:p>
        </p:txBody>
      </p:sp>
      <p:sp>
        <p:nvSpPr>
          <p:cNvPr id="36" name="Takeaway"/>
          <p:cNvSpPr txBox="1"/>
          <p:nvPr/>
        </p:nvSpPr>
        <p:spPr>
          <a:xfrm>
            <a:off x="548640" y="557784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For every item you touch, ask: which tenant, capacity, workspace and item does this live in?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MIGRATION STRATEGY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repeatable path for every Alteryx workflow</a:t>
            </a:r>
            <a:endParaRPr lang="en-US" sz="3200" dirty="0"/>
          </a:p>
        </p:txBody>
      </p:sp>
      <p:sp>
        <p:nvSpPr>
          <p:cNvPr id="5" name="Step card 1"/>
          <p:cNvSpPr/>
          <p:nvPr/>
        </p:nvSpPr>
        <p:spPr>
          <a:xfrm>
            <a:off x="548640" y="2011680"/>
            <a:ext cx="2103120" cy="3246120"/>
          </a:xfrm>
          <a:prstGeom prst="roundRect">
            <a:avLst>
              <a:gd name="adj" fmla="val 5217"/>
            </a:avLst>
          </a:prstGeom>
          <a:solidFill>
            <a:schemeClr val="bg2"/>
          </a:solidFill>
          <a:ln/>
        </p:spPr>
      </p:sp>
      <p:sp>
        <p:nvSpPr>
          <p:cNvPr id="6" name="Step chip 1"/>
          <p:cNvSpPr/>
          <p:nvPr/>
        </p:nvSpPr>
        <p:spPr>
          <a:xfrm>
            <a:off x="731520" y="2103120"/>
            <a:ext cx="530352" cy="530352"/>
          </a:xfrm>
          <a:prstGeom prst="roundRect">
            <a:avLst>
              <a:gd name="adj" fmla="val 17241"/>
            </a:avLst>
          </a:prstGeom>
          <a:solidFill>
            <a:schemeClr val="accent1"/>
          </a:solidFill>
          <a:ln/>
        </p:spPr>
      </p:sp>
      <p:sp>
        <p:nvSpPr>
          <p:cNvPr id="7" name="Step number"/>
          <p:cNvSpPr txBox="1"/>
          <p:nvPr/>
        </p:nvSpPr>
        <p:spPr>
          <a:xfrm>
            <a:off x="731520" y="2103120"/>
            <a:ext cx="530352" cy="530352"/>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1</a:t>
            </a:r>
            <a:endParaRPr lang="en-US" sz="2200" dirty="0"/>
          </a:p>
        </p:txBody>
      </p:sp>
      <p:sp>
        <p:nvSpPr>
          <p:cNvPr id="8" name="Step title"/>
          <p:cNvSpPr txBox="1"/>
          <p:nvPr/>
        </p:nvSpPr>
        <p:spPr>
          <a:xfrm>
            <a:off x="731520" y="2743200"/>
            <a:ext cx="1783080" cy="56692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Inventory and triage</a:t>
            </a:r>
            <a:endParaRPr lang="en-US" sz="1700" dirty="0"/>
          </a:p>
        </p:txBody>
      </p:sp>
      <p:sp>
        <p:nvSpPr>
          <p:cNvPr id="9" name="Step description"/>
          <p:cNvSpPr txBox="1"/>
          <p:nvPr/>
        </p:nvSpPr>
        <p:spPr>
          <a:xfrm>
            <a:off x="731520" y="3364992"/>
            <a:ext cx="1783080" cy="1188720"/>
          </a:xfrm>
          <a:prstGeom prst="rect">
            <a:avLst/>
          </a:prstGeom>
          <a:noFill/>
          <a:ln/>
        </p:spPr>
        <p:txBody>
          <a:bodyPr wrap="square" lIns="0" tIns="0" rIns="0" bIns="0" rtlCol="0" anchor="t"/>
          <a:lstStyle/>
          <a:p>
            <a:pPr indent="0" marL="0">
              <a:buNone/>
            </a:pPr>
            <a:r>
              <a:rPr lang="en-US" sz="1250" dirty="0">
                <a:solidFill>
                  <a:schemeClr val="tx1"/>
                </a:solidFill>
              </a:rPr>
              <a:t>List the workflows. Size each by tools, sources, outputs and special risks.</a:t>
            </a:r>
            <a:endParaRPr lang="en-US" sz="1250" dirty="0"/>
          </a:p>
        </p:txBody>
      </p:sp>
      <p:sp>
        <p:nvSpPr>
          <p:cNvPr id="10" name="Output label"/>
          <p:cNvSpPr txBox="1"/>
          <p:nvPr/>
        </p:nvSpPr>
        <p:spPr>
          <a:xfrm>
            <a:off x="731520" y="4572000"/>
            <a:ext cx="17830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OUTPUT</a:t>
            </a:r>
            <a:endParaRPr lang="en-US" sz="1000" dirty="0"/>
          </a:p>
        </p:txBody>
      </p:sp>
      <p:sp>
        <p:nvSpPr>
          <p:cNvPr id="11" name="Step output"/>
          <p:cNvSpPr txBox="1"/>
          <p:nvPr/>
        </p:nvSpPr>
        <p:spPr>
          <a:xfrm>
            <a:off x="731520" y="4754880"/>
            <a:ext cx="1783080" cy="411480"/>
          </a:xfrm>
          <a:prstGeom prst="rect">
            <a:avLst/>
          </a:prstGeom>
          <a:noFill/>
          <a:ln/>
        </p:spPr>
        <p:txBody>
          <a:bodyPr wrap="square" lIns="0" tIns="0" rIns="0" bIns="0" rtlCol="0" anchor="t"/>
          <a:lstStyle/>
          <a:p>
            <a:pPr indent="0" marL="0">
              <a:buNone/>
            </a:pPr>
            <a:r>
              <a:rPr lang="en-US" sz="1250" b="1" dirty="0">
                <a:solidFill>
                  <a:schemeClr val="tx1"/>
                </a:solidFill>
              </a:rPr>
              <a:t>A sized inventory</a:t>
            </a:r>
            <a:endParaRPr lang="en-US" sz="1250" dirty="0"/>
          </a:p>
        </p:txBody>
      </p:sp>
      <p:sp>
        <p:nvSpPr>
          <p:cNvPr id="12" name="Step card 2"/>
          <p:cNvSpPr/>
          <p:nvPr/>
        </p:nvSpPr>
        <p:spPr>
          <a:xfrm>
            <a:off x="2796235" y="2011680"/>
            <a:ext cx="2103120" cy="3246120"/>
          </a:xfrm>
          <a:prstGeom prst="roundRect">
            <a:avLst>
              <a:gd name="adj" fmla="val 5217"/>
            </a:avLst>
          </a:prstGeom>
          <a:solidFill>
            <a:schemeClr val="bg2"/>
          </a:solidFill>
          <a:ln/>
        </p:spPr>
      </p:sp>
      <p:sp>
        <p:nvSpPr>
          <p:cNvPr id="13" name="Step chip 2"/>
          <p:cNvSpPr/>
          <p:nvPr/>
        </p:nvSpPr>
        <p:spPr>
          <a:xfrm>
            <a:off x="2979115" y="2103120"/>
            <a:ext cx="530352" cy="530352"/>
          </a:xfrm>
          <a:prstGeom prst="roundRect">
            <a:avLst>
              <a:gd name="adj" fmla="val 17241"/>
            </a:avLst>
          </a:prstGeom>
          <a:solidFill>
            <a:schemeClr val="accent1"/>
          </a:solidFill>
          <a:ln/>
        </p:spPr>
      </p:sp>
      <p:sp>
        <p:nvSpPr>
          <p:cNvPr id="14" name="Step number"/>
          <p:cNvSpPr txBox="1"/>
          <p:nvPr/>
        </p:nvSpPr>
        <p:spPr>
          <a:xfrm>
            <a:off x="2979115" y="2103120"/>
            <a:ext cx="530352" cy="530352"/>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2</a:t>
            </a:r>
            <a:endParaRPr lang="en-US" sz="2200" dirty="0"/>
          </a:p>
        </p:txBody>
      </p:sp>
      <p:sp>
        <p:nvSpPr>
          <p:cNvPr id="15" name="Step title"/>
          <p:cNvSpPr txBox="1"/>
          <p:nvPr/>
        </p:nvSpPr>
        <p:spPr>
          <a:xfrm>
            <a:off x="2979115" y="2743200"/>
            <a:ext cx="1783080" cy="56692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Decompose</a:t>
            </a:r>
            <a:endParaRPr lang="en-US" sz="1700" dirty="0"/>
          </a:p>
        </p:txBody>
      </p:sp>
      <p:sp>
        <p:nvSpPr>
          <p:cNvPr id="16" name="Step description"/>
          <p:cNvSpPr txBox="1"/>
          <p:nvPr/>
        </p:nvSpPr>
        <p:spPr>
          <a:xfrm>
            <a:off x="2979115" y="3364992"/>
            <a:ext cx="1783080" cy="1188720"/>
          </a:xfrm>
          <a:prstGeom prst="rect">
            <a:avLst/>
          </a:prstGeom>
          <a:noFill/>
          <a:ln/>
        </p:spPr>
        <p:txBody>
          <a:bodyPr wrap="square" lIns="0" tIns="0" rIns="0" bIns="0" rtlCol="0" anchor="t"/>
          <a:lstStyle/>
          <a:p>
            <a:pPr indent="0" marL="0">
              <a:buNone/>
            </a:pPr>
            <a:r>
              <a:rPr lang="en-US" sz="1250" dirty="0">
                <a:solidFill>
                  <a:schemeClr val="tx1"/>
                </a:solidFill>
              </a:rPr>
              <a:t>Split a workflow into inputs, reference tables, transformations and outputs.</a:t>
            </a:r>
            <a:endParaRPr lang="en-US" sz="1250" dirty="0"/>
          </a:p>
        </p:txBody>
      </p:sp>
      <p:sp>
        <p:nvSpPr>
          <p:cNvPr id="17" name="Output label"/>
          <p:cNvSpPr txBox="1"/>
          <p:nvPr/>
        </p:nvSpPr>
        <p:spPr>
          <a:xfrm>
            <a:off x="2979115" y="4572000"/>
            <a:ext cx="17830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OUTPUT</a:t>
            </a:r>
            <a:endParaRPr lang="en-US" sz="1000" dirty="0"/>
          </a:p>
        </p:txBody>
      </p:sp>
      <p:sp>
        <p:nvSpPr>
          <p:cNvPr id="18" name="Step output"/>
          <p:cNvSpPr txBox="1"/>
          <p:nvPr/>
        </p:nvSpPr>
        <p:spPr>
          <a:xfrm>
            <a:off x="2979115" y="4754880"/>
            <a:ext cx="1783080" cy="411480"/>
          </a:xfrm>
          <a:prstGeom prst="rect">
            <a:avLst/>
          </a:prstGeom>
          <a:noFill/>
          <a:ln/>
        </p:spPr>
        <p:txBody>
          <a:bodyPr wrap="square" lIns="0" tIns="0" rIns="0" bIns="0" rtlCol="0" anchor="t"/>
          <a:lstStyle/>
          <a:p>
            <a:pPr indent="0" marL="0">
              <a:buNone/>
            </a:pPr>
            <a:r>
              <a:rPr lang="en-US" sz="1250" b="1" dirty="0">
                <a:solidFill>
                  <a:schemeClr val="tx1"/>
                </a:solidFill>
              </a:rPr>
              <a:t>A decomposition map</a:t>
            </a:r>
            <a:endParaRPr lang="en-US" sz="1250" dirty="0"/>
          </a:p>
        </p:txBody>
      </p:sp>
      <p:sp>
        <p:nvSpPr>
          <p:cNvPr id="19" name="Step card 3"/>
          <p:cNvSpPr/>
          <p:nvPr/>
        </p:nvSpPr>
        <p:spPr>
          <a:xfrm>
            <a:off x="5043830" y="2011680"/>
            <a:ext cx="2103120" cy="3246120"/>
          </a:xfrm>
          <a:prstGeom prst="roundRect">
            <a:avLst>
              <a:gd name="adj" fmla="val 5217"/>
            </a:avLst>
          </a:prstGeom>
          <a:solidFill>
            <a:schemeClr val="bg2"/>
          </a:solidFill>
          <a:ln/>
        </p:spPr>
      </p:sp>
      <p:sp>
        <p:nvSpPr>
          <p:cNvPr id="20" name="Step chip 3"/>
          <p:cNvSpPr/>
          <p:nvPr/>
        </p:nvSpPr>
        <p:spPr>
          <a:xfrm>
            <a:off x="5226710" y="2103120"/>
            <a:ext cx="530352" cy="530352"/>
          </a:xfrm>
          <a:prstGeom prst="roundRect">
            <a:avLst>
              <a:gd name="adj" fmla="val 17241"/>
            </a:avLst>
          </a:prstGeom>
          <a:solidFill>
            <a:schemeClr val="accent1"/>
          </a:solidFill>
          <a:ln/>
        </p:spPr>
      </p:sp>
      <p:sp>
        <p:nvSpPr>
          <p:cNvPr id="21" name="Step number"/>
          <p:cNvSpPr txBox="1"/>
          <p:nvPr/>
        </p:nvSpPr>
        <p:spPr>
          <a:xfrm>
            <a:off x="5226710" y="2103120"/>
            <a:ext cx="530352" cy="530352"/>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3</a:t>
            </a:r>
            <a:endParaRPr lang="en-US" sz="2200" dirty="0"/>
          </a:p>
        </p:txBody>
      </p:sp>
      <p:sp>
        <p:nvSpPr>
          <p:cNvPr id="22" name="Step title"/>
          <p:cNvSpPr txBox="1"/>
          <p:nvPr/>
        </p:nvSpPr>
        <p:spPr>
          <a:xfrm>
            <a:off x="5226710" y="2743200"/>
            <a:ext cx="1783080" cy="56692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Rebuild in layers</a:t>
            </a:r>
            <a:endParaRPr lang="en-US" sz="1700" dirty="0"/>
          </a:p>
        </p:txBody>
      </p:sp>
      <p:sp>
        <p:nvSpPr>
          <p:cNvPr id="23" name="Step description"/>
          <p:cNvSpPr txBox="1"/>
          <p:nvPr/>
        </p:nvSpPr>
        <p:spPr>
          <a:xfrm>
            <a:off x="5226710" y="3364992"/>
            <a:ext cx="1783080" cy="1188720"/>
          </a:xfrm>
          <a:prstGeom prst="rect">
            <a:avLst/>
          </a:prstGeom>
          <a:noFill/>
          <a:ln/>
        </p:spPr>
        <p:txBody>
          <a:bodyPr wrap="square" lIns="0" tIns="0" rIns="0" bIns="0" rtlCol="0" anchor="t"/>
          <a:lstStyle/>
          <a:p>
            <a:pPr indent="0" marL="0">
              <a:buNone/>
            </a:pPr>
            <a:r>
              <a:rPr lang="en-US" sz="1250" dirty="0">
                <a:solidFill>
                  <a:schemeClr val="tx1"/>
                </a:solidFill>
              </a:rPr>
              <a:t>Land the raw data, clean and map it, then shape it for the question.</a:t>
            </a:r>
            <a:endParaRPr lang="en-US" sz="1250" dirty="0"/>
          </a:p>
        </p:txBody>
      </p:sp>
      <p:sp>
        <p:nvSpPr>
          <p:cNvPr id="24" name="Output label"/>
          <p:cNvSpPr txBox="1"/>
          <p:nvPr/>
        </p:nvSpPr>
        <p:spPr>
          <a:xfrm>
            <a:off x="5226710" y="4572000"/>
            <a:ext cx="17830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OUTPUT</a:t>
            </a:r>
            <a:endParaRPr lang="en-US" sz="1000" dirty="0"/>
          </a:p>
        </p:txBody>
      </p:sp>
      <p:sp>
        <p:nvSpPr>
          <p:cNvPr id="25" name="Step output"/>
          <p:cNvSpPr txBox="1"/>
          <p:nvPr/>
        </p:nvSpPr>
        <p:spPr>
          <a:xfrm>
            <a:off x="5226710" y="4754880"/>
            <a:ext cx="1783080" cy="411480"/>
          </a:xfrm>
          <a:prstGeom prst="rect">
            <a:avLst/>
          </a:prstGeom>
          <a:noFill/>
          <a:ln/>
        </p:spPr>
        <p:txBody>
          <a:bodyPr wrap="square" lIns="0" tIns="0" rIns="0" bIns="0" rtlCol="0" anchor="t"/>
          <a:lstStyle/>
          <a:p>
            <a:pPr indent="0" marL="0">
              <a:buNone/>
            </a:pPr>
            <a:r>
              <a:rPr lang="en-US" sz="1250" b="1" dirty="0">
                <a:solidFill>
                  <a:schemeClr val="tx1"/>
                </a:solidFill>
              </a:rPr>
              <a:t>Bronze, silver and gold tables</a:t>
            </a:r>
            <a:endParaRPr lang="en-US" sz="1250" dirty="0"/>
          </a:p>
        </p:txBody>
      </p:sp>
      <p:sp>
        <p:nvSpPr>
          <p:cNvPr id="26" name="Step card 4"/>
          <p:cNvSpPr/>
          <p:nvPr/>
        </p:nvSpPr>
        <p:spPr>
          <a:xfrm>
            <a:off x="7291426" y="2011680"/>
            <a:ext cx="2103120" cy="3246120"/>
          </a:xfrm>
          <a:prstGeom prst="roundRect">
            <a:avLst>
              <a:gd name="adj" fmla="val 5217"/>
            </a:avLst>
          </a:prstGeom>
          <a:solidFill>
            <a:schemeClr val="bg2"/>
          </a:solidFill>
          <a:ln/>
        </p:spPr>
      </p:sp>
      <p:sp>
        <p:nvSpPr>
          <p:cNvPr id="27" name="Step chip 4"/>
          <p:cNvSpPr/>
          <p:nvPr/>
        </p:nvSpPr>
        <p:spPr>
          <a:xfrm>
            <a:off x="7474306" y="2103120"/>
            <a:ext cx="530352" cy="530352"/>
          </a:xfrm>
          <a:prstGeom prst="roundRect">
            <a:avLst>
              <a:gd name="adj" fmla="val 17241"/>
            </a:avLst>
          </a:prstGeom>
          <a:solidFill>
            <a:schemeClr val="accent2"/>
          </a:solidFill>
          <a:ln/>
        </p:spPr>
      </p:sp>
      <p:sp>
        <p:nvSpPr>
          <p:cNvPr id="28" name="Step number"/>
          <p:cNvSpPr txBox="1"/>
          <p:nvPr/>
        </p:nvSpPr>
        <p:spPr>
          <a:xfrm>
            <a:off x="7474306" y="2103120"/>
            <a:ext cx="530352" cy="530352"/>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4</a:t>
            </a:r>
            <a:endParaRPr lang="en-US" sz="2200" dirty="0"/>
          </a:p>
        </p:txBody>
      </p:sp>
      <p:sp>
        <p:nvSpPr>
          <p:cNvPr id="29" name="Step title"/>
          <p:cNvSpPr txBox="1"/>
          <p:nvPr/>
        </p:nvSpPr>
        <p:spPr>
          <a:xfrm>
            <a:off x="7474306" y="2743200"/>
            <a:ext cx="1783080" cy="56692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Prove equivalence</a:t>
            </a:r>
            <a:endParaRPr lang="en-US" sz="1700" dirty="0"/>
          </a:p>
        </p:txBody>
      </p:sp>
      <p:sp>
        <p:nvSpPr>
          <p:cNvPr id="30" name="Step description"/>
          <p:cNvSpPr txBox="1"/>
          <p:nvPr/>
        </p:nvSpPr>
        <p:spPr>
          <a:xfrm>
            <a:off x="7474306" y="3364992"/>
            <a:ext cx="1783080" cy="1188720"/>
          </a:xfrm>
          <a:prstGeom prst="rect">
            <a:avLst/>
          </a:prstGeom>
          <a:noFill/>
          <a:ln/>
        </p:spPr>
        <p:txBody>
          <a:bodyPr wrap="square" lIns="0" tIns="0" rIns="0" bIns="0" rtlCol="0" anchor="t"/>
          <a:lstStyle/>
          <a:p>
            <a:pPr indent="0" marL="0">
              <a:buNone/>
            </a:pPr>
            <a:r>
              <a:rPr lang="en-US" sz="1250" dirty="0">
                <a:solidFill>
                  <a:schemeClr val="tx1"/>
                </a:solidFill>
              </a:rPr>
              <a:t>Run old and new side by side on the same inputs. Compare outputs and run time.</a:t>
            </a:r>
            <a:endParaRPr lang="en-US" sz="1250" dirty="0"/>
          </a:p>
        </p:txBody>
      </p:sp>
      <p:sp>
        <p:nvSpPr>
          <p:cNvPr id="31" name="Output label"/>
          <p:cNvSpPr txBox="1"/>
          <p:nvPr/>
        </p:nvSpPr>
        <p:spPr>
          <a:xfrm>
            <a:off x="7474306" y="4572000"/>
            <a:ext cx="17830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OUTPUT</a:t>
            </a:r>
            <a:endParaRPr lang="en-US" sz="1000" dirty="0"/>
          </a:p>
        </p:txBody>
      </p:sp>
      <p:sp>
        <p:nvSpPr>
          <p:cNvPr id="32" name="Step output"/>
          <p:cNvSpPr txBox="1"/>
          <p:nvPr/>
        </p:nvSpPr>
        <p:spPr>
          <a:xfrm>
            <a:off x="7474306" y="4754880"/>
            <a:ext cx="1783080" cy="411480"/>
          </a:xfrm>
          <a:prstGeom prst="rect">
            <a:avLst/>
          </a:prstGeom>
          <a:noFill/>
          <a:ln/>
        </p:spPr>
        <p:txBody>
          <a:bodyPr wrap="square" lIns="0" tIns="0" rIns="0" bIns="0" rtlCol="0" anchor="t"/>
          <a:lstStyle/>
          <a:p>
            <a:pPr indent="0" marL="0">
              <a:buNone/>
            </a:pPr>
            <a:r>
              <a:rPr lang="en-US" sz="1250" b="1" dirty="0">
                <a:solidFill>
                  <a:schemeClr val="tx1"/>
                </a:solidFill>
              </a:rPr>
              <a:t>A comparison record</a:t>
            </a:r>
            <a:endParaRPr lang="en-US" sz="1250" dirty="0"/>
          </a:p>
        </p:txBody>
      </p:sp>
      <p:sp>
        <p:nvSpPr>
          <p:cNvPr id="33" name="Step card 5"/>
          <p:cNvSpPr/>
          <p:nvPr/>
        </p:nvSpPr>
        <p:spPr>
          <a:xfrm>
            <a:off x="9539021" y="2011680"/>
            <a:ext cx="2103120" cy="3246120"/>
          </a:xfrm>
          <a:prstGeom prst="roundRect">
            <a:avLst>
              <a:gd name="adj" fmla="val 5217"/>
            </a:avLst>
          </a:prstGeom>
          <a:solidFill>
            <a:schemeClr val="bg2"/>
          </a:solidFill>
          <a:ln/>
        </p:spPr>
      </p:sp>
      <p:sp>
        <p:nvSpPr>
          <p:cNvPr id="34" name="Step chip 5"/>
          <p:cNvSpPr/>
          <p:nvPr/>
        </p:nvSpPr>
        <p:spPr>
          <a:xfrm>
            <a:off x="9721901" y="2103120"/>
            <a:ext cx="530352" cy="530352"/>
          </a:xfrm>
          <a:prstGeom prst="roundRect">
            <a:avLst>
              <a:gd name="adj" fmla="val 17241"/>
            </a:avLst>
          </a:prstGeom>
          <a:solidFill>
            <a:schemeClr val="accent1"/>
          </a:solidFill>
          <a:ln/>
        </p:spPr>
      </p:sp>
      <p:sp>
        <p:nvSpPr>
          <p:cNvPr id="35" name="Step number"/>
          <p:cNvSpPr txBox="1"/>
          <p:nvPr/>
        </p:nvSpPr>
        <p:spPr>
          <a:xfrm>
            <a:off x="9721901" y="2103120"/>
            <a:ext cx="530352" cy="530352"/>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5</a:t>
            </a:r>
            <a:endParaRPr lang="en-US" sz="2200" dirty="0"/>
          </a:p>
        </p:txBody>
      </p:sp>
      <p:sp>
        <p:nvSpPr>
          <p:cNvPr id="36" name="Step title"/>
          <p:cNvSpPr txBox="1"/>
          <p:nvPr/>
        </p:nvSpPr>
        <p:spPr>
          <a:xfrm>
            <a:off x="9721901" y="2743200"/>
            <a:ext cx="1783080" cy="56692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Retire and hand off</a:t>
            </a:r>
            <a:endParaRPr lang="en-US" sz="1700" dirty="0"/>
          </a:p>
        </p:txBody>
      </p:sp>
      <p:sp>
        <p:nvSpPr>
          <p:cNvPr id="37" name="Step description"/>
          <p:cNvSpPr txBox="1"/>
          <p:nvPr/>
        </p:nvSpPr>
        <p:spPr>
          <a:xfrm>
            <a:off x="9721901" y="3364992"/>
            <a:ext cx="1783080" cy="1188720"/>
          </a:xfrm>
          <a:prstGeom prst="rect">
            <a:avLst/>
          </a:prstGeom>
          <a:noFill/>
          <a:ln/>
        </p:spPr>
        <p:txBody>
          <a:bodyPr wrap="square" lIns="0" tIns="0" rIns="0" bIns="0" rtlCol="0" anchor="t"/>
          <a:lstStyle/>
          <a:p>
            <a:pPr indent="0" marL="0">
              <a:buNone/>
            </a:pPr>
            <a:r>
              <a:rPr lang="en-US" sz="1250" dirty="0">
                <a:solidFill>
                  <a:schemeClr val="tx1"/>
                </a:solidFill>
              </a:rPr>
              <a:t>Switch off the Alteryx workflow. Document it for support.</a:t>
            </a:r>
            <a:endParaRPr lang="en-US" sz="1250" dirty="0"/>
          </a:p>
        </p:txBody>
      </p:sp>
      <p:sp>
        <p:nvSpPr>
          <p:cNvPr id="38" name="Output label"/>
          <p:cNvSpPr txBox="1"/>
          <p:nvPr/>
        </p:nvSpPr>
        <p:spPr>
          <a:xfrm>
            <a:off x="9721901" y="4572000"/>
            <a:ext cx="17830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OUTPUT</a:t>
            </a:r>
            <a:endParaRPr lang="en-US" sz="1000" dirty="0"/>
          </a:p>
        </p:txBody>
      </p:sp>
      <p:sp>
        <p:nvSpPr>
          <p:cNvPr id="39" name="Step output"/>
          <p:cNvSpPr txBox="1"/>
          <p:nvPr/>
        </p:nvSpPr>
        <p:spPr>
          <a:xfrm>
            <a:off x="9721901" y="4754880"/>
            <a:ext cx="1783080" cy="411480"/>
          </a:xfrm>
          <a:prstGeom prst="rect">
            <a:avLst/>
          </a:prstGeom>
          <a:noFill/>
          <a:ln/>
        </p:spPr>
        <p:txBody>
          <a:bodyPr wrap="square" lIns="0" tIns="0" rIns="0" bIns="0" rtlCol="0" anchor="t"/>
          <a:lstStyle/>
          <a:p>
            <a:pPr indent="0" marL="0">
              <a:buNone/>
            </a:pPr>
            <a:r>
              <a:rPr lang="en-US" sz="1250" b="1" dirty="0">
                <a:solidFill>
                  <a:schemeClr val="tx1"/>
                </a:solidFill>
              </a:rPr>
              <a:t>Handoff documentation</a:t>
            </a:r>
            <a:endParaRPr lang="en-US" sz="1250" dirty="0"/>
          </a:p>
        </p:txBody>
      </p:sp>
      <p:sp>
        <p:nvSpPr>
          <p:cNvPr id="40" name="Takeaway"/>
          <p:cNvSpPr txBox="1"/>
          <p:nvPr/>
        </p:nvSpPr>
        <p:spPr>
          <a:xfrm>
            <a:off x="548640" y="548640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Tomorrow's lab takes a prepared workflow through steps 2 to 4.</a:t>
            </a:r>
            <a:endParaRPr lang="en-US" sz="1600" dirty="0"/>
          </a:p>
        </p:txBody>
      </p:sp>
      <p:sp>
        <p:nvSpPr>
          <p:cNvPr id="41" name="Footnote"/>
          <p:cNvSpPr txBox="1"/>
          <p:nvPr/>
        </p:nvSpPr>
        <p:spPr>
          <a:xfrm>
            <a:off x="548640" y="60807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Step 4 mirrors the DST proof of concept: side-by-side comparison against current-state Alteryx runs.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MIGRATION STRATEGY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workflows share one shape</a:t>
            </a:r>
            <a:endParaRPr lang="en-US" sz="3200" dirty="0"/>
          </a:p>
        </p:txBody>
      </p:sp>
      <p:graphicFrame>
        <p:nvGraphicFramePr>
          <p:cNvPr id="14" name="Workflow shape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103120"/>
                <a:gridCol w="2423160"/>
                <a:gridCol w="2240280"/>
                <a:gridCol w="2423160"/>
                <a:gridCol w="1901952"/>
              </a:tblGrid>
              <a:tr h="384048">
                <a:tc>
                  <a:txBody>
                    <a:bodyPr/>
                    <a:lstStyle/>
                    <a:p>
                      <a:pPr indent="0" marL="0">
                        <a:buNone/>
                      </a:pPr>
                      <a:r>
                        <a:rPr lang="en-US" sz="1250" b="1" dirty="0">
                          <a:solidFill>
                            <a:schemeClr val="bg1"/>
                          </a:solidFill>
                        </a:rPr>
                        <a:t>Workflow</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1  Inputs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2  Prepare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3  Calculate and validate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4  Outputs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1097280">
                <a:tc>
                  <a:txBody>
                    <a:bodyPr/>
                    <a:lstStyle/>
                    <a:p>
                      <a:pPr indent="0" marL="0">
                        <a:buNone/>
                      </a:pPr>
                      <a:r>
                        <a:rPr lang="en-US" sz="1250" b="1" dirty="0">
                          <a:solidFill>
                            <a:schemeClr val="tx1"/>
                          </a:solidFill>
                        </a:rPr>
                        <a:t>DST Domestic</a:t>
                      </a:r>
                      <a:endParaRPr lang="en-US" sz="1250" dirty="0"/>
                    </a:p>
                    <a:p>
                      <a:pPr indent="0" marL="0">
                        <a:buNone/>
                      </a:pPr>
                      <a:r>
                        <a:rPr lang="en-US" sz="1250" b="1" dirty="0">
                          <a:solidFill>
                            <a:schemeClr val="tx1"/>
                          </a:solidFill>
                        </a:rPr>
                        <a:t>Revenue allocation by jurisdiction</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Snowflake impressions, Google Ad Manager CSV reports, SAP / EDP revenue, Excel mapping tabs</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Standardise states, parse and shift periods, flag N/A regions</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Map ad units and company codes to entities, then share of impressions times revenue</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Excel workpaper, 12M+ row CSV, Data Hub collection</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r>
              <a:tr h="1097280">
                <a:tc>
                  <a:txBody>
                    <a:bodyPr/>
                    <a:lstStyle/>
                    <a:p>
                      <a:pPr indent="0" marL="0">
                        <a:buNone/>
                      </a:pPr>
                      <a:r>
                        <a:rPr lang="en-US" sz="1250" b="1" dirty="0">
                          <a:solidFill>
                            <a:schemeClr val="tx1"/>
                          </a:solidFill>
                        </a:rPr>
                        <a:t>NatGeo categorization</a:t>
                      </a:r>
                      <a:endParaRPr lang="en-US" sz="1250" dirty="0"/>
                    </a:p>
                    <a:p>
                      <a:pPr indent="0" marL="0">
                        <a:buNone/>
                      </a:pPr>
                      <a:r>
                        <a:rPr lang="en-US" sz="1250" b="1" dirty="0">
                          <a:solidFill>
                            <a:schemeClr val="tx1"/>
                          </a:solidFill>
                        </a:rPr>
                        <a:t>Intercompany transactions</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Intercompany transactions and a category master</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Match each transaction to its other side by document number and company code</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One rule per category, one Formula tool each, then a validation status</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Formatted validation report</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2"/>
                    </a:solidFill>
                  </a:tcPr>
                </a:tc>
              </a:tr>
              <a:tr h="1097280">
                <a:tc>
                  <a:txBody>
                    <a:bodyPr/>
                    <a:lstStyle/>
                    <a:p>
                      <a:pPr indent="0" marL="0">
                        <a:buNone/>
                      </a:pPr>
                      <a:r>
                        <a:rPr lang="en-US" sz="1250" b="1" dirty="0">
                          <a:solidFill>
                            <a:schemeClr val="tx1"/>
                          </a:solidFill>
                        </a:rPr>
                        <a:t>Trial balance (HANA)</a:t>
                      </a:r>
                      <a:endParaRPr lang="en-US" sz="1250" dirty="0"/>
                    </a:p>
                    <a:p>
                      <a:pPr indent="0" marL="0">
                        <a:buNone/>
                      </a:pPr>
                      <a:r>
                        <a:rPr lang="en-US" sz="1250" b="1" dirty="0">
                          <a:solidFill>
                            <a:schemeClr val="tx1"/>
                          </a:solidFill>
                        </a:rPr>
                        <a:t>Ledger to compliance reporting</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SAP HANA ledger query, Excel configuration tabs, exchange rates from Data Hub</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Map units and accounts, translate currencies</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Split periods, autobalance, validate. Loads stop if validations fail</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Database loads, CSV, Excel and emailed validation report</a:t>
                      </a:r>
                      <a:endParaRPr lang="en-US" sz="125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48640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If you can fill in these four columns for a workflow, you can plan its migration.</a:t>
            </a:r>
            <a:endParaRPr lang="en-US" sz="1600" dirty="0"/>
          </a:p>
        </p:txBody>
      </p:sp>
      <p:sp>
        <p:nvSpPr>
          <p:cNvPr id="7" name="Footnote"/>
          <p:cNvSpPr txBox="1"/>
          <p:nvPr/>
        </p:nvSpPr>
        <p:spPr>
          <a:xfrm>
            <a:off x="548640" y="60807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Sources: DST Domestic v1.2, NatGeo Categorization Monthly ITD (reduced v02), Comprehensive Trial Balance HANA macro.</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MIGRATION STRATEGY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Six tool types account for 79% of the logic</a:t>
            </a:r>
            <a:endParaRPr lang="en-US" sz="3200" dirty="0"/>
          </a:p>
        </p:txBody>
      </p:sp>
      <p:graphicFrame>
        <p:nvGraphicFramePr>
          <p:cNvPr id="5" name="Chart 0" descr=""/>
          <p:cNvGraphicFramePr/>
          <p:nvPr/>
        </p:nvGraphicFramePr>
        <p:xfrm>
          <a:off x="548640" y="1783080"/>
          <a:ext cx="6675120" cy="3520440"/>
        </p:xfrm>
        <a:graphic xmlns:a="http://schemas.openxmlformats.org/drawingml/2006/main">
          <a:graphicData uri="http://schemas.openxmlformats.org/drawingml/2006/chart">
            <c:chart xmlns:c="http://schemas.openxmlformats.org/drawingml/2006/chart" r:id="rId1"/>
          </a:graphicData>
        </a:graphic>
      </p:graphicFrame>
      <p:sp>
        <p:nvSpPr>
          <p:cNvPr id="6" name="Stat card 1"/>
          <p:cNvSpPr/>
          <p:nvPr/>
        </p:nvSpPr>
        <p:spPr>
          <a:xfrm>
            <a:off x="7498080" y="1783080"/>
            <a:ext cx="4142232" cy="1097280"/>
          </a:xfrm>
          <a:prstGeom prst="roundRect">
            <a:avLst>
              <a:gd name="adj" fmla="val 10000"/>
            </a:avLst>
          </a:prstGeom>
          <a:solidFill>
            <a:schemeClr val="bg2"/>
          </a:solidFill>
          <a:ln/>
        </p:spPr>
      </p:sp>
      <p:sp>
        <p:nvSpPr>
          <p:cNvPr id="7" name="Stat number"/>
          <p:cNvSpPr txBox="1"/>
          <p:nvPr/>
        </p:nvSpPr>
        <p:spPr>
          <a:xfrm>
            <a:off x="7680960" y="1783080"/>
            <a:ext cx="1463040" cy="1097280"/>
          </a:xfrm>
          <a:prstGeom prst="rect">
            <a:avLst/>
          </a:prstGeom>
          <a:noFill/>
          <a:ln/>
        </p:spPr>
        <p:txBody>
          <a:bodyPr wrap="square" lIns="0" tIns="0" rIns="0" bIns="0" rtlCol="0" anchor="ctr"/>
          <a:lstStyle/>
          <a:p>
            <a:pPr indent="0" marL="0">
              <a:buNone/>
            </a:pPr>
            <a:r>
              <a:rPr lang="en-US" sz="3800" b="1" dirty="0">
                <a:solidFill>
                  <a:schemeClr val="accent1"/>
                </a:solidFill>
                <a:latin typeface="+mj-lt" pitchFamily="34" charset="0"/>
                <a:ea typeface="+mj-lt" pitchFamily="34" charset="-122"/>
                <a:cs typeface="+mj-lt" pitchFamily="34" charset="-120"/>
              </a:rPr>
              <a:t>467</a:t>
            </a:r>
            <a:endParaRPr lang="en-US" sz="3800" dirty="0"/>
          </a:p>
        </p:txBody>
      </p:sp>
      <p:sp>
        <p:nvSpPr>
          <p:cNvPr id="8" name="Stat label"/>
          <p:cNvSpPr txBox="1"/>
          <p:nvPr/>
        </p:nvSpPr>
        <p:spPr>
          <a:xfrm>
            <a:off x="9189720" y="1783080"/>
            <a:ext cx="2331720" cy="1097280"/>
          </a:xfrm>
          <a:prstGeom prst="rect">
            <a:avLst/>
          </a:prstGeom>
          <a:noFill/>
          <a:ln/>
        </p:spPr>
        <p:txBody>
          <a:bodyPr wrap="square" lIns="0" tIns="0" rIns="0" bIns="0" rtlCol="0" anchor="ctr"/>
          <a:lstStyle/>
          <a:p>
            <a:pPr indent="0" marL="0">
              <a:buNone/>
            </a:pPr>
            <a:r>
              <a:rPr lang="en-US" sz="1350" dirty="0">
                <a:solidFill>
                  <a:schemeClr val="tx1"/>
                </a:solidFill>
              </a:rPr>
              <a:t>data-logic tools counted across the three workflows</a:t>
            </a:r>
            <a:endParaRPr lang="en-US" sz="1350" dirty="0"/>
          </a:p>
        </p:txBody>
      </p:sp>
      <p:sp>
        <p:nvSpPr>
          <p:cNvPr id="9" name="Stat card 2"/>
          <p:cNvSpPr/>
          <p:nvPr/>
        </p:nvSpPr>
        <p:spPr>
          <a:xfrm>
            <a:off x="7498080" y="2994660"/>
            <a:ext cx="4142232" cy="1097280"/>
          </a:xfrm>
          <a:prstGeom prst="roundRect">
            <a:avLst>
              <a:gd name="adj" fmla="val 10000"/>
            </a:avLst>
          </a:prstGeom>
          <a:solidFill>
            <a:schemeClr val="bg2"/>
          </a:solidFill>
          <a:ln/>
        </p:spPr>
      </p:sp>
      <p:sp>
        <p:nvSpPr>
          <p:cNvPr id="10" name="Stat number"/>
          <p:cNvSpPr txBox="1"/>
          <p:nvPr/>
        </p:nvSpPr>
        <p:spPr>
          <a:xfrm>
            <a:off x="7680960" y="2994660"/>
            <a:ext cx="1463040" cy="1097280"/>
          </a:xfrm>
          <a:prstGeom prst="rect">
            <a:avLst/>
          </a:prstGeom>
          <a:noFill/>
          <a:ln/>
        </p:spPr>
        <p:txBody>
          <a:bodyPr wrap="square" lIns="0" tIns="0" rIns="0" bIns="0" rtlCol="0" anchor="ctr"/>
          <a:lstStyle/>
          <a:p>
            <a:pPr indent="0" marL="0">
              <a:buNone/>
            </a:pPr>
            <a:r>
              <a:rPr lang="en-US" sz="3800" b="1" dirty="0">
                <a:solidFill>
                  <a:schemeClr val="accent1"/>
                </a:solidFill>
                <a:latin typeface="+mj-lt" pitchFamily="34" charset="0"/>
                <a:ea typeface="+mj-lt" pitchFamily="34" charset="-122"/>
                <a:cs typeface="+mj-lt" pitchFamily="34" charset="-120"/>
              </a:rPr>
              <a:t>79%</a:t>
            </a:r>
            <a:endParaRPr lang="en-US" sz="3800" dirty="0"/>
          </a:p>
        </p:txBody>
      </p:sp>
      <p:sp>
        <p:nvSpPr>
          <p:cNvPr id="11" name="Stat label"/>
          <p:cNvSpPr txBox="1"/>
          <p:nvPr/>
        </p:nvSpPr>
        <p:spPr>
          <a:xfrm>
            <a:off x="9189720" y="2994660"/>
            <a:ext cx="2331720" cy="1097280"/>
          </a:xfrm>
          <a:prstGeom prst="rect">
            <a:avLst/>
          </a:prstGeom>
          <a:noFill/>
          <a:ln/>
        </p:spPr>
        <p:txBody>
          <a:bodyPr wrap="square" lIns="0" tIns="0" rIns="0" bIns="0" rtlCol="0" anchor="ctr"/>
          <a:lstStyle/>
          <a:p>
            <a:pPr indent="0" marL="0">
              <a:buNone/>
            </a:pPr>
            <a:r>
              <a:rPr lang="en-US" sz="1350" dirty="0">
                <a:solidFill>
                  <a:schemeClr val="tx1"/>
                </a:solidFill>
              </a:rPr>
              <a:t>are Formula, Select, Filter, Union, Summarize or Join</a:t>
            </a:r>
            <a:endParaRPr lang="en-US" sz="1350" dirty="0"/>
          </a:p>
        </p:txBody>
      </p:sp>
      <p:sp>
        <p:nvSpPr>
          <p:cNvPr id="12" name="Stat card 3"/>
          <p:cNvSpPr/>
          <p:nvPr/>
        </p:nvSpPr>
        <p:spPr>
          <a:xfrm>
            <a:off x="7498080" y="4206240"/>
            <a:ext cx="4142232" cy="1097280"/>
          </a:xfrm>
          <a:prstGeom prst="roundRect">
            <a:avLst>
              <a:gd name="adj" fmla="val 10000"/>
            </a:avLst>
          </a:prstGeom>
          <a:solidFill>
            <a:schemeClr val="bg2"/>
          </a:solidFill>
          <a:ln/>
        </p:spPr>
      </p:sp>
      <p:sp>
        <p:nvSpPr>
          <p:cNvPr id="13" name="Stat number"/>
          <p:cNvSpPr txBox="1"/>
          <p:nvPr/>
        </p:nvSpPr>
        <p:spPr>
          <a:xfrm>
            <a:off x="7680960" y="4206240"/>
            <a:ext cx="1463040" cy="1097280"/>
          </a:xfrm>
          <a:prstGeom prst="rect">
            <a:avLst/>
          </a:prstGeom>
          <a:noFill/>
          <a:ln/>
        </p:spPr>
        <p:txBody>
          <a:bodyPr wrap="square" lIns="0" tIns="0" rIns="0" bIns="0" rtlCol="0" anchor="ctr"/>
          <a:lstStyle/>
          <a:p>
            <a:pPr indent="0" marL="0">
              <a:buNone/>
            </a:pPr>
            <a:r>
              <a:rPr lang="en-US" sz="3800" b="1" dirty="0">
                <a:solidFill>
                  <a:schemeClr val="accent1"/>
                </a:solidFill>
                <a:latin typeface="+mj-lt" pitchFamily="34" charset="0"/>
                <a:ea typeface="+mj-lt" pitchFamily="34" charset="-122"/>
                <a:cs typeface="+mj-lt" pitchFamily="34" charset="-120"/>
              </a:rPr>
              <a:t>40%</a:t>
            </a:r>
            <a:endParaRPr lang="en-US" sz="3800" dirty="0"/>
          </a:p>
        </p:txBody>
      </p:sp>
      <p:sp>
        <p:nvSpPr>
          <p:cNvPr id="14" name="Stat label"/>
          <p:cNvSpPr txBox="1"/>
          <p:nvPr/>
        </p:nvSpPr>
        <p:spPr>
          <a:xfrm>
            <a:off x="9189720" y="4206240"/>
            <a:ext cx="2331720" cy="1097280"/>
          </a:xfrm>
          <a:prstGeom prst="rect">
            <a:avLst/>
          </a:prstGeom>
          <a:noFill/>
          <a:ln/>
        </p:spPr>
        <p:txBody>
          <a:bodyPr wrap="square" lIns="0" tIns="0" rIns="0" bIns="0" rtlCol="0" anchor="ctr"/>
          <a:lstStyle/>
          <a:p>
            <a:pPr indent="0" marL="0">
              <a:buNone/>
            </a:pPr>
            <a:r>
              <a:rPr lang="en-US" sz="1350" dirty="0">
                <a:solidFill>
                  <a:schemeClr val="tx1"/>
                </a:solidFill>
              </a:rPr>
              <a:t>are Formula tools: business rules written as expressions</a:t>
            </a:r>
            <a:endParaRPr lang="en-US" sz="1350" dirty="0"/>
          </a:p>
        </p:txBody>
      </p:sp>
      <p:sp>
        <p:nvSpPr>
          <p:cNvPr id="15" name="Takeaway"/>
          <p:cNvSpPr txBox="1"/>
          <p:nvPr/>
        </p:nvSpPr>
        <p:spPr>
          <a:xfrm>
            <a:off x="548640" y="544068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Most migration effort is translating Formula rules, which is why today invests in SQL and Python.</a:t>
            </a:r>
            <a:endParaRPr lang="en-US" sz="1600" dirty="0"/>
          </a:p>
        </p:txBody>
      </p:sp>
      <p:sp>
        <p:nvSpPr>
          <p:cNvPr id="16" name="Footnote"/>
          <p:cNvSpPr txBox="1"/>
          <p:nvPr/>
        </p:nvSpPr>
        <p:spPr>
          <a:xfrm>
            <a:off x="548640" y="6016752"/>
            <a:ext cx="11094415" cy="347472"/>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Method: data-logic tools in DST Domestic v1.2, NatGeo Categorization (reduced v02) and the Trial Balance HANA macro. Excludes comments, containers, interface tools, Browse tools and externally referenced macros.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MIGRATION STRATEGY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six tools that matter, in SQL and PySpark</a:t>
            </a:r>
            <a:endParaRPr lang="en-US" sz="3200" dirty="0"/>
          </a:p>
        </p:txBody>
      </p:sp>
      <p:graphicFrame>
        <p:nvGraphicFramePr>
          <p:cNvPr id="16" name="Tool map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737360"/>
                <a:gridCol w="3154680"/>
                <a:gridCol w="3108960"/>
                <a:gridCol w="3090672"/>
              </a:tblGrid>
              <a:tr h="384048">
                <a:tc>
                  <a:txBody>
                    <a:bodyPr/>
                    <a:lstStyle/>
                    <a:p>
                      <a:pPr indent="0" marL="0">
                        <a:buNone/>
                      </a:pPr>
                      <a:r>
                        <a:rPr lang="en-US" sz="1300" b="1" dirty="0">
                          <a:solidFill>
                            <a:schemeClr val="bg1"/>
                          </a:solidFill>
                        </a:rPr>
                        <a:t>Alteryx tool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What it does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SQL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PySpark</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300" b="1" dirty="0">
                          <a:solidFill>
                            <a:schemeClr val="tx1"/>
                          </a:solidFill>
                        </a:rPr>
                        <a:t>Formula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Calculates a value or flags a row using a rule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CASE WHEN … THEN … ELSE … END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F.when(cond, a).otherwise(b)</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300" b="1" dirty="0">
                          <a:solidFill>
                            <a:schemeClr val="tx1"/>
                          </a:solidFill>
                        </a:rPr>
                        <a:t>Select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Keeps, renames and retypes columns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SELECT col AS new_name, CAST(…)</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select(), withColumnRenamed()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300" b="1" dirty="0">
                          <a:solidFill>
                            <a:schemeClr val="tx1"/>
                          </a:solidFill>
                        </a:rPr>
                        <a:t>Filter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Keeps the rows that meet a condition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WHERE condition</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filter(condition)</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300" b="1" dirty="0">
                          <a:solidFill>
                            <a:schemeClr val="tx1"/>
                          </a:solidFill>
                        </a:rPr>
                        <a:t>Union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Stacks tables that share the same columns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UNION ALL</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unionByName(other)</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300" b="1" dirty="0">
                          <a:solidFill>
                            <a:schemeClr val="tx1"/>
                          </a:solidFill>
                        </a:rPr>
                        <a:t>Summarize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Totals and counts by group</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GROUP BY, with SUM and COUNT</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groupBy(…).agg(…)</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300" b="1" dirty="0">
                          <a:solidFill>
                            <a:schemeClr val="tx1"/>
                          </a:solidFill>
                        </a:rPr>
                        <a:t>Join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Looks up columns from another table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JOIN … ON a = b</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join(other, on, how)</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akeaway"/>
          <p:cNvSpPr txBox="1"/>
          <p:nvPr/>
        </p:nvSpPr>
        <p:spPr>
          <a:xfrm>
            <a:off x="548640" y="548640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Learn these six well and you can read most of the estate.</a:t>
            </a:r>
            <a:endParaRPr lang="en-US" sz="1600" dirty="0"/>
          </a:p>
        </p:txBody>
      </p:sp>
      <p:sp>
        <p:nvSpPr>
          <p:cNvPr id="7" name="Footnote"/>
          <p:cNvSpPr txBox="1"/>
          <p:nvPr/>
        </p:nvSpPr>
        <p:spPr>
          <a:xfrm>
            <a:off x="548640" y="60807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Next by count: Text Input, Dynamic Input, Append Fields, Unique and Sort. See the cheat sheets in the appendix.</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MIGRATION STRATEGY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Platform terms map across too</a:t>
            </a:r>
            <a:endParaRPr lang="en-US" sz="3200" dirty="0"/>
          </a:p>
        </p:txBody>
      </p:sp>
      <p:graphicFrame>
        <p:nvGraphicFramePr>
          <p:cNvPr id="17" name="Platform term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200400"/>
                <a:gridCol w="3566160"/>
                <a:gridCol w="4325112"/>
              </a:tblGrid>
              <a:tr h="384048">
                <a:tc>
                  <a:txBody>
                    <a:bodyPr/>
                    <a:lstStyle/>
                    <a:p>
                      <a:pPr indent="0" marL="0">
                        <a:buNone/>
                      </a:pPr>
                      <a:r>
                        <a:rPr lang="en-US" sz="1300" b="1" dirty="0">
                          <a:solidFill>
                            <a:schemeClr val="bg1"/>
                          </a:solidFill>
                        </a:rPr>
                        <a:t>Alteryx or Disney term</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Fabric equivalent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What changes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02336">
                <a:tc>
                  <a:txBody>
                    <a:bodyPr/>
                    <a:lstStyle/>
                    <a:p>
                      <a:pPr indent="0" marL="0">
                        <a:buNone/>
                      </a:pPr>
                      <a:r>
                        <a:rPr lang="en-US" sz="1300" b="1" dirty="0">
                          <a:solidFill>
                            <a:schemeClr val="tx1"/>
                          </a:solidFill>
                        </a:rPr>
                        <a:t>Workflow (.yxmd)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Notebook, run by a pipeline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Logic in the notebook, orchestration in the pipeline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indent="0" marL="0">
                        <a:buNone/>
                      </a:pPr>
                      <a:r>
                        <a:rPr lang="en-US" sz="1300" b="1" dirty="0">
                          <a:solidFill>
                            <a:schemeClr val="tx1"/>
                          </a:solidFill>
                        </a:rPr>
                        <a:t>Macro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Reusable function or shared notebook</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Write the logic once, call it from many places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tx1"/>
                          </a:solidFill>
                        </a:rPr>
                        <a:t>Analytic app interface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Pipeline parameters, then a portal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The folder-path text box becomes a parameter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indent="0" marL="0">
                        <a:buNone/>
                      </a:pPr>
                      <a:r>
                        <a:rPr lang="en-US" sz="1300" b="1" dirty="0">
                          <a:solidFill>
                            <a:schemeClr val="tx1"/>
                          </a:solidFill>
                        </a:rPr>
                        <a:t>Server schedule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Pipeline schedule or trigger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Runs without anyone opening a file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tx1"/>
                          </a:solidFill>
                        </a:rPr>
                        <a:t>Data connection (Snowflake, EDP)</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Fabric connection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Set up and approved with Enterprise Technology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indent="0" marL="0">
                        <a:buNone/>
                      </a:pPr>
                      <a:r>
                        <a:rPr lang="en-US" sz="1300" b="1" dirty="0">
                          <a:solidFill>
                            <a:schemeClr val="tx1"/>
                          </a:solidFill>
                        </a:rPr>
                        <a:t>Network drive path (UNC)</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Lakehouse Files folder or shortcut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No mapped drives and no UNC paths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tx1"/>
                          </a:solidFill>
                        </a:rPr>
                        <a:t>Excel main file, input and output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Delta reference tables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Excel presents results. It does not store rules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02336">
                <a:tc>
                  <a:txBody>
                    <a:bodyPr/>
                    <a:lstStyle/>
                    <a:p>
                      <a:pPr indent="0" marL="0">
                        <a:buNone/>
                      </a:pPr>
                      <a:r>
                        <a:rPr lang="en-US" sz="1300" b="1" dirty="0">
                          <a:solidFill>
                            <a:schemeClr val="tx1"/>
                          </a:solidFill>
                        </a:rPr>
                        <a:t>Data Hub collection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Gold table that Power BI reads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One governed table, not a copy per consumer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02336">
                <a:tc>
                  <a:txBody>
                    <a:bodyPr/>
                    <a:lstStyle/>
                    <a:p>
                      <a:pPr indent="0" marL="0">
                        <a:buNone/>
                      </a:pPr>
                      <a:r>
                        <a:rPr lang="en-US" sz="1300" b="1" dirty="0">
                          <a:solidFill>
                            <a:schemeClr val="tx1"/>
                          </a:solidFill>
                        </a:rPr>
                        <a:t>Browse tool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display(df) in a notebook cell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Look at any step without a separate tool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Sources: DST Domestic workflow documentation; Trial Balance HANA macro annotations.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MIGRATION STRATEGY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Decompose first: parameter, table, notebook or pipeline</a:t>
            </a:r>
            <a:endParaRPr lang="en-US" sz="3200" dirty="0"/>
          </a:p>
        </p:txBody>
      </p:sp>
      <p:sp>
        <p:nvSpPr>
          <p:cNvPr id="5" name="Inputs header"/>
          <p:cNvSpPr txBox="1"/>
          <p:nvPr/>
        </p:nvSpPr>
        <p:spPr>
          <a:xfrm>
            <a:off x="548640" y="1783080"/>
            <a:ext cx="3017520" cy="228600"/>
          </a:xfrm>
          <a:prstGeom prst="rect">
            <a:avLst/>
          </a:prstGeom>
          <a:noFill/>
          <a:ln/>
        </p:spPr>
        <p:txBody>
          <a:bodyPr wrap="square" lIns="0" tIns="0" rIns="0" bIns="0" rtlCol="0" anchor="t"/>
          <a:lstStyle/>
          <a:p>
            <a:pPr indent="0" marL="0">
              <a:buNone/>
            </a:pPr>
            <a:r>
              <a:rPr lang="en-US" sz="1050" b="1" spc="200" kern="0" dirty="0">
                <a:solidFill>
                  <a:schemeClr val="accent1"/>
                </a:solidFill>
              </a:rPr>
              <a:t>INPUTS  ·  CHIP = FABRIC ITEM</a:t>
            </a:r>
            <a:endParaRPr lang="en-US" sz="1050" dirty="0"/>
          </a:p>
        </p:txBody>
      </p:sp>
      <p:sp>
        <p:nvSpPr>
          <p:cNvPr id="6" name="Transform header"/>
          <p:cNvSpPr txBox="1"/>
          <p:nvPr/>
        </p:nvSpPr>
        <p:spPr>
          <a:xfrm>
            <a:off x="4160520" y="1783080"/>
            <a:ext cx="3200400" cy="228600"/>
          </a:xfrm>
          <a:prstGeom prst="rect">
            <a:avLst/>
          </a:prstGeom>
          <a:noFill/>
          <a:ln/>
        </p:spPr>
        <p:txBody>
          <a:bodyPr wrap="square" lIns="0" tIns="0" rIns="0" bIns="0" rtlCol="0" anchor="t"/>
          <a:lstStyle/>
          <a:p>
            <a:pPr indent="0" marL="0">
              <a:buNone/>
            </a:pPr>
            <a:r>
              <a:rPr lang="en-US" sz="1050" b="1" spc="200" kern="0" dirty="0">
                <a:solidFill>
                  <a:schemeClr val="accent1"/>
                </a:solidFill>
              </a:rPr>
              <a:t>TRANSFORM</a:t>
            </a:r>
            <a:endParaRPr lang="en-US" sz="1050" dirty="0"/>
          </a:p>
        </p:txBody>
      </p:sp>
      <p:sp>
        <p:nvSpPr>
          <p:cNvPr id="7" name="Outputs header"/>
          <p:cNvSpPr txBox="1"/>
          <p:nvPr/>
        </p:nvSpPr>
        <p:spPr>
          <a:xfrm>
            <a:off x="8503920" y="1783080"/>
            <a:ext cx="3108960" cy="228600"/>
          </a:xfrm>
          <a:prstGeom prst="rect">
            <a:avLst/>
          </a:prstGeom>
          <a:noFill/>
          <a:ln/>
        </p:spPr>
        <p:txBody>
          <a:bodyPr wrap="square" lIns="0" tIns="0" rIns="0" bIns="0" rtlCol="0" anchor="t"/>
          <a:lstStyle/>
          <a:p>
            <a:pPr indent="0" marL="0">
              <a:buNone/>
            </a:pPr>
            <a:r>
              <a:rPr lang="en-US" sz="1050" b="1" spc="200" kern="0" dirty="0">
                <a:solidFill>
                  <a:schemeClr val="accent1"/>
                </a:solidFill>
              </a:rPr>
              <a:t>OUTPUTS</a:t>
            </a:r>
            <a:endParaRPr lang="en-US" sz="1050" dirty="0"/>
          </a:p>
        </p:txBody>
      </p:sp>
      <p:sp>
        <p:nvSpPr>
          <p:cNvPr id="8" name="Input Year in the file name"/>
          <p:cNvSpPr/>
          <p:nvPr/>
        </p:nvSpPr>
        <p:spPr>
          <a:xfrm>
            <a:off x="548640" y="2084832"/>
            <a:ext cx="3154680" cy="530352"/>
          </a:xfrm>
          <a:prstGeom prst="roundRect">
            <a:avLst>
              <a:gd name="adj" fmla="val 20690"/>
            </a:avLst>
          </a:prstGeom>
          <a:solidFill>
            <a:schemeClr val="bg2"/>
          </a:solidFill>
          <a:ln/>
        </p:spPr>
      </p:sp>
      <p:sp>
        <p:nvSpPr>
          <p:cNvPr id="9" name="Input name"/>
          <p:cNvSpPr txBox="1"/>
          <p:nvPr/>
        </p:nvSpPr>
        <p:spPr>
          <a:xfrm>
            <a:off x="713232" y="2084832"/>
            <a:ext cx="1828800" cy="530352"/>
          </a:xfrm>
          <a:prstGeom prst="rect">
            <a:avLst/>
          </a:prstGeom>
          <a:noFill/>
          <a:ln/>
        </p:spPr>
        <p:txBody>
          <a:bodyPr wrap="square" lIns="0" tIns="0" rIns="0" bIns="0" rtlCol="0" anchor="ctr"/>
          <a:lstStyle/>
          <a:p>
            <a:pPr indent="0" marL="0">
              <a:buNone/>
            </a:pPr>
            <a:r>
              <a:rPr lang="en-US" sz="1300" b="1" dirty="0">
                <a:solidFill>
                  <a:schemeClr val="tx1"/>
                </a:solidFill>
              </a:rPr>
              <a:t>Year in the file name</a:t>
            </a:r>
            <a:endParaRPr lang="en-US" sz="1300" dirty="0"/>
          </a:p>
        </p:txBody>
      </p:sp>
      <p:sp>
        <p:nvSpPr>
          <p:cNvPr id="10" name="Pill"/>
          <p:cNvSpPr txBox="1"/>
          <p:nvPr/>
        </p:nvSpPr>
        <p:spPr>
          <a:xfrm>
            <a:off x="2560320" y="2231136"/>
            <a:ext cx="1051560" cy="237744"/>
          </a:xfrm>
          <a:prstGeom prst="roundRect">
            <a:avLst>
              <a:gd name="adj" fmla="val 57692"/>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PARAMETER</a:t>
            </a:r>
            <a:endParaRPr lang="en-US" sz="950" dirty="0"/>
          </a:p>
        </p:txBody>
      </p:sp>
      <p:sp>
        <p:nvSpPr>
          <p:cNvPr id="11" name="Input Snowflake impressions"/>
          <p:cNvSpPr/>
          <p:nvPr/>
        </p:nvSpPr>
        <p:spPr>
          <a:xfrm>
            <a:off x="548640" y="2724912"/>
            <a:ext cx="3154680" cy="530352"/>
          </a:xfrm>
          <a:prstGeom prst="roundRect">
            <a:avLst>
              <a:gd name="adj" fmla="val 20690"/>
            </a:avLst>
          </a:prstGeom>
          <a:solidFill>
            <a:schemeClr val="bg2"/>
          </a:solidFill>
          <a:ln/>
        </p:spPr>
      </p:sp>
      <p:sp>
        <p:nvSpPr>
          <p:cNvPr id="12" name="Input name"/>
          <p:cNvSpPr txBox="1"/>
          <p:nvPr/>
        </p:nvSpPr>
        <p:spPr>
          <a:xfrm>
            <a:off x="713232" y="2724912"/>
            <a:ext cx="1828800" cy="530352"/>
          </a:xfrm>
          <a:prstGeom prst="rect">
            <a:avLst/>
          </a:prstGeom>
          <a:noFill/>
          <a:ln/>
        </p:spPr>
        <p:txBody>
          <a:bodyPr wrap="square" lIns="0" tIns="0" rIns="0" bIns="0" rtlCol="0" anchor="ctr"/>
          <a:lstStyle/>
          <a:p>
            <a:pPr indent="0" marL="0">
              <a:buNone/>
            </a:pPr>
            <a:r>
              <a:rPr lang="en-US" sz="1300" b="1" dirty="0">
                <a:solidFill>
                  <a:schemeClr val="tx1"/>
                </a:solidFill>
              </a:rPr>
              <a:t>Snowflake impressions</a:t>
            </a:r>
            <a:endParaRPr lang="en-US" sz="1300" dirty="0"/>
          </a:p>
        </p:txBody>
      </p:sp>
      <p:sp>
        <p:nvSpPr>
          <p:cNvPr id="13" name="Pill"/>
          <p:cNvSpPr txBox="1"/>
          <p:nvPr/>
        </p:nvSpPr>
        <p:spPr>
          <a:xfrm>
            <a:off x="2560320" y="2871216"/>
            <a:ext cx="1051560" cy="237744"/>
          </a:xfrm>
          <a:prstGeom prst="roundRect">
            <a:avLst>
              <a:gd name="adj" fmla="val 57692"/>
            </a:avLst>
          </a:prstGeom>
          <a:solidFill>
            <a:schemeClr val="tx1"/>
          </a:solidFill>
          <a:ln/>
        </p:spPr>
        <p:txBody>
          <a:bodyPr wrap="square" lIns="0" tIns="0" rIns="0" bIns="0" rtlCol="0" anchor="ctr"/>
          <a:lstStyle/>
          <a:p>
            <a:pPr algn="ctr" indent="0" marL="0">
              <a:buNone/>
            </a:pPr>
            <a:r>
              <a:rPr lang="en-US" sz="950" b="1" spc="200" kern="0" dirty="0">
                <a:solidFill>
                  <a:schemeClr val="bg1"/>
                </a:solidFill>
              </a:rPr>
              <a:t>PIPELINE</a:t>
            </a:r>
            <a:endParaRPr lang="en-US" sz="950" dirty="0"/>
          </a:p>
        </p:txBody>
      </p:sp>
      <p:sp>
        <p:nvSpPr>
          <p:cNvPr id="14" name="Input Google Ad Manager CSVs"/>
          <p:cNvSpPr/>
          <p:nvPr/>
        </p:nvSpPr>
        <p:spPr>
          <a:xfrm>
            <a:off x="548640" y="3364992"/>
            <a:ext cx="3154680" cy="530352"/>
          </a:xfrm>
          <a:prstGeom prst="roundRect">
            <a:avLst>
              <a:gd name="adj" fmla="val 20690"/>
            </a:avLst>
          </a:prstGeom>
          <a:solidFill>
            <a:schemeClr val="bg2"/>
          </a:solidFill>
          <a:ln/>
        </p:spPr>
      </p:sp>
      <p:sp>
        <p:nvSpPr>
          <p:cNvPr id="15" name="Input name"/>
          <p:cNvSpPr txBox="1"/>
          <p:nvPr/>
        </p:nvSpPr>
        <p:spPr>
          <a:xfrm>
            <a:off x="713232" y="3364992"/>
            <a:ext cx="1828800" cy="530352"/>
          </a:xfrm>
          <a:prstGeom prst="rect">
            <a:avLst/>
          </a:prstGeom>
          <a:noFill/>
          <a:ln/>
        </p:spPr>
        <p:txBody>
          <a:bodyPr wrap="square" lIns="0" tIns="0" rIns="0" bIns="0" rtlCol="0" anchor="ctr"/>
          <a:lstStyle/>
          <a:p>
            <a:pPr indent="0" marL="0">
              <a:buNone/>
            </a:pPr>
            <a:r>
              <a:rPr lang="en-US" sz="1300" b="1" dirty="0">
                <a:solidFill>
                  <a:schemeClr val="tx1"/>
                </a:solidFill>
              </a:rPr>
              <a:t>Google Ad Manager CSVs</a:t>
            </a:r>
            <a:endParaRPr lang="en-US" sz="1300" dirty="0"/>
          </a:p>
        </p:txBody>
      </p:sp>
      <p:sp>
        <p:nvSpPr>
          <p:cNvPr id="16" name="Pill"/>
          <p:cNvSpPr txBox="1"/>
          <p:nvPr/>
        </p:nvSpPr>
        <p:spPr>
          <a:xfrm>
            <a:off x="2560320" y="3511296"/>
            <a:ext cx="1051560" cy="237744"/>
          </a:xfrm>
          <a:prstGeom prst="roundRect">
            <a:avLst>
              <a:gd name="adj" fmla="val 57692"/>
            </a:avLst>
          </a:prstGeom>
          <a:solidFill>
            <a:schemeClr val="accent2"/>
          </a:solidFill>
          <a:ln/>
        </p:spPr>
        <p:txBody>
          <a:bodyPr wrap="square" lIns="0" tIns="0" rIns="0" bIns="0" rtlCol="0" anchor="ctr"/>
          <a:lstStyle/>
          <a:p>
            <a:pPr algn="ctr" indent="0" marL="0">
              <a:buNone/>
            </a:pPr>
            <a:r>
              <a:rPr lang="en-US" sz="950" b="1" spc="200" kern="0" dirty="0">
                <a:solidFill>
                  <a:schemeClr val="bg1"/>
                </a:solidFill>
              </a:rPr>
              <a:t>LAKEHOUSE</a:t>
            </a:r>
            <a:endParaRPr lang="en-US" sz="950" dirty="0"/>
          </a:p>
        </p:txBody>
      </p:sp>
      <p:sp>
        <p:nvSpPr>
          <p:cNvPr id="17" name="Input SAP / EDP revenue"/>
          <p:cNvSpPr/>
          <p:nvPr/>
        </p:nvSpPr>
        <p:spPr>
          <a:xfrm>
            <a:off x="548640" y="4005072"/>
            <a:ext cx="3154680" cy="530352"/>
          </a:xfrm>
          <a:prstGeom prst="roundRect">
            <a:avLst>
              <a:gd name="adj" fmla="val 20690"/>
            </a:avLst>
          </a:prstGeom>
          <a:solidFill>
            <a:schemeClr val="bg2"/>
          </a:solidFill>
          <a:ln/>
        </p:spPr>
      </p:sp>
      <p:sp>
        <p:nvSpPr>
          <p:cNvPr id="18" name="Input name"/>
          <p:cNvSpPr txBox="1"/>
          <p:nvPr/>
        </p:nvSpPr>
        <p:spPr>
          <a:xfrm>
            <a:off x="713232" y="4005072"/>
            <a:ext cx="1828800" cy="530352"/>
          </a:xfrm>
          <a:prstGeom prst="rect">
            <a:avLst/>
          </a:prstGeom>
          <a:noFill/>
          <a:ln/>
        </p:spPr>
        <p:txBody>
          <a:bodyPr wrap="square" lIns="0" tIns="0" rIns="0" bIns="0" rtlCol="0" anchor="ctr"/>
          <a:lstStyle/>
          <a:p>
            <a:pPr indent="0" marL="0">
              <a:buNone/>
            </a:pPr>
            <a:r>
              <a:rPr lang="en-US" sz="1300" b="1" dirty="0">
                <a:solidFill>
                  <a:schemeClr val="tx1"/>
                </a:solidFill>
              </a:rPr>
              <a:t>SAP / EDP revenue</a:t>
            </a:r>
            <a:endParaRPr lang="en-US" sz="1300" dirty="0"/>
          </a:p>
        </p:txBody>
      </p:sp>
      <p:sp>
        <p:nvSpPr>
          <p:cNvPr id="19" name="Pill"/>
          <p:cNvSpPr txBox="1"/>
          <p:nvPr/>
        </p:nvSpPr>
        <p:spPr>
          <a:xfrm>
            <a:off x="2560320" y="4151376"/>
            <a:ext cx="1051560" cy="237744"/>
          </a:xfrm>
          <a:prstGeom prst="roundRect">
            <a:avLst>
              <a:gd name="adj" fmla="val 57692"/>
            </a:avLst>
          </a:prstGeom>
          <a:solidFill>
            <a:schemeClr val="tx1"/>
          </a:solidFill>
          <a:ln/>
        </p:spPr>
        <p:txBody>
          <a:bodyPr wrap="square" lIns="0" tIns="0" rIns="0" bIns="0" rtlCol="0" anchor="ctr"/>
          <a:lstStyle/>
          <a:p>
            <a:pPr algn="ctr" indent="0" marL="0">
              <a:buNone/>
            </a:pPr>
            <a:r>
              <a:rPr lang="en-US" sz="950" b="1" spc="200" kern="0" dirty="0">
                <a:solidFill>
                  <a:schemeClr val="bg1"/>
                </a:solidFill>
              </a:rPr>
              <a:t>PIPELINE</a:t>
            </a:r>
            <a:endParaRPr lang="en-US" sz="950" dirty="0"/>
          </a:p>
        </p:txBody>
      </p:sp>
      <p:sp>
        <p:nvSpPr>
          <p:cNvPr id="20" name="Input Excel mapping tabs (4)"/>
          <p:cNvSpPr/>
          <p:nvPr/>
        </p:nvSpPr>
        <p:spPr>
          <a:xfrm>
            <a:off x="548640" y="4645152"/>
            <a:ext cx="3154680" cy="530352"/>
          </a:xfrm>
          <a:prstGeom prst="roundRect">
            <a:avLst>
              <a:gd name="adj" fmla="val 20690"/>
            </a:avLst>
          </a:prstGeom>
          <a:solidFill>
            <a:schemeClr val="bg2"/>
          </a:solidFill>
          <a:ln/>
        </p:spPr>
      </p:sp>
      <p:sp>
        <p:nvSpPr>
          <p:cNvPr id="21" name="Input name"/>
          <p:cNvSpPr txBox="1"/>
          <p:nvPr/>
        </p:nvSpPr>
        <p:spPr>
          <a:xfrm>
            <a:off x="713232" y="4645152"/>
            <a:ext cx="1828800" cy="530352"/>
          </a:xfrm>
          <a:prstGeom prst="rect">
            <a:avLst/>
          </a:prstGeom>
          <a:noFill/>
          <a:ln/>
        </p:spPr>
        <p:txBody>
          <a:bodyPr wrap="square" lIns="0" tIns="0" rIns="0" bIns="0" rtlCol="0" anchor="ctr"/>
          <a:lstStyle/>
          <a:p>
            <a:pPr indent="0" marL="0">
              <a:buNone/>
            </a:pPr>
            <a:r>
              <a:rPr lang="en-US" sz="1300" b="1" dirty="0">
                <a:solidFill>
                  <a:schemeClr val="tx1"/>
                </a:solidFill>
              </a:rPr>
              <a:t>Excel mapping tabs (4)</a:t>
            </a:r>
            <a:endParaRPr lang="en-US" sz="1300" dirty="0"/>
          </a:p>
        </p:txBody>
      </p:sp>
      <p:sp>
        <p:nvSpPr>
          <p:cNvPr id="22" name="Pill"/>
          <p:cNvSpPr txBox="1"/>
          <p:nvPr/>
        </p:nvSpPr>
        <p:spPr>
          <a:xfrm>
            <a:off x="2560320" y="4791456"/>
            <a:ext cx="1051560" cy="237744"/>
          </a:xfrm>
          <a:prstGeom prst="roundRect">
            <a:avLst>
              <a:gd name="adj" fmla="val 57692"/>
            </a:avLst>
          </a:prstGeom>
          <a:solidFill>
            <a:schemeClr val="accent2"/>
          </a:solidFill>
          <a:ln/>
        </p:spPr>
        <p:txBody>
          <a:bodyPr wrap="square" lIns="0" tIns="0" rIns="0" bIns="0" rtlCol="0" anchor="ctr"/>
          <a:lstStyle/>
          <a:p>
            <a:pPr algn="ctr" indent="0" marL="0">
              <a:buNone/>
            </a:pPr>
            <a:r>
              <a:rPr lang="en-US" sz="950" b="1" spc="200" kern="0" dirty="0">
                <a:solidFill>
                  <a:schemeClr val="bg1"/>
                </a:solidFill>
              </a:rPr>
              <a:t>LAKEHOUSE</a:t>
            </a:r>
            <a:endParaRPr lang="en-US" sz="950" dirty="0"/>
          </a:p>
        </p:txBody>
      </p:sp>
      <p:sp>
        <p:nvSpPr>
          <p:cNvPr id="23" name="Arrow in"/>
          <p:cNvSpPr/>
          <p:nvPr/>
        </p:nvSpPr>
        <p:spPr>
          <a:xfrm>
            <a:off x="3767328" y="3520440"/>
            <a:ext cx="320040" cy="365760"/>
          </a:xfrm>
          <a:prstGeom prst="rightArrow">
            <a:avLst/>
          </a:prstGeom>
          <a:solidFill>
            <a:schemeClr val="accent5"/>
          </a:solidFill>
          <a:ln/>
        </p:spPr>
      </p:sp>
      <p:sp>
        <p:nvSpPr>
          <p:cNvPr id="24" name="Notebook 1  ·  Prepare impressions"/>
          <p:cNvSpPr/>
          <p:nvPr/>
        </p:nvSpPr>
        <p:spPr>
          <a:xfrm>
            <a:off x="4160520" y="2084832"/>
            <a:ext cx="3749040" cy="969264"/>
          </a:xfrm>
          <a:prstGeom prst="roundRect">
            <a:avLst>
              <a:gd name="adj" fmla="val 1132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25" name="Notebook tint 1"/>
          <p:cNvSpPr/>
          <p:nvPr/>
        </p:nvSpPr>
        <p:spPr>
          <a:xfrm>
            <a:off x="4160520" y="2084832"/>
            <a:ext cx="3749040" cy="969264"/>
          </a:xfrm>
          <a:prstGeom prst="roundRect">
            <a:avLst>
              <a:gd name="adj" fmla="val 11321"/>
            </a:avLst>
          </a:prstGeom>
          <a:solidFill>
            <a:schemeClr val="accent1">
              <a:alpha val="10000"/>
            </a:schemeClr>
          </a:solidFill>
          <a:ln/>
        </p:spPr>
      </p:sp>
      <p:sp>
        <p:nvSpPr>
          <p:cNvPr id="26" name="Pill"/>
          <p:cNvSpPr txBox="1"/>
          <p:nvPr/>
        </p:nvSpPr>
        <p:spPr>
          <a:xfrm>
            <a:off x="4315968" y="2194560"/>
            <a:ext cx="914400" cy="219456"/>
          </a:xfrm>
          <a:prstGeom prst="roundRect">
            <a:avLst>
              <a:gd name="adj" fmla="val 625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NOTEBOOK</a:t>
            </a:r>
            <a:endParaRPr lang="en-US" sz="950" dirty="0"/>
          </a:p>
        </p:txBody>
      </p:sp>
      <p:sp>
        <p:nvSpPr>
          <p:cNvPr id="27" name="Notebook name"/>
          <p:cNvSpPr txBox="1"/>
          <p:nvPr/>
        </p:nvSpPr>
        <p:spPr>
          <a:xfrm>
            <a:off x="5349240" y="2176272"/>
            <a:ext cx="2468880" cy="256032"/>
          </a:xfrm>
          <a:prstGeom prst="rect">
            <a:avLst/>
          </a:prstGeom>
          <a:noFill/>
          <a:ln/>
        </p:spPr>
        <p:txBody>
          <a:bodyPr wrap="square" lIns="0" tIns="0" rIns="0" bIns="0" rtlCol="0" anchor="t"/>
          <a:lstStyle/>
          <a:p>
            <a:pPr indent="0" marL="0">
              <a:buNone/>
            </a:pPr>
            <a:r>
              <a:rPr lang="en-US" sz="1400" b="1" dirty="0">
                <a:solidFill>
                  <a:schemeClr val="tx1"/>
                </a:solidFill>
              </a:rPr>
              <a:t>Prepare impressions</a:t>
            </a:r>
            <a:endParaRPr lang="en-US" sz="1400" dirty="0"/>
          </a:p>
        </p:txBody>
      </p:sp>
      <p:sp>
        <p:nvSpPr>
          <p:cNvPr id="28" name="Notebook description"/>
          <p:cNvSpPr txBox="1"/>
          <p:nvPr/>
        </p:nvSpPr>
        <p:spPr>
          <a:xfrm>
            <a:off x="4315968" y="2496312"/>
            <a:ext cx="3474720" cy="502920"/>
          </a:xfrm>
          <a:prstGeom prst="rect">
            <a:avLst/>
          </a:prstGeom>
          <a:noFill/>
          <a:ln/>
        </p:spPr>
        <p:txBody>
          <a:bodyPr wrap="square" lIns="0" tIns="0" rIns="0" bIns="0" rtlCol="0" anchor="t"/>
          <a:lstStyle/>
          <a:p>
            <a:pPr indent="0" marL="0">
              <a:buNone/>
            </a:pPr>
            <a:r>
              <a:rPr lang="en-US" sz="1200" dirty="0">
                <a:solidFill>
                  <a:schemeClr val="tx1"/>
                </a:solidFill>
              </a:rPr>
              <a:t>Standardise states, flag N/A, union the sources, map ad units to entities</a:t>
            </a:r>
            <a:endParaRPr lang="en-US" sz="1200" dirty="0"/>
          </a:p>
        </p:txBody>
      </p:sp>
      <p:sp>
        <p:nvSpPr>
          <p:cNvPr id="29" name="Notebook 2  ·  Prepare revenue"/>
          <p:cNvSpPr/>
          <p:nvPr/>
        </p:nvSpPr>
        <p:spPr>
          <a:xfrm>
            <a:off x="4160520" y="3163824"/>
            <a:ext cx="3749040" cy="969264"/>
          </a:xfrm>
          <a:prstGeom prst="roundRect">
            <a:avLst>
              <a:gd name="adj" fmla="val 1132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0" name="Notebook tint 2"/>
          <p:cNvSpPr/>
          <p:nvPr/>
        </p:nvSpPr>
        <p:spPr>
          <a:xfrm>
            <a:off x="4160520" y="3163824"/>
            <a:ext cx="3749040" cy="969264"/>
          </a:xfrm>
          <a:prstGeom prst="roundRect">
            <a:avLst>
              <a:gd name="adj" fmla="val 11321"/>
            </a:avLst>
          </a:prstGeom>
          <a:solidFill>
            <a:schemeClr val="accent1">
              <a:alpha val="10000"/>
            </a:schemeClr>
          </a:solidFill>
          <a:ln/>
        </p:spPr>
      </p:sp>
      <p:sp>
        <p:nvSpPr>
          <p:cNvPr id="31" name="Pill"/>
          <p:cNvSpPr txBox="1"/>
          <p:nvPr/>
        </p:nvSpPr>
        <p:spPr>
          <a:xfrm>
            <a:off x="4315968" y="3273552"/>
            <a:ext cx="914400" cy="219456"/>
          </a:xfrm>
          <a:prstGeom prst="roundRect">
            <a:avLst>
              <a:gd name="adj" fmla="val 625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NOTEBOOK</a:t>
            </a:r>
            <a:endParaRPr lang="en-US" sz="950" dirty="0"/>
          </a:p>
        </p:txBody>
      </p:sp>
      <p:sp>
        <p:nvSpPr>
          <p:cNvPr id="32" name="Notebook name"/>
          <p:cNvSpPr txBox="1"/>
          <p:nvPr/>
        </p:nvSpPr>
        <p:spPr>
          <a:xfrm>
            <a:off x="5349240" y="3255264"/>
            <a:ext cx="2468880" cy="256032"/>
          </a:xfrm>
          <a:prstGeom prst="rect">
            <a:avLst/>
          </a:prstGeom>
          <a:noFill/>
          <a:ln/>
        </p:spPr>
        <p:txBody>
          <a:bodyPr wrap="square" lIns="0" tIns="0" rIns="0" bIns="0" rtlCol="0" anchor="t"/>
          <a:lstStyle/>
          <a:p>
            <a:pPr indent="0" marL="0">
              <a:buNone/>
            </a:pPr>
            <a:r>
              <a:rPr lang="en-US" sz="1400" b="1" dirty="0">
                <a:solidFill>
                  <a:schemeClr val="tx1"/>
                </a:solidFill>
              </a:rPr>
              <a:t>Prepare revenue</a:t>
            </a:r>
            <a:endParaRPr lang="en-US" sz="1400" dirty="0"/>
          </a:p>
        </p:txBody>
      </p:sp>
      <p:sp>
        <p:nvSpPr>
          <p:cNvPr id="33" name="Notebook description"/>
          <p:cNvSpPr txBox="1"/>
          <p:nvPr/>
        </p:nvSpPr>
        <p:spPr>
          <a:xfrm>
            <a:off x="4315968" y="3575304"/>
            <a:ext cx="3474720" cy="502920"/>
          </a:xfrm>
          <a:prstGeom prst="rect">
            <a:avLst/>
          </a:prstGeom>
          <a:noFill/>
          <a:ln/>
        </p:spPr>
        <p:txBody>
          <a:bodyPr wrap="square" lIns="0" tIns="0" rIns="0" bIns="0" rtlCol="0" anchor="t"/>
          <a:lstStyle/>
          <a:p>
            <a:pPr indent="0" marL="0">
              <a:buNone/>
            </a:pPr>
            <a:r>
              <a:rPr lang="en-US" sz="1200" dirty="0">
                <a:solidFill>
                  <a:schemeClr val="tx1"/>
                </a:solidFill>
              </a:rPr>
              <a:t>Parse and shift fiscal periods, map company codes to entities</a:t>
            </a:r>
            <a:endParaRPr lang="en-US" sz="1200" dirty="0"/>
          </a:p>
        </p:txBody>
      </p:sp>
      <p:sp>
        <p:nvSpPr>
          <p:cNvPr id="34" name="Notebook 3  ·  Apportion"/>
          <p:cNvSpPr/>
          <p:nvPr/>
        </p:nvSpPr>
        <p:spPr>
          <a:xfrm>
            <a:off x="4160520" y="4242816"/>
            <a:ext cx="3749040" cy="969264"/>
          </a:xfrm>
          <a:prstGeom prst="roundRect">
            <a:avLst>
              <a:gd name="adj" fmla="val 1132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5" name="Notebook tint 3"/>
          <p:cNvSpPr/>
          <p:nvPr/>
        </p:nvSpPr>
        <p:spPr>
          <a:xfrm>
            <a:off x="4160520" y="4242816"/>
            <a:ext cx="3749040" cy="969264"/>
          </a:xfrm>
          <a:prstGeom prst="roundRect">
            <a:avLst>
              <a:gd name="adj" fmla="val 11321"/>
            </a:avLst>
          </a:prstGeom>
          <a:solidFill>
            <a:schemeClr val="accent1">
              <a:alpha val="10000"/>
            </a:schemeClr>
          </a:solidFill>
          <a:ln/>
        </p:spPr>
      </p:sp>
      <p:sp>
        <p:nvSpPr>
          <p:cNvPr id="36" name="Pill"/>
          <p:cNvSpPr txBox="1"/>
          <p:nvPr/>
        </p:nvSpPr>
        <p:spPr>
          <a:xfrm>
            <a:off x="4315968" y="4352544"/>
            <a:ext cx="914400" cy="219456"/>
          </a:xfrm>
          <a:prstGeom prst="roundRect">
            <a:avLst>
              <a:gd name="adj" fmla="val 625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NOTEBOOK</a:t>
            </a:r>
            <a:endParaRPr lang="en-US" sz="950" dirty="0"/>
          </a:p>
        </p:txBody>
      </p:sp>
      <p:sp>
        <p:nvSpPr>
          <p:cNvPr id="37" name="Notebook name"/>
          <p:cNvSpPr txBox="1"/>
          <p:nvPr/>
        </p:nvSpPr>
        <p:spPr>
          <a:xfrm>
            <a:off x="5349240" y="4334256"/>
            <a:ext cx="2468880" cy="256032"/>
          </a:xfrm>
          <a:prstGeom prst="rect">
            <a:avLst/>
          </a:prstGeom>
          <a:noFill/>
          <a:ln/>
        </p:spPr>
        <p:txBody>
          <a:bodyPr wrap="square" lIns="0" tIns="0" rIns="0" bIns="0" rtlCol="0" anchor="t"/>
          <a:lstStyle/>
          <a:p>
            <a:pPr indent="0" marL="0">
              <a:buNone/>
            </a:pPr>
            <a:r>
              <a:rPr lang="en-US" sz="1400" b="1" dirty="0">
                <a:solidFill>
                  <a:schemeClr val="tx1"/>
                </a:solidFill>
              </a:rPr>
              <a:t>Apportion</a:t>
            </a:r>
            <a:endParaRPr lang="en-US" sz="1400" dirty="0"/>
          </a:p>
        </p:txBody>
      </p:sp>
      <p:sp>
        <p:nvSpPr>
          <p:cNvPr id="38" name="Notebook description"/>
          <p:cNvSpPr txBox="1"/>
          <p:nvPr/>
        </p:nvSpPr>
        <p:spPr>
          <a:xfrm>
            <a:off x="4315968" y="4654296"/>
            <a:ext cx="3474720" cy="502920"/>
          </a:xfrm>
          <a:prstGeom prst="rect">
            <a:avLst/>
          </a:prstGeom>
          <a:noFill/>
          <a:ln/>
        </p:spPr>
        <p:txBody>
          <a:bodyPr wrap="square" lIns="0" tIns="0" rIns="0" bIns="0" rtlCol="0" anchor="t"/>
          <a:lstStyle/>
          <a:p>
            <a:pPr indent="0" marL="0">
              <a:buNone/>
            </a:pPr>
            <a:r>
              <a:rPr lang="en-US" sz="1200" dirty="0">
                <a:solidFill>
                  <a:schemeClr val="tx1"/>
                </a:solidFill>
              </a:rPr>
              <a:t>Share of impressions times revenue. List the unmapped items</a:t>
            </a:r>
            <a:endParaRPr lang="en-US" sz="1200" dirty="0"/>
          </a:p>
        </p:txBody>
      </p:sp>
      <p:sp>
        <p:nvSpPr>
          <p:cNvPr id="39" name="Arrow out"/>
          <p:cNvSpPr/>
          <p:nvPr/>
        </p:nvSpPr>
        <p:spPr>
          <a:xfrm>
            <a:off x="8065008" y="3520440"/>
            <a:ext cx="320040" cy="365760"/>
          </a:xfrm>
          <a:prstGeom prst="rightArrow">
            <a:avLst/>
          </a:prstGeom>
          <a:solidFill>
            <a:schemeClr val="accent5"/>
          </a:solidFill>
          <a:ln/>
        </p:spPr>
      </p:sp>
      <p:sp>
        <p:nvSpPr>
          <p:cNvPr id="40" name="Output Apportioned table (gold)"/>
          <p:cNvSpPr/>
          <p:nvPr/>
        </p:nvSpPr>
        <p:spPr>
          <a:xfrm>
            <a:off x="8503920" y="2084832"/>
            <a:ext cx="3136392" cy="530352"/>
          </a:xfrm>
          <a:prstGeom prst="roundRect">
            <a:avLst>
              <a:gd name="adj" fmla="val 20690"/>
            </a:avLst>
          </a:prstGeom>
          <a:solidFill>
            <a:schemeClr val="bg2"/>
          </a:solidFill>
          <a:ln/>
        </p:spPr>
      </p:sp>
      <p:sp>
        <p:nvSpPr>
          <p:cNvPr id="41" name="Output name"/>
          <p:cNvSpPr txBox="1"/>
          <p:nvPr/>
        </p:nvSpPr>
        <p:spPr>
          <a:xfrm>
            <a:off x="8668512" y="2084832"/>
            <a:ext cx="1783080" cy="530352"/>
          </a:xfrm>
          <a:prstGeom prst="rect">
            <a:avLst/>
          </a:prstGeom>
          <a:noFill/>
          <a:ln/>
        </p:spPr>
        <p:txBody>
          <a:bodyPr wrap="square" lIns="0" tIns="0" rIns="0" bIns="0" rtlCol="0" anchor="ctr"/>
          <a:lstStyle/>
          <a:p>
            <a:pPr indent="0" marL="0">
              <a:buNone/>
            </a:pPr>
            <a:r>
              <a:rPr lang="en-US" sz="1300" b="1" dirty="0">
                <a:solidFill>
                  <a:schemeClr val="tx1"/>
                </a:solidFill>
              </a:rPr>
              <a:t>Apportioned table (gold)</a:t>
            </a:r>
            <a:endParaRPr lang="en-US" sz="1300" dirty="0"/>
          </a:p>
        </p:txBody>
      </p:sp>
      <p:sp>
        <p:nvSpPr>
          <p:cNvPr id="42" name="Pill"/>
          <p:cNvSpPr txBox="1"/>
          <p:nvPr/>
        </p:nvSpPr>
        <p:spPr>
          <a:xfrm>
            <a:off x="10515600" y="2231136"/>
            <a:ext cx="1051560" cy="237744"/>
          </a:xfrm>
          <a:prstGeom prst="roundRect">
            <a:avLst>
              <a:gd name="adj" fmla="val 57692"/>
            </a:avLst>
          </a:prstGeom>
          <a:solidFill>
            <a:schemeClr val="accent2"/>
          </a:solidFill>
          <a:ln/>
        </p:spPr>
        <p:txBody>
          <a:bodyPr wrap="square" lIns="0" tIns="0" rIns="0" bIns="0" rtlCol="0" anchor="ctr"/>
          <a:lstStyle/>
          <a:p>
            <a:pPr algn="ctr" indent="0" marL="0">
              <a:buNone/>
            </a:pPr>
            <a:r>
              <a:rPr lang="en-US" sz="950" b="1" spc="200" kern="0" dirty="0">
                <a:solidFill>
                  <a:schemeClr val="bg1"/>
                </a:solidFill>
              </a:rPr>
              <a:t>LAKEHOUSE</a:t>
            </a:r>
            <a:endParaRPr lang="en-US" sz="950" dirty="0"/>
          </a:p>
        </p:txBody>
      </p:sp>
      <p:sp>
        <p:nvSpPr>
          <p:cNvPr id="43" name="Output Unmapped items table"/>
          <p:cNvSpPr/>
          <p:nvPr/>
        </p:nvSpPr>
        <p:spPr>
          <a:xfrm>
            <a:off x="8503920" y="2724912"/>
            <a:ext cx="3136392" cy="530352"/>
          </a:xfrm>
          <a:prstGeom prst="roundRect">
            <a:avLst>
              <a:gd name="adj" fmla="val 20690"/>
            </a:avLst>
          </a:prstGeom>
          <a:solidFill>
            <a:schemeClr val="bg2"/>
          </a:solidFill>
          <a:ln/>
        </p:spPr>
      </p:sp>
      <p:sp>
        <p:nvSpPr>
          <p:cNvPr id="44" name="Output name"/>
          <p:cNvSpPr txBox="1"/>
          <p:nvPr/>
        </p:nvSpPr>
        <p:spPr>
          <a:xfrm>
            <a:off x="8668512" y="2724912"/>
            <a:ext cx="1783080" cy="530352"/>
          </a:xfrm>
          <a:prstGeom prst="rect">
            <a:avLst/>
          </a:prstGeom>
          <a:noFill/>
          <a:ln/>
        </p:spPr>
        <p:txBody>
          <a:bodyPr wrap="square" lIns="0" tIns="0" rIns="0" bIns="0" rtlCol="0" anchor="ctr"/>
          <a:lstStyle/>
          <a:p>
            <a:pPr indent="0" marL="0">
              <a:buNone/>
            </a:pPr>
            <a:r>
              <a:rPr lang="en-US" sz="1300" b="1" dirty="0">
                <a:solidFill>
                  <a:schemeClr val="tx1"/>
                </a:solidFill>
              </a:rPr>
              <a:t>Unmapped items table</a:t>
            </a:r>
            <a:endParaRPr lang="en-US" sz="1300" dirty="0"/>
          </a:p>
        </p:txBody>
      </p:sp>
      <p:sp>
        <p:nvSpPr>
          <p:cNvPr id="45" name="Pill"/>
          <p:cNvSpPr txBox="1"/>
          <p:nvPr/>
        </p:nvSpPr>
        <p:spPr>
          <a:xfrm>
            <a:off x="10515600" y="2871216"/>
            <a:ext cx="1051560" cy="237744"/>
          </a:xfrm>
          <a:prstGeom prst="roundRect">
            <a:avLst>
              <a:gd name="adj" fmla="val 57692"/>
            </a:avLst>
          </a:prstGeom>
          <a:solidFill>
            <a:schemeClr val="accent2"/>
          </a:solidFill>
          <a:ln/>
        </p:spPr>
        <p:txBody>
          <a:bodyPr wrap="square" lIns="0" tIns="0" rIns="0" bIns="0" rtlCol="0" anchor="ctr"/>
          <a:lstStyle/>
          <a:p>
            <a:pPr algn="ctr" indent="0" marL="0">
              <a:buNone/>
            </a:pPr>
            <a:r>
              <a:rPr lang="en-US" sz="950" b="1" spc="200" kern="0" dirty="0">
                <a:solidFill>
                  <a:schemeClr val="bg1"/>
                </a:solidFill>
              </a:rPr>
              <a:t>LAKEHOUSE</a:t>
            </a:r>
            <a:endParaRPr lang="en-US" sz="950" dirty="0"/>
          </a:p>
        </p:txBody>
      </p:sp>
      <p:sp>
        <p:nvSpPr>
          <p:cNvPr id="46" name="Output Excel workpaper and CSV"/>
          <p:cNvSpPr/>
          <p:nvPr/>
        </p:nvSpPr>
        <p:spPr>
          <a:xfrm>
            <a:off x="8503920" y="3364992"/>
            <a:ext cx="3136392" cy="530352"/>
          </a:xfrm>
          <a:prstGeom prst="roundRect">
            <a:avLst>
              <a:gd name="adj" fmla="val 20690"/>
            </a:avLst>
          </a:prstGeom>
          <a:solidFill>
            <a:schemeClr val="bg2"/>
          </a:solidFill>
          <a:ln/>
        </p:spPr>
      </p:sp>
      <p:sp>
        <p:nvSpPr>
          <p:cNvPr id="47" name="Output name"/>
          <p:cNvSpPr txBox="1"/>
          <p:nvPr/>
        </p:nvSpPr>
        <p:spPr>
          <a:xfrm>
            <a:off x="8668512" y="3364992"/>
            <a:ext cx="1783080" cy="530352"/>
          </a:xfrm>
          <a:prstGeom prst="rect">
            <a:avLst/>
          </a:prstGeom>
          <a:noFill/>
          <a:ln/>
        </p:spPr>
        <p:txBody>
          <a:bodyPr wrap="square" lIns="0" tIns="0" rIns="0" bIns="0" rtlCol="0" anchor="ctr"/>
          <a:lstStyle/>
          <a:p>
            <a:pPr indent="0" marL="0">
              <a:buNone/>
            </a:pPr>
            <a:r>
              <a:rPr lang="en-US" sz="1300" b="1" dirty="0">
                <a:solidFill>
                  <a:schemeClr val="tx1"/>
                </a:solidFill>
              </a:rPr>
              <a:t>Excel workpaper and CSV</a:t>
            </a:r>
            <a:endParaRPr lang="en-US" sz="1300" dirty="0"/>
          </a:p>
        </p:txBody>
      </p:sp>
      <p:sp>
        <p:nvSpPr>
          <p:cNvPr id="48" name="Pill"/>
          <p:cNvSpPr txBox="1"/>
          <p:nvPr/>
        </p:nvSpPr>
        <p:spPr>
          <a:xfrm>
            <a:off x="10515600" y="3511296"/>
            <a:ext cx="1051560" cy="237744"/>
          </a:xfrm>
          <a:prstGeom prst="roundRect">
            <a:avLst>
              <a:gd name="adj" fmla="val 57692"/>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NOTEBOOK</a:t>
            </a:r>
            <a:endParaRPr lang="en-US" sz="950" dirty="0"/>
          </a:p>
        </p:txBody>
      </p:sp>
      <p:sp>
        <p:nvSpPr>
          <p:cNvPr id="49" name="Output Power BI feed"/>
          <p:cNvSpPr/>
          <p:nvPr/>
        </p:nvSpPr>
        <p:spPr>
          <a:xfrm>
            <a:off x="8503920" y="4005072"/>
            <a:ext cx="3136392" cy="530352"/>
          </a:xfrm>
          <a:prstGeom prst="roundRect">
            <a:avLst>
              <a:gd name="adj" fmla="val 20690"/>
            </a:avLst>
          </a:prstGeom>
          <a:solidFill>
            <a:schemeClr val="bg2"/>
          </a:solidFill>
          <a:ln/>
        </p:spPr>
      </p:sp>
      <p:sp>
        <p:nvSpPr>
          <p:cNvPr id="50" name="Output name"/>
          <p:cNvSpPr txBox="1"/>
          <p:nvPr/>
        </p:nvSpPr>
        <p:spPr>
          <a:xfrm>
            <a:off x="8668512" y="4005072"/>
            <a:ext cx="1783080" cy="530352"/>
          </a:xfrm>
          <a:prstGeom prst="rect">
            <a:avLst/>
          </a:prstGeom>
          <a:noFill/>
          <a:ln/>
        </p:spPr>
        <p:txBody>
          <a:bodyPr wrap="square" lIns="0" tIns="0" rIns="0" bIns="0" rtlCol="0" anchor="ctr"/>
          <a:lstStyle/>
          <a:p>
            <a:pPr indent="0" marL="0">
              <a:buNone/>
            </a:pPr>
            <a:r>
              <a:rPr lang="en-US" sz="1300" b="1" dirty="0">
                <a:solidFill>
                  <a:schemeClr val="tx1"/>
                </a:solidFill>
              </a:rPr>
              <a:t>Power BI feed</a:t>
            </a:r>
            <a:endParaRPr lang="en-US" sz="1300" dirty="0"/>
          </a:p>
        </p:txBody>
      </p:sp>
      <p:sp>
        <p:nvSpPr>
          <p:cNvPr id="51" name="Pill"/>
          <p:cNvSpPr txBox="1"/>
          <p:nvPr/>
        </p:nvSpPr>
        <p:spPr>
          <a:xfrm>
            <a:off x="10515600" y="4151376"/>
            <a:ext cx="1051560" cy="237744"/>
          </a:xfrm>
          <a:prstGeom prst="roundRect">
            <a:avLst>
              <a:gd name="adj" fmla="val 57692"/>
            </a:avLst>
          </a:prstGeom>
          <a:solidFill>
            <a:schemeClr val="accent5"/>
          </a:solidFill>
          <a:ln/>
        </p:spPr>
        <p:txBody>
          <a:bodyPr wrap="square" lIns="0" tIns="0" rIns="0" bIns="0" rtlCol="0" anchor="ctr"/>
          <a:lstStyle/>
          <a:p>
            <a:pPr algn="ctr" indent="0" marL="0">
              <a:buNone/>
            </a:pPr>
            <a:r>
              <a:rPr lang="en-US" sz="950" b="1" spc="200" kern="0" dirty="0">
                <a:solidFill>
                  <a:schemeClr val="tx1"/>
                </a:solidFill>
              </a:rPr>
              <a:t>POWER BI</a:t>
            </a:r>
            <a:endParaRPr lang="en-US" sz="950" dirty="0"/>
          </a:p>
        </p:txBody>
      </p:sp>
      <p:sp>
        <p:nvSpPr>
          <p:cNvPr id="52" name="Pipeline bar"/>
          <p:cNvSpPr txBox="1"/>
          <p:nvPr/>
        </p:nvSpPr>
        <p:spPr>
          <a:xfrm>
            <a:off x="548640" y="5376672"/>
            <a:ext cx="11094415" cy="457200"/>
          </a:xfrm>
          <a:prstGeom prst="roundRect">
            <a:avLst>
              <a:gd name="adj" fmla="val 20000"/>
            </a:avLst>
          </a:prstGeom>
          <a:solidFill>
            <a:schemeClr val="tx1"/>
          </a:solidFill>
          <a:ln/>
        </p:spPr>
        <p:txBody>
          <a:bodyPr wrap="square" lIns="254000" tIns="0" rIns="254000" bIns="0" rtlCol="0" anchor="ctr"/>
          <a:lstStyle/>
          <a:p>
            <a:pPr indent="0" marL="0">
              <a:buNone/>
            </a:pPr>
            <a:r>
              <a:rPr lang="en-US" sz="1400" b="1" dirty="0">
                <a:solidFill>
                  <a:schemeClr val="bg1"/>
                </a:solidFill>
              </a:rPr>
              <a:t>PIPELINE   Takes the year as a parameter, runs the notebooks in order, on a schedule</a:t>
            </a:r>
            <a:endParaRPr lang="en-US" sz="1400" dirty="0"/>
          </a:p>
        </p:txBody>
      </p:sp>
      <p:sp>
        <p:nvSpPr>
          <p:cNvPr id="53"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Illustrative decomposition for discussion. The Day Two lab uses a prepared workflow.</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MIGRATION STRATEGY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Five things that do not move one-to-one</a:t>
            </a:r>
            <a:endParaRPr lang="en-US" sz="3200" dirty="0"/>
          </a:p>
        </p:txBody>
      </p:sp>
      <p:sp>
        <p:nvSpPr>
          <p:cNvPr id="5" name="Gotcha Excel as a database"/>
          <p:cNvSpPr/>
          <p:nvPr/>
        </p:nvSpPr>
        <p:spPr>
          <a:xfrm>
            <a:off x="548640" y="1783080"/>
            <a:ext cx="3593592" cy="1874520"/>
          </a:xfrm>
          <a:prstGeom prst="roundRect">
            <a:avLst>
              <a:gd name="adj" fmla="val 5854"/>
            </a:avLst>
          </a:prstGeom>
          <a:solidFill>
            <a:schemeClr val="bg2"/>
          </a:solidFill>
          <a:ln/>
        </p:spPr>
      </p:sp>
      <p:sp>
        <p:nvSpPr>
          <p:cNvPr id="6" name="Excel as a database badge"/>
          <p:cNvSpPr/>
          <p:nvPr/>
        </p:nvSpPr>
        <p:spPr>
          <a:xfrm>
            <a:off x="749808" y="1947672"/>
            <a:ext cx="457200" cy="457200"/>
          </a:xfrm>
          <a:prstGeom prst="ellipse">
            <a:avLst/>
          </a:prstGeom>
          <a:solidFill>
            <a:schemeClr val="accent1"/>
          </a:solidFill>
          <a:ln/>
        </p:spPr>
      </p:sp>
      <p:pic>
        <p:nvPicPr>
          <p:cNvPr id="7" name="Image 0" descr="Excel as a database icon">    </p:cNvPr>
          <p:cNvPicPr>
            <a:picLocks noChangeAspect="1"/>
          </p:cNvPicPr>
          <p:nvPr/>
        </p:nvPicPr>
        <p:blipFill>
          <a:blip r:embed="rId1"/>
          <a:stretch>
            <a:fillRect/>
          </a:stretch>
        </p:blipFill>
        <p:spPr>
          <a:xfrm>
            <a:off x="864108" y="2061972"/>
            <a:ext cx="228600" cy="228600"/>
          </a:xfrm>
          <a:prstGeom prst="rect">
            <a:avLst/>
          </a:prstGeom>
        </p:spPr>
      </p:pic>
      <p:sp>
        <p:nvSpPr>
          <p:cNvPr id="8" name="Gotcha title"/>
          <p:cNvSpPr txBox="1"/>
          <p:nvPr/>
        </p:nvSpPr>
        <p:spPr>
          <a:xfrm>
            <a:off x="1325880" y="1947672"/>
            <a:ext cx="269748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Excel as a database</a:t>
            </a:r>
            <a:endParaRPr lang="en-US" sz="1600" dirty="0"/>
          </a:p>
        </p:txBody>
      </p:sp>
      <p:sp>
        <p:nvSpPr>
          <p:cNvPr id="9" name="Gotcha today"/>
          <p:cNvSpPr txBox="1"/>
          <p:nvPr/>
        </p:nvSpPr>
        <p:spPr>
          <a:xfrm>
            <a:off x="749808" y="2532888"/>
            <a:ext cx="3200400" cy="502920"/>
          </a:xfrm>
          <a:prstGeom prst="rect">
            <a:avLst/>
          </a:prstGeom>
          <a:noFill/>
          <a:ln/>
        </p:spPr>
        <p:txBody>
          <a:bodyPr wrap="square" lIns="0" tIns="0" rIns="0" bIns="0" rtlCol="0" anchor="t"/>
          <a:lstStyle/>
          <a:p>
            <a:pPr indent="0" marL="0">
              <a:buNone/>
            </a:pPr>
            <a:r>
              <a:rPr lang="en-US" sz="1200" b="1" dirty="0">
                <a:solidFill>
                  <a:schemeClr val="tx2"/>
                </a:solidFill>
              </a:rPr>
              <a:t>Today: </a:t>
            </a:r>
            <a:pPr indent="0" marL="0">
              <a:buNone/>
            </a:pPr>
            <a:r>
              <a:rPr lang="en-US" sz="1200" dirty="0">
                <a:solidFill>
                  <a:schemeClr val="tx1"/>
                </a:solidFill>
              </a:rPr>
              <a:t>The DST main file is both an input (mapping tabs) and an output.</a:t>
            </a:r>
            <a:endParaRPr lang="en-US" sz="1200" dirty="0"/>
          </a:p>
        </p:txBody>
      </p:sp>
      <p:sp>
        <p:nvSpPr>
          <p:cNvPr id="10" name="Gotcha fabric"/>
          <p:cNvSpPr txBox="1"/>
          <p:nvPr/>
        </p:nvSpPr>
        <p:spPr>
          <a:xfrm>
            <a:off x="749808" y="3063240"/>
            <a:ext cx="3200400" cy="548640"/>
          </a:xfrm>
          <a:prstGeom prst="rect">
            <a:avLst/>
          </a:prstGeom>
          <a:noFill/>
          <a:ln/>
        </p:spPr>
        <p:txBody>
          <a:bodyPr wrap="square" lIns="0" tIns="0" rIns="0" bIns="0" rtlCol="0" anchor="t"/>
          <a:lstStyle/>
          <a:p>
            <a:pPr indent="0" marL="0">
              <a:buNone/>
            </a:pPr>
            <a:r>
              <a:rPr lang="en-US" sz="1200" b="1" dirty="0">
                <a:solidFill>
                  <a:schemeClr val="accent2"/>
                </a:solidFill>
              </a:rPr>
              <a:t>Fabric: </a:t>
            </a:r>
            <a:pPr indent="0" marL="0">
              <a:buNone/>
            </a:pPr>
            <a:r>
              <a:rPr lang="en-US" sz="1200" dirty="0">
                <a:solidFill>
                  <a:schemeClr val="tx1"/>
                </a:solidFill>
              </a:rPr>
              <a:t>Mapping tables become Delta reference tables. Excel only presents results.</a:t>
            </a:r>
            <a:endParaRPr lang="en-US" sz="1200" dirty="0"/>
          </a:p>
        </p:txBody>
      </p:sp>
      <p:sp>
        <p:nvSpPr>
          <p:cNvPr id="11" name="Gotcha Hidden path rules"/>
          <p:cNvSpPr/>
          <p:nvPr/>
        </p:nvSpPr>
        <p:spPr>
          <a:xfrm>
            <a:off x="4297680" y="1783080"/>
            <a:ext cx="3593592" cy="1874520"/>
          </a:xfrm>
          <a:prstGeom prst="roundRect">
            <a:avLst>
              <a:gd name="adj" fmla="val 5854"/>
            </a:avLst>
          </a:prstGeom>
          <a:solidFill>
            <a:schemeClr val="bg2"/>
          </a:solidFill>
          <a:ln/>
        </p:spPr>
      </p:sp>
      <p:sp>
        <p:nvSpPr>
          <p:cNvPr id="12" name="Hidden path rules badge"/>
          <p:cNvSpPr/>
          <p:nvPr/>
        </p:nvSpPr>
        <p:spPr>
          <a:xfrm>
            <a:off x="4498848" y="1947672"/>
            <a:ext cx="457200" cy="457200"/>
          </a:xfrm>
          <a:prstGeom prst="ellipse">
            <a:avLst/>
          </a:prstGeom>
          <a:solidFill>
            <a:schemeClr val="accent1"/>
          </a:solidFill>
          <a:ln/>
        </p:spPr>
      </p:sp>
      <p:pic>
        <p:nvPicPr>
          <p:cNvPr id="13" name="Image 1" descr="Hidden path rules icon">    </p:cNvPr>
          <p:cNvPicPr>
            <a:picLocks noChangeAspect="1"/>
          </p:cNvPicPr>
          <p:nvPr/>
        </p:nvPicPr>
        <p:blipFill>
          <a:blip r:embed="rId2"/>
          <a:stretch>
            <a:fillRect/>
          </a:stretch>
        </p:blipFill>
        <p:spPr>
          <a:xfrm>
            <a:off x="4613148" y="2061972"/>
            <a:ext cx="228600" cy="228600"/>
          </a:xfrm>
          <a:prstGeom prst="rect">
            <a:avLst/>
          </a:prstGeom>
        </p:spPr>
      </p:pic>
      <p:sp>
        <p:nvSpPr>
          <p:cNvPr id="14" name="Gotcha title"/>
          <p:cNvSpPr txBox="1"/>
          <p:nvPr/>
        </p:nvSpPr>
        <p:spPr>
          <a:xfrm>
            <a:off x="5074920" y="1947672"/>
            <a:ext cx="269748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Hidden path rules</a:t>
            </a:r>
            <a:endParaRPr lang="en-US" sz="1600" dirty="0"/>
          </a:p>
        </p:txBody>
      </p:sp>
      <p:sp>
        <p:nvSpPr>
          <p:cNvPr id="15" name="Gotcha today"/>
          <p:cNvSpPr txBox="1"/>
          <p:nvPr/>
        </p:nvSpPr>
        <p:spPr>
          <a:xfrm>
            <a:off x="4498848" y="2532888"/>
            <a:ext cx="3200400" cy="502920"/>
          </a:xfrm>
          <a:prstGeom prst="rect">
            <a:avLst/>
          </a:prstGeom>
          <a:noFill/>
          <a:ln/>
        </p:spPr>
        <p:txBody>
          <a:bodyPr wrap="square" lIns="0" tIns="0" rIns="0" bIns="0" rtlCol="0" anchor="t"/>
          <a:lstStyle/>
          <a:p>
            <a:pPr indent="0" marL="0">
              <a:buNone/>
            </a:pPr>
            <a:r>
              <a:rPr lang="en-US" sz="1200" b="1" dirty="0">
                <a:solidFill>
                  <a:schemeClr val="tx2"/>
                </a:solidFill>
              </a:rPr>
              <a:t>Today: </a:t>
            </a:r>
            <a:pPr indent="0" marL="0">
              <a:buNone/>
            </a:pPr>
            <a:r>
              <a:rPr lang="en-US" sz="1200" dirty="0">
                <a:solidFill>
                  <a:schemeClr val="tx1"/>
                </a:solidFill>
              </a:rPr>
              <a:t>A folder named for the year and a file ending _DST_YYYY drive the run.</a:t>
            </a:r>
            <a:endParaRPr lang="en-US" sz="1200" dirty="0"/>
          </a:p>
        </p:txBody>
      </p:sp>
      <p:sp>
        <p:nvSpPr>
          <p:cNvPr id="16" name="Gotcha fabric"/>
          <p:cNvSpPr txBox="1"/>
          <p:nvPr/>
        </p:nvSpPr>
        <p:spPr>
          <a:xfrm>
            <a:off x="4498848" y="3063240"/>
            <a:ext cx="3200400" cy="548640"/>
          </a:xfrm>
          <a:prstGeom prst="rect">
            <a:avLst/>
          </a:prstGeom>
          <a:noFill/>
          <a:ln/>
        </p:spPr>
        <p:txBody>
          <a:bodyPr wrap="square" lIns="0" tIns="0" rIns="0" bIns="0" rtlCol="0" anchor="t"/>
          <a:lstStyle/>
          <a:p>
            <a:pPr indent="0" marL="0">
              <a:buNone/>
            </a:pPr>
            <a:r>
              <a:rPr lang="en-US" sz="1200" b="1" dirty="0">
                <a:solidFill>
                  <a:schemeClr val="accent2"/>
                </a:solidFill>
              </a:rPr>
              <a:t>Fabric: </a:t>
            </a:r>
            <a:pPr indent="0" marL="0">
              <a:buNone/>
            </a:pPr>
            <a:r>
              <a:rPr lang="en-US" sz="1200" dirty="0">
                <a:solidFill>
                  <a:schemeClr val="tx1"/>
                </a:solidFill>
              </a:rPr>
              <a:t>Make them parameters and lakehouse folders, with the rule written down.</a:t>
            </a:r>
            <a:endParaRPr lang="en-US" sz="1200" dirty="0"/>
          </a:p>
        </p:txBody>
      </p:sp>
      <p:sp>
        <p:nvSpPr>
          <p:cNvPr id="17" name="Gotcha Rules hidden in formulas"/>
          <p:cNvSpPr/>
          <p:nvPr/>
        </p:nvSpPr>
        <p:spPr>
          <a:xfrm>
            <a:off x="8046720" y="1783080"/>
            <a:ext cx="3593592" cy="1874520"/>
          </a:xfrm>
          <a:prstGeom prst="roundRect">
            <a:avLst>
              <a:gd name="adj" fmla="val 5854"/>
            </a:avLst>
          </a:prstGeom>
          <a:solidFill>
            <a:schemeClr val="bg2"/>
          </a:solidFill>
          <a:ln/>
        </p:spPr>
      </p:sp>
      <p:sp>
        <p:nvSpPr>
          <p:cNvPr id="18" name="Rules hidden in formulas badge"/>
          <p:cNvSpPr/>
          <p:nvPr/>
        </p:nvSpPr>
        <p:spPr>
          <a:xfrm>
            <a:off x="8247888" y="1947672"/>
            <a:ext cx="457200" cy="457200"/>
          </a:xfrm>
          <a:prstGeom prst="ellipse">
            <a:avLst/>
          </a:prstGeom>
          <a:solidFill>
            <a:schemeClr val="accent1"/>
          </a:solidFill>
          <a:ln/>
        </p:spPr>
      </p:sp>
      <p:pic>
        <p:nvPicPr>
          <p:cNvPr id="19" name="Image 2" descr="Rules hidden in formulas icon">    </p:cNvPr>
          <p:cNvPicPr>
            <a:picLocks noChangeAspect="1"/>
          </p:cNvPicPr>
          <p:nvPr/>
        </p:nvPicPr>
        <p:blipFill>
          <a:blip r:embed="rId3"/>
          <a:stretch>
            <a:fillRect/>
          </a:stretch>
        </p:blipFill>
        <p:spPr>
          <a:xfrm>
            <a:off x="8362188" y="2061972"/>
            <a:ext cx="228600" cy="228600"/>
          </a:xfrm>
          <a:prstGeom prst="rect">
            <a:avLst/>
          </a:prstGeom>
        </p:spPr>
      </p:pic>
      <p:sp>
        <p:nvSpPr>
          <p:cNvPr id="20" name="Gotcha title"/>
          <p:cNvSpPr txBox="1"/>
          <p:nvPr/>
        </p:nvSpPr>
        <p:spPr>
          <a:xfrm>
            <a:off x="8823960" y="1947672"/>
            <a:ext cx="269748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Rules hidden in formulas</a:t>
            </a:r>
            <a:endParaRPr lang="en-US" sz="1600" dirty="0"/>
          </a:p>
        </p:txBody>
      </p:sp>
      <p:sp>
        <p:nvSpPr>
          <p:cNvPr id="21" name="Gotcha today"/>
          <p:cNvSpPr txBox="1"/>
          <p:nvPr/>
        </p:nvSpPr>
        <p:spPr>
          <a:xfrm>
            <a:off x="8247888" y="2532888"/>
            <a:ext cx="3200400" cy="502920"/>
          </a:xfrm>
          <a:prstGeom prst="rect">
            <a:avLst/>
          </a:prstGeom>
          <a:noFill/>
          <a:ln/>
        </p:spPr>
        <p:txBody>
          <a:bodyPr wrap="square" lIns="0" tIns="0" rIns="0" bIns="0" rtlCol="0" anchor="t"/>
          <a:lstStyle/>
          <a:p>
            <a:pPr indent="0" marL="0">
              <a:buNone/>
            </a:pPr>
            <a:r>
              <a:rPr lang="en-US" sz="1200" b="1" dirty="0">
                <a:solidFill>
                  <a:schemeClr val="tx2"/>
                </a:solidFill>
              </a:rPr>
              <a:t>Today: </a:t>
            </a:r>
            <a:pPr indent="0" marL="0">
              <a:buNone/>
            </a:pPr>
            <a:r>
              <a:rPr lang="en-US" sz="1200" dirty="0">
                <a:solidFill>
                  <a:schemeClr val="tx1"/>
                </a:solidFill>
              </a:rPr>
              <a:t>Business Area 533 counts as company code 1002. Fiscal periods shift three months.</a:t>
            </a:r>
            <a:endParaRPr lang="en-US" sz="1200" dirty="0"/>
          </a:p>
        </p:txBody>
      </p:sp>
      <p:sp>
        <p:nvSpPr>
          <p:cNvPr id="22" name="Gotcha fabric"/>
          <p:cNvSpPr txBox="1"/>
          <p:nvPr/>
        </p:nvSpPr>
        <p:spPr>
          <a:xfrm>
            <a:off x="8247888" y="3063240"/>
            <a:ext cx="3200400" cy="548640"/>
          </a:xfrm>
          <a:prstGeom prst="rect">
            <a:avLst/>
          </a:prstGeom>
          <a:noFill/>
          <a:ln/>
        </p:spPr>
        <p:txBody>
          <a:bodyPr wrap="square" lIns="0" tIns="0" rIns="0" bIns="0" rtlCol="0" anchor="t"/>
          <a:lstStyle/>
          <a:p>
            <a:pPr indent="0" marL="0">
              <a:buNone/>
            </a:pPr>
            <a:r>
              <a:rPr lang="en-US" sz="1200" b="1" dirty="0">
                <a:solidFill>
                  <a:schemeClr val="accent2"/>
                </a:solidFill>
              </a:rPr>
              <a:t>Fabric: </a:t>
            </a:r>
            <a:pPr indent="0" marL="0">
              <a:buNone/>
            </a:pPr>
            <a:r>
              <a:rPr lang="en-US" sz="1200" dirty="0">
                <a:solidFill>
                  <a:schemeClr val="tx1"/>
                </a:solidFill>
              </a:rPr>
              <a:t>Write each rule as named, commented, tested code.</a:t>
            </a:r>
            <a:endParaRPr lang="en-US" sz="1200" dirty="0"/>
          </a:p>
        </p:txBody>
      </p:sp>
      <p:sp>
        <p:nvSpPr>
          <p:cNvPr id="23" name="Gotcha Formatted reports"/>
          <p:cNvSpPr/>
          <p:nvPr/>
        </p:nvSpPr>
        <p:spPr>
          <a:xfrm>
            <a:off x="548640" y="3794760"/>
            <a:ext cx="3593592" cy="1874520"/>
          </a:xfrm>
          <a:prstGeom prst="roundRect">
            <a:avLst>
              <a:gd name="adj" fmla="val 5854"/>
            </a:avLst>
          </a:prstGeom>
          <a:solidFill>
            <a:schemeClr val="bg2"/>
          </a:solidFill>
          <a:ln/>
        </p:spPr>
      </p:sp>
      <p:sp>
        <p:nvSpPr>
          <p:cNvPr id="24" name="Formatted reports badge"/>
          <p:cNvSpPr/>
          <p:nvPr/>
        </p:nvSpPr>
        <p:spPr>
          <a:xfrm>
            <a:off x="749808" y="3959352"/>
            <a:ext cx="457200" cy="457200"/>
          </a:xfrm>
          <a:prstGeom prst="ellipse">
            <a:avLst/>
          </a:prstGeom>
          <a:solidFill>
            <a:schemeClr val="accent1"/>
          </a:solidFill>
          <a:ln/>
        </p:spPr>
      </p:sp>
      <p:pic>
        <p:nvPicPr>
          <p:cNvPr id="25" name="Image 3" descr="Formatted reports icon">    </p:cNvPr>
          <p:cNvPicPr>
            <a:picLocks noChangeAspect="1"/>
          </p:cNvPicPr>
          <p:nvPr/>
        </p:nvPicPr>
        <p:blipFill>
          <a:blip r:embed="rId4"/>
          <a:stretch>
            <a:fillRect/>
          </a:stretch>
        </p:blipFill>
        <p:spPr>
          <a:xfrm>
            <a:off x="864108" y="4073652"/>
            <a:ext cx="228600" cy="228600"/>
          </a:xfrm>
          <a:prstGeom prst="rect">
            <a:avLst/>
          </a:prstGeom>
        </p:spPr>
      </p:pic>
      <p:sp>
        <p:nvSpPr>
          <p:cNvPr id="26" name="Gotcha title"/>
          <p:cNvSpPr txBox="1"/>
          <p:nvPr/>
        </p:nvSpPr>
        <p:spPr>
          <a:xfrm>
            <a:off x="1325880" y="3959352"/>
            <a:ext cx="269748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Formatted reports</a:t>
            </a:r>
            <a:endParaRPr lang="en-US" sz="1600" dirty="0"/>
          </a:p>
        </p:txBody>
      </p:sp>
      <p:sp>
        <p:nvSpPr>
          <p:cNvPr id="27" name="Gotcha today"/>
          <p:cNvSpPr txBox="1"/>
          <p:nvPr/>
        </p:nvSpPr>
        <p:spPr>
          <a:xfrm>
            <a:off x="749808" y="4544568"/>
            <a:ext cx="3200400" cy="502920"/>
          </a:xfrm>
          <a:prstGeom prst="rect">
            <a:avLst/>
          </a:prstGeom>
          <a:noFill/>
          <a:ln/>
        </p:spPr>
        <p:txBody>
          <a:bodyPr wrap="square" lIns="0" tIns="0" rIns="0" bIns="0" rtlCol="0" anchor="t"/>
          <a:lstStyle/>
          <a:p>
            <a:pPr indent="0" marL="0">
              <a:buNone/>
            </a:pPr>
            <a:r>
              <a:rPr lang="en-US" sz="1200" b="1" dirty="0">
                <a:solidFill>
                  <a:schemeClr val="tx2"/>
                </a:solidFill>
              </a:rPr>
              <a:t>Today: </a:t>
            </a:r>
            <a:pPr indent="0" marL="0">
              <a:buNone/>
            </a:pPr>
            <a:r>
              <a:rPr lang="en-US" sz="1200" dirty="0">
                <a:solidFill>
                  <a:schemeClr val="tx1"/>
                </a:solidFill>
              </a:rPr>
              <a:t>NatGeo builds a formatted report with Portfolio Composer tools.</a:t>
            </a:r>
            <a:endParaRPr lang="en-US" sz="1200" dirty="0"/>
          </a:p>
        </p:txBody>
      </p:sp>
      <p:sp>
        <p:nvSpPr>
          <p:cNvPr id="28" name="Gotcha fabric"/>
          <p:cNvSpPr txBox="1"/>
          <p:nvPr/>
        </p:nvSpPr>
        <p:spPr>
          <a:xfrm>
            <a:off x="749808" y="5074920"/>
            <a:ext cx="3200400" cy="548640"/>
          </a:xfrm>
          <a:prstGeom prst="rect">
            <a:avLst/>
          </a:prstGeom>
          <a:noFill/>
          <a:ln/>
        </p:spPr>
        <p:txBody>
          <a:bodyPr wrap="square" lIns="0" tIns="0" rIns="0" bIns="0" rtlCol="0" anchor="t"/>
          <a:lstStyle/>
          <a:p>
            <a:pPr indent="0" marL="0">
              <a:buNone/>
            </a:pPr>
            <a:r>
              <a:rPr lang="en-US" sz="1200" b="1" dirty="0">
                <a:solidFill>
                  <a:schemeClr val="accent2"/>
                </a:solidFill>
              </a:rPr>
              <a:t>Fabric: </a:t>
            </a:r>
            <a:pPr indent="0" marL="0">
              <a:buNone/>
            </a:pPr>
            <a:r>
              <a:rPr lang="en-US" sz="1200" dirty="0">
                <a:solidFill>
                  <a:schemeClr val="tx1"/>
                </a:solidFill>
              </a:rPr>
              <a:t>Rebuild as Power BI or Excel output. Decide case by case.</a:t>
            </a:r>
            <a:endParaRPr lang="en-US" sz="1200" dirty="0"/>
          </a:p>
        </p:txBody>
      </p:sp>
      <p:sp>
        <p:nvSpPr>
          <p:cNvPr id="29" name="Gotcha Debugging taps"/>
          <p:cNvSpPr/>
          <p:nvPr/>
        </p:nvSpPr>
        <p:spPr>
          <a:xfrm>
            <a:off x="4297680" y="3794760"/>
            <a:ext cx="3593592" cy="1874520"/>
          </a:xfrm>
          <a:prstGeom prst="roundRect">
            <a:avLst>
              <a:gd name="adj" fmla="val 5854"/>
            </a:avLst>
          </a:prstGeom>
          <a:solidFill>
            <a:schemeClr val="bg2"/>
          </a:solidFill>
          <a:ln/>
        </p:spPr>
      </p:sp>
      <p:sp>
        <p:nvSpPr>
          <p:cNvPr id="30" name="Debugging taps badge"/>
          <p:cNvSpPr/>
          <p:nvPr/>
        </p:nvSpPr>
        <p:spPr>
          <a:xfrm>
            <a:off x="4498848" y="3959352"/>
            <a:ext cx="457200" cy="457200"/>
          </a:xfrm>
          <a:prstGeom prst="ellipse">
            <a:avLst/>
          </a:prstGeom>
          <a:solidFill>
            <a:schemeClr val="accent1"/>
          </a:solidFill>
          <a:ln/>
        </p:spPr>
      </p:sp>
      <p:pic>
        <p:nvPicPr>
          <p:cNvPr id="31" name="Image 4" descr="Debugging taps icon">    </p:cNvPr>
          <p:cNvPicPr>
            <a:picLocks noChangeAspect="1"/>
          </p:cNvPicPr>
          <p:nvPr/>
        </p:nvPicPr>
        <p:blipFill>
          <a:blip r:embed="rId5"/>
          <a:stretch>
            <a:fillRect/>
          </a:stretch>
        </p:blipFill>
        <p:spPr>
          <a:xfrm>
            <a:off x="4613148" y="4073652"/>
            <a:ext cx="228600" cy="228600"/>
          </a:xfrm>
          <a:prstGeom prst="rect">
            <a:avLst/>
          </a:prstGeom>
        </p:spPr>
      </p:pic>
      <p:sp>
        <p:nvSpPr>
          <p:cNvPr id="32" name="Gotcha title"/>
          <p:cNvSpPr txBox="1"/>
          <p:nvPr/>
        </p:nvSpPr>
        <p:spPr>
          <a:xfrm>
            <a:off x="5074920" y="3959352"/>
            <a:ext cx="269748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Debugging taps</a:t>
            </a:r>
            <a:endParaRPr lang="en-US" sz="1600" dirty="0"/>
          </a:p>
        </p:txBody>
      </p:sp>
      <p:sp>
        <p:nvSpPr>
          <p:cNvPr id="33" name="Gotcha today"/>
          <p:cNvSpPr txBox="1"/>
          <p:nvPr/>
        </p:nvSpPr>
        <p:spPr>
          <a:xfrm>
            <a:off x="4498848" y="4544568"/>
            <a:ext cx="3200400" cy="502920"/>
          </a:xfrm>
          <a:prstGeom prst="rect">
            <a:avLst/>
          </a:prstGeom>
          <a:noFill/>
          <a:ln/>
        </p:spPr>
        <p:txBody>
          <a:bodyPr wrap="square" lIns="0" tIns="0" rIns="0" bIns="0" rtlCol="0" anchor="t"/>
          <a:lstStyle/>
          <a:p>
            <a:pPr indent="0" marL="0">
              <a:buNone/>
            </a:pPr>
            <a:r>
              <a:rPr lang="en-US" sz="1200" b="1" dirty="0">
                <a:solidFill>
                  <a:schemeClr val="tx2"/>
                </a:solidFill>
              </a:rPr>
              <a:t>Today: </a:t>
            </a:r>
            <a:pPr indent="0" marL="0">
              <a:buNone/>
            </a:pPr>
            <a:r>
              <a:rPr lang="en-US" sz="1200" dirty="0">
                <a:solidFill>
                  <a:schemeClr val="tx1"/>
                </a:solidFill>
              </a:rPr>
              <a:t>The trial balance macro has 188 Browse tools.</a:t>
            </a:r>
            <a:endParaRPr lang="en-US" sz="1200" dirty="0"/>
          </a:p>
        </p:txBody>
      </p:sp>
      <p:sp>
        <p:nvSpPr>
          <p:cNvPr id="34" name="Gotcha fabric"/>
          <p:cNvSpPr txBox="1"/>
          <p:nvPr/>
        </p:nvSpPr>
        <p:spPr>
          <a:xfrm>
            <a:off x="4498848" y="5074920"/>
            <a:ext cx="3200400" cy="548640"/>
          </a:xfrm>
          <a:prstGeom prst="rect">
            <a:avLst/>
          </a:prstGeom>
          <a:noFill/>
          <a:ln/>
        </p:spPr>
        <p:txBody>
          <a:bodyPr wrap="square" lIns="0" tIns="0" rIns="0" bIns="0" rtlCol="0" anchor="t"/>
          <a:lstStyle/>
          <a:p>
            <a:pPr indent="0" marL="0">
              <a:buNone/>
            </a:pPr>
            <a:r>
              <a:rPr lang="en-US" sz="1200" b="1" dirty="0">
                <a:solidFill>
                  <a:schemeClr val="accent2"/>
                </a:solidFill>
              </a:rPr>
              <a:t>Fabric: </a:t>
            </a:r>
            <a:pPr indent="0" marL="0">
              <a:buNone/>
            </a:pPr>
            <a:r>
              <a:rPr lang="en-US" sz="1200" dirty="0">
                <a:solidFill>
                  <a:schemeClr val="tx1"/>
                </a:solidFill>
              </a:rPr>
              <a:t>Replace them with checks that fail loudly: row counts and validation tables.</a:t>
            </a:r>
            <a:endParaRPr lang="en-US" sz="1200" dirty="0"/>
          </a:p>
        </p:txBody>
      </p:sp>
      <p:sp>
        <p:nvSpPr>
          <p:cNvPr id="35" name="Write it down card"/>
          <p:cNvSpPr/>
          <p:nvPr/>
        </p:nvSpPr>
        <p:spPr>
          <a:xfrm>
            <a:off x="8046720" y="3794760"/>
            <a:ext cx="3593592" cy="1874520"/>
          </a:xfrm>
          <a:prstGeom prst="roundRect">
            <a:avLst>
              <a:gd name="adj" fmla="val 5854"/>
            </a:avLst>
          </a:prstGeom>
          <a:solidFill>
            <a:schemeClr val="tx1"/>
          </a:solidFill>
          <a:ln/>
        </p:spPr>
      </p:sp>
      <p:sp>
        <p:nvSpPr>
          <p:cNvPr id="36" name="Write it down title"/>
          <p:cNvSpPr txBox="1"/>
          <p:nvPr/>
        </p:nvSpPr>
        <p:spPr>
          <a:xfrm>
            <a:off x="8302752" y="4069080"/>
            <a:ext cx="3108960" cy="41148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Write the rule down</a:t>
            </a:r>
            <a:endParaRPr lang="en-US" sz="2200" dirty="0"/>
          </a:p>
        </p:txBody>
      </p:sp>
      <p:sp>
        <p:nvSpPr>
          <p:cNvPr id="37" name="Write it down text"/>
          <p:cNvSpPr txBox="1"/>
          <p:nvPr/>
        </p:nvSpPr>
        <p:spPr>
          <a:xfrm>
            <a:off x="8302752" y="4663440"/>
            <a:ext cx="3108960" cy="822960"/>
          </a:xfrm>
          <a:prstGeom prst="rect">
            <a:avLst/>
          </a:prstGeom>
          <a:noFill/>
          <a:ln/>
        </p:spPr>
        <p:txBody>
          <a:bodyPr wrap="square" lIns="0" tIns="0" rIns="0" bIns="0" rtlCol="0" anchor="t"/>
          <a:lstStyle/>
          <a:p>
            <a:pPr indent="0" marL="0">
              <a:buNone/>
            </a:pPr>
            <a:r>
              <a:rPr lang="en-US" sz="1600" i="1" dirty="0">
                <a:solidFill>
                  <a:schemeClr val="bg1"/>
                </a:solidFill>
              </a:rPr>
              <a:t>Every hidden rule you find is a test you will need to write.</a:t>
            </a:r>
            <a:endParaRPr lang="en-US" sz="1600" dirty="0"/>
          </a:p>
        </p:txBody>
      </p:sp>
      <p:sp>
        <p:nvSpPr>
          <p:cNvPr id="38" name="Footnote"/>
          <p:cNvSpPr txBox="1"/>
          <p:nvPr/>
        </p:nvSpPr>
        <p:spPr>
          <a:xfrm>
            <a:off x="548640" y="57607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Sources: DST Domestic v1.2 and its documentation, NatGeo Categorization (reduced v02), Trial Balance HANA macro.</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MIGRATION STRATEGY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Discussion: which workflow moves first?</a:t>
            </a:r>
            <a:endParaRPr lang="en-US" sz="3200" dirty="0"/>
          </a:p>
        </p:txBody>
      </p:sp>
      <p:sp>
        <p:nvSpPr>
          <p:cNvPr id="5" name="Pill"/>
          <p:cNvSpPr txBox="1"/>
          <p:nvPr/>
        </p:nvSpPr>
        <p:spPr>
          <a:xfrm>
            <a:off x="9354312"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DISCUSS · 10 MIN</a:t>
            </a:r>
            <a:endParaRPr lang="en-US" sz="1100" dirty="0"/>
          </a:p>
        </p:txBody>
      </p:sp>
      <p:graphicFrame>
        <p:nvGraphicFramePr>
          <p:cNvPr id="20" name="Workflow comparison table"/>
          <p:cNvGraphicFramePr>
            <a:graphicFrameLocks noGrp="1"/>
          </p:cNvGraphicFramePr>
          <p:nvPr>
            <p:extLst>
              <p:ext uri="{D42A27DB-BD31-4B8C-83A1-F6EECF244321}">
                <p14:modId xmlns:p14="http://schemas.microsoft.com/office/powerpoint/2010/main" val="1579011935"/>
              </p:ext>
            </p:extLst>
          </p:nvPr>
        </p:nvGraphicFramePr>
        <p:xfrm>
          <a:off x="548640" y="1783080"/>
          <a:ext cx="7589520" cy="914400"/>
        </p:xfrm>
        <a:graphic>
          <a:graphicData uri="http://schemas.openxmlformats.org/drawingml/2006/table">
            <a:tbl>
              <a:tblPr/>
              <a:tblGrid>
                <a:gridCol w="2286000"/>
                <a:gridCol w="1691640"/>
                <a:gridCol w="1783080"/>
                <a:gridCol w="1828800"/>
              </a:tblGrid>
              <a:tr h="384048">
                <a:tc>
                  <a:txBody>
                    <a:bodyPr/>
                    <a:lstStyle/>
                    <a:p>
                      <a:pPr indent="0" marL="0">
                        <a:buNone/>
                      </a:pPr>
                      <a:r>
                        <a:rPr lang="en-US" sz="1300" b="1" dirty="0">
                          <a:solidFill>
                            <a:schemeClr val="bg1"/>
                          </a:solidFill>
                        </a:rPr>
                        <a:t>Measure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DST Domestic</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NatGeo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Trial balance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48640">
                <a:tc>
                  <a:txBody>
                    <a:bodyPr/>
                    <a:lstStyle/>
                    <a:p>
                      <a:pPr indent="0" marL="0">
                        <a:buNone/>
                      </a:pPr>
                      <a:r>
                        <a:rPr lang="en-US" sz="1300" b="1" dirty="0">
                          <a:solidFill>
                            <a:schemeClr val="tx1"/>
                          </a:solidFill>
                        </a:rPr>
                        <a:t>Data-logic tools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99</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149</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219</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b="1" dirty="0">
                          <a:solidFill>
                            <a:schemeClr val="tx1"/>
                          </a:solidFill>
                        </a:rPr>
                        <a:t>Formula tools (rules)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22</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116</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48</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300" b="1" dirty="0">
                          <a:solidFill>
                            <a:schemeClr val="tx1"/>
                          </a:solidFill>
                        </a:rPr>
                        <a:t>Joins and unions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14</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6</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37</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b="1" dirty="0">
                          <a:solidFill>
                            <a:schemeClr val="tx1"/>
                          </a:solidFill>
                        </a:rPr>
                        <a:t>Browse tools (debug taps)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3</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3</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188</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1097280">
                <a:tc>
                  <a:txBody>
                    <a:bodyPr/>
                    <a:lstStyle/>
                    <a:p>
                      <a:pPr indent="0" marL="0">
                        <a:buNone/>
                      </a:pPr>
                      <a:r>
                        <a:rPr lang="en-US" sz="1300" b="1" dirty="0">
                          <a:solidFill>
                            <a:schemeClr val="tx1"/>
                          </a:solidFill>
                        </a:rPr>
                        <a:t>Main risk</a:t>
                      </a:r>
                      <a:endParaRPr lang="en-US" sz="130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12M+ rows. Excel as a database</a:t>
                      </a:r>
                      <a:endParaRPr lang="en-US" sz="130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116 hand-written rules. Report formatting</a:t>
                      </a:r>
                      <a:endParaRPr lang="en-US" sz="130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Validation gating. Period splits</a:t>
                      </a:r>
                      <a:endParaRPr lang="en-US" sz="1300" dirty="0"/>
                    </a:p>
                  </a:txBody>
                  <a:tcPr marL="109728" marR="109728" marT="36576" marB="36576" anchor="t">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7" name="Discussion prompts card"/>
          <p:cNvSpPr/>
          <p:nvPr/>
        </p:nvSpPr>
        <p:spPr>
          <a:xfrm>
            <a:off x="8412480" y="1783080"/>
            <a:ext cx="3227832" cy="3675888"/>
          </a:xfrm>
          <a:prstGeom prst="roundRect">
            <a:avLst>
              <a:gd name="adj" fmla="val 3399"/>
            </a:avLst>
          </a:prstGeom>
          <a:solidFill>
            <a:schemeClr val="accent3">
              <a:alpha val="22000"/>
            </a:schemeClr>
          </a:solidFill>
          <a:ln/>
        </p:spPr>
      </p:sp>
      <p:sp>
        <p:nvSpPr>
          <p:cNvPr id="8" name="Prompts title"/>
          <p:cNvSpPr txBox="1"/>
          <p:nvPr/>
        </p:nvSpPr>
        <p:spPr>
          <a:xfrm>
            <a:off x="8641080" y="1920240"/>
            <a:ext cx="283464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Talk it through</a:t>
            </a:r>
            <a:endParaRPr lang="en-US" sz="1700" dirty="0"/>
          </a:p>
        </p:txBody>
      </p:sp>
      <p:sp>
        <p:nvSpPr>
          <p:cNvPr id="9" name="Prompt chip 1"/>
          <p:cNvSpPr/>
          <p:nvPr/>
        </p:nvSpPr>
        <p:spPr>
          <a:xfrm>
            <a:off x="8641080" y="2496312"/>
            <a:ext cx="384048" cy="384048"/>
          </a:xfrm>
          <a:prstGeom prst="ellipse">
            <a:avLst/>
          </a:prstGeom>
          <a:solidFill>
            <a:schemeClr val="tx1"/>
          </a:solidFill>
          <a:ln/>
        </p:spPr>
      </p:sp>
      <p:sp>
        <p:nvSpPr>
          <p:cNvPr id="10" name="Prompt number"/>
          <p:cNvSpPr txBox="1"/>
          <p:nvPr/>
        </p:nvSpPr>
        <p:spPr>
          <a:xfrm>
            <a:off x="8641080" y="24963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Prompt text"/>
          <p:cNvSpPr txBox="1"/>
          <p:nvPr/>
        </p:nvSpPr>
        <p:spPr>
          <a:xfrm>
            <a:off x="9144000" y="2468880"/>
            <a:ext cx="2331720" cy="731520"/>
          </a:xfrm>
          <a:prstGeom prst="rect">
            <a:avLst/>
          </a:prstGeom>
          <a:noFill/>
          <a:ln/>
        </p:spPr>
        <p:txBody>
          <a:bodyPr wrap="square" lIns="0" tIns="0" rIns="0" bIns="0" rtlCol="0" anchor="t"/>
          <a:lstStyle/>
          <a:p>
            <a:pPr indent="0" marL="0">
              <a:buNone/>
            </a:pPr>
            <a:r>
              <a:rPr lang="en-US" sz="1400" dirty="0">
                <a:solidFill>
                  <a:schemeClr val="tx1"/>
                </a:solidFill>
              </a:rPr>
              <a:t>Which would you migrate first, and why?</a:t>
            </a:r>
            <a:endParaRPr lang="en-US" sz="1400" dirty="0"/>
          </a:p>
        </p:txBody>
      </p:sp>
      <p:sp>
        <p:nvSpPr>
          <p:cNvPr id="12" name="Prompt chip 2"/>
          <p:cNvSpPr/>
          <p:nvPr/>
        </p:nvSpPr>
        <p:spPr>
          <a:xfrm>
            <a:off x="8641080" y="3456432"/>
            <a:ext cx="384048" cy="384048"/>
          </a:xfrm>
          <a:prstGeom prst="ellipse">
            <a:avLst/>
          </a:prstGeom>
          <a:solidFill>
            <a:schemeClr val="tx1"/>
          </a:solidFill>
          <a:ln/>
        </p:spPr>
      </p:sp>
      <p:sp>
        <p:nvSpPr>
          <p:cNvPr id="13" name="Prompt number"/>
          <p:cNvSpPr txBox="1"/>
          <p:nvPr/>
        </p:nvSpPr>
        <p:spPr>
          <a:xfrm>
            <a:off x="8641080" y="34564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Prompt text"/>
          <p:cNvSpPr txBox="1"/>
          <p:nvPr/>
        </p:nvSpPr>
        <p:spPr>
          <a:xfrm>
            <a:off x="9144000" y="3429000"/>
            <a:ext cx="2331720" cy="731520"/>
          </a:xfrm>
          <a:prstGeom prst="rect">
            <a:avLst/>
          </a:prstGeom>
          <a:noFill/>
          <a:ln/>
        </p:spPr>
        <p:txBody>
          <a:bodyPr wrap="square" lIns="0" tIns="0" rIns="0" bIns="0" rtlCol="0" anchor="t"/>
          <a:lstStyle/>
          <a:p>
            <a:pPr indent="0" marL="0">
              <a:buNone/>
            </a:pPr>
            <a:r>
              <a:rPr lang="en-US" sz="1400" dirty="0">
                <a:solidFill>
                  <a:schemeClr val="tx1"/>
                </a:solidFill>
              </a:rPr>
              <a:t>Which hides the most business rules?</a:t>
            </a:r>
            <a:endParaRPr lang="en-US" sz="1400" dirty="0"/>
          </a:p>
        </p:txBody>
      </p:sp>
      <p:sp>
        <p:nvSpPr>
          <p:cNvPr id="15" name="Prompt chip 3"/>
          <p:cNvSpPr/>
          <p:nvPr/>
        </p:nvSpPr>
        <p:spPr>
          <a:xfrm>
            <a:off x="8641080" y="4416552"/>
            <a:ext cx="384048" cy="384048"/>
          </a:xfrm>
          <a:prstGeom prst="ellipse">
            <a:avLst/>
          </a:prstGeom>
          <a:solidFill>
            <a:schemeClr val="tx1"/>
          </a:solidFill>
          <a:ln/>
        </p:spPr>
      </p:sp>
      <p:sp>
        <p:nvSpPr>
          <p:cNvPr id="16" name="Prompt number"/>
          <p:cNvSpPr txBox="1"/>
          <p:nvPr/>
        </p:nvSpPr>
        <p:spPr>
          <a:xfrm>
            <a:off x="8641080" y="4416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Prompt text"/>
          <p:cNvSpPr txBox="1"/>
          <p:nvPr/>
        </p:nvSpPr>
        <p:spPr>
          <a:xfrm>
            <a:off x="9144000" y="4389120"/>
            <a:ext cx="2331720" cy="731520"/>
          </a:xfrm>
          <a:prstGeom prst="rect">
            <a:avLst/>
          </a:prstGeom>
          <a:noFill/>
          <a:ln/>
        </p:spPr>
        <p:txBody>
          <a:bodyPr wrap="square" lIns="0" tIns="0" rIns="0" bIns="0" rtlCol="0" anchor="t"/>
          <a:lstStyle/>
          <a:p>
            <a:pPr indent="0" marL="0">
              <a:buNone/>
            </a:pPr>
            <a:r>
              <a:rPr lang="en-US" sz="1400" dirty="0">
                <a:solidFill>
                  <a:schemeClr val="tx1"/>
                </a:solidFill>
              </a:rPr>
              <a:t>What would you confirm with the business before starting?</a:t>
            </a:r>
            <a:endParaRPr lang="en-US" sz="1400" dirty="0"/>
          </a:p>
        </p:txBody>
      </p:sp>
      <p:sp>
        <p:nvSpPr>
          <p:cNvPr id="18" name="Footnote"/>
          <p:cNvSpPr txBox="1"/>
          <p:nvPr/>
        </p:nvSpPr>
        <p:spPr>
          <a:xfrm>
            <a:off x="548640" y="56235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Counts: data-logic tools only. Excludes comments, containers, interface tools and externally referenced macros.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LAKEHOUSE AND ONELAKE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OneLake: one logical lake for the whole tenant</a:t>
            </a:r>
            <a:endParaRPr lang="en-US" sz="3200" dirty="0"/>
          </a:p>
        </p:txBody>
      </p:sp>
      <p:sp>
        <p:nvSpPr>
          <p:cNvPr id="5" name="OneLake outer box"/>
          <p:cNvSpPr/>
          <p:nvPr/>
        </p:nvSpPr>
        <p:spPr>
          <a:xfrm>
            <a:off x="548640" y="1783080"/>
            <a:ext cx="6172200" cy="3657600"/>
          </a:xfrm>
          <a:prstGeom prst="roundRect">
            <a:avLst>
              <a:gd name="adj" fmla="val 3750"/>
            </a:avLst>
          </a:prstGeom>
          <a:solidFill>
            <a:schemeClr val="accent1">
              <a:alpha val="10000"/>
            </a:schemeClr>
          </a:solidFill>
          <a:ln w="15875">
            <a:solidFill>
              <a:schemeClr val="accent1">
                <a:alpha val="50000"/>
              </a:schemeClr>
            </a:solidFill>
            <a:prstDash val="solid"/>
          </a:ln>
        </p:spPr>
      </p:sp>
      <p:sp>
        <p:nvSpPr>
          <p:cNvPr id="6" name="OneLake label"/>
          <p:cNvSpPr txBox="1"/>
          <p:nvPr/>
        </p:nvSpPr>
        <p:spPr>
          <a:xfrm>
            <a:off x="777240" y="1892808"/>
            <a:ext cx="457200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ONELAKE  ·  ONE PER TENANT</a:t>
            </a:r>
            <a:endParaRPr lang="en-US" sz="1100" dirty="0"/>
          </a:p>
        </p:txBody>
      </p:sp>
      <p:sp>
        <p:nvSpPr>
          <p:cNvPr id="7" name="Workspace A card"/>
          <p:cNvSpPr/>
          <p:nvPr/>
        </p:nvSpPr>
        <p:spPr>
          <a:xfrm>
            <a:off x="731520" y="2286000"/>
            <a:ext cx="2606040" cy="2971800"/>
          </a:xfrm>
          <a:prstGeom prst="roundRect">
            <a:avLst>
              <a:gd name="adj" fmla="val 421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8" name="Workspace label"/>
          <p:cNvSpPr txBox="1"/>
          <p:nvPr/>
        </p:nvSpPr>
        <p:spPr>
          <a:xfrm>
            <a:off x="914400" y="2395728"/>
            <a:ext cx="2194560" cy="274320"/>
          </a:xfrm>
          <a:prstGeom prst="rect">
            <a:avLst/>
          </a:prstGeom>
          <a:noFill/>
          <a:ln/>
        </p:spPr>
        <p:txBody>
          <a:bodyPr wrap="square" lIns="0" tIns="0" rIns="0" bIns="0" rtlCol="0" anchor="t"/>
          <a:lstStyle/>
          <a:p>
            <a:pPr indent="0" marL="0">
              <a:buNone/>
            </a:pPr>
            <a:r>
              <a:rPr lang="en-US" sz="1400" b="1" dirty="0">
                <a:solidFill>
                  <a:schemeClr val="tx1"/>
                </a:solidFill>
              </a:rPr>
              <a:t>Workspace A</a:t>
            </a:r>
            <a:endParaRPr lang="en-US" sz="1400" dirty="0"/>
          </a:p>
        </p:txBody>
      </p:sp>
      <p:sp>
        <p:nvSpPr>
          <p:cNvPr id="9" name="Lakehouse box 1"/>
          <p:cNvSpPr/>
          <p:nvPr/>
        </p:nvSpPr>
        <p:spPr>
          <a:xfrm>
            <a:off x="868680" y="2743200"/>
            <a:ext cx="2331720" cy="2377440"/>
          </a:xfrm>
          <a:prstGeom prst="roundRect">
            <a:avLst>
              <a:gd name="adj" fmla="val 4706"/>
            </a:avLst>
          </a:prstGeom>
          <a:solidFill>
            <a:schemeClr val="bg2"/>
          </a:solidFill>
          <a:ln/>
        </p:spPr>
      </p:sp>
      <p:sp>
        <p:nvSpPr>
          <p:cNvPr id="10" name="Lakehouse label"/>
          <p:cNvSpPr txBox="1"/>
          <p:nvPr/>
        </p:nvSpPr>
        <p:spPr>
          <a:xfrm>
            <a:off x="1005840" y="2834640"/>
            <a:ext cx="2011680" cy="201168"/>
          </a:xfrm>
          <a:prstGeom prst="rect">
            <a:avLst/>
          </a:prstGeom>
          <a:noFill/>
          <a:ln/>
        </p:spPr>
        <p:txBody>
          <a:bodyPr wrap="square" lIns="0" tIns="0" rIns="0" bIns="0" rtlCol="0" anchor="t"/>
          <a:lstStyle/>
          <a:p>
            <a:pPr indent="0" marL="0">
              <a:buNone/>
            </a:pPr>
            <a:r>
              <a:rPr lang="en-US" sz="1000" b="1" spc="200" kern="0" dirty="0">
                <a:solidFill>
                  <a:schemeClr val="accent2"/>
                </a:solidFill>
              </a:rPr>
              <a:t>LAKEHOUSE</a:t>
            </a:r>
            <a:endParaRPr lang="en-US" sz="1000" dirty="0"/>
          </a:p>
        </p:txBody>
      </p:sp>
      <p:sp>
        <p:nvSpPr>
          <p:cNvPr id="11" name="Row Files"/>
          <p:cNvSpPr/>
          <p:nvPr/>
        </p:nvSpPr>
        <p:spPr>
          <a:xfrm>
            <a:off x="1005840" y="3127248"/>
            <a:ext cx="2057400" cy="438912"/>
          </a:xfrm>
          <a:prstGeom prst="roundRect">
            <a:avLst>
              <a:gd name="adj" fmla="val 12500"/>
            </a:avLst>
          </a:prstGeom>
          <a:solidFill>
            <a:schemeClr val="bg1"/>
          </a:solidFill>
          <a:ln/>
        </p:spPr>
      </p:sp>
      <p:sp>
        <p:nvSpPr>
          <p:cNvPr id="12" name="Row label"/>
          <p:cNvSpPr txBox="1"/>
          <p:nvPr/>
        </p:nvSpPr>
        <p:spPr>
          <a:xfrm>
            <a:off x="1143000" y="3127248"/>
            <a:ext cx="1828800" cy="438912"/>
          </a:xfrm>
          <a:prstGeom prst="rect">
            <a:avLst/>
          </a:prstGeom>
          <a:noFill/>
          <a:ln/>
        </p:spPr>
        <p:txBody>
          <a:bodyPr wrap="square" lIns="0" tIns="0" rIns="0" bIns="0" rtlCol="0" anchor="ctr"/>
          <a:lstStyle/>
          <a:p>
            <a:pPr indent="0" marL="0">
              <a:buNone/>
            </a:pPr>
            <a:r>
              <a:rPr lang="en-US" sz="1300" b="1" dirty="0">
                <a:solidFill>
                  <a:schemeClr val="tx1"/>
                </a:solidFill>
              </a:rPr>
              <a:t>Files</a:t>
            </a:r>
            <a:endParaRPr lang="en-US" sz="1300" dirty="0"/>
          </a:p>
        </p:txBody>
      </p:sp>
      <p:sp>
        <p:nvSpPr>
          <p:cNvPr id="13" name="Row Tables"/>
          <p:cNvSpPr/>
          <p:nvPr/>
        </p:nvSpPr>
        <p:spPr>
          <a:xfrm>
            <a:off x="1005840" y="3694176"/>
            <a:ext cx="2057400" cy="438912"/>
          </a:xfrm>
          <a:prstGeom prst="roundRect">
            <a:avLst>
              <a:gd name="adj" fmla="val 12500"/>
            </a:avLst>
          </a:prstGeom>
          <a:solidFill>
            <a:schemeClr val="bg1"/>
          </a:solidFill>
          <a:ln/>
        </p:spPr>
      </p:sp>
      <p:sp>
        <p:nvSpPr>
          <p:cNvPr id="14" name="Row label"/>
          <p:cNvSpPr txBox="1"/>
          <p:nvPr/>
        </p:nvSpPr>
        <p:spPr>
          <a:xfrm>
            <a:off x="1143000" y="3694176"/>
            <a:ext cx="1828800" cy="438912"/>
          </a:xfrm>
          <a:prstGeom prst="rect">
            <a:avLst/>
          </a:prstGeom>
          <a:noFill/>
          <a:ln/>
        </p:spPr>
        <p:txBody>
          <a:bodyPr wrap="square" lIns="0" tIns="0" rIns="0" bIns="0" rtlCol="0" anchor="ctr"/>
          <a:lstStyle/>
          <a:p>
            <a:pPr indent="0" marL="0">
              <a:buNone/>
            </a:pPr>
            <a:r>
              <a:rPr lang="en-US" sz="1300" b="1" dirty="0">
                <a:solidFill>
                  <a:schemeClr val="tx1"/>
                </a:solidFill>
              </a:rPr>
              <a:t>Tables</a:t>
            </a:r>
            <a:endParaRPr lang="en-US" sz="1300" dirty="0"/>
          </a:p>
        </p:txBody>
      </p:sp>
      <p:sp>
        <p:nvSpPr>
          <p:cNvPr id="15" name="Row gold_dst_apportioned"/>
          <p:cNvSpPr/>
          <p:nvPr/>
        </p:nvSpPr>
        <p:spPr>
          <a:xfrm>
            <a:off x="1005840" y="4261104"/>
            <a:ext cx="2057400" cy="438912"/>
          </a:xfrm>
          <a:prstGeom prst="roundRect">
            <a:avLst>
              <a:gd name="adj" fmla="val 12500"/>
            </a:avLst>
          </a:prstGeom>
          <a:solidFill>
            <a:schemeClr val="accent2">
              <a:alpha val="20000"/>
            </a:schemeClr>
          </a:solidFill>
          <a:ln/>
        </p:spPr>
      </p:sp>
      <p:sp>
        <p:nvSpPr>
          <p:cNvPr id="16" name="Row label"/>
          <p:cNvSpPr txBox="1"/>
          <p:nvPr/>
        </p:nvSpPr>
        <p:spPr>
          <a:xfrm>
            <a:off x="1143000" y="4261104"/>
            <a:ext cx="1828800" cy="438912"/>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gold_dst_apportioned</a:t>
            </a:r>
            <a:endParaRPr lang="en-US" sz="1100" dirty="0"/>
          </a:p>
        </p:txBody>
      </p:sp>
      <p:sp>
        <p:nvSpPr>
          <p:cNvPr id="17" name="Workspace B card"/>
          <p:cNvSpPr/>
          <p:nvPr/>
        </p:nvSpPr>
        <p:spPr>
          <a:xfrm>
            <a:off x="3931920" y="2286000"/>
            <a:ext cx="2606040" cy="2971800"/>
          </a:xfrm>
          <a:prstGeom prst="roundRect">
            <a:avLst>
              <a:gd name="adj" fmla="val 4211"/>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8" name="Workspace label"/>
          <p:cNvSpPr txBox="1"/>
          <p:nvPr/>
        </p:nvSpPr>
        <p:spPr>
          <a:xfrm>
            <a:off x="4114800" y="2395728"/>
            <a:ext cx="2194560" cy="274320"/>
          </a:xfrm>
          <a:prstGeom prst="rect">
            <a:avLst/>
          </a:prstGeom>
          <a:noFill/>
          <a:ln/>
        </p:spPr>
        <p:txBody>
          <a:bodyPr wrap="square" lIns="0" tIns="0" rIns="0" bIns="0" rtlCol="0" anchor="t"/>
          <a:lstStyle/>
          <a:p>
            <a:pPr indent="0" marL="0">
              <a:buNone/>
            </a:pPr>
            <a:r>
              <a:rPr lang="en-US" sz="1400" b="1" dirty="0">
                <a:solidFill>
                  <a:schemeClr val="tx1"/>
                </a:solidFill>
              </a:rPr>
              <a:t>Workspace B</a:t>
            </a:r>
            <a:endParaRPr lang="en-US" sz="1400" dirty="0"/>
          </a:p>
        </p:txBody>
      </p:sp>
      <p:sp>
        <p:nvSpPr>
          <p:cNvPr id="19" name="Lakehouse box 2"/>
          <p:cNvSpPr/>
          <p:nvPr/>
        </p:nvSpPr>
        <p:spPr>
          <a:xfrm>
            <a:off x="4069080" y="2743200"/>
            <a:ext cx="2331720" cy="2377440"/>
          </a:xfrm>
          <a:prstGeom prst="roundRect">
            <a:avLst>
              <a:gd name="adj" fmla="val 4706"/>
            </a:avLst>
          </a:prstGeom>
          <a:solidFill>
            <a:schemeClr val="bg2"/>
          </a:solidFill>
          <a:ln/>
        </p:spPr>
      </p:sp>
      <p:sp>
        <p:nvSpPr>
          <p:cNvPr id="20" name="Lakehouse label"/>
          <p:cNvSpPr txBox="1"/>
          <p:nvPr/>
        </p:nvSpPr>
        <p:spPr>
          <a:xfrm>
            <a:off x="4206240" y="2834640"/>
            <a:ext cx="2011680" cy="201168"/>
          </a:xfrm>
          <a:prstGeom prst="rect">
            <a:avLst/>
          </a:prstGeom>
          <a:noFill/>
          <a:ln/>
        </p:spPr>
        <p:txBody>
          <a:bodyPr wrap="square" lIns="0" tIns="0" rIns="0" bIns="0" rtlCol="0" anchor="t"/>
          <a:lstStyle/>
          <a:p>
            <a:pPr indent="0" marL="0">
              <a:buNone/>
            </a:pPr>
            <a:r>
              <a:rPr lang="en-US" sz="1000" b="1" spc="200" kern="0" dirty="0">
                <a:solidFill>
                  <a:schemeClr val="accent2"/>
                </a:solidFill>
              </a:rPr>
              <a:t>LAKEHOUSE</a:t>
            </a:r>
            <a:endParaRPr lang="en-US" sz="1000" dirty="0"/>
          </a:p>
        </p:txBody>
      </p:sp>
      <p:sp>
        <p:nvSpPr>
          <p:cNvPr id="21" name="Row Files"/>
          <p:cNvSpPr/>
          <p:nvPr/>
        </p:nvSpPr>
        <p:spPr>
          <a:xfrm>
            <a:off x="4206240" y="3127248"/>
            <a:ext cx="2057400" cy="438912"/>
          </a:xfrm>
          <a:prstGeom prst="roundRect">
            <a:avLst>
              <a:gd name="adj" fmla="val 12500"/>
            </a:avLst>
          </a:prstGeom>
          <a:solidFill>
            <a:schemeClr val="bg1"/>
          </a:solidFill>
          <a:ln/>
        </p:spPr>
      </p:sp>
      <p:sp>
        <p:nvSpPr>
          <p:cNvPr id="22" name="Row label"/>
          <p:cNvSpPr txBox="1"/>
          <p:nvPr/>
        </p:nvSpPr>
        <p:spPr>
          <a:xfrm>
            <a:off x="4343400" y="3127248"/>
            <a:ext cx="1828800" cy="438912"/>
          </a:xfrm>
          <a:prstGeom prst="rect">
            <a:avLst/>
          </a:prstGeom>
          <a:noFill/>
          <a:ln/>
        </p:spPr>
        <p:txBody>
          <a:bodyPr wrap="square" lIns="0" tIns="0" rIns="0" bIns="0" rtlCol="0" anchor="ctr"/>
          <a:lstStyle/>
          <a:p>
            <a:pPr indent="0" marL="0">
              <a:buNone/>
            </a:pPr>
            <a:r>
              <a:rPr lang="en-US" sz="1300" b="1" dirty="0">
                <a:solidFill>
                  <a:schemeClr val="tx1"/>
                </a:solidFill>
              </a:rPr>
              <a:t>Files</a:t>
            </a:r>
            <a:endParaRPr lang="en-US" sz="1300" dirty="0"/>
          </a:p>
        </p:txBody>
      </p:sp>
      <p:sp>
        <p:nvSpPr>
          <p:cNvPr id="23" name="Row Tables"/>
          <p:cNvSpPr/>
          <p:nvPr/>
        </p:nvSpPr>
        <p:spPr>
          <a:xfrm>
            <a:off x="4206240" y="3694176"/>
            <a:ext cx="2057400" cy="438912"/>
          </a:xfrm>
          <a:prstGeom prst="roundRect">
            <a:avLst>
              <a:gd name="adj" fmla="val 12500"/>
            </a:avLst>
          </a:prstGeom>
          <a:solidFill>
            <a:schemeClr val="bg1"/>
          </a:solidFill>
          <a:ln/>
        </p:spPr>
      </p:sp>
      <p:sp>
        <p:nvSpPr>
          <p:cNvPr id="24" name="Row label"/>
          <p:cNvSpPr txBox="1"/>
          <p:nvPr/>
        </p:nvSpPr>
        <p:spPr>
          <a:xfrm>
            <a:off x="4343400" y="3694176"/>
            <a:ext cx="1828800" cy="438912"/>
          </a:xfrm>
          <a:prstGeom prst="rect">
            <a:avLst/>
          </a:prstGeom>
          <a:noFill/>
          <a:ln/>
        </p:spPr>
        <p:txBody>
          <a:bodyPr wrap="square" lIns="0" tIns="0" rIns="0" bIns="0" rtlCol="0" anchor="ctr"/>
          <a:lstStyle/>
          <a:p>
            <a:pPr indent="0" marL="0">
              <a:buNone/>
            </a:pPr>
            <a:r>
              <a:rPr lang="en-US" sz="1300" b="1" dirty="0">
                <a:solidFill>
                  <a:schemeClr val="tx1"/>
                </a:solidFill>
              </a:rPr>
              <a:t>Tables</a:t>
            </a:r>
            <a:endParaRPr lang="en-US" sz="1300" dirty="0"/>
          </a:p>
        </p:txBody>
      </p:sp>
      <p:sp>
        <p:nvSpPr>
          <p:cNvPr id="25" name="Row ref_entity_map"/>
          <p:cNvSpPr/>
          <p:nvPr/>
        </p:nvSpPr>
        <p:spPr>
          <a:xfrm>
            <a:off x="4206240" y="4261104"/>
            <a:ext cx="2057400" cy="438912"/>
          </a:xfrm>
          <a:prstGeom prst="roundRect">
            <a:avLst>
              <a:gd name="adj" fmla="val 12500"/>
            </a:avLst>
          </a:prstGeom>
          <a:solidFill>
            <a:schemeClr val="accent2">
              <a:alpha val="20000"/>
            </a:schemeClr>
          </a:solidFill>
          <a:ln w="22225">
            <a:solidFill>
              <a:schemeClr val="accent3"/>
            </a:solidFill>
            <a:prstDash val="dash"/>
          </a:ln>
        </p:spPr>
      </p:sp>
      <p:sp>
        <p:nvSpPr>
          <p:cNvPr id="26" name="Row label"/>
          <p:cNvSpPr txBox="1"/>
          <p:nvPr/>
        </p:nvSpPr>
        <p:spPr>
          <a:xfrm>
            <a:off x="4343400" y="4261104"/>
            <a:ext cx="1828800" cy="438912"/>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ref_entity_map</a:t>
            </a:r>
            <a:endParaRPr lang="en-US" sz="1100" dirty="0"/>
          </a:p>
        </p:txBody>
      </p:sp>
      <p:sp>
        <p:nvSpPr>
          <p:cNvPr id="27" name="Shortcut caption"/>
          <p:cNvSpPr txBox="1"/>
          <p:nvPr/>
        </p:nvSpPr>
        <p:spPr>
          <a:xfrm>
            <a:off x="4206240" y="4846320"/>
            <a:ext cx="2057400" cy="228600"/>
          </a:xfrm>
          <a:prstGeom prst="rect">
            <a:avLst/>
          </a:prstGeom>
          <a:noFill/>
          <a:ln/>
        </p:spPr>
        <p:txBody>
          <a:bodyPr wrap="square" lIns="0" tIns="0" rIns="0" bIns="0" rtlCol="0" anchor="t"/>
          <a:lstStyle/>
          <a:p>
            <a:pPr indent="0" marL="0">
              <a:buNone/>
            </a:pPr>
            <a:r>
              <a:rPr lang="en-US" sz="1050" i="1" dirty="0">
                <a:solidFill>
                  <a:schemeClr val="tx1">
                    <a:alpha val="75000"/>
                  </a:schemeClr>
                </a:solidFill>
              </a:rPr>
              <a:t>shortcut</a:t>
            </a:r>
            <a:endParaRPr lang="en-US" sz="1050" dirty="0"/>
          </a:p>
        </p:txBody>
      </p:sp>
      <p:sp>
        <p:nvSpPr>
          <p:cNvPr id="28" name="Shortcut arrow"/>
          <p:cNvSpPr/>
          <p:nvPr/>
        </p:nvSpPr>
        <p:spPr>
          <a:xfrm flipH="1">
            <a:off x="3154680" y="4480560"/>
            <a:ext cx="960120" cy="0"/>
          </a:xfrm>
          <a:prstGeom prst="line">
            <a:avLst/>
          </a:prstGeom>
          <a:noFill/>
          <a:ln w="28575">
            <a:solidFill>
              <a:schemeClr val="accent3"/>
            </a:solidFill>
            <a:prstDash val="dash"/>
            <a:tailEnd type="triangle"/>
          </a:ln>
        </p:spPr>
      </p:sp>
      <p:sp>
        <p:nvSpPr>
          <p:cNvPr id="29" name="One per tenant badge"/>
          <p:cNvSpPr/>
          <p:nvPr/>
        </p:nvSpPr>
        <p:spPr>
          <a:xfrm>
            <a:off x="7086600" y="1892808"/>
            <a:ext cx="566928" cy="566928"/>
          </a:xfrm>
          <a:prstGeom prst="ellipse">
            <a:avLst/>
          </a:prstGeom>
          <a:solidFill>
            <a:schemeClr val="accent1"/>
          </a:solidFill>
          <a:ln/>
        </p:spPr>
      </p:sp>
      <p:pic>
        <p:nvPicPr>
          <p:cNvPr id="30" name="Image 0" descr="One per tenant icon">    </p:cNvPr>
          <p:cNvPicPr>
            <a:picLocks noChangeAspect="1"/>
          </p:cNvPicPr>
          <p:nvPr/>
        </p:nvPicPr>
        <p:blipFill>
          <a:blip r:embed="rId1"/>
          <a:stretch>
            <a:fillRect/>
          </a:stretch>
        </p:blipFill>
        <p:spPr>
          <a:xfrm>
            <a:off x="7228332" y="2034540"/>
            <a:ext cx="283464" cy="283464"/>
          </a:xfrm>
          <a:prstGeom prst="rect">
            <a:avLst/>
          </a:prstGeom>
        </p:spPr>
      </p:pic>
      <p:sp>
        <p:nvSpPr>
          <p:cNvPr id="31" name="Point title"/>
          <p:cNvSpPr txBox="1"/>
          <p:nvPr/>
        </p:nvSpPr>
        <p:spPr>
          <a:xfrm>
            <a:off x="7818120" y="1828800"/>
            <a:ext cx="37947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One per tenant</a:t>
            </a:r>
            <a:endParaRPr lang="en-US" sz="1700" dirty="0"/>
          </a:p>
        </p:txBody>
      </p:sp>
      <p:sp>
        <p:nvSpPr>
          <p:cNvPr id="32" name="Point text"/>
          <p:cNvSpPr txBox="1"/>
          <p:nvPr/>
        </p:nvSpPr>
        <p:spPr>
          <a:xfrm>
            <a:off x="7818120" y="2194560"/>
            <a:ext cx="3794760" cy="777240"/>
          </a:xfrm>
          <a:prstGeom prst="rect">
            <a:avLst/>
          </a:prstGeom>
          <a:noFill/>
          <a:ln/>
        </p:spPr>
        <p:txBody>
          <a:bodyPr wrap="square" lIns="0" tIns="0" rIns="0" bIns="0" rtlCol="0" anchor="t"/>
          <a:lstStyle/>
          <a:p>
            <a:pPr indent="0" marL="0">
              <a:buNone/>
            </a:pPr>
            <a:r>
              <a:rPr lang="en-US" sz="1350" dirty="0">
                <a:solidFill>
                  <a:schemeClr val="tx1"/>
                </a:solidFill>
              </a:rPr>
              <a:t>Nothing to set up. OneLake is there when the tenant is.</a:t>
            </a:r>
            <a:endParaRPr lang="en-US" sz="1350" dirty="0"/>
          </a:p>
        </p:txBody>
      </p:sp>
      <p:sp>
        <p:nvSpPr>
          <p:cNvPr id="33" name="Open format badge"/>
          <p:cNvSpPr/>
          <p:nvPr/>
        </p:nvSpPr>
        <p:spPr>
          <a:xfrm>
            <a:off x="7086600" y="3154680"/>
            <a:ext cx="566928" cy="566928"/>
          </a:xfrm>
          <a:prstGeom prst="ellipse">
            <a:avLst/>
          </a:prstGeom>
          <a:solidFill>
            <a:schemeClr val="accent2"/>
          </a:solidFill>
          <a:ln/>
        </p:spPr>
      </p:sp>
      <p:pic>
        <p:nvPicPr>
          <p:cNvPr id="34" name="Image 1" descr="Open format icon">    </p:cNvPr>
          <p:cNvPicPr>
            <a:picLocks noChangeAspect="1"/>
          </p:cNvPicPr>
          <p:nvPr/>
        </p:nvPicPr>
        <p:blipFill>
          <a:blip r:embed="rId2"/>
          <a:stretch>
            <a:fillRect/>
          </a:stretch>
        </p:blipFill>
        <p:spPr>
          <a:xfrm>
            <a:off x="7228332" y="3296412"/>
            <a:ext cx="283464" cy="283464"/>
          </a:xfrm>
          <a:prstGeom prst="rect">
            <a:avLst/>
          </a:prstGeom>
        </p:spPr>
      </p:pic>
      <p:sp>
        <p:nvSpPr>
          <p:cNvPr id="35" name="Point title"/>
          <p:cNvSpPr txBox="1"/>
          <p:nvPr/>
        </p:nvSpPr>
        <p:spPr>
          <a:xfrm>
            <a:off x="7818120" y="3090672"/>
            <a:ext cx="37947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Open format</a:t>
            </a:r>
            <a:endParaRPr lang="en-US" sz="1700" dirty="0"/>
          </a:p>
        </p:txBody>
      </p:sp>
      <p:sp>
        <p:nvSpPr>
          <p:cNvPr id="36" name="Point text"/>
          <p:cNvSpPr txBox="1"/>
          <p:nvPr/>
        </p:nvSpPr>
        <p:spPr>
          <a:xfrm>
            <a:off x="7818120" y="3456432"/>
            <a:ext cx="3794760" cy="777240"/>
          </a:xfrm>
          <a:prstGeom prst="rect">
            <a:avLst/>
          </a:prstGeom>
          <a:noFill/>
          <a:ln/>
        </p:spPr>
        <p:txBody>
          <a:bodyPr wrap="square" lIns="0" tIns="0" rIns="0" bIns="0" rtlCol="0" anchor="t"/>
          <a:lstStyle/>
          <a:p>
            <a:pPr indent="0" marL="0">
              <a:buNone/>
            </a:pPr>
            <a:r>
              <a:rPr lang="en-US" sz="1350" dirty="0">
                <a:solidFill>
                  <a:schemeClr val="tx1"/>
                </a:solidFill>
              </a:rPr>
              <a:t>Tables are Delta: Parquet files plus a transaction log, readable by any engine that speaks Delta.</a:t>
            </a:r>
            <a:endParaRPr lang="en-US" sz="1350" dirty="0"/>
          </a:p>
        </p:txBody>
      </p:sp>
      <p:sp>
        <p:nvSpPr>
          <p:cNvPr id="37" name="One copy badge"/>
          <p:cNvSpPr/>
          <p:nvPr/>
        </p:nvSpPr>
        <p:spPr>
          <a:xfrm>
            <a:off x="7086600" y="4416552"/>
            <a:ext cx="566928" cy="566928"/>
          </a:xfrm>
          <a:prstGeom prst="ellipse">
            <a:avLst/>
          </a:prstGeom>
          <a:solidFill>
            <a:schemeClr val="tx2"/>
          </a:solidFill>
          <a:ln/>
        </p:spPr>
      </p:sp>
      <p:pic>
        <p:nvPicPr>
          <p:cNvPr id="38" name="Image 2" descr="One copy icon">    </p:cNvPr>
          <p:cNvPicPr>
            <a:picLocks noChangeAspect="1"/>
          </p:cNvPicPr>
          <p:nvPr/>
        </p:nvPicPr>
        <p:blipFill>
          <a:blip r:embed="rId3"/>
          <a:stretch>
            <a:fillRect/>
          </a:stretch>
        </p:blipFill>
        <p:spPr>
          <a:xfrm>
            <a:off x="7228332" y="4558284"/>
            <a:ext cx="283464" cy="283464"/>
          </a:xfrm>
          <a:prstGeom prst="rect">
            <a:avLst/>
          </a:prstGeom>
        </p:spPr>
      </p:pic>
      <p:sp>
        <p:nvSpPr>
          <p:cNvPr id="39" name="Point title"/>
          <p:cNvSpPr txBox="1"/>
          <p:nvPr/>
        </p:nvSpPr>
        <p:spPr>
          <a:xfrm>
            <a:off x="7818120" y="4352544"/>
            <a:ext cx="37947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One copy</a:t>
            </a:r>
            <a:endParaRPr lang="en-US" sz="1700" dirty="0"/>
          </a:p>
        </p:txBody>
      </p:sp>
      <p:sp>
        <p:nvSpPr>
          <p:cNvPr id="40" name="Point text"/>
          <p:cNvSpPr txBox="1"/>
          <p:nvPr/>
        </p:nvSpPr>
        <p:spPr>
          <a:xfrm>
            <a:off x="7818120" y="4718304"/>
            <a:ext cx="3794760" cy="777240"/>
          </a:xfrm>
          <a:prstGeom prst="rect">
            <a:avLst/>
          </a:prstGeom>
          <a:noFill/>
          <a:ln/>
        </p:spPr>
        <p:txBody>
          <a:bodyPr wrap="square" lIns="0" tIns="0" rIns="0" bIns="0" rtlCol="0" anchor="t"/>
          <a:lstStyle/>
          <a:p>
            <a:pPr indent="0" marL="0">
              <a:buNone/>
            </a:pPr>
            <a:r>
              <a:rPr lang="en-US" sz="1350" dirty="0">
                <a:solidFill>
                  <a:schemeClr val="tx1"/>
                </a:solidFill>
              </a:rPr>
              <a:t>Notebooks, SQL and Power BI read the same data. Shortcuts point instead of copying.</a:t>
            </a:r>
            <a:endParaRPr lang="en-US" sz="1350" dirty="0"/>
          </a:p>
        </p:txBody>
      </p:sp>
      <p:sp>
        <p:nvSpPr>
          <p:cNvPr id="41" name="Takeaway"/>
          <p:cNvSpPr txBox="1"/>
          <p:nvPr/>
        </p:nvSpPr>
        <p:spPr>
          <a:xfrm>
            <a:off x="548640" y="562356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OneLake is where the data lives. Everything else in Fabric is a way of working on it.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LAKEHOUSE AND ONELAKE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lakehouse has two sections: Files and Tables</a:t>
            </a:r>
            <a:endParaRPr lang="en-US" sz="3200" dirty="0"/>
          </a:p>
        </p:txBody>
      </p:sp>
      <p:sp>
        <p:nvSpPr>
          <p:cNvPr id="5" name="Lakehouse tree"/>
          <p:cNvSpPr/>
          <p:nvPr/>
        </p:nvSpPr>
        <p:spPr>
          <a:xfrm>
            <a:off x="548640" y="1783080"/>
            <a:ext cx="5852160" cy="3611880"/>
          </a:xfrm>
          <a:prstGeom prst="roundRect">
            <a:avLst>
              <a:gd name="adj" fmla="val 2532"/>
            </a:avLst>
          </a:prstGeom>
          <a:solidFill>
            <a:schemeClr val="tx1"/>
          </a:solidFill>
          <a:ln/>
        </p:spPr>
      </p:sp>
      <p:sp>
        <p:nvSpPr>
          <p:cNvPr id="6" name="Code label"/>
          <p:cNvSpPr txBox="1"/>
          <p:nvPr/>
        </p:nvSpPr>
        <p:spPr>
          <a:xfrm>
            <a:off x="749808" y="1874520"/>
            <a:ext cx="54498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ILLUSTRATIVE LAKEHOUSE LAYOUT</a:t>
            </a:r>
            <a:endParaRPr lang="en-US" sz="1000" dirty="0"/>
          </a:p>
        </p:txBody>
      </p:sp>
      <p:sp>
        <p:nvSpPr>
          <p:cNvPr id="7" name="Lakehouse tree text"/>
          <p:cNvSpPr txBox="1"/>
          <p:nvPr/>
        </p:nvSpPr>
        <p:spPr>
          <a:xfrm>
            <a:off x="749808" y="2167128"/>
            <a:ext cx="5449824" cy="311810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lh_tax_dst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Files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raw</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gam_reports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2025</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gam_2025_01.csv</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edp_extracts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reference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ad_unit_map.csv</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Tables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bronze_impressions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ref_ad_unit_map</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silver_revenue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gold_dst_apportioned</a:t>
            </a:r>
            <a:endParaRPr lang="en-US" sz="1300" dirty="0"/>
          </a:p>
        </p:txBody>
      </p:sp>
      <p:sp>
        <p:nvSpPr>
          <p:cNvPr id="8" name="Files card"/>
          <p:cNvSpPr/>
          <p:nvPr/>
        </p:nvSpPr>
        <p:spPr>
          <a:xfrm>
            <a:off x="6675120" y="1783080"/>
            <a:ext cx="4965192" cy="1097280"/>
          </a:xfrm>
          <a:prstGeom prst="roundRect">
            <a:avLst>
              <a:gd name="adj" fmla="val 10000"/>
            </a:avLst>
          </a:prstGeom>
          <a:solidFill>
            <a:schemeClr val="bg2"/>
          </a:solidFill>
          <a:ln/>
        </p:spPr>
      </p:sp>
      <p:sp>
        <p:nvSpPr>
          <p:cNvPr id="9" name="Files badge"/>
          <p:cNvSpPr/>
          <p:nvPr/>
        </p:nvSpPr>
        <p:spPr>
          <a:xfrm>
            <a:off x="6876288" y="2057400"/>
            <a:ext cx="548640" cy="548640"/>
          </a:xfrm>
          <a:prstGeom prst="ellipse">
            <a:avLst/>
          </a:prstGeom>
          <a:solidFill>
            <a:schemeClr val="accent1"/>
          </a:solidFill>
          <a:ln/>
        </p:spPr>
      </p:sp>
      <p:pic>
        <p:nvPicPr>
          <p:cNvPr id="10" name="Image 0" descr="Files icon">    </p:cNvPr>
          <p:cNvPicPr>
            <a:picLocks noChangeAspect="1"/>
          </p:cNvPicPr>
          <p:nvPr/>
        </p:nvPicPr>
        <p:blipFill>
          <a:blip r:embed="rId1"/>
          <a:stretch>
            <a:fillRect/>
          </a:stretch>
        </p:blipFill>
        <p:spPr>
          <a:xfrm>
            <a:off x="7013448" y="2194560"/>
            <a:ext cx="274320" cy="274320"/>
          </a:xfrm>
          <a:prstGeom prst="rect">
            <a:avLst/>
          </a:prstGeom>
        </p:spPr>
      </p:pic>
      <p:sp>
        <p:nvSpPr>
          <p:cNvPr id="11" name="Section title"/>
          <p:cNvSpPr txBox="1"/>
          <p:nvPr/>
        </p:nvSpPr>
        <p:spPr>
          <a:xfrm>
            <a:off x="7589520" y="1920240"/>
            <a:ext cx="393192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Files</a:t>
            </a:r>
            <a:endParaRPr lang="en-US" sz="1600" dirty="0"/>
          </a:p>
        </p:txBody>
      </p:sp>
      <p:sp>
        <p:nvSpPr>
          <p:cNvPr id="12" name="Section text"/>
          <p:cNvSpPr txBox="1"/>
          <p:nvPr/>
        </p:nvSpPr>
        <p:spPr>
          <a:xfrm>
            <a:off x="7589520" y="2258568"/>
            <a:ext cx="3931920" cy="594360"/>
          </a:xfrm>
          <a:prstGeom prst="rect">
            <a:avLst/>
          </a:prstGeom>
          <a:noFill/>
          <a:ln/>
        </p:spPr>
        <p:txBody>
          <a:bodyPr wrap="square" lIns="0" tIns="0" rIns="0" bIns="0" rtlCol="0" anchor="t"/>
          <a:lstStyle/>
          <a:p>
            <a:pPr indent="0" marL="0">
              <a:buNone/>
            </a:pPr>
            <a:r>
              <a:rPr lang="en-US" sz="1300" dirty="0">
                <a:solidFill>
                  <a:schemeClr val="tx1"/>
                </a:solidFill>
              </a:rPr>
              <a:t>Any format, no schema. A landing zone for CSV, Excel, JSON and PDF.</a:t>
            </a:r>
            <a:endParaRPr lang="en-US" sz="1300" dirty="0"/>
          </a:p>
        </p:txBody>
      </p:sp>
      <p:sp>
        <p:nvSpPr>
          <p:cNvPr id="13" name="Tables card"/>
          <p:cNvSpPr/>
          <p:nvPr/>
        </p:nvSpPr>
        <p:spPr>
          <a:xfrm>
            <a:off x="6675120" y="3017520"/>
            <a:ext cx="4965192" cy="1097280"/>
          </a:xfrm>
          <a:prstGeom prst="roundRect">
            <a:avLst>
              <a:gd name="adj" fmla="val 10000"/>
            </a:avLst>
          </a:prstGeom>
          <a:solidFill>
            <a:schemeClr val="bg2"/>
          </a:solidFill>
          <a:ln/>
        </p:spPr>
      </p:sp>
      <p:sp>
        <p:nvSpPr>
          <p:cNvPr id="14" name="Tables badge"/>
          <p:cNvSpPr/>
          <p:nvPr/>
        </p:nvSpPr>
        <p:spPr>
          <a:xfrm>
            <a:off x="6876288" y="3291840"/>
            <a:ext cx="548640" cy="548640"/>
          </a:xfrm>
          <a:prstGeom prst="ellipse">
            <a:avLst/>
          </a:prstGeom>
          <a:solidFill>
            <a:schemeClr val="accent2"/>
          </a:solidFill>
          <a:ln/>
        </p:spPr>
      </p:sp>
      <p:pic>
        <p:nvPicPr>
          <p:cNvPr id="15" name="Image 1" descr="Tables icon">    </p:cNvPr>
          <p:cNvPicPr>
            <a:picLocks noChangeAspect="1"/>
          </p:cNvPicPr>
          <p:nvPr/>
        </p:nvPicPr>
        <p:blipFill>
          <a:blip r:embed="rId2"/>
          <a:stretch>
            <a:fillRect/>
          </a:stretch>
        </p:blipFill>
        <p:spPr>
          <a:xfrm>
            <a:off x="7013448" y="3429000"/>
            <a:ext cx="274320" cy="274320"/>
          </a:xfrm>
          <a:prstGeom prst="rect">
            <a:avLst/>
          </a:prstGeom>
        </p:spPr>
      </p:pic>
      <p:sp>
        <p:nvSpPr>
          <p:cNvPr id="16" name="Section title"/>
          <p:cNvSpPr txBox="1"/>
          <p:nvPr/>
        </p:nvSpPr>
        <p:spPr>
          <a:xfrm>
            <a:off x="7589520" y="3154680"/>
            <a:ext cx="393192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Tables</a:t>
            </a:r>
            <a:endParaRPr lang="en-US" sz="1600" dirty="0"/>
          </a:p>
        </p:txBody>
      </p:sp>
      <p:sp>
        <p:nvSpPr>
          <p:cNvPr id="17" name="Section text"/>
          <p:cNvSpPr txBox="1"/>
          <p:nvPr/>
        </p:nvSpPr>
        <p:spPr>
          <a:xfrm>
            <a:off x="7589520" y="3493008"/>
            <a:ext cx="3931920" cy="594360"/>
          </a:xfrm>
          <a:prstGeom prst="rect">
            <a:avLst/>
          </a:prstGeom>
          <a:noFill/>
          <a:ln/>
        </p:spPr>
        <p:txBody>
          <a:bodyPr wrap="square" lIns="0" tIns="0" rIns="0" bIns="0" rtlCol="0" anchor="t"/>
          <a:lstStyle/>
          <a:p>
            <a:pPr indent="0" marL="0">
              <a:buNone/>
            </a:pPr>
            <a:r>
              <a:rPr lang="en-US" sz="1300" dirty="0">
                <a:solidFill>
                  <a:schemeClr val="tx1"/>
                </a:solidFill>
              </a:rPr>
              <a:t>Managed Delta tables with typed columns, ready for SQL, notebooks and Power BI.</a:t>
            </a:r>
            <a:endParaRPr lang="en-US" sz="1300" dirty="0"/>
          </a:p>
        </p:txBody>
      </p:sp>
      <p:sp>
        <p:nvSpPr>
          <p:cNvPr id="18" name="SQL analytics endpoint card"/>
          <p:cNvSpPr/>
          <p:nvPr/>
        </p:nvSpPr>
        <p:spPr>
          <a:xfrm>
            <a:off x="6675120" y="4251960"/>
            <a:ext cx="4965192" cy="1097280"/>
          </a:xfrm>
          <a:prstGeom prst="roundRect">
            <a:avLst>
              <a:gd name="adj" fmla="val 10000"/>
            </a:avLst>
          </a:prstGeom>
          <a:solidFill>
            <a:schemeClr val="bg2"/>
          </a:solidFill>
          <a:ln/>
        </p:spPr>
      </p:sp>
      <p:sp>
        <p:nvSpPr>
          <p:cNvPr id="19" name="SQL analytics endpoint badge"/>
          <p:cNvSpPr/>
          <p:nvPr/>
        </p:nvSpPr>
        <p:spPr>
          <a:xfrm>
            <a:off x="6876288" y="4526280"/>
            <a:ext cx="548640" cy="548640"/>
          </a:xfrm>
          <a:prstGeom prst="ellipse">
            <a:avLst/>
          </a:prstGeom>
          <a:solidFill>
            <a:schemeClr val="tx2"/>
          </a:solidFill>
          <a:ln/>
        </p:spPr>
      </p:sp>
      <p:pic>
        <p:nvPicPr>
          <p:cNvPr id="20" name="Image 2" descr="SQL analytics endpoint icon">    </p:cNvPr>
          <p:cNvPicPr>
            <a:picLocks noChangeAspect="1"/>
          </p:cNvPicPr>
          <p:nvPr/>
        </p:nvPicPr>
        <p:blipFill>
          <a:blip r:embed="rId3"/>
          <a:stretch>
            <a:fillRect/>
          </a:stretch>
        </p:blipFill>
        <p:spPr>
          <a:xfrm>
            <a:off x="7013448" y="4663440"/>
            <a:ext cx="274320" cy="274320"/>
          </a:xfrm>
          <a:prstGeom prst="rect">
            <a:avLst/>
          </a:prstGeom>
        </p:spPr>
      </p:pic>
      <p:sp>
        <p:nvSpPr>
          <p:cNvPr id="21" name="Section title"/>
          <p:cNvSpPr txBox="1"/>
          <p:nvPr/>
        </p:nvSpPr>
        <p:spPr>
          <a:xfrm>
            <a:off x="7589520" y="4389120"/>
            <a:ext cx="393192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SQL analytics endpoint</a:t>
            </a:r>
            <a:endParaRPr lang="en-US" sz="1600" dirty="0"/>
          </a:p>
        </p:txBody>
      </p:sp>
      <p:sp>
        <p:nvSpPr>
          <p:cNvPr id="22" name="Section text"/>
          <p:cNvSpPr txBox="1"/>
          <p:nvPr/>
        </p:nvSpPr>
        <p:spPr>
          <a:xfrm>
            <a:off x="7589520" y="4727448"/>
            <a:ext cx="3931920" cy="594360"/>
          </a:xfrm>
          <a:prstGeom prst="rect">
            <a:avLst/>
          </a:prstGeom>
          <a:noFill/>
          <a:ln/>
        </p:spPr>
        <p:txBody>
          <a:bodyPr wrap="square" lIns="0" tIns="0" rIns="0" bIns="0" rtlCol="0" anchor="t"/>
          <a:lstStyle/>
          <a:p>
            <a:pPr indent="0" marL="0">
              <a:buNone/>
            </a:pPr>
            <a:r>
              <a:rPr lang="en-US" sz="1300" dirty="0">
                <a:solidFill>
                  <a:schemeClr val="tx1"/>
                </a:solidFill>
              </a:rPr>
              <a:t>Created automatically. Lets you query Tables with T-SQL, read-only.</a:t>
            </a:r>
            <a:endParaRPr lang="en-US" sz="1300" dirty="0"/>
          </a:p>
        </p:txBody>
      </p:sp>
      <p:sp>
        <p:nvSpPr>
          <p:cNvPr id="23"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Everything under Tables is Delta. Everything under Files is just files.</a:t>
            </a:r>
            <a:endParaRPr lang="en-US" sz="1600" dirty="0"/>
          </a:p>
        </p:txBody>
      </p:sp>
      <p:sp>
        <p:nvSpPr>
          <p:cNvPr id="24" name="Footnote"/>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Names are illustrative. Disney Enterprise Technology naming standards apply.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LAKEHOUSE AND ONELAKE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Delta table is not a spreadsheet</a:t>
            </a:r>
            <a:endParaRPr lang="en-US" sz="3200" dirty="0"/>
          </a:p>
        </p:txBody>
      </p:sp>
      <p:graphicFrame>
        <p:nvGraphicFramePr>
          <p:cNvPr id="23" name="Excel versus Delta table"/>
          <p:cNvGraphicFramePr>
            <a:graphicFrameLocks noGrp="1"/>
          </p:cNvGraphicFramePr>
          <p:nvPr>
            <p:extLst>
              <p:ext uri="{D42A27DB-BD31-4B8C-83A1-F6EECF244321}">
                <p14:modId xmlns:p14="http://schemas.microsoft.com/office/powerpoint/2010/main" val="1579011935"/>
              </p:ext>
            </p:extLst>
          </p:nvPr>
        </p:nvGraphicFramePr>
        <p:xfrm>
          <a:off x="548640" y="1783080"/>
          <a:ext cx="7040880" cy="914400"/>
        </p:xfrm>
        <a:graphic>
          <a:graphicData uri="http://schemas.openxmlformats.org/drawingml/2006/table">
            <a:tbl>
              <a:tblPr/>
              <a:tblGrid>
                <a:gridCol w="1371600"/>
                <a:gridCol w="2651760"/>
                <a:gridCol w="3017520"/>
              </a:tblGrid>
              <a:tr h="384048">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50" b="1" dirty="0">
                          <a:solidFill>
                            <a:schemeClr val="bg1"/>
                          </a:solidFill>
                        </a:rPr>
                        <a:t>Excel sheet</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50" b="1" dirty="0">
                          <a:solidFill>
                            <a:schemeClr val="bg1"/>
                          </a:solidFill>
                        </a:rPr>
                        <a:t>Delta table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58368">
                <a:tc>
                  <a:txBody>
                    <a:bodyPr/>
                    <a:lstStyle/>
                    <a:p>
                      <a:pPr indent="0" marL="0">
                        <a:buNone/>
                      </a:pPr>
                      <a:r>
                        <a:rPr lang="en-US" sz="1350" b="1" dirty="0">
                          <a:solidFill>
                            <a:schemeClr val="tx1"/>
                          </a:solidFill>
                        </a:rPr>
                        <a:t>Data types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50" dirty="0">
                          <a:solidFill>
                            <a:schemeClr val="tx1"/>
                          </a:solidFill>
                        </a:rPr>
                        <a:t>Each cell can hold anything</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50" dirty="0">
                          <a:solidFill>
                            <a:schemeClr val="tx1"/>
                          </a:solidFill>
                        </a:rPr>
                        <a:t>Each column has exactly one type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350" b="1" dirty="0">
                          <a:solidFill>
                            <a:schemeClr val="tx1"/>
                          </a:solidFill>
                        </a:rPr>
                        <a:t>Logic</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50" dirty="0">
                          <a:solidFill>
                            <a:schemeClr val="tx1"/>
                          </a:solidFill>
                        </a:rPr>
                        <a:t>Formulas live in the cells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50" dirty="0">
                          <a:solidFill>
                            <a:schemeClr val="tx1"/>
                          </a:solidFill>
                        </a:rPr>
                        <a:t>Logic lives in code you can review and re-run</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350" b="1" dirty="0">
                          <a:solidFill>
                            <a:schemeClr val="tx1"/>
                          </a:solidFill>
                        </a:rPr>
                        <a:t>Users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50" dirty="0">
                          <a:solidFill>
                            <a:schemeClr val="tx1"/>
                          </a:solidFill>
                        </a:rPr>
                        <a:t>One editor at a time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50" dirty="0">
                          <a:solidFill>
                            <a:schemeClr val="tx1"/>
                          </a:solidFill>
                        </a:rPr>
                        <a:t>Many readers and writers at once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350" b="1" dirty="0">
                          <a:solidFill>
                            <a:schemeClr val="tx1"/>
                          </a:solidFill>
                        </a:rPr>
                        <a:t>History</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50" dirty="0">
                          <a:solidFill>
                            <a:schemeClr val="tx1"/>
                          </a:solidFill>
                        </a:rPr>
                        <a:t>Overwritten on save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50" dirty="0">
                          <a:solidFill>
                            <a:schemeClr val="tx1"/>
                          </a:solidFill>
                        </a:rPr>
                        <a:t>Every change is a version you can look back at</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350" b="1" dirty="0">
                          <a:solidFill>
                            <a:schemeClr val="tx1"/>
                          </a:solidFill>
                        </a:rPr>
                        <a:t>Size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50" dirty="0">
                          <a:solidFill>
                            <a:schemeClr val="tx1"/>
                          </a:solidFill>
                        </a:rPr>
                        <a:t>1,048,576 rows per sheet</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50" dirty="0">
                          <a:solidFill>
                            <a:schemeClr val="tx1"/>
                          </a:solidFill>
                        </a:rPr>
                        <a:t>Billions of rows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Stat card"/>
          <p:cNvSpPr/>
          <p:nvPr/>
        </p:nvSpPr>
        <p:spPr>
          <a:xfrm>
            <a:off x="7863840" y="1783080"/>
            <a:ext cx="3776472" cy="1691640"/>
          </a:xfrm>
          <a:prstGeom prst="roundRect">
            <a:avLst>
              <a:gd name="adj" fmla="val 6486"/>
            </a:avLst>
          </a:prstGeom>
          <a:solidFill>
            <a:schemeClr val="bg2"/>
          </a:solidFill>
          <a:ln/>
        </p:spPr>
      </p:sp>
      <p:sp>
        <p:nvSpPr>
          <p:cNvPr id="7" name="Stat number"/>
          <p:cNvSpPr txBox="1"/>
          <p:nvPr/>
        </p:nvSpPr>
        <p:spPr>
          <a:xfrm>
            <a:off x="8092440" y="1828800"/>
            <a:ext cx="1554480" cy="1600200"/>
          </a:xfrm>
          <a:prstGeom prst="rect">
            <a:avLst/>
          </a:prstGeom>
          <a:noFill/>
          <a:ln/>
        </p:spPr>
        <p:txBody>
          <a:bodyPr wrap="square" lIns="0" tIns="0" rIns="0" bIns="0" rtlCol="0" anchor="ctr"/>
          <a:lstStyle/>
          <a:p>
            <a:pPr indent="0" marL="0">
              <a:buNone/>
            </a:pPr>
            <a:r>
              <a:rPr lang="en-US" sz="4400" b="1" dirty="0">
                <a:solidFill>
                  <a:schemeClr val="accent1"/>
                </a:solidFill>
                <a:latin typeface="+mj-lt" pitchFamily="34" charset="0"/>
                <a:ea typeface="+mj-lt" pitchFamily="34" charset="-122"/>
                <a:cs typeface="+mj-lt" pitchFamily="34" charset="-120"/>
              </a:rPr>
              <a:t>11×</a:t>
            </a:r>
            <a:endParaRPr lang="en-US" sz="4400" dirty="0"/>
          </a:p>
        </p:txBody>
      </p:sp>
      <p:sp>
        <p:nvSpPr>
          <p:cNvPr id="8" name="Stat label"/>
          <p:cNvSpPr txBox="1"/>
          <p:nvPr/>
        </p:nvSpPr>
        <p:spPr>
          <a:xfrm>
            <a:off x="9601200" y="1828800"/>
            <a:ext cx="1920240" cy="1600200"/>
          </a:xfrm>
          <a:prstGeom prst="rect">
            <a:avLst/>
          </a:prstGeom>
          <a:noFill/>
          <a:ln/>
        </p:spPr>
        <p:txBody>
          <a:bodyPr wrap="square" lIns="0" tIns="0" rIns="0" bIns="0" rtlCol="0" anchor="ctr"/>
          <a:lstStyle/>
          <a:p>
            <a:pPr indent="0" marL="0">
              <a:buNone/>
            </a:pPr>
            <a:r>
              <a:rPr lang="en-US" sz="1250" dirty="0">
                <a:solidFill>
                  <a:schemeClr val="tx1"/>
                </a:solidFill>
              </a:rPr>
              <a:t>DST impression data is 12M+ records, more than eleven Excel sheets of rows.</a:t>
            </a:r>
            <a:endParaRPr lang="en-US" sz="1250" dirty="0"/>
          </a:p>
        </p:txBody>
      </p:sp>
      <p:sp>
        <p:nvSpPr>
          <p:cNvPr id="9" name="Delta folder"/>
          <p:cNvSpPr/>
          <p:nvPr/>
        </p:nvSpPr>
        <p:spPr>
          <a:xfrm>
            <a:off x="7863840" y="3611880"/>
            <a:ext cx="3776472" cy="1828800"/>
          </a:xfrm>
          <a:prstGeom prst="roundRect">
            <a:avLst>
              <a:gd name="adj" fmla="val 5000"/>
            </a:avLst>
          </a:prstGeom>
          <a:solidFill>
            <a:schemeClr val="tx1"/>
          </a:solidFill>
          <a:ln/>
        </p:spPr>
      </p:sp>
      <p:sp>
        <p:nvSpPr>
          <p:cNvPr id="10" name="Code label"/>
          <p:cNvSpPr txBox="1"/>
          <p:nvPr/>
        </p:nvSpPr>
        <p:spPr>
          <a:xfrm>
            <a:off x="8065008" y="3703320"/>
            <a:ext cx="33741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IS INSIDE A DELTA TABLE</a:t>
            </a:r>
            <a:endParaRPr lang="en-US" sz="1000" dirty="0"/>
          </a:p>
        </p:txBody>
      </p:sp>
      <p:sp>
        <p:nvSpPr>
          <p:cNvPr id="11" name="Delta folder text"/>
          <p:cNvSpPr txBox="1"/>
          <p:nvPr/>
        </p:nvSpPr>
        <p:spPr>
          <a:xfrm>
            <a:off x="8065008" y="3995928"/>
            <a:ext cx="3374136" cy="133502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silver_impressions/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part-00000.parquet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part-00001.parquet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_delta_log/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00000000000000000000.json</a:t>
            </a:r>
            <a:endParaRPr lang="en-US" sz="1100" dirty="0"/>
          </a:p>
        </p:txBody>
      </p:sp>
      <p:sp>
        <p:nvSpPr>
          <p:cNvPr id="12" name="Takeaway"/>
          <p:cNvSpPr txBox="1"/>
          <p:nvPr/>
        </p:nvSpPr>
        <p:spPr>
          <a:xfrm>
            <a:off x="548640" y="562356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A table keeps its history, so a rerun can be compared with what came before.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LAKEHOUSE AND ONELAKE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Land in Files, work in Tables</a:t>
            </a:r>
            <a:endParaRPr lang="en-US" sz="3200" dirty="0"/>
          </a:p>
        </p:txBody>
      </p:sp>
      <p:graphicFrame>
        <p:nvGraphicFramePr>
          <p:cNvPr id="24" name="Files or Tabl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4297680"/>
                <a:gridCol w="1645920"/>
                <a:gridCol w="5148072"/>
              </a:tblGrid>
              <a:tr h="411480">
                <a:tc>
                  <a:txBody>
                    <a:bodyPr/>
                    <a:lstStyle/>
                    <a:p>
                      <a:pPr indent="0" marL="0">
                        <a:buNone/>
                      </a:pPr>
                      <a:r>
                        <a:rPr lang="en-US" sz="1400" b="1" dirty="0">
                          <a:solidFill>
                            <a:schemeClr val="bg1"/>
                          </a:solidFill>
                        </a:rPr>
                        <a:t>What you have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Put it in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Why</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30352">
                <a:tc>
                  <a:txBody>
                    <a:bodyPr/>
                    <a:lstStyle/>
                    <a:p>
                      <a:pPr indent="0" marL="0">
                        <a:buNone/>
                      </a:pPr>
                      <a:r>
                        <a:rPr lang="en-US" sz="1400" dirty="0">
                          <a:solidFill>
                            <a:schemeClr val="tx1"/>
                          </a:solidFill>
                        </a:rPr>
                        <a:t>Google Ad Manager CSV reports, as received</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1"/>
                          </a:solidFill>
                        </a:rPr>
                        <a:t>Files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Keep the original untouched</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400" dirty="0">
                          <a:solidFill>
                            <a:schemeClr val="tx1"/>
                          </a:solidFill>
                        </a:rPr>
                        <a:t>An Excel workbook someone emailed</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1"/>
                          </a:solidFill>
                        </a:rPr>
                        <a:t>Files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Land it first, then load what you need</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30352">
                <a:tc>
                  <a:txBody>
                    <a:bodyPr/>
                    <a:lstStyle/>
                    <a:p>
                      <a:pPr indent="0" marL="0">
                        <a:buNone/>
                      </a:pPr>
                      <a:r>
                        <a:rPr lang="en-US" sz="1400" dirty="0">
                          <a:solidFill>
                            <a:schemeClr val="tx1"/>
                          </a:solidFill>
                        </a:rPr>
                        <a:t>Cleaned and typed impressions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2"/>
                          </a:solidFill>
                        </a:rPr>
                        <a:t>Tables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Typed, queryable, ready for SQL and notebooks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400" dirty="0">
                          <a:solidFill>
                            <a:schemeClr val="tx1"/>
                          </a:solidFill>
                        </a:rPr>
                        <a:t>Mapping tables: ad unit, entity, state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Tables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Shared by every notebook: one version of the truth</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30352">
                <a:tc>
                  <a:txBody>
                    <a:bodyPr/>
                    <a:lstStyle/>
                    <a:p>
                      <a:pPr indent="0" marL="0">
                        <a:buNone/>
                      </a:pPr>
                      <a:r>
                        <a:rPr lang="en-US" sz="1400" dirty="0">
                          <a:solidFill>
                            <a:schemeClr val="tx1"/>
                          </a:solidFill>
                        </a:rPr>
                        <a:t>PDF notices and contracts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1"/>
                          </a:solidFill>
                        </a:rPr>
                        <a:t>Files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Not tabular</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400" dirty="0">
                          <a:solidFill>
                            <a:schemeClr val="tx1"/>
                          </a:solidFill>
                        </a:rPr>
                        <a:t>Results that Power BI will read</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Tables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Power BI reads Delta tables directly</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akeaway"/>
          <p:cNvSpPr txBox="1"/>
          <p:nvPr/>
        </p:nvSpPr>
        <p:spPr>
          <a:xfrm>
            <a:off x="548640" y="562356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If you will query it, it belongs in a table.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LAKEHOUSE AND ONELAKE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Shortcuts point to data without copying it</a:t>
            </a:r>
            <a:endParaRPr lang="en-US" sz="3200" dirty="0"/>
          </a:p>
        </p:txBody>
      </p:sp>
      <p:sp>
        <p:nvSpPr>
          <p:cNvPr id="5" name="Your lakehouse"/>
          <p:cNvSpPr/>
          <p:nvPr/>
        </p:nvSpPr>
        <p:spPr>
          <a:xfrm>
            <a:off x="548640" y="1783080"/>
            <a:ext cx="3200400" cy="3566160"/>
          </a:xfrm>
          <a:prstGeom prst="roundRect">
            <a:avLst>
              <a:gd name="adj" fmla="val 3429"/>
            </a:avLst>
          </a:prstGeom>
          <a:solidFill>
            <a:schemeClr val="bg2"/>
          </a:solidFill>
          <a:ln/>
        </p:spPr>
      </p:sp>
      <p:sp>
        <p:nvSpPr>
          <p:cNvPr id="6" name="Your lakehouse label"/>
          <p:cNvSpPr txBox="1"/>
          <p:nvPr/>
        </p:nvSpPr>
        <p:spPr>
          <a:xfrm>
            <a:off x="731520" y="1901952"/>
            <a:ext cx="283464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YOUR LAKEHOUSE  ·  TABLES</a:t>
            </a:r>
            <a:endParaRPr lang="en-US" sz="1000" dirty="0"/>
          </a:p>
        </p:txBody>
      </p:sp>
      <p:sp>
        <p:nvSpPr>
          <p:cNvPr id="7" name="Table row silver_impressions"/>
          <p:cNvSpPr/>
          <p:nvPr/>
        </p:nvSpPr>
        <p:spPr>
          <a:xfrm>
            <a:off x="731520" y="2286000"/>
            <a:ext cx="2834640" cy="530352"/>
          </a:xfrm>
          <a:prstGeom prst="roundRect">
            <a:avLst>
              <a:gd name="adj" fmla="val 10345"/>
            </a:avLst>
          </a:prstGeom>
          <a:solidFill>
            <a:schemeClr val="bg1"/>
          </a:solidFill>
          <a:ln/>
        </p:spPr>
      </p:sp>
      <p:sp>
        <p:nvSpPr>
          <p:cNvPr id="8" name="Table name"/>
          <p:cNvSpPr txBox="1"/>
          <p:nvPr/>
        </p:nvSpPr>
        <p:spPr>
          <a:xfrm>
            <a:off x="868680" y="2286000"/>
            <a:ext cx="2560320" cy="530352"/>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silver_impressions</a:t>
            </a:r>
            <a:endParaRPr lang="en-US" sz="1200" dirty="0"/>
          </a:p>
        </p:txBody>
      </p:sp>
      <p:sp>
        <p:nvSpPr>
          <p:cNvPr id="9" name="Table row gold_dst_apportioned"/>
          <p:cNvSpPr/>
          <p:nvPr/>
        </p:nvSpPr>
        <p:spPr>
          <a:xfrm>
            <a:off x="731520" y="3017520"/>
            <a:ext cx="2834640" cy="530352"/>
          </a:xfrm>
          <a:prstGeom prst="roundRect">
            <a:avLst>
              <a:gd name="adj" fmla="val 10345"/>
            </a:avLst>
          </a:prstGeom>
          <a:solidFill>
            <a:schemeClr val="bg1"/>
          </a:solidFill>
          <a:ln/>
        </p:spPr>
      </p:sp>
      <p:sp>
        <p:nvSpPr>
          <p:cNvPr id="10" name="Table name"/>
          <p:cNvSpPr txBox="1"/>
          <p:nvPr/>
        </p:nvSpPr>
        <p:spPr>
          <a:xfrm>
            <a:off x="868680" y="3017520"/>
            <a:ext cx="2560320" cy="530352"/>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gold_dst_apportioned</a:t>
            </a:r>
            <a:endParaRPr lang="en-US" sz="1200" dirty="0"/>
          </a:p>
        </p:txBody>
      </p:sp>
      <p:sp>
        <p:nvSpPr>
          <p:cNvPr id="11" name="Table row ref_entity_map"/>
          <p:cNvSpPr/>
          <p:nvPr/>
        </p:nvSpPr>
        <p:spPr>
          <a:xfrm>
            <a:off x="731520" y="3749040"/>
            <a:ext cx="2834640" cy="530352"/>
          </a:xfrm>
          <a:prstGeom prst="roundRect">
            <a:avLst>
              <a:gd name="adj" fmla="val 10345"/>
            </a:avLst>
          </a:prstGeom>
          <a:solidFill>
            <a:schemeClr val="accent3">
              <a:alpha val="25000"/>
            </a:schemeClr>
          </a:solidFill>
          <a:ln w="22225">
            <a:solidFill>
              <a:schemeClr val="accent3"/>
            </a:solidFill>
            <a:prstDash val="dash"/>
          </a:ln>
        </p:spPr>
      </p:sp>
      <p:sp>
        <p:nvSpPr>
          <p:cNvPr id="12" name="Table name"/>
          <p:cNvSpPr txBox="1"/>
          <p:nvPr/>
        </p:nvSpPr>
        <p:spPr>
          <a:xfrm>
            <a:off x="868680" y="3749040"/>
            <a:ext cx="2560320" cy="530352"/>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ref_entity_map</a:t>
            </a:r>
            <a:endParaRPr lang="en-US" sz="1200" dirty="0"/>
          </a:p>
        </p:txBody>
      </p:sp>
      <p:sp>
        <p:nvSpPr>
          <p:cNvPr id="13" name="Shortcut caption"/>
          <p:cNvSpPr txBox="1"/>
          <p:nvPr/>
        </p:nvSpPr>
        <p:spPr>
          <a:xfrm>
            <a:off x="731520" y="4526280"/>
            <a:ext cx="2834640" cy="685800"/>
          </a:xfrm>
          <a:prstGeom prst="rect">
            <a:avLst/>
          </a:prstGeom>
          <a:noFill/>
          <a:ln/>
        </p:spPr>
        <p:txBody>
          <a:bodyPr wrap="square" lIns="0" tIns="0" rIns="0" bIns="0" rtlCol="0" anchor="t"/>
          <a:lstStyle/>
          <a:p>
            <a:pPr indent="0" marL="0">
              <a:buNone/>
            </a:pPr>
            <a:r>
              <a:rPr lang="en-US" sz="1200" i="1" dirty="0">
                <a:solidFill>
                  <a:schemeClr val="tx1"/>
                </a:solidFill>
              </a:rPr>
              <a:t>A shortcut looks like a table here, but the data lives elsewhere.</a:t>
            </a:r>
            <a:endParaRPr lang="en-US" sz="1200" dirty="0"/>
          </a:p>
        </p:txBody>
      </p:sp>
      <p:sp>
        <p:nvSpPr>
          <p:cNvPr id="14" name="Shortcut arrow"/>
          <p:cNvSpPr/>
          <p:nvPr/>
        </p:nvSpPr>
        <p:spPr>
          <a:xfrm>
            <a:off x="3566160" y="3831336"/>
            <a:ext cx="1005840" cy="0"/>
          </a:xfrm>
          <a:prstGeom prst="line">
            <a:avLst/>
          </a:prstGeom>
          <a:noFill/>
          <a:ln w="28575">
            <a:solidFill>
              <a:schemeClr val="accent3"/>
            </a:solidFill>
            <a:prstDash val="dash"/>
            <a:tailEnd type="triangle"/>
          </a:ln>
        </p:spPr>
      </p:sp>
      <p:sp>
        <p:nvSpPr>
          <p:cNvPr id="15" name="Source box"/>
          <p:cNvSpPr/>
          <p:nvPr/>
        </p:nvSpPr>
        <p:spPr>
          <a:xfrm>
            <a:off x="4754880" y="1783080"/>
            <a:ext cx="2697480" cy="3566160"/>
          </a:xfrm>
          <a:prstGeom prst="roundRect">
            <a:avLst>
              <a:gd name="adj" fmla="val 4068"/>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6" name="Source label"/>
          <p:cNvSpPr txBox="1"/>
          <p:nvPr/>
        </p:nvSpPr>
        <p:spPr>
          <a:xfrm>
            <a:off x="4937760" y="1901952"/>
            <a:ext cx="237744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THE DATA STAYS HERE</a:t>
            </a:r>
            <a:endParaRPr lang="en-US" sz="1000" dirty="0"/>
          </a:p>
        </p:txBody>
      </p:sp>
      <p:sp>
        <p:nvSpPr>
          <p:cNvPr id="17" name="Source 1"/>
          <p:cNvSpPr/>
          <p:nvPr/>
        </p:nvSpPr>
        <p:spPr>
          <a:xfrm>
            <a:off x="4937760" y="2286000"/>
            <a:ext cx="2331720" cy="585216"/>
          </a:xfrm>
          <a:prstGeom prst="roundRect">
            <a:avLst>
              <a:gd name="adj" fmla="val 18750"/>
            </a:avLst>
          </a:prstGeom>
          <a:solidFill>
            <a:schemeClr val="bg2"/>
          </a:solidFill>
          <a:ln/>
        </p:spPr>
      </p:sp>
      <p:sp>
        <p:nvSpPr>
          <p:cNvPr id="18" name="Source text"/>
          <p:cNvSpPr txBox="1"/>
          <p:nvPr/>
        </p:nvSpPr>
        <p:spPr>
          <a:xfrm>
            <a:off x="5074920" y="2286000"/>
            <a:ext cx="2103120" cy="585216"/>
          </a:xfrm>
          <a:prstGeom prst="rect">
            <a:avLst/>
          </a:prstGeom>
          <a:noFill/>
          <a:ln/>
        </p:spPr>
        <p:txBody>
          <a:bodyPr wrap="square" lIns="0" tIns="0" rIns="0" bIns="0" rtlCol="0" anchor="ctr"/>
          <a:lstStyle/>
          <a:p>
            <a:pPr indent="0" marL="0">
              <a:buNone/>
            </a:pPr>
            <a:r>
              <a:rPr lang="en-US" sz="1250" dirty="0">
                <a:solidFill>
                  <a:schemeClr val="tx1"/>
                </a:solidFill>
              </a:rPr>
              <a:t>Another lakehouse or workspace</a:t>
            </a:r>
            <a:endParaRPr lang="en-US" sz="1250" dirty="0"/>
          </a:p>
        </p:txBody>
      </p:sp>
      <p:sp>
        <p:nvSpPr>
          <p:cNvPr id="19" name="Source 2"/>
          <p:cNvSpPr/>
          <p:nvPr/>
        </p:nvSpPr>
        <p:spPr>
          <a:xfrm>
            <a:off x="4937760" y="3035808"/>
            <a:ext cx="2331720" cy="585216"/>
          </a:xfrm>
          <a:prstGeom prst="roundRect">
            <a:avLst>
              <a:gd name="adj" fmla="val 18750"/>
            </a:avLst>
          </a:prstGeom>
          <a:solidFill>
            <a:schemeClr val="bg2"/>
          </a:solidFill>
          <a:ln/>
        </p:spPr>
      </p:sp>
      <p:sp>
        <p:nvSpPr>
          <p:cNvPr id="20" name="Source text"/>
          <p:cNvSpPr txBox="1"/>
          <p:nvPr/>
        </p:nvSpPr>
        <p:spPr>
          <a:xfrm>
            <a:off x="5074920" y="3035808"/>
            <a:ext cx="2103120" cy="585216"/>
          </a:xfrm>
          <a:prstGeom prst="rect">
            <a:avLst/>
          </a:prstGeom>
          <a:noFill/>
          <a:ln/>
        </p:spPr>
        <p:txBody>
          <a:bodyPr wrap="square" lIns="0" tIns="0" rIns="0" bIns="0" rtlCol="0" anchor="ctr"/>
          <a:lstStyle/>
          <a:p>
            <a:pPr indent="0" marL="0">
              <a:buNone/>
            </a:pPr>
            <a:r>
              <a:rPr lang="en-US" sz="1250" dirty="0">
                <a:solidFill>
                  <a:schemeClr val="tx1"/>
                </a:solidFill>
              </a:rPr>
              <a:t>Azure Data Lake Storage Gen2</a:t>
            </a:r>
            <a:endParaRPr lang="en-US" sz="1250" dirty="0"/>
          </a:p>
        </p:txBody>
      </p:sp>
      <p:sp>
        <p:nvSpPr>
          <p:cNvPr id="21" name="Source 3"/>
          <p:cNvSpPr/>
          <p:nvPr/>
        </p:nvSpPr>
        <p:spPr>
          <a:xfrm>
            <a:off x="4937760" y="3785616"/>
            <a:ext cx="2331720" cy="585216"/>
          </a:xfrm>
          <a:prstGeom prst="roundRect">
            <a:avLst>
              <a:gd name="adj" fmla="val 18750"/>
            </a:avLst>
          </a:prstGeom>
          <a:solidFill>
            <a:schemeClr val="bg2"/>
          </a:solidFill>
          <a:ln/>
        </p:spPr>
      </p:sp>
      <p:sp>
        <p:nvSpPr>
          <p:cNvPr id="22" name="Source text"/>
          <p:cNvSpPr txBox="1"/>
          <p:nvPr/>
        </p:nvSpPr>
        <p:spPr>
          <a:xfrm>
            <a:off x="5074920" y="3785616"/>
            <a:ext cx="2103120" cy="585216"/>
          </a:xfrm>
          <a:prstGeom prst="rect">
            <a:avLst/>
          </a:prstGeom>
          <a:noFill/>
          <a:ln/>
        </p:spPr>
        <p:txBody>
          <a:bodyPr wrap="square" lIns="0" tIns="0" rIns="0" bIns="0" rtlCol="0" anchor="ctr"/>
          <a:lstStyle/>
          <a:p>
            <a:pPr indent="0" marL="0">
              <a:buNone/>
            </a:pPr>
            <a:r>
              <a:rPr lang="en-US" sz="1250" dirty="0">
                <a:solidFill>
                  <a:schemeClr val="tx1"/>
                </a:solidFill>
              </a:rPr>
              <a:t>Amazon S3</a:t>
            </a:r>
            <a:endParaRPr lang="en-US" sz="1250" dirty="0"/>
          </a:p>
        </p:txBody>
      </p:sp>
      <p:sp>
        <p:nvSpPr>
          <p:cNvPr id="23" name="Source 4"/>
          <p:cNvSpPr/>
          <p:nvPr/>
        </p:nvSpPr>
        <p:spPr>
          <a:xfrm>
            <a:off x="4937760" y="4535424"/>
            <a:ext cx="2331720" cy="585216"/>
          </a:xfrm>
          <a:prstGeom prst="roundRect">
            <a:avLst>
              <a:gd name="adj" fmla="val 18750"/>
            </a:avLst>
          </a:prstGeom>
          <a:solidFill>
            <a:schemeClr val="bg2"/>
          </a:solidFill>
          <a:ln/>
        </p:spPr>
      </p:sp>
      <p:sp>
        <p:nvSpPr>
          <p:cNvPr id="24" name="Source text"/>
          <p:cNvSpPr txBox="1"/>
          <p:nvPr/>
        </p:nvSpPr>
        <p:spPr>
          <a:xfrm>
            <a:off x="5074920" y="4535424"/>
            <a:ext cx="2103120" cy="585216"/>
          </a:xfrm>
          <a:prstGeom prst="rect">
            <a:avLst/>
          </a:prstGeom>
          <a:noFill/>
          <a:ln/>
        </p:spPr>
        <p:txBody>
          <a:bodyPr wrap="square" lIns="0" tIns="0" rIns="0" bIns="0" rtlCol="0" anchor="ctr"/>
          <a:lstStyle/>
          <a:p>
            <a:pPr indent="0" marL="0">
              <a:buNone/>
            </a:pPr>
            <a:r>
              <a:rPr lang="en-US" sz="1250" i="1" dirty="0">
                <a:solidFill>
                  <a:schemeClr val="tx1"/>
                </a:solidFill>
              </a:rPr>
              <a:t>…and other supported sources</a:t>
            </a:r>
            <a:endParaRPr lang="en-US" sz="1250" dirty="0"/>
          </a:p>
        </p:txBody>
      </p:sp>
      <p:sp>
        <p:nvSpPr>
          <p:cNvPr id="25" name="Shortcut benefits"/>
          <p:cNvSpPr txBox="1"/>
          <p:nvPr/>
        </p:nvSpPr>
        <p:spPr>
          <a:xfrm>
            <a:off x="7863840" y="1810512"/>
            <a:ext cx="3749040" cy="20116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Always current: it reads the source in place.</a:t>
            </a:r>
            <a:endParaRPr lang="en-US" sz="1400" dirty="0"/>
          </a:p>
          <a:p>
            <a:pPr marL="342900" indent="-342900">
              <a:spcAft>
                <a:spcPts val="900"/>
              </a:spcAft>
              <a:buSzPct val="100000"/>
              <a:buChar char="•"/>
            </a:pPr>
            <a:r>
              <a:rPr lang="en-US" sz="1400" dirty="0">
                <a:solidFill>
                  <a:schemeClr val="tx1"/>
                </a:solidFill>
              </a:rPr>
              <a:t>No duplicate to maintain or reconcile.</a:t>
            </a:r>
            <a:endParaRPr lang="en-US" sz="1400" dirty="0"/>
          </a:p>
          <a:p>
            <a:pPr marL="342900" indent="-342900">
              <a:spcAft>
                <a:spcPts val="900"/>
              </a:spcAft>
              <a:buSzPct val="100000"/>
              <a:buChar char="•"/>
            </a:pPr>
            <a:r>
              <a:rPr lang="en-US" sz="1400" dirty="0">
                <a:solidFill>
                  <a:schemeClr val="tx1"/>
                </a:solidFill>
              </a:rPr>
              <a:t>The data owner stays in charge of access.</a:t>
            </a:r>
            <a:endParaRPr lang="en-US" sz="1400" dirty="0"/>
          </a:p>
          <a:p>
            <a:pPr marL="342900" indent="-342900">
              <a:spcAft>
                <a:spcPts val="900"/>
              </a:spcAft>
              <a:buSzPct val="100000"/>
              <a:buChar char="•"/>
            </a:pPr>
            <a:r>
              <a:rPr lang="en-US" sz="1400" dirty="0">
                <a:solidFill>
                  <a:schemeClr val="tx1"/>
                </a:solidFill>
              </a:rPr>
              <a:t>Deleting a shortcut does not delete the source data.</a:t>
            </a:r>
            <a:endParaRPr lang="en-US" sz="1400" dirty="0"/>
          </a:p>
        </p:txBody>
      </p:sp>
      <p:sp>
        <p:nvSpPr>
          <p:cNvPr id="26" name="Caveat card"/>
          <p:cNvSpPr/>
          <p:nvPr/>
        </p:nvSpPr>
        <p:spPr>
          <a:xfrm>
            <a:off x="7863840" y="3886200"/>
            <a:ext cx="3776472" cy="1463040"/>
          </a:xfrm>
          <a:prstGeom prst="roundRect">
            <a:avLst>
              <a:gd name="adj" fmla="val 7500"/>
            </a:avLst>
          </a:prstGeom>
          <a:solidFill>
            <a:schemeClr val="accent3">
              <a:alpha val="22000"/>
            </a:schemeClr>
          </a:solidFill>
          <a:ln/>
        </p:spPr>
      </p:sp>
      <p:sp>
        <p:nvSpPr>
          <p:cNvPr id="27" name="Caveat text"/>
          <p:cNvSpPr txBox="1"/>
          <p:nvPr/>
        </p:nvSpPr>
        <p:spPr>
          <a:xfrm>
            <a:off x="8046720" y="3886200"/>
            <a:ext cx="3429000" cy="1463040"/>
          </a:xfrm>
          <a:prstGeom prst="rect">
            <a:avLst/>
          </a:prstGeom>
          <a:noFill/>
          <a:ln/>
        </p:spPr>
        <p:txBody>
          <a:bodyPr wrap="square" lIns="0" tIns="0" rIns="0" bIns="0" rtlCol="0" anchor="ctr"/>
          <a:lstStyle/>
          <a:p>
            <a:pPr indent="0" marL="0">
              <a:buNone/>
            </a:pPr>
            <a:r>
              <a:rPr lang="en-US" sz="1400" b="1" dirty="0">
                <a:solidFill>
                  <a:schemeClr val="tx1"/>
                </a:solidFill>
              </a:rPr>
              <a:t>A shortcut does not transform data. </a:t>
            </a:r>
            <a:pPr indent="0" marL="0">
              <a:buNone/>
            </a:pPr>
            <a:r>
              <a:rPr lang="en-US" sz="1400" dirty="0">
                <a:solidFill>
                  <a:schemeClr val="tx1"/>
                </a:solidFill>
              </a:rPr>
              <a:t>If you need to clean or reshape it, bring it in with a notebook.</a:t>
            </a:r>
            <a:endParaRPr lang="en-US" sz="1400" dirty="0"/>
          </a:p>
        </p:txBody>
      </p:sp>
      <p:sp>
        <p:nvSpPr>
          <p:cNvPr id="28"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Use a shortcut when someone else owns the data and you only need to read it.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LAKEHOUSE AND ONELAKE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doors into the same tables</a:t>
            </a:r>
            <a:endParaRPr lang="en-US" sz="3200" dirty="0"/>
          </a:p>
        </p:txBody>
      </p:sp>
      <p:sp>
        <p:nvSpPr>
          <p:cNvPr id="5" name="Notebook card"/>
          <p:cNvSpPr/>
          <p:nvPr/>
        </p:nvSpPr>
        <p:spPr>
          <a:xfrm>
            <a:off x="548640" y="1783080"/>
            <a:ext cx="3593592" cy="3017520"/>
          </a:xfrm>
          <a:prstGeom prst="roundRect">
            <a:avLst>
              <a:gd name="adj" fmla="val 3636"/>
            </a:avLst>
          </a:prstGeom>
          <a:solidFill>
            <a:schemeClr val="bg2"/>
          </a:solidFill>
          <a:ln/>
        </p:spPr>
      </p:sp>
      <p:sp>
        <p:nvSpPr>
          <p:cNvPr id="6" name="Notebook badge"/>
          <p:cNvSpPr/>
          <p:nvPr/>
        </p:nvSpPr>
        <p:spPr>
          <a:xfrm>
            <a:off x="804672" y="1965960"/>
            <a:ext cx="566928" cy="566928"/>
          </a:xfrm>
          <a:prstGeom prst="ellipse">
            <a:avLst/>
          </a:prstGeom>
          <a:solidFill>
            <a:schemeClr val="accent1"/>
          </a:solidFill>
          <a:ln/>
        </p:spPr>
      </p:sp>
      <p:pic>
        <p:nvPicPr>
          <p:cNvPr id="7" name="Image 0" descr="Notebook icon">    </p:cNvPr>
          <p:cNvPicPr>
            <a:picLocks noChangeAspect="1"/>
          </p:cNvPicPr>
          <p:nvPr/>
        </p:nvPicPr>
        <p:blipFill>
          <a:blip r:embed="rId1"/>
          <a:stretch>
            <a:fillRect/>
          </a:stretch>
        </p:blipFill>
        <p:spPr>
          <a:xfrm>
            <a:off x="946404" y="2107692"/>
            <a:ext cx="283464" cy="283464"/>
          </a:xfrm>
          <a:prstGeom prst="rect">
            <a:avLst/>
          </a:prstGeom>
        </p:spPr>
      </p:pic>
      <p:sp>
        <p:nvSpPr>
          <p:cNvPr id="8" name="Door title"/>
          <p:cNvSpPr txBox="1"/>
          <p:nvPr/>
        </p:nvSpPr>
        <p:spPr>
          <a:xfrm>
            <a:off x="1508760" y="1965960"/>
            <a:ext cx="251460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Notebook</a:t>
            </a:r>
            <a:endParaRPr lang="en-US" sz="1700" dirty="0"/>
          </a:p>
        </p:txBody>
      </p:sp>
      <p:sp>
        <p:nvSpPr>
          <p:cNvPr id="9" name="Door label"/>
          <p:cNvSpPr txBox="1"/>
          <p:nvPr/>
        </p:nvSpPr>
        <p:spPr>
          <a:xfrm>
            <a:off x="804672" y="2788920"/>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LANGUAGE</a:t>
            </a:r>
            <a:endParaRPr lang="en-US" sz="1000" dirty="0"/>
          </a:p>
        </p:txBody>
      </p:sp>
      <p:sp>
        <p:nvSpPr>
          <p:cNvPr id="10" name="Door value"/>
          <p:cNvSpPr txBox="1"/>
          <p:nvPr/>
        </p:nvSpPr>
        <p:spPr>
          <a:xfrm>
            <a:off x="804672" y="2990088"/>
            <a:ext cx="3108960" cy="411480"/>
          </a:xfrm>
          <a:prstGeom prst="rect">
            <a:avLst/>
          </a:prstGeom>
          <a:noFill/>
          <a:ln/>
        </p:spPr>
        <p:txBody>
          <a:bodyPr wrap="square" lIns="0" tIns="0" rIns="0" bIns="0" rtlCol="0" anchor="t"/>
          <a:lstStyle/>
          <a:p>
            <a:pPr indent="0" marL="0">
              <a:buNone/>
            </a:pPr>
            <a:r>
              <a:rPr lang="en-US" sz="1350" dirty="0">
                <a:solidFill>
                  <a:schemeClr val="tx1"/>
                </a:solidFill>
              </a:rPr>
              <a:t>Python, PySpark, Spark SQL</a:t>
            </a:r>
            <a:endParaRPr lang="en-US" sz="1350" dirty="0"/>
          </a:p>
        </p:txBody>
      </p:sp>
      <p:sp>
        <p:nvSpPr>
          <p:cNvPr id="11" name="Door label"/>
          <p:cNvSpPr txBox="1"/>
          <p:nvPr/>
        </p:nvSpPr>
        <p:spPr>
          <a:xfrm>
            <a:off x="804672" y="3447288"/>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CHANGES DATA?</a:t>
            </a:r>
            <a:endParaRPr lang="en-US" sz="1000" dirty="0"/>
          </a:p>
        </p:txBody>
      </p:sp>
      <p:sp>
        <p:nvSpPr>
          <p:cNvPr id="12" name="Door value"/>
          <p:cNvSpPr txBox="1"/>
          <p:nvPr/>
        </p:nvSpPr>
        <p:spPr>
          <a:xfrm>
            <a:off x="804672" y="3648456"/>
            <a:ext cx="3108960" cy="411480"/>
          </a:xfrm>
          <a:prstGeom prst="rect">
            <a:avLst/>
          </a:prstGeom>
          <a:noFill/>
          <a:ln/>
        </p:spPr>
        <p:txBody>
          <a:bodyPr wrap="square" lIns="0" tIns="0" rIns="0" bIns="0" rtlCol="0" anchor="t"/>
          <a:lstStyle/>
          <a:p>
            <a:pPr indent="0" marL="0">
              <a:buNone/>
            </a:pPr>
            <a:r>
              <a:rPr lang="en-US" sz="1350" dirty="0">
                <a:solidFill>
                  <a:schemeClr val="tx1"/>
                </a:solidFill>
              </a:rPr>
              <a:t>Yes: reads and writes</a:t>
            </a:r>
            <a:endParaRPr lang="en-US" sz="1350" dirty="0"/>
          </a:p>
        </p:txBody>
      </p:sp>
      <p:sp>
        <p:nvSpPr>
          <p:cNvPr id="13" name="Door label"/>
          <p:cNvSpPr txBox="1"/>
          <p:nvPr/>
        </p:nvSpPr>
        <p:spPr>
          <a:xfrm>
            <a:off x="804672" y="4105656"/>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BEST FOR</a:t>
            </a:r>
            <a:endParaRPr lang="en-US" sz="1000" dirty="0"/>
          </a:p>
        </p:txBody>
      </p:sp>
      <p:sp>
        <p:nvSpPr>
          <p:cNvPr id="14" name="Door value"/>
          <p:cNvSpPr txBox="1"/>
          <p:nvPr/>
        </p:nvSpPr>
        <p:spPr>
          <a:xfrm>
            <a:off x="804672" y="4306824"/>
            <a:ext cx="3108960" cy="411480"/>
          </a:xfrm>
          <a:prstGeom prst="rect">
            <a:avLst/>
          </a:prstGeom>
          <a:noFill/>
          <a:ln/>
        </p:spPr>
        <p:txBody>
          <a:bodyPr wrap="square" lIns="0" tIns="0" rIns="0" bIns="0" rtlCol="0" anchor="t"/>
          <a:lstStyle/>
          <a:p>
            <a:pPr indent="0" marL="0">
              <a:buNone/>
            </a:pPr>
            <a:r>
              <a:rPr lang="en-US" sz="1350" dirty="0">
                <a:solidFill>
                  <a:schemeClr val="tx1"/>
                </a:solidFill>
              </a:rPr>
              <a:t>Building and transforming data</a:t>
            </a:r>
            <a:endParaRPr lang="en-US" sz="1350" dirty="0"/>
          </a:p>
        </p:txBody>
      </p:sp>
      <p:sp>
        <p:nvSpPr>
          <p:cNvPr id="15" name="SQL analytics endpoint card"/>
          <p:cNvSpPr/>
          <p:nvPr/>
        </p:nvSpPr>
        <p:spPr>
          <a:xfrm>
            <a:off x="4297680" y="1783080"/>
            <a:ext cx="3593592" cy="3017520"/>
          </a:xfrm>
          <a:prstGeom prst="roundRect">
            <a:avLst>
              <a:gd name="adj" fmla="val 3636"/>
            </a:avLst>
          </a:prstGeom>
          <a:solidFill>
            <a:schemeClr val="bg2"/>
          </a:solidFill>
          <a:ln/>
        </p:spPr>
      </p:sp>
      <p:sp>
        <p:nvSpPr>
          <p:cNvPr id="16" name="SQL analytics endpoint badge"/>
          <p:cNvSpPr/>
          <p:nvPr/>
        </p:nvSpPr>
        <p:spPr>
          <a:xfrm>
            <a:off x="4553712" y="1965960"/>
            <a:ext cx="566928" cy="566928"/>
          </a:xfrm>
          <a:prstGeom prst="ellipse">
            <a:avLst/>
          </a:prstGeom>
          <a:solidFill>
            <a:schemeClr val="accent2"/>
          </a:solidFill>
          <a:ln/>
        </p:spPr>
      </p:sp>
      <p:pic>
        <p:nvPicPr>
          <p:cNvPr id="17" name="Image 1" descr="SQL analytics endpoint icon">    </p:cNvPr>
          <p:cNvPicPr>
            <a:picLocks noChangeAspect="1"/>
          </p:cNvPicPr>
          <p:nvPr/>
        </p:nvPicPr>
        <p:blipFill>
          <a:blip r:embed="rId2"/>
          <a:stretch>
            <a:fillRect/>
          </a:stretch>
        </p:blipFill>
        <p:spPr>
          <a:xfrm>
            <a:off x="4695444" y="2107692"/>
            <a:ext cx="283464" cy="283464"/>
          </a:xfrm>
          <a:prstGeom prst="rect">
            <a:avLst/>
          </a:prstGeom>
        </p:spPr>
      </p:pic>
      <p:sp>
        <p:nvSpPr>
          <p:cNvPr id="18" name="Door title"/>
          <p:cNvSpPr txBox="1"/>
          <p:nvPr/>
        </p:nvSpPr>
        <p:spPr>
          <a:xfrm>
            <a:off x="5257800" y="1965960"/>
            <a:ext cx="251460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SQL analytics endpoint</a:t>
            </a:r>
            <a:endParaRPr lang="en-US" sz="1700" dirty="0"/>
          </a:p>
        </p:txBody>
      </p:sp>
      <p:sp>
        <p:nvSpPr>
          <p:cNvPr id="19" name="Door label"/>
          <p:cNvSpPr txBox="1"/>
          <p:nvPr/>
        </p:nvSpPr>
        <p:spPr>
          <a:xfrm>
            <a:off x="4553712" y="2788920"/>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LANGUAGE</a:t>
            </a:r>
            <a:endParaRPr lang="en-US" sz="1000" dirty="0"/>
          </a:p>
        </p:txBody>
      </p:sp>
      <p:sp>
        <p:nvSpPr>
          <p:cNvPr id="20" name="Door value"/>
          <p:cNvSpPr txBox="1"/>
          <p:nvPr/>
        </p:nvSpPr>
        <p:spPr>
          <a:xfrm>
            <a:off x="4553712" y="2990088"/>
            <a:ext cx="3108960" cy="411480"/>
          </a:xfrm>
          <a:prstGeom prst="rect">
            <a:avLst/>
          </a:prstGeom>
          <a:noFill/>
          <a:ln/>
        </p:spPr>
        <p:txBody>
          <a:bodyPr wrap="square" lIns="0" tIns="0" rIns="0" bIns="0" rtlCol="0" anchor="t"/>
          <a:lstStyle/>
          <a:p>
            <a:pPr indent="0" marL="0">
              <a:buNone/>
            </a:pPr>
            <a:r>
              <a:rPr lang="en-US" sz="1350" dirty="0">
                <a:solidFill>
                  <a:schemeClr val="tx1"/>
                </a:solidFill>
              </a:rPr>
              <a:t>T-SQL</a:t>
            </a:r>
            <a:endParaRPr lang="en-US" sz="1350" dirty="0"/>
          </a:p>
        </p:txBody>
      </p:sp>
      <p:sp>
        <p:nvSpPr>
          <p:cNvPr id="21" name="Door label"/>
          <p:cNvSpPr txBox="1"/>
          <p:nvPr/>
        </p:nvSpPr>
        <p:spPr>
          <a:xfrm>
            <a:off x="4553712" y="3447288"/>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CHANGES DATA?</a:t>
            </a:r>
            <a:endParaRPr lang="en-US" sz="1000" dirty="0"/>
          </a:p>
        </p:txBody>
      </p:sp>
      <p:sp>
        <p:nvSpPr>
          <p:cNvPr id="22" name="Door value"/>
          <p:cNvSpPr txBox="1"/>
          <p:nvPr/>
        </p:nvSpPr>
        <p:spPr>
          <a:xfrm>
            <a:off x="4553712" y="3648456"/>
            <a:ext cx="3108960" cy="411480"/>
          </a:xfrm>
          <a:prstGeom prst="rect">
            <a:avLst/>
          </a:prstGeom>
          <a:noFill/>
          <a:ln/>
        </p:spPr>
        <p:txBody>
          <a:bodyPr wrap="square" lIns="0" tIns="0" rIns="0" bIns="0" rtlCol="0" anchor="t"/>
          <a:lstStyle/>
          <a:p>
            <a:pPr indent="0" marL="0">
              <a:buNone/>
            </a:pPr>
            <a:r>
              <a:rPr lang="en-US" sz="1350" dirty="0">
                <a:solidFill>
                  <a:schemeClr val="tx1"/>
                </a:solidFill>
              </a:rPr>
              <a:t>No: read-only</a:t>
            </a:r>
            <a:endParaRPr lang="en-US" sz="1350" dirty="0"/>
          </a:p>
        </p:txBody>
      </p:sp>
      <p:sp>
        <p:nvSpPr>
          <p:cNvPr id="23" name="Door label"/>
          <p:cNvSpPr txBox="1"/>
          <p:nvPr/>
        </p:nvSpPr>
        <p:spPr>
          <a:xfrm>
            <a:off x="4553712" y="4105656"/>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BEST FOR</a:t>
            </a:r>
            <a:endParaRPr lang="en-US" sz="1000" dirty="0"/>
          </a:p>
        </p:txBody>
      </p:sp>
      <p:sp>
        <p:nvSpPr>
          <p:cNvPr id="24" name="Door value"/>
          <p:cNvSpPr txBox="1"/>
          <p:nvPr/>
        </p:nvSpPr>
        <p:spPr>
          <a:xfrm>
            <a:off x="4553712" y="4306824"/>
            <a:ext cx="3108960" cy="411480"/>
          </a:xfrm>
          <a:prstGeom prst="rect">
            <a:avLst/>
          </a:prstGeom>
          <a:noFill/>
          <a:ln/>
        </p:spPr>
        <p:txBody>
          <a:bodyPr wrap="square" lIns="0" tIns="0" rIns="0" bIns="0" rtlCol="0" anchor="t"/>
          <a:lstStyle/>
          <a:p>
            <a:pPr indent="0" marL="0">
              <a:buNone/>
            </a:pPr>
            <a:r>
              <a:rPr lang="en-US" sz="1350" dirty="0">
                <a:solidFill>
                  <a:schemeClr val="tx1"/>
                </a:solidFill>
              </a:rPr>
              <a:t>Quick checks, analysts, tools that speak SQL</a:t>
            </a:r>
            <a:endParaRPr lang="en-US" sz="1350" dirty="0"/>
          </a:p>
        </p:txBody>
      </p:sp>
      <p:sp>
        <p:nvSpPr>
          <p:cNvPr id="25" name="Warehouse card"/>
          <p:cNvSpPr/>
          <p:nvPr/>
        </p:nvSpPr>
        <p:spPr>
          <a:xfrm>
            <a:off x="8046720" y="1783080"/>
            <a:ext cx="3593592" cy="3017520"/>
          </a:xfrm>
          <a:prstGeom prst="roundRect">
            <a:avLst>
              <a:gd name="adj" fmla="val 3636"/>
            </a:avLst>
          </a:prstGeom>
          <a:solidFill>
            <a:schemeClr val="bg2"/>
          </a:solidFill>
          <a:ln/>
        </p:spPr>
      </p:sp>
      <p:sp>
        <p:nvSpPr>
          <p:cNvPr id="26" name="Warehouse badge"/>
          <p:cNvSpPr/>
          <p:nvPr/>
        </p:nvSpPr>
        <p:spPr>
          <a:xfrm>
            <a:off x="8302752" y="1965960"/>
            <a:ext cx="566928" cy="566928"/>
          </a:xfrm>
          <a:prstGeom prst="ellipse">
            <a:avLst/>
          </a:prstGeom>
          <a:solidFill>
            <a:schemeClr val="accent5"/>
          </a:solidFill>
          <a:ln/>
        </p:spPr>
      </p:sp>
      <p:pic>
        <p:nvPicPr>
          <p:cNvPr id="27" name="Image 2" descr="Warehouse icon">    </p:cNvPr>
          <p:cNvPicPr>
            <a:picLocks noChangeAspect="1"/>
          </p:cNvPicPr>
          <p:nvPr/>
        </p:nvPicPr>
        <p:blipFill>
          <a:blip r:embed="rId3"/>
          <a:stretch>
            <a:fillRect/>
          </a:stretch>
        </p:blipFill>
        <p:spPr>
          <a:xfrm>
            <a:off x="8444484" y="2107692"/>
            <a:ext cx="283464" cy="283464"/>
          </a:xfrm>
          <a:prstGeom prst="rect">
            <a:avLst/>
          </a:prstGeom>
        </p:spPr>
      </p:pic>
      <p:sp>
        <p:nvSpPr>
          <p:cNvPr id="28" name="Door title"/>
          <p:cNvSpPr txBox="1"/>
          <p:nvPr/>
        </p:nvSpPr>
        <p:spPr>
          <a:xfrm>
            <a:off x="9006840" y="1965960"/>
            <a:ext cx="251460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Warehouse</a:t>
            </a:r>
            <a:endParaRPr lang="en-US" sz="1700" dirty="0"/>
          </a:p>
        </p:txBody>
      </p:sp>
      <p:sp>
        <p:nvSpPr>
          <p:cNvPr id="29" name="Door label"/>
          <p:cNvSpPr txBox="1"/>
          <p:nvPr/>
        </p:nvSpPr>
        <p:spPr>
          <a:xfrm>
            <a:off x="8302752" y="2788920"/>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LANGUAGE</a:t>
            </a:r>
            <a:endParaRPr lang="en-US" sz="1000" dirty="0"/>
          </a:p>
        </p:txBody>
      </p:sp>
      <p:sp>
        <p:nvSpPr>
          <p:cNvPr id="30" name="Door value"/>
          <p:cNvSpPr txBox="1"/>
          <p:nvPr/>
        </p:nvSpPr>
        <p:spPr>
          <a:xfrm>
            <a:off x="8302752" y="2990088"/>
            <a:ext cx="3108960" cy="411480"/>
          </a:xfrm>
          <a:prstGeom prst="rect">
            <a:avLst/>
          </a:prstGeom>
          <a:noFill/>
          <a:ln/>
        </p:spPr>
        <p:txBody>
          <a:bodyPr wrap="square" lIns="0" tIns="0" rIns="0" bIns="0" rtlCol="0" anchor="t"/>
          <a:lstStyle/>
          <a:p>
            <a:pPr indent="0" marL="0">
              <a:buNone/>
            </a:pPr>
            <a:r>
              <a:rPr lang="en-US" sz="1350" dirty="0">
                <a:solidFill>
                  <a:schemeClr val="tx1"/>
                </a:solidFill>
              </a:rPr>
              <a:t>T-SQL</a:t>
            </a:r>
            <a:endParaRPr lang="en-US" sz="1350" dirty="0"/>
          </a:p>
        </p:txBody>
      </p:sp>
      <p:sp>
        <p:nvSpPr>
          <p:cNvPr id="31" name="Door label"/>
          <p:cNvSpPr txBox="1"/>
          <p:nvPr/>
        </p:nvSpPr>
        <p:spPr>
          <a:xfrm>
            <a:off x="8302752" y="3447288"/>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CHANGES DATA?</a:t>
            </a:r>
            <a:endParaRPr lang="en-US" sz="1000" dirty="0"/>
          </a:p>
        </p:txBody>
      </p:sp>
      <p:sp>
        <p:nvSpPr>
          <p:cNvPr id="32" name="Door value"/>
          <p:cNvSpPr txBox="1"/>
          <p:nvPr/>
        </p:nvSpPr>
        <p:spPr>
          <a:xfrm>
            <a:off x="8302752" y="3648456"/>
            <a:ext cx="3108960" cy="411480"/>
          </a:xfrm>
          <a:prstGeom prst="rect">
            <a:avLst/>
          </a:prstGeom>
          <a:noFill/>
          <a:ln/>
        </p:spPr>
        <p:txBody>
          <a:bodyPr wrap="square" lIns="0" tIns="0" rIns="0" bIns="0" rtlCol="0" anchor="t"/>
          <a:lstStyle/>
          <a:p>
            <a:pPr indent="0" marL="0">
              <a:buNone/>
            </a:pPr>
            <a:r>
              <a:rPr lang="en-US" sz="1350" dirty="0">
                <a:solidFill>
                  <a:schemeClr val="tx1"/>
                </a:solidFill>
              </a:rPr>
              <a:t>Yes: reads and writes</a:t>
            </a:r>
            <a:endParaRPr lang="en-US" sz="1350" dirty="0"/>
          </a:p>
        </p:txBody>
      </p:sp>
      <p:sp>
        <p:nvSpPr>
          <p:cNvPr id="33" name="Door label"/>
          <p:cNvSpPr txBox="1"/>
          <p:nvPr/>
        </p:nvSpPr>
        <p:spPr>
          <a:xfrm>
            <a:off x="8302752" y="4105656"/>
            <a:ext cx="310896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BEST FOR</a:t>
            </a:r>
            <a:endParaRPr lang="en-US" sz="1000" dirty="0"/>
          </a:p>
        </p:txBody>
      </p:sp>
      <p:sp>
        <p:nvSpPr>
          <p:cNvPr id="34" name="Door value"/>
          <p:cNvSpPr txBox="1"/>
          <p:nvPr/>
        </p:nvSpPr>
        <p:spPr>
          <a:xfrm>
            <a:off x="8302752" y="4306824"/>
            <a:ext cx="3108960" cy="411480"/>
          </a:xfrm>
          <a:prstGeom prst="rect">
            <a:avLst/>
          </a:prstGeom>
          <a:noFill/>
          <a:ln/>
        </p:spPr>
        <p:txBody>
          <a:bodyPr wrap="square" lIns="0" tIns="0" rIns="0" bIns="0" rtlCol="0" anchor="t"/>
          <a:lstStyle/>
          <a:p>
            <a:pPr indent="0" marL="0">
              <a:buNone/>
            </a:pPr>
            <a:r>
              <a:rPr lang="en-US" sz="1350" dirty="0">
                <a:solidFill>
                  <a:schemeClr val="tx1"/>
                </a:solidFill>
              </a:rPr>
              <a:t>SQL-first teams. Awareness only today</a:t>
            </a:r>
            <a:endParaRPr lang="en-US" sz="1350" dirty="0"/>
          </a:p>
        </p:txBody>
      </p:sp>
      <p:sp>
        <p:nvSpPr>
          <p:cNvPr id="35" name="Delta tables bar"/>
          <p:cNvSpPr txBox="1"/>
          <p:nvPr/>
        </p:nvSpPr>
        <p:spPr>
          <a:xfrm>
            <a:off x="548640" y="4892040"/>
            <a:ext cx="11094415"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700" b="1" dirty="0">
                <a:solidFill>
                  <a:schemeClr val="bg1"/>
                </a:solidFill>
                <a:latin typeface="+mj-lt" pitchFamily="34" charset="0"/>
                <a:ea typeface="+mj-lt" pitchFamily="34" charset="-122"/>
                <a:cs typeface="+mj-lt" pitchFamily="34" charset="-120"/>
              </a:rPr>
              <a:t>Delta tables in OneLake</a:t>
            </a:r>
            <a:endParaRPr lang="en-US" sz="1700" dirty="0"/>
          </a:p>
        </p:txBody>
      </p:sp>
      <p:sp>
        <p:nvSpPr>
          <p:cNvPr id="36"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Same tables, same answers. Pick the door by what you need to do.</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1 · LAKEHOUSE AND ONELAKE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Names are the documentation nobody writes</a:t>
            </a:r>
            <a:endParaRPr lang="en-US" sz="3200" dirty="0"/>
          </a:p>
        </p:txBody>
      </p:sp>
      <p:sp>
        <p:nvSpPr>
          <p:cNvPr id="5" name="Do card"/>
          <p:cNvSpPr/>
          <p:nvPr/>
        </p:nvSpPr>
        <p:spPr>
          <a:xfrm>
            <a:off x="548640" y="1783080"/>
            <a:ext cx="5468112" cy="3246120"/>
          </a:xfrm>
          <a:prstGeom prst="roundRect">
            <a:avLst>
              <a:gd name="adj" fmla="val 3380"/>
            </a:avLst>
          </a:prstGeom>
          <a:solidFill>
            <a:schemeClr val="bg2"/>
          </a:solidFill>
          <a:ln/>
        </p:spPr>
      </p:sp>
      <p:sp>
        <p:nvSpPr>
          <p:cNvPr id="6" name="Pill"/>
          <p:cNvSpPr txBox="1"/>
          <p:nvPr/>
        </p:nvSpPr>
        <p:spPr>
          <a:xfrm>
            <a:off x="777240" y="1920240"/>
            <a:ext cx="91440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200" kern="0" dirty="0">
                <a:solidFill>
                  <a:schemeClr val="bg1"/>
                </a:solidFill>
              </a:rPr>
              <a:t>DO</a:t>
            </a:r>
            <a:endParaRPr lang="en-US" sz="1100" dirty="0"/>
          </a:p>
        </p:txBody>
      </p:sp>
      <p:sp>
        <p:nvSpPr>
          <p:cNvPr id="7" name="Example name"/>
          <p:cNvSpPr txBox="1"/>
          <p:nvPr/>
        </p:nvSpPr>
        <p:spPr>
          <a:xfrm>
            <a:off x="777240" y="2377440"/>
            <a:ext cx="5029200" cy="274320"/>
          </a:xfrm>
          <a:prstGeom prst="rect">
            <a:avLst/>
          </a:prstGeom>
          <a:noFill/>
          <a:ln/>
        </p:spPr>
        <p:txBody>
          <a:bodyPr wrap="square" lIns="0" tIns="0" rIns="0" bIns="0" rtlCol="0" anchor="t"/>
          <a:lstStyle/>
          <a:p>
            <a:pPr indent="0" marL="0">
              <a:buNone/>
            </a:pPr>
            <a:r>
              <a:rPr lang="en-US" sz="1400" b="1" dirty="0">
                <a:solidFill>
                  <a:schemeClr val="accent2"/>
                </a:solidFill>
                <a:latin typeface="Courier New" pitchFamily="34" charset="0"/>
                <a:ea typeface="Courier New" pitchFamily="34" charset="-122"/>
                <a:cs typeface="Courier New" pitchFamily="34" charset="-120"/>
              </a:rPr>
              <a:t>silver_dst_impressions</a:t>
            </a:r>
            <a:endParaRPr lang="en-US" sz="1400" dirty="0"/>
          </a:p>
        </p:txBody>
      </p:sp>
      <p:sp>
        <p:nvSpPr>
          <p:cNvPr id="8" name="Example reason"/>
          <p:cNvSpPr txBox="1"/>
          <p:nvPr/>
        </p:nvSpPr>
        <p:spPr>
          <a:xfrm>
            <a:off x="777240" y="2651760"/>
            <a:ext cx="5029200" cy="274320"/>
          </a:xfrm>
          <a:prstGeom prst="rect">
            <a:avLst/>
          </a:prstGeom>
          <a:noFill/>
          <a:ln/>
        </p:spPr>
        <p:txBody>
          <a:bodyPr wrap="square" lIns="0" tIns="0" rIns="0" bIns="0" rtlCol="0" anchor="t"/>
          <a:lstStyle/>
          <a:p>
            <a:pPr indent="0" marL="0">
              <a:buNone/>
            </a:pPr>
            <a:r>
              <a:rPr lang="en-US" sz="1300" dirty="0">
                <a:solidFill>
                  <a:schemeClr val="tx1"/>
                </a:solidFill>
              </a:rPr>
              <a:t>Layer, source and content in the name</a:t>
            </a:r>
            <a:endParaRPr lang="en-US" sz="1300" dirty="0"/>
          </a:p>
        </p:txBody>
      </p:sp>
      <p:sp>
        <p:nvSpPr>
          <p:cNvPr id="9" name="Example name"/>
          <p:cNvSpPr txBox="1"/>
          <p:nvPr/>
        </p:nvSpPr>
        <p:spPr>
          <a:xfrm>
            <a:off x="777240" y="3035808"/>
            <a:ext cx="5029200" cy="274320"/>
          </a:xfrm>
          <a:prstGeom prst="rect">
            <a:avLst/>
          </a:prstGeom>
          <a:noFill/>
          <a:ln/>
        </p:spPr>
        <p:txBody>
          <a:bodyPr wrap="square" lIns="0" tIns="0" rIns="0" bIns="0" rtlCol="0" anchor="t"/>
          <a:lstStyle/>
          <a:p>
            <a:pPr indent="0" marL="0">
              <a:buNone/>
            </a:pPr>
            <a:r>
              <a:rPr lang="en-US" sz="1400" b="1" dirty="0">
                <a:solidFill>
                  <a:schemeClr val="accent2"/>
                </a:solidFill>
                <a:latin typeface="Courier New" pitchFamily="34" charset="0"/>
                <a:ea typeface="Courier New" pitchFamily="34" charset="-122"/>
                <a:cs typeface="Courier New" pitchFamily="34" charset="-120"/>
              </a:rPr>
              <a:t>ref_ad_unit_map</a:t>
            </a:r>
            <a:endParaRPr lang="en-US" sz="1400" dirty="0"/>
          </a:p>
        </p:txBody>
      </p:sp>
      <p:sp>
        <p:nvSpPr>
          <p:cNvPr id="10" name="Example reason"/>
          <p:cNvSpPr txBox="1"/>
          <p:nvPr/>
        </p:nvSpPr>
        <p:spPr>
          <a:xfrm>
            <a:off x="777240" y="3310128"/>
            <a:ext cx="5029200" cy="274320"/>
          </a:xfrm>
          <a:prstGeom prst="rect">
            <a:avLst/>
          </a:prstGeom>
          <a:noFill/>
          <a:ln/>
        </p:spPr>
        <p:txBody>
          <a:bodyPr wrap="square" lIns="0" tIns="0" rIns="0" bIns="0" rtlCol="0" anchor="t"/>
          <a:lstStyle/>
          <a:p>
            <a:pPr indent="0" marL="0">
              <a:buNone/>
            </a:pPr>
            <a:r>
              <a:rPr lang="en-US" sz="1300" dirty="0">
                <a:solidFill>
                  <a:schemeClr val="tx1"/>
                </a:solidFill>
              </a:rPr>
              <a:t>Reference tables are easy to spot</a:t>
            </a:r>
            <a:endParaRPr lang="en-US" sz="1300" dirty="0"/>
          </a:p>
        </p:txBody>
      </p:sp>
      <p:sp>
        <p:nvSpPr>
          <p:cNvPr id="11" name="Example name"/>
          <p:cNvSpPr txBox="1"/>
          <p:nvPr/>
        </p:nvSpPr>
        <p:spPr>
          <a:xfrm>
            <a:off x="777240" y="3694176"/>
            <a:ext cx="5029200" cy="274320"/>
          </a:xfrm>
          <a:prstGeom prst="rect">
            <a:avLst/>
          </a:prstGeom>
          <a:noFill/>
          <a:ln/>
        </p:spPr>
        <p:txBody>
          <a:bodyPr wrap="square" lIns="0" tIns="0" rIns="0" bIns="0" rtlCol="0" anchor="t"/>
          <a:lstStyle/>
          <a:p>
            <a:pPr indent="0" marL="0">
              <a:buNone/>
            </a:pPr>
            <a:r>
              <a:rPr lang="en-US" sz="1400" b="1" dirty="0">
                <a:solidFill>
                  <a:schemeClr val="accent2"/>
                </a:solidFill>
                <a:latin typeface="Courier New" pitchFamily="34" charset="0"/>
                <a:ea typeface="Courier New" pitchFamily="34" charset="-122"/>
                <a:cs typeface="Courier New" pitchFamily="34" charset="-120"/>
              </a:rPr>
              <a:t>Files/raw/gam_reports/2025/</a:t>
            </a:r>
            <a:endParaRPr lang="en-US" sz="1400" dirty="0"/>
          </a:p>
        </p:txBody>
      </p:sp>
      <p:sp>
        <p:nvSpPr>
          <p:cNvPr id="12" name="Example reason"/>
          <p:cNvSpPr txBox="1"/>
          <p:nvPr/>
        </p:nvSpPr>
        <p:spPr>
          <a:xfrm>
            <a:off x="777240" y="3968496"/>
            <a:ext cx="5029200" cy="274320"/>
          </a:xfrm>
          <a:prstGeom prst="rect">
            <a:avLst/>
          </a:prstGeom>
          <a:noFill/>
          <a:ln/>
        </p:spPr>
        <p:txBody>
          <a:bodyPr wrap="square" lIns="0" tIns="0" rIns="0" bIns="0" rtlCol="0" anchor="t"/>
          <a:lstStyle/>
          <a:p>
            <a:pPr indent="0" marL="0">
              <a:buNone/>
            </a:pPr>
            <a:r>
              <a:rPr lang="en-US" sz="1300" dirty="0">
                <a:solidFill>
                  <a:schemeClr val="tx1"/>
                </a:solidFill>
              </a:rPr>
              <a:t>Folders by source and year</a:t>
            </a:r>
            <a:endParaRPr lang="en-US" sz="1300" dirty="0"/>
          </a:p>
        </p:txBody>
      </p:sp>
      <p:sp>
        <p:nvSpPr>
          <p:cNvPr id="13" name="Example name"/>
          <p:cNvSpPr txBox="1"/>
          <p:nvPr/>
        </p:nvSpPr>
        <p:spPr>
          <a:xfrm>
            <a:off x="777240" y="4352544"/>
            <a:ext cx="5029200" cy="274320"/>
          </a:xfrm>
          <a:prstGeom prst="rect">
            <a:avLst/>
          </a:prstGeom>
          <a:noFill/>
          <a:ln/>
        </p:spPr>
        <p:txBody>
          <a:bodyPr wrap="square" lIns="0" tIns="0" rIns="0" bIns="0" rtlCol="0" anchor="t"/>
          <a:lstStyle/>
          <a:p>
            <a:pPr indent="0" marL="0">
              <a:buNone/>
            </a:pPr>
            <a:r>
              <a:rPr lang="en-US" sz="1400" b="1" dirty="0">
                <a:solidFill>
                  <a:schemeClr val="accent2"/>
                </a:solidFill>
                <a:latin typeface="Courier New" pitchFamily="34" charset="0"/>
                <a:ea typeface="Courier New" pitchFamily="34" charset="-122"/>
                <a:cs typeface="Courier New" pitchFamily="34" charset="-120"/>
              </a:rPr>
              <a:t>lower_snake_case</a:t>
            </a:r>
            <a:endParaRPr lang="en-US" sz="1400" dirty="0"/>
          </a:p>
        </p:txBody>
      </p:sp>
      <p:sp>
        <p:nvSpPr>
          <p:cNvPr id="14" name="Example reason"/>
          <p:cNvSpPr txBox="1"/>
          <p:nvPr/>
        </p:nvSpPr>
        <p:spPr>
          <a:xfrm>
            <a:off x="777240" y="4626864"/>
            <a:ext cx="5029200" cy="274320"/>
          </a:xfrm>
          <a:prstGeom prst="rect">
            <a:avLst/>
          </a:prstGeom>
          <a:noFill/>
          <a:ln/>
        </p:spPr>
        <p:txBody>
          <a:bodyPr wrap="square" lIns="0" tIns="0" rIns="0" bIns="0" rtlCol="0" anchor="t"/>
          <a:lstStyle/>
          <a:p>
            <a:pPr indent="0" marL="0">
              <a:buNone/>
            </a:pPr>
            <a:r>
              <a:rPr lang="en-US" sz="1300" dirty="0">
                <a:solidFill>
                  <a:schemeClr val="tx1"/>
                </a:solidFill>
              </a:rPr>
              <a:t>No spaces, no capitals</a:t>
            </a:r>
            <a:endParaRPr lang="en-US" sz="1300" dirty="0"/>
          </a:p>
        </p:txBody>
      </p:sp>
      <p:sp>
        <p:nvSpPr>
          <p:cNvPr id="15" name="Avoid card"/>
          <p:cNvSpPr/>
          <p:nvPr/>
        </p:nvSpPr>
        <p:spPr>
          <a:xfrm>
            <a:off x="6172200" y="1783080"/>
            <a:ext cx="5468112" cy="3246120"/>
          </a:xfrm>
          <a:prstGeom prst="roundRect">
            <a:avLst>
              <a:gd name="adj" fmla="val 3380"/>
            </a:avLst>
          </a:prstGeom>
          <a:solidFill>
            <a:schemeClr val="bg2"/>
          </a:solidFill>
          <a:ln/>
        </p:spPr>
      </p:sp>
      <p:sp>
        <p:nvSpPr>
          <p:cNvPr id="16" name="Pill"/>
          <p:cNvSpPr txBox="1"/>
          <p:nvPr/>
        </p:nvSpPr>
        <p:spPr>
          <a:xfrm>
            <a:off x="6400800" y="1920240"/>
            <a:ext cx="914400"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100" b="1" spc="200" kern="0" dirty="0">
                <a:solidFill>
                  <a:schemeClr val="bg1"/>
                </a:solidFill>
              </a:rPr>
              <a:t>AVOID</a:t>
            </a:r>
            <a:endParaRPr lang="en-US" sz="1100" dirty="0"/>
          </a:p>
        </p:txBody>
      </p:sp>
      <p:sp>
        <p:nvSpPr>
          <p:cNvPr id="17" name="Example name"/>
          <p:cNvSpPr txBox="1"/>
          <p:nvPr/>
        </p:nvSpPr>
        <p:spPr>
          <a:xfrm>
            <a:off x="6400800" y="2377440"/>
            <a:ext cx="502920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Impressions Final v2 (copy)</a:t>
            </a:r>
            <a:endParaRPr lang="en-US" sz="1400" dirty="0"/>
          </a:p>
        </p:txBody>
      </p:sp>
      <p:sp>
        <p:nvSpPr>
          <p:cNvPr id="18" name="Example reason"/>
          <p:cNvSpPr txBox="1"/>
          <p:nvPr/>
        </p:nvSpPr>
        <p:spPr>
          <a:xfrm>
            <a:off x="6400800" y="2651760"/>
            <a:ext cx="5029200" cy="274320"/>
          </a:xfrm>
          <a:prstGeom prst="rect">
            <a:avLst/>
          </a:prstGeom>
          <a:noFill/>
          <a:ln/>
        </p:spPr>
        <p:txBody>
          <a:bodyPr wrap="square" lIns="0" tIns="0" rIns="0" bIns="0" rtlCol="0" anchor="t"/>
          <a:lstStyle/>
          <a:p>
            <a:pPr indent="0" marL="0">
              <a:buNone/>
            </a:pPr>
            <a:r>
              <a:rPr lang="en-US" sz="1300" dirty="0">
                <a:solidFill>
                  <a:schemeClr val="tx1"/>
                </a:solidFill>
              </a:rPr>
              <a:t>Which one is current?</a:t>
            </a:r>
            <a:endParaRPr lang="en-US" sz="1300" dirty="0"/>
          </a:p>
        </p:txBody>
      </p:sp>
      <p:sp>
        <p:nvSpPr>
          <p:cNvPr id="19" name="Example name"/>
          <p:cNvSpPr txBox="1"/>
          <p:nvPr/>
        </p:nvSpPr>
        <p:spPr>
          <a:xfrm>
            <a:off x="6400800" y="3035808"/>
            <a:ext cx="502920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Sheet1</a:t>
            </a:r>
            <a:endParaRPr lang="en-US" sz="1400" dirty="0"/>
          </a:p>
        </p:txBody>
      </p:sp>
      <p:sp>
        <p:nvSpPr>
          <p:cNvPr id="20" name="Example reason"/>
          <p:cNvSpPr txBox="1"/>
          <p:nvPr/>
        </p:nvSpPr>
        <p:spPr>
          <a:xfrm>
            <a:off x="6400800" y="3310128"/>
            <a:ext cx="5029200" cy="274320"/>
          </a:xfrm>
          <a:prstGeom prst="rect">
            <a:avLst/>
          </a:prstGeom>
          <a:noFill/>
          <a:ln/>
        </p:spPr>
        <p:txBody>
          <a:bodyPr wrap="square" lIns="0" tIns="0" rIns="0" bIns="0" rtlCol="0" anchor="t"/>
          <a:lstStyle/>
          <a:p>
            <a:pPr indent="0" marL="0">
              <a:buNone/>
            </a:pPr>
            <a:r>
              <a:rPr lang="en-US" sz="1300" dirty="0">
                <a:solidFill>
                  <a:schemeClr val="tx1"/>
                </a:solidFill>
              </a:rPr>
              <a:t>Says nothing about what is inside</a:t>
            </a:r>
            <a:endParaRPr lang="en-US" sz="1300" dirty="0"/>
          </a:p>
        </p:txBody>
      </p:sp>
      <p:sp>
        <p:nvSpPr>
          <p:cNvPr id="21" name="Example name"/>
          <p:cNvSpPr txBox="1"/>
          <p:nvPr/>
        </p:nvSpPr>
        <p:spPr>
          <a:xfrm>
            <a:off x="6400800" y="3694176"/>
            <a:ext cx="502920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impressions_jan_2025</a:t>
            </a:r>
            <a:endParaRPr lang="en-US" sz="1400" dirty="0"/>
          </a:p>
        </p:txBody>
      </p:sp>
      <p:sp>
        <p:nvSpPr>
          <p:cNvPr id="22" name="Example reason"/>
          <p:cNvSpPr txBox="1"/>
          <p:nvPr/>
        </p:nvSpPr>
        <p:spPr>
          <a:xfrm>
            <a:off x="6400800" y="3968496"/>
            <a:ext cx="5029200" cy="274320"/>
          </a:xfrm>
          <a:prstGeom prst="rect">
            <a:avLst/>
          </a:prstGeom>
          <a:noFill/>
          <a:ln/>
        </p:spPr>
        <p:txBody>
          <a:bodyPr wrap="square" lIns="0" tIns="0" rIns="0" bIns="0" rtlCol="0" anchor="t"/>
          <a:lstStyle/>
          <a:p>
            <a:pPr indent="0" marL="0">
              <a:buNone/>
            </a:pPr>
            <a:r>
              <a:rPr lang="en-US" sz="1300" dirty="0">
                <a:solidFill>
                  <a:schemeClr val="tx1"/>
                </a:solidFill>
              </a:rPr>
              <a:t>A table per month. Use a period column</a:t>
            </a:r>
            <a:endParaRPr lang="en-US" sz="1300" dirty="0"/>
          </a:p>
        </p:txBody>
      </p:sp>
      <p:sp>
        <p:nvSpPr>
          <p:cNvPr id="23" name="Example name"/>
          <p:cNvSpPr txBox="1"/>
          <p:nvPr/>
        </p:nvSpPr>
        <p:spPr>
          <a:xfrm>
            <a:off x="6400800" y="4352544"/>
            <a:ext cx="502920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tbl_x7</a:t>
            </a:r>
            <a:endParaRPr lang="en-US" sz="1400" dirty="0"/>
          </a:p>
        </p:txBody>
      </p:sp>
      <p:sp>
        <p:nvSpPr>
          <p:cNvPr id="24" name="Example reason"/>
          <p:cNvSpPr txBox="1"/>
          <p:nvPr/>
        </p:nvSpPr>
        <p:spPr>
          <a:xfrm>
            <a:off x="6400800" y="4626864"/>
            <a:ext cx="5029200" cy="274320"/>
          </a:xfrm>
          <a:prstGeom prst="rect">
            <a:avLst/>
          </a:prstGeom>
          <a:noFill/>
          <a:ln/>
        </p:spPr>
        <p:txBody>
          <a:bodyPr wrap="square" lIns="0" tIns="0" rIns="0" bIns="0" rtlCol="0" anchor="t"/>
          <a:lstStyle/>
          <a:p>
            <a:pPr indent="0" marL="0">
              <a:buNone/>
            </a:pPr>
            <a:r>
              <a:rPr lang="en-US" sz="1300" dirty="0">
                <a:solidFill>
                  <a:schemeClr val="tx1"/>
                </a:solidFill>
              </a:rPr>
              <a:t>Abbreviations only you understand</a:t>
            </a:r>
            <a:endParaRPr lang="en-US" sz="1300" dirty="0"/>
          </a:p>
        </p:txBody>
      </p:sp>
      <p:sp>
        <p:nvSpPr>
          <p:cNvPr id="25" name="Standards strip"/>
          <p:cNvSpPr/>
          <p:nvPr/>
        </p:nvSpPr>
        <p:spPr>
          <a:xfrm>
            <a:off x="548640" y="5193792"/>
            <a:ext cx="11094415" cy="502920"/>
          </a:xfrm>
          <a:prstGeom prst="roundRect">
            <a:avLst>
              <a:gd name="adj" fmla="val 21818"/>
            </a:avLst>
          </a:prstGeom>
          <a:solidFill>
            <a:schemeClr val="accent3">
              <a:alpha val="22000"/>
            </a:schemeClr>
          </a:solidFill>
          <a:ln/>
        </p:spPr>
      </p:sp>
      <p:sp>
        <p:nvSpPr>
          <p:cNvPr id="26" name="Standards text"/>
          <p:cNvSpPr txBox="1"/>
          <p:nvPr/>
        </p:nvSpPr>
        <p:spPr>
          <a:xfrm>
            <a:off x="777240" y="5193792"/>
            <a:ext cx="10637215" cy="502920"/>
          </a:xfrm>
          <a:prstGeom prst="rect">
            <a:avLst/>
          </a:prstGeom>
          <a:noFill/>
          <a:ln/>
        </p:spPr>
        <p:txBody>
          <a:bodyPr wrap="square" lIns="0" tIns="0" rIns="0" bIns="0" rtlCol="0" anchor="ctr"/>
          <a:lstStyle/>
          <a:p>
            <a:pPr indent="0" marL="0">
              <a:buNone/>
            </a:pPr>
            <a:r>
              <a:rPr lang="en-US" sz="1350" b="1" dirty="0">
                <a:solidFill>
                  <a:schemeClr val="tx1"/>
                </a:solidFill>
              </a:rPr>
              <a:t>Standards first: </a:t>
            </a:r>
            <a:pPr indent="0" marL="0">
              <a:buNone/>
            </a:pPr>
            <a:r>
              <a:rPr lang="en-US" sz="1350" dirty="0">
                <a:solidFill>
                  <a:schemeClr val="tx1"/>
                </a:solidFill>
              </a:rPr>
              <a:t>Disney Enterprise Technology naming conventions and workspace policies take precedence over these examples.</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1 · LAKEHOUSE AND ONELAKE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1: explore the practice lakehouse</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20 MIN</a:t>
            </a:r>
            <a:endParaRPr lang="en-US" sz="1100" dirty="0"/>
          </a:p>
        </p:txBody>
      </p:sp>
      <p:sp>
        <p:nvSpPr>
          <p:cNvPr id="6" name="Steps card"/>
          <p:cNvSpPr/>
          <p:nvPr/>
        </p:nvSpPr>
        <p:spPr>
          <a:xfrm>
            <a:off x="548640" y="1783080"/>
            <a:ext cx="6858000" cy="3657600"/>
          </a:xfrm>
          <a:prstGeom prst="roundRect">
            <a:avLst>
              <a:gd name="adj" fmla="val 3000"/>
            </a:avLst>
          </a:prstGeom>
          <a:solidFill>
            <a:schemeClr val="bg2"/>
          </a:solidFill>
          <a:ln/>
        </p:spPr>
      </p:sp>
      <p:sp>
        <p:nvSpPr>
          <p:cNvPr id="7" name="Step chip 1"/>
          <p:cNvSpPr/>
          <p:nvPr/>
        </p:nvSpPr>
        <p:spPr>
          <a:xfrm>
            <a:off x="777240" y="1956816"/>
            <a:ext cx="420624" cy="420624"/>
          </a:xfrm>
          <a:prstGeom prst="roundRect">
            <a:avLst>
              <a:gd name="adj" fmla="val 17391"/>
            </a:avLst>
          </a:prstGeom>
          <a:solidFill>
            <a:schemeClr val="accent3"/>
          </a:solidFill>
          <a:ln/>
        </p:spPr>
      </p:sp>
      <p:sp>
        <p:nvSpPr>
          <p:cNvPr id="8" name="Step number"/>
          <p:cNvSpPr txBox="1"/>
          <p:nvPr/>
        </p:nvSpPr>
        <p:spPr>
          <a:xfrm>
            <a:off x="777240" y="1956816"/>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1</a:t>
            </a:r>
            <a:endParaRPr lang="en-US" sz="1600" dirty="0"/>
          </a:p>
        </p:txBody>
      </p:sp>
      <p:sp>
        <p:nvSpPr>
          <p:cNvPr id="9" name="Step text"/>
          <p:cNvSpPr txBox="1"/>
          <p:nvPr/>
        </p:nvSpPr>
        <p:spPr>
          <a:xfrm>
            <a:off x="1417320" y="1920240"/>
            <a:ext cx="5806440" cy="493776"/>
          </a:xfrm>
          <a:prstGeom prst="rect">
            <a:avLst/>
          </a:prstGeom>
          <a:noFill/>
          <a:ln/>
        </p:spPr>
        <p:txBody>
          <a:bodyPr wrap="square" lIns="0" tIns="0" rIns="0" bIns="0" rtlCol="0" anchor="ctr"/>
          <a:lstStyle/>
          <a:p>
            <a:pPr indent="0" marL="0">
              <a:buNone/>
            </a:pPr>
            <a:r>
              <a:rPr lang="en-US" sz="1400" dirty="0">
                <a:solidFill>
                  <a:schemeClr val="tx1"/>
                </a:solidFill>
              </a:rPr>
              <a:t>Open the exercise workspace and the lakehouse your facilitator names.</a:t>
            </a:r>
            <a:endParaRPr lang="en-US" sz="1400" dirty="0"/>
          </a:p>
        </p:txBody>
      </p:sp>
      <p:sp>
        <p:nvSpPr>
          <p:cNvPr id="10" name="Step chip 2"/>
          <p:cNvSpPr/>
          <p:nvPr/>
        </p:nvSpPr>
        <p:spPr>
          <a:xfrm>
            <a:off x="777240" y="2523744"/>
            <a:ext cx="420624" cy="420624"/>
          </a:xfrm>
          <a:prstGeom prst="roundRect">
            <a:avLst>
              <a:gd name="adj" fmla="val 17391"/>
            </a:avLst>
          </a:prstGeom>
          <a:solidFill>
            <a:schemeClr val="accent3"/>
          </a:solidFill>
          <a:ln/>
        </p:spPr>
      </p:sp>
      <p:sp>
        <p:nvSpPr>
          <p:cNvPr id="11" name="Step number"/>
          <p:cNvSpPr txBox="1"/>
          <p:nvPr/>
        </p:nvSpPr>
        <p:spPr>
          <a:xfrm>
            <a:off x="777240" y="2523744"/>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2</a:t>
            </a:r>
            <a:endParaRPr lang="en-US" sz="1600" dirty="0"/>
          </a:p>
        </p:txBody>
      </p:sp>
      <p:sp>
        <p:nvSpPr>
          <p:cNvPr id="12" name="Step text"/>
          <p:cNvSpPr txBox="1"/>
          <p:nvPr/>
        </p:nvSpPr>
        <p:spPr>
          <a:xfrm>
            <a:off x="1417320" y="2487168"/>
            <a:ext cx="5806440" cy="493776"/>
          </a:xfrm>
          <a:prstGeom prst="rect">
            <a:avLst/>
          </a:prstGeom>
          <a:noFill/>
          <a:ln/>
        </p:spPr>
        <p:txBody>
          <a:bodyPr wrap="square" lIns="0" tIns="0" rIns="0" bIns="0" rtlCol="0" anchor="ctr"/>
          <a:lstStyle/>
          <a:p>
            <a:pPr indent="0" marL="0">
              <a:buNone/>
            </a:pPr>
            <a:r>
              <a:rPr lang="en-US" sz="1400" dirty="0">
                <a:solidFill>
                  <a:schemeClr val="tx1"/>
                </a:solidFill>
              </a:rPr>
              <a:t>In Files, open the raw folder and preview a CSV.</a:t>
            </a:r>
            <a:endParaRPr lang="en-US" sz="1400" dirty="0"/>
          </a:p>
        </p:txBody>
      </p:sp>
      <p:sp>
        <p:nvSpPr>
          <p:cNvPr id="13" name="Step chip 3"/>
          <p:cNvSpPr/>
          <p:nvPr/>
        </p:nvSpPr>
        <p:spPr>
          <a:xfrm>
            <a:off x="777240" y="3090672"/>
            <a:ext cx="420624" cy="420624"/>
          </a:xfrm>
          <a:prstGeom prst="roundRect">
            <a:avLst>
              <a:gd name="adj" fmla="val 17391"/>
            </a:avLst>
          </a:prstGeom>
          <a:solidFill>
            <a:schemeClr val="accent3"/>
          </a:solidFill>
          <a:ln/>
        </p:spPr>
      </p:sp>
      <p:sp>
        <p:nvSpPr>
          <p:cNvPr id="14" name="Step number"/>
          <p:cNvSpPr txBox="1"/>
          <p:nvPr/>
        </p:nvSpPr>
        <p:spPr>
          <a:xfrm>
            <a:off x="777240" y="3090672"/>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3</a:t>
            </a:r>
            <a:endParaRPr lang="en-US" sz="1600" dirty="0"/>
          </a:p>
        </p:txBody>
      </p:sp>
      <p:sp>
        <p:nvSpPr>
          <p:cNvPr id="15" name="Step text"/>
          <p:cNvSpPr txBox="1"/>
          <p:nvPr/>
        </p:nvSpPr>
        <p:spPr>
          <a:xfrm>
            <a:off x="1417320" y="3054096"/>
            <a:ext cx="5806440" cy="493776"/>
          </a:xfrm>
          <a:prstGeom prst="rect">
            <a:avLst/>
          </a:prstGeom>
          <a:noFill/>
          <a:ln/>
        </p:spPr>
        <p:txBody>
          <a:bodyPr wrap="square" lIns="0" tIns="0" rIns="0" bIns="0" rtlCol="0" anchor="ctr"/>
          <a:lstStyle/>
          <a:p>
            <a:pPr indent="0" marL="0">
              <a:buNone/>
            </a:pPr>
            <a:r>
              <a:rPr lang="en-US" sz="1400" dirty="0">
                <a:solidFill>
                  <a:schemeClr val="tx1"/>
                </a:solidFill>
              </a:rPr>
              <a:t>In Tables, open bronze_impressions. Note the columns and their types.</a:t>
            </a:r>
            <a:endParaRPr lang="en-US" sz="1400" dirty="0"/>
          </a:p>
        </p:txBody>
      </p:sp>
      <p:sp>
        <p:nvSpPr>
          <p:cNvPr id="16" name="Step chip 4"/>
          <p:cNvSpPr/>
          <p:nvPr/>
        </p:nvSpPr>
        <p:spPr>
          <a:xfrm>
            <a:off x="777240" y="3657600"/>
            <a:ext cx="420624" cy="420624"/>
          </a:xfrm>
          <a:prstGeom prst="roundRect">
            <a:avLst>
              <a:gd name="adj" fmla="val 17391"/>
            </a:avLst>
          </a:prstGeom>
          <a:solidFill>
            <a:schemeClr val="accent3"/>
          </a:solidFill>
          <a:ln/>
        </p:spPr>
      </p:sp>
      <p:sp>
        <p:nvSpPr>
          <p:cNvPr id="17" name="Step number"/>
          <p:cNvSpPr txBox="1"/>
          <p:nvPr/>
        </p:nvSpPr>
        <p:spPr>
          <a:xfrm>
            <a:off x="777240" y="365760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4</a:t>
            </a:r>
            <a:endParaRPr lang="en-US" sz="1600" dirty="0"/>
          </a:p>
        </p:txBody>
      </p:sp>
      <p:sp>
        <p:nvSpPr>
          <p:cNvPr id="18" name="Step text"/>
          <p:cNvSpPr txBox="1"/>
          <p:nvPr/>
        </p:nvSpPr>
        <p:spPr>
          <a:xfrm>
            <a:off x="1417320" y="3621024"/>
            <a:ext cx="5806440" cy="493776"/>
          </a:xfrm>
          <a:prstGeom prst="rect">
            <a:avLst/>
          </a:prstGeom>
          <a:noFill/>
          <a:ln/>
        </p:spPr>
        <p:txBody>
          <a:bodyPr wrap="square" lIns="0" tIns="0" rIns="0" bIns="0" rtlCol="0" anchor="ctr"/>
          <a:lstStyle/>
          <a:p>
            <a:pPr indent="0" marL="0">
              <a:buNone/>
            </a:pPr>
            <a:r>
              <a:rPr lang="en-US" sz="1400" dirty="0">
                <a:solidFill>
                  <a:schemeClr val="tx1"/>
                </a:solidFill>
              </a:rPr>
              <a:t>Find the item with the link icon. Where does it point?</a:t>
            </a:r>
            <a:endParaRPr lang="en-US" sz="1400" dirty="0"/>
          </a:p>
        </p:txBody>
      </p:sp>
      <p:sp>
        <p:nvSpPr>
          <p:cNvPr id="19" name="Step chip 5"/>
          <p:cNvSpPr/>
          <p:nvPr/>
        </p:nvSpPr>
        <p:spPr>
          <a:xfrm>
            <a:off x="777240" y="4224528"/>
            <a:ext cx="420624" cy="420624"/>
          </a:xfrm>
          <a:prstGeom prst="roundRect">
            <a:avLst>
              <a:gd name="adj" fmla="val 17391"/>
            </a:avLst>
          </a:prstGeom>
          <a:solidFill>
            <a:schemeClr val="accent3"/>
          </a:solidFill>
          <a:ln/>
        </p:spPr>
      </p:sp>
      <p:sp>
        <p:nvSpPr>
          <p:cNvPr id="20" name="Step number"/>
          <p:cNvSpPr txBox="1"/>
          <p:nvPr/>
        </p:nvSpPr>
        <p:spPr>
          <a:xfrm>
            <a:off x="777240" y="4224528"/>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5</a:t>
            </a:r>
            <a:endParaRPr lang="en-US" sz="1600" dirty="0"/>
          </a:p>
        </p:txBody>
      </p:sp>
      <p:sp>
        <p:nvSpPr>
          <p:cNvPr id="21" name="Step text"/>
          <p:cNvSpPr txBox="1"/>
          <p:nvPr/>
        </p:nvSpPr>
        <p:spPr>
          <a:xfrm>
            <a:off x="1417320" y="4187952"/>
            <a:ext cx="5806440" cy="493776"/>
          </a:xfrm>
          <a:prstGeom prst="rect">
            <a:avLst/>
          </a:prstGeom>
          <a:noFill/>
          <a:ln/>
        </p:spPr>
        <p:txBody>
          <a:bodyPr wrap="square" lIns="0" tIns="0" rIns="0" bIns="0" rtlCol="0" anchor="ctr"/>
          <a:lstStyle/>
          <a:p>
            <a:pPr indent="0" marL="0">
              <a:buNone/>
            </a:pPr>
            <a:r>
              <a:rPr lang="en-US" sz="1400" dirty="0">
                <a:solidFill>
                  <a:schemeClr val="tx1"/>
                </a:solidFill>
              </a:rPr>
              <a:t>Switch to the SQL analytics endpoint and run  SELECT TOP 10 * FROM bronze_impressions.</a:t>
            </a:r>
            <a:endParaRPr lang="en-US" sz="1400" dirty="0"/>
          </a:p>
        </p:txBody>
      </p:sp>
      <p:sp>
        <p:nvSpPr>
          <p:cNvPr id="22" name="Step chip 6"/>
          <p:cNvSpPr/>
          <p:nvPr/>
        </p:nvSpPr>
        <p:spPr>
          <a:xfrm>
            <a:off x="777240" y="4791456"/>
            <a:ext cx="420624" cy="420624"/>
          </a:xfrm>
          <a:prstGeom prst="roundRect">
            <a:avLst>
              <a:gd name="adj" fmla="val 17391"/>
            </a:avLst>
          </a:prstGeom>
          <a:solidFill>
            <a:schemeClr val="accent3"/>
          </a:solidFill>
          <a:ln/>
        </p:spPr>
      </p:sp>
      <p:sp>
        <p:nvSpPr>
          <p:cNvPr id="23" name="Step number"/>
          <p:cNvSpPr txBox="1"/>
          <p:nvPr/>
        </p:nvSpPr>
        <p:spPr>
          <a:xfrm>
            <a:off x="777240" y="4791456"/>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6</a:t>
            </a:r>
            <a:endParaRPr lang="en-US" sz="1600" dirty="0"/>
          </a:p>
        </p:txBody>
      </p:sp>
      <p:sp>
        <p:nvSpPr>
          <p:cNvPr id="24" name="Step text"/>
          <p:cNvSpPr txBox="1"/>
          <p:nvPr/>
        </p:nvSpPr>
        <p:spPr>
          <a:xfrm>
            <a:off x="1417320" y="4754880"/>
            <a:ext cx="5806440" cy="493776"/>
          </a:xfrm>
          <a:prstGeom prst="rect">
            <a:avLst/>
          </a:prstGeom>
          <a:noFill/>
          <a:ln/>
        </p:spPr>
        <p:txBody>
          <a:bodyPr wrap="square" lIns="0" tIns="0" rIns="0" bIns="0" rtlCol="0" anchor="ctr"/>
          <a:lstStyle/>
          <a:p>
            <a:pPr indent="0" marL="0">
              <a:buNone/>
            </a:pPr>
            <a:r>
              <a:rPr lang="en-US" sz="1400" dirty="0">
                <a:solidFill>
                  <a:schemeClr val="tx1"/>
                </a:solidFill>
              </a:rPr>
              <a:t>Write down one Files item, one Table and one shortcut.</a:t>
            </a:r>
            <a:endParaRPr lang="en-US" sz="1400" dirty="0"/>
          </a:p>
        </p:txBody>
      </p:sp>
      <p:sp>
        <p:nvSpPr>
          <p:cNvPr id="25" name="Check card"/>
          <p:cNvSpPr/>
          <p:nvPr/>
        </p:nvSpPr>
        <p:spPr>
          <a:xfrm>
            <a:off x="7680960" y="1783080"/>
            <a:ext cx="3959352" cy="3657600"/>
          </a:xfrm>
          <a:prstGeom prst="roundRect">
            <a:avLst>
              <a:gd name="adj" fmla="val 3000"/>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26" name="Check title"/>
          <p:cNvSpPr txBox="1"/>
          <p:nvPr/>
        </p:nvSpPr>
        <p:spPr>
          <a:xfrm>
            <a:off x="7909560" y="1920240"/>
            <a:ext cx="35661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Check your understanding</a:t>
            </a:r>
            <a:endParaRPr lang="en-US" sz="1700" dirty="0"/>
          </a:p>
        </p:txBody>
      </p:sp>
      <p:sp>
        <p:nvSpPr>
          <p:cNvPr id="27" name="Question number"/>
          <p:cNvSpPr txBox="1"/>
          <p:nvPr/>
        </p:nvSpPr>
        <p:spPr>
          <a:xfrm>
            <a:off x="7909560" y="2423160"/>
            <a:ext cx="32004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1</a:t>
            </a:r>
            <a:endParaRPr lang="en-US" sz="1800" dirty="0"/>
          </a:p>
        </p:txBody>
      </p:sp>
      <p:sp>
        <p:nvSpPr>
          <p:cNvPr id="28" name="Question text"/>
          <p:cNvSpPr txBox="1"/>
          <p:nvPr/>
        </p:nvSpPr>
        <p:spPr>
          <a:xfrm>
            <a:off x="8275320" y="2423160"/>
            <a:ext cx="3200400" cy="868680"/>
          </a:xfrm>
          <a:prstGeom prst="rect">
            <a:avLst/>
          </a:prstGeom>
          <a:noFill/>
          <a:ln/>
        </p:spPr>
        <p:txBody>
          <a:bodyPr wrap="square" lIns="0" tIns="0" rIns="0" bIns="0" rtlCol="0" anchor="t"/>
          <a:lstStyle/>
          <a:p>
            <a:pPr indent="0" marL="0">
              <a:buNone/>
            </a:pPr>
            <a:r>
              <a:rPr lang="en-US" sz="1350" dirty="0">
                <a:solidFill>
                  <a:schemeClr val="tx1"/>
                </a:solidFill>
              </a:rPr>
              <a:t>Would a raw GAM CSV go in Files or Tables? What about the cleaned impressions?</a:t>
            </a:r>
            <a:endParaRPr lang="en-US" sz="1350" dirty="0"/>
          </a:p>
        </p:txBody>
      </p:sp>
      <p:sp>
        <p:nvSpPr>
          <p:cNvPr id="29" name="Question number"/>
          <p:cNvSpPr txBox="1"/>
          <p:nvPr/>
        </p:nvSpPr>
        <p:spPr>
          <a:xfrm>
            <a:off x="7909560" y="3401568"/>
            <a:ext cx="32004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2</a:t>
            </a:r>
            <a:endParaRPr lang="en-US" sz="1800" dirty="0"/>
          </a:p>
        </p:txBody>
      </p:sp>
      <p:sp>
        <p:nvSpPr>
          <p:cNvPr id="30" name="Question text"/>
          <p:cNvSpPr txBox="1"/>
          <p:nvPr/>
        </p:nvSpPr>
        <p:spPr>
          <a:xfrm>
            <a:off x="8275320" y="3401568"/>
            <a:ext cx="3200400" cy="868680"/>
          </a:xfrm>
          <a:prstGeom prst="rect">
            <a:avLst/>
          </a:prstGeom>
          <a:noFill/>
          <a:ln/>
        </p:spPr>
        <p:txBody>
          <a:bodyPr wrap="square" lIns="0" tIns="0" rIns="0" bIns="0" rtlCol="0" anchor="t"/>
          <a:lstStyle/>
          <a:p>
            <a:pPr indent="0" marL="0">
              <a:buNone/>
            </a:pPr>
            <a:r>
              <a:rPr lang="en-US" sz="1350" dirty="0">
                <a:solidFill>
                  <a:schemeClr val="tx1"/>
                </a:solidFill>
              </a:rPr>
              <a:t>How many columns does bronze_impressions have, and what type is impressions?</a:t>
            </a:r>
            <a:endParaRPr lang="en-US" sz="1350" dirty="0"/>
          </a:p>
        </p:txBody>
      </p:sp>
      <p:sp>
        <p:nvSpPr>
          <p:cNvPr id="31" name="Question number"/>
          <p:cNvSpPr txBox="1"/>
          <p:nvPr/>
        </p:nvSpPr>
        <p:spPr>
          <a:xfrm>
            <a:off x="7909560" y="4379976"/>
            <a:ext cx="320040" cy="36576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3</a:t>
            </a:r>
            <a:endParaRPr lang="en-US" sz="1800" dirty="0"/>
          </a:p>
        </p:txBody>
      </p:sp>
      <p:sp>
        <p:nvSpPr>
          <p:cNvPr id="32" name="Question text"/>
          <p:cNvSpPr txBox="1"/>
          <p:nvPr/>
        </p:nvSpPr>
        <p:spPr>
          <a:xfrm>
            <a:off x="8275320" y="4379976"/>
            <a:ext cx="3200400" cy="868680"/>
          </a:xfrm>
          <a:prstGeom prst="rect">
            <a:avLst/>
          </a:prstGeom>
          <a:noFill/>
          <a:ln/>
        </p:spPr>
        <p:txBody>
          <a:bodyPr wrap="square" lIns="0" tIns="0" rIns="0" bIns="0" rtlCol="0" anchor="t"/>
          <a:lstStyle/>
          <a:p>
            <a:pPr indent="0" marL="0">
              <a:buNone/>
            </a:pPr>
            <a:r>
              <a:rPr lang="en-US" sz="1350" dirty="0">
                <a:solidFill>
                  <a:schemeClr val="tx1"/>
                </a:solidFill>
              </a:rPr>
              <a:t>When would you use a shortcut, and when would you not?</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PART 2</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SQL, Python &amp; Data Concepts</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The technical baseline, pitched for non-developers. Exercises throughout.</a:t>
            </a:r>
            <a:endParaRPr lang="en-US" sz="1800" dirty="0"/>
          </a:p>
        </p:txBody>
      </p:sp>
      <p:sp>
        <p:nvSpPr>
          <p:cNvPr id="6" name="Part number watermark"/>
          <p:cNvSpPr txBox="1"/>
          <p:nvPr/>
        </p:nvSpPr>
        <p:spPr>
          <a:xfrm>
            <a:off x="7498080" y="822960"/>
            <a:ext cx="4206240" cy="2926080"/>
          </a:xfrm>
          <a:prstGeom prst="rect">
            <a:avLst/>
          </a:prstGeom>
          <a:noFill/>
          <a:ln/>
        </p:spPr>
        <p:txBody>
          <a:bodyPr wrap="square" lIns="0" tIns="0" rIns="0" bIns="0" rtlCol="0" anchor="ctr"/>
          <a:lstStyle/>
          <a:p>
            <a:pPr algn="r" indent="0" marL="0">
              <a:buNone/>
            </a:pPr>
            <a:r>
              <a:rPr lang="en-US" sz="20000" b="1" dirty="0">
                <a:solidFill>
                  <a:schemeClr val="bg1">
                    <a:alpha val="18000"/>
                  </a:schemeClr>
                </a:solidFill>
                <a:latin typeface="+mj-lt" pitchFamily="34" charset="0"/>
                <a:ea typeface="+mj-lt" pitchFamily="34" charset="-122"/>
                <a:cs typeface="+mj-lt" pitchFamily="34" charset="-120"/>
              </a:rPr>
              <a:t>02</a:t>
            </a:r>
            <a:endParaRPr lang="en-US" sz="20000" dirty="0"/>
          </a:p>
        </p:txBody>
      </p:sp>
      <p:sp>
        <p:nvSpPr>
          <p:cNvPr id="7" name="Module list"/>
          <p:cNvSpPr txBox="1"/>
          <p:nvPr/>
        </p:nvSpPr>
        <p:spPr>
          <a:xfrm>
            <a:off x="7680960" y="4160520"/>
            <a:ext cx="3931920" cy="109728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4   SQL fundamentals</a:t>
            </a:r>
            <a:endParaRPr lang="en-US" sz="1800" dirty="0"/>
          </a:p>
          <a:p>
            <a:pPr indent="0" marL="0">
              <a:spcAft>
                <a:spcPts val="600"/>
              </a:spcAft>
              <a:buNone/>
            </a:pPr>
            <a:r>
              <a:rPr lang="en-US" sz="1800" dirty="0">
                <a:solidFill>
                  <a:schemeClr val="bg1"/>
                </a:solidFill>
              </a:rPr>
              <a:t>5   Python fundamentals</a:t>
            </a:r>
            <a:endParaRPr lang="en-US" sz="1800" dirty="0"/>
          </a:p>
          <a:p>
            <a:pPr indent="0" marL="0">
              <a:spcAft>
                <a:spcPts val="600"/>
              </a:spcAft>
              <a:buNone/>
            </a:pPr>
            <a:r>
              <a:rPr lang="en-US" sz="1800" dirty="0">
                <a:solidFill>
                  <a:schemeClr val="bg1"/>
                </a:solidFill>
              </a:rPr>
              <a:t>6   Medallion architecture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Basic data modelling: tables, keys and relationships</a:t>
            </a:r>
            <a:endParaRPr lang="en-US" sz="3200" dirty="0"/>
          </a:p>
        </p:txBody>
      </p:sp>
      <p:sp>
        <p:nvSpPr>
          <p:cNvPr id="5" name="Term Table"/>
          <p:cNvSpPr/>
          <p:nvPr/>
        </p:nvSpPr>
        <p:spPr>
          <a:xfrm>
            <a:off x="548640" y="1783080"/>
            <a:ext cx="4846320" cy="822960"/>
          </a:xfrm>
          <a:prstGeom prst="roundRect">
            <a:avLst>
              <a:gd name="adj" fmla="val 13333"/>
            </a:avLst>
          </a:prstGeom>
          <a:solidFill>
            <a:schemeClr val="bg2"/>
          </a:solidFill>
          <a:ln/>
        </p:spPr>
      </p:sp>
      <p:sp>
        <p:nvSpPr>
          <p:cNvPr id="6" name="Term"/>
          <p:cNvSpPr txBox="1"/>
          <p:nvPr/>
        </p:nvSpPr>
        <p:spPr>
          <a:xfrm>
            <a:off x="731520" y="1874520"/>
            <a:ext cx="1005840" cy="64008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Table</a:t>
            </a:r>
            <a:endParaRPr lang="en-US" sz="1700" dirty="0"/>
          </a:p>
        </p:txBody>
      </p:sp>
      <p:sp>
        <p:nvSpPr>
          <p:cNvPr id="7" name="Meaning"/>
          <p:cNvSpPr txBox="1"/>
          <p:nvPr/>
        </p:nvSpPr>
        <p:spPr>
          <a:xfrm>
            <a:off x="1783080" y="1856232"/>
            <a:ext cx="3474720" cy="411480"/>
          </a:xfrm>
          <a:prstGeom prst="rect">
            <a:avLst/>
          </a:prstGeom>
          <a:noFill/>
          <a:ln/>
        </p:spPr>
        <p:txBody>
          <a:bodyPr wrap="square" lIns="0" tIns="0" rIns="0" bIns="0" rtlCol="0" anchor="t"/>
          <a:lstStyle/>
          <a:p>
            <a:pPr indent="0" marL="0">
              <a:buNone/>
            </a:pPr>
            <a:r>
              <a:rPr lang="en-US" sz="1250" dirty="0">
                <a:solidFill>
                  <a:schemeClr val="tx1"/>
                </a:solidFill>
              </a:rPr>
              <a:t>A named set of rows that share the same columns.</a:t>
            </a:r>
            <a:endParaRPr lang="en-US" sz="1250" dirty="0"/>
          </a:p>
        </p:txBody>
      </p:sp>
      <p:sp>
        <p:nvSpPr>
          <p:cNvPr id="8" name="Excel idea"/>
          <p:cNvSpPr txBox="1"/>
          <p:nvPr/>
        </p:nvSpPr>
        <p:spPr>
          <a:xfrm>
            <a:off x="1783080" y="2258568"/>
            <a:ext cx="3474720" cy="274320"/>
          </a:xfrm>
          <a:prstGeom prst="rect">
            <a:avLst/>
          </a:prstGeom>
          <a:noFill/>
          <a:ln/>
        </p:spPr>
        <p:txBody>
          <a:bodyPr wrap="square" lIns="0" tIns="0" rIns="0" bIns="0" rtlCol="0" anchor="t"/>
          <a:lstStyle/>
          <a:p>
            <a:pPr indent="0" marL="0">
              <a:buNone/>
            </a:pPr>
            <a:r>
              <a:rPr lang="en-US" sz="1200" b="1" dirty="0">
                <a:solidFill>
                  <a:schemeClr val="accent2"/>
                </a:solidFill>
              </a:rPr>
              <a:t>Excel: </a:t>
            </a:r>
            <a:pPr indent="0" marL="0">
              <a:buNone/>
            </a:pPr>
            <a:r>
              <a:rPr lang="en-US" sz="1200" dirty="0">
                <a:solidFill>
                  <a:schemeClr val="tx1"/>
                </a:solidFill>
              </a:rPr>
              <a:t>A sheet with a header row</a:t>
            </a:r>
            <a:endParaRPr lang="en-US" sz="1200" dirty="0"/>
          </a:p>
        </p:txBody>
      </p:sp>
      <p:sp>
        <p:nvSpPr>
          <p:cNvPr id="9" name="Term Row"/>
          <p:cNvSpPr/>
          <p:nvPr/>
        </p:nvSpPr>
        <p:spPr>
          <a:xfrm>
            <a:off x="548640" y="2697480"/>
            <a:ext cx="4846320" cy="822960"/>
          </a:xfrm>
          <a:prstGeom prst="roundRect">
            <a:avLst>
              <a:gd name="adj" fmla="val 13333"/>
            </a:avLst>
          </a:prstGeom>
          <a:solidFill>
            <a:schemeClr val="bg2"/>
          </a:solidFill>
          <a:ln/>
        </p:spPr>
      </p:sp>
      <p:sp>
        <p:nvSpPr>
          <p:cNvPr id="10" name="Term"/>
          <p:cNvSpPr txBox="1"/>
          <p:nvPr/>
        </p:nvSpPr>
        <p:spPr>
          <a:xfrm>
            <a:off x="731520" y="2788920"/>
            <a:ext cx="1005840" cy="64008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Row</a:t>
            </a:r>
            <a:endParaRPr lang="en-US" sz="1700" dirty="0"/>
          </a:p>
        </p:txBody>
      </p:sp>
      <p:sp>
        <p:nvSpPr>
          <p:cNvPr id="11" name="Meaning"/>
          <p:cNvSpPr txBox="1"/>
          <p:nvPr/>
        </p:nvSpPr>
        <p:spPr>
          <a:xfrm>
            <a:off x="1783080" y="2770632"/>
            <a:ext cx="3474720" cy="411480"/>
          </a:xfrm>
          <a:prstGeom prst="rect">
            <a:avLst/>
          </a:prstGeom>
          <a:noFill/>
          <a:ln/>
        </p:spPr>
        <p:txBody>
          <a:bodyPr wrap="square" lIns="0" tIns="0" rIns="0" bIns="0" rtlCol="0" anchor="t"/>
          <a:lstStyle/>
          <a:p>
            <a:pPr indent="0" marL="0">
              <a:buNone/>
            </a:pPr>
            <a:r>
              <a:rPr lang="en-US" sz="1250" dirty="0">
                <a:solidFill>
                  <a:schemeClr val="tx1"/>
                </a:solidFill>
              </a:rPr>
              <a:t>One record, such as one impression count.</a:t>
            </a:r>
            <a:endParaRPr lang="en-US" sz="1250" dirty="0"/>
          </a:p>
        </p:txBody>
      </p:sp>
      <p:sp>
        <p:nvSpPr>
          <p:cNvPr id="12" name="Excel idea"/>
          <p:cNvSpPr txBox="1"/>
          <p:nvPr/>
        </p:nvSpPr>
        <p:spPr>
          <a:xfrm>
            <a:off x="1783080" y="3172968"/>
            <a:ext cx="3474720" cy="274320"/>
          </a:xfrm>
          <a:prstGeom prst="rect">
            <a:avLst/>
          </a:prstGeom>
          <a:noFill/>
          <a:ln/>
        </p:spPr>
        <p:txBody>
          <a:bodyPr wrap="square" lIns="0" tIns="0" rIns="0" bIns="0" rtlCol="0" anchor="t"/>
          <a:lstStyle/>
          <a:p>
            <a:pPr indent="0" marL="0">
              <a:buNone/>
            </a:pPr>
            <a:r>
              <a:rPr lang="en-US" sz="1200" b="1" dirty="0">
                <a:solidFill>
                  <a:schemeClr val="accent2"/>
                </a:solidFill>
              </a:rPr>
              <a:t>Excel: </a:t>
            </a:r>
            <a:pPr indent="0" marL="0">
              <a:buNone/>
            </a:pPr>
            <a:r>
              <a:rPr lang="en-US" sz="1200" dirty="0">
                <a:solidFill>
                  <a:schemeClr val="tx1"/>
                </a:solidFill>
              </a:rPr>
              <a:t>One line in the sheet</a:t>
            </a:r>
            <a:endParaRPr lang="en-US" sz="1200" dirty="0"/>
          </a:p>
        </p:txBody>
      </p:sp>
      <p:sp>
        <p:nvSpPr>
          <p:cNvPr id="13" name="Term Column"/>
          <p:cNvSpPr/>
          <p:nvPr/>
        </p:nvSpPr>
        <p:spPr>
          <a:xfrm>
            <a:off x="548640" y="3611880"/>
            <a:ext cx="4846320" cy="822960"/>
          </a:xfrm>
          <a:prstGeom prst="roundRect">
            <a:avLst>
              <a:gd name="adj" fmla="val 13333"/>
            </a:avLst>
          </a:prstGeom>
          <a:solidFill>
            <a:schemeClr val="bg2"/>
          </a:solidFill>
          <a:ln/>
        </p:spPr>
      </p:sp>
      <p:sp>
        <p:nvSpPr>
          <p:cNvPr id="14" name="Term"/>
          <p:cNvSpPr txBox="1"/>
          <p:nvPr/>
        </p:nvSpPr>
        <p:spPr>
          <a:xfrm>
            <a:off x="731520" y="3703320"/>
            <a:ext cx="1005840" cy="64008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Column</a:t>
            </a:r>
            <a:endParaRPr lang="en-US" sz="1700" dirty="0"/>
          </a:p>
        </p:txBody>
      </p:sp>
      <p:sp>
        <p:nvSpPr>
          <p:cNvPr id="15" name="Meaning"/>
          <p:cNvSpPr txBox="1"/>
          <p:nvPr/>
        </p:nvSpPr>
        <p:spPr>
          <a:xfrm>
            <a:off x="1783080" y="3685032"/>
            <a:ext cx="3474720" cy="411480"/>
          </a:xfrm>
          <a:prstGeom prst="rect">
            <a:avLst/>
          </a:prstGeom>
          <a:noFill/>
          <a:ln/>
        </p:spPr>
        <p:txBody>
          <a:bodyPr wrap="square" lIns="0" tIns="0" rIns="0" bIns="0" rtlCol="0" anchor="t"/>
          <a:lstStyle/>
          <a:p>
            <a:pPr indent="0" marL="0">
              <a:buNone/>
            </a:pPr>
            <a:r>
              <a:rPr lang="en-US" sz="1250" dirty="0">
                <a:solidFill>
                  <a:schemeClr val="tx1"/>
                </a:solidFill>
              </a:rPr>
              <a:t>One attribute, always one data type.</a:t>
            </a:r>
            <a:endParaRPr lang="en-US" sz="1250" dirty="0"/>
          </a:p>
        </p:txBody>
      </p:sp>
      <p:sp>
        <p:nvSpPr>
          <p:cNvPr id="16" name="Excel idea"/>
          <p:cNvSpPr txBox="1"/>
          <p:nvPr/>
        </p:nvSpPr>
        <p:spPr>
          <a:xfrm>
            <a:off x="1783080" y="4087368"/>
            <a:ext cx="3474720" cy="274320"/>
          </a:xfrm>
          <a:prstGeom prst="rect">
            <a:avLst/>
          </a:prstGeom>
          <a:noFill/>
          <a:ln/>
        </p:spPr>
        <p:txBody>
          <a:bodyPr wrap="square" lIns="0" tIns="0" rIns="0" bIns="0" rtlCol="0" anchor="t"/>
          <a:lstStyle/>
          <a:p>
            <a:pPr indent="0" marL="0">
              <a:buNone/>
            </a:pPr>
            <a:r>
              <a:rPr lang="en-US" sz="1200" b="1" dirty="0">
                <a:solidFill>
                  <a:schemeClr val="accent2"/>
                </a:solidFill>
              </a:rPr>
              <a:t>Excel: </a:t>
            </a:r>
            <a:pPr indent="0" marL="0">
              <a:buNone/>
            </a:pPr>
            <a:r>
              <a:rPr lang="en-US" sz="1200" dirty="0">
                <a:solidFill>
                  <a:schemeClr val="tx1"/>
                </a:solidFill>
              </a:rPr>
              <a:t>A column header</a:t>
            </a:r>
            <a:endParaRPr lang="en-US" sz="1200" dirty="0"/>
          </a:p>
        </p:txBody>
      </p:sp>
      <p:sp>
        <p:nvSpPr>
          <p:cNvPr id="17" name="Term Key"/>
          <p:cNvSpPr/>
          <p:nvPr/>
        </p:nvSpPr>
        <p:spPr>
          <a:xfrm>
            <a:off x="548640" y="4526280"/>
            <a:ext cx="4846320" cy="822960"/>
          </a:xfrm>
          <a:prstGeom prst="roundRect">
            <a:avLst>
              <a:gd name="adj" fmla="val 13333"/>
            </a:avLst>
          </a:prstGeom>
          <a:solidFill>
            <a:schemeClr val="bg2"/>
          </a:solidFill>
          <a:ln/>
        </p:spPr>
      </p:sp>
      <p:sp>
        <p:nvSpPr>
          <p:cNvPr id="18" name="Term"/>
          <p:cNvSpPr txBox="1"/>
          <p:nvPr/>
        </p:nvSpPr>
        <p:spPr>
          <a:xfrm>
            <a:off x="731520" y="4617720"/>
            <a:ext cx="1005840" cy="64008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Key</a:t>
            </a:r>
            <a:endParaRPr lang="en-US" sz="1700" dirty="0"/>
          </a:p>
        </p:txBody>
      </p:sp>
      <p:sp>
        <p:nvSpPr>
          <p:cNvPr id="19" name="Meaning"/>
          <p:cNvSpPr txBox="1"/>
          <p:nvPr/>
        </p:nvSpPr>
        <p:spPr>
          <a:xfrm>
            <a:off x="1783080" y="4599432"/>
            <a:ext cx="3474720" cy="411480"/>
          </a:xfrm>
          <a:prstGeom prst="rect">
            <a:avLst/>
          </a:prstGeom>
          <a:noFill/>
          <a:ln/>
        </p:spPr>
        <p:txBody>
          <a:bodyPr wrap="square" lIns="0" tIns="0" rIns="0" bIns="0" rtlCol="0" anchor="t"/>
          <a:lstStyle/>
          <a:p>
            <a:pPr indent="0" marL="0">
              <a:buNone/>
            </a:pPr>
            <a:r>
              <a:rPr lang="en-US" sz="1250" dirty="0">
                <a:solidFill>
                  <a:schemeClr val="tx1"/>
                </a:solidFill>
              </a:rPr>
              <a:t>The column that identifies a row or links it to another table.</a:t>
            </a:r>
            <a:endParaRPr lang="en-US" sz="1250" dirty="0"/>
          </a:p>
        </p:txBody>
      </p:sp>
      <p:sp>
        <p:nvSpPr>
          <p:cNvPr id="20" name="Excel idea"/>
          <p:cNvSpPr txBox="1"/>
          <p:nvPr/>
        </p:nvSpPr>
        <p:spPr>
          <a:xfrm>
            <a:off x="1783080" y="5001768"/>
            <a:ext cx="3474720" cy="274320"/>
          </a:xfrm>
          <a:prstGeom prst="rect">
            <a:avLst/>
          </a:prstGeom>
          <a:noFill/>
          <a:ln/>
        </p:spPr>
        <p:txBody>
          <a:bodyPr wrap="square" lIns="0" tIns="0" rIns="0" bIns="0" rtlCol="0" anchor="t"/>
          <a:lstStyle/>
          <a:p>
            <a:pPr indent="0" marL="0">
              <a:buNone/>
            </a:pPr>
            <a:r>
              <a:rPr lang="en-US" sz="1200" b="1" dirty="0">
                <a:solidFill>
                  <a:schemeClr val="accent2"/>
                </a:solidFill>
              </a:rPr>
              <a:t>Excel: </a:t>
            </a:r>
            <a:pPr indent="0" marL="0">
              <a:buNone/>
            </a:pPr>
            <a:r>
              <a:rPr lang="en-US" sz="1200" dirty="0">
                <a:solidFill>
                  <a:schemeClr val="tx1"/>
                </a:solidFill>
              </a:rPr>
              <a:t>The lookup column in a VLOOKUP</a:t>
            </a:r>
            <a:endParaRPr lang="en-US" sz="1200" dirty="0"/>
          </a:p>
        </p:txBody>
      </p:sp>
      <p:sp>
        <p:nvSpPr>
          <p:cNvPr id="21" name="bronze_impressions"/>
          <p:cNvSpPr/>
          <p:nvPr/>
        </p:nvSpPr>
        <p:spPr>
          <a:xfrm>
            <a:off x="5760720" y="1783080"/>
            <a:ext cx="1783080" cy="2194560"/>
          </a:xfrm>
          <a:prstGeom prst="roundRect">
            <a:avLst>
              <a:gd name="adj" fmla="val 615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22" name="bronze_impressions header"/>
          <p:cNvSpPr/>
          <p:nvPr/>
        </p:nvSpPr>
        <p:spPr>
          <a:xfrm>
            <a:off x="5760720" y="1783080"/>
            <a:ext cx="1783080" cy="566928"/>
          </a:xfrm>
          <a:prstGeom prst="roundRect">
            <a:avLst>
              <a:gd name="adj" fmla="val 16129"/>
            </a:avLst>
          </a:prstGeom>
          <a:solidFill>
            <a:schemeClr val="accent1"/>
          </a:solidFill>
          <a:ln/>
        </p:spPr>
      </p:sp>
      <p:sp>
        <p:nvSpPr>
          <p:cNvPr id="23" name="Table header"/>
          <p:cNvSpPr txBox="1"/>
          <p:nvPr/>
        </p:nvSpPr>
        <p:spPr>
          <a:xfrm>
            <a:off x="5833872" y="1783080"/>
            <a:ext cx="1645920" cy="566928"/>
          </a:xfrm>
          <a:prstGeom prst="rect">
            <a:avLst/>
          </a:prstGeom>
          <a:noFill/>
          <a:ln/>
        </p:spPr>
        <p:txBody>
          <a:bodyPr wrap="square" lIns="0" tIns="0" rIns="0" bIns="0" rtlCol="0" anchor="ctr"/>
          <a:lstStyle/>
          <a:p>
            <a:pPr algn="ctr" indent="0" marL="0">
              <a:buNone/>
            </a:pPr>
            <a:r>
              <a:rPr lang="en-US" sz="1050" b="1" dirty="0">
                <a:solidFill>
                  <a:schemeClr val="bg1"/>
                </a:solidFill>
                <a:latin typeface="Courier New" pitchFamily="34" charset="0"/>
                <a:ea typeface="Courier New" pitchFamily="34" charset="-122"/>
                <a:cs typeface="Courier New" pitchFamily="34" charset="-120"/>
              </a:rPr>
              <a:t>bronze_impressions</a:t>
            </a:r>
            <a:endParaRPr lang="en-US" sz="1050" dirty="0"/>
          </a:p>
        </p:txBody>
      </p:sp>
      <p:sp>
        <p:nvSpPr>
          <p:cNvPr id="24" name="Table tag"/>
          <p:cNvSpPr txBox="1"/>
          <p:nvPr/>
        </p:nvSpPr>
        <p:spPr>
          <a:xfrm>
            <a:off x="5870448" y="2450592"/>
            <a:ext cx="1554480" cy="201168"/>
          </a:xfrm>
          <a:prstGeom prst="rect">
            <a:avLst/>
          </a:prstGeom>
          <a:noFill/>
          <a:ln/>
        </p:spPr>
        <p:txBody>
          <a:bodyPr wrap="square" lIns="0" tIns="0" rIns="0" bIns="0" rtlCol="0" anchor="t"/>
          <a:lstStyle/>
          <a:p>
            <a:pPr indent="0" marL="0">
              <a:buNone/>
            </a:pPr>
            <a:r>
              <a:rPr lang="en-US" sz="1000" b="1" spc="200" kern="0" dirty="0">
                <a:solidFill>
                  <a:schemeClr val="tx2"/>
                </a:solidFill>
              </a:rPr>
              <a:t>FACT</a:t>
            </a:r>
            <a:endParaRPr lang="en-US" sz="1000" dirty="0"/>
          </a:p>
        </p:txBody>
      </p:sp>
      <p:sp>
        <p:nvSpPr>
          <p:cNvPr id="25" name="Column"/>
          <p:cNvSpPr txBox="1"/>
          <p:nvPr/>
        </p:nvSpPr>
        <p:spPr>
          <a:xfrm>
            <a:off x="5870448" y="2724912"/>
            <a:ext cx="1600200" cy="274320"/>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period</a:t>
            </a:r>
            <a:endParaRPr lang="en-US" sz="1150" dirty="0"/>
          </a:p>
        </p:txBody>
      </p:sp>
      <p:sp>
        <p:nvSpPr>
          <p:cNvPr id="26" name="Column"/>
          <p:cNvSpPr txBox="1"/>
          <p:nvPr/>
        </p:nvSpPr>
        <p:spPr>
          <a:xfrm>
            <a:off x="5870448" y="3035808"/>
            <a:ext cx="1600200" cy="274320"/>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ad_unit  (key)</a:t>
            </a:r>
            <a:endParaRPr lang="en-US" sz="1150" dirty="0"/>
          </a:p>
        </p:txBody>
      </p:sp>
      <p:sp>
        <p:nvSpPr>
          <p:cNvPr id="27" name="Column"/>
          <p:cNvSpPr txBox="1"/>
          <p:nvPr/>
        </p:nvSpPr>
        <p:spPr>
          <a:xfrm>
            <a:off x="5870448" y="3346704"/>
            <a:ext cx="1600200" cy="274320"/>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region</a:t>
            </a:r>
            <a:endParaRPr lang="en-US" sz="1150" dirty="0"/>
          </a:p>
        </p:txBody>
      </p:sp>
      <p:sp>
        <p:nvSpPr>
          <p:cNvPr id="28" name="Column"/>
          <p:cNvSpPr txBox="1"/>
          <p:nvPr/>
        </p:nvSpPr>
        <p:spPr>
          <a:xfrm>
            <a:off x="5870448" y="3657600"/>
            <a:ext cx="1600200" cy="274320"/>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impressions</a:t>
            </a:r>
            <a:endParaRPr lang="en-US" sz="1150" dirty="0"/>
          </a:p>
        </p:txBody>
      </p:sp>
      <p:sp>
        <p:nvSpPr>
          <p:cNvPr id="29" name="ref_ad_unit_map"/>
          <p:cNvSpPr/>
          <p:nvPr/>
        </p:nvSpPr>
        <p:spPr>
          <a:xfrm>
            <a:off x="7808976" y="1783080"/>
            <a:ext cx="1783080" cy="2194560"/>
          </a:xfrm>
          <a:prstGeom prst="roundRect">
            <a:avLst>
              <a:gd name="adj" fmla="val 615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0" name="ref_ad_unit_map header"/>
          <p:cNvSpPr/>
          <p:nvPr/>
        </p:nvSpPr>
        <p:spPr>
          <a:xfrm>
            <a:off x="7808976" y="1783080"/>
            <a:ext cx="1783080" cy="566928"/>
          </a:xfrm>
          <a:prstGeom prst="roundRect">
            <a:avLst>
              <a:gd name="adj" fmla="val 16129"/>
            </a:avLst>
          </a:prstGeom>
          <a:solidFill>
            <a:schemeClr val="accent2"/>
          </a:solidFill>
          <a:ln/>
        </p:spPr>
      </p:sp>
      <p:sp>
        <p:nvSpPr>
          <p:cNvPr id="31" name="Table header"/>
          <p:cNvSpPr txBox="1"/>
          <p:nvPr/>
        </p:nvSpPr>
        <p:spPr>
          <a:xfrm>
            <a:off x="7882128" y="1783080"/>
            <a:ext cx="1645920" cy="566928"/>
          </a:xfrm>
          <a:prstGeom prst="rect">
            <a:avLst/>
          </a:prstGeom>
          <a:noFill/>
          <a:ln/>
        </p:spPr>
        <p:txBody>
          <a:bodyPr wrap="square" lIns="0" tIns="0" rIns="0" bIns="0" rtlCol="0" anchor="ctr"/>
          <a:lstStyle/>
          <a:p>
            <a:pPr algn="ctr" indent="0" marL="0">
              <a:buNone/>
            </a:pPr>
            <a:r>
              <a:rPr lang="en-US" sz="1050" b="1" dirty="0">
                <a:solidFill>
                  <a:schemeClr val="bg1"/>
                </a:solidFill>
                <a:latin typeface="Courier New" pitchFamily="34" charset="0"/>
                <a:ea typeface="Courier New" pitchFamily="34" charset="-122"/>
                <a:cs typeface="Courier New" pitchFamily="34" charset="-120"/>
              </a:rPr>
              <a:t>ref_ad_unit_map</a:t>
            </a:r>
            <a:endParaRPr lang="en-US" sz="1050" dirty="0"/>
          </a:p>
        </p:txBody>
      </p:sp>
      <p:sp>
        <p:nvSpPr>
          <p:cNvPr id="32" name="Table tag"/>
          <p:cNvSpPr txBox="1"/>
          <p:nvPr/>
        </p:nvSpPr>
        <p:spPr>
          <a:xfrm>
            <a:off x="7918704" y="2450592"/>
            <a:ext cx="1554480" cy="201168"/>
          </a:xfrm>
          <a:prstGeom prst="rect">
            <a:avLst/>
          </a:prstGeom>
          <a:noFill/>
          <a:ln/>
        </p:spPr>
        <p:txBody>
          <a:bodyPr wrap="square" lIns="0" tIns="0" rIns="0" bIns="0" rtlCol="0" anchor="t"/>
          <a:lstStyle/>
          <a:p>
            <a:pPr indent="0" marL="0">
              <a:buNone/>
            </a:pPr>
            <a:r>
              <a:rPr lang="en-US" sz="1000" b="1" spc="200" kern="0" dirty="0">
                <a:solidFill>
                  <a:schemeClr val="tx2"/>
                </a:solidFill>
              </a:rPr>
              <a:t>LOOKUP</a:t>
            </a:r>
            <a:endParaRPr lang="en-US" sz="1000" dirty="0"/>
          </a:p>
        </p:txBody>
      </p:sp>
      <p:sp>
        <p:nvSpPr>
          <p:cNvPr id="33" name="Column"/>
          <p:cNvSpPr txBox="1"/>
          <p:nvPr/>
        </p:nvSpPr>
        <p:spPr>
          <a:xfrm>
            <a:off x="7918704" y="2724912"/>
            <a:ext cx="1600200" cy="274320"/>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ad_unit  (key)</a:t>
            </a:r>
            <a:endParaRPr lang="en-US" sz="1150" dirty="0"/>
          </a:p>
        </p:txBody>
      </p:sp>
      <p:sp>
        <p:nvSpPr>
          <p:cNvPr id="34" name="Column"/>
          <p:cNvSpPr txBox="1"/>
          <p:nvPr/>
        </p:nvSpPr>
        <p:spPr>
          <a:xfrm>
            <a:off x="7918704" y="3035808"/>
            <a:ext cx="1600200" cy="274320"/>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entity  (key)</a:t>
            </a:r>
            <a:endParaRPr lang="en-US" sz="1150" dirty="0"/>
          </a:p>
        </p:txBody>
      </p:sp>
      <p:sp>
        <p:nvSpPr>
          <p:cNvPr id="35" name="silver_revenue"/>
          <p:cNvSpPr/>
          <p:nvPr/>
        </p:nvSpPr>
        <p:spPr>
          <a:xfrm>
            <a:off x="9857232" y="1783080"/>
            <a:ext cx="1783080" cy="2194560"/>
          </a:xfrm>
          <a:prstGeom prst="roundRect">
            <a:avLst>
              <a:gd name="adj" fmla="val 615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6" name="silver_revenue header"/>
          <p:cNvSpPr/>
          <p:nvPr/>
        </p:nvSpPr>
        <p:spPr>
          <a:xfrm>
            <a:off x="9857232" y="1783080"/>
            <a:ext cx="1783080" cy="566928"/>
          </a:xfrm>
          <a:prstGeom prst="roundRect">
            <a:avLst>
              <a:gd name="adj" fmla="val 16129"/>
            </a:avLst>
          </a:prstGeom>
          <a:solidFill>
            <a:schemeClr val="accent1"/>
          </a:solidFill>
          <a:ln/>
        </p:spPr>
      </p:sp>
      <p:sp>
        <p:nvSpPr>
          <p:cNvPr id="37" name="Table header"/>
          <p:cNvSpPr txBox="1"/>
          <p:nvPr/>
        </p:nvSpPr>
        <p:spPr>
          <a:xfrm>
            <a:off x="9930384" y="1783080"/>
            <a:ext cx="1645920" cy="566928"/>
          </a:xfrm>
          <a:prstGeom prst="rect">
            <a:avLst/>
          </a:prstGeom>
          <a:noFill/>
          <a:ln/>
        </p:spPr>
        <p:txBody>
          <a:bodyPr wrap="square" lIns="0" tIns="0" rIns="0" bIns="0" rtlCol="0" anchor="ctr"/>
          <a:lstStyle/>
          <a:p>
            <a:pPr algn="ctr" indent="0" marL="0">
              <a:buNone/>
            </a:pPr>
            <a:r>
              <a:rPr lang="en-US" sz="1050" b="1" dirty="0">
                <a:solidFill>
                  <a:schemeClr val="bg1"/>
                </a:solidFill>
                <a:latin typeface="Courier New" pitchFamily="34" charset="0"/>
                <a:ea typeface="Courier New" pitchFamily="34" charset="-122"/>
                <a:cs typeface="Courier New" pitchFamily="34" charset="-120"/>
              </a:rPr>
              <a:t>silver_revenue</a:t>
            </a:r>
            <a:endParaRPr lang="en-US" sz="1050" dirty="0"/>
          </a:p>
        </p:txBody>
      </p:sp>
      <p:sp>
        <p:nvSpPr>
          <p:cNvPr id="38" name="Table tag"/>
          <p:cNvSpPr txBox="1"/>
          <p:nvPr/>
        </p:nvSpPr>
        <p:spPr>
          <a:xfrm>
            <a:off x="9966960" y="2450592"/>
            <a:ext cx="1554480" cy="201168"/>
          </a:xfrm>
          <a:prstGeom prst="rect">
            <a:avLst/>
          </a:prstGeom>
          <a:noFill/>
          <a:ln/>
        </p:spPr>
        <p:txBody>
          <a:bodyPr wrap="square" lIns="0" tIns="0" rIns="0" bIns="0" rtlCol="0" anchor="t"/>
          <a:lstStyle/>
          <a:p>
            <a:pPr indent="0" marL="0">
              <a:buNone/>
            </a:pPr>
            <a:r>
              <a:rPr lang="en-US" sz="1000" b="1" spc="200" kern="0" dirty="0">
                <a:solidFill>
                  <a:schemeClr val="tx2"/>
                </a:solidFill>
              </a:rPr>
              <a:t>FACT</a:t>
            </a:r>
            <a:endParaRPr lang="en-US" sz="1000" dirty="0"/>
          </a:p>
        </p:txBody>
      </p:sp>
      <p:sp>
        <p:nvSpPr>
          <p:cNvPr id="39" name="Column"/>
          <p:cNvSpPr txBox="1"/>
          <p:nvPr/>
        </p:nvSpPr>
        <p:spPr>
          <a:xfrm>
            <a:off x="9966960" y="2724912"/>
            <a:ext cx="1600200" cy="274320"/>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period</a:t>
            </a:r>
            <a:endParaRPr lang="en-US" sz="1150" dirty="0"/>
          </a:p>
        </p:txBody>
      </p:sp>
      <p:sp>
        <p:nvSpPr>
          <p:cNvPr id="40" name="Column"/>
          <p:cNvSpPr txBox="1"/>
          <p:nvPr/>
        </p:nvSpPr>
        <p:spPr>
          <a:xfrm>
            <a:off x="9966960" y="3035808"/>
            <a:ext cx="1600200" cy="274320"/>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entity  (key)</a:t>
            </a:r>
            <a:endParaRPr lang="en-US" sz="1150" dirty="0"/>
          </a:p>
        </p:txBody>
      </p:sp>
      <p:sp>
        <p:nvSpPr>
          <p:cNvPr id="41" name="Column"/>
          <p:cNvSpPr txBox="1"/>
          <p:nvPr/>
        </p:nvSpPr>
        <p:spPr>
          <a:xfrm>
            <a:off x="9966960" y="3346704"/>
            <a:ext cx="1600200" cy="274320"/>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amount</a:t>
            </a:r>
            <a:endParaRPr lang="en-US" sz="1150" dirty="0"/>
          </a:p>
        </p:txBody>
      </p:sp>
      <p:sp>
        <p:nvSpPr>
          <p:cNvPr id="42" name="Relationship 1"/>
          <p:cNvSpPr/>
          <p:nvPr/>
        </p:nvSpPr>
        <p:spPr>
          <a:xfrm>
            <a:off x="7543800" y="3063240"/>
            <a:ext cx="265176" cy="0"/>
          </a:xfrm>
          <a:prstGeom prst="line">
            <a:avLst/>
          </a:prstGeom>
          <a:noFill/>
          <a:ln w="31750">
            <a:solidFill>
              <a:schemeClr val="accent5"/>
            </a:solidFill>
            <a:prstDash val="solid"/>
          </a:ln>
        </p:spPr>
      </p:sp>
      <p:sp>
        <p:nvSpPr>
          <p:cNvPr id="43" name="Relationship 2"/>
          <p:cNvSpPr/>
          <p:nvPr/>
        </p:nvSpPr>
        <p:spPr>
          <a:xfrm>
            <a:off x="9592056" y="3063240"/>
            <a:ext cx="265176" cy="0"/>
          </a:xfrm>
          <a:prstGeom prst="line">
            <a:avLst/>
          </a:prstGeom>
          <a:noFill/>
          <a:ln w="31750">
            <a:solidFill>
              <a:schemeClr val="accent5"/>
            </a:solidFill>
            <a:prstDash val="solid"/>
          </a:ln>
        </p:spPr>
      </p:sp>
      <p:sp>
        <p:nvSpPr>
          <p:cNvPr id="44" name="Relationship note"/>
          <p:cNvSpPr/>
          <p:nvPr/>
        </p:nvSpPr>
        <p:spPr>
          <a:xfrm>
            <a:off x="5760720" y="4114800"/>
            <a:ext cx="5879592" cy="1325880"/>
          </a:xfrm>
          <a:prstGeom prst="roundRect">
            <a:avLst>
              <a:gd name="adj" fmla="val 8276"/>
            </a:avLst>
          </a:prstGeom>
          <a:solidFill>
            <a:schemeClr val="bg2"/>
          </a:solidFill>
          <a:ln/>
        </p:spPr>
      </p:sp>
      <p:sp>
        <p:nvSpPr>
          <p:cNvPr id="45" name="Relationship text"/>
          <p:cNvSpPr txBox="1"/>
          <p:nvPr/>
        </p:nvSpPr>
        <p:spPr>
          <a:xfrm>
            <a:off x="5989320" y="4114800"/>
            <a:ext cx="5486400" cy="1325880"/>
          </a:xfrm>
          <a:prstGeom prst="rect">
            <a:avLst/>
          </a:prstGeom>
          <a:noFill/>
          <a:ln/>
        </p:spPr>
        <p:txBody>
          <a:bodyPr wrap="square" lIns="0" tIns="0" rIns="0" bIns="0" rtlCol="0" anchor="ctr"/>
          <a:lstStyle/>
          <a:p>
            <a:pPr indent="0" marL="0">
              <a:spcAft>
                <a:spcPts val="400"/>
              </a:spcAft>
              <a:buNone/>
            </a:pPr>
            <a:r>
              <a:rPr lang="en-US" sz="1350" b="1" dirty="0">
                <a:solidFill>
                  <a:schemeClr val="accent2"/>
                </a:solidFill>
                <a:latin typeface="Courier New" pitchFamily="34" charset="0"/>
                <a:ea typeface="Courier New" pitchFamily="34" charset="-122"/>
                <a:cs typeface="Courier New" pitchFamily="34" charset="-120"/>
              </a:rPr>
              <a:t>ad_unit</a:t>
            </a:r>
            <a:pPr indent="0" marL="0">
              <a:spcAft>
                <a:spcPts val="400"/>
              </a:spcAft>
              <a:buNone/>
            </a:pPr>
            <a:r>
              <a:rPr lang="en-US" sz="1350" dirty="0">
                <a:solidFill>
                  <a:schemeClr val="tx1"/>
                </a:solidFill>
              </a:rPr>
              <a:t> links each impression to its mapping row.</a:t>
            </a:r>
            <a:endParaRPr lang="en-US" sz="1350" dirty="0"/>
          </a:p>
          <a:p>
            <a:pPr indent="0" marL="0">
              <a:spcAft>
                <a:spcPts val="400"/>
              </a:spcAft>
              <a:buNone/>
            </a:pPr>
            <a:r>
              <a:rPr lang="en-US" sz="1350" b="1" dirty="0">
                <a:solidFill>
                  <a:schemeClr val="accent2"/>
                </a:solidFill>
                <a:latin typeface="Courier New" pitchFamily="34" charset="0"/>
                <a:ea typeface="Courier New" pitchFamily="34" charset="-122"/>
                <a:cs typeface="Courier New" pitchFamily="34" charset="-120"/>
              </a:rPr>
              <a:t>entity</a:t>
            </a:r>
            <a:pPr indent="0" marL="0">
              <a:spcAft>
                <a:spcPts val="400"/>
              </a:spcAft>
              <a:buNone/>
            </a:pPr>
            <a:r>
              <a:rPr lang="en-US" sz="1350" dirty="0">
                <a:solidFill>
                  <a:schemeClr val="tx1"/>
                </a:solidFill>
              </a:rPr>
              <a:t> links the mapping to the revenue for that entity.</a:t>
            </a:r>
            <a:endParaRPr lang="en-US" sz="1350" dirty="0"/>
          </a:p>
          <a:p>
            <a:pPr indent="0" marL="0">
              <a:spcAft>
                <a:spcPts val="400"/>
              </a:spcAft>
              <a:buNone/>
            </a:pPr>
            <a:r>
              <a:rPr lang="en-US" sz="1350" dirty="0">
                <a:solidFill>
                  <a:schemeClr val="tx1"/>
                </a:solidFill>
              </a:rPr>
              <a:t>Facts record events and amounts. Lookups describe them.</a:t>
            </a:r>
            <a:endParaRPr lang="en-US" sz="1350" dirty="0"/>
          </a:p>
        </p:txBody>
      </p:sp>
      <p:sp>
        <p:nvSpPr>
          <p:cNvPr id="46"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Keep each fact in one place and describe it with lookups, so a mapping changes once.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Practice data: three small tables</a:t>
            </a:r>
            <a:endParaRPr lang="en-US" sz="3200" dirty="0"/>
          </a:p>
        </p:txBody>
      </p:sp>
      <p:sp>
        <p:nvSpPr>
          <p:cNvPr id="5" name="Table label"/>
          <p:cNvSpPr txBox="1"/>
          <p:nvPr/>
        </p:nvSpPr>
        <p:spPr>
          <a:xfrm>
            <a:off x="548640" y="1783080"/>
            <a:ext cx="4572000"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bronze_impressions</a:t>
            </a:r>
            <a:endParaRPr lang="en-US" sz="1400" dirty="0"/>
          </a:p>
        </p:txBody>
      </p:sp>
      <p:graphicFrame>
        <p:nvGraphicFramePr>
          <p:cNvPr id="31" name="Impressions data"/>
          <p:cNvGraphicFramePr>
            <a:graphicFrameLocks noGrp="1"/>
          </p:cNvGraphicFramePr>
          <p:nvPr>
            <p:extLst>
              <p:ext uri="{D42A27DB-BD31-4B8C-83A1-F6EECF244321}">
                <p14:modId xmlns:p14="http://schemas.microsoft.com/office/powerpoint/2010/main" val="1579011935"/>
              </p:ext>
            </p:extLst>
          </p:nvPr>
        </p:nvGraphicFramePr>
        <p:xfrm>
          <a:off x="548640" y="2121408"/>
          <a:ext cx="5943600" cy="914400"/>
        </p:xfrm>
        <a:graphic>
          <a:graphicData uri="http://schemas.openxmlformats.org/drawingml/2006/table">
            <a:tbl>
              <a:tblPr/>
              <a:tblGrid>
                <a:gridCol w="1234440"/>
                <a:gridCol w="1783080"/>
                <a:gridCol w="1600200"/>
                <a:gridCol w="1325880"/>
              </a:tblGrid>
              <a:tr h="365760">
                <a:tc>
                  <a:txBody>
                    <a:bodyPr/>
                    <a:lstStyle/>
                    <a:p>
                      <a:pPr indent="0" marL="0">
                        <a:buNone/>
                      </a:pPr>
                      <a:r>
                        <a:rPr lang="en-US" sz="1300" b="1" dirty="0">
                          <a:solidFill>
                            <a:schemeClr val="bg1"/>
                          </a:solidFill>
                        </a:rPr>
                        <a:t>period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ad_unit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region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impressions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kitchen_tv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CA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600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kitchen_tv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300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kitchen_tv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i="1" dirty="0">
                          <a:solidFill>
                            <a:schemeClr val="accent5"/>
                          </a:solidFill>
                        </a:rPr>
                        <a:t>NULL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100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sports_hub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200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sports_hub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TX</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800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sports_hub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NO REGION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150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mystery_unit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CA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50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r>
            </a:tbl>
          </a:graphicData>
        </a:graphic>
      </p:graphicFrame>
      <p:sp>
        <p:nvSpPr>
          <p:cNvPr id="7" name="Table label"/>
          <p:cNvSpPr txBox="1"/>
          <p:nvPr/>
        </p:nvSpPr>
        <p:spPr>
          <a:xfrm>
            <a:off x="6903720" y="1783080"/>
            <a:ext cx="4572000"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ref_ad_unit_map</a:t>
            </a:r>
            <a:endParaRPr lang="en-US" sz="1400" dirty="0"/>
          </a:p>
        </p:txBody>
      </p:sp>
      <p:graphicFrame>
        <p:nvGraphicFramePr>
          <p:cNvPr id="61" name="Mapping data"/>
          <p:cNvGraphicFramePr>
            <a:graphicFrameLocks noGrp="1"/>
          </p:cNvGraphicFramePr>
          <p:nvPr>
            <p:extLst>
              <p:ext uri="{D42A27DB-BD31-4B8C-83A1-F6EECF244321}">
                <p14:modId xmlns:p14="http://schemas.microsoft.com/office/powerpoint/2010/main" val="1579011935"/>
              </p:ext>
            </p:extLst>
          </p:nvPr>
        </p:nvGraphicFramePr>
        <p:xfrm>
          <a:off x="6903720" y="2121408"/>
          <a:ext cx="4736592" cy="914400"/>
        </p:xfrm>
        <a:graphic>
          <a:graphicData uri="http://schemas.openxmlformats.org/drawingml/2006/table">
            <a:tbl>
              <a:tblPr/>
              <a:tblGrid>
                <a:gridCol w="2194560"/>
                <a:gridCol w="2542032"/>
              </a:tblGrid>
              <a:tr h="365760">
                <a:tc>
                  <a:txBody>
                    <a:bodyPr/>
                    <a:lstStyle/>
                    <a:p>
                      <a:pPr indent="0" marL="0">
                        <a:buNone/>
                      </a:pPr>
                      <a:r>
                        <a:rPr lang="en-US" sz="1300" b="1" dirty="0">
                          <a:solidFill>
                            <a:schemeClr val="bg1"/>
                          </a:solidFill>
                        </a:rPr>
                        <a:t>ad_unit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entity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65760">
                <a:tc>
                  <a:txBody>
                    <a:bodyPr/>
                    <a:lstStyle/>
                    <a:p>
                      <a:pPr indent="0" marL="0">
                        <a:buNone/>
                      </a:pPr>
                      <a:r>
                        <a:rPr lang="en-US" sz="1300" dirty="0">
                          <a:solidFill>
                            <a:schemeClr val="tx1"/>
                          </a:solidFill>
                        </a:rPr>
                        <a:t>kitchen_tv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Entity 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rPr>
                        <a:t>sports_hub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Entity 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9" name="Table label"/>
          <p:cNvSpPr txBox="1"/>
          <p:nvPr/>
        </p:nvSpPr>
        <p:spPr>
          <a:xfrm>
            <a:off x="6903720" y="3456432"/>
            <a:ext cx="4572000"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silver_revenue</a:t>
            </a:r>
            <a:endParaRPr lang="en-US" sz="1400" dirty="0"/>
          </a:p>
        </p:txBody>
      </p:sp>
      <p:graphicFrame>
        <p:nvGraphicFramePr>
          <p:cNvPr id="91" name="Revenue data"/>
          <p:cNvGraphicFramePr>
            <a:graphicFrameLocks noGrp="1"/>
          </p:cNvGraphicFramePr>
          <p:nvPr>
            <p:extLst>
              <p:ext uri="{D42A27DB-BD31-4B8C-83A1-F6EECF244321}">
                <p14:modId xmlns:p14="http://schemas.microsoft.com/office/powerpoint/2010/main" val="1579011935"/>
              </p:ext>
            </p:extLst>
          </p:nvPr>
        </p:nvGraphicFramePr>
        <p:xfrm>
          <a:off x="6903720" y="3794760"/>
          <a:ext cx="4736592" cy="914400"/>
        </p:xfrm>
        <a:graphic>
          <a:graphicData uri="http://schemas.openxmlformats.org/drawingml/2006/table">
            <a:tbl>
              <a:tblPr/>
              <a:tblGrid>
                <a:gridCol w="1371600"/>
                <a:gridCol w="1645920"/>
                <a:gridCol w="1719072"/>
              </a:tblGrid>
              <a:tr h="365760">
                <a:tc>
                  <a:txBody>
                    <a:bodyPr/>
                    <a:lstStyle/>
                    <a:p>
                      <a:pPr indent="0" marL="0">
                        <a:buNone/>
                      </a:pPr>
                      <a:r>
                        <a:rPr lang="en-US" sz="1300" b="1" dirty="0">
                          <a:solidFill>
                            <a:schemeClr val="bg1"/>
                          </a:solidFill>
                        </a:rPr>
                        <a:t>period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entity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amount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Entity 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10,000.00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Entity 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20,000.00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1" name="Traps strip"/>
          <p:cNvSpPr/>
          <p:nvPr/>
        </p:nvSpPr>
        <p:spPr>
          <a:xfrm>
            <a:off x="548640" y="5212080"/>
            <a:ext cx="11094415" cy="411480"/>
          </a:xfrm>
          <a:prstGeom prst="roundRect">
            <a:avLst>
              <a:gd name="adj" fmla="val 26667"/>
            </a:avLst>
          </a:prstGeom>
          <a:solidFill>
            <a:schemeClr val="accent3">
              <a:alpha val="22000"/>
            </a:schemeClr>
          </a:solidFill>
          <a:ln/>
        </p:spPr>
      </p:sp>
      <p:sp>
        <p:nvSpPr>
          <p:cNvPr id="12" name="Traps text"/>
          <p:cNvSpPr txBox="1"/>
          <p:nvPr/>
        </p:nvSpPr>
        <p:spPr>
          <a:xfrm>
            <a:off x="777240" y="5212080"/>
            <a:ext cx="10637215" cy="411480"/>
          </a:xfrm>
          <a:prstGeom prst="rect">
            <a:avLst/>
          </a:prstGeom>
          <a:noFill/>
          <a:ln/>
        </p:spPr>
        <p:txBody>
          <a:bodyPr wrap="square" lIns="0" tIns="0" rIns="0" bIns="0" rtlCol="0" anchor="ctr"/>
          <a:lstStyle/>
          <a:p>
            <a:pPr indent="0" marL="0">
              <a:buNone/>
            </a:pPr>
            <a:r>
              <a:rPr lang="en-US" sz="1300" b="1" dirty="0">
                <a:solidFill>
                  <a:schemeClr val="tx1"/>
                </a:solidFill>
              </a:rPr>
              <a:t>Highlighted rows are built-in traps: </a:t>
            </a:r>
            <a:pPr indent="0" marL="0">
              <a:buNone/>
            </a:pPr>
            <a:r>
              <a:rPr lang="en-US" sz="1300" dirty="0">
                <a:solidFill>
                  <a:schemeClr val="tx1"/>
                </a:solidFill>
              </a:rPr>
              <a:t>a NULL region, a NO REGION value, and an ad unit with no mapping.</a:t>
            </a:r>
            <a:endParaRPr lang="en-US" sz="1300" dirty="0"/>
          </a:p>
        </p:txBody>
      </p:sp>
      <p:sp>
        <p:nvSpPr>
          <p:cNvPr id="13" name="Footnote"/>
          <p:cNvSpPr txBox="1"/>
          <p:nvPr/>
        </p:nvSpPr>
        <p:spPr>
          <a:xfrm>
            <a:off x="548640" y="57607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Shaped like the DST workflow data. Every value is invented.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query is a sentence, read in a different order</a:t>
            </a:r>
            <a:endParaRPr lang="en-US" sz="3200" dirty="0"/>
          </a:p>
        </p:txBody>
      </p:sp>
      <p:sp>
        <p:nvSpPr>
          <p:cNvPr id="5" name="Anatomy query"/>
          <p:cNvSpPr/>
          <p:nvPr/>
        </p:nvSpPr>
        <p:spPr>
          <a:xfrm>
            <a:off x="548640" y="1783080"/>
            <a:ext cx="6309360" cy="2194560"/>
          </a:xfrm>
          <a:prstGeom prst="roundRect">
            <a:avLst>
              <a:gd name="adj" fmla="val 4167"/>
            </a:avLst>
          </a:prstGeom>
          <a:solidFill>
            <a:schemeClr val="tx1"/>
          </a:solidFill>
          <a:ln/>
        </p:spPr>
      </p:sp>
      <p:sp>
        <p:nvSpPr>
          <p:cNvPr id="6" name="Code label"/>
          <p:cNvSpPr txBox="1"/>
          <p:nvPr/>
        </p:nvSpPr>
        <p:spPr>
          <a:xfrm>
            <a:off x="749808" y="1874520"/>
            <a:ext cx="59070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SQL</a:t>
            </a:r>
            <a:endParaRPr lang="en-US" sz="1000" dirty="0"/>
          </a:p>
        </p:txBody>
      </p:sp>
      <p:sp>
        <p:nvSpPr>
          <p:cNvPr id="7" name="Anatomy query text"/>
          <p:cNvSpPr txBox="1"/>
          <p:nvPr/>
        </p:nvSpPr>
        <p:spPr>
          <a:xfrm>
            <a:off x="749808" y="2167128"/>
            <a:ext cx="5907024" cy="1700784"/>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SELECT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ad_unit</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SUM</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impressions</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AS</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total</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FROM</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bronze_impressions</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WHERE</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period</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3"/>
                </a:solidFill>
                <a:latin typeface="Courier New" pitchFamily="34" charset="0"/>
                <a:ea typeface="Courier New" pitchFamily="34" charset="-122"/>
                <a:cs typeface="Courier New" pitchFamily="34" charset="-120"/>
              </a:rPr>
              <a:t>'2025-01'</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GROUP</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BY</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ad_unit</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HAVING</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SUM</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impressions</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&gt;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6"/>
                </a:solidFill>
                <a:latin typeface="Courier New" pitchFamily="34" charset="0"/>
                <a:ea typeface="Courier New" pitchFamily="34" charset="-122"/>
                <a:cs typeface="Courier New" pitchFamily="34" charset="-120"/>
              </a:rPr>
              <a:t>500</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ORDER</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BY</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total</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DESC</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8" name="Result label"/>
          <p:cNvSpPr txBox="1"/>
          <p:nvPr/>
        </p:nvSpPr>
        <p:spPr>
          <a:xfrm>
            <a:off x="548640" y="4114800"/>
            <a:ext cx="27432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RESULT</a:t>
            </a:r>
            <a:endParaRPr lang="en-US" sz="1000" dirty="0"/>
          </a:p>
        </p:txBody>
      </p:sp>
      <p:graphicFrame>
        <p:nvGraphicFramePr>
          <p:cNvPr id="32" name="Anatomy result"/>
          <p:cNvGraphicFramePr>
            <a:graphicFrameLocks noGrp="1"/>
          </p:cNvGraphicFramePr>
          <p:nvPr>
            <p:extLst>
              <p:ext uri="{D42A27DB-BD31-4B8C-83A1-F6EECF244321}">
                <p14:modId xmlns:p14="http://schemas.microsoft.com/office/powerpoint/2010/main" val="1579011935"/>
              </p:ext>
            </p:extLst>
          </p:nvPr>
        </p:nvGraphicFramePr>
        <p:xfrm>
          <a:off x="548640" y="4352544"/>
          <a:ext cx="6309360" cy="914400"/>
        </p:xfrm>
        <a:graphic>
          <a:graphicData uri="http://schemas.openxmlformats.org/drawingml/2006/table">
            <a:tbl>
              <a:tblPr/>
              <a:tblGrid>
                <a:gridCol w="3108960"/>
                <a:gridCol w="3200400"/>
              </a:tblGrid>
              <a:tr h="347472">
                <a:tc>
                  <a:txBody>
                    <a:bodyPr/>
                    <a:lstStyle/>
                    <a:p>
                      <a:pPr indent="0" marL="0">
                        <a:buNone/>
                      </a:pPr>
                      <a:r>
                        <a:rPr lang="en-US" sz="1300" b="1" dirty="0">
                          <a:solidFill>
                            <a:schemeClr val="bg1"/>
                          </a:solidFill>
                        </a:rPr>
                        <a:t>ad_unit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total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29184">
                <a:tc>
                  <a:txBody>
                    <a:bodyPr/>
                    <a:lstStyle/>
                    <a:p>
                      <a:pPr indent="0" marL="0">
                        <a:buNone/>
                      </a:pPr>
                      <a:r>
                        <a:rPr lang="en-US" sz="1300" dirty="0">
                          <a:solidFill>
                            <a:schemeClr val="tx1"/>
                          </a:solidFill>
                        </a:rPr>
                        <a:t>sports_hub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1150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300" dirty="0">
                          <a:solidFill>
                            <a:schemeClr val="tx1"/>
                          </a:solidFill>
                        </a:rPr>
                        <a:t>kitchen_tv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1000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graphicFrame>
        <p:nvGraphicFramePr>
          <p:cNvPr id="63" name="Clause table"/>
          <p:cNvGraphicFramePr>
            <a:graphicFrameLocks noGrp="1"/>
          </p:cNvGraphicFramePr>
          <p:nvPr>
            <p:extLst>
              <p:ext uri="{D42A27DB-BD31-4B8C-83A1-F6EECF244321}">
                <p14:modId xmlns:p14="http://schemas.microsoft.com/office/powerpoint/2010/main" val="1579011935"/>
              </p:ext>
            </p:extLst>
          </p:nvPr>
        </p:nvGraphicFramePr>
        <p:xfrm>
          <a:off x="7132320" y="1783080"/>
          <a:ext cx="4507992" cy="914400"/>
        </p:xfrm>
        <a:graphic>
          <a:graphicData uri="http://schemas.openxmlformats.org/drawingml/2006/table">
            <a:tbl>
              <a:tblPr/>
              <a:tblGrid>
                <a:gridCol w="1234440"/>
                <a:gridCol w="1737360"/>
                <a:gridCol w="1536192"/>
              </a:tblGrid>
              <a:tr h="384048">
                <a:tc>
                  <a:txBody>
                    <a:bodyPr/>
                    <a:lstStyle/>
                    <a:p>
                      <a:pPr indent="0" marL="0">
                        <a:buNone/>
                      </a:pPr>
                      <a:r>
                        <a:rPr lang="en-US" sz="1250" b="1" dirty="0">
                          <a:solidFill>
                            <a:schemeClr val="bg1"/>
                          </a:solidFill>
                        </a:rPr>
                        <a:t>Runs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Means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Excel idea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1  FROM</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Start with this table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Pick the sheet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2  WHERE</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Keep these rows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Filter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3  GROUP BY</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One row per group</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PivotTable rows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4  HAVING</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Keep these groups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Filter the pivot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5  SELECT</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Choose the columns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Pick the fields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6  ORDER BY</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Sort the answer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Sort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1"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You write SELECT first, but SQL runs FROM first.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WHERE and CASE: say what you mean about NULL</a:t>
            </a:r>
            <a:endParaRPr lang="en-US" sz="3200" dirty="0"/>
          </a:p>
        </p:txBody>
      </p:sp>
      <p:sp>
        <p:nvSpPr>
          <p:cNvPr id="5" name="Naive filter"/>
          <p:cNvSpPr/>
          <p:nvPr/>
        </p:nvSpPr>
        <p:spPr>
          <a:xfrm>
            <a:off x="548640" y="1783080"/>
            <a:ext cx="5943600" cy="1417320"/>
          </a:xfrm>
          <a:prstGeom prst="roundRect">
            <a:avLst>
              <a:gd name="adj" fmla="val 6452"/>
            </a:avLst>
          </a:prstGeom>
          <a:solidFill>
            <a:schemeClr val="tx1"/>
          </a:solidFill>
          <a:ln/>
        </p:spPr>
      </p:sp>
      <p:sp>
        <p:nvSpPr>
          <p:cNvPr id="6" name="Code label"/>
          <p:cNvSpPr txBox="1"/>
          <p:nvPr/>
        </p:nvSpPr>
        <p:spPr>
          <a:xfrm>
            <a:off x="749808" y="1874520"/>
            <a:ext cx="55412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LOOKS RIGHT, IS WRONG  ·  6 ROWS</a:t>
            </a:r>
            <a:endParaRPr lang="en-US" sz="1000" dirty="0"/>
          </a:p>
        </p:txBody>
      </p:sp>
      <p:sp>
        <p:nvSpPr>
          <p:cNvPr id="7" name="Naive filter text"/>
          <p:cNvSpPr txBox="1"/>
          <p:nvPr/>
        </p:nvSpPr>
        <p:spPr>
          <a:xfrm>
            <a:off x="749808" y="2167128"/>
            <a:ext cx="5541264" cy="923544"/>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SELECT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ad_unit</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region</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impressions</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FROM</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bronze_impressions</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WHERE</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region</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&lt;</a:t>
            </a:r>
            <a:pPr indent="0" marL="0">
              <a:buNone/>
            </a:pPr>
            <a:r>
              <a:rPr lang="en-US" sz="1400" dirty="0">
                <a:solidFill>
                  <a:schemeClr val="bg1"/>
                </a:solidFill>
                <a:latin typeface="Courier New" pitchFamily="34" charset="0"/>
                <a:ea typeface="Courier New" pitchFamily="34" charset="-122"/>
                <a:cs typeface="Courier New" pitchFamily="34" charset="-120"/>
              </a:rPr>
              <a:t>&gt;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3"/>
                </a:solidFill>
                <a:latin typeface="Courier New" pitchFamily="34" charset="0"/>
                <a:ea typeface="Courier New" pitchFamily="34" charset="-122"/>
                <a:cs typeface="Courier New" pitchFamily="34" charset="-120"/>
              </a:rPr>
              <a:t>'N/A'</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8" name="Naive result"/>
          <p:cNvSpPr/>
          <p:nvPr/>
        </p:nvSpPr>
        <p:spPr>
          <a:xfrm>
            <a:off x="548640" y="3273552"/>
            <a:ext cx="5943600" cy="457200"/>
          </a:xfrm>
          <a:prstGeom prst="roundRect">
            <a:avLst>
              <a:gd name="adj" fmla="val 24000"/>
            </a:avLst>
          </a:prstGeom>
          <a:solidFill>
            <a:schemeClr val="accent3">
              <a:alpha val="25000"/>
            </a:schemeClr>
          </a:solidFill>
          <a:ln/>
        </p:spPr>
      </p:sp>
      <p:sp>
        <p:nvSpPr>
          <p:cNvPr id="9" name="Naive result text"/>
          <p:cNvSpPr txBox="1"/>
          <p:nvPr/>
        </p:nvSpPr>
        <p:spPr>
          <a:xfrm>
            <a:off x="731520" y="3273552"/>
            <a:ext cx="5577840" cy="457200"/>
          </a:xfrm>
          <a:prstGeom prst="rect">
            <a:avLst/>
          </a:prstGeom>
          <a:noFill/>
          <a:ln/>
        </p:spPr>
        <p:txBody>
          <a:bodyPr wrap="square" lIns="0" tIns="0" rIns="0" bIns="0" rtlCol="0" anchor="ctr"/>
          <a:lstStyle/>
          <a:p>
            <a:pPr indent="0" marL="0">
              <a:buNone/>
            </a:pPr>
            <a:r>
              <a:rPr lang="en-US" sz="1300" dirty="0">
                <a:solidFill>
                  <a:schemeClr val="tx1"/>
                </a:solidFill>
              </a:rPr>
              <a:t>The NULL row drops out by accident. NO REGION slips through.</a:t>
            </a:r>
            <a:endParaRPr lang="en-US" sz="1300" dirty="0"/>
          </a:p>
        </p:txBody>
      </p:sp>
      <p:sp>
        <p:nvSpPr>
          <p:cNvPr id="10" name="Safe filter"/>
          <p:cNvSpPr/>
          <p:nvPr/>
        </p:nvSpPr>
        <p:spPr>
          <a:xfrm>
            <a:off x="548640" y="3840480"/>
            <a:ext cx="5943600" cy="1691640"/>
          </a:xfrm>
          <a:prstGeom prst="roundRect">
            <a:avLst>
              <a:gd name="adj" fmla="val 5405"/>
            </a:avLst>
          </a:prstGeom>
          <a:solidFill>
            <a:schemeClr val="tx1"/>
          </a:solidFill>
          <a:ln/>
        </p:spPr>
      </p:sp>
      <p:sp>
        <p:nvSpPr>
          <p:cNvPr id="11" name="Code label"/>
          <p:cNvSpPr txBox="1"/>
          <p:nvPr/>
        </p:nvSpPr>
        <p:spPr>
          <a:xfrm>
            <a:off x="749808" y="3931920"/>
            <a:ext cx="55412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SAY WHAT YOU MEAN  ·  5 ROWS</a:t>
            </a:r>
            <a:endParaRPr lang="en-US" sz="1000" dirty="0"/>
          </a:p>
        </p:txBody>
      </p:sp>
      <p:sp>
        <p:nvSpPr>
          <p:cNvPr id="12" name="Safe filter text"/>
          <p:cNvSpPr txBox="1"/>
          <p:nvPr/>
        </p:nvSpPr>
        <p:spPr>
          <a:xfrm>
            <a:off x="749808" y="4224528"/>
            <a:ext cx="5541264" cy="1197864"/>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SELECT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ad_unit</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region</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impressions</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FROM</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bronze_impressions</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WHERE</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COALESCE</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region</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3"/>
                </a:solidFill>
                <a:latin typeface="Courier New" pitchFamily="34" charset="0"/>
                <a:ea typeface="Courier New" pitchFamily="34" charset="-122"/>
                <a:cs typeface="Courier New" pitchFamily="34" charset="-120"/>
              </a:rPr>
              <a:t>'N/A'</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NOT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IN</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accent3"/>
                </a:solidFill>
                <a:latin typeface="Courier New" pitchFamily="34" charset="0"/>
                <a:ea typeface="Courier New" pitchFamily="34" charset="-122"/>
                <a:cs typeface="Courier New" pitchFamily="34" charset="-120"/>
              </a:rPr>
              <a:t>'N/A'</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3"/>
                </a:solidFill>
                <a:latin typeface="Courier New" pitchFamily="34" charset="0"/>
                <a:ea typeface="Courier New" pitchFamily="34" charset="-122"/>
                <a:cs typeface="Courier New" pitchFamily="34" charset="-120"/>
              </a:rPr>
              <a:t>'NO REGION'</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3" name="NULL explanation"/>
          <p:cNvSpPr/>
          <p:nvPr/>
        </p:nvSpPr>
        <p:spPr>
          <a:xfrm>
            <a:off x="6766560" y="1783080"/>
            <a:ext cx="4873752" cy="1828800"/>
          </a:xfrm>
          <a:prstGeom prst="roundRect">
            <a:avLst>
              <a:gd name="adj" fmla="val 6000"/>
            </a:avLst>
          </a:prstGeom>
          <a:solidFill>
            <a:schemeClr val="bg2"/>
          </a:solidFill>
          <a:ln/>
        </p:spPr>
      </p:sp>
      <p:sp>
        <p:nvSpPr>
          <p:cNvPr id="14" name="NULL title"/>
          <p:cNvSpPr txBox="1"/>
          <p:nvPr/>
        </p:nvSpPr>
        <p:spPr>
          <a:xfrm>
            <a:off x="6995160" y="1901952"/>
            <a:ext cx="44805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NULL means unknown</a:t>
            </a:r>
            <a:endParaRPr lang="en-US" sz="1700" dirty="0"/>
          </a:p>
        </p:txBody>
      </p:sp>
      <p:sp>
        <p:nvSpPr>
          <p:cNvPr id="15" name="NULL text"/>
          <p:cNvSpPr txBox="1"/>
          <p:nvPr/>
        </p:nvSpPr>
        <p:spPr>
          <a:xfrm>
            <a:off x="6995160" y="2286000"/>
            <a:ext cx="4434840" cy="1234440"/>
          </a:xfrm>
          <a:prstGeom prst="rect">
            <a:avLst/>
          </a:prstGeom>
          <a:noFill/>
          <a:ln/>
        </p:spPr>
        <p:txBody>
          <a:bodyPr wrap="square" lIns="0" tIns="0" rIns="0" bIns="0" rtlCol="0" anchor="t"/>
          <a:lstStyle/>
          <a:p>
            <a:pPr indent="0" marL="0">
              <a:spcAft>
                <a:spcPts val="600"/>
              </a:spcAft>
              <a:buNone/>
            </a:pPr>
            <a:r>
              <a:rPr lang="en-US" sz="1350" dirty="0">
                <a:solidFill>
                  <a:schemeClr val="tx1"/>
                </a:solidFill>
              </a:rPr>
              <a:t>Comparing anything with NULL is neither true nor false, so the row drops out of both = and &lt;&gt;.</a:t>
            </a:r>
            <a:endParaRPr lang="en-US" sz="1350" dirty="0"/>
          </a:p>
          <a:p>
            <a:pPr indent="0" marL="0">
              <a:spcAft>
                <a:spcPts val="600"/>
              </a:spcAft>
              <a:buNone/>
            </a:pPr>
            <a:r>
              <a:rPr lang="en-US" sz="1350" dirty="0">
                <a:solidFill>
                  <a:schemeClr val="tx1"/>
                </a:solidFill>
              </a:rPr>
              <a:t>COALESCE swaps NULL for a value you can test.</a:t>
            </a:r>
            <a:endParaRPr lang="en-US" sz="1350" dirty="0"/>
          </a:p>
        </p:txBody>
      </p:sp>
      <p:sp>
        <p:nvSpPr>
          <p:cNvPr id="16" name="CASE example"/>
          <p:cNvSpPr/>
          <p:nvPr/>
        </p:nvSpPr>
        <p:spPr>
          <a:xfrm>
            <a:off x="6766560" y="3749040"/>
            <a:ext cx="4873752" cy="1783080"/>
          </a:xfrm>
          <a:prstGeom prst="roundRect">
            <a:avLst>
              <a:gd name="adj" fmla="val 5128"/>
            </a:avLst>
          </a:prstGeom>
          <a:solidFill>
            <a:schemeClr val="tx1"/>
          </a:solidFill>
          <a:ln/>
        </p:spPr>
      </p:sp>
      <p:sp>
        <p:nvSpPr>
          <p:cNvPr id="17" name="Code label"/>
          <p:cNvSpPr txBox="1"/>
          <p:nvPr/>
        </p:nvSpPr>
        <p:spPr>
          <a:xfrm>
            <a:off x="6967728" y="3840480"/>
            <a:ext cx="447141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CASE: THE FORMULA TOOL, IN SQL</a:t>
            </a:r>
            <a:endParaRPr lang="en-US" sz="1000" dirty="0"/>
          </a:p>
        </p:txBody>
      </p:sp>
      <p:sp>
        <p:nvSpPr>
          <p:cNvPr id="18" name="CASE example text"/>
          <p:cNvSpPr txBox="1"/>
          <p:nvPr/>
        </p:nvSpPr>
        <p:spPr>
          <a:xfrm>
            <a:off x="6967728" y="4133088"/>
            <a:ext cx="4471416" cy="1289304"/>
          </a:xfrm>
          <a:prstGeom prst="rect">
            <a:avLst/>
          </a:prstGeom>
          <a:noFill/>
          <a:ln/>
        </p:spPr>
        <p:txBody>
          <a:bodyPr wrap="square" lIns="0" tIns="0" rIns="0" bIns="0" rtlCol="0" anchor="t"/>
          <a:lstStyle/>
          <a:p>
            <a:pPr indent="0" marL="0">
              <a:buNone/>
            </a:pPr>
            <a:r>
              <a:rPr lang="en-US" sz="1250" dirty="0">
                <a:solidFill>
                  <a:schemeClr val="accent2"/>
                </a:solidFill>
                <a:latin typeface="Courier New" pitchFamily="34" charset="0"/>
                <a:ea typeface="Courier New" pitchFamily="34" charset="-122"/>
                <a:cs typeface="Courier New" pitchFamily="34" charset="-120"/>
              </a:rPr>
              <a:t>SELECT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ad_unit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CASE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WHEN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COALESCE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'N/A'</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IN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'N/A'</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'NO REGION'</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THEN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'N/A'</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ELSE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'valid'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END</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AS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region_flag</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FROM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bronze_impressions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join is a lookup that scales</a:t>
            </a:r>
            <a:endParaRPr lang="en-US" sz="3200" dirty="0"/>
          </a:p>
        </p:txBody>
      </p:sp>
      <p:sp>
        <p:nvSpPr>
          <p:cNvPr id="5" name="INNER JOIN card"/>
          <p:cNvSpPr/>
          <p:nvPr/>
        </p:nvSpPr>
        <p:spPr>
          <a:xfrm>
            <a:off x="548640" y="1783080"/>
            <a:ext cx="3593592" cy="3291840"/>
          </a:xfrm>
          <a:prstGeom prst="roundRect">
            <a:avLst>
              <a:gd name="adj" fmla="val 3333"/>
            </a:avLst>
          </a:prstGeom>
          <a:solidFill>
            <a:schemeClr val="bg2"/>
          </a:solidFill>
          <a:ln/>
        </p:spPr>
      </p:sp>
      <p:sp>
        <p:nvSpPr>
          <p:cNvPr id="6" name="Join name"/>
          <p:cNvSpPr txBox="1"/>
          <p:nvPr/>
        </p:nvSpPr>
        <p:spPr>
          <a:xfrm>
            <a:off x="777240" y="1892808"/>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INNER JOIN</a:t>
            </a:r>
            <a:endParaRPr lang="en-US" sz="1800" dirty="0"/>
          </a:p>
        </p:txBody>
      </p:sp>
      <p:sp>
        <p:nvSpPr>
          <p:cNvPr id="7" name="Join description"/>
          <p:cNvSpPr txBox="1"/>
          <p:nvPr/>
        </p:nvSpPr>
        <p:spPr>
          <a:xfrm>
            <a:off x="777240" y="2240280"/>
            <a:ext cx="3154680" cy="411480"/>
          </a:xfrm>
          <a:prstGeom prst="rect">
            <a:avLst/>
          </a:prstGeom>
          <a:noFill/>
          <a:ln/>
        </p:spPr>
        <p:txBody>
          <a:bodyPr wrap="square" lIns="0" tIns="0" rIns="0" bIns="0" rtlCol="0" anchor="t"/>
          <a:lstStyle/>
          <a:p>
            <a:pPr indent="0" marL="0">
              <a:buNone/>
            </a:pPr>
            <a:r>
              <a:rPr lang="en-US" sz="1300" dirty="0">
                <a:solidFill>
                  <a:schemeClr val="tx1"/>
                </a:solidFill>
              </a:rPr>
              <a:t>Only rows that match on both sides.</a:t>
            </a:r>
            <a:endParaRPr lang="en-US" sz="1300" dirty="0"/>
          </a:p>
        </p:txBody>
      </p:sp>
      <p:sp>
        <p:nvSpPr>
          <p:cNvPr id="8" name="INNER JOIN code"/>
          <p:cNvSpPr/>
          <p:nvPr/>
        </p:nvSpPr>
        <p:spPr>
          <a:xfrm>
            <a:off x="685800" y="2743200"/>
            <a:ext cx="3319272" cy="1325880"/>
          </a:xfrm>
          <a:prstGeom prst="roundRect">
            <a:avLst>
              <a:gd name="adj" fmla="val 6897"/>
            </a:avLst>
          </a:prstGeom>
          <a:solidFill>
            <a:schemeClr val="tx1"/>
          </a:solidFill>
          <a:ln/>
        </p:spPr>
      </p:sp>
      <p:sp>
        <p:nvSpPr>
          <p:cNvPr id="9" name="INNER JOIN code text"/>
          <p:cNvSpPr txBox="1"/>
          <p:nvPr/>
        </p:nvSpPr>
        <p:spPr>
          <a:xfrm>
            <a:off x="886968" y="2889504"/>
            <a:ext cx="2916936" cy="1069848"/>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SELECT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entity</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bronze_impressions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JOIN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ref_ad_unit_map</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ON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0" name="Row count"/>
          <p:cNvSpPr txBox="1"/>
          <p:nvPr/>
        </p:nvSpPr>
        <p:spPr>
          <a:xfrm>
            <a:off x="777240" y="4206240"/>
            <a:ext cx="1280160" cy="640080"/>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6 rows</a:t>
            </a:r>
            <a:endParaRPr lang="en-US" sz="2400" dirty="0"/>
          </a:p>
        </p:txBody>
      </p:sp>
      <p:sp>
        <p:nvSpPr>
          <p:cNvPr id="11" name="Join result"/>
          <p:cNvSpPr txBox="1"/>
          <p:nvPr/>
        </p:nvSpPr>
        <p:spPr>
          <a:xfrm>
            <a:off x="2103120" y="4206240"/>
            <a:ext cx="1920240" cy="640080"/>
          </a:xfrm>
          <a:prstGeom prst="rect">
            <a:avLst/>
          </a:prstGeom>
          <a:noFill/>
          <a:ln/>
        </p:spPr>
        <p:txBody>
          <a:bodyPr wrap="square" lIns="0" tIns="0" rIns="0" bIns="0" rtlCol="0" anchor="ctr"/>
          <a:lstStyle/>
          <a:p>
            <a:pPr indent="0" marL="0">
              <a:buNone/>
            </a:pPr>
            <a:r>
              <a:rPr lang="en-US" sz="1250" dirty="0">
                <a:solidFill>
                  <a:schemeClr val="tx1"/>
                </a:solidFill>
              </a:rPr>
              <a:t>mystery_unit disappears, silently.</a:t>
            </a:r>
            <a:endParaRPr lang="en-US" sz="1250" dirty="0"/>
          </a:p>
        </p:txBody>
      </p:sp>
      <p:sp>
        <p:nvSpPr>
          <p:cNvPr id="12" name="LEFT JOIN card"/>
          <p:cNvSpPr/>
          <p:nvPr/>
        </p:nvSpPr>
        <p:spPr>
          <a:xfrm>
            <a:off x="4297680" y="1783080"/>
            <a:ext cx="3593592" cy="3291840"/>
          </a:xfrm>
          <a:prstGeom prst="roundRect">
            <a:avLst>
              <a:gd name="adj" fmla="val 3333"/>
            </a:avLst>
          </a:prstGeom>
          <a:solidFill>
            <a:schemeClr val="bg2"/>
          </a:solidFill>
          <a:ln/>
        </p:spPr>
      </p:sp>
      <p:sp>
        <p:nvSpPr>
          <p:cNvPr id="13" name="Join name"/>
          <p:cNvSpPr txBox="1"/>
          <p:nvPr/>
        </p:nvSpPr>
        <p:spPr>
          <a:xfrm>
            <a:off x="4526280" y="1892808"/>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LEFT JOIN</a:t>
            </a:r>
            <a:endParaRPr lang="en-US" sz="1800" dirty="0"/>
          </a:p>
        </p:txBody>
      </p:sp>
      <p:sp>
        <p:nvSpPr>
          <p:cNvPr id="14" name="Join description"/>
          <p:cNvSpPr txBox="1"/>
          <p:nvPr/>
        </p:nvSpPr>
        <p:spPr>
          <a:xfrm>
            <a:off x="4526280" y="2240280"/>
            <a:ext cx="3154680" cy="411480"/>
          </a:xfrm>
          <a:prstGeom prst="rect">
            <a:avLst/>
          </a:prstGeom>
          <a:noFill/>
          <a:ln/>
        </p:spPr>
        <p:txBody>
          <a:bodyPr wrap="square" lIns="0" tIns="0" rIns="0" bIns="0" rtlCol="0" anchor="t"/>
          <a:lstStyle/>
          <a:p>
            <a:pPr indent="0" marL="0">
              <a:buNone/>
            </a:pPr>
            <a:r>
              <a:rPr lang="en-US" sz="1300" dirty="0">
                <a:solidFill>
                  <a:schemeClr val="tx1"/>
                </a:solidFill>
              </a:rPr>
              <a:t>Every left row, matched where possible.</a:t>
            </a:r>
            <a:endParaRPr lang="en-US" sz="1300" dirty="0"/>
          </a:p>
        </p:txBody>
      </p:sp>
      <p:sp>
        <p:nvSpPr>
          <p:cNvPr id="15" name="LEFT JOIN code"/>
          <p:cNvSpPr/>
          <p:nvPr/>
        </p:nvSpPr>
        <p:spPr>
          <a:xfrm>
            <a:off x="4434840" y="2743200"/>
            <a:ext cx="3319272" cy="1325880"/>
          </a:xfrm>
          <a:prstGeom prst="roundRect">
            <a:avLst>
              <a:gd name="adj" fmla="val 6897"/>
            </a:avLst>
          </a:prstGeom>
          <a:solidFill>
            <a:schemeClr val="tx1"/>
          </a:solidFill>
          <a:ln/>
        </p:spPr>
      </p:sp>
      <p:sp>
        <p:nvSpPr>
          <p:cNvPr id="16" name="LEFT JOIN code text"/>
          <p:cNvSpPr txBox="1"/>
          <p:nvPr/>
        </p:nvSpPr>
        <p:spPr>
          <a:xfrm>
            <a:off x="4636008" y="2889504"/>
            <a:ext cx="2916936" cy="1069848"/>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SELECT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entity</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bronze_impressions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LEFT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JOIN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ref_ad_unit_map</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ON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7" name="Row count"/>
          <p:cNvSpPr txBox="1"/>
          <p:nvPr/>
        </p:nvSpPr>
        <p:spPr>
          <a:xfrm>
            <a:off x="4526280" y="4206240"/>
            <a:ext cx="1280160" cy="640080"/>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7 rows</a:t>
            </a:r>
            <a:endParaRPr lang="en-US" sz="2400" dirty="0"/>
          </a:p>
        </p:txBody>
      </p:sp>
      <p:sp>
        <p:nvSpPr>
          <p:cNvPr id="18" name="Join result"/>
          <p:cNvSpPr txBox="1"/>
          <p:nvPr/>
        </p:nvSpPr>
        <p:spPr>
          <a:xfrm>
            <a:off x="5852160" y="4206240"/>
            <a:ext cx="1920240" cy="640080"/>
          </a:xfrm>
          <a:prstGeom prst="rect">
            <a:avLst/>
          </a:prstGeom>
          <a:noFill/>
          <a:ln/>
        </p:spPr>
        <p:txBody>
          <a:bodyPr wrap="square" lIns="0" tIns="0" rIns="0" bIns="0" rtlCol="0" anchor="ctr"/>
          <a:lstStyle/>
          <a:p>
            <a:pPr indent="0" marL="0">
              <a:buNone/>
            </a:pPr>
            <a:r>
              <a:rPr lang="en-US" sz="1250" dirty="0">
                <a:solidFill>
                  <a:schemeClr val="tx1"/>
                </a:solidFill>
              </a:rPr>
              <a:t>mystery_unit stays, with a NULL entity.</a:t>
            </a:r>
            <a:endParaRPr lang="en-US" sz="1250" dirty="0"/>
          </a:p>
        </p:txBody>
      </p:sp>
      <p:sp>
        <p:nvSpPr>
          <p:cNvPr id="19" name="Anti-join card"/>
          <p:cNvSpPr/>
          <p:nvPr/>
        </p:nvSpPr>
        <p:spPr>
          <a:xfrm>
            <a:off x="8046720" y="1783080"/>
            <a:ext cx="3593592" cy="3291840"/>
          </a:xfrm>
          <a:prstGeom prst="roundRect">
            <a:avLst>
              <a:gd name="adj" fmla="val 3333"/>
            </a:avLst>
          </a:prstGeom>
          <a:solidFill>
            <a:schemeClr val="bg2"/>
          </a:solidFill>
          <a:ln/>
        </p:spPr>
      </p:sp>
      <p:sp>
        <p:nvSpPr>
          <p:cNvPr id="20" name="Join name"/>
          <p:cNvSpPr txBox="1"/>
          <p:nvPr/>
        </p:nvSpPr>
        <p:spPr>
          <a:xfrm>
            <a:off x="8275320" y="1892808"/>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Anti-join</a:t>
            </a:r>
            <a:endParaRPr lang="en-US" sz="1800" dirty="0"/>
          </a:p>
        </p:txBody>
      </p:sp>
      <p:sp>
        <p:nvSpPr>
          <p:cNvPr id="21" name="Join description"/>
          <p:cNvSpPr txBox="1"/>
          <p:nvPr/>
        </p:nvSpPr>
        <p:spPr>
          <a:xfrm>
            <a:off x="8275320" y="2240280"/>
            <a:ext cx="3154680" cy="411480"/>
          </a:xfrm>
          <a:prstGeom prst="rect">
            <a:avLst/>
          </a:prstGeom>
          <a:noFill/>
          <a:ln/>
        </p:spPr>
        <p:txBody>
          <a:bodyPr wrap="square" lIns="0" tIns="0" rIns="0" bIns="0" rtlCol="0" anchor="t"/>
          <a:lstStyle/>
          <a:p>
            <a:pPr indent="0" marL="0">
              <a:buNone/>
            </a:pPr>
            <a:r>
              <a:rPr lang="en-US" sz="1300" dirty="0">
                <a:solidFill>
                  <a:schemeClr val="tx1"/>
                </a:solidFill>
              </a:rPr>
              <a:t>Left rows that have no match.</a:t>
            </a:r>
            <a:endParaRPr lang="en-US" sz="1300" dirty="0"/>
          </a:p>
        </p:txBody>
      </p:sp>
      <p:sp>
        <p:nvSpPr>
          <p:cNvPr id="22" name="Anti-join code"/>
          <p:cNvSpPr/>
          <p:nvPr/>
        </p:nvSpPr>
        <p:spPr>
          <a:xfrm>
            <a:off x="8183880" y="2743200"/>
            <a:ext cx="3319272" cy="1325880"/>
          </a:xfrm>
          <a:prstGeom prst="roundRect">
            <a:avLst>
              <a:gd name="adj" fmla="val 6897"/>
            </a:avLst>
          </a:prstGeom>
          <a:solidFill>
            <a:schemeClr val="tx1"/>
          </a:solidFill>
          <a:ln/>
        </p:spPr>
      </p:sp>
      <p:sp>
        <p:nvSpPr>
          <p:cNvPr id="23" name="Anti-join code text"/>
          <p:cNvSpPr txBox="1"/>
          <p:nvPr/>
        </p:nvSpPr>
        <p:spPr>
          <a:xfrm>
            <a:off x="8385048" y="2889504"/>
            <a:ext cx="2916936" cy="1069848"/>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SELECT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entity</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bronze_impressions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LEFT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JOIN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ref_ad_unit_map</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ON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ad_unit</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WHERE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entity</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IS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NULL</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24" name="Row count"/>
          <p:cNvSpPr txBox="1"/>
          <p:nvPr/>
        </p:nvSpPr>
        <p:spPr>
          <a:xfrm>
            <a:off x="8275320" y="4206240"/>
            <a:ext cx="1280160" cy="640080"/>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1 row</a:t>
            </a:r>
            <a:endParaRPr lang="en-US" sz="2400" dirty="0"/>
          </a:p>
        </p:txBody>
      </p:sp>
      <p:sp>
        <p:nvSpPr>
          <p:cNvPr id="25" name="Join result"/>
          <p:cNvSpPr txBox="1"/>
          <p:nvPr/>
        </p:nvSpPr>
        <p:spPr>
          <a:xfrm>
            <a:off x="9601200" y="4206240"/>
            <a:ext cx="1920240" cy="640080"/>
          </a:xfrm>
          <a:prstGeom prst="rect">
            <a:avLst/>
          </a:prstGeom>
          <a:noFill/>
          <a:ln/>
        </p:spPr>
        <p:txBody>
          <a:bodyPr wrap="square" lIns="0" tIns="0" rIns="0" bIns="0" rtlCol="0" anchor="ctr"/>
          <a:lstStyle/>
          <a:p>
            <a:pPr indent="0" marL="0">
              <a:buNone/>
            </a:pPr>
            <a:r>
              <a:rPr lang="en-US" sz="1250" dirty="0">
                <a:solidFill>
                  <a:schemeClr val="tx1"/>
                </a:solidFill>
              </a:rPr>
              <a:t>mystery_unit: your unmapped list.</a:t>
            </a:r>
            <a:endParaRPr lang="en-US" sz="1250" dirty="0"/>
          </a:p>
        </p:txBody>
      </p:sp>
      <p:sp>
        <p:nvSpPr>
          <p:cNvPr id="26" name="VLOOKUP strip"/>
          <p:cNvSpPr/>
          <p:nvPr/>
        </p:nvSpPr>
        <p:spPr>
          <a:xfrm>
            <a:off x="548640" y="5212080"/>
            <a:ext cx="11094415" cy="502920"/>
          </a:xfrm>
          <a:prstGeom prst="roundRect">
            <a:avLst>
              <a:gd name="adj" fmla="val 21818"/>
            </a:avLst>
          </a:prstGeom>
          <a:solidFill>
            <a:schemeClr val="accent3">
              <a:alpha val="22000"/>
            </a:schemeClr>
          </a:solidFill>
          <a:ln/>
        </p:spPr>
      </p:sp>
      <p:sp>
        <p:nvSpPr>
          <p:cNvPr id="27" name="VLOOKUP text"/>
          <p:cNvSpPr txBox="1"/>
          <p:nvPr/>
        </p:nvSpPr>
        <p:spPr>
          <a:xfrm>
            <a:off x="777240" y="5212080"/>
            <a:ext cx="10637215" cy="502920"/>
          </a:xfrm>
          <a:prstGeom prst="rect">
            <a:avLst/>
          </a:prstGeom>
          <a:noFill/>
          <a:ln/>
        </p:spPr>
        <p:txBody>
          <a:bodyPr wrap="square" lIns="0" tIns="0" rIns="0" bIns="0" rtlCol="0" anchor="ctr"/>
          <a:lstStyle/>
          <a:p>
            <a:pPr indent="0" marL="0">
              <a:buNone/>
            </a:pPr>
            <a:r>
              <a:rPr lang="en-US" sz="1300" b="1" dirty="0">
                <a:solidFill>
                  <a:schemeClr val="tx1"/>
                </a:solidFill>
              </a:rPr>
              <a:t>VLOOKUP versus join: </a:t>
            </a:r>
            <a:pPr indent="0" marL="0">
              <a:buNone/>
            </a:pPr>
            <a:r>
              <a:rPr lang="en-US" sz="1300" dirty="0">
                <a:solidFill>
                  <a:schemeClr val="tx1"/>
                </a:solidFill>
              </a:rPr>
              <a:t>VLOOKUP returns the first match and #N/A when there is none. A join returns every match, and lets you test for the missing ones.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Find what is unmapped before it hides in a total</a:t>
            </a:r>
            <a:endParaRPr lang="en-US" sz="3200" dirty="0"/>
          </a:p>
        </p:txBody>
      </p:sp>
      <p:sp>
        <p:nvSpPr>
          <p:cNvPr id="5" name="Unmapped query"/>
          <p:cNvSpPr/>
          <p:nvPr/>
        </p:nvSpPr>
        <p:spPr>
          <a:xfrm>
            <a:off x="548640" y="1783080"/>
            <a:ext cx="5943600" cy="2331720"/>
          </a:xfrm>
          <a:prstGeom prst="roundRect">
            <a:avLst>
              <a:gd name="adj" fmla="val 3922"/>
            </a:avLst>
          </a:prstGeom>
          <a:solidFill>
            <a:schemeClr val="tx1"/>
          </a:solidFill>
          <a:ln/>
        </p:spPr>
      </p:sp>
      <p:sp>
        <p:nvSpPr>
          <p:cNvPr id="6" name="Code label"/>
          <p:cNvSpPr txBox="1"/>
          <p:nvPr/>
        </p:nvSpPr>
        <p:spPr>
          <a:xfrm>
            <a:off x="749808" y="1874520"/>
            <a:ext cx="55412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SQL</a:t>
            </a:r>
            <a:endParaRPr lang="en-US" sz="1000" dirty="0"/>
          </a:p>
        </p:txBody>
      </p:sp>
      <p:sp>
        <p:nvSpPr>
          <p:cNvPr id="7" name="Unmapped query text"/>
          <p:cNvSpPr txBox="1"/>
          <p:nvPr/>
        </p:nvSpPr>
        <p:spPr>
          <a:xfrm>
            <a:off x="749808" y="2167128"/>
            <a:ext cx="5541264" cy="1837944"/>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SELECT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i</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ad_unit</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SUM</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i</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impressions</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AS</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impressions</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FROM</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bronze_impressions</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i</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LEFT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JOIN</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ref_ad_unit_map</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m</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ON</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m</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ad_unit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i</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ad_unit</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WHERE</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m</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entity</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IS</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NULL</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GROUP</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BY</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i</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ad_unit</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8" name="Result label"/>
          <p:cNvSpPr txBox="1"/>
          <p:nvPr/>
        </p:nvSpPr>
        <p:spPr>
          <a:xfrm>
            <a:off x="548640" y="4279392"/>
            <a:ext cx="27432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RESULT</a:t>
            </a:r>
            <a:endParaRPr lang="en-US" sz="1000" dirty="0"/>
          </a:p>
        </p:txBody>
      </p:sp>
      <p:graphicFrame>
        <p:nvGraphicFramePr>
          <p:cNvPr id="35" name="Unmapped result"/>
          <p:cNvGraphicFramePr>
            <a:graphicFrameLocks noGrp="1"/>
          </p:cNvGraphicFramePr>
          <p:nvPr>
            <p:extLst>
              <p:ext uri="{D42A27DB-BD31-4B8C-83A1-F6EECF244321}">
                <p14:modId xmlns:p14="http://schemas.microsoft.com/office/powerpoint/2010/main" val="1579011935"/>
              </p:ext>
            </p:extLst>
          </p:nvPr>
        </p:nvGraphicFramePr>
        <p:xfrm>
          <a:off x="548640" y="4526280"/>
          <a:ext cx="5943600" cy="914400"/>
        </p:xfrm>
        <a:graphic>
          <a:graphicData uri="http://schemas.openxmlformats.org/drawingml/2006/table">
            <a:tbl>
              <a:tblPr/>
              <a:tblGrid>
                <a:gridCol w="2926080"/>
                <a:gridCol w="3017520"/>
              </a:tblGrid>
              <a:tr h="365760">
                <a:tc>
                  <a:txBody>
                    <a:bodyPr/>
                    <a:lstStyle/>
                    <a:p>
                      <a:pPr indent="0" marL="0">
                        <a:buNone/>
                      </a:pPr>
                      <a:r>
                        <a:rPr lang="en-US" sz="1300" b="1" dirty="0">
                          <a:solidFill>
                            <a:schemeClr val="bg1"/>
                          </a:solidFill>
                        </a:rPr>
                        <a:t>ad_unit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impressions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300" dirty="0">
                          <a:solidFill>
                            <a:schemeClr val="tx1"/>
                          </a:solidFill>
                        </a:rPr>
                        <a:t>mystery_unit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300" dirty="0">
                          <a:solidFill>
                            <a:schemeClr val="tx1"/>
                          </a:solidFill>
                        </a:rPr>
                        <a:t>50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r>
            </a:tbl>
          </a:graphicData>
        </a:graphic>
      </p:graphicFrame>
      <p:sp>
        <p:nvSpPr>
          <p:cNvPr id="10" name="Flow step 1"/>
          <p:cNvSpPr/>
          <p:nvPr/>
        </p:nvSpPr>
        <p:spPr>
          <a:xfrm>
            <a:off x="6766560" y="1783080"/>
            <a:ext cx="4873752" cy="914400"/>
          </a:xfrm>
          <a:prstGeom prst="roundRect">
            <a:avLst>
              <a:gd name="adj" fmla="val 12000"/>
            </a:avLst>
          </a:prstGeom>
          <a:solidFill>
            <a:schemeClr val="bg2"/>
          </a:solidFill>
          <a:ln/>
        </p:spPr>
      </p:sp>
      <p:sp>
        <p:nvSpPr>
          <p:cNvPr id="11" name="Flow chip 1"/>
          <p:cNvSpPr/>
          <p:nvPr/>
        </p:nvSpPr>
        <p:spPr>
          <a:xfrm>
            <a:off x="6949440" y="2011680"/>
            <a:ext cx="457200" cy="457200"/>
          </a:xfrm>
          <a:prstGeom prst="roundRect">
            <a:avLst>
              <a:gd name="adj" fmla="val 16000"/>
            </a:avLst>
          </a:prstGeom>
          <a:solidFill>
            <a:schemeClr val="accent1"/>
          </a:solidFill>
          <a:ln/>
        </p:spPr>
      </p:sp>
      <p:sp>
        <p:nvSpPr>
          <p:cNvPr id="12" name="Flow number"/>
          <p:cNvSpPr txBox="1"/>
          <p:nvPr/>
        </p:nvSpPr>
        <p:spPr>
          <a:xfrm>
            <a:off x="6949440" y="2011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1</a:t>
            </a:r>
            <a:endParaRPr lang="en-US" sz="1800" dirty="0"/>
          </a:p>
        </p:txBody>
      </p:sp>
      <p:sp>
        <p:nvSpPr>
          <p:cNvPr id="13" name="Flow title"/>
          <p:cNvSpPr txBox="1"/>
          <p:nvPr/>
        </p:nvSpPr>
        <p:spPr>
          <a:xfrm>
            <a:off x="7589520" y="1892808"/>
            <a:ext cx="3931920" cy="292608"/>
          </a:xfrm>
          <a:prstGeom prst="rect">
            <a:avLst/>
          </a:prstGeom>
          <a:noFill/>
          <a:ln/>
        </p:spPr>
        <p:txBody>
          <a:bodyPr wrap="square" lIns="0" tIns="0" rIns="0" bIns="0" rtlCol="0" anchor="t"/>
          <a:lstStyle/>
          <a:p>
            <a:pPr indent="0" marL="0">
              <a:buNone/>
            </a:pPr>
            <a:r>
              <a:rPr lang="en-US" sz="1500" b="1" dirty="0">
                <a:solidFill>
                  <a:schemeClr val="tx1"/>
                </a:solidFill>
              </a:rPr>
              <a:t>Join to the mapping table</a:t>
            </a:r>
            <a:endParaRPr lang="en-US" sz="1500" dirty="0"/>
          </a:p>
        </p:txBody>
      </p:sp>
      <p:sp>
        <p:nvSpPr>
          <p:cNvPr id="14" name="Flow text"/>
          <p:cNvSpPr txBox="1"/>
          <p:nvPr/>
        </p:nvSpPr>
        <p:spPr>
          <a:xfrm>
            <a:off x="7589520" y="2240280"/>
            <a:ext cx="3931920" cy="365760"/>
          </a:xfrm>
          <a:prstGeom prst="rect">
            <a:avLst/>
          </a:prstGeom>
          <a:noFill/>
          <a:ln/>
        </p:spPr>
        <p:txBody>
          <a:bodyPr wrap="square" lIns="0" tIns="0" rIns="0" bIns="0" rtlCol="0" anchor="t"/>
          <a:lstStyle/>
          <a:p>
            <a:pPr indent="0" marL="0">
              <a:buNone/>
            </a:pPr>
            <a:r>
              <a:rPr lang="en-US" sz="1300" dirty="0">
                <a:solidFill>
                  <a:schemeClr val="tx1"/>
                </a:solidFill>
              </a:rPr>
              <a:t>Use a LEFT JOIN so no row is lost.</a:t>
            </a:r>
            <a:endParaRPr lang="en-US" sz="1300" dirty="0"/>
          </a:p>
        </p:txBody>
      </p:sp>
      <p:sp>
        <p:nvSpPr>
          <p:cNvPr id="15" name="Flow step 2"/>
          <p:cNvSpPr/>
          <p:nvPr/>
        </p:nvSpPr>
        <p:spPr>
          <a:xfrm>
            <a:off x="6766560" y="2807208"/>
            <a:ext cx="4873752" cy="914400"/>
          </a:xfrm>
          <a:prstGeom prst="roundRect">
            <a:avLst>
              <a:gd name="adj" fmla="val 12000"/>
            </a:avLst>
          </a:prstGeom>
          <a:solidFill>
            <a:schemeClr val="bg2"/>
          </a:solidFill>
          <a:ln/>
        </p:spPr>
      </p:sp>
      <p:sp>
        <p:nvSpPr>
          <p:cNvPr id="16" name="Flow chip 2"/>
          <p:cNvSpPr/>
          <p:nvPr/>
        </p:nvSpPr>
        <p:spPr>
          <a:xfrm>
            <a:off x="6949440" y="3035808"/>
            <a:ext cx="457200" cy="457200"/>
          </a:xfrm>
          <a:prstGeom prst="roundRect">
            <a:avLst>
              <a:gd name="adj" fmla="val 16000"/>
            </a:avLst>
          </a:prstGeom>
          <a:solidFill>
            <a:schemeClr val="accent1"/>
          </a:solidFill>
          <a:ln/>
        </p:spPr>
      </p:sp>
      <p:sp>
        <p:nvSpPr>
          <p:cNvPr id="17" name="Flow number"/>
          <p:cNvSpPr txBox="1"/>
          <p:nvPr/>
        </p:nvSpPr>
        <p:spPr>
          <a:xfrm>
            <a:off x="6949440" y="303580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2</a:t>
            </a:r>
            <a:endParaRPr lang="en-US" sz="1800" dirty="0"/>
          </a:p>
        </p:txBody>
      </p:sp>
      <p:sp>
        <p:nvSpPr>
          <p:cNvPr id="18" name="Flow title"/>
          <p:cNvSpPr txBox="1"/>
          <p:nvPr/>
        </p:nvSpPr>
        <p:spPr>
          <a:xfrm>
            <a:off x="7589520" y="2916936"/>
            <a:ext cx="3931920" cy="292608"/>
          </a:xfrm>
          <a:prstGeom prst="rect">
            <a:avLst/>
          </a:prstGeom>
          <a:noFill/>
          <a:ln/>
        </p:spPr>
        <p:txBody>
          <a:bodyPr wrap="square" lIns="0" tIns="0" rIns="0" bIns="0" rtlCol="0" anchor="t"/>
          <a:lstStyle/>
          <a:p>
            <a:pPr indent="0" marL="0">
              <a:buNone/>
            </a:pPr>
            <a:r>
              <a:rPr lang="en-US" sz="1500" b="1" dirty="0">
                <a:solidFill>
                  <a:schemeClr val="tx1"/>
                </a:solidFill>
              </a:rPr>
              <a:t>Keep rows with no match</a:t>
            </a:r>
            <a:endParaRPr lang="en-US" sz="1500" dirty="0"/>
          </a:p>
        </p:txBody>
      </p:sp>
      <p:sp>
        <p:nvSpPr>
          <p:cNvPr id="19" name="Flow text"/>
          <p:cNvSpPr txBox="1"/>
          <p:nvPr/>
        </p:nvSpPr>
        <p:spPr>
          <a:xfrm>
            <a:off x="7589520" y="3264408"/>
            <a:ext cx="3931920" cy="365760"/>
          </a:xfrm>
          <a:prstGeom prst="rect">
            <a:avLst/>
          </a:prstGeom>
          <a:noFill/>
          <a:ln/>
        </p:spPr>
        <p:txBody>
          <a:bodyPr wrap="square" lIns="0" tIns="0" rIns="0" bIns="0" rtlCol="0" anchor="t"/>
          <a:lstStyle/>
          <a:p>
            <a:pPr indent="0" marL="0">
              <a:buNone/>
            </a:pPr>
            <a:r>
              <a:rPr lang="en-US" sz="1300" dirty="0">
                <a:solidFill>
                  <a:schemeClr val="tx1"/>
                </a:solidFill>
              </a:rPr>
              <a:t>Test the mapped column for NULL.</a:t>
            </a:r>
            <a:endParaRPr lang="en-US" sz="1300" dirty="0"/>
          </a:p>
        </p:txBody>
      </p:sp>
      <p:sp>
        <p:nvSpPr>
          <p:cNvPr id="20" name="Flow step 3"/>
          <p:cNvSpPr/>
          <p:nvPr/>
        </p:nvSpPr>
        <p:spPr>
          <a:xfrm>
            <a:off x="6766560" y="3831336"/>
            <a:ext cx="4873752" cy="914400"/>
          </a:xfrm>
          <a:prstGeom prst="roundRect">
            <a:avLst>
              <a:gd name="adj" fmla="val 12000"/>
            </a:avLst>
          </a:prstGeom>
          <a:solidFill>
            <a:schemeClr val="bg2"/>
          </a:solidFill>
          <a:ln/>
        </p:spPr>
      </p:sp>
      <p:sp>
        <p:nvSpPr>
          <p:cNvPr id="21" name="Flow chip 3"/>
          <p:cNvSpPr/>
          <p:nvPr/>
        </p:nvSpPr>
        <p:spPr>
          <a:xfrm>
            <a:off x="6949440" y="4059936"/>
            <a:ext cx="457200" cy="457200"/>
          </a:xfrm>
          <a:prstGeom prst="roundRect">
            <a:avLst>
              <a:gd name="adj" fmla="val 16000"/>
            </a:avLst>
          </a:prstGeom>
          <a:solidFill>
            <a:schemeClr val="accent1"/>
          </a:solidFill>
          <a:ln/>
        </p:spPr>
      </p:sp>
      <p:sp>
        <p:nvSpPr>
          <p:cNvPr id="22" name="Flow number"/>
          <p:cNvSpPr txBox="1"/>
          <p:nvPr/>
        </p:nvSpPr>
        <p:spPr>
          <a:xfrm>
            <a:off x="6949440" y="40599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3</a:t>
            </a:r>
            <a:endParaRPr lang="en-US" sz="1800" dirty="0"/>
          </a:p>
        </p:txBody>
      </p:sp>
      <p:sp>
        <p:nvSpPr>
          <p:cNvPr id="23" name="Flow title"/>
          <p:cNvSpPr txBox="1"/>
          <p:nvPr/>
        </p:nvSpPr>
        <p:spPr>
          <a:xfrm>
            <a:off x="7589520" y="3941064"/>
            <a:ext cx="3931920" cy="292608"/>
          </a:xfrm>
          <a:prstGeom prst="rect">
            <a:avLst/>
          </a:prstGeom>
          <a:noFill/>
          <a:ln/>
        </p:spPr>
        <p:txBody>
          <a:bodyPr wrap="square" lIns="0" tIns="0" rIns="0" bIns="0" rtlCol="0" anchor="t"/>
          <a:lstStyle/>
          <a:p>
            <a:pPr indent="0" marL="0">
              <a:buNone/>
            </a:pPr>
            <a:r>
              <a:rPr lang="en-US" sz="1500" b="1" dirty="0">
                <a:solidFill>
                  <a:schemeClr val="tx1"/>
                </a:solidFill>
              </a:rPr>
              <a:t>Report them</a:t>
            </a:r>
            <a:endParaRPr lang="en-US" sz="1500" dirty="0"/>
          </a:p>
        </p:txBody>
      </p:sp>
      <p:sp>
        <p:nvSpPr>
          <p:cNvPr id="24" name="Flow text"/>
          <p:cNvSpPr txBox="1"/>
          <p:nvPr/>
        </p:nvSpPr>
        <p:spPr>
          <a:xfrm>
            <a:off x="7589520" y="4288536"/>
            <a:ext cx="3931920" cy="365760"/>
          </a:xfrm>
          <a:prstGeom prst="rect">
            <a:avLst/>
          </a:prstGeom>
          <a:noFill/>
          <a:ln/>
        </p:spPr>
        <p:txBody>
          <a:bodyPr wrap="square" lIns="0" tIns="0" rIns="0" bIns="0" rtlCol="0" anchor="t"/>
          <a:lstStyle/>
          <a:p>
            <a:pPr indent="0" marL="0">
              <a:buNone/>
            </a:pPr>
            <a:r>
              <a:rPr lang="en-US" sz="1300" dirty="0">
                <a:solidFill>
                  <a:schemeClr val="tx1"/>
                </a:solidFill>
              </a:rPr>
              <a:t>Total them, show them, decide.</a:t>
            </a:r>
            <a:endParaRPr lang="en-US" sz="1300" dirty="0"/>
          </a:p>
        </p:txBody>
      </p:sp>
      <p:sp>
        <p:nvSpPr>
          <p:cNvPr id="25" name="DST tie card"/>
          <p:cNvSpPr/>
          <p:nvPr/>
        </p:nvSpPr>
        <p:spPr>
          <a:xfrm>
            <a:off x="6766560" y="4892040"/>
            <a:ext cx="4873752" cy="640080"/>
          </a:xfrm>
          <a:prstGeom prst="roundRect">
            <a:avLst>
              <a:gd name="adj" fmla="val 17143"/>
            </a:avLst>
          </a:prstGeom>
          <a:solidFill>
            <a:schemeClr val="accent2">
              <a:alpha val="20000"/>
            </a:schemeClr>
          </a:solidFill>
          <a:ln/>
        </p:spPr>
      </p:sp>
      <p:sp>
        <p:nvSpPr>
          <p:cNvPr id="26" name="DST tie text"/>
          <p:cNvSpPr txBox="1"/>
          <p:nvPr/>
        </p:nvSpPr>
        <p:spPr>
          <a:xfrm>
            <a:off x="6949440" y="4892040"/>
            <a:ext cx="4526280" cy="640080"/>
          </a:xfrm>
          <a:prstGeom prst="rect">
            <a:avLst/>
          </a:prstGeom>
          <a:noFill/>
          <a:ln/>
        </p:spPr>
        <p:txBody>
          <a:bodyPr wrap="square" lIns="0" tIns="0" rIns="0" bIns="0" rtlCol="0" anchor="ctr"/>
          <a:lstStyle/>
          <a:p>
            <a:pPr indent="0" marL="0">
              <a:buNone/>
            </a:pPr>
            <a:r>
              <a:rPr lang="en-US" sz="1300" b="1" dirty="0">
                <a:solidFill>
                  <a:schemeClr val="tx1"/>
                </a:solidFill>
              </a:rPr>
              <a:t>In the DST workflow: </a:t>
            </a:r>
            <a:pPr indent="0" marL="0">
              <a:buNone/>
            </a:pPr>
            <a:r>
              <a:rPr lang="en-US" sz="1300" dirty="0">
                <a:solidFill>
                  <a:schemeClr val="tx1"/>
                </a:solidFill>
              </a:rPr>
              <a:t>the Unmapped Ad Units and Unmapped CoCodes tabs.</a:t>
            </a:r>
            <a:endParaRPr lang="en-US" sz="1300" dirty="0"/>
          </a:p>
        </p:txBody>
      </p:sp>
      <p:sp>
        <p:nvSpPr>
          <p:cNvPr id="27" name="Takeaway"/>
          <p:cNvSpPr txBox="1"/>
          <p:nvPr/>
        </p:nvSpPr>
        <p:spPr>
          <a:xfrm>
            <a:off x="548640" y="5669280"/>
            <a:ext cx="11094415" cy="457200"/>
          </a:xfrm>
          <a:prstGeom prst="roundRect">
            <a:avLst>
              <a:gd name="adj" fmla="val 20000"/>
            </a:avLst>
          </a:prstGeom>
          <a:solidFill>
            <a:schemeClr val="tx1"/>
          </a:solidFill>
          <a:ln/>
        </p:spPr>
        <p:txBody>
          <a:bodyPr wrap="square" lIns="279400" tIns="0" rIns="279400" bIns="0" rtlCol="0" anchor="ctr"/>
          <a:lstStyle/>
          <a:p>
            <a:pPr indent="0" marL="0">
              <a:buNone/>
            </a:pPr>
            <a:r>
              <a:rPr lang="en-US" sz="1600" i="1" dirty="0">
                <a:solidFill>
                  <a:schemeClr val="bg1"/>
                </a:solidFill>
              </a:rPr>
              <a:t>Unmapped rows are a finding, not a rounding error: report them, then decide.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GROUP BY sets the grain: one row per what?</a:t>
            </a:r>
            <a:endParaRPr lang="en-US" sz="3200" dirty="0"/>
          </a:p>
        </p:txBody>
      </p:sp>
      <p:sp>
        <p:nvSpPr>
          <p:cNvPr id="5" name="Group by query"/>
          <p:cNvSpPr/>
          <p:nvPr/>
        </p:nvSpPr>
        <p:spPr>
          <a:xfrm>
            <a:off x="548640" y="1783080"/>
            <a:ext cx="5943600" cy="2286000"/>
          </a:xfrm>
          <a:prstGeom prst="roundRect">
            <a:avLst>
              <a:gd name="adj" fmla="val 4000"/>
            </a:avLst>
          </a:prstGeom>
          <a:solidFill>
            <a:schemeClr val="tx1"/>
          </a:solidFill>
          <a:ln/>
        </p:spPr>
      </p:sp>
      <p:sp>
        <p:nvSpPr>
          <p:cNvPr id="6" name="Code label"/>
          <p:cNvSpPr txBox="1"/>
          <p:nvPr/>
        </p:nvSpPr>
        <p:spPr>
          <a:xfrm>
            <a:off x="749808" y="1874520"/>
            <a:ext cx="55412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SQL</a:t>
            </a:r>
            <a:endParaRPr lang="en-US" sz="1000" dirty="0"/>
          </a:p>
        </p:txBody>
      </p:sp>
      <p:sp>
        <p:nvSpPr>
          <p:cNvPr id="7" name="Group by query text"/>
          <p:cNvSpPr txBox="1"/>
          <p:nvPr/>
        </p:nvSpPr>
        <p:spPr>
          <a:xfrm>
            <a:off x="749808" y="2167128"/>
            <a:ext cx="5541264" cy="1792224"/>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SELECT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ad_unit</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COUNT</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AS</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row_count</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SUM</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impressions</a:t>
            </a:r>
            <a:pPr indent="0" marL="0">
              <a:buNone/>
            </a:pPr>
            <a:r>
              <a:rPr lang="en-US" sz="1400" dirty="0">
                <a:solidFill>
                  <a:schemeClr val="bg1"/>
                </a:solidFill>
                <a:latin typeface="Courier New" pitchFamily="34" charset="0"/>
                <a:ea typeface="Courier New" pitchFamily="34" charset="-122"/>
                <a:cs typeface="Courier New" pitchFamily="34" charset="-120"/>
              </a:rPr>
              <a: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AS</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total</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FROM</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bronze_impressions</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GROUP</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BY</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ad_unit</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ORDER</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BY</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total</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accent2"/>
                </a:solidFill>
                <a:latin typeface="Courier New" pitchFamily="34" charset="0"/>
                <a:ea typeface="Courier New" pitchFamily="34" charset="-122"/>
                <a:cs typeface="Courier New" pitchFamily="34" charset="-120"/>
              </a:rPr>
              <a:t>DESC</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8" name="Result label"/>
          <p:cNvSpPr txBox="1"/>
          <p:nvPr/>
        </p:nvSpPr>
        <p:spPr>
          <a:xfrm>
            <a:off x="548640" y="4233672"/>
            <a:ext cx="27432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RESULT</a:t>
            </a:r>
            <a:endParaRPr lang="en-US" sz="1000" dirty="0"/>
          </a:p>
        </p:txBody>
      </p:sp>
      <p:graphicFrame>
        <p:nvGraphicFramePr>
          <p:cNvPr id="36" name="Group by result"/>
          <p:cNvGraphicFramePr>
            <a:graphicFrameLocks noGrp="1"/>
          </p:cNvGraphicFramePr>
          <p:nvPr>
            <p:extLst>
              <p:ext uri="{D42A27DB-BD31-4B8C-83A1-F6EECF244321}">
                <p14:modId xmlns:p14="http://schemas.microsoft.com/office/powerpoint/2010/main" val="1579011935"/>
              </p:ext>
            </p:extLst>
          </p:nvPr>
        </p:nvGraphicFramePr>
        <p:xfrm>
          <a:off x="548640" y="4480560"/>
          <a:ext cx="5943600" cy="914400"/>
        </p:xfrm>
        <a:graphic>
          <a:graphicData uri="http://schemas.openxmlformats.org/drawingml/2006/table">
            <a:tbl>
              <a:tblPr/>
              <a:tblGrid>
                <a:gridCol w="2286000"/>
                <a:gridCol w="1737360"/>
                <a:gridCol w="1920240"/>
              </a:tblGrid>
              <a:tr h="329184">
                <a:tc>
                  <a:txBody>
                    <a:bodyPr/>
                    <a:lstStyle/>
                    <a:p>
                      <a:pPr indent="0" marL="0">
                        <a:buNone/>
                      </a:pPr>
                      <a:r>
                        <a:rPr lang="en-US" sz="1300" b="1" dirty="0">
                          <a:solidFill>
                            <a:schemeClr val="bg1"/>
                          </a:solidFill>
                        </a:rPr>
                        <a:t>ad_unit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row_count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total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10896">
                <a:tc>
                  <a:txBody>
                    <a:bodyPr/>
                    <a:lstStyle/>
                    <a:p>
                      <a:pPr indent="0" marL="0">
                        <a:buNone/>
                      </a:pPr>
                      <a:r>
                        <a:rPr lang="en-US" sz="1300" dirty="0">
                          <a:solidFill>
                            <a:schemeClr val="tx1"/>
                          </a:solidFill>
                        </a:rPr>
                        <a:t>sports_hub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3</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1150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10896">
                <a:tc>
                  <a:txBody>
                    <a:bodyPr/>
                    <a:lstStyle/>
                    <a:p>
                      <a:pPr indent="0" marL="0">
                        <a:buNone/>
                      </a:pPr>
                      <a:r>
                        <a:rPr lang="en-US" sz="1300" dirty="0">
                          <a:solidFill>
                            <a:schemeClr val="tx1"/>
                          </a:solidFill>
                        </a:rPr>
                        <a:t>kitchen_tv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3</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1000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10896">
                <a:tc>
                  <a:txBody>
                    <a:bodyPr/>
                    <a:lstStyle/>
                    <a:p>
                      <a:pPr indent="0" marL="0">
                        <a:buNone/>
                      </a:pPr>
                      <a:r>
                        <a:rPr lang="en-US" sz="1300" dirty="0">
                          <a:solidFill>
                            <a:schemeClr val="tx1"/>
                          </a:solidFill>
                        </a:rPr>
                        <a:t>mystery_unit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50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graphicFrame>
        <p:nvGraphicFramePr>
          <p:cNvPr id="71" name="Aggregate functions"/>
          <p:cNvGraphicFramePr>
            <a:graphicFrameLocks noGrp="1"/>
          </p:cNvGraphicFramePr>
          <p:nvPr>
            <p:extLst>
              <p:ext uri="{D42A27DB-BD31-4B8C-83A1-F6EECF244321}">
                <p14:modId xmlns:p14="http://schemas.microsoft.com/office/powerpoint/2010/main" val="1579011935"/>
              </p:ext>
            </p:extLst>
          </p:nvPr>
        </p:nvGraphicFramePr>
        <p:xfrm>
          <a:off x="6766560" y="1783080"/>
          <a:ext cx="4873752" cy="914400"/>
        </p:xfrm>
        <a:graphic>
          <a:graphicData uri="http://schemas.openxmlformats.org/drawingml/2006/table">
            <a:tbl>
              <a:tblPr/>
              <a:tblGrid>
                <a:gridCol w="1463040"/>
                <a:gridCol w="3410712"/>
              </a:tblGrid>
              <a:tr h="365760">
                <a:tc>
                  <a:txBody>
                    <a:bodyPr/>
                    <a:lstStyle/>
                    <a:p>
                      <a:pPr indent="0" marL="0">
                        <a:buNone/>
                      </a:pPr>
                      <a:r>
                        <a:rPr lang="en-US" sz="1300" b="1" dirty="0">
                          <a:solidFill>
                            <a:schemeClr val="bg1"/>
                          </a:solidFill>
                        </a:rPr>
                        <a:t>Function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Returns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COUNT(*)</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How many rows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SUM(col)</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The total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AVG(col)</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The average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MIN(col)</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The smallest value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MAX(col)</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The largest value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11" name="Grain card"/>
          <p:cNvSpPr/>
          <p:nvPr/>
        </p:nvSpPr>
        <p:spPr>
          <a:xfrm>
            <a:off x="6766560" y="4251960"/>
            <a:ext cx="4873752" cy="1280160"/>
          </a:xfrm>
          <a:prstGeom prst="roundRect">
            <a:avLst>
              <a:gd name="adj" fmla="val 8571"/>
            </a:avLst>
          </a:prstGeom>
          <a:solidFill>
            <a:schemeClr val="accent3">
              <a:alpha val="22000"/>
            </a:schemeClr>
          </a:solidFill>
          <a:ln/>
        </p:spPr>
      </p:sp>
      <p:sp>
        <p:nvSpPr>
          <p:cNvPr id="12" name="Grain text"/>
          <p:cNvSpPr txBox="1"/>
          <p:nvPr/>
        </p:nvSpPr>
        <p:spPr>
          <a:xfrm>
            <a:off x="6949440" y="4251960"/>
            <a:ext cx="4526280" cy="1280160"/>
          </a:xfrm>
          <a:prstGeom prst="rect">
            <a:avLst/>
          </a:prstGeom>
          <a:noFill/>
          <a:ln/>
        </p:spPr>
        <p:txBody>
          <a:bodyPr wrap="square" lIns="0" tIns="0" rIns="0" bIns="0" rtlCol="0" anchor="ctr"/>
          <a:lstStyle/>
          <a:p>
            <a:pPr indent="0" marL="0">
              <a:buNone/>
            </a:pPr>
            <a:r>
              <a:rPr lang="en-US" sz="1350" b="1" dirty="0">
                <a:solidFill>
                  <a:schemeClr val="tx1"/>
                </a:solidFill>
              </a:rPr>
              <a:t>Say the grain out loud. </a:t>
            </a:r>
            <a:pPr indent="0" marL="0">
              <a:buNone/>
            </a:pPr>
            <a:r>
              <a:rPr lang="en-US" sz="1350" dirty="0">
                <a:solidFill>
                  <a:schemeClr val="tx1"/>
                </a:solidFill>
              </a:rPr>
              <a:t>One row per ad unit? Per entity and month? WHERE filters rows before grouping. HAVING filters groups after.</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Window functions: a total beside every row</a:t>
            </a:r>
            <a:endParaRPr lang="en-US" sz="3200" dirty="0"/>
          </a:p>
        </p:txBody>
      </p:sp>
      <p:sp>
        <p:nvSpPr>
          <p:cNvPr id="5" name="Window query"/>
          <p:cNvSpPr/>
          <p:nvPr/>
        </p:nvSpPr>
        <p:spPr>
          <a:xfrm>
            <a:off x="548640" y="1783080"/>
            <a:ext cx="6675120" cy="2331720"/>
          </a:xfrm>
          <a:prstGeom prst="roundRect">
            <a:avLst>
              <a:gd name="adj" fmla="val 3922"/>
            </a:avLst>
          </a:prstGeom>
          <a:solidFill>
            <a:schemeClr val="tx1"/>
          </a:solidFill>
          <a:ln/>
        </p:spPr>
      </p:sp>
      <p:sp>
        <p:nvSpPr>
          <p:cNvPr id="6" name="Code label"/>
          <p:cNvSpPr txBox="1"/>
          <p:nvPr/>
        </p:nvSpPr>
        <p:spPr>
          <a:xfrm>
            <a:off x="749808" y="1874520"/>
            <a:ext cx="62727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SQL  ·  'VALID' = THE CLEANED, MAPPED ROWS</a:t>
            </a:r>
            <a:endParaRPr lang="en-US" sz="1000" dirty="0"/>
          </a:p>
        </p:txBody>
      </p:sp>
      <p:sp>
        <p:nvSpPr>
          <p:cNvPr id="7" name="Window query text"/>
          <p:cNvSpPr txBox="1"/>
          <p:nvPr/>
        </p:nvSpPr>
        <p:spPr>
          <a:xfrm>
            <a:off x="749808" y="2167128"/>
            <a:ext cx="6272784" cy="1837944"/>
          </a:xfrm>
          <a:prstGeom prst="rect">
            <a:avLst/>
          </a:prstGeom>
          <a:noFill/>
          <a:ln/>
        </p:spPr>
        <p:txBody>
          <a:bodyPr wrap="square" lIns="0" tIns="0" rIns="0" bIns="0" rtlCol="0" anchor="t"/>
          <a:lstStyle/>
          <a:p>
            <a:pPr indent="0" marL="0">
              <a:buNone/>
            </a:pPr>
            <a:r>
              <a:rPr lang="en-US" sz="1350" dirty="0">
                <a:solidFill>
                  <a:schemeClr val="accent2"/>
                </a:solidFill>
                <a:latin typeface="Courier New" pitchFamily="34" charset="0"/>
                <a:ea typeface="Courier New" pitchFamily="34" charset="-122"/>
                <a:cs typeface="Courier New" pitchFamily="34" charset="-120"/>
              </a:rPr>
              <a:t>SELECT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entity</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region</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impressions</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SUM</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impressions</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2"/>
                </a:solidFill>
                <a:latin typeface="Courier New" pitchFamily="34" charset="0"/>
                <a:ea typeface="Courier New" pitchFamily="34" charset="-122"/>
                <a:cs typeface="Courier New" pitchFamily="34" charset="-120"/>
              </a:rPr>
              <a:t>OVER</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accent2"/>
                </a:solidFill>
                <a:latin typeface="Courier New" pitchFamily="34" charset="0"/>
                <a:ea typeface="Courier New" pitchFamily="34" charset="-122"/>
                <a:cs typeface="Courier New" pitchFamily="34" charset="-120"/>
              </a:rPr>
              <a:t>PARTITION</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2"/>
                </a:solidFill>
                <a:latin typeface="Courier New" pitchFamily="34" charset="0"/>
                <a:ea typeface="Courier New" pitchFamily="34" charset="-122"/>
                <a:cs typeface="Courier New" pitchFamily="34" charset="-120"/>
              </a:rPr>
              <a:t>BY</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entity</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2"/>
                </a:solidFill>
                <a:latin typeface="Courier New" pitchFamily="34" charset="0"/>
                <a:ea typeface="Courier New" pitchFamily="34" charset="-122"/>
                <a:cs typeface="Courier New" pitchFamily="34" charset="-120"/>
              </a:rPr>
              <a:t>AS</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entity_total</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impressions</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6"/>
                </a:solidFill>
                <a:latin typeface="Courier New" pitchFamily="34" charset="0"/>
                <a:ea typeface="Courier New" pitchFamily="34" charset="-122"/>
                <a:cs typeface="Courier New" pitchFamily="34" charset="-120"/>
              </a:rPr>
              <a:t>1.0</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SUM</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impressions</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2"/>
                </a:solidFill>
                <a:latin typeface="Courier New" pitchFamily="34" charset="0"/>
                <a:ea typeface="Courier New" pitchFamily="34" charset="-122"/>
                <a:cs typeface="Courier New" pitchFamily="34" charset="-120"/>
              </a:rPr>
              <a:t>OVER</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accent2"/>
                </a:solidFill>
                <a:latin typeface="Courier New" pitchFamily="34" charset="0"/>
                <a:ea typeface="Courier New" pitchFamily="34" charset="-122"/>
                <a:cs typeface="Courier New" pitchFamily="34" charset="-120"/>
              </a:rPr>
              <a:t>PARTITION</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2"/>
                </a:solidFill>
                <a:latin typeface="Courier New" pitchFamily="34" charset="0"/>
                <a:ea typeface="Courier New" pitchFamily="34" charset="-122"/>
                <a:cs typeface="Courier New" pitchFamily="34" charset="-120"/>
              </a:rPr>
              <a:t>BY</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entity</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2"/>
                </a:solidFill>
                <a:latin typeface="Courier New" pitchFamily="34" charset="0"/>
                <a:ea typeface="Courier New" pitchFamily="34" charset="-122"/>
                <a:cs typeface="Courier New" pitchFamily="34" charset="-120"/>
              </a:rPr>
              <a:t>AS</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share</a:t>
            </a:r>
            <a:endParaRPr lang="en-US" sz="1350" dirty="0"/>
          </a:p>
          <a:p>
            <a:pPr indent="0" marL="0">
              <a:buNone/>
            </a:pPr>
            <a:r>
              <a:rPr lang="en-US" sz="1350" dirty="0">
                <a:solidFill>
                  <a:schemeClr val="accent2"/>
                </a:solidFill>
                <a:latin typeface="Courier New" pitchFamily="34" charset="0"/>
                <a:ea typeface="Courier New" pitchFamily="34" charset="-122"/>
                <a:cs typeface="Courier New" pitchFamily="34" charset="-120"/>
              </a:rPr>
              <a:t>FROM</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valid</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p:txBody>
      </p:sp>
      <p:sp>
        <p:nvSpPr>
          <p:cNvPr id="8" name="Window explanation"/>
          <p:cNvSpPr/>
          <p:nvPr/>
        </p:nvSpPr>
        <p:spPr>
          <a:xfrm>
            <a:off x="7498080" y="1783080"/>
            <a:ext cx="4142232" cy="1097280"/>
          </a:xfrm>
          <a:prstGeom prst="roundRect">
            <a:avLst>
              <a:gd name="adj" fmla="val 10000"/>
            </a:avLst>
          </a:prstGeom>
          <a:solidFill>
            <a:schemeClr val="bg2"/>
          </a:solidFill>
          <a:ln/>
        </p:spPr>
      </p:sp>
      <p:sp>
        <p:nvSpPr>
          <p:cNvPr id="9" name="Window text"/>
          <p:cNvSpPr txBox="1"/>
          <p:nvPr/>
        </p:nvSpPr>
        <p:spPr>
          <a:xfrm>
            <a:off x="7680960" y="1783080"/>
            <a:ext cx="3794760" cy="1097280"/>
          </a:xfrm>
          <a:prstGeom prst="rect">
            <a:avLst/>
          </a:prstGeom>
          <a:noFill/>
          <a:ln/>
        </p:spPr>
        <p:txBody>
          <a:bodyPr wrap="square" lIns="0" tIns="0" rIns="0" bIns="0" rtlCol="0" anchor="ctr"/>
          <a:lstStyle/>
          <a:p>
            <a:pPr indent="0" marL="0">
              <a:buNone/>
            </a:pPr>
            <a:r>
              <a:rPr lang="en-US" sz="1400" b="1" dirty="0">
                <a:solidFill>
                  <a:schemeClr val="tx1"/>
                </a:solidFill>
              </a:rPr>
              <a:t>GROUP BY collapses rows. </a:t>
            </a:r>
            <a:pPr indent="0" marL="0">
              <a:buNone/>
            </a:pPr>
            <a:r>
              <a:rPr lang="en-US" sz="1400" dirty="0">
                <a:solidFill>
                  <a:schemeClr val="tx1"/>
                </a:solidFill>
              </a:rPr>
              <a:t>OVER keeps every row and adds the total beside it.</a:t>
            </a:r>
            <a:endParaRPr lang="en-US" sz="1400" dirty="0"/>
          </a:p>
        </p:txBody>
      </p:sp>
      <p:sp>
        <p:nvSpPr>
          <p:cNvPr id="10" name="Alteryx equivalent"/>
          <p:cNvSpPr/>
          <p:nvPr/>
        </p:nvSpPr>
        <p:spPr>
          <a:xfrm>
            <a:off x="7498080" y="3017520"/>
            <a:ext cx="4142232" cy="1097280"/>
          </a:xfrm>
          <a:prstGeom prst="roundRect">
            <a:avLst>
              <a:gd name="adj" fmla="val 10000"/>
            </a:avLst>
          </a:prstGeom>
          <a:solidFill>
            <a:schemeClr val="accent2">
              <a:alpha val="20000"/>
            </a:schemeClr>
          </a:solidFill>
          <a:ln/>
        </p:spPr>
      </p:sp>
      <p:sp>
        <p:nvSpPr>
          <p:cNvPr id="11" name="Alteryx equivalent text"/>
          <p:cNvSpPr txBox="1"/>
          <p:nvPr/>
        </p:nvSpPr>
        <p:spPr>
          <a:xfrm>
            <a:off x="7680960" y="3017520"/>
            <a:ext cx="3794760" cy="1097280"/>
          </a:xfrm>
          <a:prstGeom prst="rect">
            <a:avLst/>
          </a:prstGeom>
          <a:noFill/>
          <a:ln/>
        </p:spPr>
        <p:txBody>
          <a:bodyPr wrap="square" lIns="0" tIns="0" rIns="0" bIns="0" rtlCol="0" anchor="ctr"/>
          <a:lstStyle/>
          <a:p>
            <a:pPr indent="0" marL="0">
              <a:buNone/>
            </a:pPr>
            <a:r>
              <a:rPr lang="en-US" sz="1400" b="1" dirty="0">
                <a:solidFill>
                  <a:schemeClr val="tx1"/>
                </a:solidFill>
              </a:rPr>
              <a:t>In Alteryx: </a:t>
            </a:r>
            <a:pPr indent="0" marL="0">
              <a:buNone/>
            </a:pPr>
            <a:r>
              <a:rPr lang="en-US" sz="1400" dirty="0">
                <a:solidFill>
                  <a:schemeClr val="tx1"/>
                </a:solidFill>
              </a:rPr>
              <a:t>a Summarize tool for the denominator, then a Join to bring it back. Here: one line.</a:t>
            </a:r>
            <a:endParaRPr lang="en-US" sz="1400" dirty="0"/>
          </a:p>
        </p:txBody>
      </p:sp>
      <p:sp>
        <p:nvSpPr>
          <p:cNvPr id="12" name="Result label"/>
          <p:cNvSpPr txBox="1"/>
          <p:nvPr/>
        </p:nvSpPr>
        <p:spPr>
          <a:xfrm>
            <a:off x="548640" y="4279392"/>
            <a:ext cx="27432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RESULT</a:t>
            </a:r>
            <a:endParaRPr lang="en-US" sz="1000" dirty="0"/>
          </a:p>
        </p:txBody>
      </p:sp>
      <p:graphicFrame>
        <p:nvGraphicFramePr>
          <p:cNvPr id="37" name="Window result"/>
          <p:cNvGraphicFramePr>
            <a:graphicFrameLocks noGrp="1"/>
          </p:cNvGraphicFramePr>
          <p:nvPr>
            <p:extLst>
              <p:ext uri="{D42A27DB-BD31-4B8C-83A1-F6EECF244321}">
                <p14:modId xmlns:p14="http://schemas.microsoft.com/office/powerpoint/2010/main" val="1579011935"/>
              </p:ext>
            </p:extLst>
          </p:nvPr>
        </p:nvGraphicFramePr>
        <p:xfrm>
          <a:off x="548640" y="4526280"/>
          <a:ext cx="11094415" cy="914400"/>
        </p:xfrm>
        <a:graphic>
          <a:graphicData uri="http://schemas.openxmlformats.org/drawingml/2006/table">
            <a:tbl>
              <a:tblPr/>
              <a:tblGrid>
                <a:gridCol w="2377440"/>
                <a:gridCol w="2103120"/>
                <a:gridCol w="2286000"/>
                <a:gridCol w="2286000"/>
                <a:gridCol w="2039112"/>
              </a:tblGrid>
              <a:tr h="292608">
                <a:tc>
                  <a:txBody>
                    <a:bodyPr/>
                    <a:lstStyle/>
                    <a:p>
                      <a:pPr indent="0" marL="0">
                        <a:buNone/>
                      </a:pPr>
                      <a:r>
                        <a:rPr lang="en-US" sz="1250" b="1" dirty="0">
                          <a:solidFill>
                            <a:schemeClr val="bg1"/>
                          </a:solidFill>
                        </a:rPr>
                        <a:t>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region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impressions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entity_total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share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274320">
                <a:tc>
                  <a:txBody>
                    <a:bodyPr/>
                    <a:lstStyle/>
                    <a:p>
                      <a:pPr indent="0" marL="0">
                        <a:buNone/>
                      </a:pPr>
                      <a:r>
                        <a:rPr lang="en-US" sz="1250" dirty="0">
                          <a:solidFill>
                            <a:schemeClr val="tx1"/>
                          </a:solidFill>
                        </a:rPr>
                        <a:t>Entity 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600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900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0.667</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250" dirty="0">
                          <a:solidFill>
                            <a:schemeClr val="tx1"/>
                          </a:solidFill>
                        </a:rPr>
                        <a:t>Entity 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NY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300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900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0.333</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250" dirty="0">
                          <a:solidFill>
                            <a:schemeClr val="tx1"/>
                          </a:solidFill>
                        </a:rPr>
                        <a:t>Entity B</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200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1000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0.200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250" dirty="0">
                          <a:solidFill>
                            <a:schemeClr val="tx1"/>
                          </a:solidFill>
                        </a:rPr>
                        <a:t>Entity B</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TX</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800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1000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0.800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Put it together: apportion revenue in one query</a:t>
            </a:r>
            <a:endParaRPr lang="en-US" sz="3200" dirty="0"/>
          </a:p>
        </p:txBody>
      </p:sp>
      <p:sp>
        <p:nvSpPr>
          <p:cNvPr id="5" name="Full query"/>
          <p:cNvSpPr/>
          <p:nvPr/>
        </p:nvSpPr>
        <p:spPr>
          <a:xfrm>
            <a:off x="548640" y="1783080"/>
            <a:ext cx="6355080" cy="3749040"/>
          </a:xfrm>
          <a:prstGeom prst="roundRect">
            <a:avLst>
              <a:gd name="adj" fmla="val 2439"/>
            </a:avLst>
          </a:prstGeom>
          <a:solidFill>
            <a:schemeClr val="tx1"/>
          </a:solidFill>
          <a:ln/>
        </p:spPr>
      </p:sp>
      <p:sp>
        <p:nvSpPr>
          <p:cNvPr id="6" name="Code label"/>
          <p:cNvSpPr txBox="1"/>
          <p:nvPr/>
        </p:nvSpPr>
        <p:spPr>
          <a:xfrm>
            <a:off x="749808" y="1874520"/>
            <a:ext cx="595274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SQL</a:t>
            </a:r>
            <a:endParaRPr lang="en-US" sz="1000" dirty="0"/>
          </a:p>
        </p:txBody>
      </p:sp>
      <p:sp>
        <p:nvSpPr>
          <p:cNvPr id="7" name="Full query text"/>
          <p:cNvSpPr txBox="1"/>
          <p:nvPr/>
        </p:nvSpPr>
        <p:spPr>
          <a:xfrm>
            <a:off x="749808" y="2167128"/>
            <a:ext cx="5952744" cy="3255264"/>
          </a:xfrm>
          <a:prstGeom prst="rect">
            <a:avLst/>
          </a:prstGeom>
          <a:noFill/>
          <a:ln/>
        </p:spPr>
        <p:txBody>
          <a:bodyPr wrap="square" lIns="0" tIns="0" rIns="0" bIns="0" rtlCol="0" anchor="t"/>
          <a:lstStyle/>
          <a:p>
            <a:pPr indent="0" marL="0">
              <a:buNone/>
            </a:pPr>
            <a:r>
              <a:rPr lang="en-US" sz="1250" dirty="0">
                <a:solidFill>
                  <a:schemeClr val="accent2"/>
                </a:solidFill>
                <a:latin typeface="Courier New" pitchFamily="34" charset="0"/>
                <a:ea typeface="Courier New" pitchFamily="34" charset="-122"/>
                <a:cs typeface="Courier New" pitchFamily="34" charset="-120"/>
              </a:rPr>
              <a:t>WITH</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valid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AS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SELECT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period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m</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impressions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FROM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bronze_impressions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JOIN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ref_ad_unit_map</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ON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m</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ad_unit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ad_unit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WHERE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COALESCE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'N/A'</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NOT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IN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'N/A'</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'NO REGION'</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SELECT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ROUND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amount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impressions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SUM</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OVER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2"/>
                </a:solidFill>
                <a:latin typeface="Courier New" pitchFamily="34" charset="0"/>
                <a:ea typeface="Courier New" pitchFamily="34" charset="-122"/>
                <a:cs typeface="Courier New" pitchFamily="34" charset="-120"/>
              </a:rPr>
              <a:t>PARTITION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BY</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6"/>
                </a:solidFill>
                <a:latin typeface="Courier New" pitchFamily="34" charset="0"/>
                <a:ea typeface="Courier New" pitchFamily="34" charset="-122"/>
                <a:cs typeface="Courier New" pitchFamily="34" charset="-120"/>
              </a:rPr>
              <a:t>2</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AS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apportioned</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FROM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valid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JOIN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silver_revenue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ON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AND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period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period</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ORDER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BY</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8" name="Result label"/>
          <p:cNvSpPr txBox="1"/>
          <p:nvPr/>
        </p:nvSpPr>
        <p:spPr>
          <a:xfrm>
            <a:off x="7132320" y="1783080"/>
            <a:ext cx="27432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RESULT</a:t>
            </a:r>
            <a:endParaRPr lang="en-US" sz="1000" dirty="0"/>
          </a:p>
        </p:txBody>
      </p:sp>
      <p:graphicFrame>
        <p:nvGraphicFramePr>
          <p:cNvPr id="38" name="Full result"/>
          <p:cNvGraphicFramePr>
            <a:graphicFrameLocks noGrp="1"/>
          </p:cNvGraphicFramePr>
          <p:nvPr>
            <p:extLst>
              <p:ext uri="{D42A27DB-BD31-4B8C-83A1-F6EECF244321}">
                <p14:modId xmlns:p14="http://schemas.microsoft.com/office/powerpoint/2010/main" val="1579011935"/>
              </p:ext>
            </p:extLst>
          </p:nvPr>
        </p:nvGraphicFramePr>
        <p:xfrm>
          <a:off x="7132320" y="2029968"/>
          <a:ext cx="4507992" cy="914400"/>
        </p:xfrm>
        <a:graphic>
          <a:graphicData uri="http://schemas.openxmlformats.org/drawingml/2006/table">
            <a:tbl>
              <a:tblPr/>
              <a:tblGrid>
                <a:gridCol w="1188720"/>
                <a:gridCol w="822960"/>
                <a:gridCol w="1188720"/>
                <a:gridCol w="1307592"/>
              </a:tblGrid>
              <a:tr h="365760">
                <a:tc>
                  <a:txBody>
                    <a:bodyPr/>
                    <a:lstStyle/>
                    <a:p>
                      <a:pPr indent="0" marL="0">
                        <a:buNone/>
                      </a:pPr>
                      <a:r>
                        <a:rPr lang="en-US" sz="1250" b="1" dirty="0">
                          <a:solidFill>
                            <a:schemeClr val="bg1"/>
                          </a:solidFill>
                        </a:rPr>
                        <a:t>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region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impressions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apportioned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250" dirty="0">
                          <a:solidFill>
                            <a:schemeClr val="tx1"/>
                          </a:solidFill>
                        </a:rPr>
                        <a:t>Entity 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600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6,666.67</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50" dirty="0">
                          <a:solidFill>
                            <a:schemeClr val="tx1"/>
                          </a:solidFill>
                        </a:rPr>
                        <a:t>Entity 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NY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300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3,333.33</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250" dirty="0">
                          <a:solidFill>
                            <a:schemeClr val="tx1"/>
                          </a:solidFill>
                        </a:rPr>
                        <a:t>Entity B</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200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4,000.00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50" dirty="0">
                          <a:solidFill>
                            <a:schemeClr val="tx1"/>
                          </a:solidFill>
                        </a:rPr>
                        <a:t>Entity B</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TX</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800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16,000.00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0" name="Tie-out card"/>
          <p:cNvSpPr/>
          <p:nvPr/>
        </p:nvSpPr>
        <p:spPr>
          <a:xfrm>
            <a:off x="7132320" y="4023360"/>
            <a:ext cx="4507992" cy="1508760"/>
          </a:xfrm>
          <a:prstGeom prst="roundRect">
            <a:avLst>
              <a:gd name="adj" fmla="val 7273"/>
            </a:avLst>
          </a:prstGeom>
          <a:solidFill>
            <a:schemeClr val="accent2">
              <a:alpha val="20000"/>
            </a:schemeClr>
          </a:solidFill>
          <a:ln/>
        </p:spPr>
      </p:sp>
      <p:sp>
        <p:nvSpPr>
          <p:cNvPr id="11" name="Tie-out title"/>
          <p:cNvSpPr txBox="1"/>
          <p:nvPr/>
        </p:nvSpPr>
        <p:spPr>
          <a:xfrm>
            <a:off x="7315200" y="4114800"/>
            <a:ext cx="411480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Tie-out</a:t>
            </a:r>
            <a:endParaRPr lang="en-US" sz="1600" dirty="0"/>
          </a:p>
        </p:txBody>
      </p:sp>
      <p:sp>
        <p:nvSpPr>
          <p:cNvPr id="12" name="Tie-out text"/>
          <p:cNvSpPr txBox="1"/>
          <p:nvPr/>
        </p:nvSpPr>
        <p:spPr>
          <a:xfrm>
            <a:off x="7315200" y="4462272"/>
            <a:ext cx="4160520" cy="1005840"/>
          </a:xfrm>
          <a:prstGeom prst="rect">
            <a:avLst/>
          </a:prstGeom>
          <a:noFill/>
          <a:ln/>
        </p:spPr>
        <p:txBody>
          <a:bodyPr wrap="square" lIns="0" tIns="0" rIns="0" bIns="0" rtlCol="0" anchor="t"/>
          <a:lstStyle/>
          <a:p>
            <a:pPr indent="0" marL="0">
              <a:spcAft>
                <a:spcPts val="300"/>
              </a:spcAft>
              <a:buNone/>
            </a:pPr>
            <a:r>
              <a:rPr lang="en-US" sz="1300" dirty="0">
                <a:solidFill>
                  <a:schemeClr val="tx1"/>
                </a:solidFill>
              </a:rPr>
              <a:t>Entity A:  6,666.67 + 3,333.33 = 10,000.00</a:t>
            </a:r>
            <a:endParaRPr lang="en-US" sz="1300" dirty="0"/>
          </a:p>
          <a:p>
            <a:pPr indent="0" marL="0">
              <a:spcAft>
                <a:spcPts val="300"/>
              </a:spcAft>
              <a:buNone/>
            </a:pPr>
            <a:r>
              <a:rPr lang="en-US" sz="1300" dirty="0">
                <a:solidFill>
                  <a:schemeClr val="tx1"/>
                </a:solidFill>
              </a:rPr>
              <a:t>Entity B:  4,000.00 + 16,000.00 = 20,000.00</a:t>
            </a:r>
            <a:endParaRPr lang="en-US" sz="1300" dirty="0"/>
          </a:p>
          <a:p>
            <a:pPr indent="0" marL="0">
              <a:spcAft>
                <a:spcPts val="300"/>
              </a:spcAft>
              <a:buNone/>
            </a:pPr>
            <a:r>
              <a:rPr lang="en-US" sz="1300" i="1" dirty="0">
                <a:solidFill>
                  <a:schemeClr val="tx1"/>
                </a:solidFill>
              </a:rPr>
              <a:t>The pieces add back to the revenue.</a:t>
            </a:r>
            <a:endParaRPr lang="en-US" sz="1300" dirty="0"/>
          </a:p>
        </p:txBody>
      </p:sp>
      <p:sp>
        <p:nvSpPr>
          <p:cNvPr id="13" name="Footnote"/>
          <p:cNvSpPr txBox="1"/>
          <p:nvPr/>
        </p:nvSpPr>
        <p:spPr>
          <a:xfrm>
            <a:off x="548640" y="57150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Real-data note: SAP revenue arrives as negative credits, so the DST workflow flips the sign when it apportions.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Two SQL dialects, one idea</a:t>
            </a:r>
            <a:endParaRPr lang="en-US" sz="3200" dirty="0"/>
          </a:p>
        </p:txBody>
      </p:sp>
      <p:graphicFrame>
        <p:nvGraphicFramePr>
          <p:cNvPr id="39" name="Dialect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77440"/>
                <a:gridCol w="4297680"/>
                <a:gridCol w="4416552"/>
              </a:tblGrid>
              <a:tr h="411480">
                <a:tc>
                  <a:txBody>
                    <a:bodyPr/>
                    <a:lstStyle/>
                    <a:p>
                      <a:pPr indent="0" marL="0">
                        <a:buNone/>
                      </a:pPr>
                      <a:r>
                        <a:rPr lang="en-US" sz="1350" b="1" dirty="0">
                          <a:solidFill>
                            <a:schemeClr val="bg1"/>
                          </a:solidFill>
                        </a:rPr>
                        <a:t>Task</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50" b="1" dirty="0">
                          <a:solidFill>
                            <a:schemeClr val="bg1"/>
                          </a:solidFill>
                        </a:rPr>
                        <a:t>T-SQL  (SQL analytics endpoint, warehouse)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50" b="1" dirty="0">
                          <a:solidFill>
                            <a:schemeClr val="bg1"/>
                          </a:solidFill>
                        </a:rPr>
                        <a:t>Spark SQL  (notebooks)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30352">
                <a:tc>
                  <a:txBody>
                    <a:bodyPr/>
                    <a:lstStyle/>
                    <a:p>
                      <a:pPr indent="0" marL="0">
                        <a:buNone/>
                      </a:pPr>
                      <a:r>
                        <a:rPr lang="en-US" sz="1350" b="1" dirty="0">
                          <a:solidFill>
                            <a:schemeClr val="tx1"/>
                          </a:solidFill>
                        </a:rPr>
                        <a:t>Limit the rows returned</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SELECT TOP 10 *</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SELECT * … LIMIT 10</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350" b="1" dirty="0">
                          <a:solidFill>
                            <a:schemeClr val="tx1"/>
                          </a:solidFill>
                        </a:rPr>
                        <a:t>Today's date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GETDATE()</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current_date()</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30352">
                <a:tc>
                  <a:txBody>
                    <a:bodyPr/>
                    <a:lstStyle/>
                    <a:p>
                      <a:pPr indent="0" marL="0">
                        <a:buNone/>
                      </a:pPr>
                      <a:r>
                        <a:rPr lang="en-US" sz="1350" b="1" dirty="0">
                          <a:solidFill>
                            <a:schemeClr val="tx1"/>
                          </a:solidFill>
                        </a:rPr>
                        <a:t>Add months to a date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DATEADD(month, -3, d)</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add_months(d, -3)</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350" b="1" dirty="0">
                          <a:solidFill>
                            <a:schemeClr val="tx1"/>
                          </a:solidFill>
                        </a:rPr>
                        <a:t>Join text together</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a + b   or   CONCAT(a, b)</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a || b   or   concat(a, b)</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30352">
                <a:tc>
                  <a:txBody>
                    <a:bodyPr/>
                    <a:lstStyle/>
                    <a:p>
                      <a:pPr indent="0" marL="0">
                        <a:buNone/>
                      </a:pPr>
                      <a:r>
                        <a:rPr lang="en-US" sz="1350" b="1" dirty="0">
                          <a:solidFill>
                            <a:schemeClr val="tx1"/>
                          </a:solidFill>
                        </a:rPr>
                        <a:t>Divide two integers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1 / 2   returns 0</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1 / 2   returns 0.5</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350" b="1" dirty="0">
                          <a:solidFill>
                            <a:schemeClr val="tx1"/>
                          </a:solidFill>
                        </a:rPr>
                        <a:t>Quote an odd column name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[my col]</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`my col`</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SELECT, JOIN, GROUP BY, CASE and window functions are the same in both.</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2: query the practice data</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30 MIN</a:t>
            </a:r>
            <a:endParaRPr lang="en-US" sz="1100" dirty="0"/>
          </a:p>
        </p:txBody>
      </p:sp>
      <p:sp>
        <p:nvSpPr>
          <p:cNvPr id="6" name="Task 1"/>
          <p:cNvSpPr/>
          <p:nvPr/>
        </p:nvSpPr>
        <p:spPr>
          <a:xfrm>
            <a:off x="548640" y="1783080"/>
            <a:ext cx="5468112" cy="1508760"/>
          </a:xfrm>
          <a:prstGeom prst="roundRect">
            <a:avLst>
              <a:gd name="adj" fmla="val 7273"/>
            </a:avLst>
          </a:prstGeom>
          <a:solidFill>
            <a:schemeClr val="bg2"/>
          </a:solidFill>
          <a:ln/>
        </p:spPr>
      </p:sp>
      <p:sp>
        <p:nvSpPr>
          <p:cNvPr id="7" name="Task chip 1"/>
          <p:cNvSpPr/>
          <p:nvPr/>
        </p:nvSpPr>
        <p:spPr>
          <a:xfrm>
            <a:off x="749808" y="1984248"/>
            <a:ext cx="457200" cy="457200"/>
          </a:xfrm>
          <a:prstGeom prst="roundRect">
            <a:avLst>
              <a:gd name="adj" fmla="val 16000"/>
            </a:avLst>
          </a:prstGeom>
          <a:solidFill>
            <a:schemeClr val="accent3"/>
          </a:solidFill>
          <a:ln/>
        </p:spPr>
      </p:sp>
      <p:sp>
        <p:nvSpPr>
          <p:cNvPr id="8" name="Task number"/>
          <p:cNvSpPr txBox="1"/>
          <p:nvPr/>
        </p:nvSpPr>
        <p:spPr>
          <a:xfrm>
            <a:off x="749808" y="198424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9" name="Task title"/>
          <p:cNvSpPr txBox="1"/>
          <p:nvPr/>
        </p:nvSpPr>
        <p:spPr>
          <a:xfrm>
            <a:off x="1371600" y="1965960"/>
            <a:ext cx="4480560" cy="292608"/>
          </a:xfrm>
          <a:prstGeom prst="rect">
            <a:avLst/>
          </a:prstGeom>
          <a:noFill/>
          <a:ln/>
        </p:spPr>
        <p:txBody>
          <a:bodyPr wrap="square" lIns="0" tIns="0" rIns="0" bIns="0" rtlCol="0" anchor="t"/>
          <a:lstStyle/>
          <a:p>
            <a:pPr indent="0" marL="0">
              <a:buNone/>
            </a:pPr>
            <a:r>
              <a:rPr lang="en-US" sz="1600" b="1" dirty="0">
                <a:solidFill>
                  <a:schemeClr val="tx1"/>
                </a:solidFill>
              </a:rPr>
              <a:t>List the valid regions</a:t>
            </a:r>
            <a:endParaRPr lang="en-US" sz="1600" dirty="0"/>
          </a:p>
        </p:txBody>
      </p:sp>
      <p:sp>
        <p:nvSpPr>
          <p:cNvPr id="10" name="Task text"/>
          <p:cNvSpPr txBox="1"/>
          <p:nvPr/>
        </p:nvSpPr>
        <p:spPr>
          <a:xfrm>
            <a:off x="1371600" y="2313432"/>
            <a:ext cx="4480560" cy="502920"/>
          </a:xfrm>
          <a:prstGeom prst="rect">
            <a:avLst/>
          </a:prstGeom>
          <a:noFill/>
          <a:ln/>
        </p:spPr>
        <p:txBody>
          <a:bodyPr wrap="square" lIns="0" tIns="0" rIns="0" bIns="0" rtlCol="0" anchor="t"/>
          <a:lstStyle/>
          <a:p>
            <a:pPr indent="0" marL="0">
              <a:buNone/>
            </a:pPr>
            <a:r>
              <a:rPr lang="en-US" sz="1300" dirty="0">
                <a:solidFill>
                  <a:schemeClr val="tx1"/>
                </a:solidFill>
              </a:rPr>
              <a:t>List ad_unit, region and impressions where the region is real. Exclude NULL, 'N/A' and 'NO REGION'.</a:t>
            </a:r>
            <a:endParaRPr lang="en-US" sz="1300" dirty="0"/>
          </a:p>
        </p:txBody>
      </p:sp>
      <p:sp>
        <p:nvSpPr>
          <p:cNvPr id="11" name="Task expectation"/>
          <p:cNvSpPr txBox="1"/>
          <p:nvPr/>
        </p:nvSpPr>
        <p:spPr>
          <a:xfrm>
            <a:off x="1371600" y="2852928"/>
            <a:ext cx="4480560" cy="365760"/>
          </a:xfrm>
          <a:prstGeom prst="rect">
            <a:avLst/>
          </a:prstGeom>
          <a:noFill/>
          <a:ln/>
        </p:spPr>
        <p:txBody>
          <a:bodyPr wrap="square" lIns="0" tIns="0" rIns="0" bIns="0" rtlCol="0" anchor="t"/>
          <a:lstStyle/>
          <a:p>
            <a:pPr indent="0" marL="0">
              <a:buNone/>
            </a:pPr>
            <a:r>
              <a:rPr lang="en-US" sz="1250" b="1" dirty="0">
                <a:solidFill>
                  <a:schemeClr val="accent2"/>
                </a:solidFill>
              </a:rPr>
              <a:t>Expect: </a:t>
            </a:r>
            <a:pPr indent="0" marL="0">
              <a:buNone/>
            </a:pPr>
            <a:r>
              <a:rPr lang="en-US" sz="1250" dirty="0">
                <a:solidFill>
                  <a:schemeClr val="tx1"/>
                </a:solidFill>
              </a:rPr>
              <a:t>5 rows.</a:t>
            </a:r>
            <a:endParaRPr lang="en-US" sz="1250" dirty="0"/>
          </a:p>
        </p:txBody>
      </p:sp>
      <p:sp>
        <p:nvSpPr>
          <p:cNvPr id="12" name="Task 2"/>
          <p:cNvSpPr/>
          <p:nvPr/>
        </p:nvSpPr>
        <p:spPr>
          <a:xfrm>
            <a:off x="6172200" y="1783080"/>
            <a:ext cx="5468112" cy="1508760"/>
          </a:xfrm>
          <a:prstGeom prst="roundRect">
            <a:avLst>
              <a:gd name="adj" fmla="val 7273"/>
            </a:avLst>
          </a:prstGeom>
          <a:solidFill>
            <a:schemeClr val="bg2"/>
          </a:solidFill>
          <a:ln/>
        </p:spPr>
      </p:sp>
      <p:sp>
        <p:nvSpPr>
          <p:cNvPr id="13" name="Task chip 2"/>
          <p:cNvSpPr/>
          <p:nvPr/>
        </p:nvSpPr>
        <p:spPr>
          <a:xfrm>
            <a:off x="6373368" y="1984248"/>
            <a:ext cx="457200" cy="457200"/>
          </a:xfrm>
          <a:prstGeom prst="roundRect">
            <a:avLst>
              <a:gd name="adj" fmla="val 16000"/>
            </a:avLst>
          </a:prstGeom>
          <a:solidFill>
            <a:schemeClr val="accent3"/>
          </a:solidFill>
          <a:ln/>
        </p:spPr>
      </p:sp>
      <p:sp>
        <p:nvSpPr>
          <p:cNvPr id="14" name="Task number"/>
          <p:cNvSpPr txBox="1"/>
          <p:nvPr/>
        </p:nvSpPr>
        <p:spPr>
          <a:xfrm>
            <a:off x="6373368" y="198424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15" name="Task title"/>
          <p:cNvSpPr txBox="1"/>
          <p:nvPr/>
        </p:nvSpPr>
        <p:spPr>
          <a:xfrm>
            <a:off x="6995160" y="1965960"/>
            <a:ext cx="4480560" cy="292608"/>
          </a:xfrm>
          <a:prstGeom prst="rect">
            <a:avLst/>
          </a:prstGeom>
          <a:noFill/>
          <a:ln/>
        </p:spPr>
        <p:txBody>
          <a:bodyPr wrap="square" lIns="0" tIns="0" rIns="0" bIns="0" rtlCol="0" anchor="t"/>
          <a:lstStyle/>
          <a:p>
            <a:pPr indent="0" marL="0">
              <a:buNone/>
            </a:pPr>
            <a:r>
              <a:rPr lang="en-US" sz="1600" b="1" dirty="0">
                <a:solidFill>
                  <a:schemeClr val="tx1"/>
                </a:solidFill>
              </a:rPr>
              <a:t>Total per ad unit</a:t>
            </a:r>
            <a:endParaRPr lang="en-US" sz="1600" dirty="0"/>
          </a:p>
        </p:txBody>
      </p:sp>
      <p:sp>
        <p:nvSpPr>
          <p:cNvPr id="16" name="Task text"/>
          <p:cNvSpPr txBox="1"/>
          <p:nvPr/>
        </p:nvSpPr>
        <p:spPr>
          <a:xfrm>
            <a:off x="6995160" y="2313432"/>
            <a:ext cx="4480560" cy="502920"/>
          </a:xfrm>
          <a:prstGeom prst="rect">
            <a:avLst/>
          </a:prstGeom>
          <a:noFill/>
          <a:ln/>
        </p:spPr>
        <p:txBody>
          <a:bodyPr wrap="square" lIns="0" tIns="0" rIns="0" bIns="0" rtlCol="0" anchor="t"/>
          <a:lstStyle/>
          <a:p>
            <a:pPr indent="0" marL="0">
              <a:buNone/>
            </a:pPr>
            <a:r>
              <a:rPr lang="en-US" sz="1300" dirty="0">
                <a:solidFill>
                  <a:schemeClr val="tx1"/>
                </a:solidFill>
              </a:rPr>
              <a:t>Total impressions per ad unit, largest first.</a:t>
            </a:r>
            <a:endParaRPr lang="en-US" sz="1300" dirty="0"/>
          </a:p>
        </p:txBody>
      </p:sp>
      <p:sp>
        <p:nvSpPr>
          <p:cNvPr id="17" name="Task expectation"/>
          <p:cNvSpPr txBox="1"/>
          <p:nvPr/>
        </p:nvSpPr>
        <p:spPr>
          <a:xfrm>
            <a:off x="6995160" y="2852928"/>
            <a:ext cx="4480560" cy="365760"/>
          </a:xfrm>
          <a:prstGeom prst="rect">
            <a:avLst/>
          </a:prstGeom>
          <a:noFill/>
          <a:ln/>
        </p:spPr>
        <p:txBody>
          <a:bodyPr wrap="square" lIns="0" tIns="0" rIns="0" bIns="0" rtlCol="0" anchor="t"/>
          <a:lstStyle/>
          <a:p>
            <a:pPr indent="0" marL="0">
              <a:buNone/>
            </a:pPr>
            <a:r>
              <a:rPr lang="en-US" sz="1250" b="1" dirty="0">
                <a:solidFill>
                  <a:schemeClr val="accent2"/>
                </a:solidFill>
              </a:rPr>
              <a:t>Expect: </a:t>
            </a:r>
            <a:pPr indent="0" marL="0">
              <a:buNone/>
            </a:pPr>
            <a:r>
              <a:rPr lang="en-US" sz="1250" dirty="0">
                <a:solidFill>
                  <a:schemeClr val="tx1"/>
                </a:solidFill>
              </a:rPr>
              <a:t>sports_hub 1,150 · kitchen_tv 1,000 · mystery_unit 50.</a:t>
            </a:r>
            <a:endParaRPr lang="en-US" sz="1250" dirty="0"/>
          </a:p>
        </p:txBody>
      </p:sp>
      <p:sp>
        <p:nvSpPr>
          <p:cNvPr id="18" name="Task 3"/>
          <p:cNvSpPr/>
          <p:nvPr/>
        </p:nvSpPr>
        <p:spPr>
          <a:xfrm>
            <a:off x="548640" y="3429000"/>
            <a:ext cx="5468112" cy="1508760"/>
          </a:xfrm>
          <a:prstGeom prst="roundRect">
            <a:avLst>
              <a:gd name="adj" fmla="val 7273"/>
            </a:avLst>
          </a:prstGeom>
          <a:solidFill>
            <a:schemeClr val="bg2"/>
          </a:solidFill>
          <a:ln/>
        </p:spPr>
      </p:sp>
      <p:sp>
        <p:nvSpPr>
          <p:cNvPr id="19" name="Task chip 3"/>
          <p:cNvSpPr/>
          <p:nvPr/>
        </p:nvSpPr>
        <p:spPr>
          <a:xfrm>
            <a:off x="749808" y="3630168"/>
            <a:ext cx="457200" cy="457200"/>
          </a:xfrm>
          <a:prstGeom prst="roundRect">
            <a:avLst>
              <a:gd name="adj" fmla="val 16000"/>
            </a:avLst>
          </a:prstGeom>
          <a:solidFill>
            <a:schemeClr val="accent3"/>
          </a:solidFill>
          <a:ln/>
        </p:spPr>
      </p:sp>
      <p:sp>
        <p:nvSpPr>
          <p:cNvPr id="20" name="Task number"/>
          <p:cNvSpPr txBox="1"/>
          <p:nvPr/>
        </p:nvSpPr>
        <p:spPr>
          <a:xfrm>
            <a:off x="749808" y="363016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21" name="Task title"/>
          <p:cNvSpPr txBox="1"/>
          <p:nvPr/>
        </p:nvSpPr>
        <p:spPr>
          <a:xfrm>
            <a:off x="1371600" y="3611880"/>
            <a:ext cx="4480560" cy="292608"/>
          </a:xfrm>
          <a:prstGeom prst="rect">
            <a:avLst/>
          </a:prstGeom>
          <a:noFill/>
          <a:ln/>
        </p:spPr>
        <p:txBody>
          <a:bodyPr wrap="square" lIns="0" tIns="0" rIns="0" bIns="0" rtlCol="0" anchor="t"/>
          <a:lstStyle/>
          <a:p>
            <a:pPr indent="0" marL="0">
              <a:buNone/>
            </a:pPr>
            <a:r>
              <a:rPr lang="en-US" sz="1600" b="1" dirty="0">
                <a:solidFill>
                  <a:schemeClr val="tx1"/>
                </a:solidFill>
              </a:rPr>
              <a:t>Find the unmapped</a:t>
            </a:r>
            <a:endParaRPr lang="en-US" sz="1600" dirty="0"/>
          </a:p>
        </p:txBody>
      </p:sp>
      <p:sp>
        <p:nvSpPr>
          <p:cNvPr id="22" name="Task text"/>
          <p:cNvSpPr txBox="1"/>
          <p:nvPr/>
        </p:nvSpPr>
        <p:spPr>
          <a:xfrm>
            <a:off x="1371600" y="3959352"/>
            <a:ext cx="4480560" cy="502920"/>
          </a:xfrm>
          <a:prstGeom prst="rect">
            <a:avLst/>
          </a:prstGeom>
          <a:noFill/>
          <a:ln/>
        </p:spPr>
        <p:txBody>
          <a:bodyPr wrap="square" lIns="0" tIns="0" rIns="0" bIns="0" rtlCol="0" anchor="t"/>
          <a:lstStyle/>
          <a:p>
            <a:pPr indent="0" marL="0">
              <a:buNone/>
            </a:pPr>
            <a:r>
              <a:rPr lang="en-US" sz="1300" dirty="0">
                <a:solidFill>
                  <a:schemeClr val="tx1"/>
                </a:solidFill>
              </a:rPr>
              <a:t>Which ad units have no entity in ref_ad_unit_map?</a:t>
            </a:r>
            <a:endParaRPr lang="en-US" sz="1300" dirty="0"/>
          </a:p>
        </p:txBody>
      </p:sp>
      <p:sp>
        <p:nvSpPr>
          <p:cNvPr id="23" name="Task expectation"/>
          <p:cNvSpPr txBox="1"/>
          <p:nvPr/>
        </p:nvSpPr>
        <p:spPr>
          <a:xfrm>
            <a:off x="1371600" y="4498848"/>
            <a:ext cx="4480560" cy="365760"/>
          </a:xfrm>
          <a:prstGeom prst="rect">
            <a:avLst/>
          </a:prstGeom>
          <a:noFill/>
          <a:ln/>
        </p:spPr>
        <p:txBody>
          <a:bodyPr wrap="square" lIns="0" tIns="0" rIns="0" bIns="0" rtlCol="0" anchor="t"/>
          <a:lstStyle/>
          <a:p>
            <a:pPr indent="0" marL="0">
              <a:buNone/>
            </a:pPr>
            <a:r>
              <a:rPr lang="en-US" sz="1250" b="1" dirty="0">
                <a:solidFill>
                  <a:schemeClr val="accent2"/>
                </a:solidFill>
              </a:rPr>
              <a:t>Expect: </a:t>
            </a:r>
            <a:pPr indent="0" marL="0">
              <a:buNone/>
            </a:pPr>
            <a:r>
              <a:rPr lang="en-US" sz="1250" dirty="0">
                <a:solidFill>
                  <a:schemeClr val="tx1"/>
                </a:solidFill>
              </a:rPr>
              <a:t>mystery_unit.</a:t>
            </a:r>
            <a:endParaRPr lang="en-US" sz="1250" dirty="0"/>
          </a:p>
        </p:txBody>
      </p:sp>
      <p:sp>
        <p:nvSpPr>
          <p:cNvPr id="24" name="Task 4"/>
          <p:cNvSpPr/>
          <p:nvPr/>
        </p:nvSpPr>
        <p:spPr>
          <a:xfrm>
            <a:off x="6172200" y="3429000"/>
            <a:ext cx="5468112" cy="1508760"/>
          </a:xfrm>
          <a:prstGeom prst="roundRect">
            <a:avLst>
              <a:gd name="adj" fmla="val 7273"/>
            </a:avLst>
          </a:prstGeom>
          <a:solidFill>
            <a:schemeClr val="bg2"/>
          </a:solidFill>
          <a:ln/>
        </p:spPr>
      </p:sp>
      <p:sp>
        <p:nvSpPr>
          <p:cNvPr id="25" name="Task chip 4"/>
          <p:cNvSpPr/>
          <p:nvPr/>
        </p:nvSpPr>
        <p:spPr>
          <a:xfrm>
            <a:off x="6373368" y="3630168"/>
            <a:ext cx="457200" cy="457200"/>
          </a:xfrm>
          <a:prstGeom prst="roundRect">
            <a:avLst>
              <a:gd name="adj" fmla="val 16000"/>
            </a:avLst>
          </a:prstGeom>
          <a:solidFill>
            <a:schemeClr val="accent3"/>
          </a:solidFill>
          <a:ln/>
        </p:spPr>
      </p:sp>
      <p:sp>
        <p:nvSpPr>
          <p:cNvPr id="26" name="Task number"/>
          <p:cNvSpPr txBox="1"/>
          <p:nvPr/>
        </p:nvSpPr>
        <p:spPr>
          <a:xfrm>
            <a:off x="6373368" y="363016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4</a:t>
            </a:r>
            <a:endParaRPr lang="en-US" sz="1800" dirty="0"/>
          </a:p>
        </p:txBody>
      </p:sp>
      <p:sp>
        <p:nvSpPr>
          <p:cNvPr id="27" name="Task title"/>
          <p:cNvSpPr txBox="1"/>
          <p:nvPr/>
        </p:nvSpPr>
        <p:spPr>
          <a:xfrm>
            <a:off x="6995160" y="3611880"/>
            <a:ext cx="4480560" cy="292608"/>
          </a:xfrm>
          <a:prstGeom prst="rect">
            <a:avLst/>
          </a:prstGeom>
          <a:noFill/>
          <a:ln/>
        </p:spPr>
        <p:txBody>
          <a:bodyPr wrap="square" lIns="0" tIns="0" rIns="0" bIns="0" rtlCol="0" anchor="t"/>
          <a:lstStyle/>
          <a:p>
            <a:pPr indent="0" marL="0">
              <a:buNone/>
            </a:pPr>
            <a:r>
              <a:rPr lang="en-US" sz="1600" b="1" dirty="0">
                <a:solidFill>
                  <a:schemeClr val="tx1"/>
                </a:solidFill>
              </a:rPr>
              <a:t>Share of entity</a:t>
            </a:r>
            <a:endParaRPr lang="en-US" sz="1600" dirty="0"/>
          </a:p>
        </p:txBody>
      </p:sp>
      <p:sp>
        <p:nvSpPr>
          <p:cNvPr id="28" name="Task text"/>
          <p:cNvSpPr txBox="1"/>
          <p:nvPr/>
        </p:nvSpPr>
        <p:spPr>
          <a:xfrm>
            <a:off x="6995160" y="3959352"/>
            <a:ext cx="4480560" cy="502920"/>
          </a:xfrm>
          <a:prstGeom prst="rect">
            <a:avLst/>
          </a:prstGeom>
          <a:noFill/>
          <a:ln/>
        </p:spPr>
        <p:txBody>
          <a:bodyPr wrap="square" lIns="0" tIns="0" rIns="0" bIns="0" rtlCol="0" anchor="t"/>
          <a:lstStyle/>
          <a:p>
            <a:pPr indent="0" marL="0">
              <a:buNone/>
            </a:pPr>
            <a:r>
              <a:rPr lang="en-US" sz="1300" dirty="0">
                <a:solidFill>
                  <a:schemeClr val="tx1"/>
                </a:solidFill>
              </a:rPr>
              <a:t>For the valid rows, each region's share of its entity's impressions.</a:t>
            </a:r>
            <a:endParaRPr lang="en-US" sz="1300" dirty="0"/>
          </a:p>
        </p:txBody>
      </p:sp>
      <p:sp>
        <p:nvSpPr>
          <p:cNvPr id="29" name="Task expectation"/>
          <p:cNvSpPr txBox="1"/>
          <p:nvPr/>
        </p:nvSpPr>
        <p:spPr>
          <a:xfrm>
            <a:off x="6995160" y="4498848"/>
            <a:ext cx="4480560" cy="365760"/>
          </a:xfrm>
          <a:prstGeom prst="rect">
            <a:avLst/>
          </a:prstGeom>
          <a:noFill/>
          <a:ln/>
        </p:spPr>
        <p:txBody>
          <a:bodyPr wrap="square" lIns="0" tIns="0" rIns="0" bIns="0" rtlCol="0" anchor="t"/>
          <a:lstStyle/>
          <a:p>
            <a:pPr indent="0" marL="0">
              <a:buNone/>
            </a:pPr>
            <a:r>
              <a:rPr lang="en-US" sz="1250" b="1" dirty="0">
                <a:solidFill>
                  <a:schemeClr val="accent2"/>
                </a:solidFill>
              </a:rPr>
              <a:t>Expect: </a:t>
            </a:r>
            <a:pPr indent="0" marL="0">
              <a:buNone/>
            </a:pPr>
            <a:r>
              <a:rPr lang="en-US" sz="1250" dirty="0">
                <a:solidFill>
                  <a:schemeClr val="tx1"/>
                </a:solidFill>
              </a:rPr>
              <a:t>A: CA 66.7%, NY 33.3%. B: CA 20%, TX 80%.</a:t>
            </a:r>
            <a:endParaRPr lang="en-US" sz="1250" dirty="0"/>
          </a:p>
        </p:txBody>
      </p:sp>
      <p:sp>
        <p:nvSpPr>
          <p:cNvPr id="30" name="Stretch strip"/>
          <p:cNvSpPr/>
          <p:nvPr/>
        </p:nvSpPr>
        <p:spPr>
          <a:xfrm>
            <a:off x="548640" y="5120640"/>
            <a:ext cx="11094415" cy="548640"/>
          </a:xfrm>
          <a:prstGeom prst="roundRect">
            <a:avLst>
              <a:gd name="adj" fmla="val 20000"/>
            </a:avLst>
          </a:prstGeom>
          <a:solidFill>
            <a:schemeClr val="accent3">
              <a:alpha val="22000"/>
            </a:schemeClr>
          </a:solidFill>
          <a:ln/>
        </p:spPr>
      </p:sp>
      <p:sp>
        <p:nvSpPr>
          <p:cNvPr id="31" name="Stretch text"/>
          <p:cNvSpPr txBox="1"/>
          <p:nvPr/>
        </p:nvSpPr>
        <p:spPr>
          <a:xfrm>
            <a:off x="777240" y="5120640"/>
            <a:ext cx="10637215" cy="548640"/>
          </a:xfrm>
          <a:prstGeom prst="rect">
            <a:avLst/>
          </a:prstGeom>
          <a:noFill/>
          <a:ln/>
        </p:spPr>
        <p:txBody>
          <a:bodyPr wrap="square" lIns="0" tIns="0" rIns="0" bIns="0" rtlCol="0" anchor="ctr"/>
          <a:lstStyle/>
          <a:p>
            <a:pPr indent="0" marL="0">
              <a:buNone/>
            </a:pPr>
            <a:r>
              <a:rPr lang="en-US" sz="1350" b="1" dirty="0">
                <a:solidFill>
                  <a:schemeClr val="tx1"/>
                </a:solidFill>
              </a:rPr>
              <a:t>Stretch: </a:t>
            </a:r>
            <a:pPr indent="0" marL="0">
              <a:buNone/>
            </a:pPr>
            <a:r>
              <a:rPr lang="en-US" sz="1350" dirty="0">
                <a:solidFill>
                  <a:schemeClr val="tx1"/>
                </a:solidFill>
              </a:rPr>
              <a:t>apportion each entity's revenue by those shares. Expect A: 6,666.67 and 3,333.33. B: 4,000.00 and 16,000.00.</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2: solutions to tasks 1 to 3</a:t>
            </a:r>
            <a:endParaRPr lang="en-US" sz="3200" dirty="0"/>
          </a:p>
        </p:txBody>
      </p:sp>
      <p:sp>
        <p:nvSpPr>
          <p:cNvPr id="5" name="Solution 1"/>
          <p:cNvSpPr/>
          <p:nvPr/>
        </p:nvSpPr>
        <p:spPr>
          <a:xfrm>
            <a:off x="548640" y="1783080"/>
            <a:ext cx="5468112" cy="1783080"/>
          </a:xfrm>
          <a:prstGeom prst="roundRect">
            <a:avLst>
              <a:gd name="adj" fmla="val 5128"/>
            </a:avLst>
          </a:prstGeom>
          <a:solidFill>
            <a:schemeClr val="tx1"/>
          </a:solidFill>
          <a:ln/>
        </p:spPr>
      </p:sp>
      <p:sp>
        <p:nvSpPr>
          <p:cNvPr id="6" name="Code label"/>
          <p:cNvSpPr txBox="1"/>
          <p:nvPr/>
        </p:nvSpPr>
        <p:spPr>
          <a:xfrm>
            <a:off x="749808" y="187452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1  ·  5 ROWS</a:t>
            </a:r>
            <a:endParaRPr lang="en-US" sz="1000" dirty="0"/>
          </a:p>
        </p:txBody>
      </p:sp>
      <p:sp>
        <p:nvSpPr>
          <p:cNvPr id="7" name="Solution 1 text"/>
          <p:cNvSpPr txBox="1"/>
          <p:nvPr/>
        </p:nvSpPr>
        <p:spPr>
          <a:xfrm>
            <a:off x="749808" y="2167128"/>
            <a:ext cx="5065776" cy="1289304"/>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SELECT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ad_unit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region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impressions</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FROM</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bronze_impressions</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WHERE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COALESCE</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region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'N/A'</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NOT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IN</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'N/A'</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'NO REGION'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8" name="Solution 2"/>
          <p:cNvSpPr/>
          <p:nvPr/>
        </p:nvSpPr>
        <p:spPr>
          <a:xfrm>
            <a:off x="6172200" y="1783080"/>
            <a:ext cx="5468112" cy="1783080"/>
          </a:xfrm>
          <a:prstGeom prst="roundRect">
            <a:avLst>
              <a:gd name="adj" fmla="val 5128"/>
            </a:avLst>
          </a:prstGeom>
          <a:solidFill>
            <a:schemeClr val="tx1"/>
          </a:solidFill>
          <a:ln/>
        </p:spPr>
      </p:sp>
      <p:sp>
        <p:nvSpPr>
          <p:cNvPr id="9" name="Code label"/>
          <p:cNvSpPr txBox="1"/>
          <p:nvPr/>
        </p:nvSpPr>
        <p:spPr>
          <a:xfrm>
            <a:off x="6373368" y="187452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2</a:t>
            </a:r>
            <a:endParaRPr lang="en-US" sz="1000" dirty="0"/>
          </a:p>
        </p:txBody>
      </p:sp>
      <p:sp>
        <p:nvSpPr>
          <p:cNvPr id="10" name="Solution 2 text"/>
          <p:cNvSpPr txBox="1"/>
          <p:nvPr/>
        </p:nvSpPr>
        <p:spPr>
          <a:xfrm>
            <a:off x="6373368" y="2167128"/>
            <a:ext cx="5065776" cy="1289304"/>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SELECT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ad_unit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SUM</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impressions</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AS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total</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FROM</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bronze_impressions</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GROUP</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BY</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ad_unit</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ORDER</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BY</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total</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DESC</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11" name="Solution 3"/>
          <p:cNvSpPr/>
          <p:nvPr/>
        </p:nvSpPr>
        <p:spPr>
          <a:xfrm>
            <a:off x="548640" y="3703320"/>
            <a:ext cx="5468112" cy="1783080"/>
          </a:xfrm>
          <a:prstGeom prst="roundRect">
            <a:avLst>
              <a:gd name="adj" fmla="val 5128"/>
            </a:avLst>
          </a:prstGeom>
          <a:solidFill>
            <a:schemeClr val="tx1"/>
          </a:solidFill>
          <a:ln/>
        </p:spPr>
      </p:sp>
      <p:sp>
        <p:nvSpPr>
          <p:cNvPr id="12" name="Code label"/>
          <p:cNvSpPr txBox="1"/>
          <p:nvPr/>
        </p:nvSpPr>
        <p:spPr>
          <a:xfrm>
            <a:off x="749808" y="379476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3</a:t>
            </a:r>
            <a:endParaRPr lang="en-US" sz="1000" dirty="0"/>
          </a:p>
        </p:txBody>
      </p:sp>
      <p:sp>
        <p:nvSpPr>
          <p:cNvPr id="13" name="Solution 3 text"/>
          <p:cNvSpPr txBox="1"/>
          <p:nvPr/>
        </p:nvSpPr>
        <p:spPr>
          <a:xfrm>
            <a:off x="749808" y="4087368"/>
            <a:ext cx="5065776" cy="1289304"/>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SELECT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DISTINCT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i</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ad_unit</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FROM</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bronze_impressions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i</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LEFT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JOIN</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ref_ad_unit_map</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m</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ON</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m</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ad_unit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i</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ad_unit</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WHERE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m</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entity</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IS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NULL</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14" name="Expected results card"/>
          <p:cNvSpPr/>
          <p:nvPr/>
        </p:nvSpPr>
        <p:spPr>
          <a:xfrm>
            <a:off x="6172200" y="3703320"/>
            <a:ext cx="5468112" cy="1783080"/>
          </a:xfrm>
          <a:prstGeom prst="roundRect">
            <a:avLst>
              <a:gd name="adj" fmla="val 6154"/>
            </a:avLst>
          </a:prstGeom>
          <a:solidFill>
            <a:schemeClr val="bg2"/>
          </a:solidFill>
          <a:ln/>
        </p:spPr>
      </p:sp>
      <p:sp>
        <p:nvSpPr>
          <p:cNvPr id="15" name="Results title"/>
          <p:cNvSpPr txBox="1"/>
          <p:nvPr/>
        </p:nvSpPr>
        <p:spPr>
          <a:xfrm>
            <a:off x="6400800" y="3840480"/>
            <a:ext cx="502920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Expected results</a:t>
            </a:r>
            <a:endParaRPr lang="en-US" sz="1600" dirty="0"/>
          </a:p>
        </p:txBody>
      </p:sp>
      <p:sp>
        <p:nvSpPr>
          <p:cNvPr id="16" name="Results text"/>
          <p:cNvSpPr txBox="1"/>
          <p:nvPr/>
        </p:nvSpPr>
        <p:spPr>
          <a:xfrm>
            <a:off x="6400800" y="4224528"/>
            <a:ext cx="5029200" cy="1188720"/>
          </a:xfrm>
          <a:prstGeom prst="rect">
            <a:avLst/>
          </a:prstGeom>
          <a:noFill/>
          <a:ln/>
        </p:spPr>
        <p:txBody>
          <a:bodyPr wrap="square" lIns="0" tIns="0" rIns="0" bIns="0" rtlCol="0" anchor="t"/>
          <a:lstStyle/>
          <a:p>
            <a:pPr indent="0" marL="0">
              <a:spcAft>
                <a:spcPts val="800"/>
              </a:spcAft>
              <a:buNone/>
            </a:pPr>
            <a:r>
              <a:rPr lang="en-US" sz="1350" b="1" dirty="0">
                <a:solidFill>
                  <a:schemeClr val="tx1"/>
                </a:solidFill>
              </a:rPr>
              <a:t>Task 1: </a:t>
            </a:r>
            <a:pPr indent="0" marL="0">
              <a:spcAft>
                <a:spcPts val="800"/>
              </a:spcAft>
              <a:buNone/>
            </a:pPr>
            <a:r>
              <a:rPr lang="en-US" sz="1350" dirty="0">
                <a:solidFill>
                  <a:schemeClr val="tx1"/>
                </a:solidFill>
              </a:rPr>
              <a:t>5 rows, none with a NULL or NO REGION</a:t>
            </a:r>
            <a:endParaRPr lang="en-US" sz="1350" dirty="0"/>
          </a:p>
          <a:p>
            <a:pPr indent="0" marL="0">
              <a:spcAft>
                <a:spcPts val="800"/>
              </a:spcAft>
              <a:buNone/>
            </a:pPr>
            <a:r>
              <a:rPr lang="en-US" sz="1350" b="1" dirty="0">
                <a:solidFill>
                  <a:schemeClr val="tx1"/>
                </a:solidFill>
              </a:rPr>
              <a:t>Task 2: </a:t>
            </a:r>
            <a:pPr indent="0" marL="0">
              <a:spcAft>
                <a:spcPts val="800"/>
              </a:spcAft>
              <a:buNone/>
            </a:pPr>
            <a:r>
              <a:rPr lang="en-US" sz="1350" dirty="0">
                <a:solidFill>
                  <a:schemeClr val="tx1"/>
                </a:solidFill>
              </a:rPr>
              <a:t>sports_hub 1150, kitchen_tv 1000, mystery_unit 50</a:t>
            </a:r>
            <a:endParaRPr lang="en-US" sz="1350" dirty="0"/>
          </a:p>
          <a:p>
            <a:pPr indent="0" marL="0">
              <a:spcAft>
                <a:spcPts val="800"/>
              </a:spcAft>
              <a:buNone/>
            </a:pPr>
            <a:r>
              <a:rPr lang="en-US" sz="1350" b="1" dirty="0">
                <a:solidFill>
                  <a:schemeClr val="tx1"/>
                </a:solidFill>
              </a:rPr>
              <a:t>Task 3: </a:t>
            </a:r>
            <a:pPr indent="0" marL="0">
              <a:spcAft>
                <a:spcPts val="800"/>
              </a:spcAft>
              <a:buNone/>
            </a:pPr>
            <a:r>
              <a:rPr lang="en-US" sz="1350" dirty="0">
                <a:solidFill>
                  <a:schemeClr val="tx1"/>
                </a:solidFill>
              </a:rPr>
              <a:t>mystery_unit</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2 · SQL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2: solution to task 4 and the stretch</a:t>
            </a:r>
            <a:endParaRPr lang="en-US" sz="3200" dirty="0"/>
          </a:p>
        </p:txBody>
      </p:sp>
      <p:sp>
        <p:nvSpPr>
          <p:cNvPr id="5" name="Solution 4"/>
          <p:cNvSpPr/>
          <p:nvPr/>
        </p:nvSpPr>
        <p:spPr>
          <a:xfrm>
            <a:off x="548640" y="1783080"/>
            <a:ext cx="6355080" cy="3749040"/>
          </a:xfrm>
          <a:prstGeom prst="roundRect">
            <a:avLst>
              <a:gd name="adj" fmla="val 2439"/>
            </a:avLst>
          </a:prstGeom>
          <a:solidFill>
            <a:schemeClr val="tx1"/>
          </a:solidFill>
          <a:ln/>
        </p:spPr>
      </p:sp>
      <p:sp>
        <p:nvSpPr>
          <p:cNvPr id="6" name="Code label"/>
          <p:cNvSpPr txBox="1"/>
          <p:nvPr/>
        </p:nvSpPr>
        <p:spPr>
          <a:xfrm>
            <a:off x="749808" y="1874520"/>
            <a:ext cx="595274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4</a:t>
            </a:r>
            <a:endParaRPr lang="en-US" sz="1000" dirty="0"/>
          </a:p>
        </p:txBody>
      </p:sp>
      <p:sp>
        <p:nvSpPr>
          <p:cNvPr id="7" name="Solution 4 text"/>
          <p:cNvSpPr txBox="1"/>
          <p:nvPr/>
        </p:nvSpPr>
        <p:spPr>
          <a:xfrm>
            <a:off x="749808" y="2167128"/>
            <a:ext cx="5952744" cy="3255264"/>
          </a:xfrm>
          <a:prstGeom prst="rect">
            <a:avLst/>
          </a:prstGeom>
          <a:noFill/>
          <a:ln/>
        </p:spPr>
        <p:txBody>
          <a:bodyPr wrap="square" lIns="0" tIns="0" rIns="0" bIns="0" rtlCol="0" anchor="t"/>
          <a:lstStyle/>
          <a:p>
            <a:pPr indent="0" marL="0">
              <a:buNone/>
            </a:pPr>
            <a:r>
              <a:rPr lang="en-US" sz="1250" dirty="0">
                <a:solidFill>
                  <a:schemeClr val="accent2"/>
                </a:solidFill>
                <a:latin typeface="Courier New" pitchFamily="34" charset="0"/>
                <a:ea typeface="Courier New" pitchFamily="34" charset="-122"/>
                <a:cs typeface="Courier New" pitchFamily="34" charset="-120"/>
              </a:rPr>
              <a:t>WITH</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valid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AS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SELECT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m</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impressions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FROM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bronze_impressions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JOIN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ref_ad_unit_map</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ON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m</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ad_unit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ad_unit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WHERE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COALESCE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'N/A'</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NOT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IN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'N/A'</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'NO REGION'</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SELECT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impressions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6"/>
                </a:solidFill>
                <a:latin typeface="Courier New" pitchFamily="34" charset="0"/>
                <a:ea typeface="Courier New" pitchFamily="34" charset="-122"/>
                <a:cs typeface="Courier New" pitchFamily="34" charset="-120"/>
              </a:rPr>
              <a:t>1.0</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SUM</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OVER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2"/>
                </a:solidFill>
                <a:latin typeface="Courier New" pitchFamily="34" charset="0"/>
                <a:ea typeface="Courier New" pitchFamily="34" charset="-122"/>
                <a:cs typeface="Courier New" pitchFamily="34" charset="-120"/>
              </a:rPr>
              <a:t>PARTITION</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BY</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AS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share</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FROM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valid</a:t>
            </a:r>
            <a:endParaRPr lang="en-US" sz="1250" dirty="0"/>
          </a:p>
          <a:p>
            <a:pPr indent="0" marL="0">
              <a:buNone/>
            </a:pPr>
            <a:r>
              <a:rPr lang="en-US" sz="1250" dirty="0">
                <a:solidFill>
                  <a:schemeClr val="accent2"/>
                </a:solidFill>
                <a:latin typeface="Courier New" pitchFamily="34" charset="0"/>
                <a:ea typeface="Courier New" pitchFamily="34" charset="-122"/>
                <a:cs typeface="Courier New" pitchFamily="34" charset="-120"/>
              </a:rPr>
              <a:t>ORDER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BY</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8" name="Result label"/>
          <p:cNvSpPr txBox="1"/>
          <p:nvPr/>
        </p:nvSpPr>
        <p:spPr>
          <a:xfrm>
            <a:off x="7132320" y="1783080"/>
            <a:ext cx="36576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TASK 4 RESULT</a:t>
            </a:r>
            <a:endParaRPr lang="en-US" sz="1000" dirty="0"/>
          </a:p>
        </p:txBody>
      </p:sp>
      <p:graphicFrame>
        <p:nvGraphicFramePr>
          <p:cNvPr id="42" name="Task 4 result"/>
          <p:cNvGraphicFramePr>
            <a:graphicFrameLocks noGrp="1"/>
          </p:cNvGraphicFramePr>
          <p:nvPr>
            <p:extLst>
              <p:ext uri="{D42A27DB-BD31-4B8C-83A1-F6EECF244321}">
                <p14:modId xmlns:p14="http://schemas.microsoft.com/office/powerpoint/2010/main" val="1579011935"/>
              </p:ext>
            </p:extLst>
          </p:nvPr>
        </p:nvGraphicFramePr>
        <p:xfrm>
          <a:off x="7132320" y="2029968"/>
          <a:ext cx="4507992" cy="914400"/>
        </p:xfrm>
        <a:graphic>
          <a:graphicData uri="http://schemas.openxmlformats.org/drawingml/2006/table">
            <a:tbl>
              <a:tblPr/>
              <a:tblGrid>
                <a:gridCol w="1371600"/>
                <a:gridCol w="1097280"/>
                <a:gridCol w="2039112"/>
              </a:tblGrid>
              <a:tr h="347472">
                <a:tc>
                  <a:txBody>
                    <a:bodyPr/>
                    <a:lstStyle/>
                    <a:p>
                      <a:pPr indent="0" marL="0">
                        <a:buNone/>
                      </a:pPr>
                      <a:r>
                        <a:rPr lang="en-US" sz="1250" b="1" dirty="0">
                          <a:solidFill>
                            <a:schemeClr val="bg1"/>
                          </a:solidFill>
                        </a:rPr>
                        <a:t>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region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share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29184">
                <a:tc>
                  <a:txBody>
                    <a:bodyPr/>
                    <a:lstStyle/>
                    <a:p>
                      <a:pPr indent="0" marL="0">
                        <a:buNone/>
                      </a:pPr>
                      <a:r>
                        <a:rPr lang="en-US" sz="1250" dirty="0">
                          <a:solidFill>
                            <a:schemeClr val="tx1"/>
                          </a:solidFill>
                        </a:rPr>
                        <a:t>Entity 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0.6667</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250" dirty="0">
                          <a:solidFill>
                            <a:schemeClr val="tx1"/>
                          </a:solidFill>
                        </a:rPr>
                        <a:t>Entity 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NY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0.3333</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250" dirty="0">
                          <a:solidFill>
                            <a:schemeClr val="tx1"/>
                          </a:solidFill>
                        </a:rPr>
                        <a:t>Entity B</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0.2000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250" dirty="0">
                          <a:solidFill>
                            <a:schemeClr val="tx1"/>
                          </a:solidFill>
                        </a:rPr>
                        <a:t>Entity B</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TX</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0.8000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0" name="Stretch answer card"/>
          <p:cNvSpPr/>
          <p:nvPr/>
        </p:nvSpPr>
        <p:spPr>
          <a:xfrm>
            <a:off x="7132320" y="3931920"/>
            <a:ext cx="4507992" cy="1600200"/>
          </a:xfrm>
          <a:prstGeom prst="roundRect">
            <a:avLst>
              <a:gd name="adj" fmla="val 6857"/>
            </a:avLst>
          </a:prstGeom>
          <a:solidFill>
            <a:schemeClr val="accent3">
              <a:alpha val="22000"/>
            </a:schemeClr>
          </a:solidFill>
          <a:ln/>
        </p:spPr>
      </p:sp>
      <p:sp>
        <p:nvSpPr>
          <p:cNvPr id="11" name="Stretch title"/>
          <p:cNvSpPr txBox="1"/>
          <p:nvPr/>
        </p:nvSpPr>
        <p:spPr>
          <a:xfrm>
            <a:off x="7315200" y="4023360"/>
            <a:ext cx="411480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Stretch</a:t>
            </a:r>
            <a:endParaRPr lang="en-US" sz="1600" dirty="0"/>
          </a:p>
        </p:txBody>
      </p:sp>
      <p:sp>
        <p:nvSpPr>
          <p:cNvPr id="12" name="Stretch text"/>
          <p:cNvSpPr txBox="1"/>
          <p:nvPr/>
        </p:nvSpPr>
        <p:spPr>
          <a:xfrm>
            <a:off x="7315200" y="4370832"/>
            <a:ext cx="4160520" cy="1097280"/>
          </a:xfrm>
          <a:prstGeom prst="rect">
            <a:avLst/>
          </a:prstGeom>
          <a:noFill/>
          <a:ln/>
        </p:spPr>
        <p:txBody>
          <a:bodyPr wrap="square" lIns="0" tIns="0" rIns="0" bIns="0" rtlCol="0" anchor="t"/>
          <a:lstStyle/>
          <a:p>
            <a:pPr indent="0" marL="0">
              <a:buNone/>
            </a:pPr>
            <a:r>
              <a:rPr lang="en-US" sz="1300" dirty="0">
                <a:solidFill>
                  <a:schemeClr val="tx1"/>
                </a:solidFill>
              </a:rPr>
              <a:t>Join silver_revenue and multiply the share by the amount. That is the full query from the earlier slide: A 6,666.67 and 3,333.33, B 4,000.00 and 16,000.00.</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notebook is a document that runs</a:t>
            </a:r>
            <a:endParaRPr lang="en-US" sz="3200" dirty="0"/>
          </a:p>
        </p:txBody>
      </p:sp>
      <p:sp>
        <p:nvSpPr>
          <p:cNvPr id="5" name="Notebook window"/>
          <p:cNvSpPr/>
          <p:nvPr/>
        </p:nvSpPr>
        <p:spPr>
          <a:xfrm>
            <a:off x="548640" y="1783080"/>
            <a:ext cx="6858000" cy="3657600"/>
          </a:xfrm>
          <a:prstGeom prst="roundRect">
            <a:avLst>
              <a:gd name="adj" fmla="val 3000"/>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Notebook toolbar"/>
          <p:cNvSpPr/>
          <p:nvPr/>
        </p:nvSpPr>
        <p:spPr>
          <a:xfrm>
            <a:off x="548640" y="1783080"/>
            <a:ext cx="6858000" cy="457200"/>
          </a:xfrm>
          <a:prstGeom prst="roundRect">
            <a:avLst>
              <a:gd name="adj" fmla="val 20000"/>
            </a:avLst>
          </a:prstGeom>
          <a:solidFill>
            <a:schemeClr val="bg2"/>
          </a:solidFill>
          <a:ln/>
        </p:spPr>
      </p:sp>
      <p:sp>
        <p:nvSpPr>
          <p:cNvPr id="7" name="Window dot 1"/>
          <p:cNvSpPr/>
          <p:nvPr/>
        </p:nvSpPr>
        <p:spPr>
          <a:xfrm>
            <a:off x="731520" y="1947672"/>
            <a:ext cx="128016" cy="128016"/>
          </a:xfrm>
          <a:prstGeom prst="ellipse">
            <a:avLst/>
          </a:prstGeom>
          <a:solidFill>
            <a:schemeClr val="accent5"/>
          </a:solidFill>
          <a:ln/>
        </p:spPr>
      </p:sp>
      <p:sp>
        <p:nvSpPr>
          <p:cNvPr id="8" name="Window dot 2"/>
          <p:cNvSpPr/>
          <p:nvPr/>
        </p:nvSpPr>
        <p:spPr>
          <a:xfrm>
            <a:off x="932688" y="1947672"/>
            <a:ext cx="128016" cy="128016"/>
          </a:xfrm>
          <a:prstGeom prst="ellipse">
            <a:avLst/>
          </a:prstGeom>
          <a:solidFill>
            <a:schemeClr val="accent5"/>
          </a:solidFill>
          <a:ln/>
        </p:spPr>
      </p:sp>
      <p:sp>
        <p:nvSpPr>
          <p:cNvPr id="9" name="Window dot 3"/>
          <p:cNvSpPr/>
          <p:nvPr/>
        </p:nvSpPr>
        <p:spPr>
          <a:xfrm>
            <a:off x="1133856" y="1947672"/>
            <a:ext cx="128016" cy="128016"/>
          </a:xfrm>
          <a:prstGeom prst="ellipse">
            <a:avLst/>
          </a:prstGeom>
          <a:solidFill>
            <a:schemeClr val="accent5"/>
          </a:solidFill>
          <a:ln/>
        </p:spPr>
      </p:sp>
      <p:sp>
        <p:nvSpPr>
          <p:cNvPr id="10" name="Lakehouse chip"/>
          <p:cNvSpPr txBox="1"/>
          <p:nvPr/>
        </p:nvSpPr>
        <p:spPr>
          <a:xfrm>
            <a:off x="1554480" y="1892808"/>
            <a:ext cx="210312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dirty="0">
                <a:solidFill>
                  <a:schemeClr val="bg1"/>
                </a:solidFill>
              </a:rPr>
              <a:t>Lakehouse: lh_tax_dst</a:t>
            </a:r>
            <a:endParaRPr lang="en-US" sz="1050" dirty="0"/>
          </a:p>
        </p:txBody>
      </p:sp>
      <p:sp>
        <p:nvSpPr>
          <p:cNvPr id="11" name="Pill"/>
          <p:cNvSpPr txBox="1"/>
          <p:nvPr/>
        </p:nvSpPr>
        <p:spPr>
          <a:xfrm>
            <a:off x="6172200" y="1892808"/>
            <a:ext cx="1051560" cy="256032"/>
          </a:xfrm>
          <a:prstGeom prst="roundRect">
            <a:avLst>
              <a:gd name="adj" fmla="val 53571"/>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RUN ALL</a:t>
            </a:r>
            <a:endParaRPr lang="en-US" sz="1000" dirty="0"/>
          </a:p>
        </p:txBody>
      </p:sp>
      <p:sp>
        <p:nvSpPr>
          <p:cNvPr id="12" name="Cell type"/>
          <p:cNvSpPr txBox="1"/>
          <p:nvPr/>
        </p:nvSpPr>
        <p:spPr>
          <a:xfrm>
            <a:off x="731520" y="2441448"/>
            <a:ext cx="822960" cy="228600"/>
          </a:xfrm>
          <a:prstGeom prst="rect">
            <a:avLst/>
          </a:prstGeom>
          <a:noFill/>
          <a:ln/>
        </p:spPr>
        <p:txBody>
          <a:bodyPr wrap="square" lIns="0" tIns="0" rIns="0" bIns="0" rtlCol="0" anchor="t"/>
          <a:lstStyle/>
          <a:p>
            <a:pPr indent="0" marL="0">
              <a:buNone/>
            </a:pPr>
            <a:r>
              <a:rPr lang="en-US" sz="1000" b="1" dirty="0">
                <a:solidFill>
                  <a:schemeClr val="accent5"/>
                </a:solidFill>
              </a:rPr>
              <a:t>Markdown</a:t>
            </a:r>
            <a:endParaRPr lang="en-US" sz="1000" dirty="0"/>
          </a:p>
        </p:txBody>
      </p:sp>
      <p:sp>
        <p:nvSpPr>
          <p:cNvPr id="13" name="Markdown cell"/>
          <p:cNvSpPr txBox="1"/>
          <p:nvPr/>
        </p:nvSpPr>
        <p:spPr>
          <a:xfrm>
            <a:off x="1645920" y="2359152"/>
            <a:ext cx="5394960" cy="411480"/>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Prepare impressions</a:t>
            </a:r>
            <a:endParaRPr lang="en-US" sz="2000" dirty="0"/>
          </a:p>
        </p:txBody>
      </p:sp>
      <p:sp>
        <p:nvSpPr>
          <p:cNvPr id="14" name="Cell counter"/>
          <p:cNvSpPr txBox="1"/>
          <p:nvPr/>
        </p:nvSpPr>
        <p:spPr>
          <a:xfrm>
            <a:off x="731520" y="3081528"/>
            <a:ext cx="822960" cy="228600"/>
          </a:xfrm>
          <a:prstGeom prst="rect">
            <a:avLst/>
          </a:prstGeom>
          <a:noFill/>
          <a:ln/>
        </p:spPr>
        <p:txBody>
          <a:bodyPr wrap="square" lIns="0" tIns="0" rIns="0" bIns="0" rtlCol="0" anchor="t"/>
          <a:lstStyle/>
          <a:p>
            <a:pPr indent="0" marL="0">
              <a:buNone/>
            </a:pPr>
            <a:r>
              <a:rPr lang="en-US" sz="1000" b="1" dirty="0">
                <a:solidFill>
                  <a:schemeClr val="accent5"/>
                </a:solidFill>
              </a:rPr>
              <a:t>In [1]</a:t>
            </a:r>
            <a:endParaRPr lang="en-US" sz="1000" dirty="0"/>
          </a:p>
        </p:txBody>
      </p:sp>
      <p:sp>
        <p:nvSpPr>
          <p:cNvPr id="15" name="Notebook code cell"/>
          <p:cNvSpPr/>
          <p:nvPr/>
        </p:nvSpPr>
        <p:spPr>
          <a:xfrm>
            <a:off x="1554480" y="2926080"/>
            <a:ext cx="5669280" cy="868680"/>
          </a:xfrm>
          <a:prstGeom prst="roundRect">
            <a:avLst>
              <a:gd name="adj" fmla="val 10526"/>
            </a:avLst>
          </a:prstGeom>
          <a:solidFill>
            <a:schemeClr val="tx1"/>
          </a:solidFill>
          <a:ln/>
        </p:spPr>
      </p:sp>
      <p:sp>
        <p:nvSpPr>
          <p:cNvPr id="16" name="Notebook code cell text"/>
          <p:cNvSpPr txBox="1"/>
          <p:nvPr/>
        </p:nvSpPr>
        <p:spPr>
          <a:xfrm>
            <a:off x="1755648" y="3072384"/>
            <a:ext cx="5266944" cy="612648"/>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impr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spark</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read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table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"bronze_impressions"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display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limit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6"/>
                </a:solidFill>
                <a:latin typeface="Courier New" pitchFamily="34" charset="0"/>
                <a:ea typeface="Courier New" pitchFamily="34" charset="-122"/>
                <a:cs typeface="Courier New" pitchFamily="34" charset="-120"/>
              </a:rPr>
              <a:t>3</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17" name="Output label"/>
          <p:cNvSpPr txBox="1"/>
          <p:nvPr/>
        </p:nvSpPr>
        <p:spPr>
          <a:xfrm>
            <a:off x="731520" y="4069080"/>
            <a:ext cx="822960" cy="228600"/>
          </a:xfrm>
          <a:prstGeom prst="rect">
            <a:avLst/>
          </a:prstGeom>
          <a:noFill/>
          <a:ln/>
        </p:spPr>
        <p:txBody>
          <a:bodyPr wrap="square" lIns="0" tIns="0" rIns="0" bIns="0" rtlCol="0" anchor="t"/>
          <a:lstStyle/>
          <a:p>
            <a:pPr indent="0" marL="0">
              <a:buNone/>
            </a:pPr>
            <a:r>
              <a:rPr lang="en-US" sz="1000" b="1" dirty="0">
                <a:solidFill>
                  <a:schemeClr val="accent5"/>
                </a:solidFill>
              </a:rPr>
              <a:t>Output</a:t>
            </a:r>
            <a:endParaRPr lang="en-US" sz="1000" dirty="0"/>
          </a:p>
        </p:txBody>
      </p:sp>
      <p:graphicFrame>
        <p:nvGraphicFramePr>
          <p:cNvPr id="43" name="Notebook output"/>
          <p:cNvGraphicFramePr>
            <a:graphicFrameLocks noGrp="1"/>
          </p:cNvGraphicFramePr>
          <p:nvPr>
            <p:extLst>
              <p:ext uri="{D42A27DB-BD31-4B8C-83A1-F6EECF244321}">
                <p14:modId xmlns:p14="http://schemas.microsoft.com/office/powerpoint/2010/main" val="1579011935"/>
              </p:ext>
            </p:extLst>
          </p:nvPr>
        </p:nvGraphicFramePr>
        <p:xfrm>
          <a:off x="1554480" y="3931920"/>
          <a:ext cx="5669280" cy="914400"/>
        </p:xfrm>
        <a:graphic>
          <a:graphicData uri="http://schemas.openxmlformats.org/drawingml/2006/table">
            <a:tbl>
              <a:tblPr/>
              <a:tblGrid>
                <a:gridCol w="1280160"/>
                <a:gridCol w="1645920"/>
                <a:gridCol w="1371600"/>
                <a:gridCol w="1371600"/>
              </a:tblGrid>
              <a:tr h="310896">
                <a:tc>
                  <a:txBody>
                    <a:bodyPr/>
                    <a:lstStyle/>
                    <a:p>
                      <a:pPr indent="0" marL="0">
                        <a:buNone/>
                      </a:pPr>
                      <a:r>
                        <a:rPr lang="en-US" sz="1200" b="1" dirty="0">
                          <a:solidFill>
                            <a:schemeClr val="bg1"/>
                          </a:solidFill>
                        </a:rPr>
                        <a:t>period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ad_unit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region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impressions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292608">
                <a:tc>
                  <a:txBody>
                    <a:bodyPr/>
                    <a:lstStyle/>
                    <a:p>
                      <a:pPr indent="0" marL="0">
                        <a:buNone/>
                      </a:pPr>
                      <a:r>
                        <a:rPr lang="en-US" sz="1200" dirty="0">
                          <a:solidFill>
                            <a:schemeClr val="tx1"/>
                          </a:solidFill>
                        </a:rPr>
                        <a:t>2025-01</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kitchen_tv</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600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92608">
                <a:tc>
                  <a:txBody>
                    <a:bodyPr/>
                    <a:lstStyle/>
                    <a:p>
                      <a:pPr indent="0" marL="0">
                        <a:buNone/>
                      </a:pPr>
                      <a:r>
                        <a:rPr lang="en-US" sz="1200" dirty="0">
                          <a:solidFill>
                            <a:schemeClr val="tx1"/>
                          </a:solidFill>
                        </a:rPr>
                        <a:t>2025-01</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kitchen_tv</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NY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300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292608">
                <a:tc>
                  <a:txBody>
                    <a:bodyPr/>
                    <a:lstStyle/>
                    <a:p>
                      <a:pPr indent="0" marL="0">
                        <a:buNone/>
                      </a:pPr>
                      <a:r>
                        <a:rPr lang="en-US" sz="1200" dirty="0">
                          <a:solidFill>
                            <a:schemeClr val="tx1"/>
                          </a:solidFill>
                        </a:rPr>
                        <a:t>2025-01</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kitchen_tv</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i="1" dirty="0">
                          <a:solidFill>
                            <a:schemeClr val="accent5"/>
                          </a:solidFill>
                        </a:rPr>
                        <a:t>NULL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100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19" name="Cells run one at a time badge"/>
          <p:cNvSpPr/>
          <p:nvPr/>
        </p:nvSpPr>
        <p:spPr>
          <a:xfrm>
            <a:off x="7680960" y="1920240"/>
            <a:ext cx="502920" cy="502920"/>
          </a:xfrm>
          <a:prstGeom prst="ellipse">
            <a:avLst/>
          </a:prstGeom>
          <a:solidFill>
            <a:schemeClr val="accent1"/>
          </a:solidFill>
          <a:ln/>
        </p:spPr>
      </p:sp>
      <p:pic>
        <p:nvPicPr>
          <p:cNvPr id="20" name="Image 0" descr="Cells run one at a time icon">    </p:cNvPr>
          <p:cNvPicPr>
            <a:picLocks noChangeAspect="1"/>
          </p:cNvPicPr>
          <p:nvPr/>
        </p:nvPicPr>
        <p:blipFill>
          <a:blip r:embed="rId1"/>
          <a:stretch>
            <a:fillRect/>
          </a:stretch>
        </p:blipFill>
        <p:spPr>
          <a:xfrm>
            <a:off x="7806690" y="2045970"/>
            <a:ext cx="251460" cy="251460"/>
          </a:xfrm>
          <a:prstGeom prst="rect">
            <a:avLst/>
          </a:prstGeom>
        </p:spPr>
      </p:pic>
      <p:sp>
        <p:nvSpPr>
          <p:cNvPr id="21" name="Call-out title"/>
          <p:cNvSpPr txBox="1"/>
          <p:nvPr/>
        </p:nvSpPr>
        <p:spPr>
          <a:xfrm>
            <a:off x="8366760" y="1783080"/>
            <a:ext cx="324612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Cells run one at a time</a:t>
            </a:r>
            <a:endParaRPr lang="en-US" sz="1600" dirty="0"/>
          </a:p>
        </p:txBody>
      </p:sp>
      <p:sp>
        <p:nvSpPr>
          <p:cNvPr id="22" name="Call-out text"/>
          <p:cNvSpPr txBox="1"/>
          <p:nvPr/>
        </p:nvSpPr>
        <p:spPr>
          <a:xfrm>
            <a:off x="8366760" y="2148840"/>
            <a:ext cx="3246120" cy="731520"/>
          </a:xfrm>
          <a:prstGeom prst="rect">
            <a:avLst/>
          </a:prstGeom>
          <a:noFill/>
          <a:ln/>
        </p:spPr>
        <p:txBody>
          <a:bodyPr wrap="square" lIns="0" tIns="0" rIns="0" bIns="0" rtlCol="0" anchor="t"/>
          <a:lstStyle/>
          <a:p>
            <a:pPr indent="0" marL="0">
              <a:buNone/>
            </a:pPr>
            <a:r>
              <a:rPr lang="en-US" sz="1350" dirty="0">
                <a:solidFill>
                  <a:schemeClr val="tx1"/>
                </a:solidFill>
              </a:rPr>
              <a:t>Top to bottom, in the order you run them.</a:t>
            </a:r>
            <a:endParaRPr lang="en-US" sz="1350" dirty="0"/>
          </a:p>
        </p:txBody>
      </p:sp>
      <p:sp>
        <p:nvSpPr>
          <p:cNvPr id="23" name="Output appears underneath badge"/>
          <p:cNvSpPr/>
          <p:nvPr/>
        </p:nvSpPr>
        <p:spPr>
          <a:xfrm>
            <a:off x="7680960" y="3163824"/>
            <a:ext cx="502920" cy="502920"/>
          </a:xfrm>
          <a:prstGeom prst="ellipse">
            <a:avLst/>
          </a:prstGeom>
          <a:solidFill>
            <a:schemeClr val="accent2"/>
          </a:solidFill>
          <a:ln/>
        </p:spPr>
      </p:sp>
      <p:pic>
        <p:nvPicPr>
          <p:cNvPr id="24" name="Image 1" descr="Output appears underneath icon">    </p:cNvPr>
          <p:cNvPicPr>
            <a:picLocks noChangeAspect="1"/>
          </p:cNvPicPr>
          <p:nvPr/>
        </p:nvPicPr>
        <p:blipFill>
          <a:blip r:embed="rId2"/>
          <a:stretch>
            <a:fillRect/>
          </a:stretch>
        </p:blipFill>
        <p:spPr>
          <a:xfrm>
            <a:off x="7806690" y="3289554"/>
            <a:ext cx="251460" cy="251460"/>
          </a:xfrm>
          <a:prstGeom prst="rect">
            <a:avLst/>
          </a:prstGeom>
        </p:spPr>
      </p:pic>
      <p:sp>
        <p:nvSpPr>
          <p:cNvPr id="25" name="Call-out title"/>
          <p:cNvSpPr txBox="1"/>
          <p:nvPr/>
        </p:nvSpPr>
        <p:spPr>
          <a:xfrm>
            <a:off x="8366760" y="3026664"/>
            <a:ext cx="324612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Output appears underneath</a:t>
            </a:r>
            <a:endParaRPr lang="en-US" sz="1600" dirty="0"/>
          </a:p>
        </p:txBody>
      </p:sp>
      <p:sp>
        <p:nvSpPr>
          <p:cNvPr id="26" name="Call-out text"/>
          <p:cNvSpPr txBox="1"/>
          <p:nvPr/>
        </p:nvSpPr>
        <p:spPr>
          <a:xfrm>
            <a:off x="8366760" y="3392424"/>
            <a:ext cx="3246120" cy="731520"/>
          </a:xfrm>
          <a:prstGeom prst="rect">
            <a:avLst/>
          </a:prstGeom>
          <a:noFill/>
          <a:ln/>
        </p:spPr>
        <p:txBody>
          <a:bodyPr wrap="square" lIns="0" tIns="0" rIns="0" bIns="0" rtlCol="0" anchor="t"/>
          <a:lstStyle/>
          <a:p>
            <a:pPr indent="0" marL="0">
              <a:buNone/>
            </a:pPr>
            <a:r>
              <a:rPr lang="en-US" sz="1350" dirty="0">
                <a:solidFill>
                  <a:schemeClr val="tx1"/>
                </a:solidFill>
              </a:rPr>
              <a:t>Tables, charts and messages show right under the cell.</a:t>
            </a:r>
            <a:endParaRPr lang="en-US" sz="1350" dirty="0"/>
          </a:p>
        </p:txBody>
      </p:sp>
      <p:sp>
        <p:nvSpPr>
          <p:cNvPr id="27" name="State is kept badge"/>
          <p:cNvSpPr/>
          <p:nvPr/>
        </p:nvSpPr>
        <p:spPr>
          <a:xfrm>
            <a:off x="7680960" y="4407408"/>
            <a:ext cx="502920" cy="502920"/>
          </a:xfrm>
          <a:prstGeom prst="ellipse">
            <a:avLst/>
          </a:prstGeom>
          <a:solidFill>
            <a:schemeClr val="tx2"/>
          </a:solidFill>
          <a:ln/>
        </p:spPr>
      </p:sp>
      <p:pic>
        <p:nvPicPr>
          <p:cNvPr id="28" name="Image 2" descr="State is kept icon">    </p:cNvPr>
          <p:cNvPicPr>
            <a:picLocks noChangeAspect="1"/>
          </p:cNvPicPr>
          <p:nvPr/>
        </p:nvPicPr>
        <p:blipFill>
          <a:blip r:embed="rId3"/>
          <a:stretch>
            <a:fillRect/>
          </a:stretch>
        </p:blipFill>
        <p:spPr>
          <a:xfrm>
            <a:off x="7806690" y="4533138"/>
            <a:ext cx="251460" cy="251460"/>
          </a:xfrm>
          <a:prstGeom prst="rect">
            <a:avLst/>
          </a:prstGeom>
        </p:spPr>
      </p:pic>
      <p:sp>
        <p:nvSpPr>
          <p:cNvPr id="29" name="Call-out title"/>
          <p:cNvSpPr txBox="1"/>
          <p:nvPr/>
        </p:nvSpPr>
        <p:spPr>
          <a:xfrm>
            <a:off x="8366760" y="4270248"/>
            <a:ext cx="324612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State is kept</a:t>
            </a:r>
            <a:endParaRPr lang="en-US" sz="1600" dirty="0"/>
          </a:p>
        </p:txBody>
      </p:sp>
      <p:sp>
        <p:nvSpPr>
          <p:cNvPr id="30" name="Call-out text"/>
          <p:cNvSpPr txBox="1"/>
          <p:nvPr/>
        </p:nvSpPr>
        <p:spPr>
          <a:xfrm>
            <a:off x="8366760" y="4636008"/>
            <a:ext cx="3246120" cy="731520"/>
          </a:xfrm>
          <a:prstGeom prst="rect">
            <a:avLst/>
          </a:prstGeom>
          <a:noFill/>
          <a:ln/>
        </p:spPr>
        <p:txBody>
          <a:bodyPr wrap="square" lIns="0" tIns="0" rIns="0" bIns="0" rtlCol="0" anchor="t"/>
          <a:lstStyle/>
          <a:p>
            <a:pPr indent="0" marL="0">
              <a:buNone/>
            </a:pPr>
            <a:r>
              <a:rPr lang="en-US" sz="1350" dirty="0">
                <a:solidFill>
                  <a:schemeClr val="tx1"/>
                </a:solidFill>
              </a:rPr>
              <a:t>A variable set in one cell exists in the next.</a:t>
            </a:r>
            <a:endParaRPr lang="en-US" sz="1350" dirty="0"/>
          </a:p>
        </p:txBody>
      </p:sp>
      <p:sp>
        <p:nvSpPr>
          <p:cNvPr id="31" name="Takeaway"/>
          <p:cNvSpPr txBox="1"/>
          <p:nvPr/>
        </p:nvSpPr>
        <p:spPr>
          <a:xfrm>
            <a:off x="548640" y="562356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Run cells in order. Most surprises come from running them out of order.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Five building blocks cover most of what you will read</a:t>
            </a:r>
            <a:endParaRPr lang="en-US" sz="3200" dirty="0"/>
          </a:p>
        </p:txBody>
      </p:sp>
      <p:sp>
        <p:nvSpPr>
          <p:cNvPr id="5" name="Building blocks code"/>
          <p:cNvSpPr/>
          <p:nvPr/>
        </p:nvSpPr>
        <p:spPr>
          <a:xfrm>
            <a:off x="548640" y="1783080"/>
            <a:ext cx="6400800" cy="3703320"/>
          </a:xfrm>
          <a:prstGeom prst="roundRect">
            <a:avLst>
              <a:gd name="adj" fmla="val 2469"/>
            </a:avLst>
          </a:prstGeom>
          <a:solidFill>
            <a:schemeClr val="tx1"/>
          </a:solidFill>
          <a:ln/>
        </p:spPr>
      </p:sp>
      <p:sp>
        <p:nvSpPr>
          <p:cNvPr id="6" name="Code label"/>
          <p:cNvSpPr txBox="1"/>
          <p:nvPr/>
        </p:nvSpPr>
        <p:spPr>
          <a:xfrm>
            <a:off x="749808" y="1874520"/>
            <a:ext cx="59984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PYTHON</a:t>
            </a:r>
            <a:endParaRPr lang="en-US" sz="1000" dirty="0"/>
          </a:p>
        </p:txBody>
      </p:sp>
      <p:sp>
        <p:nvSpPr>
          <p:cNvPr id="7" name="Building blocks code text"/>
          <p:cNvSpPr txBox="1"/>
          <p:nvPr/>
        </p:nvSpPr>
        <p:spPr>
          <a:xfrm>
            <a:off x="749808" y="2167128"/>
            <a:ext cx="5998464" cy="3209544"/>
          </a:xfrm>
          <a:prstGeom prst="rect">
            <a:avLst/>
          </a:prstGeom>
          <a:noFill/>
          <a:ln/>
        </p:spPr>
        <p:txBody>
          <a:bodyPr wrap="square" lIns="0" tIns="0" rIns="0" bIns="0" rtlCol="0" anchor="t"/>
          <a:lstStyle/>
          <a:p>
            <a:pPr indent="0" marL="0">
              <a:buNone/>
            </a:pPr>
            <a:r>
              <a:rPr lang="en-US" sz="1350" dirty="0">
                <a:solidFill>
                  <a:schemeClr val="bg1"/>
                </a:solidFill>
                <a:latin typeface="Courier New" pitchFamily="34" charset="0"/>
                <a:ea typeface="Courier New" pitchFamily="34" charset="-122"/>
                <a:cs typeface="Courier New" pitchFamily="34" charset="-120"/>
              </a:rPr>
              <a:t>year</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6"/>
                </a:solidFill>
                <a:latin typeface="Courier New" pitchFamily="34" charset="0"/>
                <a:ea typeface="Courier New" pitchFamily="34" charset="-122"/>
                <a:cs typeface="Courier New" pitchFamily="34" charset="-120"/>
              </a:rPr>
              <a:t>2025</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states</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accent3"/>
                </a:solidFill>
                <a:latin typeface="Courier New" pitchFamily="34" charset="0"/>
                <a:ea typeface="Courier New" pitchFamily="34" charset="-122"/>
                <a:cs typeface="Courier New" pitchFamily="34" charset="-120"/>
              </a:rPr>
              <a:t>"CA"</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3"/>
                </a:solidFill>
                <a:latin typeface="Courier New" pitchFamily="34" charset="0"/>
                <a:ea typeface="Courier New" pitchFamily="34" charset="-122"/>
                <a:cs typeface="Courier New" pitchFamily="34" charset="-120"/>
              </a:rPr>
              <a:t>"NY"</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3"/>
                </a:solidFill>
                <a:latin typeface="Courier New" pitchFamily="34" charset="0"/>
                <a:ea typeface="Courier New" pitchFamily="34" charset="-122"/>
                <a:cs typeface="Courier New" pitchFamily="34" charset="-120"/>
              </a:rPr>
              <a:t>"TX"</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state_map</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accent3"/>
                </a:solidFill>
                <a:latin typeface="Courier New" pitchFamily="34" charset="0"/>
                <a:ea typeface="Courier New" pitchFamily="34" charset="-122"/>
                <a:cs typeface="Courier New" pitchFamily="34" charset="-120"/>
              </a:rPr>
              <a:t>"Silicon Valley"</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3"/>
                </a:solidFill>
                <a:latin typeface="Courier New" pitchFamily="34" charset="0"/>
                <a:ea typeface="Courier New" pitchFamily="34" charset="-122"/>
                <a:cs typeface="Courier New" pitchFamily="34" charset="-120"/>
              </a:rPr>
              <a:t>"CA"</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3"/>
                </a:solidFill>
                <a:latin typeface="Courier New" pitchFamily="34" charset="0"/>
                <a:ea typeface="Courier New" pitchFamily="34" charset="-122"/>
                <a:cs typeface="Courier New" pitchFamily="34" charset="-120"/>
              </a:rPr>
              <a:t>"San Francisco Bay Area"</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3"/>
                </a:solidFill>
                <a:latin typeface="Courier New" pitchFamily="34" charset="0"/>
                <a:ea typeface="Courier New" pitchFamily="34" charset="-122"/>
                <a:cs typeface="Courier New" pitchFamily="34" charset="-120"/>
              </a:rPr>
              <a:t>"CA"</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chemeClr val="accent2"/>
                </a:solidFill>
                <a:latin typeface="Courier New" pitchFamily="34" charset="0"/>
                <a:ea typeface="Courier New" pitchFamily="34" charset="-122"/>
                <a:cs typeface="Courier New" pitchFamily="34" charset="-120"/>
              </a:rPr>
              <a:t>def</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clean_state</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raw</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2"/>
                </a:solidFill>
                <a:latin typeface="Courier New" pitchFamily="34" charset="0"/>
                <a:ea typeface="Courier New" pitchFamily="34" charset="-122"/>
                <a:cs typeface="Courier New" pitchFamily="34" charset="-120"/>
              </a:rPr>
              <a:t>return</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state_map</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get</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raw</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raw</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chemeClr val="accent2"/>
                </a:solidFill>
                <a:latin typeface="Courier New" pitchFamily="34" charset="0"/>
                <a:ea typeface="Courier New" pitchFamily="34" charset="-122"/>
                <a:cs typeface="Courier New" pitchFamily="34" charset="-120"/>
              </a:rPr>
              <a:t>for</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s</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accent2"/>
                </a:solidFill>
                <a:latin typeface="Courier New" pitchFamily="34" charset="0"/>
                <a:ea typeface="Courier New" pitchFamily="34" charset="-122"/>
                <a:cs typeface="Courier New" pitchFamily="34" charset="-120"/>
              </a:rPr>
              <a:t>in</a:t>
            </a:r>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states</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a:t>
            </a:r>
            <a:pPr indent="0" marL="0">
              <a:buNone/>
            </a:pPr>
            <a:r>
              <a:rPr lang="en-US" sz="1350" dirty="0">
                <a:solidFill>
                  <a:schemeClr val="bg1"/>
                </a:solidFill>
                <a:latin typeface="Courier New" pitchFamily="34" charset="0"/>
                <a:ea typeface="Courier New" pitchFamily="34" charset="-122"/>
                <a:cs typeface="Courier New" pitchFamily="34" charset="-120"/>
              </a:rPr>
              <a:t>print</a:t>
            </a:r>
            <a:pPr indent="0" marL="0">
              <a:buNone/>
            </a:pPr>
            <a:r>
              <a:rPr lang="en-US" sz="1350" dirty="0">
                <a:solidFill>
                  <a:schemeClr val="bg1"/>
                </a:solidFill>
                <a:latin typeface="Courier New" pitchFamily="34" charset="0"/>
                <a:ea typeface="Courier New" pitchFamily="34" charset="-122"/>
                <a:cs typeface="Courier New" pitchFamily="34" charset="-120"/>
              </a:rPr>
              <a:t>(</a:t>
            </a:r>
            <a:pPr indent="0" marL="0">
              <a:buNone/>
            </a:pPr>
            <a:r>
              <a:rPr lang="en-US" sz="1350" dirty="0">
                <a:solidFill>
                  <a:schemeClr val="bg1"/>
                </a:solidFill>
                <a:latin typeface="Courier New" pitchFamily="34" charset="0"/>
                <a:ea typeface="Courier New" pitchFamily="34" charset="-122"/>
                <a:cs typeface="Courier New" pitchFamily="34" charset="-120"/>
              </a:rPr>
              <a:t>f</a:t>
            </a:r>
            <a:pPr indent="0" marL="0">
              <a:buNone/>
            </a:pPr>
            <a:r>
              <a:rPr lang="en-US" sz="1350" dirty="0">
                <a:solidFill>
                  <a:schemeClr val="accent3"/>
                </a:solidFill>
                <a:latin typeface="Courier New" pitchFamily="34" charset="0"/>
                <a:ea typeface="Courier New" pitchFamily="34" charset="-122"/>
                <a:cs typeface="Courier New" pitchFamily="34" charset="-120"/>
              </a:rPr>
              <a:t>"{s} in {year}"</a:t>
            </a:r>
            <a:pPr indent="0" marL="0">
              <a:buNone/>
            </a:pPr>
            <a:r>
              <a:rPr lang="en-US" sz="1350" dirty="0">
                <a:solidFill>
                  <a:schemeClr val="bg1"/>
                </a:solidFill>
                <a:latin typeface="Courier New" pitchFamily="34" charset="0"/>
                <a:ea typeface="Courier New" pitchFamily="34" charset="-122"/>
                <a:cs typeface="Courier New" pitchFamily="34" charset="-120"/>
              </a:rPr>
              <a:t>)</a:t>
            </a:r>
            <a:endParaRPr lang="en-US" sz="1350" dirty="0"/>
          </a:p>
        </p:txBody>
      </p:sp>
      <p:graphicFrame>
        <p:nvGraphicFramePr>
          <p:cNvPr id="44" name="Building blocks table"/>
          <p:cNvGraphicFramePr>
            <a:graphicFrameLocks noGrp="1"/>
          </p:cNvGraphicFramePr>
          <p:nvPr>
            <p:extLst>
              <p:ext uri="{D42A27DB-BD31-4B8C-83A1-F6EECF244321}">
                <p14:modId xmlns:p14="http://schemas.microsoft.com/office/powerpoint/2010/main" val="1579011935"/>
              </p:ext>
            </p:extLst>
          </p:nvPr>
        </p:nvGraphicFramePr>
        <p:xfrm>
          <a:off x="7223760" y="1783080"/>
          <a:ext cx="4416552" cy="914400"/>
        </p:xfrm>
        <a:graphic>
          <a:graphicData uri="http://schemas.openxmlformats.org/drawingml/2006/table">
            <a:tbl>
              <a:tblPr/>
              <a:tblGrid>
                <a:gridCol w="1143000"/>
                <a:gridCol w="1371600"/>
                <a:gridCol w="1901952"/>
              </a:tblGrid>
              <a:tr h="384048">
                <a:tc>
                  <a:txBody>
                    <a:bodyPr/>
                    <a:lstStyle/>
                    <a:p>
                      <a:pPr indent="0" marL="0">
                        <a:buNone/>
                      </a:pPr>
                      <a:r>
                        <a:rPr lang="en-US" sz="1250" b="1" dirty="0">
                          <a:solidFill>
                            <a:schemeClr val="bg1"/>
                          </a:solidFill>
                        </a:rPr>
                        <a:t>Block</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Think of it as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In Alteryx or Excel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40080">
                <a:tc>
                  <a:txBody>
                    <a:bodyPr/>
                    <a:lstStyle/>
                    <a:p>
                      <a:pPr indent="0" marL="0">
                        <a:buNone/>
                      </a:pPr>
                      <a:r>
                        <a:rPr lang="en-US" sz="1250" b="1" dirty="0">
                          <a:solidFill>
                            <a:schemeClr val="tx1"/>
                          </a:solidFill>
                        </a:rPr>
                        <a:t>Variable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 named value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An interface input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250" b="1" dirty="0">
                          <a:solidFill>
                            <a:schemeClr val="tx1"/>
                          </a:solidFill>
                        </a:rPr>
                        <a:t>List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column of values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column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250" b="1" dirty="0">
                          <a:solidFill>
                            <a:schemeClr val="tx1"/>
                          </a:solidFill>
                        </a:rPr>
                        <a:t>Dictionary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 lookup table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The State Mapping table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250" b="1" dirty="0">
                          <a:solidFill>
                            <a:schemeClr val="tx1"/>
                          </a:solidFill>
                        </a:rPr>
                        <a:t>Function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reusable rule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macro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250" b="1" dirty="0">
                          <a:solidFill>
                            <a:schemeClr val="tx1"/>
                          </a:solidFill>
                        </a:rPr>
                        <a:t>Loop</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Do it for each item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 batch macro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function captures a rule once: the fiscal-period shift</a:t>
            </a:r>
            <a:endParaRPr lang="en-US" sz="3200" dirty="0"/>
          </a:p>
        </p:txBody>
      </p:sp>
      <p:sp>
        <p:nvSpPr>
          <p:cNvPr id="5" name="Fiscal function"/>
          <p:cNvSpPr/>
          <p:nvPr/>
        </p:nvSpPr>
        <p:spPr>
          <a:xfrm>
            <a:off x="548640" y="1783080"/>
            <a:ext cx="6766560" cy="3749040"/>
          </a:xfrm>
          <a:prstGeom prst="roundRect">
            <a:avLst>
              <a:gd name="adj" fmla="val 2439"/>
            </a:avLst>
          </a:prstGeom>
          <a:solidFill>
            <a:schemeClr val="tx1"/>
          </a:solidFill>
          <a:ln/>
        </p:spPr>
      </p:sp>
      <p:sp>
        <p:nvSpPr>
          <p:cNvPr id="6" name="Code label"/>
          <p:cNvSpPr txBox="1"/>
          <p:nvPr/>
        </p:nvSpPr>
        <p:spPr>
          <a:xfrm>
            <a:off x="749808" y="1874520"/>
            <a:ext cx="63642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PYTHON</a:t>
            </a:r>
            <a:endParaRPr lang="en-US" sz="1000" dirty="0"/>
          </a:p>
        </p:txBody>
      </p:sp>
      <p:sp>
        <p:nvSpPr>
          <p:cNvPr id="7" name="Fiscal function text"/>
          <p:cNvSpPr txBox="1"/>
          <p:nvPr/>
        </p:nvSpPr>
        <p:spPr>
          <a:xfrm>
            <a:off x="749808" y="2167128"/>
            <a:ext cx="6364224" cy="3255264"/>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import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pandas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as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def</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fiscal_to_calendar</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fy</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period</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"""EDP fiscal period to calendar 'YYYY-MM'."""</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start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pd</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Timestamp</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fy</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period</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1</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shifted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start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pd</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DateOffset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months</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3</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return</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shifted</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strftime</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"%Y-%m"</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assert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fiscal_to_calendar</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2025</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1</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"2024-10"</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assert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fiscal_to_calendar</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2025</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4</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"2025-01"</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assert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fiscal_to_calendar</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2025</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12</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"2025-09"</a:t>
            </a:r>
            <a:endParaRPr lang="en-US" sz="1300" dirty="0"/>
          </a:p>
        </p:txBody>
      </p:sp>
      <p:sp>
        <p:nvSpPr>
          <p:cNvPr id="8" name="Alteryx rule card"/>
          <p:cNvSpPr/>
          <p:nvPr/>
        </p:nvSpPr>
        <p:spPr>
          <a:xfrm>
            <a:off x="7589520" y="1783080"/>
            <a:ext cx="4050792" cy="1600200"/>
          </a:xfrm>
          <a:prstGeom prst="roundRect">
            <a:avLst>
              <a:gd name="adj" fmla="val 6857"/>
            </a:avLst>
          </a:prstGeom>
          <a:solidFill>
            <a:schemeClr val="bg2"/>
          </a:solidFill>
          <a:ln/>
        </p:spPr>
      </p:sp>
      <p:sp>
        <p:nvSpPr>
          <p:cNvPr id="9" name="Rule title"/>
          <p:cNvSpPr txBox="1"/>
          <p:nvPr/>
        </p:nvSpPr>
        <p:spPr>
          <a:xfrm>
            <a:off x="7772400" y="1874520"/>
            <a:ext cx="374904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The rule in Alteryx today</a:t>
            </a:r>
            <a:endParaRPr lang="en-US" sz="1500" dirty="0"/>
          </a:p>
        </p:txBody>
      </p:sp>
      <p:sp>
        <p:nvSpPr>
          <p:cNvPr id="10" name="Rule formula"/>
          <p:cNvSpPr txBox="1"/>
          <p:nvPr/>
        </p:nvSpPr>
        <p:spPr>
          <a:xfrm>
            <a:off x="7772400" y="2240280"/>
            <a:ext cx="3749040" cy="274320"/>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DateTimeAdd([Parsed_Date], -3, 'month')</a:t>
            </a:r>
            <a:endParaRPr lang="en-US" sz="1150" dirty="0"/>
          </a:p>
        </p:txBody>
      </p:sp>
      <p:sp>
        <p:nvSpPr>
          <p:cNvPr id="11" name="Rule text"/>
          <p:cNvSpPr txBox="1"/>
          <p:nvPr/>
        </p:nvSpPr>
        <p:spPr>
          <a:xfrm>
            <a:off x="7772400" y="2606040"/>
            <a:ext cx="3749040" cy="731520"/>
          </a:xfrm>
          <a:prstGeom prst="rect">
            <a:avLst/>
          </a:prstGeom>
          <a:noFill/>
          <a:ln/>
        </p:spPr>
        <p:txBody>
          <a:bodyPr wrap="square" lIns="0" tIns="0" rIns="0" bIns="0" rtlCol="0" anchor="t"/>
          <a:lstStyle/>
          <a:p>
            <a:pPr indent="0" marL="0">
              <a:buNone/>
            </a:pPr>
            <a:r>
              <a:rPr lang="en-US" sz="1300" dirty="0">
                <a:solidFill>
                  <a:schemeClr val="tx1"/>
                </a:solidFill>
              </a:rPr>
              <a:t>Shifts EDP periods back three months to align fiscal periods with calendar periods.</a:t>
            </a:r>
            <a:endParaRPr lang="en-US" sz="1300" dirty="0"/>
          </a:p>
        </p:txBody>
      </p:sp>
      <p:sp>
        <p:nvSpPr>
          <p:cNvPr id="12" name="Tests label"/>
          <p:cNvSpPr txBox="1"/>
          <p:nvPr/>
        </p:nvSpPr>
        <p:spPr>
          <a:xfrm>
            <a:off x="7589520" y="3566160"/>
            <a:ext cx="36576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THREE TEST CASES</a:t>
            </a:r>
            <a:endParaRPr lang="en-US" sz="1000" dirty="0"/>
          </a:p>
        </p:txBody>
      </p:sp>
      <p:graphicFrame>
        <p:nvGraphicFramePr>
          <p:cNvPr id="45" name="Test cases"/>
          <p:cNvGraphicFramePr>
            <a:graphicFrameLocks noGrp="1"/>
          </p:cNvGraphicFramePr>
          <p:nvPr>
            <p:extLst>
              <p:ext uri="{D42A27DB-BD31-4B8C-83A1-F6EECF244321}">
                <p14:modId xmlns:p14="http://schemas.microsoft.com/office/powerpoint/2010/main" val="1579011935"/>
              </p:ext>
            </p:extLst>
          </p:nvPr>
        </p:nvGraphicFramePr>
        <p:xfrm>
          <a:off x="7589520" y="3822192"/>
          <a:ext cx="4050792" cy="914400"/>
        </p:xfrm>
        <a:graphic>
          <a:graphicData uri="http://schemas.openxmlformats.org/drawingml/2006/table">
            <a:tbl>
              <a:tblPr/>
              <a:tblGrid>
                <a:gridCol w="1554480"/>
                <a:gridCol w="1097280"/>
                <a:gridCol w="1399032"/>
              </a:tblGrid>
              <a:tr h="365760">
                <a:tc>
                  <a:txBody>
                    <a:bodyPr/>
                    <a:lstStyle/>
                    <a:p>
                      <a:pPr indent="0" marL="0">
                        <a:buNone/>
                      </a:pPr>
                      <a:r>
                        <a:rPr lang="en-US" sz="1300" b="1" dirty="0">
                          <a:solidFill>
                            <a:schemeClr val="bg1"/>
                          </a:solidFill>
                        </a:rPr>
                        <a:t>Input (fy, period)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Result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300" dirty="0">
                          <a:solidFill>
                            <a:schemeClr val="tx1"/>
                          </a:solidFill>
                        </a:rPr>
                        <a:t>2025, 1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2024-10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300" dirty="0">
                          <a:solidFill>
                            <a:schemeClr val="tx1"/>
                          </a:solidFill>
                        </a:rPr>
                        <a:t>2025, 4</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300" dirty="0">
                          <a:solidFill>
                            <a:schemeClr val="tx1"/>
                          </a:solidFill>
                        </a:rPr>
                        <a:t>2025, 12</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2025-09</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14" name="Footnote"/>
          <p:cNvSpPr txBox="1"/>
          <p:nvPr/>
        </p:nvSpPr>
        <p:spPr>
          <a:xfrm>
            <a:off x="548640" y="57150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Illustrative values. Confirm the fiscal mapping with the business before relying on it.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DataFrame is a table you can program</a:t>
            </a:r>
            <a:endParaRPr lang="en-US" sz="3200" dirty="0"/>
          </a:p>
        </p:txBody>
      </p:sp>
      <p:graphicFrame>
        <p:nvGraphicFramePr>
          <p:cNvPr id="46" name="DataFrame illustration"/>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1234440"/>
                <a:gridCol w="1600200"/>
                <a:gridCol w="1554480"/>
                <a:gridCol w="1463040"/>
              </a:tblGrid>
              <a:tr h="365760">
                <a:tc>
                  <a:txBody>
                    <a:bodyPr/>
                    <a:lstStyle/>
                    <a:p>
                      <a:pPr indent="0" marL="0">
                        <a:buNone/>
                      </a:pPr>
                      <a:r>
                        <a:rPr lang="en-US" sz="1300" b="1" dirty="0">
                          <a:solidFill>
                            <a:schemeClr val="bg1"/>
                          </a:solidFill>
                        </a:rPr>
                        <a:t>period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ad_unit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region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impressions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300" b="1" i="1" dirty="0">
                          <a:solidFill>
                            <a:schemeClr val="accent2"/>
                          </a:solidFill>
                        </a:rPr>
                        <a:t>string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i="1" dirty="0">
                          <a:solidFill>
                            <a:schemeClr val="accent2"/>
                          </a:solidFill>
                        </a:rPr>
                        <a:t>string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i="1" dirty="0">
                          <a:solidFill>
                            <a:schemeClr val="accent2"/>
                          </a:solidFill>
                        </a:rPr>
                        <a:t>string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i="1" dirty="0">
                          <a:solidFill>
                            <a:schemeClr val="accent2"/>
                          </a:solidFill>
                        </a:rPr>
                        <a:t>integer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kitchen_tv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600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300" dirty="0">
                          <a:solidFill>
                            <a:schemeClr val="tx1"/>
                          </a:solidFill>
                        </a:rPr>
                        <a:t>2025-01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kitchen_tv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300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Schema caption"/>
          <p:cNvSpPr txBox="1"/>
          <p:nvPr/>
        </p:nvSpPr>
        <p:spPr>
          <a:xfrm>
            <a:off x="548640" y="3246120"/>
            <a:ext cx="5852160" cy="274320"/>
          </a:xfrm>
          <a:prstGeom prst="rect">
            <a:avLst/>
          </a:prstGeom>
          <a:noFill/>
          <a:ln/>
        </p:spPr>
        <p:txBody>
          <a:bodyPr wrap="square" lIns="0" tIns="0" rIns="0" bIns="0" rtlCol="0" anchor="t"/>
          <a:lstStyle/>
          <a:p>
            <a:pPr indent="0" marL="0">
              <a:buNone/>
            </a:pPr>
            <a:r>
              <a:rPr lang="en-US" sz="1250" i="1" dirty="0">
                <a:solidFill>
                  <a:schemeClr val="tx1"/>
                </a:solidFill>
              </a:rPr>
              <a:t>Each column has a name and one type.</a:t>
            </a:r>
            <a:endParaRPr lang="en-US" sz="1250" dirty="0"/>
          </a:p>
        </p:txBody>
      </p:sp>
      <p:sp>
        <p:nvSpPr>
          <p:cNvPr id="7" name="printSchema output"/>
          <p:cNvSpPr/>
          <p:nvPr/>
        </p:nvSpPr>
        <p:spPr>
          <a:xfrm>
            <a:off x="548640" y="3657600"/>
            <a:ext cx="5852160" cy="1828800"/>
          </a:xfrm>
          <a:prstGeom prst="roundRect">
            <a:avLst>
              <a:gd name="adj" fmla="val 5000"/>
            </a:avLst>
          </a:prstGeom>
          <a:solidFill>
            <a:schemeClr val="tx1"/>
          </a:solidFill>
          <a:ln/>
        </p:spPr>
      </p:sp>
      <p:sp>
        <p:nvSpPr>
          <p:cNvPr id="8" name="Code label"/>
          <p:cNvSpPr txBox="1"/>
          <p:nvPr/>
        </p:nvSpPr>
        <p:spPr>
          <a:xfrm>
            <a:off x="749808" y="3749040"/>
            <a:ext cx="54498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IMPR.PRINTSCHEMA()</a:t>
            </a:r>
            <a:endParaRPr lang="en-US" sz="1000" dirty="0"/>
          </a:p>
        </p:txBody>
      </p:sp>
      <p:sp>
        <p:nvSpPr>
          <p:cNvPr id="9" name="printSchema output text"/>
          <p:cNvSpPr txBox="1"/>
          <p:nvPr/>
        </p:nvSpPr>
        <p:spPr>
          <a:xfrm>
            <a:off x="749808" y="4041648"/>
            <a:ext cx="5449824" cy="1335024"/>
          </a:xfrm>
          <a:prstGeom prst="rect">
            <a:avLst/>
          </a:prstGeom>
          <a:noFill/>
          <a:ln/>
        </p:spPr>
        <p:txBody>
          <a:bodyPr wrap="square" lIns="0" tIns="0" rIns="0" bIns="0" rtlCol="0" anchor="t"/>
          <a:lstStyle/>
          <a:p>
            <a:pPr indent="0" marL="0">
              <a:buNone/>
            </a:pPr>
            <a:r>
              <a:rPr lang="en-US" sz="1250" dirty="0">
                <a:solidFill>
                  <a:schemeClr val="bg1"/>
                </a:solidFill>
                <a:latin typeface="Courier New" pitchFamily="34" charset="0"/>
                <a:ea typeface="Courier New" pitchFamily="34" charset="-122"/>
                <a:cs typeface="Courier New" pitchFamily="34" charset="-120"/>
              </a:rPr>
              <a:t>root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period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string</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nullable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true</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ad_unit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string</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nullable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true</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region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string</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nullable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true</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integer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nullable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true</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graphicFrame>
        <p:nvGraphicFramePr>
          <p:cNvPr id="91" name="pandas versus Spark"/>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914400"/>
        </p:xfrm>
        <a:graphic>
          <a:graphicData uri="http://schemas.openxmlformats.org/drawingml/2006/table">
            <a:tbl>
              <a:tblPr/>
              <a:tblGrid>
                <a:gridCol w="1417320"/>
                <a:gridCol w="1737360"/>
                <a:gridCol w="1810512"/>
              </a:tblGrid>
              <a:tr h="384048">
                <a:tc>
                  <a:txBody>
                    <a:bodyPr/>
                    <a:lstStyle/>
                    <a:p>
                      <a:pPr indent="0" marL="0">
                        <a:buNone/>
                      </a:pP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pandas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Spark DataFrame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250" b="1" dirty="0">
                          <a:solidFill>
                            <a:schemeClr val="tx1"/>
                          </a:solidFill>
                        </a:rPr>
                        <a:t>Runs 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One machine's memory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Spread across Spark compute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50" b="1" dirty="0">
                          <a:solidFill>
                            <a:schemeClr val="tx1"/>
                          </a:solidFill>
                        </a:rPr>
                        <a:t>Best for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Small data, quick checks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Large tables, pipeline notebooks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50" b="1" dirty="0">
                          <a:solidFill>
                            <a:schemeClr val="tx1"/>
                          </a:solidFill>
                        </a:rPr>
                        <a:t>In Fabric</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import pandas as pd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spark</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50" b="1" dirty="0">
                          <a:solidFill>
                            <a:schemeClr val="tx1"/>
                          </a:solidFill>
                        </a:rPr>
                        <a:t>Show 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df.head()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display(df)</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1" name="Lazy card"/>
          <p:cNvSpPr/>
          <p:nvPr/>
        </p:nvSpPr>
        <p:spPr>
          <a:xfrm>
            <a:off x="6675120" y="4526280"/>
            <a:ext cx="4965192" cy="960120"/>
          </a:xfrm>
          <a:prstGeom prst="roundRect">
            <a:avLst>
              <a:gd name="adj" fmla="val 11429"/>
            </a:avLst>
          </a:prstGeom>
          <a:solidFill>
            <a:schemeClr val="accent3">
              <a:alpha val="22000"/>
            </a:schemeClr>
          </a:solidFill>
          <a:ln/>
        </p:spPr>
      </p:sp>
      <p:sp>
        <p:nvSpPr>
          <p:cNvPr id="12" name="Lazy text"/>
          <p:cNvSpPr txBox="1"/>
          <p:nvPr/>
        </p:nvSpPr>
        <p:spPr>
          <a:xfrm>
            <a:off x="6858000" y="4526280"/>
            <a:ext cx="4617720" cy="960120"/>
          </a:xfrm>
          <a:prstGeom prst="rect">
            <a:avLst/>
          </a:prstGeom>
          <a:noFill/>
          <a:ln/>
        </p:spPr>
        <p:txBody>
          <a:bodyPr wrap="square" lIns="0" tIns="0" rIns="0" bIns="0" rtlCol="0" anchor="ctr"/>
          <a:lstStyle/>
          <a:p>
            <a:pPr indent="0" marL="0">
              <a:buNone/>
            </a:pPr>
            <a:r>
              <a:rPr lang="en-US" sz="1350" b="1" dirty="0">
                <a:solidFill>
                  <a:schemeClr val="tx1"/>
                </a:solidFill>
              </a:rPr>
              <a:t>Spark is lazy. </a:t>
            </a:r>
            <a:pPr indent="0" marL="0">
              <a:buNone/>
            </a:pPr>
            <a:r>
              <a:rPr lang="en-US" sz="1350" dirty="0">
                <a:solidFill>
                  <a:schemeClr val="tx1"/>
                </a:solidFill>
              </a:rPr>
              <a:t>It builds a plan and runs it only when you ask for a result: display, count or write.</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Read, look, write: the loop you will repeat all day</a:t>
            </a:r>
            <a:endParaRPr lang="en-US" sz="3200" dirty="0"/>
          </a:p>
        </p:txBody>
      </p:sp>
      <p:sp>
        <p:nvSpPr>
          <p:cNvPr id="5" name="Read look write"/>
          <p:cNvSpPr/>
          <p:nvPr/>
        </p:nvSpPr>
        <p:spPr>
          <a:xfrm>
            <a:off x="548640" y="1783080"/>
            <a:ext cx="6675120" cy="3749040"/>
          </a:xfrm>
          <a:prstGeom prst="roundRect">
            <a:avLst>
              <a:gd name="adj" fmla="val 2439"/>
            </a:avLst>
          </a:prstGeom>
          <a:solidFill>
            <a:schemeClr val="tx1"/>
          </a:solidFill>
          <a:ln/>
        </p:spPr>
      </p:sp>
      <p:sp>
        <p:nvSpPr>
          <p:cNvPr id="6" name="Code label"/>
          <p:cNvSpPr txBox="1"/>
          <p:nvPr/>
        </p:nvSpPr>
        <p:spPr>
          <a:xfrm>
            <a:off x="749808" y="1874520"/>
            <a:ext cx="62727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PYTHON</a:t>
            </a:r>
            <a:endParaRPr lang="en-US" sz="1000" dirty="0"/>
          </a:p>
        </p:txBody>
      </p:sp>
      <p:sp>
        <p:nvSpPr>
          <p:cNvPr id="7" name="Read look write text"/>
          <p:cNvSpPr txBox="1"/>
          <p:nvPr/>
        </p:nvSpPr>
        <p:spPr>
          <a:xfrm>
            <a:off x="749808" y="2167128"/>
            <a:ext cx="6272784" cy="3255264"/>
          </a:xfrm>
          <a:prstGeom prst="rect">
            <a:avLst/>
          </a:prstGeom>
          <a:noFill/>
          <a:ln/>
        </p:spPr>
        <p:txBody>
          <a:bodyPr wrap="square" lIns="0" tIns="0" rIns="0" bIns="0" rtlCol="0" anchor="t"/>
          <a:lstStyle/>
          <a:p>
            <a:pPr indent="0" marL="0">
              <a:buNone/>
            </a:pPr>
            <a:r>
              <a:rPr lang="en-US" sz="1250" i="1" dirty="0">
                <a:solidFill>
                  <a:schemeClr val="accent5"/>
                </a:solidFill>
                <a:latin typeface="Courier New" pitchFamily="34" charset="0"/>
                <a:ea typeface="Courier New" pitchFamily="34" charset="-122"/>
                <a:cs typeface="Courier New" pitchFamily="34" charset="-120"/>
              </a:rPr>
              <a:t># 1. Read: a table, or files in the lakehouse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impr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spark</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read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table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"bronze_impressions"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gam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spark</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read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option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"header"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True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csv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"Files/raw/gam_reports/2025/"</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i="1" dirty="0">
                <a:solidFill>
                  <a:schemeClr val="accent5"/>
                </a:solidFill>
                <a:latin typeface="Courier New" pitchFamily="34" charset="0"/>
                <a:ea typeface="Courier New" pitchFamily="34" charset="-122"/>
                <a:cs typeface="Courier New" pitchFamily="34" charset="-120"/>
              </a:rPr>
              <a:t># 2. Look: inspect before you transform</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impr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printSchema</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display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limit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6"/>
                </a:solidFill>
                <a:latin typeface="Courier New" pitchFamily="34" charset="0"/>
                <a:ea typeface="Courier New" pitchFamily="34" charset="-122"/>
                <a:cs typeface="Courier New" pitchFamily="34" charset="-120"/>
              </a:rPr>
              <a:t>10</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print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impr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count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i="1" dirty="0">
                <a:solidFill>
                  <a:schemeClr val="accent5"/>
                </a:solidFill>
                <a:latin typeface="Courier New" pitchFamily="34" charset="0"/>
                <a:ea typeface="Courier New" pitchFamily="34" charset="-122"/>
                <a:cs typeface="Courier New" pitchFamily="34" charset="-120"/>
              </a:rPr>
              <a:t># 3. Write: results go back to a table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impr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write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mode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"overwrite"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saveAsTable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"silver_impressions"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8" name="Read card"/>
          <p:cNvSpPr/>
          <p:nvPr/>
        </p:nvSpPr>
        <p:spPr>
          <a:xfrm>
            <a:off x="7498080" y="1783080"/>
            <a:ext cx="4142232" cy="1170432"/>
          </a:xfrm>
          <a:prstGeom prst="roundRect">
            <a:avLst>
              <a:gd name="adj" fmla="val 9375"/>
            </a:avLst>
          </a:prstGeom>
          <a:solidFill>
            <a:schemeClr val="bg2"/>
          </a:solidFill>
          <a:ln/>
        </p:spPr>
      </p:sp>
      <p:sp>
        <p:nvSpPr>
          <p:cNvPr id="9" name="Read badge"/>
          <p:cNvSpPr/>
          <p:nvPr/>
        </p:nvSpPr>
        <p:spPr>
          <a:xfrm>
            <a:off x="7680960" y="2057400"/>
            <a:ext cx="502920" cy="502920"/>
          </a:xfrm>
          <a:prstGeom prst="ellipse">
            <a:avLst/>
          </a:prstGeom>
          <a:solidFill>
            <a:schemeClr val="accent1"/>
          </a:solidFill>
          <a:ln/>
        </p:spPr>
      </p:sp>
      <p:pic>
        <p:nvPicPr>
          <p:cNvPr id="10" name="Image 0" descr="Read icon">    </p:cNvPr>
          <p:cNvPicPr>
            <a:picLocks noChangeAspect="1"/>
          </p:cNvPicPr>
          <p:nvPr/>
        </p:nvPicPr>
        <p:blipFill>
          <a:blip r:embed="rId1"/>
          <a:stretch>
            <a:fillRect/>
          </a:stretch>
        </p:blipFill>
        <p:spPr>
          <a:xfrm>
            <a:off x="7806690" y="2183130"/>
            <a:ext cx="251460" cy="251460"/>
          </a:xfrm>
          <a:prstGeom prst="rect">
            <a:avLst/>
          </a:prstGeom>
        </p:spPr>
      </p:pic>
      <p:sp>
        <p:nvSpPr>
          <p:cNvPr id="11" name="Step name"/>
          <p:cNvSpPr txBox="1"/>
          <p:nvPr/>
        </p:nvSpPr>
        <p:spPr>
          <a:xfrm>
            <a:off x="8366760" y="1874520"/>
            <a:ext cx="315468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Read</a:t>
            </a:r>
            <a:endParaRPr lang="en-US" sz="1600" dirty="0"/>
          </a:p>
        </p:txBody>
      </p:sp>
      <p:sp>
        <p:nvSpPr>
          <p:cNvPr id="12" name="Step text"/>
          <p:cNvSpPr txBox="1"/>
          <p:nvPr/>
        </p:nvSpPr>
        <p:spPr>
          <a:xfrm>
            <a:off x="8366760" y="2194560"/>
            <a:ext cx="3154680" cy="731520"/>
          </a:xfrm>
          <a:prstGeom prst="rect">
            <a:avLst/>
          </a:prstGeom>
          <a:noFill/>
          <a:ln/>
        </p:spPr>
        <p:txBody>
          <a:bodyPr wrap="square" lIns="0" tIns="0" rIns="0" bIns="0" rtlCol="0" anchor="t"/>
          <a:lstStyle/>
          <a:p>
            <a:pPr indent="0" marL="0">
              <a:buNone/>
            </a:pPr>
            <a:r>
              <a:rPr lang="en-US" sz="1250" dirty="0">
                <a:solidFill>
                  <a:schemeClr val="tx1"/>
                </a:solidFill>
              </a:rPr>
              <a:t>Table names and Files paths resolve against the notebook's attached lakehouse.</a:t>
            </a:r>
            <a:endParaRPr lang="en-US" sz="1250" dirty="0"/>
          </a:p>
        </p:txBody>
      </p:sp>
      <p:sp>
        <p:nvSpPr>
          <p:cNvPr id="13" name="Look card"/>
          <p:cNvSpPr/>
          <p:nvPr/>
        </p:nvSpPr>
        <p:spPr>
          <a:xfrm>
            <a:off x="7498080" y="3063240"/>
            <a:ext cx="4142232" cy="1170432"/>
          </a:xfrm>
          <a:prstGeom prst="roundRect">
            <a:avLst>
              <a:gd name="adj" fmla="val 9375"/>
            </a:avLst>
          </a:prstGeom>
          <a:solidFill>
            <a:schemeClr val="bg2"/>
          </a:solidFill>
          <a:ln/>
        </p:spPr>
      </p:sp>
      <p:sp>
        <p:nvSpPr>
          <p:cNvPr id="14" name="Look badge"/>
          <p:cNvSpPr/>
          <p:nvPr/>
        </p:nvSpPr>
        <p:spPr>
          <a:xfrm>
            <a:off x="7680960" y="3337560"/>
            <a:ext cx="502920" cy="502920"/>
          </a:xfrm>
          <a:prstGeom prst="ellipse">
            <a:avLst/>
          </a:prstGeom>
          <a:solidFill>
            <a:schemeClr val="accent2"/>
          </a:solidFill>
          <a:ln/>
        </p:spPr>
      </p:sp>
      <p:pic>
        <p:nvPicPr>
          <p:cNvPr id="15" name="Image 1" descr="Look icon">    </p:cNvPr>
          <p:cNvPicPr>
            <a:picLocks noChangeAspect="1"/>
          </p:cNvPicPr>
          <p:nvPr/>
        </p:nvPicPr>
        <p:blipFill>
          <a:blip r:embed="rId2"/>
          <a:stretch>
            <a:fillRect/>
          </a:stretch>
        </p:blipFill>
        <p:spPr>
          <a:xfrm>
            <a:off x="7806690" y="3463290"/>
            <a:ext cx="251460" cy="251460"/>
          </a:xfrm>
          <a:prstGeom prst="rect">
            <a:avLst/>
          </a:prstGeom>
        </p:spPr>
      </p:pic>
      <p:sp>
        <p:nvSpPr>
          <p:cNvPr id="16" name="Step name"/>
          <p:cNvSpPr txBox="1"/>
          <p:nvPr/>
        </p:nvSpPr>
        <p:spPr>
          <a:xfrm>
            <a:off x="8366760" y="3154680"/>
            <a:ext cx="315468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Look</a:t>
            </a:r>
            <a:endParaRPr lang="en-US" sz="1600" dirty="0"/>
          </a:p>
        </p:txBody>
      </p:sp>
      <p:sp>
        <p:nvSpPr>
          <p:cNvPr id="17" name="Step text"/>
          <p:cNvSpPr txBox="1"/>
          <p:nvPr/>
        </p:nvSpPr>
        <p:spPr>
          <a:xfrm>
            <a:off x="8366760" y="3474720"/>
            <a:ext cx="3154680" cy="731520"/>
          </a:xfrm>
          <a:prstGeom prst="rect">
            <a:avLst/>
          </a:prstGeom>
          <a:noFill/>
          <a:ln/>
        </p:spPr>
        <p:txBody>
          <a:bodyPr wrap="square" lIns="0" tIns="0" rIns="0" bIns="0" rtlCol="0" anchor="t"/>
          <a:lstStyle/>
          <a:p>
            <a:pPr indent="0" marL="0">
              <a:buNone/>
            </a:pPr>
            <a:r>
              <a:rPr lang="en-US" sz="1250" dirty="0">
                <a:solidFill>
                  <a:schemeClr val="tx1"/>
                </a:solidFill>
              </a:rPr>
              <a:t>Inspect the schema and a few rows before you transform anything.</a:t>
            </a:r>
            <a:endParaRPr lang="en-US" sz="1250" dirty="0"/>
          </a:p>
        </p:txBody>
      </p:sp>
      <p:sp>
        <p:nvSpPr>
          <p:cNvPr id="18" name="Write card"/>
          <p:cNvSpPr/>
          <p:nvPr/>
        </p:nvSpPr>
        <p:spPr>
          <a:xfrm>
            <a:off x="7498080" y="4343400"/>
            <a:ext cx="4142232" cy="1170432"/>
          </a:xfrm>
          <a:prstGeom prst="roundRect">
            <a:avLst>
              <a:gd name="adj" fmla="val 9375"/>
            </a:avLst>
          </a:prstGeom>
          <a:solidFill>
            <a:schemeClr val="bg2"/>
          </a:solidFill>
          <a:ln/>
        </p:spPr>
      </p:sp>
      <p:sp>
        <p:nvSpPr>
          <p:cNvPr id="19" name="Write badge"/>
          <p:cNvSpPr/>
          <p:nvPr/>
        </p:nvSpPr>
        <p:spPr>
          <a:xfrm>
            <a:off x="7680960" y="4617720"/>
            <a:ext cx="502920" cy="502920"/>
          </a:xfrm>
          <a:prstGeom prst="ellipse">
            <a:avLst/>
          </a:prstGeom>
          <a:solidFill>
            <a:schemeClr val="tx2"/>
          </a:solidFill>
          <a:ln/>
        </p:spPr>
      </p:sp>
      <p:pic>
        <p:nvPicPr>
          <p:cNvPr id="20" name="Image 2" descr="Write icon">    </p:cNvPr>
          <p:cNvPicPr>
            <a:picLocks noChangeAspect="1"/>
          </p:cNvPicPr>
          <p:nvPr/>
        </p:nvPicPr>
        <p:blipFill>
          <a:blip r:embed="rId3"/>
          <a:stretch>
            <a:fillRect/>
          </a:stretch>
        </p:blipFill>
        <p:spPr>
          <a:xfrm>
            <a:off x="7806690" y="4743450"/>
            <a:ext cx="251460" cy="251460"/>
          </a:xfrm>
          <a:prstGeom prst="rect">
            <a:avLst/>
          </a:prstGeom>
        </p:spPr>
      </p:pic>
      <p:sp>
        <p:nvSpPr>
          <p:cNvPr id="21" name="Step name"/>
          <p:cNvSpPr txBox="1"/>
          <p:nvPr/>
        </p:nvSpPr>
        <p:spPr>
          <a:xfrm>
            <a:off x="8366760" y="4434840"/>
            <a:ext cx="3154680" cy="27432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Write</a:t>
            </a:r>
            <a:endParaRPr lang="en-US" sz="1600" dirty="0"/>
          </a:p>
        </p:txBody>
      </p:sp>
      <p:sp>
        <p:nvSpPr>
          <p:cNvPr id="22" name="Step text"/>
          <p:cNvSpPr txBox="1"/>
          <p:nvPr/>
        </p:nvSpPr>
        <p:spPr>
          <a:xfrm>
            <a:off x="8366760" y="4754880"/>
            <a:ext cx="3154680" cy="731520"/>
          </a:xfrm>
          <a:prstGeom prst="rect">
            <a:avLst/>
          </a:prstGeom>
          <a:noFill/>
          <a:ln/>
        </p:spPr>
        <p:txBody>
          <a:bodyPr wrap="square" lIns="0" tIns="0" rIns="0" bIns="0" rtlCol="0" anchor="t"/>
          <a:lstStyle/>
          <a:p>
            <a:pPr indent="0" marL="0">
              <a:buNone/>
            </a:pPr>
            <a:r>
              <a:rPr lang="en-US" sz="1250" dirty="0">
                <a:solidFill>
                  <a:schemeClr val="tx1"/>
                </a:solidFill>
              </a:rPr>
              <a:t>overwrite replaces the table. append adds rows, so a rerun duplicates data.</a:t>
            </a:r>
            <a:endParaRPr lang="en-US" sz="1250" dirty="0"/>
          </a:p>
        </p:txBody>
      </p:sp>
      <p:sp>
        <p:nvSpPr>
          <p:cNvPr id="23" name="Takeaway"/>
          <p:cNvSpPr txBox="1"/>
          <p:nvPr/>
        </p:nvSpPr>
        <p:spPr>
          <a:xfrm>
            <a:off x="548640" y="562356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Every notebook is read, transform, write. Only the transform changes.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DST rules, written in PySpark</a:t>
            </a:r>
            <a:endParaRPr lang="en-US" sz="3200" dirty="0"/>
          </a:p>
        </p:txBody>
      </p:sp>
      <p:sp>
        <p:nvSpPr>
          <p:cNvPr id="5" name="Alteryx rule card"/>
          <p:cNvSpPr/>
          <p:nvPr/>
        </p:nvSpPr>
        <p:spPr>
          <a:xfrm>
            <a:off x="548640" y="1783080"/>
            <a:ext cx="4937760" cy="1600200"/>
          </a:xfrm>
          <a:prstGeom prst="roundRect">
            <a:avLst>
              <a:gd name="adj" fmla="val 6857"/>
            </a:avLst>
          </a:prstGeom>
          <a:solidFill>
            <a:schemeClr val="bg2"/>
          </a:solidFill>
          <a:ln/>
        </p:spPr>
      </p:sp>
      <p:sp>
        <p:nvSpPr>
          <p:cNvPr id="6" name="Rules label"/>
          <p:cNvSpPr txBox="1"/>
          <p:nvPr/>
        </p:nvSpPr>
        <p:spPr>
          <a:xfrm>
            <a:off x="731520" y="1874520"/>
            <a:ext cx="45720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THE RULES IN ALTERYX TODAY</a:t>
            </a:r>
            <a:endParaRPr lang="en-US" sz="1000" dirty="0"/>
          </a:p>
        </p:txBody>
      </p:sp>
      <p:sp>
        <p:nvSpPr>
          <p:cNvPr id="7" name="Alteryx rules text"/>
          <p:cNvSpPr txBox="1"/>
          <p:nvPr/>
        </p:nvSpPr>
        <p:spPr>
          <a:xfrm>
            <a:off x="731520" y="2148840"/>
            <a:ext cx="4572000" cy="1188720"/>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Is NA = if IsNull([Region])</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or [Region] in ("N/A","NO REGION")</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then "N/A" endif</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Entity = "Unmapped" when no match</a:t>
            </a:r>
            <a:endParaRPr lang="en-US" sz="1150" dirty="0"/>
          </a:p>
        </p:txBody>
      </p:sp>
      <p:sp>
        <p:nvSpPr>
          <p:cNvPr id="8" name="Result label"/>
          <p:cNvSpPr txBox="1"/>
          <p:nvPr/>
        </p:nvSpPr>
        <p:spPr>
          <a:xfrm>
            <a:off x="548640" y="3520440"/>
            <a:ext cx="45720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RESULT ON THE PRACTICE DATA</a:t>
            </a:r>
            <a:endParaRPr lang="en-US" sz="1000" dirty="0"/>
          </a:p>
        </p:txBody>
      </p:sp>
      <p:graphicFrame>
        <p:nvGraphicFramePr>
          <p:cNvPr id="48" name="Mapped result"/>
          <p:cNvGraphicFramePr>
            <a:graphicFrameLocks noGrp="1"/>
          </p:cNvGraphicFramePr>
          <p:nvPr>
            <p:extLst>
              <p:ext uri="{D42A27DB-BD31-4B8C-83A1-F6EECF244321}">
                <p14:modId xmlns:p14="http://schemas.microsoft.com/office/powerpoint/2010/main" val="1579011935"/>
              </p:ext>
            </p:extLst>
          </p:nvPr>
        </p:nvGraphicFramePr>
        <p:xfrm>
          <a:off x="548640" y="3767328"/>
          <a:ext cx="4937760" cy="914400"/>
        </p:xfrm>
        <a:graphic>
          <a:graphicData uri="http://schemas.openxmlformats.org/drawingml/2006/table">
            <a:tbl>
              <a:tblPr/>
              <a:tblGrid>
                <a:gridCol w="1371600"/>
                <a:gridCol w="1097280"/>
                <a:gridCol w="1280160"/>
                <a:gridCol w="1188720"/>
              </a:tblGrid>
              <a:tr h="269748">
                <a:tc>
                  <a:txBody>
                    <a:bodyPr/>
                    <a:lstStyle/>
                    <a:p>
                      <a:pPr indent="0" marL="0">
                        <a:buNone/>
                      </a:pPr>
                      <a:r>
                        <a:rPr lang="en-US" sz="1150" b="1" dirty="0">
                          <a:solidFill>
                            <a:schemeClr val="bg1"/>
                          </a:solidFill>
                        </a:rPr>
                        <a:t>ad_unit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region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entity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is_na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251460">
                <a:tc>
                  <a:txBody>
                    <a:bodyPr/>
                    <a:lstStyle/>
                    <a:p>
                      <a:pPr indent="0" marL="0">
                        <a:buNone/>
                      </a:pPr>
                      <a:r>
                        <a:rPr lang="en-US" sz="1150" dirty="0">
                          <a:solidFill>
                            <a:schemeClr val="tx1"/>
                          </a:solidFill>
                        </a:rPr>
                        <a:t>kitchen_tv</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CA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Entity 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false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51460">
                <a:tc>
                  <a:txBody>
                    <a:bodyPr/>
                    <a:lstStyle/>
                    <a:p>
                      <a:pPr indent="0" marL="0">
                        <a:buNone/>
                      </a:pPr>
                      <a:r>
                        <a:rPr lang="en-US" sz="1150" dirty="0">
                          <a:solidFill>
                            <a:schemeClr val="tx1"/>
                          </a:solidFill>
                        </a:rPr>
                        <a:t>kitchen_tv</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NY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Entity 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false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251460">
                <a:tc>
                  <a:txBody>
                    <a:bodyPr/>
                    <a:lstStyle/>
                    <a:p>
                      <a:pPr indent="0" marL="0">
                        <a:buNone/>
                      </a:pPr>
                      <a:r>
                        <a:rPr lang="en-US" sz="1150" dirty="0">
                          <a:solidFill>
                            <a:schemeClr val="tx1"/>
                          </a:solidFill>
                        </a:rPr>
                        <a:t>kitchen_tv</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2">
                        <a:alpha val="30000"/>
                      </a:schemeClr>
                    </a:solidFill>
                  </a:tcPr>
                </a:tc>
                <a:tc>
                  <a:txBody>
                    <a:bodyPr/>
                    <a:lstStyle/>
                    <a:p>
                      <a:pPr indent="0" marL="0">
                        <a:buNone/>
                      </a:pPr>
                      <a:r>
                        <a:rPr lang="en-US" sz="1150" i="1" dirty="0">
                          <a:solidFill>
                            <a:schemeClr val="accent5"/>
                          </a:solidFill>
                        </a:rPr>
                        <a:t>NULL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2">
                        <a:alpha val="30000"/>
                      </a:schemeClr>
                    </a:solidFill>
                  </a:tcPr>
                </a:tc>
                <a:tc>
                  <a:txBody>
                    <a:bodyPr/>
                    <a:lstStyle/>
                    <a:p>
                      <a:pPr indent="0" marL="0">
                        <a:buNone/>
                      </a:pPr>
                      <a:r>
                        <a:rPr lang="en-US" sz="1150" dirty="0">
                          <a:solidFill>
                            <a:schemeClr val="tx1"/>
                          </a:solidFill>
                        </a:rPr>
                        <a:t>Entity 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2">
                        <a:alpha val="30000"/>
                      </a:schemeClr>
                    </a:solidFill>
                  </a:tcPr>
                </a:tc>
                <a:tc>
                  <a:txBody>
                    <a:bodyPr/>
                    <a:lstStyle/>
                    <a:p>
                      <a:pPr indent="0" marL="0">
                        <a:buNone/>
                      </a:pPr>
                      <a:r>
                        <a:rPr lang="en-US" sz="1150" dirty="0">
                          <a:solidFill>
                            <a:schemeClr val="tx1"/>
                          </a:solidFill>
                        </a:rPr>
                        <a:t>true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2">
                        <a:alpha val="30000"/>
                      </a:schemeClr>
                    </a:solidFill>
                  </a:tcPr>
                </a:tc>
              </a:tr>
              <a:tr h="251460">
                <a:tc>
                  <a:txBody>
                    <a:bodyPr/>
                    <a:lstStyle/>
                    <a:p>
                      <a:pPr indent="0" marL="0">
                        <a:buNone/>
                      </a:pPr>
                      <a:r>
                        <a:rPr lang="en-US" sz="1150" dirty="0">
                          <a:solidFill>
                            <a:schemeClr val="tx1"/>
                          </a:solidFill>
                        </a:rPr>
                        <a:t>sports_hub</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CA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Entity B</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false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251460">
                <a:tc>
                  <a:txBody>
                    <a:bodyPr/>
                    <a:lstStyle/>
                    <a:p>
                      <a:pPr indent="0" marL="0">
                        <a:buNone/>
                      </a:pPr>
                      <a:r>
                        <a:rPr lang="en-US" sz="1150" dirty="0">
                          <a:solidFill>
                            <a:schemeClr val="tx1"/>
                          </a:solidFill>
                        </a:rPr>
                        <a:t>sports_hub</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TX</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Entity B</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false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51460">
                <a:tc>
                  <a:txBody>
                    <a:bodyPr/>
                    <a:lstStyle/>
                    <a:p>
                      <a:pPr indent="0" marL="0">
                        <a:buNone/>
                      </a:pPr>
                      <a:r>
                        <a:rPr lang="en-US" sz="1150" dirty="0">
                          <a:solidFill>
                            <a:schemeClr val="tx1"/>
                          </a:solidFill>
                        </a:rPr>
                        <a:t>sports_hub</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2">
                        <a:alpha val="30000"/>
                      </a:schemeClr>
                    </a:solidFill>
                  </a:tcPr>
                </a:tc>
                <a:tc>
                  <a:txBody>
                    <a:bodyPr/>
                    <a:lstStyle/>
                    <a:p>
                      <a:pPr indent="0" marL="0">
                        <a:buNone/>
                      </a:pPr>
                      <a:r>
                        <a:rPr lang="en-US" sz="1150" dirty="0">
                          <a:solidFill>
                            <a:schemeClr val="tx1"/>
                          </a:solidFill>
                        </a:rPr>
                        <a:t>NO REGION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2">
                        <a:alpha val="30000"/>
                      </a:schemeClr>
                    </a:solidFill>
                  </a:tcPr>
                </a:tc>
                <a:tc>
                  <a:txBody>
                    <a:bodyPr/>
                    <a:lstStyle/>
                    <a:p>
                      <a:pPr indent="0" marL="0">
                        <a:buNone/>
                      </a:pPr>
                      <a:r>
                        <a:rPr lang="en-US" sz="1150" dirty="0">
                          <a:solidFill>
                            <a:schemeClr val="tx1"/>
                          </a:solidFill>
                        </a:rPr>
                        <a:t>Entity B</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2">
                        <a:alpha val="30000"/>
                      </a:schemeClr>
                    </a:solidFill>
                  </a:tcPr>
                </a:tc>
                <a:tc>
                  <a:txBody>
                    <a:bodyPr/>
                    <a:lstStyle/>
                    <a:p>
                      <a:pPr indent="0" marL="0">
                        <a:buNone/>
                      </a:pPr>
                      <a:r>
                        <a:rPr lang="en-US" sz="1150" dirty="0">
                          <a:solidFill>
                            <a:schemeClr val="tx1"/>
                          </a:solidFill>
                        </a:rPr>
                        <a:t>true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2">
                        <a:alpha val="30000"/>
                      </a:schemeClr>
                    </a:solidFill>
                  </a:tcPr>
                </a:tc>
              </a:tr>
              <a:tr h="251460">
                <a:tc>
                  <a:txBody>
                    <a:bodyPr/>
                    <a:lstStyle/>
                    <a:p>
                      <a:pPr indent="0" marL="0">
                        <a:buNone/>
                      </a:pPr>
                      <a:r>
                        <a:rPr lang="en-US" sz="1150" dirty="0">
                          <a:solidFill>
                            <a:schemeClr val="tx1"/>
                          </a:solidFill>
                        </a:rPr>
                        <a:t>mystery_unit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150" dirty="0">
                          <a:solidFill>
                            <a:schemeClr val="tx1"/>
                          </a:solidFill>
                        </a:rPr>
                        <a:t>CA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150" dirty="0">
                          <a:solidFill>
                            <a:schemeClr val="tx1"/>
                          </a:solidFill>
                        </a:rPr>
                        <a:t>Unmapped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c>
                  <a:txBody>
                    <a:bodyPr/>
                    <a:lstStyle/>
                    <a:p>
                      <a:pPr indent="0" marL="0">
                        <a:buNone/>
                      </a:pPr>
                      <a:r>
                        <a:rPr lang="en-US" sz="1150" dirty="0">
                          <a:solidFill>
                            <a:schemeClr val="tx1"/>
                          </a:solidFill>
                        </a:rPr>
                        <a:t>false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3">
                        <a:alpha val="30000"/>
                      </a:schemeClr>
                    </a:solidFill>
                  </a:tcPr>
                </a:tc>
              </a:tr>
            </a:tbl>
          </a:graphicData>
        </a:graphic>
      </p:graphicFrame>
      <p:sp>
        <p:nvSpPr>
          <p:cNvPr id="10" name="Silver code"/>
          <p:cNvSpPr/>
          <p:nvPr/>
        </p:nvSpPr>
        <p:spPr>
          <a:xfrm>
            <a:off x="5760720" y="1783080"/>
            <a:ext cx="5879592" cy="2834640"/>
          </a:xfrm>
          <a:prstGeom prst="roundRect">
            <a:avLst>
              <a:gd name="adj" fmla="val 3226"/>
            </a:avLst>
          </a:prstGeom>
          <a:solidFill>
            <a:schemeClr val="tx1"/>
          </a:solidFill>
          <a:ln/>
        </p:spPr>
      </p:sp>
      <p:sp>
        <p:nvSpPr>
          <p:cNvPr id="11" name="Code label"/>
          <p:cNvSpPr txBox="1"/>
          <p:nvPr/>
        </p:nvSpPr>
        <p:spPr>
          <a:xfrm>
            <a:off x="5961888" y="1874520"/>
            <a:ext cx="5477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PYSPARK</a:t>
            </a:r>
            <a:endParaRPr lang="en-US" sz="1000" dirty="0"/>
          </a:p>
        </p:txBody>
      </p:sp>
      <p:sp>
        <p:nvSpPr>
          <p:cNvPr id="12" name="Silver code text"/>
          <p:cNvSpPr txBox="1"/>
          <p:nvPr/>
        </p:nvSpPr>
        <p:spPr>
          <a:xfrm>
            <a:off x="5961888" y="2167128"/>
            <a:ext cx="5477256" cy="2340864"/>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from</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pyspark</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sql</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import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functions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as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mapped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impr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join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amap</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"ad_unit"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"left"</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withColumn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"entity"</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coalesce</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"entity"</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lit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"Unmapped"</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withColumn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"is_na"</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coalesce</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"region"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F</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lit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"N/A"</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isin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accent3"/>
                </a:solidFill>
                <a:latin typeface="Courier New" pitchFamily="34" charset="0"/>
                <a:ea typeface="Courier New" pitchFamily="34" charset="-122"/>
                <a:cs typeface="Courier New" pitchFamily="34" charset="-120"/>
              </a:rPr>
              <a:t>"N/A"</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3"/>
                </a:solidFill>
                <a:latin typeface="Courier New" pitchFamily="34" charset="0"/>
                <a:ea typeface="Courier New" pitchFamily="34" charset="-122"/>
                <a:cs typeface="Courier New" pitchFamily="34" charset="-120"/>
              </a:rPr>
              <a:t>"NO REGION"</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13" name="Readable rules card"/>
          <p:cNvSpPr/>
          <p:nvPr/>
        </p:nvSpPr>
        <p:spPr>
          <a:xfrm>
            <a:off x="5760720" y="4754880"/>
            <a:ext cx="5879592" cy="777240"/>
          </a:xfrm>
          <a:prstGeom prst="roundRect">
            <a:avLst>
              <a:gd name="adj" fmla="val 14118"/>
            </a:avLst>
          </a:prstGeom>
          <a:solidFill>
            <a:schemeClr val="accent2">
              <a:alpha val="20000"/>
            </a:schemeClr>
          </a:solidFill>
          <a:ln/>
        </p:spPr>
      </p:sp>
      <p:sp>
        <p:nvSpPr>
          <p:cNvPr id="14" name="Readable rules text"/>
          <p:cNvSpPr txBox="1"/>
          <p:nvPr/>
        </p:nvSpPr>
        <p:spPr>
          <a:xfrm>
            <a:off x="5989320" y="4754880"/>
            <a:ext cx="5486400" cy="777240"/>
          </a:xfrm>
          <a:prstGeom prst="rect">
            <a:avLst/>
          </a:prstGeom>
          <a:noFill/>
          <a:ln/>
        </p:spPr>
        <p:txBody>
          <a:bodyPr wrap="square" lIns="0" tIns="0" rIns="0" bIns="0" rtlCol="0" anchor="ctr"/>
          <a:lstStyle/>
          <a:p>
            <a:pPr indent="0" marL="0">
              <a:buNone/>
            </a:pPr>
            <a:r>
              <a:rPr lang="en-US" sz="1400" b="1" dirty="0">
                <a:solidFill>
                  <a:schemeClr val="tx1"/>
                </a:solidFill>
              </a:rPr>
              <a:t>Same rules as the Formula tool, now readable, reviewable and testable.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apportionment, in a dozen lines</a:t>
            </a:r>
            <a:endParaRPr lang="en-US" sz="3200" dirty="0"/>
          </a:p>
        </p:txBody>
      </p:sp>
      <p:sp>
        <p:nvSpPr>
          <p:cNvPr id="5" name="Gold code"/>
          <p:cNvSpPr/>
          <p:nvPr/>
        </p:nvSpPr>
        <p:spPr>
          <a:xfrm>
            <a:off x="548640" y="1783080"/>
            <a:ext cx="6675120" cy="3749040"/>
          </a:xfrm>
          <a:prstGeom prst="roundRect">
            <a:avLst>
              <a:gd name="adj" fmla="val 2439"/>
            </a:avLst>
          </a:prstGeom>
          <a:solidFill>
            <a:schemeClr val="tx1"/>
          </a:solidFill>
          <a:ln/>
        </p:spPr>
      </p:sp>
      <p:sp>
        <p:nvSpPr>
          <p:cNvPr id="6" name="Code label"/>
          <p:cNvSpPr txBox="1"/>
          <p:nvPr/>
        </p:nvSpPr>
        <p:spPr>
          <a:xfrm>
            <a:off x="749808" y="1874520"/>
            <a:ext cx="62727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PYSPARK</a:t>
            </a:r>
            <a:endParaRPr lang="en-US" sz="1000" dirty="0"/>
          </a:p>
        </p:txBody>
      </p:sp>
      <p:sp>
        <p:nvSpPr>
          <p:cNvPr id="7" name="Gold code text"/>
          <p:cNvSpPr txBox="1"/>
          <p:nvPr/>
        </p:nvSpPr>
        <p:spPr>
          <a:xfrm>
            <a:off x="749808" y="2167128"/>
            <a:ext cx="6272784" cy="3255264"/>
          </a:xfrm>
          <a:prstGeom prst="rect">
            <a:avLst/>
          </a:prstGeom>
          <a:noFill/>
          <a:ln/>
        </p:spPr>
        <p:txBody>
          <a:bodyPr wrap="square" lIns="0" tIns="0" rIns="0" bIns="0" rtlCol="0" anchor="t"/>
          <a:lstStyle/>
          <a:p>
            <a:pPr indent="0" marL="0">
              <a:buNone/>
            </a:pPr>
            <a:r>
              <a:rPr lang="en-US" sz="1250" dirty="0">
                <a:solidFill>
                  <a:schemeClr val="accent2"/>
                </a:solidFill>
                <a:latin typeface="Courier New" pitchFamily="34" charset="0"/>
                <a:ea typeface="Courier New" pitchFamily="34" charset="-122"/>
                <a:cs typeface="Courier New" pitchFamily="34" charset="-120"/>
              </a:rPr>
              <a:t>from</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pyspark</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sql</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2"/>
                </a:solidFill>
                <a:latin typeface="Courier New" pitchFamily="34" charset="0"/>
                <a:ea typeface="Courier New" pitchFamily="34" charset="-122"/>
                <a:cs typeface="Courier New" pitchFamily="34" charset="-120"/>
              </a:rPr>
              <a:t>import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Window</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w</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Window</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partitionBy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"period"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share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mapped</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filter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col</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"is_na"</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&amp;</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col</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"Unmapped"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withColumn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"share"</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col</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sum</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"impressions"</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over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w</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gold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share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join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rev</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"period"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"entity"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withColumn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"apportioned"</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round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col</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"amount"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col</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"share"</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6"/>
                </a:solidFill>
                <a:latin typeface="Courier New" pitchFamily="34" charset="0"/>
                <a:ea typeface="Courier New" pitchFamily="34" charset="-122"/>
                <a:cs typeface="Courier New" pitchFamily="34" charset="-120"/>
              </a:rPr>
              <a:t>2</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8" name="Result label"/>
          <p:cNvSpPr txBox="1"/>
          <p:nvPr/>
        </p:nvSpPr>
        <p:spPr>
          <a:xfrm>
            <a:off x="7498080" y="1783080"/>
            <a:ext cx="36576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gold  ·  RESULT</a:t>
            </a:r>
            <a:endParaRPr lang="en-US" sz="1000" dirty="0"/>
          </a:p>
        </p:txBody>
      </p:sp>
      <p:graphicFrame>
        <p:nvGraphicFramePr>
          <p:cNvPr id="49" name="Gold result"/>
          <p:cNvGraphicFramePr>
            <a:graphicFrameLocks noGrp="1"/>
          </p:cNvGraphicFramePr>
          <p:nvPr>
            <p:extLst>
              <p:ext uri="{D42A27DB-BD31-4B8C-83A1-F6EECF244321}">
                <p14:modId xmlns:p14="http://schemas.microsoft.com/office/powerpoint/2010/main" val="1579011935"/>
              </p:ext>
            </p:extLst>
          </p:nvPr>
        </p:nvGraphicFramePr>
        <p:xfrm>
          <a:off x="7498080" y="2029968"/>
          <a:ext cx="4142232" cy="914400"/>
        </p:xfrm>
        <a:graphic>
          <a:graphicData uri="http://schemas.openxmlformats.org/drawingml/2006/table">
            <a:tbl>
              <a:tblPr/>
              <a:tblGrid>
                <a:gridCol w="1143000"/>
                <a:gridCol w="777240"/>
                <a:gridCol w="960120"/>
                <a:gridCol w="1261872"/>
              </a:tblGrid>
              <a:tr h="365760">
                <a:tc>
                  <a:txBody>
                    <a:bodyPr/>
                    <a:lstStyle/>
                    <a:p>
                      <a:pPr indent="0" marL="0">
                        <a:buNone/>
                      </a:pPr>
                      <a:r>
                        <a:rPr lang="en-US" sz="1200" b="1" dirty="0">
                          <a:solidFill>
                            <a:schemeClr val="bg1"/>
                          </a:solidFill>
                        </a:rPr>
                        <a:t>entity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region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share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apportioned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200" dirty="0">
                          <a:solidFill>
                            <a:schemeClr val="tx1"/>
                          </a:solidFill>
                        </a:rPr>
                        <a:t>Entity 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0.667</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6,666.67</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00" dirty="0">
                          <a:solidFill>
                            <a:schemeClr val="tx1"/>
                          </a:solidFill>
                        </a:rPr>
                        <a:t>Entity 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NY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0.333</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3,333.33</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200" dirty="0">
                          <a:solidFill>
                            <a:schemeClr val="tx1"/>
                          </a:solidFill>
                        </a:rPr>
                        <a:t>Entity B</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0.200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4,000.00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00" dirty="0">
                          <a:solidFill>
                            <a:schemeClr val="tx1"/>
                          </a:solidFill>
                        </a:rPr>
                        <a:t>Entity B</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TX</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0.800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16,000.00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0" name="Same answer card"/>
          <p:cNvSpPr/>
          <p:nvPr/>
        </p:nvSpPr>
        <p:spPr>
          <a:xfrm>
            <a:off x="7498080" y="4023360"/>
            <a:ext cx="4142232" cy="1508760"/>
          </a:xfrm>
          <a:prstGeom prst="roundRect">
            <a:avLst>
              <a:gd name="adj" fmla="val 7273"/>
            </a:avLst>
          </a:prstGeom>
          <a:solidFill>
            <a:schemeClr val="accent2">
              <a:alpha val="20000"/>
            </a:schemeClr>
          </a:solidFill>
          <a:ln/>
        </p:spPr>
      </p:sp>
      <p:sp>
        <p:nvSpPr>
          <p:cNvPr id="11" name="Same answer text"/>
          <p:cNvSpPr txBox="1"/>
          <p:nvPr/>
        </p:nvSpPr>
        <p:spPr>
          <a:xfrm>
            <a:off x="7680960" y="4023360"/>
            <a:ext cx="3794760" cy="1508760"/>
          </a:xfrm>
          <a:prstGeom prst="rect">
            <a:avLst/>
          </a:prstGeom>
          <a:noFill/>
          <a:ln/>
        </p:spPr>
        <p:txBody>
          <a:bodyPr wrap="square" lIns="0" tIns="0" rIns="0" bIns="0" rtlCol="0" anchor="ctr"/>
          <a:lstStyle/>
          <a:p>
            <a:pPr indent="0" marL="0">
              <a:buNone/>
            </a:pPr>
            <a:r>
              <a:rPr lang="en-US" sz="1400" b="1" dirty="0">
                <a:solidFill>
                  <a:schemeClr val="tx1"/>
                </a:solidFill>
              </a:rPr>
              <a:t>Same answer as the SQL. </a:t>
            </a:r>
            <a:pPr indent="0" marL="0">
              <a:buNone/>
            </a:pPr>
            <a:r>
              <a:rPr lang="en-US" sz="1400" dirty="0">
                <a:solidFill>
                  <a:schemeClr val="tx1"/>
                </a:solidFill>
              </a:rPr>
              <a:t>Write it in whichever language the people who maintain it can read.</a:t>
            </a:r>
            <a:endParaRPr lang="en-US" sz="1400" dirty="0"/>
          </a:p>
        </p:txBody>
      </p:sp>
      <p:sp>
        <p:nvSpPr>
          <p:cNvPr id="12" name="Footnote"/>
          <p:cNvSpPr txBox="1"/>
          <p:nvPr/>
        </p:nvSpPr>
        <p:spPr>
          <a:xfrm>
            <a:off x="548640" y="57150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Real-data note: SAP revenue arrives as negative credits, so the DST workflow flips the sign when it apportions.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Read the last line of the error first</a:t>
            </a:r>
            <a:endParaRPr lang="en-US" sz="3200" dirty="0"/>
          </a:p>
        </p:txBody>
      </p:sp>
      <p:graphicFrame>
        <p:nvGraphicFramePr>
          <p:cNvPr id="50" name="Error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4480560"/>
                <a:gridCol w="3291840"/>
                <a:gridCol w="3319272"/>
              </a:tblGrid>
              <a:tr h="411480">
                <a:tc>
                  <a:txBody>
                    <a:bodyPr/>
                    <a:lstStyle/>
                    <a:p>
                      <a:pPr indent="0" marL="0">
                        <a:buNone/>
                      </a:pPr>
                      <a:r>
                        <a:rPr lang="en-US" sz="1300" b="1" dirty="0">
                          <a:solidFill>
                            <a:schemeClr val="bg1"/>
                          </a:solidFill>
                        </a:rPr>
                        <a:t>Message or symptom</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Usually means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First thing to try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2179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[UNRESOLVED_COLUMN] … name `regon` cannot be resolved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 column name is misspelled or was renamed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df.columns lists the real names</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[TABLE_OR_VIEW_NOT_FOUND] The table `x` cannot be found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Wrong name, or no lakehouse is attached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Check the attached lakehouse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NameError: name 'df' is not defined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 cell was skipped or run out of order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Run all cells from the top</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300" dirty="0">
                          <a:solidFill>
                            <a:schemeClr val="tx1"/>
                          </a:solidFill>
                        </a:rPr>
                        <a:t>Numbers sort or add up as text, with no error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 numeric column was read as a string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printSchema(), then .cast("int")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300" dirty="0">
                          <a:solidFill>
                            <a:schemeClr val="tx1"/>
                          </a:solidFill>
                        </a:rPr>
                        <a:t>Row counts double after a rerun, with no error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An append ran twice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Use overwrite, or merge on a key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62356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Tracebacks are long. The useful part is almost always the last line.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3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3: transform the practice data</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30 MIN</a:t>
            </a:r>
            <a:endParaRPr lang="en-US" sz="1100" dirty="0"/>
          </a:p>
        </p:txBody>
      </p:sp>
      <p:sp>
        <p:nvSpPr>
          <p:cNvPr id="6" name="Task 1"/>
          <p:cNvSpPr/>
          <p:nvPr/>
        </p:nvSpPr>
        <p:spPr>
          <a:xfrm>
            <a:off x="548640" y="1783080"/>
            <a:ext cx="5760720" cy="841248"/>
          </a:xfrm>
          <a:prstGeom prst="roundRect">
            <a:avLst>
              <a:gd name="adj" fmla="val 13043"/>
            </a:avLst>
          </a:prstGeom>
          <a:solidFill>
            <a:schemeClr val="bg2"/>
          </a:solidFill>
          <a:ln/>
        </p:spPr>
      </p:sp>
      <p:sp>
        <p:nvSpPr>
          <p:cNvPr id="7" name="Task chip 1"/>
          <p:cNvSpPr/>
          <p:nvPr/>
        </p:nvSpPr>
        <p:spPr>
          <a:xfrm>
            <a:off x="731520" y="1975104"/>
            <a:ext cx="457200" cy="457200"/>
          </a:xfrm>
          <a:prstGeom prst="roundRect">
            <a:avLst>
              <a:gd name="adj" fmla="val 16000"/>
            </a:avLst>
          </a:prstGeom>
          <a:solidFill>
            <a:schemeClr val="accent3"/>
          </a:solidFill>
          <a:ln/>
        </p:spPr>
      </p:sp>
      <p:sp>
        <p:nvSpPr>
          <p:cNvPr id="8" name="Task number"/>
          <p:cNvSpPr txBox="1"/>
          <p:nvPr/>
        </p:nvSpPr>
        <p:spPr>
          <a:xfrm>
            <a:off x="731520" y="1975104"/>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9" name="Task title"/>
          <p:cNvSpPr txBox="1"/>
          <p:nvPr/>
        </p:nvSpPr>
        <p:spPr>
          <a:xfrm>
            <a:off x="1371600" y="1847088"/>
            <a:ext cx="4846320" cy="256032"/>
          </a:xfrm>
          <a:prstGeom prst="rect">
            <a:avLst/>
          </a:prstGeom>
          <a:noFill/>
          <a:ln/>
        </p:spPr>
        <p:txBody>
          <a:bodyPr wrap="square" lIns="0" tIns="0" rIns="0" bIns="0" rtlCol="0" anchor="t"/>
          <a:lstStyle/>
          <a:p>
            <a:pPr indent="0" marL="0">
              <a:buNone/>
            </a:pPr>
            <a:r>
              <a:rPr lang="en-US" sz="1500" b="1" dirty="0">
                <a:solidFill>
                  <a:schemeClr val="tx1"/>
                </a:solidFill>
              </a:rPr>
              <a:t>Read and look</a:t>
            </a:r>
            <a:endParaRPr lang="en-US" sz="1500" dirty="0"/>
          </a:p>
        </p:txBody>
      </p:sp>
      <p:sp>
        <p:nvSpPr>
          <p:cNvPr id="10" name="Task text"/>
          <p:cNvSpPr txBox="1"/>
          <p:nvPr/>
        </p:nvSpPr>
        <p:spPr>
          <a:xfrm>
            <a:off x="1371600" y="2112264"/>
            <a:ext cx="4846320" cy="256032"/>
          </a:xfrm>
          <a:prstGeom prst="rect">
            <a:avLst/>
          </a:prstGeom>
          <a:noFill/>
          <a:ln/>
        </p:spPr>
        <p:txBody>
          <a:bodyPr wrap="square" lIns="0" tIns="0" rIns="0" bIns="0" rtlCol="0" anchor="t"/>
          <a:lstStyle/>
          <a:p>
            <a:pPr indent="0" marL="0">
              <a:buNone/>
            </a:pPr>
            <a:r>
              <a:rPr lang="en-US" sz="1250" dirty="0">
                <a:solidFill>
                  <a:schemeClr val="tx1"/>
                </a:solidFill>
              </a:rPr>
              <a:t>Read bronze_impressions, print its schema and count the rows.</a:t>
            </a:r>
            <a:endParaRPr lang="en-US" sz="1250" dirty="0"/>
          </a:p>
        </p:txBody>
      </p:sp>
      <p:sp>
        <p:nvSpPr>
          <p:cNvPr id="11" name="Task expectation"/>
          <p:cNvSpPr txBox="1"/>
          <p:nvPr/>
        </p:nvSpPr>
        <p:spPr>
          <a:xfrm>
            <a:off x="1371600" y="2350008"/>
            <a:ext cx="4846320" cy="237744"/>
          </a:xfrm>
          <a:prstGeom prst="rect">
            <a:avLst/>
          </a:prstGeom>
          <a:noFill/>
          <a:ln/>
        </p:spPr>
        <p:txBody>
          <a:bodyPr wrap="square" lIns="0" tIns="0" rIns="0" bIns="0" rtlCol="0" anchor="t"/>
          <a:lstStyle/>
          <a:p>
            <a:pPr indent="0" marL="0">
              <a:buNone/>
            </a:pPr>
            <a:r>
              <a:rPr lang="en-US" sz="1200" b="1" dirty="0">
                <a:solidFill>
                  <a:schemeClr val="accent2"/>
                </a:solidFill>
              </a:rPr>
              <a:t>Expect: </a:t>
            </a:r>
            <a:pPr indent="0" marL="0">
              <a:buNone/>
            </a:pPr>
            <a:r>
              <a:rPr lang="en-US" sz="1200" dirty="0">
                <a:solidFill>
                  <a:schemeClr val="tx1"/>
                </a:solidFill>
              </a:rPr>
              <a:t>7 rows. impressions is an integer.</a:t>
            </a:r>
            <a:endParaRPr lang="en-US" sz="1200" dirty="0"/>
          </a:p>
        </p:txBody>
      </p:sp>
      <p:sp>
        <p:nvSpPr>
          <p:cNvPr id="12" name="Task 2"/>
          <p:cNvSpPr/>
          <p:nvPr/>
        </p:nvSpPr>
        <p:spPr>
          <a:xfrm>
            <a:off x="548640" y="2715768"/>
            <a:ext cx="5760720" cy="841248"/>
          </a:xfrm>
          <a:prstGeom prst="roundRect">
            <a:avLst>
              <a:gd name="adj" fmla="val 13043"/>
            </a:avLst>
          </a:prstGeom>
          <a:solidFill>
            <a:schemeClr val="bg2"/>
          </a:solidFill>
          <a:ln/>
        </p:spPr>
      </p:sp>
      <p:sp>
        <p:nvSpPr>
          <p:cNvPr id="13" name="Task chip 2"/>
          <p:cNvSpPr/>
          <p:nvPr/>
        </p:nvSpPr>
        <p:spPr>
          <a:xfrm>
            <a:off x="731520" y="2907792"/>
            <a:ext cx="457200" cy="457200"/>
          </a:xfrm>
          <a:prstGeom prst="roundRect">
            <a:avLst>
              <a:gd name="adj" fmla="val 16000"/>
            </a:avLst>
          </a:prstGeom>
          <a:solidFill>
            <a:schemeClr val="accent3"/>
          </a:solidFill>
          <a:ln/>
        </p:spPr>
      </p:sp>
      <p:sp>
        <p:nvSpPr>
          <p:cNvPr id="14" name="Task number"/>
          <p:cNvSpPr txBox="1"/>
          <p:nvPr/>
        </p:nvSpPr>
        <p:spPr>
          <a:xfrm>
            <a:off x="731520" y="2907792"/>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15" name="Task title"/>
          <p:cNvSpPr txBox="1"/>
          <p:nvPr/>
        </p:nvSpPr>
        <p:spPr>
          <a:xfrm>
            <a:off x="1371600" y="2779776"/>
            <a:ext cx="4846320" cy="256032"/>
          </a:xfrm>
          <a:prstGeom prst="rect">
            <a:avLst/>
          </a:prstGeom>
          <a:noFill/>
          <a:ln/>
        </p:spPr>
        <p:txBody>
          <a:bodyPr wrap="square" lIns="0" tIns="0" rIns="0" bIns="0" rtlCol="0" anchor="t"/>
          <a:lstStyle/>
          <a:p>
            <a:pPr indent="0" marL="0">
              <a:buNone/>
            </a:pPr>
            <a:r>
              <a:rPr lang="en-US" sz="1500" b="1" dirty="0">
                <a:solidFill>
                  <a:schemeClr val="tx1"/>
                </a:solidFill>
              </a:rPr>
              <a:t>Flag N/A</a:t>
            </a:r>
            <a:endParaRPr lang="en-US" sz="1500" dirty="0"/>
          </a:p>
        </p:txBody>
      </p:sp>
      <p:sp>
        <p:nvSpPr>
          <p:cNvPr id="16" name="Task text"/>
          <p:cNvSpPr txBox="1"/>
          <p:nvPr/>
        </p:nvSpPr>
        <p:spPr>
          <a:xfrm>
            <a:off x="1371600" y="3044952"/>
            <a:ext cx="4846320" cy="256032"/>
          </a:xfrm>
          <a:prstGeom prst="rect">
            <a:avLst/>
          </a:prstGeom>
          <a:noFill/>
          <a:ln/>
        </p:spPr>
        <p:txBody>
          <a:bodyPr wrap="square" lIns="0" tIns="0" rIns="0" bIns="0" rtlCol="0" anchor="t"/>
          <a:lstStyle/>
          <a:p>
            <a:pPr indent="0" marL="0">
              <a:buNone/>
            </a:pPr>
            <a:r>
              <a:rPr lang="en-US" sz="1250" dirty="0">
                <a:solidFill>
                  <a:schemeClr val="tx1"/>
                </a:solidFill>
              </a:rPr>
              <a:t>Add an is_na column: true when region is NULL, 'N/A' or 'NO REGION'.</a:t>
            </a:r>
            <a:endParaRPr lang="en-US" sz="1250" dirty="0"/>
          </a:p>
        </p:txBody>
      </p:sp>
      <p:sp>
        <p:nvSpPr>
          <p:cNvPr id="17" name="Task expectation"/>
          <p:cNvSpPr txBox="1"/>
          <p:nvPr/>
        </p:nvSpPr>
        <p:spPr>
          <a:xfrm>
            <a:off x="1371600" y="3282696"/>
            <a:ext cx="4846320" cy="237744"/>
          </a:xfrm>
          <a:prstGeom prst="rect">
            <a:avLst/>
          </a:prstGeom>
          <a:noFill/>
          <a:ln/>
        </p:spPr>
        <p:txBody>
          <a:bodyPr wrap="square" lIns="0" tIns="0" rIns="0" bIns="0" rtlCol="0" anchor="t"/>
          <a:lstStyle/>
          <a:p>
            <a:pPr indent="0" marL="0">
              <a:buNone/>
            </a:pPr>
            <a:r>
              <a:rPr lang="en-US" sz="1200" b="1" dirty="0">
                <a:solidFill>
                  <a:schemeClr val="accent2"/>
                </a:solidFill>
              </a:rPr>
              <a:t>Expect: </a:t>
            </a:r>
            <a:pPr indent="0" marL="0">
              <a:buNone/>
            </a:pPr>
            <a:r>
              <a:rPr lang="en-US" sz="1200" dirty="0">
                <a:solidFill>
                  <a:schemeClr val="tx1"/>
                </a:solidFill>
              </a:rPr>
              <a:t>2 rows are true.</a:t>
            </a:r>
            <a:endParaRPr lang="en-US" sz="1200" dirty="0"/>
          </a:p>
        </p:txBody>
      </p:sp>
      <p:sp>
        <p:nvSpPr>
          <p:cNvPr id="18" name="Task 3"/>
          <p:cNvSpPr/>
          <p:nvPr/>
        </p:nvSpPr>
        <p:spPr>
          <a:xfrm>
            <a:off x="548640" y="3648456"/>
            <a:ext cx="5760720" cy="841248"/>
          </a:xfrm>
          <a:prstGeom prst="roundRect">
            <a:avLst>
              <a:gd name="adj" fmla="val 13043"/>
            </a:avLst>
          </a:prstGeom>
          <a:solidFill>
            <a:schemeClr val="bg2"/>
          </a:solidFill>
          <a:ln/>
        </p:spPr>
      </p:sp>
      <p:sp>
        <p:nvSpPr>
          <p:cNvPr id="19" name="Task chip 3"/>
          <p:cNvSpPr/>
          <p:nvPr/>
        </p:nvSpPr>
        <p:spPr>
          <a:xfrm>
            <a:off x="731520" y="3840480"/>
            <a:ext cx="457200" cy="457200"/>
          </a:xfrm>
          <a:prstGeom prst="roundRect">
            <a:avLst>
              <a:gd name="adj" fmla="val 16000"/>
            </a:avLst>
          </a:prstGeom>
          <a:solidFill>
            <a:schemeClr val="accent3"/>
          </a:solidFill>
          <a:ln/>
        </p:spPr>
      </p:sp>
      <p:sp>
        <p:nvSpPr>
          <p:cNvPr id="20" name="Task number"/>
          <p:cNvSpPr txBox="1"/>
          <p:nvPr/>
        </p:nvSpPr>
        <p:spPr>
          <a:xfrm>
            <a:off x="731520" y="38404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21" name="Task title"/>
          <p:cNvSpPr txBox="1"/>
          <p:nvPr/>
        </p:nvSpPr>
        <p:spPr>
          <a:xfrm>
            <a:off x="1371600" y="3712464"/>
            <a:ext cx="4846320" cy="256032"/>
          </a:xfrm>
          <a:prstGeom prst="rect">
            <a:avLst/>
          </a:prstGeom>
          <a:noFill/>
          <a:ln/>
        </p:spPr>
        <p:txBody>
          <a:bodyPr wrap="square" lIns="0" tIns="0" rIns="0" bIns="0" rtlCol="0" anchor="t"/>
          <a:lstStyle/>
          <a:p>
            <a:pPr indent="0" marL="0">
              <a:buNone/>
            </a:pPr>
            <a:r>
              <a:rPr lang="en-US" sz="1500" b="1" dirty="0">
                <a:solidFill>
                  <a:schemeClr val="tx1"/>
                </a:solidFill>
              </a:rPr>
              <a:t>Find the unmapped</a:t>
            </a:r>
            <a:endParaRPr lang="en-US" sz="1500" dirty="0"/>
          </a:p>
        </p:txBody>
      </p:sp>
      <p:sp>
        <p:nvSpPr>
          <p:cNvPr id="22" name="Task text"/>
          <p:cNvSpPr txBox="1"/>
          <p:nvPr/>
        </p:nvSpPr>
        <p:spPr>
          <a:xfrm>
            <a:off x="1371600" y="3977640"/>
            <a:ext cx="4846320" cy="256032"/>
          </a:xfrm>
          <a:prstGeom prst="rect">
            <a:avLst/>
          </a:prstGeom>
          <a:noFill/>
          <a:ln/>
        </p:spPr>
        <p:txBody>
          <a:bodyPr wrap="square" lIns="0" tIns="0" rIns="0" bIns="0" rtlCol="0" anchor="t"/>
          <a:lstStyle/>
          <a:p>
            <a:pPr indent="0" marL="0">
              <a:buNone/>
            </a:pPr>
            <a:r>
              <a:rPr lang="en-US" sz="1250" dirty="0">
                <a:solidFill>
                  <a:schemeClr val="tx1"/>
                </a:solidFill>
              </a:rPr>
              <a:t>Left join to ref_ad_unit_map and list the rows with no entity.</a:t>
            </a:r>
            <a:endParaRPr lang="en-US" sz="1250" dirty="0"/>
          </a:p>
        </p:txBody>
      </p:sp>
      <p:sp>
        <p:nvSpPr>
          <p:cNvPr id="23" name="Task expectation"/>
          <p:cNvSpPr txBox="1"/>
          <p:nvPr/>
        </p:nvSpPr>
        <p:spPr>
          <a:xfrm>
            <a:off x="1371600" y="4215384"/>
            <a:ext cx="4846320" cy="237744"/>
          </a:xfrm>
          <a:prstGeom prst="rect">
            <a:avLst/>
          </a:prstGeom>
          <a:noFill/>
          <a:ln/>
        </p:spPr>
        <p:txBody>
          <a:bodyPr wrap="square" lIns="0" tIns="0" rIns="0" bIns="0" rtlCol="0" anchor="t"/>
          <a:lstStyle/>
          <a:p>
            <a:pPr indent="0" marL="0">
              <a:buNone/>
            </a:pPr>
            <a:r>
              <a:rPr lang="en-US" sz="1200" b="1" dirty="0">
                <a:solidFill>
                  <a:schemeClr val="accent2"/>
                </a:solidFill>
              </a:rPr>
              <a:t>Expect: </a:t>
            </a:r>
            <a:pPr indent="0" marL="0">
              <a:buNone/>
            </a:pPr>
            <a:r>
              <a:rPr lang="en-US" sz="1200" dirty="0">
                <a:solidFill>
                  <a:schemeClr val="tx1"/>
                </a:solidFill>
              </a:rPr>
              <a:t>1 row: mystery_unit.</a:t>
            </a:r>
            <a:endParaRPr lang="en-US" sz="1200" dirty="0"/>
          </a:p>
        </p:txBody>
      </p:sp>
      <p:sp>
        <p:nvSpPr>
          <p:cNvPr id="24" name="Task 4"/>
          <p:cNvSpPr/>
          <p:nvPr/>
        </p:nvSpPr>
        <p:spPr>
          <a:xfrm>
            <a:off x="548640" y="4581144"/>
            <a:ext cx="5760720" cy="841248"/>
          </a:xfrm>
          <a:prstGeom prst="roundRect">
            <a:avLst>
              <a:gd name="adj" fmla="val 13043"/>
            </a:avLst>
          </a:prstGeom>
          <a:solidFill>
            <a:schemeClr val="bg2"/>
          </a:solidFill>
          <a:ln/>
        </p:spPr>
      </p:sp>
      <p:sp>
        <p:nvSpPr>
          <p:cNvPr id="25" name="Task chip 4"/>
          <p:cNvSpPr/>
          <p:nvPr/>
        </p:nvSpPr>
        <p:spPr>
          <a:xfrm>
            <a:off x="731520" y="4773168"/>
            <a:ext cx="457200" cy="457200"/>
          </a:xfrm>
          <a:prstGeom prst="roundRect">
            <a:avLst>
              <a:gd name="adj" fmla="val 16000"/>
            </a:avLst>
          </a:prstGeom>
          <a:solidFill>
            <a:schemeClr val="accent3"/>
          </a:solidFill>
          <a:ln/>
        </p:spPr>
      </p:sp>
      <p:sp>
        <p:nvSpPr>
          <p:cNvPr id="26" name="Task number"/>
          <p:cNvSpPr txBox="1"/>
          <p:nvPr/>
        </p:nvSpPr>
        <p:spPr>
          <a:xfrm>
            <a:off x="731520" y="477316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4</a:t>
            </a:r>
            <a:endParaRPr lang="en-US" sz="1800" dirty="0"/>
          </a:p>
        </p:txBody>
      </p:sp>
      <p:sp>
        <p:nvSpPr>
          <p:cNvPr id="27" name="Task title"/>
          <p:cNvSpPr txBox="1"/>
          <p:nvPr/>
        </p:nvSpPr>
        <p:spPr>
          <a:xfrm>
            <a:off x="1371600" y="4645152"/>
            <a:ext cx="4846320" cy="256032"/>
          </a:xfrm>
          <a:prstGeom prst="rect">
            <a:avLst/>
          </a:prstGeom>
          <a:noFill/>
          <a:ln/>
        </p:spPr>
        <p:txBody>
          <a:bodyPr wrap="square" lIns="0" tIns="0" rIns="0" bIns="0" rtlCol="0" anchor="t"/>
          <a:lstStyle/>
          <a:p>
            <a:pPr indent="0" marL="0">
              <a:buNone/>
            </a:pPr>
            <a:r>
              <a:rPr lang="en-US" sz="1500" b="1" dirty="0">
                <a:solidFill>
                  <a:schemeClr val="tx1"/>
                </a:solidFill>
              </a:rPr>
              <a:t>Share of entity</a:t>
            </a:r>
            <a:endParaRPr lang="en-US" sz="1500" dirty="0"/>
          </a:p>
        </p:txBody>
      </p:sp>
      <p:sp>
        <p:nvSpPr>
          <p:cNvPr id="28" name="Task text"/>
          <p:cNvSpPr txBox="1"/>
          <p:nvPr/>
        </p:nvSpPr>
        <p:spPr>
          <a:xfrm>
            <a:off x="1371600" y="4910328"/>
            <a:ext cx="4846320" cy="256032"/>
          </a:xfrm>
          <a:prstGeom prst="rect">
            <a:avLst/>
          </a:prstGeom>
          <a:noFill/>
          <a:ln/>
        </p:spPr>
        <p:txBody>
          <a:bodyPr wrap="square" lIns="0" tIns="0" rIns="0" bIns="0" rtlCol="0" anchor="t"/>
          <a:lstStyle/>
          <a:p>
            <a:pPr indent="0" marL="0">
              <a:buNone/>
            </a:pPr>
            <a:r>
              <a:rPr lang="en-US" sz="1250" dirty="0">
                <a:solidFill>
                  <a:schemeClr val="tx1"/>
                </a:solidFill>
              </a:rPr>
              <a:t>For valid rows, compute each region's share within its entity.</a:t>
            </a:r>
            <a:endParaRPr lang="en-US" sz="1250" dirty="0"/>
          </a:p>
        </p:txBody>
      </p:sp>
      <p:sp>
        <p:nvSpPr>
          <p:cNvPr id="29" name="Task expectation"/>
          <p:cNvSpPr txBox="1"/>
          <p:nvPr/>
        </p:nvSpPr>
        <p:spPr>
          <a:xfrm>
            <a:off x="1371600" y="5148072"/>
            <a:ext cx="4846320" cy="237744"/>
          </a:xfrm>
          <a:prstGeom prst="rect">
            <a:avLst/>
          </a:prstGeom>
          <a:noFill/>
          <a:ln/>
        </p:spPr>
        <p:txBody>
          <a:bodyPr wrap="square" lIns="0" tIns="0" rIns="0" bIns="0" rtlCol="0" anchor="t"/>
          <a:lstStyle/>
          <a:p>
            <a:pPr indent="0" marL="0">
              <a:buNone/>
            </a:pPr>
            <a:r>
              <a:rPr lang="en-US" sz="1200" b="1" dirty="0">
                <a:solidFill>
                  <a:schemeClr val="accent2"/>
                </a:solidFill>
              </a:rPr>
              <a:t>Expect: </a:t>
            </a:r>
            <a:pPr indent="0" marL="0">
              <a:buNone/>
            </a:pPr>
            <a:r>
              <a:rPr lang="en-US" sz="1200" dirty="0">
                <a:solidFill>
                  <a:schemeClr val="tx1"/>
                </a:solidFill>
              </a:rPr>
              <a:t>Shares add to 1.0 per entity.</a:t>
            </a:r>
            <a:endParaRPr lang="en-US" sz="1200" dirty="0"/>
          </a:p>
        </p:txBody>
      </p:sp>
      <p:sp>
        <p:nvSpPr>
          <p:cNvPr id="30" name="Starter code"/>
          <p:cNvSpPr/>
          <p:nvPr/>
        </p:nvSpPr>
        <p:spPr>
          <a:xfrm>
            <a:off x="6583680" y="1783080"/>
            <a:ext cx="5056632" cy="2331720"/>
          </a:xfrm>
          <a:prstGeom prst="roundRect">
            <a:avLst>
              <a:gd name="adj" fmla="val 3922"/>
            </a:avLst>
          </a:prstGeom>
          <a:solidFill>
            <a:schemeClr val="tx1"/>
          </a:solidFill>
          <a:ln/>
        </p:spPr>
      </p:sp>
      <p:sp>
        <p:nvSpPr>
          <p:cNvPr id="31" name="Code label"/>
          <p:cNvSpPr txBox="1"/>
          <p:nvPr/>
        </p:nvSpPr>
        <p:spPr>
          <a:xfrm>
            <a:off x="6784848" y="1874520"/>
            <a:ext cx="46542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STARTER CELL</a:t>
            </a:r>
            <a:endParaRPr lang="en-US" sz="1000" dirty="0"/>
          </a:p>
        </p:txBody>
      </p:sp>
      <p:sp>
        <p:nvSpPr>
          <p:cNvPr id="32" name="Starter code text"/>
          <p:cNvSpPr txBox="1"/>
          <p:nvPr/>
        </p:nvSpPr>
        <p:spPr>
          <a:xfrm>
            <a:off x="6784848" y="2167128"/>
            <a:ext cx="4654296" cy="18379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impr</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spark</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read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table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"bronze_impressions"</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amap</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spark</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read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table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"ref_ad_unit_map"</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i="1" dirty="0">
                <a:solidFill>
                  <a:schemeClr val="accent5"/>
                </a:solidFill>
                <a:latin typeface="Courier New" pitchFamily="34" charset="0"/>
                <a:ea typeface="Courier New" pitchFamily="34" charset="-122"/>
                <a:cs typeface="Courier New" pitchFamily="34" charset="-120"/>
              </a:rPr>
              <a:t># 1. printSchema() and count()</a:t>
            </a:r>
            <a:endParaRPr lang="en-US" sz="1200" dirty="0"/>
          </a:p>
          <a:p>
            <a:pPr indent="0" marL="0">
              <a:buNone/>
            </a:pPr>
            <a:r>
              <a:rPr lang="en-US" sz="1200" i="1" dirty="0">
                <a:solidFill>
                  <a:schemeClr val="accent5"/>
                </a:solidFill>
                <a:latin typeface="Courier New" pitchFamily="34" charset="0"/>
                <a:ea typeface="Courier New" pitchFamily="34" charset="-122"/>
                <a:cs typeface="Courier New" pitchFamily="34" charset="-120"/>
              </a:rPr>
              <a:t># 2. add an is_na column</a:t>
            </a:r>
            <a:endParaRPr lang="en-US" sz="1200" dirty="0"/>
          </a:p>
          <a:p>
            <a:pPr indent="0" marL="0">
              <a:buNone/>
            </a:pPr>
            <a:r>
              <a:rPr lang="en-US" sz="1200" i="1" dirty="0">
                <a:solidFill>
                  <a:schemeClr val="accent5"/>
                </a:solidFill>
                <a:latin typeface="Courier New" pitchFamily="34" charset="0"/>
                <a:ea typeface="Courier New" pitchFamily="34" charset="-122"/>
                <a:cs typeface="Courier New" pitchFamily="34" charset="-120"/>
              </a:rPr>
              <a:t># 3. left join amap; find the 'Unmapped' rows</a:t>
            </a:r>
            <a:endParaRPr lang="en-US" sz="1200" dirty="0"/>
          </a:p>
          <a:p>
            <a:pPr indent="0" marL="0">
              <a:buNone/>
            </a:pPr>
            <a:r>
              <a:rPr lang="en-US" sz="1200" i="1" dirty="0">
                <a:solidFill>
                  <a:schemeClr val="accent5"/>
                </a:solidFill>
                <a:latin typeface="Courier New" pitchFamily="34" charset="0"/>
                <a:ea typeface="Courier New" pitchFamily="34" charset="-122"/>
                <a:cs typeface="Courier New" pitchFamily="34" charset="-120"/>
              </a:rPr>
              <a:t># 4. window: each region's share of its entity</a:t>
            </a:r>
            <a:endParaRPr lang="en-US" sz="1200" dirty="0"/>
          </a:p>
        </p:txBody>
      </p:sp>
      <p:sp>
        <p:nvSpPr>
          <p:cNvPr id="33" name="Stretch card"/>
          <p:cNvSpPr/>
          <p:nvPr/>
        </p:nvSpPr>
        <p:spPr>
          <a:xfrm>
            <a:off x="6583680" y="4251960"/>
            <a:ext cx="5056632" cy="1280160"/>
          </a:xfrm>
          <a:prstGeom prst="roundRect">
            <a:avLst>
              <a:gd name="adj" fmla="val 8571"/>
            </a:avLst>
          </a:prstGeom>
          <a:solidFill>
            <a:schemeClr val="accent3">
              <a:alpha val="22000"/>
            </a:schemeClr>
          </a:solidFill>
          <a:ln/>
        </p:spPr>
      </p:sp>
      <p:sp>
        <p:nvSpPr>
          <p:cNvPr id="34" name="Stretch text"/>
          <p:cNvSpPr txBox="1"/>
          <p:nvPr/>
        </p:nvSpPr>
        <p:spPr>
          <a:xfrm>
            <a:off x="6766560" y="4251960"/>
            <a:ext cx="4709160" cy="1280160"/>
          </a:xfrm>
          <a:prstGeom prst="rect">
            <a:avLst/>
          </a:prstGeom>
          <a:noFill/>
          <a:ln/>
        </p:spPr>
        <p:txBody>
          <a:bodyPr wrap="square" lIns="0" tIns="0" rIns="0" bIns="0" rtlCol="0" anchor="ctr"/>
          <a:lstStyle/>
          <a:p>
            <a:pPr indent="0" marL="0">
              <a:buNone/>
            </a:pPr>
            <a:r>
              <a:rPr lang="en-US" sz="1300" b="1" dirty="0">
                <a:solidFill>
                  <a:schemeClr val="tx1"/>
                </a:solidFill>
              </a:rPr>
              <a:t>Stretch: </a:t>
            </a:r>
            <a:pPr indent="0" marL="0">
              <a:buNone/>
            </a:pPr>
            <a:r>
              <a:rPr lang="en-US" sz="1300" dirty="0">
                <a:solidFill>
                  <a:schemeClr val="tx1"/>
                </a:solidFill>
              </a:rPr>
              <a:t>write clean_state(raw) and apply it to ['Silicon Valley', 'NY', 'San Francisco Bay Area', 'TX', 'N/A']. Expect ['CA', 'NY', 'CA', 'TX', 'N/A'].</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3 · PYTHON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3: solutions</a:t>
            </a:r>
            <a:endParaRPr lang="en-US" sz="3200" dirty="0"/>
          </a:p>
        </p:txBody>
      </p:sp>
      <p:sp>
        <p:nvSpPr>
          <p:cNvPr id="5" name="Solution 1"/>
          <p:cNvSpPr/>
          <p:nvPr/>
        </p:nvSpPr>
        <p:spPr>
          <a:xfrm>
            <a:off x="548640" y="1783080"/>
            <a:ext cx="5468112" cy="1051560"/>
          </a:xfrm>
          <a:prstGeom prst="roundRect">
            <a:avLst>
              <a:gd name="adj" fmla="val 8696"/>
            </a:avLst>
          </a:prstGeom>
          <a:solidFill>
            <a:schemeClr val="tx1"/>
          </a:solidFill>
          <a:ln/>
        </p:spPr>
      </p:sp>
      <p:sp>
        <p:nvSpPr>
          <p:cNvPr id="6" name="Code label"/>
          <p:cNvSpPr txBox="1"/>
          <p:nvPr/>
        </p:nvSpPr>
        <p:spPr>
          <a:xfrm>
            <a:off x="749808" y="187452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1  ·  7 ROWS</a:t>
            </a:r>
            <a:endParaRPr lang="en-US" sz="1000" dirty="0"/>
          </a:p>
        </p:txBody>
      </p:sp>
      <p:sp>
        <p:nvSpPr>
          <p:cNvPr id="7" name="Solution 1 text"/>
          <p:cNvSpPr txBox="1"/>
          <p:nvPr/>
        </p:nvSpPr>
        <p:spPr>
          <a:xfrm>
            <a:off x="749808" y="2167128"/>
            <a:ext cx="5065776" cy="55778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impr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printSchema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print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impr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count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7</a:t>
            </a:r>
            <a:endParaRPr lang="en-US" sz="1200" dirty="0"/>
          </a:p>
        </p:txBody>
      </p:sp>
      <p:sp>
        <p:nvSpPr>
          <p:cNvPr id="8" name="Solution 2"/>
          <p:cNvSpPr/>
          <p:nvPr/>
        </p:nvSpPr>
        <p:spPr>
          <a:xfrm>
            <a:off x="548640" y="2971800"/>
            <a:ext cx="5468112" cy="2103120"/>
          </a:xfrm>
          <a:prstGeom prst="roundRect">
            <a:avLst>
              <a:gd name="adj" fmla="val 4348"/>
            </a:avLst>
          </a:prstGeom>
          <a:solidFill>
            <a:schemeClr val="tx1"/>
          </a:solidFill>
          <a:ln/>
        </p:spPr>
      </p:sp>
      <p:sp>
        <p:nvSpPr>
          <p:cNvPr id="9" name="Code label"/>
          <p:cNvSpPr txBox="1"/>
          <p:nvPr/>
        </p:nvSpPr>
        <p:spPr>
          <a:xfrm>
            <a:off x="749808" y="306324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2  ·  2 ROWS ARE TRUE</a:t>
            </a:r>
            <a:endParaRPr lang="en-US" sz="1000" dirty="0"/>
          </a:p>
        </p:txBody>
      </p:sp>
      <p:sp>
        <p:nvSpPr>
          <p:cNvPr id="10" name="Solution 2 text"/>
          <p:cNvSpPr txBox="1"/>
          <p:nvPr/>
        </p:nvSpPr>
        <p:spPr>
          <a:xfrm>
            <a:off x="749808" y="3355848"/>
            <a:ext cx="5065776" cy="1609344"/>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pyspark</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sql</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import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functions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flagged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impr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withColumn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"is_na"</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coalesce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"region"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lit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"N/A"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isin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"N/A"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"NO REGION"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flagged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filter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"is_na"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count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2</a:t>
            </a:r>
            <a:endParaRPr lang="en-US" sz="1200" dirty="0"/>
          </a:p>
        </p:txBody>
      </p:sp>
      <p:sp>
        <p:nvSpPr>
          <p:cNvPr id="11" name="Solution 3"/>
          <p:cNvSpPr/>
          <p:nvPr/>
        </p:nvSpPr>
        <p:spPr>
          <a:xfrm>
            <a:off x="6172200" y="1783080"/>
            <a:ext cx="5468112" cy="1188720"/>
          </a:xfrm>
          <a:prstGeom prst="roundRect">
            <a:avLst>
              <a:gd name="adj" fmla="val 7692"/>
            </a:avLst>
          </a:prstGeom>
          <a:solidFill>
            <a:schemeClr val="tx1"/>
          </a:solidFill>
          <a:ln/>
        </p:spPr>
      </p:sp>
      <p:sp>
        <p:nvSpPr>
          <p:cNvPr id="12" name="Code label"/>
          <p:cNvSpPr txBox="1"/>
          <p:nvPr/>
        </p:nvSpPr>
        <p:spPr>
          <a:xfrm>
            <a:off x="6373368" y="187452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3  ·  1 ROW</a:t>
            </a:r>
            <a:endParaRPr lang="en-US" sz="1000" dirty="0"/>
          </a:p>
        </p:txBody>
      </p:sp>
      <p:sp>
        <p:nvSpPr>
          <p:cNvPr id="13" name="Solution 3 text"/>
          <p:cNvSpPr txBox="1"/>
          <p:nvPr/>
        </p:nvSpPr>
        <p:spPr>
          <a:xfrm>
            <a:off x="6373368" y="2167128"/>
            <a:ext cx="5065776" cy="69494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joined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flagged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join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amap</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"ad_unit"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"left"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joined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filter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"entity"</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isNull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show</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4" name="Solution 4"/>
          <p:cNvSpPr/>
          <p:nvPr/>
        </p:nvSpPr>
        <p:spPr>
          <a:xfrm>
            <a:off x="6172200" y="3108960"/>
            <a:ext cx="5468112" cy="1965960"/>
          </a:xfrm>
          <a:prstGeom prst="roundRect">
            <a:avLst>
              <a:gd name="adj" fmla="val 4651"/>
            </a:avLst>
          </a:prstGeom>
          <a:solidFill>
            <a:schemeClr val="tx1"/>
          </a:solidFill>
          <a:ln/>
        </p:spPr>
      </p:sp>
      <p:sp>
        <p:nvSpPr>
          <p:cNvPr id="15" name="Code label"/>
          <p:cNvSpPr txBox="1"/>
          <p:nvPr/>
        </p:nvSpPr>
        <p:spPr>
          <a:xfrm>
            <a:off x="6373368" y="320040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4  ·  SHARES PER ENTITY</a:t>
            </a:r>
            <a:endParaRPr lang="en-US" sz="1000" dirty="0"/>
          </a:p>
        </p:txBody>
      </p:sp>
      <p:sp>
        <p:nvSpPr>
          <p:cNvPr id="16" name="Solution 4 text"/>
          <p:cNvSpPr txBox="1"/>
          <p:nvPr/>
        </p:nvSpPr>
        <p:spPr>
          <a:xfrm>
            <a:off x="6373368" y="3493008"/>
            <a:ext cx="5065776" cy="1472184"/>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pyspark</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sql</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import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Window</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w</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Window</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partitionBy</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"entity"</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valid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joined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filter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"is_na"</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&amp;</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"entity"</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isNotNull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valid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withColumn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"share"</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"impressions"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sum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"impressions"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over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w</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show</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7" name="Stretch strip"/>
          <p:cNvSpPr/>
          <p:nvPr/>
        </p:nvSpPr>
        <p:spPr>
          <a:xfrm>
            <a:off x="548640" y="5212080"/>
            <a:ext cx="11094415" cy="457200"/>
          </a:xfrm>
          <a:prstGeom prst="roundRect">
            <a:avLst>
              <a:gd name="adj" fmla="val 24000"/>
            </a:avLst>
          </a:prstGeom>
          <a:solidFill>
            <a:schemeClr val="accent3">
              <a:alpha val="22000"/>
            </a:schemeClr>
          </a:solidFill>
          <a:ln/>
        </p:spPr>
      </p:sp>
      <p:sp>
        <p:nvSpPr>
          <p:cNvPr id="18" name="Stretch text"/>
          <p:cNvSpPr txBox="1"/>
          <p:nvPr/>
        </p:nvSpPr>
        <p:spPr>
          <a:xfrm>
            <a:off x="777240" y="5212080"/>
            <a:ext cx="10637215" cy="457200"/>
          </a:xfrm>
          <a:prstGeom prst="rect">
            <a:avLst/>
          </a:prstGeom>
          <a:noFill/>
          <a:ln/>
        </p:spPr>
        <p:txBody>
          <a:bodyPr wrap="square" lIns="0" tIns="0" rIns="0" bIns="0" rtlCol="0" anchor="ctr"/>
          <a:lstStyle/>
          <a:p>
            <a:pPr indent="0" marL="0">
              <a:buNone/>
            </a:pPr>
            <a:r>
              <a:rPr lang="en-US" sz="1300" b="1" dirty="0">
                <a:solidFill>
                  <a:schemeClr val="tx1"/>
                </a:solidFill>
              </a:rPr>
              <a:t>Stretch: </a:t>
            </a:r>
            <a:pPr indent="0" marL="0">
              <a:buNone/>
            </a:pPr>
            <a:r>
              <a:rPr lang="en-US" sz="1300" dirty="0">
                <a:solidFill>
                  <a:schemeClr val="tx1"/>
                </a:solidFill>
              </a:rPr>
              <a:t>clean_state returns state_map.get(raw, raw), the dictionary lookup from the building blocks slide.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layers take data from raw to ready</a:t>
            </a:r>
            <a:endParaRPr lang="en-US" sz="3200" dirty="0"/>
          </a:p>
        </p:txBody>
      </p:sp>
      <p:sp>
        <p:nvSpPr>
          <p:cNvPr id="5" name="Sources card"/>
          <p:cNvSpPr/>
          <p:nvPr/>
        </p:nvSpPr>
        <p:spPr>
          <a:xfrm>
            <a:off x="548640" y="1783080"/>
            <a:ext cx="1463040" cy="3383280"/>
          </a:xfrm>
          <a:prstGeom prst="roundRect">
            <a:avLst>
              <a:gd name="adj" fmla="val 7500"/>
            </a:avLst>
          </a:prstGeom>
          <a:solidFill>
            <a:schemeClr val="bg2"/>
          </a:solidFill>
          <a:ln/>
        </p:spPr>
      </p:sp>
      <p:sp>
        <p:nvSpPr>
          <p:cNvPr id="6" name="Sources label"/>
          <p:cNvSpPr txBox="1"/>
          <p:nvPr/>
        </p:nvSpPr>
        <p:spPr>
          <a:xfrm>
            <a:off x="685800" y="1901952"/>
            <a:ext cx="118872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SOURCES</a:t>
            </a:r>
            <a:endParaRPr lang="en-US" sz="1000" dirty="0"/>
          </a:p>
        </p:txBody>
      </p:sp>
      <p:sp>
        <p:nvSpPr>
          <p:cNvPr id="7" name="Sources list"/>
          <p:cNvSpPr txBox="1"/>
          <p:nvPr/>
        </p:nvSpPr>
        <p:spPr>
          <a:xfrm>
            <a:off x="685800" y="2286000"/>
            <a:ext cx="1234440" cy="2560320"/>
          </a:xfrm>
          <a:prstGeom prst="rect">
            <a:avLst/>
          </a:prstGeom>
          <a:noFill/>
          <a:ln/>
        </p:spPr>
        <p:txBody>
          <a:bodyPr wrap="square" lIns="0" tIns="0" rIns="0" bIns="0" rtlCol="0" anchor="t"/>
          <a:lstStyle/>
          <a:p>
            <a:pPr indent="0" marL="0">
              <a:buNone/>
            </a:pPr>
            <a:r>
              <a:rPr lang="en-US" sz="1300" dirty="0">
                <a:solidFill>
                  <a:schemeClr val="tx1"/>
                </a:solidFill>
              </a:rPr>
              <a:t>Snowflake</a:t>
            </a:r>
            <a:endParaRPr lang="en-US" sz="1300" dirty="0"/>
          </a:p>
          <a:p>
            <a:pPr indent="0" marL="0">
              <a:buNone/>
            </a:pPr>
            <a:endParaRPr lang="en-US" sz="1300" dirty="0"/>
          </a:p>
          <a:p>
            <a:pPr indent="0" marL="0">
              <a:buNone/>
            </a:pPr>
            <a:r>
              <a:rPr lang="en-US" sz="1300" dirty="0">
                <a:solidFill>
                  <a:schemeClr val="tx1"/>
                </a:solidFill>
              </a:rPr>
              <a:t>SAP / EDP</a:t>
            </a:r>
            <a:endParaRPr lang="en-US" sz="1300" dirty="0"/>
          </a:p>
          <a:p>
            <a:pPr indent="0" marL="0">
              <a:buNone/>
            </a:pPr>
            <a:endParaRPr lang="en-US" sz="1300" dirty="0"/>
          </a:p>
          <a:p>
            <a:pPr indent="0" marL="0">
              <a:buNone/>
            </a:pPr>
            <a:r>
              <a:rPr lang="en-US" sz="1300" dirty="0">
                <a:solidFill>
                  <a:schemeClr val="tx1"/>
                </a:solidFill>
              </a:rPr>
              <a:t>CSV and Excel files</a:t>
            </a:r>
            <a:endParaRPr lang="en-US" sz="1300" dirty="0"/>
          </a:p>
        </p:txBody>
      </p:sp>
      <p:sp>
        <p:nvSpPr>
          <p:cNvPr id="8" name="Bronze card"/>
          <p:cNvSpPr/>
          <p:nvPr/>
        </p:nvSpPr>
        <p:spPr>
          <a:xfrm>
            <a:off x="2286000" y="1783080"/>
            <a:ext cx="2377440" cy="3383280"/>
          </a:xfrm>
          <a:prstGeom prst="roundRect">
            <a:avLst>
              <a:gd name="adj" fmla="val 4615"/>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9" name="Bronze header"/>
          <p:cNvSpPr/>
          <p:nvPr/>
        </p:nvSpPr>
        <p:spPr>
          <a:xfrm>
            <a:off x="2286000" y="1783080"/>
            <a:ext cx="2377440" cy="868680"/>
          </a:xfrm>
          <a:prstGeom prst="roundRect">
            <a:avLst>
              <a:gd name="adj" fmla="val 12632"/>
            </a:avLst>
          </a:prstGeom>
          <a:solidFill>
            <a:schemeClr val="accent4"/>
          </a:solidFill>
          <a:ln/>
        </p:spPr>
      </p:sp>
      <p:sp>
        <p:nvSpPr>
          <p:cNvPr id="10" name="Layer name"/>
          <p:cNvSpPr txBox="1"/>
          <p:nvPr/>
        </p:nvSpPr>
        <p:spPr>
          <a:xfrm>
            <a:off x="2468880" y="1828800"/>
            <a:ext cx="2011680" cy="457200"/>
          </a:xfrm>
          <a:prstGeom prst="rect">
            <a:avLst/>
          </a:prstGeom>
          <a:noFill/>
          <a:ln/>
        </p:spPr>
        <p:txBody>
          <a:bodyPr wrap="square" lIns="0" tIns="0" rIns="0" bIns="0" rtlCol="0" anchor="ctr"/>
          <a:lstStyle/>
          <a:p>
            <a:pPr indent="0" marL="0">
              <a:buNone/>
            </a:pPr>
            <a:r>
              <a:rPr lang="en-US" sz="2400" b="1" dirty="0">
                <a:solidFill>
                  <a:schemeClr val="bg1"/>
                </a:solidFill>
                <a:latin typeface="+mj-lt" pitchFamily="34" charset="0"/>
                <a:ea typeface="+mj-lt" pitchFamily="34" charset="-122"/>
                <a:cs typeface="+mj-lt" pitchFamily="34" charset="-120"/>
              </a:rPr>
              <a:t>Bronze</a:t>
            </a:r>
            <a:endParaRPr lang="en-US" sz="2400" dirty="0"/>
          </a:p>
        </p:txBody>
      </p:sp>
      <p:sp>
        <p:nvSpPr>
          <p:cNvPr id="11" name="Layer purpose"/>
          <p:cNvSpPr txBox="1"/>
          <p:nvPr/>
        </p:nvSpPr>
        <p:spPr>
          <a:xfrm>
            <a:off x="2468880" y="2240280"/>
            <a:ext cx="2103120" cy="320040"/>
          </a:xfrm>
          <a:prstGeom prst="rect">
            <a:avLst/>
          </a:prstGeom>
          <a:noFill/>
          <a:ln/>
        </p:spPr>
        <p:txBody>
          <a:bodyPr wrap="square" lIns="0" tIns="0" rIns="0" bIns="0" rtlCol="0" anchor="t"/>
          <a:lstStyle/>
          <a:p>
            <a:pPr indent="0" marL="0">
              <a:buNone/>
            </a:pPr>
            <a:r>
              <a:rPr lang="en-US" sz="1300" dirty="0">
                <a:solidFill>
                  <a:schemeClr val="bg1"/>
                </a:solidFill>
              </a:rPr>
              <a:t>Raw, as received</a:t>
            </a:r>
            <a:endParaRPr lang="en-US" sz="1300" dirty="0"/>
          </a:p>
        </p:txBody>
      </p:sp>
      <p:sp>
        <p:nvSpPr>
          <p:cNvPr id="12" name="Looks like label"/>
          <p:cNvSpPr txBox="1"/>
          <p:nvPr/>
        </p:nvSpPr>
        <p:spPr>
          <a:xfrm>
            <a:off x="2468880" y="2834640"/>
            <a:ext cx="20116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LOOKS LIKE</a:t>
            </a:r>
            <a:endParaRPr lang="en-US" sz="1000" dirty="0"/>
          </a:p>
        </p:txBody>
      </p:sp>
      <p:sp>
        <p:nvSpPr>
          <p:cNvPr id="13" name="Layer description"/>
          <p:cNvSpPr txBox="1"/>
          <p:nvPr/>
        </p:nvSpPr>
        <p:spPr>
          <a:xfrm>
            <a:off x="2468880" y="3063240"/>
            <a:ext cx="2057400" cy="1005840"/>
          </a:xfrm>
          <a:prstGeom prst="rect">
            <a:avLst/>
          </a:prstGeom>
          <a:noFill/>
          <a:ln/>
        </p:spPr>
        <p:txBody>
          <a:bodyPr wrap="square" lIns="0" tIns="0" rIns="0" bIns="0" rtlCol="0" anchor="t"/>
          <a:lstStyle/>
          <a:p>
            <a:pPr indent="0" marL="0">
              <a:buNone/>
            </a:pPr>
            <a:r>
              <a:rPr lang="en-US" sz="1300" dirty="0">
                <a:solidFill>
                  <a:schemeClr val="tx1"/>
                </a:solidFill>
              </a:rPr>
              <a:t>The source as it arrived, plus load time and file name.</a:t>
            </a:r>
            <a:endParaRPr lang="en-US" sz="1300" dirty="0"/>
          </a:p>
        </p:txBody>
      </p:sp>
      <p:sp>
        <p:nvSpPr>
          <p:cNvPr id="14" name="Used by label"/>
          <p:cNvSpPr txBox="1"/>
          <p:nvPr/>
        </p:nvSpPr>
        <p:spPr>
          <a:xfrm>
            <a:off x="2468880" y="4160520"/>
            <a:ext cx="20116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USED BY</a:t>
            </a:r>
            <a:endParaRPr lang="en-US" sz="1000" dirty="0"/>
          </a:p>
        </p:txBody>
      </p:sp>
      <p:sp>
        <p:nvSpPr>
          <p:cNvPr id="15" name="Layer users"/>
          <p:cNvSpPr txBox="1"/>
          <p:nvPr/>
        </p:nvSpPr>
        <p:spPr>
          <a:xfrm>
            <a:off x="2468880" y="4389120"/>
            <a:ext cx="2057400" cy="640080"/>
          </a:xfrm>
          <a:prstGeom prst="rect">
            <a:avLst/>
          </a:prstGeom>
          <a:noFill/>
          <a:ln/>
        </p:spPr>
        <p:txBody>
          <a:bodyPr wrap="square" lIns="0" tIns="0" rIns="0" bIns="0" rtlCol="0" anchor="t"/>
          <a:lstStyle/>
          <a:p>
            <a:pPr indent="0" marL="0">
              <a:buNone/>
            </a:pPr>
            <a:r>
              <a:rPr lang="en-US" sz="1300" dirty="0">
                <a:solidFill>
                  <a:schemeClr val="tx1"/>
                </a:solidFill>
              </a:rPr>
              <a:t>Engineers, for replay and audit</a:t>
            </a:r>
            <a:endParaRPr lang="en-US" sz="1300" dirty="0"/>
          </a:p>
        </p:txBody>
      </p:sp>
      <p:sp>
        <p:nvSpPr>
          <p:cNvPr id="16" name="Silver card"/>
          <p:cNvSpPr/>
          <p:nvPr/>
        </p:nvSpPr>
        <p:spPr>
          <a:xfrm>
            <a:off x="4892040" y="1783080"/>
            <a:ext cx="2377440" cy="3383280"/>
          </a:xfrm>
          <a:prstGeom prst="roundRect">
            <a:avLst>
              <a:gd name="adj" fmla="val 4615"/>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7" name="Silver header"/>
          <p:cNvSpPr/>
          <p:nvPr/>
        </p:nvSpPr>
        <p:spPr>
          <a:xfrm>
            <a:off x="4892040" y="1783080"/>
            <a:ext cx="2377440" cy="868680"/>
          </a:xfrm>
          <a:prstGeom prst="roundRect">
            <a:avLst>
              <a:gd name="adj" fmla="val 12632"/>
            </a:avLst>
          </a:prstGeom>
          <a:solidFill>
            <a:schemeClr val="accent5"/>
          </a:solidFill>
          <a:ln/>
        </p:spPr>
      </p:sp>
      <p:sp>
        <p:nvSpPr>
          <p:cNvPr id="18" name="Layer name"/>
          <p:cNvSpPr txBox="1"/>
          <p:nvPr/>
        </p:nvSpPr>
        <p:spPr>
          <a:xfrm>
            <a:off x="5074920" y="1828800"/>
            <a:ext cx="2011680" cy="45720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Silver</a:t>
            </a:r>
            <a:endParaRPr lang="en-US" sz="2400" dirty="0"/>
          </a:p>
        </p:txBody>
      </p:sp>
      <p:sp>
        <p:nvSpPr>
          <p:cNvPr id="19" name="Layer purpose"/>
          <p:cNvSpPr txBox="1"/>
          <p:nvPr/>
        </p:nvSpPr>
        <p:spPr>
          <a:xfrm>
            <a:off x="5074920" y="2240280"/>
            <a:ext cx="2103120" cy="320040"/>
          </a:xfrm>
          <a:prstGeom prst="rect">
            <a:avLst/>
          </a:prstGeom>
          <a:noFill/>
          <a:ln/>
        </p:spPr>
        <p:txBody>
          <a:bodyPr wrap="square" lIns="0" tIns="0" rIns="0" bIns="0" rtlCol="0" anchor="t"/>
          <a:lstStyle/>
          <a:p>
            <a:pPr indent="0" marL="0">
              <a:buNone/>
            </a:pPr>
            <a:r>
              <a:rPr lang="en-US" sz="1300" dirty="0">
                <a:solidFill>
                  <a:schemeClr val="tx1"/>
                </a:solidFill>
              </a:rPr>
              <a:t>Cleansed and conformed</a:t>
            </a:r>
            <a:endParaRPr lang="en-US" sz="1300" dirty="0"/>
          </a:p>
        </p:txBody>
      </p:sp>
      <p:sp>
        <p:nvSpPr>
          <p:cNvPr id="20" name="Looks like label"/>
          <p:cNvSpPr txBox="1"/>
          <p:nvPr/>
        </p:nvSpPr>
        <p:spPr>
          <a:xfrm>
            <a:off x="5074920" y="2834640"/>
            <a:ext cx="20116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LOOKS LIKE</a:t>
            </a:r>
            <a:endParaRPr lang="en-US" sz="1000" dirty="0"/>
          </a:p>
        </p:txBody>
      </p:sp>
      <p:sp>
        <p:nvSpPr>
          <p:cNvPr id="21" name="Layer description"/>
          <p:cNvSpPr txBox="1"/>
          <p:nvPr/>
        </p:nvSpPr>
        <p:spPr>
          <a:xfrm>
            <a:off x="5074920" y="3063240"/>
            <a:ext cx="2057400" cy="1005840"/>
          </a:xfrm>
          <a:prstGeom prst="rect">
            <a:avLst/>
          </a:prstGeom>
          <a:noFill/>
          <a:ln/>
        </p:spPr>
        <p:txBody>
          <a:bodyPr wrap="square" lIns="0" tIns="0" rIns="0" bIns="0" rtlCol="0" anchor="t"/>
          <a:lstStyle/>
          <a:p>
            <a:pPr indent="0" marL="0">
              <a:buNone/>
            </a:pPr>
            <a:r>
              <a:rPr lang="en-US" sz="1300" dirty="0">
                <a:solidFill>
                  <a:schemeClr val="tx1"/>
                </a:solidFill>
              </a:rPr>
              <a:t>Typed, deduplicated, mapped and validated. One row per business event.</a:t>
            </a:r>
            <a:endParaRPr lang="en-US" sz="1300" dirty="0"/>
          </a:p>
        </p:txBody>
      </p:sp>
      <p:sp>
        <p:nvSpPr>
          <p:cNvPr id="22" name="Used by label"/>
          <p:cNvSpPr txBox="1"/>
          <p:nvPr/>
        </p:nvSpPr>
        <p:spPr>
          <a:xfrm>
            <a:off x="5074920" y="4160520"/>
            <a:ext cx="20116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USED BY</a:t>
            </a:r>
            <a:endParaRPr lang="en-US" sz="1000" dirty="0"/>
          </a:p>
        </p:txBody>
      </p:sp>
      <p:sp>
        <p:nvSpPr>
          <p:cNvPr id="23" name="Layer users"/>
          <p:cNvSpPr txBox="1"/>
          <p:nvPr/>
        </p:nvSpPr>
        <p:spPr>
          <a:xfrm>
            <a:off x="5074920" y="4389120"/>
            <a:ext cx="2057400" cy="640080"/>
          </a:xfrm>
          <a:prstGeom prst="rect">
            <a:avLst/>
          </a:prstGeom>
          <a:noFill/>
          <a:ln/>
        </p:spPr>
        <p:txBody>
          <a:bodyPr wrap="square" lIns="0" tIns="0" rIns="0" bIns="0" rtlCol="0" anchor="t"/>
          <a:lstStyle/>
          <a:p>
            <a:pPr indent="0" marL="0">
              <a:buNone/>
            </a:pPr>
            <a:r>
              <a:rPr lang="en-US" sz="1300" dirty="0">
                <a:solidFill>
                  <a:schemeClr val="tx1"/>
                </a:solidFill>
              </a:rPr>
              <a:t>Engineers and analysts</a:t>
            </a:r>
            <a:endParaRPr lang="en-US" sz="1300" dirty="0"/>
          </a:p>
        </p:txBody>
      </p:sp>
      <p:sp>
        <p:nvSpPr>
          <p:cNvPr id="24" name="Gold card"/>
          <p:cNvSpPr/>
          <p:nvPr/>
        </p:nvSpPr>
        <p:spPr>
          <a:xfrm>
            <a:off x="7498080" y="1783080"/>
            <a:ext cx="2377440" cy="3383280"/>
          </a:xfrm>
          <a:prstGeom prst="roundRect">
            <a:avLst>
              <a:gd name="adj" fmla="val 4615"/>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25" name="Gold header"/>
          <p:cNvSpPr/>
          <p:nvPr/>
        </p:nvSpPr>
        <p:spPr>
          <a:xfrm>
            <a:off x="7498080" y="1783080"/>
            <a:ext cx="2377440" cy="868680"/>
          </a:xfrm>
          <a:prstGeom prst="roundRect">
            <a:avLst>
              <a:gd name="adj" fmla="val 12632"/>
            </a:avLst>
          </a:prstGeom>
          <a:solidFill>
            <a:schemeClr val="accent6"/>
          </a:solidFill>
          <a:ln/>
        </p:spPr>
      </p:sp>
      <p:sp>
        <p:nvSpPr>
          <p:cNvPr id="26" name="Layer name"/>
          <p:cNvSpPr txBox="1"/>
          <p:nvPr/>
        </p:nvSpPr>
        <p:spPr>
          <a:xfrm>
            <a:off x="7680960" y="1828800"/>
            <a:ext cx="2011680" cy="45720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Gold</a:t>
            </a:r>
            <a:endParaRPr lang="en-US" sz="2400" dirty="0"/>
          </a:p>
        </p:txBody>
      </p:sp>
      <p:sp>
        <p:nvSpPr>
          <p:cNvPr id="27" name="Layer purpose"/>
          <p:cNvSpPr txBox="1"/>
          <p:nvPr/>
        </p:nvSpPr>
        <p:spPr>
          <a:xfrm>
            <a:off x="7680960" y="2240280"/>
            <a:ext cx="2103120" cy="320040"/>
          </a:xfrm>
          <a:prstGeom prst="rect">
            <a:avLst/>
          </a:prstGeom>
          <a:noFill/>
          <a:ln/>
        </p:spPr>
        <p:txBody>
          <a:bodyPr wrap="square" lIns="0" tIns="0" rIns="0" bIns="0" rtlCol="0" anchor="t"/>
          <a:lstStyle/>
          <a:p>
            <a:pPr indent="0" marL="0">
              <a:buNone/>
            </a:pPr>
            <a:r>
              <a:rPr lang="en-US" sz="1300" dirty="0">
                <a:solidFill>
                  <a:schemeClr val="tx1"/>
                </a:solidFill>
              </a:rPr>
              <a:t>Ready for the question</a:t>
            </a:r>
            <a:endParaRPr lang="en-US" sz="1300" dirty="0"/>
          </a:p>
        </p:txBody>
      </p:sp>
      <p:sp>
        <p:nvSpPr>
          <p:cNvPr id="28" name="Looks like label"/>
          <p:cNvSpPr txBox="1"/>
          <p:nvPr/>
        </p:nvSpPr>
        <p:spPr>
          <a:xfrm>
            <a:off x="7680960" y="2834640"/>
            <a:ext cx="20116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LOOKS LIKE</a:t>
            </a:r>
            <a:endParaRPr lang="en-US" sz="1000" dirty="0"/>
          </a:p>
        </p:txBody>
      </p:sp>
      <p:sp>
        <p:nvSpPr>
          <p:cNvPr id="29" name="Layer description"/>
          <p:cNvSpPr txBox="1"/>
          <p:nvPr/>
        </p:nvSpPr>
        <p:spPr>
          <a:xfrm>
            <a:off x="7680960" y="3063240"/>
            <a:ext cx="2057400" cy="1005840"/>
          </a:xfrm>
          <a:prstGeom prst="rect">
            <a:avLst/>
          </a:prstGeom>
          <a:noFill/>
          <a:ln/>
        </p:spPr>
        <p:txBody>
          <a:bodyPr wrap="square" lIns="0" tIns="0" rIns="0" bIns="0" rtlCol="0" anchor="t"/>
          <a:lstStyle/>
          <a:p>
            <a:pPr indent="0" marL="0">
              <a:buNone/>
            </a:pPr>
            <a:r>
              <a:rPr lang="en-US" sz="1300" dirty="0">
                <a:solidFill>
                  <a:schemeClr val="tx1"/>
                </a:solidFill>
              </a:rPr>
              <a:t>Aggregated, calculated and named for the business.</a:t>
            </a:r>
            <a:endParaRPr lang="en-US" sz="1300" dirty="0"/>
          </a:p>
        </p:txBody>
      </p:sp>
      <p:sp>
        <p:nvSpPr>
          <p:cNvPr id="30" name="Used by label"/>
          <p:cNvSpPr txBox="1"/>
          <p:nvPr/>
        </p:nvSpPr>
        <p:spPr>
          <a:xfrm>
            <a:off x="7680960" y="4160520"/>
            <a:ext cx="2011680" cy="182880"/>
          </a:xfrm>
          <a:prstGeom prst="rect">
            <a:avLst/>
          </a:prstGeom>
          <a:noFill/>
          <a:ln/>
        </p:spPr>
        <p:txBody>
          <a:bodyPr wrap="square" lIns="0" tIns="0" rIns="0" bIns="0" rtlCol="0" anchor="t"/>
          <a:lstStyle/>
          <a:p>
            <a:pPr indent="0" marL="0">
              <a:buNone/>
            </a:pPr>
            <a:r>
              <a:rPr lang="en-US" sz="1000" b="1" spc="200" kern="0" dirty="0">
                <a:solidFill>
                  <a:schemeClr val="accent1"/>
                </a:solidFill>
              </a:rPr>
              <a:t>USED BY</a:t>
            </a:r>
            <a:endParaRPr lang="en-US" sz="1000" dirty="0"/>
          </a:p>
        </p:txBody>
      </p:sp>
      <p:sp>
        <p:nvSpPr>
          <p:cNvPr id="31" name="Layer users"/>
          <p:cNvSpPr txBox="1"/>
          <p:nvPr/>
        </p:nvSpPr>
        <p:spPr>
          <a:xfrm>
            <a:off x="7680960" y="4389120"/>
            <a:ext cx="2057400" cy="640080"/>
          </a:xfrm>
          <a:prstGeom prst="rect">
            <a:avLst/>
          </a:prstGeom>
          <a:noFill/>
          <a:ln/>
        </p:spPr>
        <p:txBody>
          <a:bodyPr wrap="square" lIns="0" tIns="0" rIns="0" bIns="0" rtlCol="0" anchor="t"/>
          <a:lstStyle/>
          <a:p>
            <a:pPr indent="0" marL="0">
              <a:buNone/>
            </a:pPr>
            <a:r>
              <a:rPr lang="en-US" sz="1300" dirty="0">
                <a:solidFill>
                  <a:schemeClr val="tx1"/>
                </a:solidFill>
              </a:rPr>
              <a:t>Power BI, Excel and applications</a:t>
            </a:r>
            <a:endParaRPr lang="en-US" sz="1300" dirty="0"/>
          </a:p>
        </p:txBody>
      </p:sp>
      <p:sp>
        <p:nvSpPr>
          <p:cNvPr id="32" name="Flow arrow 1"/>
          <p:cNvSpPr/>
          <p:nvPr/>
        </p:nvSpPr>
        <p:spPr>
          <a:xfrm>
            <a:off x="1965960" y="3291840"/>
            <a:ext cx="274320" cy="320040"/>
          </a:xfrm>
          <a:prstGeom prst="rightArrow">
            <a:avLst/>
          </a:prstGeom>
          <a:solidFill>
            <a:schemeClr val="accent5"/>
          </a:solidFill>
          <a:ln/>
        </p:spPr>
      </p:sp>
      <p:sp>
        <p:nvSpPr>
          <p:cNvPr id="33" name="Flow arrow 2"/>
          <p:cNvSpPr/>
          <p:nvPr/>
        </p:nvSpPr>
        <p:spPr>
          <a:xfrm>
            <a:off x="4526280" y="3291840"/>
            <a:ext cx="274320" cy="320040"/>
          </a:xfrm>
          <a:prstGeom prst="rightArrow">
            <a:avLst/>
          </a:prstGeom>
          <a:solidFill>
            <a:schemeClr val="accent5"/>
          </a:solidFill>
          <a:ln/>
        </p:spPr>
      </p:sp>
      <p:sp>
        <p:nvSpPr>
          <p:cNvPr id="34" name="Flow arrow 3"/>
          <p:cNvSpPr/>
          <p:nvPr/>
        </p:nvSpPr>
        <p:spPr>
          <a:xfrm>
            <a:off x="7132320" y="3291840"/>
            <a:ext cx="274320" cy="320040"/>
          </a:xfrm>
          <a:prstGeom prst="rightArrow">
            <a:avLst/>
          </a:prstGeom>
          <a:solidFill>
            <a:schemeClr val="accent5"/>
          </a:solidFill>
          <a:ln/>
        </p:spPr>
      </p:sp>
      <p:sp>
        <p:nvSpPr>
          <p:cNvPr id="35" name="Flow arrow 4"/>
          <p:cNvSpPr/>
          <p:nvPr/>
        </p:nvSpPr>
        <p:spPr>
          <a:xfrm>
            <a:off x="9738360" y="3291840"/>
            <a:ext cx="274320" cy="320040"/>
          </a:xfrm>
          <a:prstGeom prst="rightArrow">
            <a:avLst/>
          </a:prstGeom>
          <a:solidFill>
            <a:schemeClr val="accent5"/>
          </a:solidFill>
          <a:ln/>
        </p:spPr>
      </p:sp>
      <p:sp>
        <p:nvSpPr>
          <p:cNvPr id="36" name="Consumers card"/>
          <p:cNvSpPr/>
          <p:nvPr/>
        </p:nvSpPr>
        <p:spPr>
          <a:xfrm>
            <a:off x="10104120" y="1783080"/>
            <a:ext cx="1536192" cy="3383280"/>
          </a:xfrm>
          <a:prstGeom prst="roundRect">
            <a:avLst>
              <a:gd name="adj" fmla="val 7143"/>
            </a:avLst>
          </a:prstGeom>
          <a:solidFill>
            <a:schemeClr val="bg2"/>
          </a:solidFill>
          <a:ln/>
        </p:spPr>
      </p:sp>
      <p:sp>
        <p:nvSpPr>
          <p:cNvPr id="37" name="Consumers label"/>
          <p:cNvSpPr txBox="1"/>
          <p:nvPr/>
        </p:nvSpPr>
        <p:spPr>
          <a:xfrm>
            <a:off x="10241280" y="1901952"/>
            <a:ext cx="132588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CONSUMERS</a:t>
            </a:r>
            <a:endParaRPr lang="en-US" sz="1000" dirty="0"/>
          </a:p>
        </p:txBody>
      </p:sp>
      <p:sp>
        <p:nvSpPr>
          <p:cNvPr id="38" name="Consumers list"/>
          <p:cNvSpPr txBox="1"/>
          <p:nvPr/>
        </p:nvSpPr>
        <p:spPr>
          <a:xfrm>
            <a:off x="10241280" y="2286000"/>
            <a:ext cx="1325880" cy="2560320"/>
          </a:xfrm>
          <a:prstGeom prst="rect">
            <a:avLst/>
          </a:prstGeom>
          <a:noFill/>
          <a:ln/>
        </p:spPr>
        <p:txBody>
          <a:bodyPr wrap="square" lIns="0" tIns="0" rIns="0" bIns="0" rtlCol="0" anchor="t"/>
          <a:lstStyle/>
          <a:p>
            <a:pPr indent="0" marL="0">
              <a:buNone/>
            </a:pPr>
            <a:r>
              <a:rPr lang="en-US" sz="1300" dirty="0">
                <a:solidFill>
                  <a:schemeClr val="tx1"/>
                </a:solidFill>
              </a:rPr>
              <a:t>Power BI</a:t>
            </a:r>
            <a:endParaRPr lang="en-US" sz="1300" dirty="0"/>
          </a:p>
          <a:p>
            <a:pPr indent="0" marL="0">
              <a:buNone/>
            </a:pPr>
            <a:endParaRPr lang="en-US" sz="1300" dirty="0"/>
          </a:p>
          <a:p>
            <a:pPr indent="0" marL="0">
              <a:buNone/>
            </a:pPr>
            <a:r>
              <a:rPr lang="en-US" sz="1300" dirty="0">
                <a:solidFill>
                  <a:schemeClr val="tx1"/>
                </a:solidFill>
              </a:rPr>
              <a:t>Excel</a:t>
            </a:r>
            <a:endParaRPr lang="en-US" sz="1300" dirty="0"/>
          </a:p>
          <a:p>
            <a:pPr indent="0" marL="0">
              <a:buNone/>
            </a:pPr>
            <a:endParaRPr lang="en-US" sz="1300" dirty="0"/>
          </a:p>
          <a:p>
            <a:pPr indent="0" marL="0">
              <a:buNone/>
            </a:pPr>
            <a:r>
              <a:rPr lang="en-US" sz="1300" dirty="0">
                <a:solidFill>
                  <a:schemeClr val="tx1"/>
                </a:solidFill>
              </a:rPr>
              <a:t>Applications</a:t>
            </a:r>
            <a:endParaRPr lang="en-US" sz="1300" dirty="0"/>
          </a:p>
        </p:txBody>
      </p:sp>
      <p:sp>
        <p:nvSpPr>
          <p:cNvPr id="39" name="Takeaway"/>
          <p:cNvSpPr txBox="1"/>
          <p:nvPr/>
        </p:nvSpPr>
        <p:spPr>
          <a:xfrm>
            <a:off x="548640" y="539496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Data moves one way, and each layer can be rebuilt from the one before.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Bronze: land it exactly as it arrived</a:t>
            </a:r>
            <a:endParaRPr lang="en-US" sz="3200" dirty="0"/>
          </a:p>
        </p:txBody>
      </p:sp>
      <p:sp>
        <p:nvSpPr>
          <p:cNvPr id="5" name="Pill"/>
          <p:cNvSpPr txBox="1"/>
          <p:nvPr/>
        </p:nvSpPr>
        <p:spPr>
          <a:xfrm>
            <a:off x="548640" y="1783080"/>
            <a:ext cx="1188720" cy="310896"/>
          </a:xfrm>
          <a:prstGeom prst="roundRect">
            <a:avLst>
              <a:gd name="adj" fmla="val 44118"/>
            </a:avLst>
          </a:prstGeom>
          <a:solidFill>
            <a:schemeClr val="accent4"/>
          </a:solidFill>
          <a:ln/>
        </p:spPr>
        <p:txBody>
          <a:bodyPr wrap="square" lIns="0" tIns="0" rIns="0" bIns="0" rtlCol="0" anchor="ctr"/>
          <a:lstStyle/>
          <a:p>
            <a:pPr algn="ctr" indent="0" marL="0">
              <a:buNone/>
            </a:pPr>
            <a:r>
              <a:rPr lang="en-US" sz="1200" b="1" spc="200" kern="0" dirty="0">
                <a:solidFill>
                  <a:schemeClr val="bg1"/>
                </a:solidFill>
              </a:rPr>
              <a:t>BRONZE</a:t>
            </a:r>
            <a:endParaRPr lang="en-US" sz="1200" dirty="0"/>
          </a:p>
        </p:txBody>
      </p:sp>
      <p:sp>
        <p:nvSpPr>
          <p:cNvPr id="6" name="Rule 1"/>
          <p:cNvSpPr/>
          <p:nvPr/>
        </p:nvSpPr>
        <p:spPr>
          <a:xfrm>
            <a:off x="548640" y="2286000"/>
            <a:ext cx="5669280" cy="621792"/>
          </a:xfrm>
          <a:prstGeom prst="roundRect">
            <a:avLst>
              <a:gd name="adj" fmla="val 17647"/>
            </a:avLst>
          </a:prstGeom>
          <a:solidFill>
            <a:schemeClr val="bg2"/>
          </a:solidFill>
          <a:ln/>
        </p:spPr>
      </p:sp>
      <p:sp>
        <p:nvSpPr>
          <p:cNvPr id="7" name="Rule number"/>
          <p:cNvSpPr txBox="1"/>
          <p:nvPr/>
        </p:nvSpPr>
        <p:spPr>
          <a:xfrm>
            <a:off x="731520" y="2286000"/>
            <a:ext cx="365760" cy="62179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1</a:t>
            </a:r>
            <a:endParaRPr lang="en-US" sz="2000" dirty="0"/>
          </a:p>
        </p:txBody>
      </p:sp>
      <p:sp>
        <p:nvSpPr>
          <p:cNvPr id="8" name="Rule text"/>
          <p:cNvSpPr txBox="1"/>
          <p:nvPr/>
        </p:nvSpPr>
        <p:spPr>
          <a:xfrm>
            <a:off x="1188720" y="2286000"/>
            <a:ext cx="4846320" cy="621792"/>
          </a:xfrm>
          <a:prstGeom prst="rect">
            <a:avLst/>
          </a:prstGeom>
          <a:noFill/>
          <a:ln/>
        </p:spPr>
        <p:txBody>
          <a:bodyPr wrap="square" lIns="0" tIns="0" rIns="0" bIns="0" rtlCol="0" anchor="ctr"/>
          <a:lstStyle/>
          <a:p>
            <a:pPr indent="0" marL="0">
              <a:buNone/>
            </a:pPr>
            <a:r>
              <a:rPr lang="en-US" sz="1400" dirty="0">
                <a:solidFill>
                  <a:schemeClr val="tx1"/>
                </a:solidFill>
              </a:rPr>
              <a:t>Keep source columns and values untouched</a:t>
            </a:r>
            <a:endParaRPr lang="en-US" sz="1400" dirty="0"/>
          </a:p>
        </p:txBody>
      </p:sp>
      <p:sp>
        <p:nvSpPr>
          <p:cNvPr id="9" name="Rule 2"/>
          <p:cNvSpPr/>
          <p:nvPr/>
        </p:nvSpPr>
        <p:spPr>
          <a:xfrm>
            <a:off x="548640" y="2999232"/>
            <a:ext cx="5669280" cy="621792"/>
          </a:xfrm>
          <a:prstGeom prst="roundRect">
            <a:avLst>
              <a:gd name="adj" fmla="val 17647"/>
            </a:avLst>
          </a:prstGeom>
          <a:solidFill>
            <a:schemeClr val="bg2"/>
          </a:solidFill>
          <a:ln/>
        </p:spPr>
      </p:sp>
      <p:sp>
        <p:nvSpPr>
          <p:cNvPr id="10" name="Rule number"/>
          <p:cNvSpPr txBox="1"/>
          <p:nvPr/>
        </p:nvSpPr>
        <p:spPr>
          <a:xfrm>
            <a:off x="731520" y="2999232"/>
            <a:ext cx="365760" cy="62179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2</a:t>
            </a:r>
            <a:endParaRPr lang="en-US" sz="2000" dirty="0"/>
          </a:p>
        </p:txBody>
      </p:sp>
      <p:sp>
        <p:nvSpPr>
          <p:cNvPr id="11" name="Rule text"/>
          <p:cNvSpPr txBox="1"/>
          <p:nvPr/>
        </p:nvSpPr>
        <p:spPr>
          <a:xfrm>
            <a:off x="1188720" y="2999232"/>
            <a:ext cx="4846320" cy="621792"/>
          </a:xfrm>
          <a:prstGeom prst="rect">
            <a:avLst/>
          </a:prstGeom>
          <a:noFill/>
          <a:ln/>
        </p:spPr>
        <p:txBody>
          <a:bodyPr wrap="square" lIns="0" tIns="0" rIns="0" bIns="0" rtlCol="0" anchor="ctr"/>
          <a:lstStyle/>
          <a:p>
            <a:pPr indent="0" marL="0">
              <a:buNone/>
            </a:pPr>
            <a:r>
              <a:rPr lang="en-US" sz="1400" dirty="0">
                <a:solidFill>
                  <a:schemeClr val="tx1"/>
                </a:solidFill>
              </a:rPr>
              <a:t>Add load metadata: load time, source system, file name</a:t>
            </a:r>
            <a:endParaRPr lang="en-US" sz="1400" dirty="0"/>
          </a:p>
        </p:txBody>
      </p:sp>
      <p:sp>
        <p:nvSpPr>
          <p:cNvPr id="12" name="Rule 3"/>
          <p:cNvSpPr/>
          <p:nvPr/>
        </p:nvSpPr>
        <p:spPr>
          <a:xfrm>
            <a:off x="548640" y="3712464"/>
            <a:ext cx="5669280" cy="621792"/>
          </a:xfrm>
          <a:prstGeom prst="roundRect">
            <a:avLst>
              <a:gd name="adj" fmla="val 17647"/>
            </a:avLst>
          </a:prstGeom>
          <a:solidFill>
            <a:schemeClr val="bg2"/>
          </a:solidFill>
          <a:ln/>
        </p:spPr>
      </p:sp>
      <p:sp>
        <p:nvSpPr>
          <p:cNvPr id="13" name="Rule number"/>
          <p:cNvSpPr txBox="1"/>
          <p:nvPr/>
        </p:nvSpPr>
        <p:spPr>
          <a:xfrm>
            <a:off x="731520" y="3712464"/>
            <a:ext cx="365760" cy="62179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3</a:t>
            </a:r>
            <a:endParaRPr lang="en-US" sz="2000" dirty="0"/>
          </a:p>
        </p:txBody>
      </p:sp>
      <p:sp>
        <p:nvSpPr>
          <p:cNvPr id="14" name="Rule text"/>
          <p:cNvSpPr txBox="1"/>
          <p:nvPr/>
        </p:nvSpPr>
        <p:spPr>
          <a:xfrm>
            <a:off x="1188720" y="3712464"/>
            <a:ext cx="4846320" cy="621792"/>
          </a:xfrm>
          <a:prstGeom prst="rect">
            <a:avLst/>
          </a:prstGeom>
          <a:noFill/>
          <a:ln/>
        </p:spPr>
        <p:txBody>
          <a:bodyPr wrap="square" lIns="0" tIns="0" rIns="0" bIns="0" rtlCol="0" anchor="ctr"/>
          <a:lstStyle/>
          <a:p>
            <a:pPr indent="0" marL="0">
              <a:buNone/>
            </a:pPr>
            <a:r>
              <a:rPr lang="en-US" sz="1400" dirty="0">
                <a:solidFill>
                  <a:schemeClr val="tx1"/>
                </a:solidFill>
              </a:rPr>
              <a:t>Append only. Never overwrite history</a:t>
            </a:r>
            <a:endParaRPr lang="en-US" sz="1400" dirty="0"/>
          </a:p>
        </p:txBody>
      </p:sp>
      <p:sp>
        <p:nvSpPr>
          <p:cNvPr id="15" name="Rule 4"/>
          <p:cNvSpPr/>
          <p:nvPr/>
        </p:nvSpPr>
        <p:spPr>
          <a:xfrm>
            <a:off x="548640" y="4425696"/>
            <a:ext cx="5669280" cy="621792"/>
          </a:xfrm>
          <a:prstGeom prst="roundRect">
            <a:avLst>
              <a:gd name="adj" fmla="val 17647"/>
            </a:avLst>
          </a:prstGeom>
          <a:solidFill>
            <a:schemeClr val="bg2"/>
          </a:solidFill>
          <a:ln/>
        </p:spPr>
      </p:sp>
      <p:sp>
        <p:nvSpPr>
          <p:cNvPr id="16" name="Rule number"/>
          <p:cNvSpPr txBox="1"/>
          <p:nvPr/>
        </p:nvSpPr>
        <p:spPr>
          <a:xfrm>
            <a:off x="731520" y="4425696"/>
            <a:ext cx="365760" cy="62179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4</a:t>
            </a:r>
            <a:endParaRPr lang="en-US" sz="2000" dirty="0"/>
          </a:p>
        </p:txBody>
      </p:sp>
      <p:sp>
        <p:nvSpPr>
          <p:cNvPr id="17" name="Rule text"/>
          <p:cNvSpPr txBox="1"/>
          <p:nvPr/>
        </p:nvSpPr>
        <p:spPr>
          <a:xfrm>
            <a:off x="1188720" y="4425696"/>
            <a:ext cx="4846320" cy="621792"/>
          </a:xfrm>
          <a:prstGeom prst="rect">
            <a:avLst/>
          </a:prstGeom>
          <a:noFill/>
          <a:ln/>
        </p:spPr>
        <p:txBody>
          <a:bodyPr wrap="square" lIns="0" tIns="0" rIns="0" bIns="0" rtlCol="0" anchor="ctr"/>
          <a:lstStyle/>
          <a:p>
            <a:pPr indent="0" marL="0">
              <a:buNone/>
            </a:pPr>
            <a:r>
              <a:rPr lang="en-US" sz="1400" dirty="0">
                <a:solidFill>
                  <a:schemeClr val="tx1"/>
                </a:solidFill>
              </a:rPr>
              <a:t>No business rules in this layer</a:t>
            </a:r>
            <a:endParaRPr lang="en-US" sz="1400" dirty="0"/>
          </a:p>
        </p:txBody>
      </p:sp>
      <p:sp>
        <p:nvSpPr>
          <p:cNvPr id="18" name="DST example card"/>
          <p:cNvSpPr/>
          <p:nvPr/>
        </p:nvSpPr>
        <p:spPr>
          <a:xfrm>
            <a:off x="6492240" y="1783080"/>
            <a:ext cx="5148072" cy="2423160"/>
          </a:xfrm>
          <a:prstGeom prst="roundRect">
            <a:avLst>
              <a:gd name="adj" fmla="val 4528"/>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9" name="Example header"/>
          <p:cNvSpPr/>
          <p:nvPr/>
        </p:nvSpPr>
        <p:spPr>
          <a:xfrm>
            <a:off x="6492240" y="1783080"/>
            <a:ext cx="5148072" cy="457200"/>
          </a:xfrm>
          <a:prstGeom prst="roundRect">
            <a:avLst>
              <a:gd name="adj" fmla="val 20000"/>
            </a:avLst>
          </a:prstGeom>
          <a:solidFill>
            <a:schemeClr val="accent4"/>
          </a:solidFill>
          <a:ln/>
        </p:spPr>
      </p:sp>
      <p:sp>
        <p:nvSpPr>
          <p:cNvPr id="20" name="Example title"/>
          <p:cNvSpPr txBox="1"/>
          <p:nvPr/>
        </p:nvSpPr>
        <p:spPr>
          <a:xfrm>
            <a:off x="6675120" y="1783080"/>
            <a:ext cx="4846320" cy="457200"/>
          </a:xfrm>
          <a:prstGeom prst="rect">
            <a:avLst/>
          </a:prstGeom>
          <a:noFill/>
          <a:ln/>
        </p:spPr>
        <p:txBody>
          <a:bodyPr wrap="square" lIns="0" tIns="0" rIns="0" bIns="0" rtlCol="0" anchor="ctr"/>
          <a:lstStyle/>
          <a:p>
            <a:pPr indent="0" marL="0">
              <a:buNone/>
            </a:pPr>
            <a:r>
              <a:rPr lang="en-US" sz="1350" b="1" dirty="0">
                <a:solidFill>
                  <a:schemeClr val="bg1"/>
                </a:solidFill>
              </a:rPr>
              <a:t>Bronze tables in the DST example</a:t>
            </a:r>
            <a:endParaRPr lang="en-US" sz="1350" dirty="0"/>
          </a:p>
        </p:txBody>
      </p:sp>
      <p:sp>
        <p:nvSpPr>
          <p:cNvPr id="21" name="Example table"/>
          <p:cNvSpPr txBox="1"/>
          <p:nvPr/>
        </p:nvSpPr>
        <p:spPr>
          <a:xfrm>
            <a:off x="6675120" y="23591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bronze_gam</a:t>
            </a:r>
            <a:endParaRPr lang="en-US" sz="1150" dirty="0"/>
          </a:p>
        </p:txBody>
      </p:sp>
      <p:sp>
        <p:nvSpPr>
          <p:cNvPr id="22" name="Example note"/>
          <p:cNvSpPr txBox="1"/>
          <p:nvPr/>
        </p:nvSpPr>
        <p:spPr>
          <a:xfrm>
            <a:off x="9052560" y="2359152"/>
            <a:ext cx="2514600" cy="365760"/>
          </a:xfrm>
          <a:prstGeom prst="rect">
            <a:avLst/>
          </a:prstGeom>
          <a:noFill/>
          <a:ln/>
        </p:spPr>
        <p:txBody>
          <a:bodyPr wrap="square" lIns="0" tIns="0" rIns="0" bIns="0" rtlCol="0" anchor="ctr"/>
          <a:lstStyle/>
          <a:p>
            <a:pPr indent="0" marL="0">
              <a:buNone/>
            </a:pPr>
            <a:r>
              <a:rPr lang="en-US" sz="1250" dirty="0">
                <a:solidFill>
                  <a:schemeClr val="tx1"/>
                </a:solidFill>
              </a:rPr>
              <a:t>CSV files as downloaded</a:t>
            </a:r>
            <a:endParaRPr lang="en-US" sz="1250" dirty="0"/>
          </a:p>
        </p:txBody>
      </p:sp>
      <p:sp>
        <p:nvSpPr>
          <p:cNvPr id="23" name="Example table"/>
          <p:cNvSpPr txBox="1"/>
          <p:nvPr/>
        </p:nvSpPr>
        <p:spPr>
          <a:xfrm>
            <a:off x="6675120" y="28163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bronze_snowflake</a:t>
            </a:r>
            <a:endParaRPr lang="en-US" sz="1150" dirty="0"/>
          </a:p>
        </p:txBody>
      </p:sp>
      <p:sp>
        <p:nvSpPr>
          <p:cNvPr id="24" name="Example note"/>
          <p:cNvSpPr txBox="1"/>
          <p:nvPr/>
        </p:nvSpPr>
        <p:spPr>
          <a:xfrm>
            <a:off x="9052560" y="2816352"/>
            <a:ext cx="2514600" cy="365760"/>
          </a:xfrm>
          <a:prstGeom prst="rect">
            <a:avLst/>
          </a:prstGeom>
          <a:noFill/>
          <a:ln/>
        </p:spPr>
        <p:txBody>
          <a:bodyPr wrap="square" lIns="0" tIns="0" rIns="0" bIns="0" rtlCol="0" anchor="ctr"/>
          <a:lstStyle/>
          <a:p>
            <a:pPr indent="0" marL="0">
              <a:buNone/>
            </a:pPr>
            <a:r>
              <a:rPr lang="en-US" sz="1250" dirty="0">
                <a:solidFill>
                  <a:schemeClr val="tx1"/>
                </a:solidFill>
              </a:rPr>
              <a:t>The query extract</a:t>
            </a:r>
            <a:endParaRPr lang="en-US" sz="1250" dirty="0"/>
          </a:p>
        </p:txBody>
      </p:sp>
      <p:sp>
        <p:nvSpPr>
          <p:cNvPr id="25" name="Example table"/>
          <p:cNvSpPr txBox="1"/>
          <p:nvPr/>
        </p:nvSpPr>
        <p:spPr>
          <a:xfrm>
            <a:off x="6675120" y="32735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bronze_edp</a:t>
            </a:r>
            <a:endParaRPr lang="en-US" sz="1150" dirty="0"/>
          </a:p>
        </p:txBody>
      </p:sp>
      <p:sp>
        <p:nvSpPr>
          <p:cNvPr id="26" name="Example note"/>
          <p:cNvSpPr txBox="1"/>
          <p:nvPr/>
        </p:nvSpPr>
        <p:spPr>
          <a:xfrm>
            <a:off x="9052560" y="3273552"/>
            <a:ext cx="2514600" cy="365760"/>
          </a:xfrm>
          <a:prstGeom prst="rect">
            <a:avLst/>
          </a:prstGeom>
          <a:noFill/>
          <a:ln/>
        </p:spPr>
        <p:txBody>
          <a:bodyPr wrap="square" lIns="0" tIns="0" rIns="0" bIns="0" rtlCol="0" anchor="ctr"/>
          <a:lstStyle/>
          <a:p>
            <a:pPr indent="0" marL="0">
              <a:buNone/>
            </a:pPr>
            <a:r>
              <a:rPr lang="en-US" sz="1250" dirty="0">
                <a:solidFill>
                  <a:schemeClr val="tx1"/>
                </a:solidFill>
              </a:rPr>
              <a:t>The SAP / EDP query result</a:t>
            </a:r>
            <a:endParaRPr lang="en-US" sz="1250" dirty="0"/>
          </a:p>
        </p:txBody>
      </p:sp>
      <p:sp>
        <p:nvSpPr>
          <p:cNvPr id="27" name="Why card"/>
          <p:cNvSpPr/>
          <p:nvPr/>
        </p:nvSpPr>
        <p:spPr>
          <a:xfrm>
            <a:off x="6492240" y="4389120"/>
            <a:ext cx="5148072" cy="914400"/>
          </a:xfrm>
          <a:prstGeom prst="roundRect">
            <a:avLst>
              <a:gd name="adj" fmla="val 12000"/>
            </a:avLst>
          </a:prstGeom>
          <a:solidFill>
            <a:schemeClr val="accent2">
              <a:alpha val="20000"/>
            </a:schemeClr>
          </a:solidFill>
          <a:ln/>
        </p:spPr>
      </p:sp>
      <p:sp>
        <p:nvSpPr>
          <p:cNvPr id="28" name="Why text"/>
          <p:cNvSpPr txBox="1"/>
          <p:nvPr/>
        </p:nvSpPr>
        <p:spPr>
          <a:xfrm>
            <a:off x="6675120" y="4389120"/>
            <a:ext cx="4800600" cy="914400"/>
          </a:xfrm>
          <a:prstGeom prst="rect">
            <a:avLst/>
          </a:prstGeom>
          <a:noFill/>
          <a:ln/>
        </p:spPr>
        <p:txBody>
          <a:bodyPr wrap="square" lIns="0" tIns="0" rIns="0" bIns="0" rtlCol="0" anchor="ctr"/>
          <a:lstStyle/>
          <a:p>
            <a:pPr indent="0" marL="0">
              <a:buNone/>
            </a:pPr>
            <a:r>
              <a:rPr lang="en-US" sz="1350" b="1" dirty="0">
                <a:solidFill>
                  <a:schemeClr val="tx1"/>
                </a:solidFill>
              </a:rPr>
              <a:t>Why: </a:t>
            </a:r>
            <a:pPr indent="0" marL="0">
              <a:buNone/>
            </a:pPr>
            <a:r>
              <a:rPr lang="en-US" sz="1350" dirty="0">
                <a:solidFill>
                  <a:schemeClr val="tx1"/>
                </a:solidFill>
              </a:rPr>
              <a:t>if a rule changes, rebuild silver from bronze without going back to the source.</a:t>
            </a:r>
            <a:endParaRPr lang="en-US" sz="1350" dirty="0"/>
          </a:p>
        </p:txBody>
      </p:sp>
      <p:sp>
        <p:nvSpPr>
          <p:cNvPr id="29"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Bronze is your audit trail: what arrived, and when.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Silver: clean, conform and validate</a:t>
            </a:r>
            <a:endParaRPr lang="en-US" sz="3200" dirty="0"/>
          </a:p>
        </p:txBody>
      </p:sp>
      <p:sp>
        <p:nvSpPr>
          <p:cNvPr id="5" name="Pill"/>
          <p:cNvSpPr txBox="1"/>
          <p:nvPr/>
        </p:nvSpPr>
        <p:spPr>
          <a:xfrm>
            <a:off x="548640" y="1783080"/>
            <a:ext cx="1188720" cy="310896"/>
          </a:xfrm>
          <a:prstGeom prst="roundRect">
            <a:avLst>
              <a:gd name="adj" fmla="val 44118"/>
            </a:avLst>
          </a:prstGeom>
          <a:solidFill>
            <a:schemeClr val="accent5"/>
          </a:solidFill>
          <a:ln/>
        </p:spPr>
        <p:txBody>
          <a:bodyPr wrap="square" lIns="0" tIns="0" rIns="0" bIns="0" rtlCol="0" anchor="ctr"/>
          <a:lstStyle/>
          <a:p>
            <a:pPr algn="ctr" indent="0" marL="0">
              <a:buNone/>
            </a:pPr>
            <a:r>
              <a:rPr lang="en-US" sz="1200" b="1" spc="200" kern="0" dirty="0">
                <a:solidFill>
                  <a:schemeClr val="tx1"/>
                </a:solidFill>
              </a:rPr>
              <a:t>SILVER</a:t>
            </a:r>
            <a:endParaRPr lang="en-US" sz="1200" dirty="0"/>
          </a:p>
        </p:txBody>
      </p:sp>
      <p:sp>
        <p:nvSpPr>
          <p:cNvPr id="6" name="Rule 1"/>
          <p:cNvSpPr/>
          <p:nvPr/>
        </p:nvSpPr>
        <p:spPr>
          <a:xfrm>
            <a:off x="548640" y="2286000"/>
            <a:ext cx="5669280" cy="548640"/>
          </a:xfrm>
          <a:prstGeom prst="roundRect">
            <a:avLst>
              <a:gd name="adj" fmla="val 20000"/>
            </a:avLst>
          </a:prstGeom>
          <a:solidFill>
            <a:schemeClr val="bg2"/>
          </a:solidFill>
          <a:ln/>
        </p:spPr>
      </p:sp>
      <p:sp>
        <p:nvSpPr>
          <p:cNvPr id="7" name="Rule number"/>
          <p:cNvSpPr txBox="1"/>
          <p:nvPr/>
        </p:nvSpPr>
        <p:spPr>
          <a:xfrm>
            <a:off x="731520" y="2286000"/>
            <a:ext cx="365760"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1</a:t>
            </a:r>
            <a:endParaRPr lang="en-US" sz="2000" dirty="0"/>
          </a:p>
        </p:txBody>
      </p:sp>
      <p:sp>
        <p:nvSpPr>
          <p:cNvPr id="8" name="Rule text"/>
          <p:cNvSpPr txBox="1"/>
          <p:nvPr/>
        </p:nvSpPr>
        <p:spPr>
          <a:xfrm>
            <a:off x="1188720" y="2286000"/>
            <a:ext cx="4846320" cy="548640"/>
          </a:xfrm>
          <a:prstGeom prst="rect">
            <a:avLst/>
          </a:prstGeom>
          <a:noFill/>
          <a:ln/>
        </p:spPr>
        <p:txBody>
          <a:bodyPr wrap="square" lIns="0" tIns="0" rIns="0" bIns="0" rtlCol="0" anchor="ctr"/>
          <a:lstStyle/>
          <a:p>
            <a:pPr indent="0" marL="0">
              <a:buNone/>
            </a:pPr>
            <a:r>
              <a:rPr lang="en-US" sz="1400" dirty="0">
                <a:solidFill>
                  <a:schemeClr val="tx1"/>
                </a:solidFill>
              </a:rPr>
              <a:t>Fix types and formats: dates and numbers</a:t>
            </a:r>
            <a:endParaRPr lang="en-US" sz="1400" dirty="0"/>
          </a:p>
        </p:txBody>
      </p:sp>
      <p:sp>
        <p:nvSpPr>
          <p:cNvPr id="9" name="Rule 2"/>
          <p:cNvSpPr/>
          <p:nvPr/>
        </p:nvSpPr>
        <p:spPr>
          <a:xfrm>
            <a:off x="548640" y="2926080"/>
            <a:ext cx="5669280" cy="548640"/>
          </a:xfrm>
          <a:prstGeom prst="roundRect">
            <a:avLst>
              <a:gd name="adj" fmla="val 20000"/>
            </a:avLst>
          </a:prstGeom>
          <a:solidFill>
            <a:schemeClr val="bg2"/>
          </a:solidFill>
          <a:ln/>
        </p:spPr>
      </p:sp>
      <p:sp>
        <p:nvSpPr>
          <p:cNvPr id="10" name="Rule number"/>
          <p:cNvSpPr txBox="1"/>
          <p:nvPr/>
        </p:nvSpPr>
        <p:spPr>
          <a:xfrm>
            <a:off x="731520" y="2926080"/>
            <a:ext cx="365760"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2</a:t>
            </a:r>
            <a:endParaRPr lang="en-US" sz="2000" dirty="0"/>
          </a:p>
        </p:txBody>
      </p:sp>
      <p:sp>
        <p:nvSpPr>
          <p:cNvPr id="11" name="Rule text"/>
          <p:cNvSpPr txBox="1"/>
          <p:nvPr/>
        </p:nvSpPr>
        <p:spPr>
          <a:xfrm>
            <a:off x="1188720" y="2926080"/>
            <a:ext cx="4846320" cy="548640"/>
          </a:xfrm>
          <a:prstGeom prst="rect">
            <a:avLst/>
          </a:prstGeom>
          <a:noFill/>
          <a:ln/>
        </p:spPr>
        <p:txBody>
          <a:bodyPr wrap="square" lIns="0" tIns="0" rIns="0" bIns="0" rtlCol="0" anchor="ctr"/>
          <a:lstStyle/>
          <a:p>
            <a:pPr indent="0" marL="0">
              <a:buNone/>
            </a:pPr>
            <a:r>
              <a:rPr lang="en-US" sz="1400" dirty="0">
                <a:solidFill>
                  <a:schemeClr val="tx1"/>
                </a:solidFill>
              </a:rPr>
              <a:t>Standardise values: Silicon Valley becomes CA</a:t>
            </a:r>
            <a:endParaRPr lang="en-US" sz="1400" dirty="0"/>
          </a:p>
        </p:txBody>
      </p:sp>
      <p:sp>
        <p:nvSpPr>
          <p:cNvPr id="12" name="Rule 3"/>
          <p:cNvSpPr/>
          <p:nvPr/>
        </p:nvSpPr>
        <p:spPr>
          <a:xfrm>
            <a:off x="548640" y="3566160"/>
            <a:ext cx="5669280" cy="548640"/>
          </a:xfrm>
          <a:prstGeom prst="roundRect">
            <a:avLst>
              <a:gd name="adj" fmla="val 20000"/>
            </a:avLst>
          </a:prstGeom>
          <a:solidFill>
            <a:schemeClr val="bg2"/>
          </a:solidFill>
          <a:ln/>
        </p:spPr>
      </p:sp>
      <p:sp>
        <p:nvSpPr>
          <p:cNvPr id="13" name="Rule number"/>
          <p:cNvSpPr txBox="1"/>
          <p:nvPr/>
        </p:nvSpPr>
        <p:spPr>
          <a:xfrm>
            <a:off x="731520" y="3566160"/>
            <a:ext cx="365760"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3</a:t>
            </a:r>
            <a:endParaRPr lang="en-US" sz="2000" dirty="0"/>
          </a:p>
        </p:txBody>
      </p:sp>
      <p:sp>
        <p:nvSpPr>
          <p:cNvPr id="14" name="Rule text"/>
          <p:cNvSpPr txBox="1"/>
          <p:nvPr/>
        </p:nvSpPr>
        <p:spPr>
          <a:xfrm>
            <a:off x="1188720" y="3566160"/>
            <a:ext cx="4846320" cy="548640"/>
          </a:xfrm>
          <a:prstGeom prst="rect">
            <a:avLst/>
          </a:prstGeom>
          <a:noFill/>
          <a:ln/>
        </p:spPr>
        <p:txBody>
          <a:bodyPr wrap="square" lIns="0" tIns="0" rIns="0" bIns="0" rtlCol="0" anchor="ctr"/>
          <a:lstStyle/>
          <a:p>
            <a:pPr indent="0" marL="0">
              <a:buNone/>
            </a:pPr>
            <a:r>
              <a:rPr lang="en-US" sz="1400" dirty="0">
                <a:solidFill>
                  <a:schemeClr val="tx1"/>
                </a:solidFill>
              </a:rPr>
              <a:t>Remove duplicate rows</a:t>
            </a:r>
            <a:endParaRPr lang="en-US" sz="1400" dirty="0"/>
          </a:p>
        </p:txBody>
      </p:sp>
      <p:sp>
        <p:nvSpPr>
          <p:cNvPr id="15" name="Rule 4"/>
          <p:cNvSpPr/>
          <p:nvPr/>
        </p:nvSpPr>
        <p:spPr>
          <a:xfrm>
            <a:off x="548640" y="4206240"/>
            <a:ext cx="5669280" cy="548640"/>
          </a:xfrm>
          <a:prstGeom prst="roundRect">
            <a:avLst>
              <a:gd name="adj" fmla="val 20000"/>
            </a:avLst>
          </a:prstGeom>
          <a:solidFill>
            <a:schemeClr val="bg2"/>
          </a:solidFill>
          <a:ln/>
        </p:spPr>
      </p:sp>
      <p:sp>
        <p:nvSpPr>
          <p:cNvPr id="16" name="Rule number"/>
          <p:cNvSpPr txBox="1"/>
          <p:nvPr/>
        </p:nvSpPr>
        <p:spPr>
          <a:xfrm>
            <a:off x="731520" y="4206240"/>
            <a:ext cx="365760"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4</a:t>
            </a:r>
            <a:endParaRPr lang="en-US" sz="2000" dirty="0"/>
          </a:p>
        </p:txBody>
      </p:sp>
      <p:sp>
        <p:nvSpPr>
          <p:cNvPr id="17" name="Rule text"/>
          <p:cNvSpPr txBox="1"/>
          <p:nvPr/>
        </p:nvSpPr>
        <p:spPr>
          <a:xfrm>
            <a:off x="1188720" y="4206240"/>
            <a:ext cx="4846320" cy="548640"/>
          </a:xfrm>
          <a:prstGeom prst="rect">
            <a:avLst/>
          </a:prstGeom>
          <a:noFill/>
          <a:ln/>
        </p:spPr>
        <p:txBody>
          <a:bodyPr wrap="square" lIns="0" tIns="0" rIns="0" bIns="0" rtlCol="0" anchor="ctr"/>
          <a:lstStyle/>
          <a:p>
            <a:pPr indent="0" marL="0">
              <a:buNone/>
            </a:pPr>
            <a:r>
              <a:rPr lang="en-US" sz="1400" dirty="0">
                <a:solidFill>
                  <a:schemeClr val="tx1"/>
                </a:solidFill>
              </a:rPr>
              <a:t>Join to reference tables. Flag what does not map</a:t>
            </a:r>
            <a:endParaRPr lang="en-US" sz="1400" dirty="0"/>
          </a:p>
        </p:txBody>
      </p:sp>
      <p:sp>
        <p:nvSpPr>
          <p:cNvPr id="18" name="Rule 5"/>
          <p:cNvSpPr/>
          <p:nvPr/>
        </p:nvSpPr>
        <p:spPr>
          <a:xfrm>
            <a:off x="548640" y="4846320"/>
            <a:ext cx="5669280" cy="548640"/>
          </a:xfrm>
          <a:prstGeom prst="roundRect">
            <a:avLst>
              <a:gd name="adj" fmla="val 20000"/>
            </a:avLst>
          </a:prstGeom>
          <a:solidFill>
            <a:schemeClr val="bg2"/>
          </a:solidFill>
          <a:ln/>
        </p:spPr>
      </p:sp>
      <p:sp>
        <p:nvSpPr>
          <p:cNvPr id="19" name="Rule number"/>
          <p:cNvSpPr txBox="1"/>
          <p:nvPr/>
        </p:nvSpPr>
        <p:spPr>
          <a:xfrm>
            <a:off x="731520" y="4846320"/>
            <a:ext cx="365760"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5</a:t>
            </a:r>
            <a:endParaRPr lang="en-US" sz="2000" dirty="0"/>
          </a:p>
        </p:txBody>
      </p:sp>
      <p:sp>
        <p:nvSpPr>
          <p:cNvPr id="20" name="Rule text"/>
          <p:cNvSpPr txBox="1"/>
          <p:nvPr/>
        </p:nvSpPr>
        <p:spPr>
          <a:xfrm>
            <a:off x="1188720" y="4846320"/>
            <a:ext cx="4846320" cy="548640"/>
          </a:xfrm>
          <a:prstGeom prst="rect">
            <a:avLst/>
          </a:prstGeom>
          <a:noFill/>
          <a:ln/>
        </p:spPr>
        <p:txBody>
          <a:bodyPr wrap="square" lIns="0" tIns="0" rIns="0" bIns="0" rtlCol="0" anchor="ctr"/>
          <a:lstStyle/>
          <a:p>
            <a:pPr indent="0" marL="0">
              <a:buNone/>
            </a:pPr>
            <a:r>
              <a:rPr lang="en-US" sz="1400" dirty="0">
                <a:solidFill>
                  <a:schemeClr val="tx1"/>
                </a:solidFill>
              </a:rPr>
              <a:t>Validate. Quarantine bad rows, never drop them silently</a:t>
            </a:r>
            <a:endParaRPr lang="en-US" sz="1400" dirty="0"/>
          </a:p>
        </p:txBody>
      </p:sp>
      <p:sp>
        <p:nvSpPr>
          <p:cNvPr id="21" name="DST example card"/>
          <p:cNvSpPr/>
          <p:nvPr/>
        </p:nvSpPr>
        <p:spPr>
          <a:xfrm>
            <a:off x="6492240" y="1783080"/>
            <a:ext cx="5148072" cy="2423160"/>
          </a:xfrm>
          <a:prstGeom prst="roundRect">
            <a:avLst>
              <a:gd name="adj" fmla="val 4528"/>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22" name="Example header"/>
          <p:cNvSpPr/>
          <p:nvPr/>
        </p:nvSpPr>
        <p:spPr>
          <a:xfrm>
            <a:off x="6492240" y="1783080"/>
            <a:ext cx="5148072" cy="457200"/>
          </a:xfrm>
          <a:prstGeom prst="roundRect">
            <a:avLst>
              <a:gd name="adj" fmla="val 20000"/>
            </a:avLst>
          </a:prstGeom>
          <a:solidFill>
            <a:schemeClr val="accent5"/>
          </a:solidFill>
          <a:ln/>
        </p:spPr>
      </p:sp>
      <p:sp>
        <p:nvSpPr>
          <p:cNvPr id="23" name="Example title"/>
          <p:cNvSpPr txBox="1"/>
          <p:nvPr/>
        </p:nvSpPr>
        <p:spPr>
          <a:xfrm>
            <a:off x="6675120" y="1783080"/>
            <a:ext cx="4846320" cy="457200"/>
          </a:xfrm>
          <a:prstGeom prst="rect">
            <a:avLst/>
          </a:prstGeom>
          <a:noFill/>
          <a:ln/>
        </p:spPr>
        <p:txBody>
          <a:bodyPr wrap="square" lIns="0" tIns="0" rIns="0" bIns="0" rtlCol="0" anchor="ctr"/>
          <a:lstStyle/>
          <a:p>
            <a:pPr indent="0" marL="0">
              <a:buNone/>
            </a:pPr>
            <a:r>
              <a:rPr lang="en-US" sz="1350" b="1" dirty="0">
                <a:solidFill>
                  <a:schemeClr val="tx1"/>
                </a:solidFill>
              </a:rPr>
              <a:t>Silver tables in the DST example</a:t>
            </a:r>
            <a:endParaRPr lang="en-US" sz="1350" dirty="0"/>
          </a:p>
        </p:txBody>
      </p:sp>
      <p:sp>
        <p:nvSpPr>
          <p:cNvPr id="24" name="Example table"/>
          <p:cNvSpPr txBox="1"/>
          <p:nvPr/>
        </p:nvSpPr>
        <p:spPr>
          <a:xfrm>
            <a:off x="6675120" y="23591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silver_impressions</a:t>
            </a:r>
            <a:endParaRPr lang="en-US" sz="1150" dirty="0"/>
          </a:p>
        </p:txBody>
      </p:sp>
      <p:sp>
        <p:nvSpPr>
          <p:cNvPr id="25" name="Example note"/>
          <p:cNvSpPr txBox="1"/>
          <p:nvPr/>
        </p:nvSpPr>
        <p:spPr>
          <a:xfrm>
            <a:off x="9052560" y="2359152"/>
            <a:ext cx="2514600" cy="365760"/>
          </a:xfrm>
          <a:prstGeom prst="rect">
            <a:avLst/>
          </a:prstGeom>
          <a:noFill/>
          <a:ln/>
        </p:spPr>
        <p:txBody>
          <a:bodyPr wrap="square" lIns="0" tIns="0" rIns="0" bIns="0" rtlCol="0" anchor="ctr"/>
          <a:lstStyle/>
          <a:p>
            <a:pPr indent="0" marL="0">
              <a:buNone/>
            </a:pPr>
            <a:r>
              <a:rPr lang="en-US" sz="1250" dirty="0">
                <a:solidFill>
                  <a:schemeClr val="tx1"/>
                </a:solidFill>
              </a:rPr>
              <a:t>States cleansed, N/A flagged</a:t>
            </a:r>
            <a:endParaRPr lang="en-US" sz="1250" dirty="0"/>
          </a:p>
        </p:txBody>
      </p:sp>
      <p:sp>
        <p:nvSpPr>
          <p:cNvPr id="26" name="Example table"/>
          <p:cNvSpPr txBox="1"/>
          <p:nvPr/>
        </p:nvSpPr>
        <p:spPr>
          <a:xfrm>
            <a:off x="6675120" y="28163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silver_revenue</a:t>
            </a:r>
            <a:endParaRPr lang="en-US" sz="1150" dirty="0"/>
          </a:p>
        </p:txBody>
      </p:sp>
      <p:sp>
        <p:nvSpPr>
          <p:cNvPr id="27" name="Example note"/>
          <p:cNvSpPr txBox="1"/>
          <p:nvPr/>
        </p:nvSpPr>
        <p:spPr>
          <a:xfrm>
            <a:off x="9052560" y="2816352"/>
            <a:ext cx="2514600" cy="365760"/>
          </a:xfrm>
          <a:prstGeom prst="rect">
            <a:avLst/>
          </a:prstGeom>
          <a:noFill/>
          <a:ln/>
        </p:spPr>
        <p:txBody>
          <a:bodyPr wrap="square" lIns="0" tIns="0" rIns="0" bIns="0" rtlCol="0" anchor="ctr"/>
          <a:lstStyle/>
          <a:p>
            <a:pPr indent="0" marL="0">
              <a:buNone/>
            </a:pPr>
            <a:r>
              <a:rPr lang="en-US" sz="1250" dirty="0">
                <a:solidFill>
                  <a:schemeClr val="tx1"/>
                </a:solidFill>
              </a:rPr>
              <a:t>Periods shifted, entities mapped</a:t>
            </a:r>
            <a:endParaRPr lang="en-US" sz="1250" dirty="0"/>
          </a:p>
        </p:txBody>
      </p:sp>
      <p:sp>
        <p:nvSpPr>
          <p:cNvPr id="28" name="Example table"/>
          <p:cNvSpPr txBox="1"/>
          <p:nvPr/>
        </p:nvSpPr>
        <p:spPr>
          <a:xfrm>
            <a:off x="6675120" y="32735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silver_unmapped</a:t>
            </a:r>
            <a:endParaRPr lang="en-US" sz="1150" dirty="0"/>
          </a:p>
        </p:txBody>
      </p:sp>
      <p:sp>
        <p:nvSpPr>
          <p:cNvPr id="29" name="Example note"/>
          <p:cNvSpPr txBox="1"/>
          <p:nvPr/>
        </p:nvSpPr>
        <p:spPr>
          <a:xfrm>
            <a:off x="9052560" y="3273552"/>
            <a:ext cx="2514600" cy="365760"/>
          </a:xfrm>
          <a:prstGeom prst="rect">
            <a:avLst/>
          </a:prstGeom>
          <a:noFill/>
          <a:ln/>
        </p:spPr>
        <p:txBody>
          <a:bodyPr wrap="square" lIns="0" tIns="0" rIns="0" bIns="0" rtlCol="0" anchor="ctr"/>
          <a:lstStyle/>
          <a:p>
            <a:pPr indent="0" marL="0">
              <a:buNone/>
            </a:pPr>
            <a:r>
              <a:rPr lang="en-US" sz="1250" dirty="0">
                <a:solidFill>
                  <a:schemeClr val="tx1"/>
                </a:solidFill>
              </a:rPr>
              <a:t>Rows that need a mapping</a:t>
            </a:r>
            <a:endParaRPr lang="en-US" sz="1250" dirty="0"/>
          </a:p>
        </p:txBody>
      </p:sp>
      <p:sp>
        <p:nvSpPr>
          <p:cNvPr id="30" name="Why card"/>
          <p:cNvSpPr/>
          <p:nvPr/>
        </p:nvSpPr>
        <p:spPr>
          <a:xfrm>
            <a:off x="6492240" y="4389120"/>
            <a:ext cx="5148072" cy="914400"/>
          </a:xfrm>
          <a:prstGeom prst="roundRect">
            <a:avLst>
              <a:gd name="adj" fmla="val 12000"/>
            </a:avLst>
          </a:prstGeom>
          <a:solidFill>
            <a:schemeClr val="accent2">
              <a:alpha val="20000"/>
            </a:schemeClr>
          </a:solidFill>
          <a:ln/>
        </p:spPr>
      </p:sp>
      <p:sp>
        <p:nvSpPr>
          <p:cNvPr id="31" name="Why text"/>
          <p:cNvSpPr txBox="1"/>
          <p:nvPr/>
        </p:nvSpPr>
        <p:spPr>
          <a:xfrm>
            <a:off x="6675120" y="4389120"/>
            <a:ext cx="4800600" cy="914400"/>
          </a:xfrm>
          <a:prstGeom prst="rect">
            <a:avLst/>
          </a:prstGeom>
          <a:noFill/>
          <a:ln/>
        </p:spPr>
        <p:txBody>
          <a:bodyPr wrap="square" lIns="0" tIns="0" rIns="0" bIns="0" rtlCol="0" anchor="ctr"/>
          <a:lstStyle/>
          <a:p>
            <a:pPr indent="0" marL="0">
              <a:buNone/>
            </a:pPr>
            <a:r>
              <a:rPr lang="en-US" sz="1350" b="1" dirty="0">
                <a:solidFill>
                  <a:schemeClr val="tx1"/>
                </a:solidFill>
              </a:rPr>
              <a:t>Rules to write here: </a:t>
            </a:r>
            <a:pPr indent="0" marL="0">
              <a:buNone/>
            </a:pPr>
            <a:r>
              <a:rPr lang="en-US" sz="1350" dirty="0">
                <a:solidFill>
                  <a:schemeClr val="tx1"/>
                </a:solidFill>
              </a:rPr>
              <a:t>shift fiscal periods, cleanse states, map ad units and company codes, flag N/A regions.</a:t>
            </a:r>
            <a:endParaRPr lang="en-US" sz="1350" dirty="0"/>
          </a:p>
        </p:txBody>
      </p:sp>
      <p:sp>
        <p:nvSpPr>
          <p:cNvPr id="32"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Silver is where the business rules live, so it is where the tests go.</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Gold: shaped for the question being asked</a:t>
            </a:r>
            <a:endParaRPr lang="en-US" sz="3200" dirty="0"/>
          </a:p>
        </p:txBody>
      </p:sp>
      <p:sp>
        <p:nvSpPr>
          <p:cNvPr id="5" name="Pill"/>
          <p:cNvSpPr txBox="1"/>
          <p:nvPr/>
        </p:nvSpPr>
        <p:spPr>
          <a:xfrm>
            <a:off x="548640" y="1783080"/>
            <a:ext cx="1188720" cy="310896"/>
          </a:xfrm>
          <a:prstGeom prst="roundRect">
            <a:avLst>
              <a:gd name="adj" fmla="val 44118"/>
            </a:avLst>
          </a:prstGeom>
          <a:solidFill>
            <a:schemeClr val="accent6"/>
          </a:solidFill>
          <a:ln/>
        </p:spPr>
        <p:txBody>
          <a:bodyPr wrap="square" lIns="0" tIns="0" rIns="0" bIns="0" rtlCol="0" anchor="ctr"/>
          <a:lstStyle/>
          <a:p>
            <a:pPr algn="ctr" indent="0" marL="0">
              <a:buNone/>
            </a:pPr>
            <a:r>
              <a:rPr lang="en-US" sz="1200" b="1" spc="200" kern="0" dirty="0">
                <a:solidFill>
                  <a:schemeClr val="tx1"/>
                </a:solidFill>
              </a:rPr>
              <a:t>GOLD</a:t>
            </a:r>
            <a:endParaRPr lang="en-US" sz="1200" dirty="0"/>
          </a:p>
        </p:txBody>
      </p:sp>
      <p:sp>
        <p:nvSpPr>
          <p:cNvPr id="6" name="Rule 1"/>
          <p:cNvSpPr/>
          <p:nvPr/>
        </p:nvSpPr>
        <p:spPr>
          <a:xfrm>
            <a:off x="548640" y="2286000"/>
            <a:ext cx="5669280" cy="621792"/>
          </a:xfrm>
          <a:prstGeom prst="roundRect">
            <a:avLst>
              <a:gd name="adj" fmla="val 17647"/>
            </a:avLst>
          </a:prstGeom>
          <a:solidFill>
            <a:schemeClr val="bg2"/>
          </a:solidFill>
          <a:ln/>
        </p:spPr>
      </p:sp>
      <p:sp>
        <p:nvSpPr>
          <p:cNvPr id="7" name="Rule number"/>
          <p:cNvSpPr txBox="1"/>
          <p:nvPr/>
        </p:nvSpPr>
        <p:spPr>
          <a:xfrm>
            <a:off x="731520" y="2286000"/>
            <a:ext cx="365760" cy="62179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1</a:t>
            </a:r>
            <a:endParaRPr lang="en-US" sz="2000" dirty="0"/>
          </a:p>
        </p:txBody>
      </p:sp>
      <p:sp>
        <p:nvSpPr>
          <p:cNvPr id="8" name="Rule text"/>
          <p:cNvSpPr txBox="1"/>
          <p:nvPr/>
        </p:nvSpPr>
        <p:spPr>
          <a:xfrm>
            <a:off x="1188720" y="2286000"/>
            <a:ext cx="4846320" cy="621792"/>
          </a:xfrm>
          <a:prstGeom prst="rect">
            <a:avLst/>
          </a:prstGeom>
          <a:noFill/>
          <a:ln/>
        </p:spPr>
        <p:txBody>
          <a:bodyPr wrap="square" lIns="0" tIns="0" rIns="0" bIns="0" rtlCol="0" anchor="ctr"/>
          <a:lstStyle/>
          <a:p>
            <a:pPr indent="0" marL="0">
              <a:buNone/>
            </a:pPr>
            <a:r>
              <a:rPr lang="en-US" sz="1400" dirty="0">
                <a:solidFill>
                  <a:schemeClr val="tx1"/>
                </a:solidFill>
              </a:rPr>
              <a:t>Aggregate to the grain the business needs</a:t>
            </a:r>
            <a:endParaRPr lang="en-US" sz="1400" dirty="0"/>
          </a:p>
        </p:txBody>
      </p:sp>
      <p:sp>
        <p:nvSpPr>
          <p:cNvPr id="9" name="Rule 2"/>
          <p:cNvSpPr/>
          <p:nvPr/>
        </p:nvSpPr>
        <p:spPr>
          <a:xfrm>
            <a:off x="548640" y="2999232"/>
            <a:ext cx="5669280" cy="621792"/>
          </a:xfrm>
          <a:prstGeom prst="roundRect">
            <a:avLst>
              <a:gd name="adj" fmla="val 17647"/>
            </a:avLst>
          </a:prstGeom>
          <a:solidFill>
            <a:schemeClr val="bg2"/>
          </a:solidFill>
          <a:ln/>
        </p:spPr>
      </p:sp>
      <p:sp>
        <p:nvSpPr>
          <p:cNvPr id="10" name="Rule number"/>
          <p:cNvSpPr txBox="1"/>
          <p:nvPr/>
        </p:nvSpPr>
        <p:spPr>
          <a:xfrm>
            <a:off x="731520" y="2999232"/>
            <a:ext cx="365760" cy="62179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2</a:t>
            </a:r>
            <a:endParaRPr lang="en-US" sz="2000" dirty="0"/>
          </a:p>
        </p:txBody>
      </p:sp>
      <p:sp>
        <p:nvSpPr>
          <p:cNvPr id="11" name="Rule text"/>
          <p:cNvSpPr txBox="1"/>
          <p:nvPr/>
        </p:nvSpPr>
        <p:spPr>
          <a:xfrm>
            <a:off x="1188720" y="2999232"/>
            <a:ext cx="4846320" cy="621792"/>
          </a:xfrm>
          <a:prstGeom prst="rect">
            <a:avLst/>
          </a:prstGeom>
          <a:noFill/>
          <a:ln/>
        </p:spPr>
        <p:txBody>
          <a:bodyPr wrap="square" lIns="0" tIns="0" rIns="0" bIns="0" rtlCol="0" anchor="ctr"/>
          <a:lstStyle/>
          <a:p>
            <a:pPr indent="0" marL="0">
              <a:buNone/>
            </a:pPr>
            <a:r>
              <a:rPr lang="en-US" sz="1400" dirty="0">
                <a:solidFill>
                  <a:schemeClr val="tx1"/>
                </a:solidFill>
              </a:rPr>
              <a:t>Calculate measures: shares and apportioned amounts</a:t>
            </a:r>
            <a:endParaRPr lang="en-US" sz="1400" dirty="0"/>
          </a:p>
        </p:txBody>
      </p:sp>
      <p:sp>
        <p:nvSpPr>
          <p:cNvPr id="12" name="Rule 3"/>
          <p:cNvSpPr/>
          <p:nvPr/>
        </p:nvSpPr>
        <p:spPr>
          <a:xfrm>
            <a:off x="548640" y="3712464"/>
            <a:ext cx="5669280" cy="621792"/>
          </a:xfrm>
          <a:prstGeom prst="roundRect">
            <a:avLst>
              <a:gd name="adj" fmla="val 17647"/>
            </a:avLst>
          </a:prstGeom>
          <a:solidFill>
            <a:schemeClr val="bg2"/>
          </a:solidFill>
          <a:ln/>
        </p:spPr>
      </p:sp>
      <p:sp>
        <p:nvSpPr>
          <p:cNvPr id="13" name="Rule number"/>
          <p:cNvSpPr txBox="1"/>
          <p:nvPr/>
        </p:nvSpPr>
        <p:spPr>
          <a:xfrm>
            <a:off x="731520" y="3712464"/>
            <a:ext cx="365760" cy="62179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3</a:t>
            </a:r>
            <a:endParaRPr lang="en-US" sz="2000" dirty="0"/>
          </a:p>
        </p:txBody>
      </p:sp>
      <p:sp>
        <p:nvSpPr>
          <p:cNvPr id="14" name="Rule text"/>
          <p:cNvSpPr txBox="1"/>
          <p:nvPr/>
        </p:nvSpPr>
        <p:spPr>
          <a:xfrm>
            <a:off x="1188720" y="3712464"/>
            <a:ext cx="4846320" cy="621792"/>
          </a:xfrm>
          <a:prstGeom prst="rect">
            <a:avLst/>
          </a:prstGeom>
          <a:noFill/>
          <a:ln/>
        </p:spPr>
        <p:txBody>
          <a:bodyPr wrap="square" lIns="0" tIns="0" rIns="0" bIns="0" rtlCol="0" anchor="ctr"/>
          <a:lstStyle/>
          <a:p>
            <a:pPr indent="0" marL="0">
              <a:buNone/>
            </a:pPr>
            <a:r>
              <a:rPr lang="en-US" sz="1400" dirty="0">
                <a:solidFill>
                  <a:schemeClr val="tx1"/>
                </a:solidFill>
              </a:rPr>
              <a:t>Name columns for the people who use them</a:t>
            </a:r>
            <a:endParaRPr lang="en-US" sz="1400" dirty="0"/>
          </a:p>
        </p:txBody>
      </p:sp>
      <p:sp>
        <p:nvSpPr>
          <p:cNvPr id="15" name="Rule 4"/>
          <p:cNvSpPr/>
          <p:nvPr/>
        </p:nvSpPr>
        <p:spPr>
          <a:xfrm>
            <a:off x="548640" y="4425696"/>
            <a:ext cx="5669280" cy="621792"/>
          </a:xfrm>
          <a:prstGeom prst="roundRect">
            <a:avLst>
              <a:gd name="adj" fmla="val 17647"/>
            </a:avLst>
          </a:prstGeom>
          <a:solidFill>
            <a:schemeClr val="bg2"/>
          </a:solidFill>
          <a:ln/>
        </p:spPr>
      </p:sp>
      <p:sp>
        <p:nvSpPr>
          <p:cNvPr id="16" name="Rule number"/>
          <p:cNvSpPr txBox="1"/>
          <p:nvPr/>
        </p:nvSpPr>
        <p:spPr>
          <a:xfrm>
            <a:off x="731520" y="4425696"/>
            <a:ext cx="365760" cy="621792"/>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4</a:t>
            </a:r>
            <a:endParaRPr lang="en-US" sz="2000" dirty="0"/>
          </a:p>
        </p:txBody>
      </p:sp>
      <p:sp>
        <p:nvSpPr>
          <p:cNvPr id="17" name="Rule text"/>
          <p:cNvSpPr txBox="1"/>
          <p:nvPr/>
        </p:nvSpPr>
        <p:spPr>
          <a:xfrm>
            <a:off x="1188720" y="4425696"/>
            <a:ext cx="4846320" cy="621792"/>
          </a:xfrm>
          <a:prstGeom prst="rect">
            <a:avLst/>
          </a:prstGeom>
          <a:noFill/>
          <a:ln/>
        </p:spPr>
        <p:txBody>
          <a:bodyPr wrap="square" lIns="0" tIns="0" rIns="0" bIns="0" rtlCol="0" anchor="ctr"/>
          <a:lstStyle/>
          <a:p>
            <a:pPr indent="0" marL="0">
              <a:buNone/>
            </a:pPr>
            <a:r>
              <a:rPr lang="en-US" sz="1400" dirty="0">
                <a:solidFill>
                  <a:schemeClr val="tx1"/>
                </a:solidFill>
              </a:rPr>
              <a:t>Keep it stable and documented. Others depend on it</a:t>
            </a:r>
            <a:endParaRPr lang="en-US" sz="1400" dirty="0"/>
          </a:p>
        </p:txBody>
      </p:sp>
      <p:sp>
        <p:nvSpPr>
          <p:cNvPr id="18" name="DST example card"/>
          <p:cNvSpPr/>
          <p:nvPr/>
        </p:nvSpPr>
        <p:spPr>
          <a:xfrm>
            <a:off x="6492240" y="1783080"/>
            <a:ext cx="5148072" cy="2423160"/>
          </a:xfrm>
          <a:prstGeom prst="roundRect">
            <a:avLst>
              <a:gd name="adj" fmla="val 4528"/>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9" name="Example header"/>
          <p:cNvSpPr/>
          <p:nvPr/>
        </p:nvSpPr>
        <p:spPr>
          <a:xfrm>
            <a:off x="6492240" y="1783080"/>
            <a:ext cx="5148072" cy="457200"/>
          </a:xfrm>
          <a:prstGeom prst="roundRect">
            <a:avLst>
              <a:gd name="adj" fmla="val 20000"/>
            </a:avLst>
          </a:prstGeom>
          <a:solidFill>
            <a:schemeClr val="accent6"/>
          </a:solidFill>
          <a:ln/>
        </p:spPr>
      </p:sp>
      <p:sp>
        <p:nvSpPr>
          <p:cNvPr id="20" name="Example title"/>
          <p:cNvSpPr txBox="1"/>
          <p:nvPr/>
        </p:nvSpPr>
        <p:spPr>
          <a:xfrm>
            <a:off x="6675120" y="1783080"/>
            <a:ext cx="4846320" cy="457200"/>
          </a:xfrm>
          <a:prstGeom prst="rect">
            <a:avLst/>
          </a:prstGeom>
          <a:noFill/>
          <a:ln/>
        </p:spPr>
        <p:txBody>
          <a:bodyPr wrap="square" lIns="0" tIns="0" rIns="0" bIns="0" rtlCol="0" anchor="ctr"/>
          <a:lstStyle/>
          <a:p>
            <a:pPr indent="0" marL="0">
              <a:buNone/>
            </a:pPr>
            <a:r>
              <a:rPr lang="en-US" sz="1350" b="1" dirty="0">
                <a:solidFill>
                  <a:schemeClr val="tx1"/>
                </a:solidFill>
              </a:rPr>
              <a:t>gold_dst_apportioned  ·  columns</a:t>
            </a:r>
            <a:endParaRPr lang="en-US" sz="1350" dirty="0"/>
          </a:p>
        </p:txBody>
      </p:sp>
      <p:sp>
        <p:nvSpPr>
          <p:cNvPr id="21" name="Example table"/>
          <p:cNvSpPr txBox="1"/>
          <p:nvPr/>
        </p:nvSpPr>
        <p:spPr>
          <a:xfrm>
            <a:off x="6675120" y="23591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period, entity, state</a:t>
            </a:r>
            <a:endParaRPr lang="en-US" sz="1150" dirty="0"/>
          </a:p>
        </p:txBody>
      </p:sp>
      <p:sp>
        <p:nvSpPr>
          <p:cNvPr id="22" name="Example note"/>
          <p:cNvSpPr txBox="1"/>
          <p:nvPr/>
        </p:nvSpPr>
        <p:spPr>
          <a:xfrm>
            <a:off x="9052560" y="2359152"/>
            <a:ext cx="2514600" cy="365760"/>
          </a:xfrm>
          <a:prstGeom prst="rect">
            <a:avLst/>
          </a:prstGeom>
          <a:noFill/>
          <a:ln/>
        </p:spPr>
        <p:txBody>
          <a:bodyPr wrap="square" lIns="0" tIns="0" rIns="0" bIns="0" rtlCol="0" anchor="ctr"/>
          <a:lstStyle/>
          <a:p>
            <a:pPr indent="0" marL="0">
              <a:buNone/>
            </a:pPr>
            <a:r>
              <a:rPr lang="en-US" sz="1250" dirty="0">
                <a:solidFill>
                  <a:schemeClr val="tx1"/>
                </a:solidFill>
              </a:rPr>
              <a:t>The grain: one row each</a:t>
            </a:r>
            <a:endParaRPr lang="en-US" sz="1250" dirty="0"/>
          </a:p>
        </p:txBody>
      </p:sp>
      <p:sp>
        <p:nvSpPr>
          <p:cNvPr id="23" name="Example table"/>
          <p:cNvSpPr txBox="1"/>
          <p:nvPr/>
        </p:nvSpPr>
        <p:spPr>
          <a:xfrm>
            <a:off x="6675120" y="28163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impressions, share</a:t>
            </a:r>
            <a:endParaRPr lang="en-US" sz="1150" dirty="0"/>
          </a:p>
        </p:txBody>
      </p:sp>
      <p:sp>
        <p:nvSpPr>
          <p:cNvPr id="24" name="Example note"/>
          <p:cNvSpPr txBox="1"/>
          <p:nvPr/>
        </p:nvSpPr>
        <p:spPr>
          <a:xfrm>
            <a:off x="9052560" y="2816352"/>
            <a:ext cx="2514600" cy="365760"/>
          </a:xfrm>
          <a:prstGeom prst="rect">
            <a:avLst/>
          </a:prstGeom>
          <a:noFill/>
          <a:ln/>
        </p:spPr>
        <p:txBody>
          <a:bodyPr wrap="square" lIns="0" tIns="0" rIns="0" bIns="0" rtlCol="0" anchor="ctr"/>
          <a:lstStyle/>
          <a:p>
            <a:pPr indent="0" marL="0">
              <a:buNone/>
            </a:pPr>
            <a:r>
              <a:rPr lang="en-US" sz="1250" dirty="0">
                <a:solidFill>
                  <a:schemeClr val="tx1"/>
                </a:solidFill>
              </a:rPr>
              <a:t>The numerator and the share</a:t>
            </a:r>
            <a:endParaRPr lang="en-US" sz="1250" dirty="0"/>
          </a:p>
        </p:txBody>
      </p:sp>
      <p:sp>
        <p:nvSpPr>
          <p:cNvPr id="25" name="Example table"/>
          <p:cNvSpPr txBox="1"/>
          <p:nvPr/>
        </p:nvSpPr>
        <p:spPr>
          <a:xfrm>
            <a:off x="6675120" y="3273552"/>
            <a:ext cx="2331720" cy="365760"/>
          </a:xfrm>
          <a:prstGeom prst="rect">
            <a:avLst/>
          </a:prstGeom>
          <a:noFill/>
          <a:ln/>
        </p:spPr>
        <p:txBody>
          <a:bodyPr wrap="square" lIns="0" tIns="0" rIns="0" bIns="0" rtlCol="0" anchor="ct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apportioned_amount</a:t>
            </a:r>
            <a:endParaRPr lang="en-US" sz="1150" dirty="0"/>
          </a:p>
        </p:txBody>
      </p:sp>
      <p:sp>
        <p:nvSpPr>
          <p:cNvPr id="26" name="Example note"/>
          <p:cNvSpPr txBox="1"/>
          <p:nvPr/>
        </p:nvSpPr>
        <p:spPr>
          <a:xfrm>
            <a:off x="9052560" y="3273552"/>
            <a:ext cx="2514600" cy="365760"/>
          </a:xfrm>
          <a:prstGeom prst="rect">
            <a:avLst/>
          </a:prstGeom>
          <a:noFill/>
          <a:ln/>
        </p:spPr>
        <p:txBody>
          <a:bodyPr wrap="square" lIns="0" tIns="0" rIns="0" bIns="0" rtlCol="0" anchor="ctr"/>
          <a:lstStyle/>
          <a:p>
            <a:pPr indent="0" marL="0">
              <a:buNone/>
            </a:pPr>
            <a:r>
              <a:rPr lang="en-US" sz="1250" dirty="0">
                <a:solidFill>
                  <a:schemeClr val="tx1"/>
                </a:solidFill>
              </a:rPr>
              <a:t>Revenue times the share</a:t>
            </a:r>
            <a:endParaRPr lang="en-US" sz="1250" dirty="0"/>
          </a:p>
        </p:txBody>
      </p:sp>
      <p:sp>
        <p:nvSpPr>
          <p:cNvPr id="27" name="Why card"/>
          <p:cNvSpPr/>
          <p:nvPr/>
        </p:nvSpPr>
        <p:spPr>
          <a:xfrm>
            <a:off x="6492240" y="4389120"/>
            <a:ext cx="5148072" cy="914400"/>
          </a:xfrm>
          <a:prstGeom prst="roundRect">
            <a:avLst>
              <a:gd name="adj" fmla="val 12000"/>
            </a:avLst>
          </a:prstGeom>
          <a:solidFill>
            <a:schemeClr val="accent2">
              <a:alpha val="20000"/>
            </a:schemeClr>
          </a:solidFill>
          <a:ln/>
        </p:spPr>
      </p:sp>
      <p:sp>
        <p:nvSpPr>
          <p:cNvPr id="28" name="Why text"/>
          <p:cNvSpPr txBox="1"/>
          <p:nvPr/>
        </p:nvSpPr>
        <p:spPr>
          <a:xfrm>
            <a:off x="6675120" y="4389120"/>
            <a:ext cx="4800600" cy="914400"/>
          </a:xfrm>
          <a:prstGeom prst="rect">
            <a:avLst/>
          </a:prstGeom>
          <a:noFill/>
          <a:ln/>
        </p:spPr>
        <p:txBody>
          <a:bodyPr wrap="square" lIns="0" tIns="0" rIns="0" bIns="0" rtlCol="0" anchor="ctr"/>
          <a:lstStyle/>
          <a:p>
            <a:pPr indent="0" marL="0">
              <a:buNone/>
            </a:pPr>
            <a:r>
              <a:rPr lang="en-US" sz="1350" b="1" dirty="0">
                <a:solidFill>
                  <a:schemeClr val="tx1"/>
                </a:solidFill>
              </a:rPr>
              <a:t>Consumers: </a:t>
            </a:r>
            <a:pPr indent="0" marL="0">
              <a:buNone/>
            </a:pPr>
            <a:r>
              <a:rPr lang="en-US" sz="1350" dirty="0">
                <a:solidFill>
                  <a:schemeClr val="tx1"/>
                </a:solidFill>
              </a:rPr>
              <a:t>Power BI reads gold tables directly (Direct Lake). Excel and portal-driven apps read them too.</a:t>
            </a:r>
            <a:endParaRPr lang="en-US" sz="1350" dirty="0"/>
          </a:p>
        </p:txBody>
      </p:sp>
      <p:sp>
        <p:nvSpPr>
          <p:cNvPr id="29"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Gold answers one question well. Add another gold table rather than bending this one.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What belongs in each layer</a:t>
            </a:r>
            <a:endParaRPr lang="en-US" sz="3200" dirty="0"/>
          </a:p>
        </p:txBody>
      </p:sp>
      <p:graphicFrame>
        <p:nvGraphicFramePr>
          <p:cNvPr id="57" name="Layer matrix"/>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5852160"/>
                <a:gridCol w="1737360"/>
                <a:gridCol w="1737360"/>
                <a:gridCol w="1764792"/>
              </a:tblGrid>
              <a:tr h="384048">
                <a:tc>
                  <a:txBody>
                    <a:bodyPr/>
                    <a:lstStyle/>
                    <a:p>
                      <a:pPr indent="0" marL="0">
                        <a:buNone/>
                      </a:pPr>
                      <a:r>
                        <a:rPr lang="en-US" sz="1350" b="1" dirty="0">
                          <a:solidFill>
                            <a:schemeClr val="bg1"/>
                          </a:solidFill>
                        </a:rPr>
                        <a:t>Step</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50" b="1" dirty="0">
                          <a:solidFill>
                            <a:schemeClr val="bg1"/>
                          </a:solidFill>
                        </a:rPr>
                        <a:t>Bronze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50" b="1" dirty="0">
                          <a:solidFill>
                            <a:schemeClr val="bg1"/>
                          </a:solidFill>
                        </a:rPr>
                        <a:t>Silver</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350" b="1" dirty="0">
                          <a:solidFill>
                            <a:schemeClr val="bg1"/>
                          </a:solidFill>
                        </a:rPr>
                        <a:t>Gold</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350" dirty="0">
                          <a:solidFill>
                            <a:schemeClr val="tx1"/>
                          </a:solidFill>
                        </a:rPr>
                        <a:t>Keep the raw file or extract as received</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600" b="1" dirty="0">
                          <a:solidFill>
                            <a:schemeClr val="accent4"/>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350" dirty="0">
                          <a:solidFill>
                            <a:schemeClr val="tx1"/>
                          </a:solidFill>
                        </a:rPr>
                        <a:t>Add load time and file name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600" b="1" dirty="0">
                          <a:solidFill>
                            <a:schemeClr val="accent4"/>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350" dirty="0">
                          <a:solidFill>
                            <a:schemeClr val="tx1"/>
                          </a:solidFill>
                        </a:rPr>
                        <a:t>Cast text to dates and numbers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600" b="1" dirty="0">
                          <a:solidFill>
                            <a:schemeClr val="accent5"/>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350" dirty="0">
                          <a:solidFill>
                            <a:schemeClr val="tx1"/>
                          </a:solidFill>
                        </a:rPr>
                        <a:t>Standardise values: states, codes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600" b="1" dirty="0">
                          <a:solidFill>
                            <a:schemeClr val="accent5"/>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350" dirty="0">
                          <a:solidFill>
                            <a:schemeClr val="tx1"/>
                          </a:solidFill>
                        </a:rPr>
                        <a:t>Remove duplicates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600" b="1" dirty="0">
                          <a:solidFill>
                            <a:schemeClr val="accent5"/>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350" dirty="0">
                          <a:solidFill>
                            <a:schemeClr val="tx1"/>
                          </a:solidFill>
                        </a:rPr>
                        <a:t>Join to mapping tables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600" b="1" dirty="0">
                          <a:solidFill>
                            <a:schemeClr val="accent5"/>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350" dirty="0">
                          <a:solidFill>
                            <a:schemeClr val="tx1"/>
                          </a:solidFill>
                        </a:rPr>
                        <a:t>Flag or quarantine unmapped rows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600" b="1" dirty="0">
                          <a:solidFill>
                            <a:schemeClr val="accent5"/>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350" dirty="0">
                          <a:solidFill>
                            <a:schemeClr val="tx1"/>
                          </a:solidFill>
                        </a:rPr>
                        <a:t>Aggregate to the reporting grain</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600" b="1" dirty="0">
                          <a:solidFill>
                            <a:schemeClr val="accent6"/>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350" dirty="0">
                          <a:solidFill>
                            <a:schemeClr val="tx1"/>
                          </a:solidFill>
                        </a:rPr>
                        <a:t>Calculate shares and apportioned amounts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600" b="1" dirty="0">
                          <a:solidFill>
                            <a:schemeClr val="accent6"/>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350" dirty="0">
                          <a:solidFill>
                            <a:schemeClr val="tx1"/>
                          </a:solidFill>
                        </a:rPr>
                        <a:t>Publish for Power BI and Excel</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600" b="1" dirty="0">
                          <a:solidFill>
                            <a:schemeClr val="accent6"/>
                          </a:solidFill>
                        </a:rPr>
                        <a: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akeaway"/>
          <p:cNvSpPr txBox="1"/>
          <p:nvPr/>
        </p:nvSpPr>
        <p:spPr>
          <a:xfrm>
            <a:off x="548640" y="5779008"/>
            <a:ext cx="11094415" cy="457200"/>
          </a:xfrm>
          <a:prstGeom prst="roundRect">
            <a:avLst>
              <a:gd name="adj" fmla="val 20000"/>
            </a:avLst>
          </a:prstGeom>
          <a:solidFill>
            <a:schemeClr val="tx1"/>
          </a:solidFill>
          <a:ln/>
        </p:spPr>
        <p:txBody>
          <a:bodyPr wrap="square" lIns="279400" tIns="0" rIns="279400" bIns="0" rtlCol="0" anchor="ctr"/>
          <a:lstStyle/>
          <a:p>
            <a:pPr indent="0" marL="0">
              <a:buNone/>
            </a:pPr>
            <a:r>
              <a:rPr lang="en-US" sz="1600" i="1" dirty="0">
                <a:solidFill>
                  <a:schemeClr val="bg1"/>
                </a:solidFill>
              </a:rPr>
              <a:t>If a rule changes, rebuild from the layer where that rule lives.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DST workflow, layer by layer</a:t>
            </a:r>
            <a:endParaRPr lang="en-US" sz="3200" dirty="0"/>
          </a:p>
        </p:txBody>
      </p:sp>
      <p:sp>
        <p:nvSpPr>
          <p:cNvPr id="5" name="Pill"/>
          <p:cNvSpPr txBox="1"/>
          <p:nvPr/>
        </p:nvSpPr>
        <p:spPr>
          <a:xfrm>
            <a:off x="548640" y="1783080"/>
            <a:ext cx="1737360" cy="329184"/>
          </a:xfrm>
          <a:prstGeom prst="roundRect">
            <a:avLst>
              <a:gd name="adj" fmla="val 41667"/>
            </a:avLst>
          </a:prstGeom>
          <a:solidFill>
            <a:schemeClr val="tx1"/>
          </a:solidFill>
          <a:ln/>
        </p:spPr>
        <p:txBody>
          <a:bodyPr wrap="square" lIns="0" tIns="0" rIns="0" bIns="0" rtlCol="0" anchor="ctr"/>
          <a:lstStyle/>
          <a:p>
            <a:pPr algn="ctr" indent="0" marL="0">
              <a:buNone/>
            </a:pPr>
            <a:r>
              <a:rPr lang="en-US" sz="1100" b="1" spc="200" kern="0" dirty="0">
                <a:solidFill>
                  <a:schemeClr val="bg1"/>
                </a:solidFill>
              </a:rPr>
              <a:t>SOURCES</a:t>
            </a:r>
            <a:endParaRPr lang="en-US" sz="1100" dirty="0"/>
          </a:p>
        </p:txBody>
      </p:sp>
      <p:sp>
        <p:nvSpPr>
          <p:cNvPr id="6" name="Sources item 1"/>
          <p:cNvSpPr/>
          <p:nvPr/>
        </p:nvSpPr>
        <p:spPr>
          <a:xfrm>
            <a:off x="548640" y="2286000"/>
            <a:ext cx="1737360" cy="603504"/>
          </a:xfrm>
          <a:prstGeom prst="roundRect">
            <a:avLst>
              <a:gd name="adj" fmla="val 18182"/>
            </a:avLst>
          </a:prstGeom>
          <a:solidFill>
            <a:schemeClr val="bg2"/>
          </a:solidFill>
          <a:ln/>
        </p:spPr>
      </p:sp>
      <p:sp>
        <p:nvSpPr>
          <p:cNvPr id="7" name="Item text"/>
          <p:cNvSpPr txBox="1"/>
          <p:nvPr/>
        </p:nvSpPr>
        <p:spPr>
          <a:xfrm>
            <a:off x="658368" y="2286000"/>
            <a:ext cx="1554480" cy="603504"/>
          </a:xfrm>
          <a:prstGeom prst="rect">
            <a:avLst/>
          </a:prstGeom>
          <a:noFill/>
          <a:ln/>
        </p:spPr>
        <p:txBody>
          <a:bodyPr wrap="square" lIns="0" tIns="0" rIns="0" bIns="0" rtlCol="0" anchor="ctr"/>
          <a:lstStyle/>
          <a:p>
            <a:pPr indent="0" marL="0">
              <a:buNone/>
            </a:pPr>
            <a:r>
              <a:rPr lang="en-US" sz="1250" b="1" dirty="0">
                <a:solidFill>
                  <a:schemeClr val="tx1"/>
                </a:solidFill>
              </a:rPr>
              <a:t>Snowflake</a:t>
            </a:r>
            <a:endParaRPr lang="en-US" sz="1250" dirty="0"/>
          </a:p>
        </p:txBody>
      </p:sp>
      <p:sp>
        <p:nvSpPr>
          <p:cNvPr id="8" name="Sources item 2"/>
          <p:cNvSpPr/>
          <p:nvPr/>
        </p:nvSpPr>
        <p:spPr>
          <a:xfrm>
            <a:off x="548640" y="2999232"/>
            <a:ext cx="1737360" cy="603504"/>
          </a:xfrm>
          <a:prstGeom prst="roundRect">
            <a:avLst>
              <a:gd name="adj" fmla="val 18182"/>
            </a:avLst>
          </a:prstGeom>
          <a:solidFill>
            <a:schemeClr val="bg2"/>
          </a:solidFill>
          <a:ln/>
        </p:spPr>
      </p:sp>
      <p:sp>
        <p:nvSpPr>
          <p:cNvPr id="9" name="Item text"/>
          <p:cNvSpPr txBox="1"/>
          <p:nvPr/>
        </p:nvSpPr>
        <p:spPr>
          <a:xfrm>
            <a:off x="658368" y="2999232"/>
            <a:ext cx="1554480" cy="603504"/>
          </a:xfrm>
          <a:prstGeom prst="rect">
            <a:avLst/>
          </a:prstGeom>
          <a:noFill/>
          <a:ln/>
        </p:spPr>
        <p:txBody>
          <a:bodyPr wrap="square" lIns="0" tIns="0" rIns="0" bIns="0" rtlCol="0" anchor="ctr"/>
          <a:lstStyle/>
          <a:p>
            <a:pPr indent="0" marL="0">
              <a:buNone/>
            </a:pPr>
            <a:r>
              <a:rPr lang="en-US" sz="1250" b="1" dirty="0">
                <a:solidFill>
                  <a:schemeClr val="tx1"/>
                </a:solidFill>
              </a:rPr>
              <a:t>Google Ad Manager CSVs</a:t>
            </a:r>
            <a:endParaRPr lang="en-US" sz="1250" dirty="0"/>
          </a:p>
        </p:txBody>
      </p:sp>
      <p:sp>
        <p:nvSpPr>
          <p:cNvPr id="10" name="Sources item 3"/>
          <p:cNvSpPr/>
          <p:nvPr/>
        </p:nvSpPr>
        <p:spPr>
          <a:xfrm>
            <a:off x="548640" y="3712464"/>
            <a:ext cx="1737360" cy="603504"/>
          </a:xfrm>
          <a:prstGeom prst="roundRect">
            <a:avLst>
              <a:gd name="adj" fmla="val 18182"/>
            </a:avLst>
          </a:prstGeom>
          <a:solidFill>
            <a:schemeClr val="bg2"/>
          </a:solidFill>
          <a:ln/>
        </p:spPr>
      </p:sp>
      <p:sp>
        <p:nvSpPr>
          <p:cNvPr id="11" name="Item text"/>
          <p:cNvSpPr txBox="1"/>
          <p:nvPr/>
        </p:nvSpPr>
        <p:spPr>
          <a:xfrm>
            <a:off x="658368" y="3712464"/>
            <a:ext cx="1554480" cy="603504"/>
          </a:xfrm>
          <a:prstGeom prst="rect">
            <a:avLst/>
          </a:prstGeom>
          <a:noFill/>
          <a:ln/>
        </p:spPr>
        <p:txBody>
          <a:bodyPr wrap="square" lIns="0" tIns="0" rIns="0" bIns="0" rtlCol="0" anchor="ctr"/>
          <a:lstStyle/>
          <a:p>
            <a:pPr indent="0" marL="0">
              <a:buNone/>
            </a:pPr>
            <a:r>
              <a:rPr lang="en-US" sz="1250" b="1" dirty="0">
                <a:solidFill>
                  <a:schemeClr val="tx1"/>
                </a:solidFill>
              </a:rPr>
              <a:t>SAP / EDP</a:t>
            </a:r>
            <a:endParaRPr lang="en-US" sz="1250" dirty="0"/>
          </a:p>
        </p:txBody>
      </p:sp>
      <p:sp>
        <p:nvSpPr>
          <p:cNvPr id="12" name="Sources item 4"/>
          <p:cNvSpPr/>
          <p:nvPr/>
        </p:nvSpPr>
        <p:spPr>
          <a:xfrm>
            <a:off x="548640" y="4425696"/>
            <a:ext cx="1737360" cy="603504"/>
          </a:xfrm>
          <a:prstGeom prst="roundRect">
            <a:avLst>
              <a:gd name="adj" fmla="val 18182"/>
            </a:avLst>
          </a:prstGeom>
          <a:solidFill>
            <a:schemeClr val="bg2"/>
          </a:solidFill>
          <a:ln/>
        </p:spPr>
      </p:sp>
      <p:sp>
        <p:nvSpPr>
          <p:cNvPr id="13" name="Item text"/>
          <p:cNvSpPr txBox="1"/>
          <p:nvPr/>
        </p:nvSpPr>
        <p:spPr>
          <a:xfrm>
            <a:off x="658368" y="4425696"/>
            <a:ext cx="1554480" cy="603504"/>
          </a:xfrm>
          <a:prstGeom prst="rect">
            <a:avLst/>
          </a:prstGeom>
          <a:noFill/>
          <a:ln/>
        </p:spPr>
        <p:txBody>
          <a:bodyPr wrap="square" lIns="0" tIns="0" rIns="0" bIns="0" rtlCol="0" anchor="ctr"/>
          <a:lstStyle/>
          <a:p>
            <a:pPr indent="0" marL="0">
              <a:buNone/>
            </a:pPr>
            <a:r>
              <a:rPr lang="en-US" sz="1250" b="1" dirty="0">
                <a:solidFill>
                  <a:schemeClr val="tx1"/>
                </a:solidFill>
              </a:rPr>
              <a:t>Excel mapping tabs</a:t>
            </a:r>
            <a:endParaRPr lang="en-US" sz="1250" dirty="0"/>
          </a:p>
        </p:txBody>
      </p:sp>
      <p:sp>
        <p:nvSpPr>
          <p:cNvPr id="14" name="Layer arrow 1"/>
          <p:cNvSpPr/>
          <p:nvPr/>
        </p:nvSpPr>
        <p:spPr>
          <a:xfrm>
            <a:off x="2304288" y="3246120"/>
            <a:ext cx="265176" cy="292608"/>
          </a:xfrm>
          <a:prstGeom prst="rightArrow">
            <a:avLst/>
          </a:prstGeom>
          <a:solidFill>
            <a:schemeClr val="accent5"/>
          </a:solidFill>
          <a:ln/>
        </p:spPr>
      </p:sp>
      <p:sp>
        <p:nvSpPr>
          <p:cNvPr id="15" name="Pill"/>
          <p:cNvSpPr txBox="1"/>
          <p:nvPr/>
        </p:nvSpPr>
        <p:spPr>
          <a:xfrm>
            <a:off x="2587752" y="1783080"/>
            <a:ext cx="2194560" cy="329184"/>
          </a:xfrm>
          <a:prstGeom prst="roundRect">
            <a:avLst>
              <a:gd name="adj" fmla="val 41667"/>
            </a:avLst>
          </a:prstGeom>
          <a:solidFill>
            <a:schemeClr val="accent4"/>
          </a:solidFill>
          <a:ln/>
        </p:spPr>
        <p:txBody>
          <a:bodyPr wrap="square" lIns="0" tIns="0" rIns="0" bIns="0" rtlCol="0" anchor="ctr"/>
          <a:lstStyle/>
          <a:p>
            <a:pPr algn="ctr" indent="0" marL="0">
              <a:buNone/>
            </a:pPr>
            <a:r>
              <a:rPr lang="en-US" sz="1100" b="1" spc="200" kern="0" dirty="0">
                <a:solidFill>
                  <a:schemeClr val="bg1"/>
                </a:solidFill>
              </a:rPr>
              <a:t>BRONZE</a:t>
            </a:r>
            <a:endParaRPr lang="en-US" sz="1100" dirty="0"/>
          </a:p>
        </p:txBody>
      </p:sp>
      <p:sp>
        <p:nvSpPr>
          <p:cNvPr id="16" name="Bronze item 1"/>
          <p:cNvSpPr/>
          <p:nvPr/>
        </p:nvSpPr>
        <p:spPr>
          <a:xfrm>
            <a:off x="2587752" y="2286000"/>
            <a:ext cx="2194560" cy="603504"/>
          </a:xfrm>
          <a:prstGeom prst="roundRect">
            <a:avLst>
              <a:gd name="adj" fmla="val 18182"/>
            </a:avLst>
          </a:prstGeom>
          <a:solidFill>
            <a:schemeClr val="bg2"/>
          </a:solidFill>
          <a:ln/>
        </p:spPr>
      </p:sp>
      <p:sp>
        <p:nvSpPr>
          <p:cNvPr id="17" name="Item text"/>
          <p:cNvSpPr txBox="1"/>
          <p:nvPr/>
        </p:nvSpPr>
        <p:spPr>
          <a:xfrm>
            <a:off x="2697480" y="2286000"/>
            <a:ext cx="2011680" cy="603504"/>
          </a:xfrm>
          <a:prstGeom prst="rect">
            <a:avLst/>
          </a:prstGeom>
          <a:noFill/>
          <a:ln/>
        </p:spPr>
        <p:txBody>
          <a:bodyPr wrap="square" lIns="0" tIns="0" rIns="0" bIns="0" rtlCol="0" anchor="ctr"/>
          <a:lstStyle/>
          <a:p>
            <a:pPr indent="0" marL="0">
              <a:buNone/>
            </a:pPr>
            <a:r>
              <a:rPr lang="en-US" sz="1050" b="1" dirty="0">
                <a:solidFill>
                  <a:schemeClr val="accent1"/>
                </a:solidFill>
                <a:latin typeface="Courier New" pitchFamily="34" charset="0"/>
                <a:ea typeface="Courier New" pitchFamily="34" charset="-122"/>
                <a:cs typeface="Courier New" pitchFamily="34" charset="-120"/>
              </a:rPr>
              <a:t>bronze_snowflake</a:t>
            </a:r>
            <a:endParaRPr lang="en-US" sz="1050" dirty="0"/>
          </a:p>
        </p:txBody>
      </p:sp>
      <p:sp>
        <p:nvSpPr>
          <p:cNvPr id="18" name="Bronze item 2"/>
          <p:cNvSpPr/>
          <p:nvPr/>
        </p:nvSpPr>
        <p:spPr>
          <a:xfrm>
            <a:off x="2587752" y="2999232"/>
            <a:ext cx="2194560" cy="603504"/>
          </a:xfrm>
          <a:prstGeom prst="roundRect">
            <a:avLst>
              <a:gd name="adj" fmla="val 18182"/>
            </a:avLst>
          </a:prstGeom>
          <a:solidFill>
            <a:schemeClr val="bg2"/>
          </a:solidFill>
          <a:ln/>
        </p:spPr>
      </p:sp>
      <p:sp>
        <p:nvSpPr>
          <p:cNvPr id="19" name="Item text"/>
          <p:cNvSpPr txBox="1"/>
          <p:nvPr/>
        </p:nvSpPr>
        <p:spPr>
          <a:xfrm>
            <a:off x="2697480" y="2999232"/>
            <a:ext cx="2011680" cy="603504"/>
          </a:xfrm>
          <a:prstGeom prst="rect">
            <a:avLst/>
          </a:prstGeom>
          <a:noFill/>
          <a:ln/>
        </p:spPr>
        <p:txBody>
          <a:bodyPr wrap="square" lIns="0" tIns="0" rIns="0" bIns="0" rtlCol="0" anchor="ctr"/>
          <a:lstStyle/>
          <a:p>
            <a:pPr indent="0" marL="0">
              <a:buNone/>
            </a:pPr>
            <a:r>
              <a:rPr lang="en-US" sz="1050" b="1" dirty="0">
                <a:solidFill>
                  <a:schemeClr val="accent1"/>
                </a:solidFill>
                <a:latin typeface="Courier New" pitchFamily="34" charset="0"/>
                <a:ea typeface="Courier New" pitchFamily="34" charset="-122"/>
                <a:cs typeface="Courier New" pitchFamily="34" charset="-120"/>
              </a:rPr>
              <a:t>bronze_gam</a:t>
            </a:r>
            <a:endParaRPr lang="en-US" sz="1050" dirty="0"/>
          </a:p>
        </p:txBody>
      </p:sp>
      <p:sp>
        <p:nvSpPr>
          <p:cNvPr id="20" name="Bronze item 3"/>
          <p:cNvSpPr/>
          <p:nvPr/>
        </p:nvSpPr>
        <p:spPr>
          <a:xfrm>
            <a:off x="2587752" y="3712464"/>
            <a:ext cx="2194560" cy="603504"/>
          </a:xfrm>
          <a:prstGeom prst="roundRect">
            <a:avLst>
              <a:gd name="adj" fmla="val 18182"/>
            </a:avLst>
          </a:prstGeom>
          <a:solidFill>
            <a:schemeClr val="bg2"/>
          </a:solidFill>
          <a:ln/>
        </p:spPr>
      </p:sp>
      <p:sp>
        <p:nvSpPr>
          <p:cNvPr id="21" name="Item text"/>
          <p:cNvSpPr txBox="1"/>
          <p:nvPr/>
        </p:nvSpPr>
        <p:spPr>
          <a:xfrm>
            <a:off x="2697480" y="3712464"/>
            <a:ext cx="2011680" cy="603504"/>
          </a:xfrm>
          <a:prstGeom prst="rect">
            <a:avLst/>
          </a:prstGeom>
          <a:noFill/>
          <a:ln/>
        </p:spPr>
        <p:txBody>
          <a:bodyPr wrap="square" lIns="0" tIns="0" rIns="0" bIns="0" rtlCol="0" anchor="ctr"/>
          <a:lstStyle/>
          <a:p>
            <a:pPr indent="0" marL="0">
              <a:buNone/>
            </a:pPr>
            <a:r>
              <a:rPr lang="en-US" sz="1050" b="1" dirty="0">
                <a:solidFill>
                  <a:schemeClr val="accent1"/>
                </a:solidFill>
                <a:latin typeface="Courier New" pitchFamily="34" charset="0"/>
                <a:ea typeface="Courier New" pitchFamily="34" charset="-122"/>
                <a:cs typeface="Courier New" pitchFamily="34" charset="-120"/>
              </a:rPr>
              <a:t>bronze_edp</a:t>
            </a:r>
            <a:endParaRPr lang="en-US" sz="1050" dirty="0"/>
          </a:p>
        </p:txBody>
      </p:sp>
      <p:sp>
        <p:nvSpPr>
          <p:cNvPr id="22" name="Layer arrow 2"/>
          <p:cNvSpPr/>
          <p:nvPr/>
        </p:nvSpPr>
        <p:spPr>
          <a:xfrm>
            <a:off x="4800600" y="3246120"/>
            <a:ext cx="265176" cy="292608"/>
          </a:xfrm>
          <a:prstGeom prst="rightArrow">
            <a:avLst/>
          </a:prstGeom>
          <a:solidFill>
            <a:schemeClr val="accent5"/>
          </a:solidFill>
          <a:ln/>
        </p:spPr>
      </p:sp>
      <p:sp>
        <p:nvSpPr>
          <p:cNvPr id="23" name="Pill"/>
          <p:cNvSpPr txBox="1"/>
          <p:nvPr/>
        </p:nvSpPr>
        <p:spPr>
          <a:xfrm>
            <a:off x="5084064" y="1783080"/>
            <a:ext cx="2194560" cy="329184"/>
          </a:xfrm>
          <a:prstGeom prst="roundRect">
            <a:avLst>
              <a:gd name="adj" fmla="val 41667"/>
            </a:avLst>
          </a:prstGeom>
          <a:solidFill>
            <a:schemeClr val="accent5"/>
          </a:solidFill>
          <a:ln/>
        </p:spPr>
        <p:txBody>
          <a:bodyPr wrap="square" lIns="0" tIns="0" rIns="0" bIns="0" rtlCol="0" anchor="ctr"/>
          <a:lstStyle/>
          <a:p>
            <a:pPr algn="ctr" indent="0" marL="0">
              <a:buNone/>
            </a:pPr>
            <a:r>
              <a:rPr lang="en-US" sz="1100" b="1" spc="200" kern="0" dirty="0">
                <a:solidFill>
                  <a:schemeClr val="tx1"/>
                </a:solidFill>
              </a:rPr>
              <a:t>SILVER</a:t>
            </a:r>
            <a:endParaRPr lang="en-US" sz="1100" dirty="0"/>
          </a:p>
        </p:txBody>
      </p:sp>
      <p:sp>
        <p:nvSpPr>
          <p:cNvPr id="24" name="Silver item 1"/>
          <p:cNvSpPr/>
          <p:nvPr/>
        </p:nvSpPr>
        <p:spPr>
          <a:xfrm>
            <a:off x="5084064" y="2286000"/>
            <a:ext cx="2194560" cy="603504"/>
          </a:xfrm>
          <a:prstGeom prst="roundRect">
            <a:avLst>
              <a:gd name="adj" fmla="val 18182"/>
            </a:avLst>
          </a:prstGeom>
          <a:solidFill>
            <a:schemeClr val="bg2"/>
          </a:solidFill>
          <a:ln/>
        </p:spPr>
      </p:sp>
      <p:sp>
        <p:nvSpPr>
          <p:cNvPr id="25" name="Item text"/>
          <p:cNvSpPr txBox="1"/>
          <p:nvPr/>
        </p:nvSpPr>
        <p:spPr>
          <a:xfrm>
            <a:off x="5193792" y="2286000"/>
            <a:ext cx="2011680" cy="603504"/>
          </a:xfrm>
          <a:prstGeom prst="rect">
            <a:avLst/>
          </a:prstGeom>
          <a:noFill/>
          <a:ln/>
        </p:spPr>
        <p:txBody>
          <a:bodyPr wrap="square" lIns="0" tIns="0" rIns="0" bIns="0" rtlCol="0" anchor="ctr"/>
          <a:lstStyle/>
          <a:p>
            <a:pPr indent="0" marL="0">
              <a:buNone/>
            </a:pPr>
            <a:r>
              <a:rPr lang="en-US" sz="1050" b="1" dirty="0">
                <a:solidFill>
                  <a:schemeClr val="accent1"/>
                </a:solidFill>
                <a:latin typeface="Courier New" pitchFamily="34" charset="0"/>
                <a:ea typeface="Courier New" pitchFamily="34" charset="-122"/>
                <a:cs typeface="Courier New" pitchFamily="34" charset="-120"/>
              </a:rPr>
              <a:t>silver_impressions</a:t>
            </a:r>
            <a:endParaRPr lang="en-US" sz="1050" dirty="0"/>
          </a:p>
        </p:txBody>
      </p:sp>
      <p:sp>
        <p:nvSpPr>
          <p:cNvPr id="26" name="Silver item 2"/>
          <p:cNvSpPr/>
          <p:nvPr/>
        </p:nvSpPr>
        <p:spPr>
          <a:xfrm>
            <a:off x="5084064" y="2999232"/>
            <a:ext cx="2194560" cy="603504"/>
          </a:xfrm>
          <a:prstGeom prst="roundRect">
            <a:avLst>
              <a:gd name="adj" fmla="val 18182"/>
            </a:avLst>
          </a:prstGeom>
          <a:solidFill>
            <a:schemeClr val="bg2"/>
          </a:solidFill>
          <a:ln/>
        </p:spPr>
      </p:sp>
      <p:sp>
        <p:nvSpPr>
          <p:cNvPr id="27" name="Item text"/>
          <p:cNvSpPr txBox="1"/>
          <p:nvPr/>
        </p:nvSpPr>
        <p:spPr>
          <a:xfrm>
            <a:off x="5193792" y="2999232"/>
            <a:ext cx="2011680" cy="603504"/>
          </a:xfrm>
          <a:prstGeom prst="rect">
            <a:avLst/>
          </a:prstGeom>
          <a:noFill/>
          <a:ln/>
        </p:spPr>
        <p:txBody>
          <a:bodyPr wrap="square" lIns="0" tIns="0" rIns="0" bIns="0" rtlCol="0" anchor="ctr"/>
          <a:lstStyle/>
          <a:p>
            <a:pPr indent="0" marL="0">
              <a:buNone/>
            </a:pPr>
            <a:r>
              <a:rPr lang="en-US" sz="1050" b="1" dirty="0">
                <a:solidFill>
                  <a:schemeClr val="accent1"/>
                </a:solidFill>
                <a:latin typeface="Courier New" pitchFamily="34" charset="0"/>
                <a:ea typeface="Courier New" pitchFamily="34" charset="-122"/>
                <a:cs typeface="Courier New" pitchFamily="34" charset="-120"/>
              </a:rPr>
              <a:t>silver_revenue</a:t>
            </a:r>
            <a:endParaRPr lang="en-US" sz="1050" dirty="0"/>
          </a:p>
        </p:txBody>
      </p:sp>
      <p:sp>
        <p:nvSpPr>
          <p:cNvPr id="28" name="Silver item 3"/>
          <p:cNvSpPr/>
          <p:nvPr/>
        </p:nvSpPr>
        <p:spPr>
          <a:xfrm>
            <a:off x="5084064" y="3712464"/>
            <a:ext cx="2194560" cy="603504"/>
          </a:xfrm>
          <a:prstGeom prst="roundRect">
            <a:avLst>
              <a:gd name="adj" fmla="val 18182"/>
            </a:avLst>
          </a:prstGeom>
          <a:solidFill>
            <a:schemeClr val="bg2"/>
          </a:solidFill>
          <a:ln/>
        </p:spPr>
      </p:sp>
      <p:sp>
        <p:nvSpPr>
          <p:cNvPr id="29" name="Item text"/>
          <p:cNvSpPr txBox="1"/>
          <p:nvPr/>
        </p:nvSpPr>
        <p:spPr>
          <a:xfrm>
            <a:off x="5193792" y="3712464"/>
            <a:ext cx="2011680" cy="603504"/>
          </a:xfrm>
          <a:prstGeom prst="rect">
            <a:avLst/>
          </a:prstGeom>
          <a:noFill/>
          <a:ln/>
        </p:spPr>
        <p:txBody>
          <a:bodyPr wrap="square" lIns="0" tIns="0" rIns="0" bIns="0" rtlCol="0" anchor="ctr"/>
          <a:lstStyle/>
          <a:p>
            <a:pPr indent="0" marL="0">
              <a:buNone/>
            </a:pPr>
            <a:r>
              <a:rPr lang="en-US" sz="1050" b="1" dirty="0">
                <a:solidFill>
                  <a:schemeClr val="accent1"/>
                </a:solidFill>
                <a:latin typeface="Courier New" pitchFamily="34" charset="0"/>
                <a:ea typeface="Courier New" pitchFamily="34" charset="-122"/>
                <a:cs typeface="Courier New" pitchFamily="34" charset="-120"/>
              </a:rPr>
              <a:t>silver_unmapped</a:t>
            </a:r>
            <a:endParaRPr lang="en-US" sz="1050" dirty="0"/>
          </a:p>
        </p:txBody>
      </p:sp>
      <p:sp>
        <p:nvSpPr>
          <p:cNvPr id="30" name="Silver item 4"/>
          <p:cNvSpPr/>
          <p:nvPr/>
        </p:nvSpPr>
        <p:spPr>
          <a:xfrm>
            <a:off x="5084064" y="4425696"/>
            <a:ext cx="2194560" cy="603504"/>
          </a:xfrm>
          <a:prstGeom prst="roundRect">
            <a:avLst>
              <a:gd name="adj" fmla="val 18182"/>
            </a:avLst>
          </a:prstGeom>
          <a:solidFill>
            <a:schemeClr val="bg2"/>
          </a:solidFill>
          <a:ln/>
        </p:spPr>
      </p:sp>
      <p:sp>
        <p:nvSpPr>
          <p:cNvPr id="31" name="Item text"/>
          <p:cNvSpPr txBox="1"/>
          <p:nvPr/>
        </p:nvSpPr>
        <p:spPr>
          <a:xfrm>
            <a:off x="5193792" y="4425696"/>
            <a:ext cx="2011680" cy="603504"/>
          </a:xfrm>
          <a:prstGeom prst="rect">
            <a:avLst/>
          </a:prstGeom>
          <a:noFill/>
          <a:ln/>
        </p:spPr>
        <p:txBody>
          <a:bodyPr wrap="square" lIns="0" tIns="0" rIns="0" bIns="0" rtlCol="0" anchor="ctr"/>
          <a:lstStyle/>
          <a:p>
            <a:pPr indent="0" marL="0">
              <a:buNone/>
            </a:pPr>
            <a:r>
              <a:rPr lang="en-US" sz="1050" b="1" dirty="0">
                <a:solidFill>
                  <a:schemeClr val="accent1"/>
                </a:solidFill>
                <a:latin typeface="Courier New" pitchFamily="34" charset="0"/>
                <a:ea typeface="Courier New" pitchFamily="34" charset="-122"/>
                <a:cs typeface="Courier New" pitchFamily="34" charset="-120"/>
              </a:rPr>
              <a:t>ref_* mapping tables</a:t>
            </a:r>
            <a:endParaRPr lang="en-US" sz="1050" dirty="0"/>
          </a:p>
        </p:txBody>
      </p:sp>
      <p:sp>
        <p:nvSpPr>
          <p:cNvPr id="32" name="Layer arrow 3"/>
          <p:cNvSpPr/>
          <p:nvPr/>
        </p:nvSpPr>
        <p:spPr>
          <a:xfrm>
            <a:off x="7296912" y="3246120"/>
            <a:ext cx="265176" cy="292608"/>
          </a:xfrm>
          <a:prstGeom prst="rightArrow">
            <a:avLst/>
          </a:prstGeom>
          <a:solidFill>
            <a:schemeClr val="accent5"/>
          </a:solidFill>
          <a:ln/>
        </p:spPr>
      </p:sp>
      <p:sp>
        <p:nvSpPr>
          <p:cNvPr id="33" name="Pill"/>
          <p:cNvSpPr txBox="1"/>
          <p:nvPr/>
        </p:nvSpPr>
        <p:spPr>
          <a:xfrm>
            <a:off x="7580376" y="1783080"/>
            <a:ext cx="2011680" cy="329184"/>
          </a:xfrm>
          <a:prstGeom prst="roundRect">
            <a:avLst>
              <a:gd name="adj" fmla="val 41667"/>
            </a:avLst>
          </a:prstGeom>
          <a:solidFill>
            <a:schemeClr val="accent6"/>
          </a:solidFill>
          <a:ln/>
        </p:spPr>
        <p:txBody>
          <a:bodyPr wrap="square" lIns="0" tIns="0" rIns="0" bIns="0" rtlCol="0" anchor="ctr"/>
          <a:lstStyle/>
          <a:p>
            <a:pPr algn="ctr" indent="0" marL="0">
              <a:buNone/>
            </a:pPr>
            <a:r>
              <a:rPr lang="en-US" sz="1100" b="1" spc="200" kern="0" dirty="0">
                <a:solidFill>
                  <a:schemeClr val="tx1"/>
                </a:solidFill>
              </a:rPr>
              <a:t>GOLD</a:t>
            </a:r>
            <a:endParaRPr lang="en-US" sz="1100" dirty="0"/>
          </a:p>
        </p:txBody>
      </p:sp>
      <p:sp>
        <p:nvSpPr>
          <p:cNvPr id="34" name="Gold item 1"/>
          <p:cNvSpPr/>
          <p:nvPr/>
        </p:nvSpPr>
        <p:spPr>
          <a:xfrm>
            <a:off x="7580376" y="2286000"/>
            <a:ext cx="2011680" cy="603504"/>
          </a:xfrm>
          <a:prstGeom prst="roundRect">
            <a:avLst>
              <a:gd name="adj" fmla="val 18182"/>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5" name="Item text"/>
          <p:cNvSpPr txBox="1"/>
          <p:nvPr/>
        </p:nvSpPr>
        <p:spPr>
          <a:xfrm>
            <a:off x="7690104" y="2286000"/>
            <a:ext cx="1828800" cy="603504"/>
          </a:xfrm>
          <a:prstGeom prst="rect">
            <a:avLst/>
          </a:prstGeom>
          <a:noFill/>
          <a:ln/>
        </p:spPr>
        <p:txBody>
          <a:bodyPr wrap="square" lIns="0" tIns="0" rIns="0" bIns="0" rtlCol="0" anchor="ctr"/>
          <a:lstStyle/>
          <a:p>
            <a:pPr indent="0" marL="0">
              <a:buNone/>
            </a:pPr>
            <a:r>
              <a:rPr lang="en-US" sz="1050" b="1" dirty="0">
                <a:solidFill>
                  <a:schemeClr val="accent1"/>
                </a:solidFill>
                <a:latin typeface="Courier New" pitchFamily="34" charset="0"/>
                <a:ea typeface="Courier New" pitchFamily="34" charset="-122"/>
                <a:cs typeface="Courier New" pitchFamily="34" charset="-120"/>
              </a:rPr>
              <a:t>gold_dst_apportioned</a:t>
            </a:r>
            <a:endParaRPr lang="en-US" sz="1050" dirty="0"/>
          </a:p>
        </p:txBody>
      </p:sp>
      <p:sp>
        <p:nvSpPr>
          <p:cNvPr id="36" name="Layer arrow 4"/>
          <p:cNvSpPr/>
          <p:nvPr/>
        </p:nvSpPr>
        <p:spPr>
          <a:xfrm>
            <a:off x="9610344" y="3246120"/>
            <a:ext cx="265176" cy="292608"/>
          </a:xfrm>
          <a:prstGeom prst="rightArrow">
            <a:avLst/>
          </a:prstGeom>
          <a:solidFill>
            <a:schemeClr val="accent5"/>
          </a:solidFill>
          <a:ln/>
        </p:spPr>
      </p:sp>
      <p:sp>
        <p:nvSpPr>
          <p:cNvPr id="37" name="Pill"/>
          <p:cNvSpPr txBox="1"/>
          <p:nvPr/>
        </p:nvSpPr>
        <p:spPr>
          <a:xfrm>
            <a:off x="9893808" y="1783080"/>
            <a:ext cx="1746504" cy="329184"/>
          </a:xfrm>
          <a:prstGeom prst="roundRect">
            <a:avLst>
              <a:gd name="adj" fmla="val 41667"/>
            </a:avLst>
          </a:prstGeom>
          <a:solidFill>
            <a:schemeClr val="tx1"/>
          </a:solidFill>
          <a:ln/>
        </p:spPr>
        <p:txBody>
          <a:bodyPr wrap="square" lIns="0" tIns="0" rIns="0" bIns="0" rtlCol="0" anchor="ctr"/>
          <a:lstStyle/>
          <a:p>
            <a:pPr algn="ctr" indent="0" marL="0">
              <a:buNone/>
            </a:pPr>
            <a:r>
              <a:rPr lang="en-US" sz="1100" b="1" spc="200" kern="0" dirty="0">
                <a:solidFill>
                  <a:schemeClr val="bg1"/>
                </a:solidFill>
              </a:rPr>
              <a:t>CONSUMERS</a:t>
            </a:r>
            <a:endParaRPr lang="en-US" sz="1100" dirty="0"/>
          </a:p>
        </p:txBody>
      </p:sp>
      <p:sp>
        <p:nvSpPr>
          <p:cNvPr id="38" name="Consumers item 1"/>
          <p:cNvSpPr/>
          <p:nvPr/>
        </p:nvSpPr>
        <p:spPr>
          <a:xfrm>
            <a:off x="9893808" y="2286000"/>
            <a:ext cx="1746504" cy="603504"/>
          </a:xfrm>
          <a:prstGeom prst="roundRect">
            <a:avLst>
              <a:gd name="adj" fmla="val 18182"/>
            </a:avLst>
          </a:prstGeom>
          <a:solidFill>
            <a:schemeClr val="bg2"/>
          </a:solidFill>
          <a:ln/>
        </p:spPr>
      </p:sp>
      <p:sp>
        <p:nvSpPr>
          <p:cNvPr id="39" name="Item text"/>
          <p:cNvSpPr txBox="1"/>
          <p:nvPr/>
        </p:nvSpPr>
        <p:spPr>
          <a:xfrm>
            <a:off x="10003536" y="2286000"/>
            <a:ext cx="1563624" cy="603504"/>
          </a:xfrm>
          <a:prstGeom prst="rect">
            <a:avLst/>
          </a:prstGeom>
          <a:noFill/>
          <a:ln/>
        </p:spPr>
        <p:txBody>
          <a:bodyPr wrap="square" lIns="0" tIns="0" rIns="0" bIns="0" rtlCol="0" anchor="ctr"/>
          <a:lstStyle/>
          <a:p>
            <a:pPr indent="0" marL="0">
              <a:buNone/>
            </a:pPr>
            <a:r>
              <a:rPr lang="en-US" sz="1250" b="1" dirty="0">
                <a:solidFill>
                  <a:schemeClr val="tx1"/>
                </a:solidFill>
              </a:rPr>
              <a:t>Power BI report</a:t>
            </a:r>
            <a:endParaRPr lang="en-US" sz="1250" dirty="0"/>
          </a:p>
        </p:txBody>
      </p:sp>
      <p:sp>
        <p:nvSpPr>
          <p:cNvPr id="40" name="Consumers item 2"/>
          <p:cNvSpPr/>
          <p:nvPr/>
        </p:nvSpPr>
        <p:spPr>
          <a:xfrm>
            <a:off x="9893808" y="2999232"/>
            <a:ext cx="1746504" cy="603504"/>
          </a:xfrm>
          <a:prstGeom prst="roundRect">
            <a:avLst>
              <a:gd name="adj" fmla="val 18182"/>
            </a:avLst>
          </a:prstGeom>
          <a:solidFill>
            <a:schemeClr val="bg2"/>
          </a:solidFill>
          <a:ln/>
        </p:spPr>
      </p:sp>
      <p:sp>
        <p:nvSpPr>
          <p:cNvPr id="41" name="Item text"/>
          <p:cNvSpPr txBox="1"/>
          <p:nvPr/>
        </p:nvSpPr>
        <p:spPr>
          <a:xfrm>
            <a:off x="10003536" y="2999232"/>
            <a:ext cx="1563624" cy="603504"/>
          </a:xfrm>
          <a:prstGeom prst="rect">
            <a:avLst/>
          </a:prstGeom>
          <a:noFill/>
          <a:ln/>
        </p:spPr>
        <p:txBody>
          <a:bodyPr wrap="square" lIns="0" tIns="0" rIns="0" bIns="0" rtlCol="0" anchor="ctr"/>
          <a:lstStyle/>
          <a:p>
            <a:pPr indent="0" marL="0">
              <a:buNone/>
            </a:pPr>
            <a:r>
              <a:rPr lang="en-US" sz="1250" b="1" dirty="0">
                <a:solidFill>
                  <a:schemeClr val="tx1"/>
                </a:solidFill>
              </a:rPr>
              <a:t>Excel workpaper</a:t>
            </a:r>
            <a:endParaRPr lang="en-US" sz="1250" dirty="0"/>
          </a:p>
        </p:txBody>
      </p:sp>
      <p:sp>
        <p:nvSpPr>
          <p:cNvPr id="42" name="Consumers item 3"/>
          <p:cNvSpPr/>
          <p:nvPr/>
        </p:nvSpPr>
        <p:spPr>
          <a:xfrm>
            <a:off x="9893808" y="3712464"/>
            <a:ext cx="1746504" cy="603504"/>
          </a:xfrm>
          <a:prstGeom prst="roundRect">
            <a:avLst>
              <a:gd name="adj" fmla="val 18182"/>
            </a:avLst>
          </a:prstGeom>
          <a:solidFill>
            <a:schemeClr val="bg2"/>
          </a:solidFill>
          <a:ln/>
        </p:spPr>
      </p:sp>
      <p:sp>
        <p:nvSpPr>
          <p:cNvPr id="43" name="Item text"/>
          <p:cNvSpPr txBox="1"/>
          <p:nvPr/>
        </p:nvSpPr>
        <p:spPr>
          <a:xfrm>
            <a:off x="10003536" y="3712464"/>
            <a:ext cx="1563624" cy="603504"/>
          </a:xfrm>
          <a:prstGeom prst="rect">
            <a:avLst/>
          </a:prstGeom>
          <a:noFill/>
          <a:ln/>
        </p:spPr>
        <p:txBody>
          <a:bodyPr wrap="square" lIns="0" tIns="0" rIns="0" bIns="0" rtlCol="0" anchor="ctr"/>
          <a:lstStyle/>
          <a:p>
            <a:pPr indent="0" marL="0">
              <a:buNone/>
            </a:pPr>
            <a:r>
              <a:rPr lang="en-US" sz="1250" b="1" dirty="0">
                <a:solidFill>
                  <a:schemeClr val="tx1"/>
                </a:solidFill>
              </a:rPr>
              <a:t>CSV extract</a:t>
            </a:r>
            <a:endParaRPr lang="en-US" sz="1250" dirty="0"/>
          </a:p>
        </p:txBody>
      </p:sp>
      <p:sp>
        <p:nvSpPr>
          <p:cNvPr id="44" name="Gold note"/>
          <p:cNvSpPr/>
          <p:nvPr/>
        </p:nvSpPr>
        <p:spPr>
          <a:xfrm>
            <a:off x="7580376" y="3017520"/>
            <a:ext cx="2011680" cy="1005840"/>
          </a:xfrm>
          <a:prstGeom prst="roundRect">
            <a:avLst>
              <a:gd name="adj" fmla="val 10909"/>
            </a:avLst>
          </a:prstGeom>
          <a:solidFill>
            <a:schemeClr val="accent3">
              <a:alpha val="22000"/>
            </a:schemeClr>
          </a:solidFill>
          <a:ln/>
        </p:spPr>
      </p:sp>
      <p:sp>
        <p:nvSpPr>
          <p:cNvPr id="45" name="Gold note text"/>
          <p:cNvSpPr txBox="1"/>
          <p:nvPr/>
        </p:nvSpPr>
        <p:spPr>
          <a:xfrm>
            <a:off x="7680960" y="3017520"/>
            <a:ext cx="1828800" cy="1005840"/>
          </a:xfrm>
          <a:prstGeom prst="rect">
            <a:avLst/>
          </a:prstGeom>
          <a:noFill/>
          <a:ln/>
        </p:spPr>
        <p:txBody>
          <a:bodyPr wrap="square" lIns="0" tIns="0" rIns="0" bIns="0" rtlCol="0" anchor="ctr"/>
          <a:lstStyle/>
          <a:p>
            <a:pPr indent="0" marL="0">
              <a:buNone/>
            </a:pPr>
            <a:r>
              <a:rPr lang="en-US" sz="1200" dirty="0">
                <a:solidFill>
                  <a:schemeClr val="tx1"/>
                </a:solidFill>
              </a:rPr>
              <a:t>One table answers the apportionment question.</a:t>
            </a:r>
            <a:endParaRPr lang="en-US" sz="1200" dirty="0"/>
          </a:p>
        </p:txBody>
      </p:sp>
      <p:sp>
        <p:nvSpPr>
          <p:cNvPr id="46" name="Reference strip"/>
          <p:cNvSpPr/>
          <p:nvPr/>
        </p:nvSpPr>
        <p:spPr>
          <a:xfrm>
            <a:off x="548640" y="5212080"/>
            <a:ext cx="11094415" cy="502920"/>
          </a:xfrm>
          <a:prstGeom prst="roundRect">
            <a:avLst>
              <a:gd name="adj" fmla="val 21818"/>
            </a:avLst>
          </a:prstGeom>
          <a:solidFill>
            <a:schemeClr val="accent2">
              <a:alpha val="20000"/>
            </a:schemeClr>
          </a:solidFill>
          <a:ln/>
        </p:spPr>
      </p:sp>
      <p:sp>
        <p:nvSpPr>
          <p:cNvPr id="47" name="Reference text"/>
          <p:cNvSpPr txBox="1"/>
          <p:nvPr/>
        </p:nvSpPr>
        <p:spPr>
          <a:xfrm>
            <a:off x="777240" y="5212080"/>
            <a:ext cx="10637215" cy="502920"/>
          </a:xfrm>
          <a:prstGeom prst="rect">
            <a:avLst/>
          </a:prstGeom>
          <a:noFill/>
          <a:ln/>
        </p:spPr>
        <p:txBody>
          <a:bodyPr wrap="square" lIns="0" tIns="0" rIns="0" bIns="0" rtlCol="0" anchor="ctr"/>
          <a:lstStyle/>
          <a:p>
            <a:pPr indent="0" marL="0">
              <a:buNone/>
            </a:pPr>
            <a:r>
              <a:rPr lang="en-US" sz="1300" b="1" dirty="0">
                <a:solidFill>
                  <a:schemeClr val="tx1"/>
                </a:solidFill>
              </a:rPr>
              <a:t>Reference tables: </a:t>
            </a:r>
            <a:pPr indent="0" marL="0">
              <a:buNone/>
            </a:pPr>
            <a:r>
              <a:rPr lang="en-US" sz="1300" dirty="0">
                <a:solidFill>
                  <a:schemeClr val="tx1"/>
                </a:solidFill>
              </a:rPr>
              <a:t>the Ad Unit, Entity and State mapping tabs and the EDP criteria are loaded once as ref_ tables and joined in silver.</a:t>
            </a:r>
            <a:endParaRPr lang="en-US" sz="1300" dirty="0"/>
          </a:p>
        </p:txBody>
      </p:sp>
      <p:sp>
        <p:nvSpPr>
          <p:cNvPr id="48" name="Footnote"/>
          <p:cNvSpPr txBox="1"/>
          <p:nvPr/>
        </p:nvSpPr>
        <p:spPr>
          <a:xfrm>
            <a:off x="548640" y="5833872"/>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Illustrative design for discussion.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2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Gates between layers stop bad data early</a:t>
            </a:r>
            <a:endParaRPr lang="en-US" sz="3200" dirty="0"/>
          </a:p>
        </p:txBody>
      </p:sp>
      <p:sp>
        <p:nvSpPr>
          <p:cNvPr id="5" name="Gate 1 card"/>
          <p:cNvSpPr/>
          <p:nvPr/>
        </p:nvSpPr>
        <p:spPr>
          <a:xfrm>
            <a:off x="548640" y="1783080"/>
            <a:ext cx="3611880" cy="3611880"/>
          </a:xfrm>
          <a:prstGeom prst="roundRect">
            <a:avLst>
              <a:gd name="adj" fmla="val 3038"/>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Pill"/>
          <p:cNvSpPr txBox="1"/>
          <p:nvPr/>
        </p:nvSpPr>
        <p:spPr>
          <a:xfrm>
            <a:off x="731520" y="1938528"/>
            <a:ext cx="96012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000" b="1" spc="200" kern="0" dirty="0">
                <a:solidFill>
                  <a:schemeClr val="bg1"/>
                </a:solidFill>
              </a:rPr>
              <a:t>BRONZE</a:t>
            </a:r>
            <a:endParaRPr lang="en-US" sz="1000" dirty="0"/>
          </a:p>
        </p:txBody>
      </p:sp>
      <p:sp>
        <p:nvSpPr>
          <p:cNvPr id="7" name="Gate 1 arrow"/>
          <p:cNvSpPr/>
          <p:nvPr/>
        </p:nvSpPr>
        <p:spPr>
          <a:xfrm>
            <a:off x="1764792" y="1956816"/>
            <a:ext cx="274320" cy="237744"/>
          </a:xfrm>
          <a:prstGeom prst="rightArrow">
            <a:avLst/>
          </a:prstGeom>
          <a:solidFill>
            <a:schemeClr val="accent5"/>
          </a:solidFill>
          <a:ln/>
        </p:spPr>
      </p:sp>
      <p:sp>
        <p:nvSpPr>
          <p:cNvPr id="8" name="Pill"/>
          <p:cNvSpPr txBox="1"/>
          <p:nvPr/>
        </p:nvSpPr>
        <p:spPr>
          <a:xfrm>
            <a:off x="2103120" y="1938528"/>
            <a:ext cx="96012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SILVER</a:t>
            </a:r>
            <a:endParaRPr lang="en-US" sz="1000" dirty="0"/>
          </a:p>
        </p:txBody>
      </p:sp>
      <p:sp>
        <p:nvSpPr>
          <p:cNvPr id="9" name="Gate title"/>
          <p:cNvSpPr txBox="1"/>
          <p:nvPr/>
        </p:nvSpPr>
        <p:spPr>
          <a:xfrm>
            <a:off x="731520" y="2423160"/>
            <a:ext cx="320040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Gate 1</a:t>
            </a:r>
            <a:endParaRPr lang="en-US" sz="2000" dirty="0"/>
          </a:p>
        </p:txBody>
      </p:sp>
      <p:sp>
        <p:nvSpPr>
          <p:cNvPr id="10" name="Gate checks"/>
          <p:cNvSpPr txBox="1"/>
          <p:nvPr/>
        </p:nvSpPr>
        <p:spPr>
          <a:xfrm>
            <a:off x="731520" y="2926080"/>
            <a:ext cx="3246120" cy="2331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Row count matches the source extract</a:t>
            </a:r>
            <a:endParaRPr lang="en-US" sz="1400" dirty="0"/>
          </a:p>
          <a:p>
            <a:pPr marL="342900" indent="-342900">
              <a:spcAft>
                <a:spcPts val="1000"/>
              </a:spcAft>
              <a:buSzPct val="100000"/>
              <a:buChar char="•"/>
            </a:pPr>
            <a:r>
              <a:rPr lang="en-US" sz="1400" dirty="0">
                <a:solidFill>
                  <a:schemeClr val="tx1"/>
                </a:solidFill>
              </a:rPr>
              <a:t>Required columns are present</a:t>
            </a:r>
            <a:endParaRPr lang="en-US" sz="1400" dirty="0"/>
          </a:p>
          <a:p>
            <a:pPr marL="342900" indent="-342900">
              <a:spcAft>
                <a:spcPts val="1000"/>
              </a:spcAft>
              <a:buSzPct val="100000"/>
              <a:buChar char="•"/>
            </a:pPr>
            <a:r>
              <a:rPr lang="en-US" sz="1400" dirty="0">
                <a:solidFill>
                  <a:schemeClr val="tx1"/>
                </a:solidFill>
              </a:rPr>
              <a:t>Dates and numbers parse</a:t>
            </a:r>
            <a:endParaRPr lang="en-US" sz="1400" dirty="0"/>
          </a:p>
          <a:p>
            <a:pPr marL="342900" indent="-342900">
              <a:spcAft>
                <a:spcPts val="1000"/>
              </a:spcAft>
              <a:buSzPct val="100000"/>
              <a:buChar char="•"/>
            </a:pPr>
            <a:r>
              <a:rPr lang="en-US" sz="1400" dirty="0">
                <a:solidFill>
                  <a:schemeClr val="tx1"/>
                </a:solidFill>
              </a:rPr>
              <a:t>No duplicate keys</a:t>
            </a:r>
            <a:endParaRPr lang="en-US" sz="1400" dirty="0"/>
          </a:p>
        </p:txBody>
      </p:sp>
      <p:sp>
        <p:nvSpPr>
          <p:cNvPr id="11" name="Gate 2 card"/>
          <p:cNvSpPr/>
          <p:nvPr/>
        </p:nvSpPr>
        <p:spPr>
          <a:xfrm>
            <a:off x="4343400" y="1783080"/>
            <a:ext cx="3611880" cy="3611880"/>
          </a:xfrm>
          <a:prstGeom prst="roundRect">
            <a:avLst>
              <a:gd name="adj" fmla="val 3038"/>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2" name="Pill"/>
          <p:cNvSpPr txBox="1"/>
          <p:nvPr/>
        </p:nvSpPr>
        <p:spPr>
          <a:xfrm>
            <a:off x="4526280" y="1938528"/>
            <a:ext cx="96012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SILVER</a:t>
            </a:r>
            <a:endParaRPr lang="en-US" sz="1000" dirty="0"/>
          </a:p>
        </p:txBody>
      </p:sp>
      <p:sp>
        <p:nvSpPr>
          <p:cNvPr id="13" name="Gate 2 arrow"/>
          <p:cNvSpPr/>
          <p:nvPr/>
        </p:nvSpPr>
        <p:spPr>
          <a:xfrm>
            <a:off x="5559552" y="1956816"/>
            <a:ext cx="274320" cy="237744"/>
          </a:xfrm>
          <a:prstGeom prst="rightArrow">
            <a:avLst/>
          </a:prstGeom>
          <a:solidFill>
            <a:schemeClr val="accent5"/>
          </a:solidFill>
          <a:ln/>
        </p:spPr>
      </p:sp>
      <p:sp>
        <p:nvSpPr>
          <p:cNvPr id="14" name="Pill"/>
          <p:cNvSpPr txBox="1"/>
          <p:nvPr/>
        </p:nvSpPr>
        <p:spPr>
          <a:xfrm>
            <a:off x="5897880" y="1938528"/>
            <a:ext cx="96012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spc="200" kern="0" dirty="0">
                <a:solidFill>
                  <a:schemeClr val="tx1"/>
                </a:solidFill>
              </a:rPr>
              <a:t>GOLD</a:t>
            </a:r>
            <a:endParaRPr lang="en-US" sz="1000" dirty="0"/>
          </a:p>
        </p:txBody>
      </p:sp>
      <p:sp>
        <p:nvSpPr>
          <p:cNvPr id="15" name="Gate title"/>
          <p:cNvSpPr txBox="1"/>
          <p:nvPr/>
        </p:nvSpPr>
        <p:spPr>
          <a:xfrm>
            <a:off x="4526280" y="2423160"/>
            <a:ext cx="320040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Gate 2</a:t>
            </a:r>
            <a:endParaRPr lang="en-US" sz="2000" dirty="0"/>
          </a:p>
        </p:txBody>
      </p:sp>
      <p:sp>
        <p:nvSpPr>
          <p:cNvPr id="16" name="Gate checks"/>
          <p:cNvSpPr txBox="1"/>
          <p:nvPr/>
        </p:nvSpPr>
        <p:spPr>
          <a:xfrm>
            <a:off x="4526280" y="2926080"/>
            <a:ext cx="3246120" cy="2331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No unmapped keys, or each one is accepted</a:t>
            </a:r>
            <a:endParaRPr lang="en-US" sz="1400" dirty="0"/>
          </a:p>
          <a:p>
            <a:pPr marL="342900" indent="-342900">
              <a:spcAft>
                <a:spcPts val="1000"/>
              </a:spcAft>
              <a:buSzPct val="100000"/>
              <a:buChar char="•"/>
            </a:pPr>
            <a:r>
              <a:rPr lang="en-US" sz="1400" dirty="0">
                <a:solidFill>
                  <a:schemeClr val="tx1"/>
                </a:solidFill>
              </a:rPr>
              <a:t>No NULLs in required fields</a:t>
            </a:r>
            <a:endParaRPr lang="en-US" sz="1400" dirty="0"/>
          </a:p>
          <a:p>
            <a:pPr marL="342900" indent="-342900">
              <a:spcAft>
                <a:spcPts val="1000"/>
              </a:spcAft>
              <a:buSzPct val="100000"/>
              <a:buChar char="•"/>
            </a:pPr>
            <a:r>
              <a:rPr lang="en-US" sz="1400" dirty="0">
                <a:solidFill>
                  <a:schemeClr val="tx1"/>
                </a:solidFill>
              </a:rPr>
              <a:t>Apportioned amounts add back to revenue</a:t>
            </a:r>
            <a:endParaRPr lang="en-US" sz="1400" dirty="0"/>
          </a:p>
          <a:p>
            <a:pPr marL="342900" indent="-342900">
              <a:spcAft>
                <a:spcPts val="1000"/>
              </a:spcAft>
              <a:buSzPct val="100000"/>
              <a:buChar char="•"/>
            </a:pPr>
            <a:r>
              <a:rPr lang="en-US" sz="1400" dirty="0">
                <a:solidFill>
                  <a:schemeClr val="tx1"/>
                </a:solidFill>
              </a:rPr>
              <a:t>Shares add to 100% within each entity</a:t>
            </a:r>
            <a:endParaRPr lang="en-US" sz="1400" dirty="0"/>
          </a:p>
        </p:txBody>
      </p:sp>
      <p:sp>
        <p:nvSpPr>
          <p:cNvPr id="17" name="Trial balance card"/>
          <p:cNvSpPr/>
          <p:nvPr/>
        </p:nvSpPr>
        <p:spPr>
          <a:xfrm>
            <a:off x="8138160" y="1783080"/>
            <a:ext cx="3502152" cy="3611880"/>
          </a:xfrm>
          <a:prstGeom prst="roundRect">
            <a:avLst>
              <a:gd name="adj" fmla="val 3133"/>
            </a:avLst>
          </a:prstGeom>
          <a:solidFill>
            <a:schemeClr val="tx1"/>
          </a:solidFill>
          <a:ln/>
        </p:spPr>
      </p:sp>
      <p:sp>
        <p:nvSpPr>
          <p:cNvPr id="18" name="TB label"/>
          <p:cNvSpPr txBox="1"/>
          <p:nvPr/>
        </p:nvSpPr>
        <p:spPr>
          <a:xfrm>
            <a:off x="8366760" y="1938528"/>
            <a:ext cx="310896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ALREADY HOW YOU WORK</a:t>
            </a:r>
            <a:endParaRPr lang="en-US" sz="1000" dirty="0"/>
          </a:p>
        </p:txBody>
      </p:sp>
      <p:sp>
        <p:nvSpPr>
          <p:cNvPr id="19" name="TB headline"/>
          <p:cNvSpPr txBox="1"/>
          <p:nvPr/>
        </p:nvSpPr>
        <p:spPr>
          <a:xfrm>
            <a:off x="8366760" y="2286000"/>
            <a:ext cx="3108960" cy="109728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The trial balance workflow counts its validation errors.</a:t>
            </a:r>
            <a:endParaRPr lang="en-US" sz="1800" dirty="0"/>
          </a:p>
        </p:txBody>
      </p:sp>
      <p:sp>
        <p:nvSpPr>
          <p:cNvPr id="20" name="TB text"/>
          <p:cNvSpPr txBox="1"/>
          <p:nvPr/>
        </p:nvSpPr>
        <p:spPr>
          <a:xfrm>
            <a:off x="8366760" y="3520440"/>
            <a:ext cx="3108960" cy="822960"/>
          </a:xfrm>
          <a:prstGeom prst="rect">
            <a:avLst/>
          </a:prstGeom>
          <a:noFill/>
          <a:ln/>
        </p:spPr>
        <p:txBody>
          <a:bodyPr wrap="square" lIns="0" tIns="0" rIns="0" bIns="0" rtlCol="0" anchor="t"/>
          <a:lstStyle/>
          <a:p>
            <a:pPr indent="0" marL="0">
              <a:buNone/>
            </a:pPr>
            <a:r>
              <a:rPr lang="en-US" sz="1600" i="1" dirty="0">
                <a:solidFill>
                  <a:schemeClr val="bg1"/>
                </a:solidFill>
              </a:rPr>
              <a:t>If the count is above zero, the loads do not run.</a:t>
            </a:r>
            <a:endParaRPr lang="en-US" sz="1600" dirty="0"/>
          </a:p>
        </p:txBody>
      </p:sp>
      <p:sp>
        <p:nvSpPr>
          <p:cNvPr id="21" name="TB source"/>
          <p:cNvSpPr txBox="1"/>
          <p:nvPr/>
        </p:nvSpPr>
        <p:spPr>
          <a:xfrm>
            <a:off x="8366760" y="4846320"/>
            <a:ext cx="3108960" cy="365760"/>
          </a:xfrm>
          <a:prstGeom prst="rect">
            <a:avLst/>
          </a:prstGeom>
          <a:noFill/>
          <a:ln/>
        </p:spPr>
        <p:txBody>
          <a:bodyPr wrap="square" lIns="0" tIns="0" rIns="0" bIns="0" rtlCol="0" anchor="t"/>
          <a:lstStyle/>
          <a:p>
            <a:pPr indent="0" marL="0">
              <a:buNone/>
            </a:pPr>
            <a:r>
              <a:rPr lang="en-US" sz="1050" i="1" dirty="0">
                <a:solidFill>
                  <a:schemeClr val="bg1"/>
                </a:solidFill>
              </a:rPr>
              <a:t>Source: Comprehensive Trial Balance HANA macro</a:t>
            </a:r>
            <a:endParaRPr lang="en-US" sz="1050" dirty="0"/>
          </a:p>
        </p:txBody>
      </p:sp>
      <p:sp>
        <p:nvSpPr>
          <p:cNvPr id="22"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A failed gate stops the run and produces a report, instead of publishing a wrong number.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4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4: sort the steps into layers</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20 MIN</a:t>
            </a:r>
            <a:endParaRPr lang="en-US" sz="1100" dirty="0"/>
          </a:p>
        </p:txBody>
      </p:sp>
      <p:sp>
        <p:nvSpPr>
          <p:cNvPr id="6" name="Step 1"/>
          <p:cNvSpPr/>
          <p:nvPr/>
        </p:nvSpPr>
        <p:spPr>
          <a:xfrm>
            <a:off x="548640" y="1783080"/>
            <a:ext cx="2679192" cy="987552"/>
          </a:xfrm>
          <a:prstGeom prst="roundRect">
            <a:avLst>
              <a:gd name="adj" fmla="val 11111"/>
            </a:avLst>
          </a:prstGeom>
          <a:solidFill>
            <a:schemeClr val="bg2"/>
          </a:solidFill>
          <a:ln/>
        </p:spPr>
      </p:sp>
      <p:sp>
        <p:nvSpPr>
          <p:cNvPr id="7" name="Step number"/>
          <p:cNvSpPr txBox="1"/>
          <p:nvPr/>
        </p:nvSpPr>
        <p:spPr>
          <a:xfrm>
            <a:off x="685800" y="185623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1</a:t>
            </a:r>
            <a:endParaRPr lang="en-US" sz="1500" dirty="0"/>
          </a:p>
        </p:txBody>
      </p:sp>
      <p:sp>
        <p:nvSpPr>
          <p:cNvPr id="8" name="Step text"/>
          <p:cNvSpPr txBox="1"/>
          <p:nvPr/>
        </p:nvSpPr>
        <p:spPr>
          <a:xfrm>
            <a:off x="685800" y="2093976"/>
            <a:ext cx="2423160" cy="640080"/>
          </a:xfrm>
          <a:prstGeom prst="rect">
            <a:avLst/>
          </a:prstGeom>
          <a:noFill/>
          <a:ln/>
        </p:spPr>
        <p:txBody>
          <a:bodyPr wrap="square" lIns="0" tIns="0" rIns="0" bIns="0" rtlCol="0" anchor="t"/>
          <a:lstStyle/>
          <a:p>
            <a:pPr indent="0" marL="0">
              <a:buNone/>
            </a:pPr>
            <a:r>
              <a:rPr lang="en-US" sz="1300" dirty="0">
                <a:solidFill>
                  <a:schemeClr val="tx1"/>
                </a:solidFill>
              </a:rPr>
              <a:t>Copy the GAM CSV files into the lakehouse</a:t>
            </a:r>
            <a:endParaRPr lang="en-US" sz="1300" dirty="0"/>
          </a:p>
        </p:txBody>
      </p:sp>
      <p:sp>
        <p:nvSpPr>
          <p:cNvPr id="9" name="Step 2"/>
          <p:cNvSpPr/>
          <p:nvPr/>
        </p:nvSpPr>
        <p:spPr>
          <a:xfrm>
            <a:off x="3355848" y="1783080"/>
            <a:ext cx="2679192" cy="987552"/>
          </a:xfrm>
          <a:prstGeom prst="roundRect">
            <a:avLst>
              <a:gd name="adj" fmla="val 11111"/>
            </a:avLst>
          </a:prstGeom>
          <a:solidFill>
            <a:schemeClr val="bg2"/>
          </a:solidFill>
          <a:ln/>
        </p:spPr>
      </p:sp>
      <p:sp>
        <p:nvSpPr>
          <p:cNvPr id="10" name="Step number"/>
          <p:cNvSpPr txBox="1"/>
          <p:nvPr/>
        </p:nvSpPr>
        <p:spPr>
          <a:xfrm>
            <a:off x="3493008" y="185623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2</a:t>
            </a:r>
            <a:endParaRPr lang="en-US" sz="1500" dirty="0"/>
          </a:p>
        </p:txBody>
      </p:sp>
      <p:sp>
        <p:nvSpPr>
          <p:cNvPr id="11" name="Step text"/>
          <p:cNvSpPr txBox="1"/>
          <p:nvPr/>
        </p:nvSpPr>
        <p:spPr>
          <a:xfrm>
            <a:off x="3493008" y="2093976"/>
            <a:ext cx="2423160" cy="640080"/>
          </a:xfrm>
          <a:prstGeom prst="rect">
            <a:avLst/>
          </a:prstGeom>
          <a:noFill/>
          <a:ln/>
        </p:spPr>
        <p:txBody>
          <a:bodyPr wrap="square" lIns="0" tIns="0" rIns="0" bIns="0" rtlCol="0" anchor="t"/>
          <a:lstStyle/>
          <a:p>
            <a:pPr indent="0" marL="0">
              <a:buNone/>
            </a:pPr>
            <a:r>
              <a:rPr lang="en-US" sz="1300" dirty="0">
                <a:solidFill>
                  <a:schemeClr val="tx1"/>
                </a:solidFill>
              </a:rPr>
              <a:t>Stamp each row with load date and file name</a:t>
            </a:r>
            <a:endParaRPr lang="en-US" sz="1300" dirty="0"/>
          </a:p>
        </p:txBody>
      </p:sp>
      <p:sp>
        <p:nvSpPr>
          <p:cNvPr id="12" name="Step 3"/>
          <p:cNvSpPr/>
          <p:nvPr/>
        </p:nvSpPr>
        <p:spPr>
          <a:xfrm>
            <a:off x="6163056" y="1783080"/>
            <a:ext cx="2679192" cy="987552"/>
          </a:xfrm>
          <a:prstGeom prst="roundRect">
            <a:avLst>
              <a:gd name="adj" fmla="val 11111"/>
            </a:avLst>
          </a:prstGeom>
          <a:solidFill>
            <a:schemeClr val="bg2"/>
          </a:solidFill>
          <a:ln/>
        </p:spPr>
      </p:sp>
      <p:sp>
        <p:nvSpPr>
          <p:cNvPr id="13" name="Step number"/>
          <p:cNvSpPr txBox="1"/>
          <p:nvPr/>
        </p:nvSpPr>
        <p:spPr>
          <a:xfrm>
            <a:off x="6300216" y="185623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3</a:t>
            </a:r>
            <a:endParaRPr lang="en-US" sz="1500" dirty="0"/>
          </a:p>
        </p:txBody>
      </p:sp>
      <p:sp>
        <p:nvSpPr>
          <p:cNvPr id="14" name="Step text"/>
          <p:cNvSpPr txBox="1"/>
          <p:nvPr/>
        </p:nvSpPr>
        <p:spPr>
          <a:xfrm>
            <a:off x="6300216" y="2093976"/>
            <a:ext cx="2423160" cy="640080"/>
          </a:xfrm>
          <a:prstGeom prst="rect">
            <a:avLst/>
          </a:prstGeom>
          <a:noFill/>
          <a:ln/>
        </p:spPr>
        <p:txBody>
          <a:bodyPr wrap="square" lIns="0" tIns="0" rIns="0" bIns="0" rtlCol="0" anchor="t"/>
          <a:lstStyle/>
          <a:p>
            <a:pPr indent="0" marL="0">
              <a:buNone/>
            </a:pPr>
            <a:r>
              <a:rPr lang="en-US" sz="1300" dirty="0">
                <a:solidFill>
                  <a:schemeClr val="tx1"/>
                </a:solidFill>
              </a:rPr>
              <a:t>Keep an untouched copy of the SAP / EDP extract</a:t>
            </a:r>
            <a:endParaRPr lang="en-US" sz="1300" dirty="0"/>
          </a:p>
        </p:txBody>
      </p:sp>
      <p:sp>
        <p:nvSpPr>
          <p:cNvPr id="15" name="Step 4"/>
          <p:cNvSpPr/>
          <p:nvPr/>
        </p:nvSpPr>
        <p:spPr>
          <a:xfrm>
            <a:off x="8970264" y="1783080"/>
            <a:ext cx="2679192" cy="987552"/>
          </a:xfrm>
          <a:prstGeom prst="roundRect">
            <a:avLst>
              <a:gd name="adj" fmla="val 11111"/>
            </a:avLst>
          </a:prstGeom>
          <a:solidFill>
            <a:schemeClr val="bg2"/>
          </a:solidFill>
          <a:ln/>
        </p:spPr>
      </p:sp>
      <p:sp>
        <p:nvSpPr>
          <p:cNvPr id="16" name="Step number"/>
          <p:cNvSpPr txBox="1"/>
          <p:nvPr/>
        </p:nvSpPr>
        <p:spPr>
          <a:xfrm>
            <a:off x="9107424" y="185623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4</a:t>
            </a:r>
            <a:endParaRPr lang="en-US" sz="1500" dirty="0"/>
          </a:p>
        </p:txBody>
      </p:sp>
      <p:sp>
        <p:nvSpPr>
          <p:cNvPr id="17" name="Step text"/>
          <p:cNvSpPr txBox="1"/>
          <p:nvPr/>
        </p:nvSpPr>
        <p:spPr>
          <a:xfrm>
            <a:off x="9107424" y="2093976"/>
            <a:ext cx="2423160" cy="640080"/>
          </a:xfrm>
          <a:prstGeom prst="rect">
            <a:avLst/>
          </a:prstGeom>
          <a:noFill/>
          <a:ln/>
        </p:spPr>
        <p:txBody>
          <a:bodyPr wrap="square" lIns="0" tIns="0" rIns="0" bIns="0" rtlCol="0" anchor="t"/>
          <a:lstStyle/>
          <a:p>
            <a:pPr indent="0" marL="0">
              <a:buNone/>
            </a:pPr>
            <a:r>
              <a:rPr lang="en-US" sz="1300" dirty="0">
                <a:solidFill>
                  <a:schemeClr val="tx1"/>
                </a:solidFill>
              </a:rPr>
              <a:t>Turn 'Silicon Valley' into CA</a:t>
            </a:r>
            <a:endParaRPr lang="en-US" sz="1300" dirty="0"/>
          </a:p>
        </p:txBody>
      </p:sp>
      <p:sp>
        <p:nvSpPr>
          <p:cNvPr id="18" name="Step 5"/>
          <p:cNvSpPr/>
          <p:nvPr/>
        </p:nvSpPr>
        <p:spPr>
          <a:xfrm>
            <a:off x="548640" y="2880360"/>
            <a:ext cx="2679192" cy="987552"/>
          </a:xfrm>
          <a:prstGeom prst="roundRect">
            <a:avLst>
              <a:gd name="adj" fmla="val 11111"/>
            </a:avLst>
          </a:prstGeom>
          <a:solidFill>
            <a:schemeClr val="bg2"/>
          </a:solidFill>
          <a:ln/>
        </p:spPr>
      </p:sp>
      <p:sp>
        <p:nvSpPr>
          <p:cNvPr id="19" name="Step number"/>
          <p:cNvSpPr txBox="1"/>
          <p:nvPr/>
        </p:nvSpPr>
        <p:spPr>
          <a:xfrm>
            <a:off x="685800" y="295351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5</a:t>
            </a:r>
            <a:endParaRPr lang="en-US" sz="1500" dirty="0"/>
          </a:p>
        </p:txBody>
      </p:sp>
      <p:sp>
        <p:nvSpPr>
          <p:cNvPr id="20" name="Step text"/>
          <p:cNvSpPr txBox="1"/>
          <p:nvPr/>
        </p:nvSpPr>
        <p:spPr>
          <a:xfrm>
            <a:off x="685800" y="3191256"/>
            <a:ext cx="2423160" cy="640080"/>
          </a:xfrm>
          <a:prstGeom prst="rect">
            <a:avLst/>
          </a:prstGeom>
          <a:noFill/>
          <a:ln/>
        </p:spPr>
        <p:txBody>
          <a:bodyPr wrap="square" lIns="0" tIns="0" rIns="0" bIns="0" rtlCol="0" anchor="t"/>
          <a:lstStyle/>
          <a:p>
            <a:pPr indent="0" marL="0">
              <a:buNone/>
            </a:pPr>
            <a:r>
              <a:rPr lang="en-US" sz="1300" dirty="0">
                <a:solidFill>
                  <a:schemeClr val="tx1"/>
                </a:solidFill>
              </a:rPr>
              <a:t>Flag a NULL region as N/A</a:t>
            </a:r>
            <a:endParaRPr lang="en-US" sz="1300" dirty="0"/>
          </a:p>
        </p:txBody>
      </p:sp>
      <p:sp>
        <p:nvSpPr>
          <p:cNvPr id="21" name="Step 6"/>
          <p:cNvSpPr/>
          <p:nvPr/>
        </p:nvSpPr>
        <p:spPr>
          <a:xfrm>
            <a:off x="3355848" y="2880360"/>
            <a:ext cx="2679192" cy="987552"/>
          </a:xfrm>
          <a:prstGeom prst="roundRect">
            <a:avLst>
              <a:gd name="adj" fmla="val 11111"/>
            </a:avLst>
          </a:prstGeom>
          <a:solidFill>
            <a:schemeClr val="bg2"/>
          </a:solidFill>
          <a:ln/>
        </p:spPr>
      </p:sp>
      <p:sp>
        <p:nvSpPr>
          <p:cNvPr id="22" name="Step number"/>
          <p:cNvSpPr txBox="1"/>
          <p:nvPr/>
        </p:nvSpPr>
        <p:spPr>
          <a:xfrm>
            <a:off x="3493008" y="295351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6</a:t>
            </a:r>
            <a:endParaRPr lang="en-US" sz="1500" dirty="0"/>
          </a:p>
        </p:txBody>
      </p:sp>
      <p:sp>
        <p:nvSpPr>
          <p:cNvPr id="23" name="Step text"/>
          <p:cNvSpPr txBox="1"/>
          <p:nvPr/>
        </p:nvSpPr>
        <p:spPr>
          <a:xfrm>
            <a:off x="3493008" y="3191256"/>
            <a:ext cx="2423160" cy="640080"/>
          </a:xfrm>
          <a:prstGeom prst="rect">
            <a:avLst/>
          </a:prstGeom>
          <a:noFill/>
          <a:ln/>
        </p:spPr>
        <p:txBody>
          <a:bodyPr wrap="square" lIns="0" tIns="0" rIns="0" bIns="0" rtlCol="0" anchor="t"/>
          <a:lstStyle/>
          <a:p>
            <a:pPr indent="0" marL="0">
              <a:buNone/>
            </a:pPr>
            <a:r>
              <a:rPr lang="en-US" sz="1300" dirty="0">
                <a:solidFill>
                  <a:schemeClr val="tx1"/>
                </a:solidFill>
              </a:rPr>
              <a:t>Shift fiscal periods back three months</a:t>
            </a:r>
            <a:endParaRPr lang="en-US" sz="1300" dirty="0"/>
          </a:p>
        </p:txBody>
      </p:sp>
      <p:sp>
        <p:nvSpPr>
          <p:cNvPr id="24" name="Step 7"/>
          <p:cNvSpPr/>
          <p:nvPr/>
        </p:nvSpPr>
        <p:spPr>
          <a:xfrm>
            <a:off x="6163056" y="2880360"/>
            <a:ext cx="2679192" cy="987552"/>
          </a:xfrm>
          <a:prstGeom prst="roundRect">
            <a:avLst>
              <a:gd name="adj" fmla="val 11111"/>
            </a:avLst>
          </a:prstGeom>
          <a:solidFill>
            <a:schemeClr val="bg2"/>
          </a:solidFill>
          <a:ln/>
        </p:spPr>
      </p:sp>
      <p:sp>
        <p:nvSpPr>
          <p:cNvPr id="25" name="Step number"/>
          <p:cNvSpPr txBox="1"/>
          <p:nvPr/>
        </p:nvSpPr>
        <p:spPr>
          <a:xfrm>
            <a:off x="6300216" y="295351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7</a:t>
            </a:r>
            <a:endParaRPr lang="en-US" sz="1500" dirty="0"/>
          </a:p>
        </p:txBody>
      </p:sp>
      <p:sp>
        <p:nvSpPr>
          <p:cNvPr id="26" name="Step text"/>
          <p:cNvSpPr txBox="1"/>
          <p:nvPr/>
        </p:nvSpPr>
        <p:spPr>
          <a:xfrm>
            <a:off x="6300216" y="3191256"/>
            <a:ext cx="2423160" cy="640080"/>
          </a:xfrm>
          <a:prstGeom prst="rect">
            <a:avLst/>
          </a:prstGeom>
          <a:noFill/>
          <a:ln/>
        </p:spPr>
        <p:txBody>
          <a:bodyPr wrap="square" lIns="0" tIns="0" rIns="0" bIns="0" rtlCol="0" anchor="t"/>
          <a:lstStyle/>
          <a:p>
            <a:pPr indent="0" marL="0">
              <a:buNone/>
            </a:pPr>
            <a:r>
              <a:rPr lang="en-US" sz="1300" dirty="0">
                <a:solidFill>
                  <a:schemeClr val="tx1"/>
                </a:solidFill>
              </a:rPr>
              <a:t>Join ad units to entities and list the unmapped</a:t>
            </a:r>
            <a:endParaRPr lang="en-US" sz="1300" dirty="0"/>
          </a:p>
        </p:txBody>
      </p:sp>
      <p:sp>
        <p:nvSpPr>
          <p:cNvPr id="27" name="Step 8"/>
          <p:cNvSpPr/>
          <p:nvPr/>
        </p:nvSpPr>
        <p:spPr>
          <a:xfrm>
            <a:off x="8970264" y="2880360"/>
            <a:ext cx="2679192" cy="987552"/>
          </a:xfrm>
          <a:prstGeom prst="roundRect">
            <a:avLst>
              <a:gd name="adj" fmla="val 11111"/>
            </a:avLst>
          </a:prstGeom>
          <a:solidFill>
            <a:schemeClr val="bg2"/>
          </a:solidFill>
          <a:ln/>
        </p:spPr>
      </p:sp>
      <p:sp>
        <p:nvSpPr>
          <p:cNvPr id="28" name="Step number"/>
          <p:cNvSpPr txBox="1"/>
          <p:nvPr/>
        </p:nvSpPr>
        <p:spPr>
          <a:xfrm>
            <a:off x="9107424" y="295351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8</a:t>
            </a:r>
            <a:endParaRPr lang="en-US" sz="1500" dirty="0"/>
          </a:p>
        </p:txBody>
      </p:sp>
      <p:sp>
        <p:nvSpPr>
          <p:cNvPr id="29" name="Step text"/>
          <p:cNvSpPr txBox="1"/>
          <p:nvPr/>
        </p:nvSpPr>
        <p:spPr>
          <a:xfrm>
            <a:off x="9107424" y="3191256"/>
            <a:ext cx="2423160" cy="640080"/>
          </a:xfrm>
          <a:prstGeom prst="rect">
            <a:avLst/>
          </a:prstGeom>
          <a:noFill/>
          <a:ln/>
        </p:spPr>
        <p:txBody>
          <a:bodyPr wrap="square" lIns="0" tIns="0" rIns="0" bIns="0" rtlCol="0" anchor="t"/>
          <a:lstStyle/>
          <a:p>
            <a:pPr indent="0" marL="0">
              <a:buNone/>
            </a:pPr>
            <a:r>
              <a:rPr lang="en-US" sz="1300" dirty="0">
                <a:solidFill>
                  <a:schemeClr val="tx1"/>
                </a:solidFill>
              </a:rPr>
              <a:t>Remove duplicate rows</a:t>
            </a:r>
            <a:endParaRPr lang="en-US" sz="1300" dirty="0"/>
          </a:p>
        </p:txBody>
      </p:sp>
      <p:sp>
        <p:nvSpPr>
          <p:cNvPr id="30" name="Step 9"/>
          <p:cNvSpPr/>
          <p:nvPr/>
        </p:nvSpPr>
        <p:spPr>
          <a:xfrm>
            <a:off x="548640" y="3977640"/>
            <a:ext cx="2679192" cy="987552"/>
          </a:xfrm>
          <a:prstGeom prst="roundRect">
            <a:avLst>
              <a:gd name="adj" fmla="val 11111"/>
            </a:avLst>
          </a:prstGeom>
          <a:solidFill>
            <a:schemeClr val="bg2"/>
          </a:solidFill>
          <a:ln/>
        </p:spPr>
      </p:sp>
      <p:sp>
        <p:nvSpPr>
          <p:cNvPr id="31" name="Step number"/>
          <p:cNvSpPr txBox="1"/>
          <p:nvPr/>
        </p:nvSpPr>
        <p:spPr>
          <a:xfrm>
            <a:off x="685800" y="405079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9</a:t>
            </a:r>
            <a:endParaRPr lang="en-US" sz="1500" dirty="0"/>
          </a:p>
        </p:txBody>
      </p:sp>
      <p:sp>
        <p:nvSpPr>
          <p:cNvPr id="32" name="Step text"/>
          <p:cNvSpPr txBox="1"/>
          <p:nvPr/>
        </p:nvSpPr>
        <p:spPr>
          <a:xfrm>
            <a:off x="685800" y="4288536"/>
            <a:ext cx="2423160" cy="640080"/>
          </a:xfrm>
          <a:prstGeom prst="rect">
            <a:avLst/>
          </a:prstGeom>
          <a:noFill/>
          <a:ln/>
        </p:spPr>
        <p:txBody>
          <a:bodyPr wrap="square" lIns="0" tIns="0" rIns="0" bIns="0" rtlCol="0" anchor="t"/>
          <a:lstStyle/>
          <a:p>
            <a:pPr indent="0" marL="0">
              <a:buNone/>
            </a:pPr>
            <a:r>
              <a:rPr lang="en-US" sz="1300" dirty="0">
                <a:solidFill>
                  <a:schemeClr val="tx1"/>
                </a:solidFill>
              </a:rPr>
              <a:t>Compute each state's share of impressions</a:t>
            </a:r>
            <a:endParaRPr lang="en-US" sz="1300" dirty="0"/>
          </a:p>
        </p:txBody>
      </p:sp>
      <p:sp>
        <p:nvSpPr>
          <p:cNvPr id="33" name="Step 10"/>
          <p:cNvSpPr/>
          <p:nvPr/>
        </p:nvSpPr>
        <p:spPr>
          <a:xfrm>
            <a:off x="3355848" y="3977640"/>
            <a:ext cx="2679192" cy="987552"/>
          </a:xfrm>
          <a:prstGeom prst="roundRect">
            <a:avLst>
              <a:gd name="adj" fmla="val 11111"/>
            </a:avLst>
          </a:prstGeom>
          <a:solidFill>
            <a:schemeClr val="bg2"/>
          </a:solidFill>
          <a:ln/>
        </p:spPr>
      </p:sp>
      <p:sp>
        <p:nvSpPr>
          <p:cNvPr id="34" name="Step number"/>
          <p:cNvSpPr txBox="1"/>
          <p:nvPr/>
        </p:nvSpPr>
        <p:spPr>
          <a:xfrm>
            <a:off x="3493008" y="405079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10</a:t>
            </a:r>
            <a:endParaRPr lang="en-US" sz="1500" dirty="0"/>
          </a:p>
        </p:txBody>
      </p:sp>
      <p:sp>
        <p:nvSpPr>
          <p:cNvPr id="35" name="Step text"/>
          <p:cNvSpPr txBox="1"/>
          <p:nvPr/>
        </p:nvSpPr>
        <p:spPr>
          <a:xfrm>
            <a:off x="3493008" y="4288536"/>
            <a:ext cx="2423160" cy="640080"/>
          </a:xfrm>
          <a:prstGeom prst="rect">
            <a:avLst/>
          </a:prstGeom>
          <a:noFill/>
          <a:ln/>
        </p:spPr>
        <p:txBody>
          <a:bodyPr wrap="square" lIns="0" tIns="0" rIns="0" bIns="0" rtlCol="0" anchor="t"/>
          <a:lstStyle/>
          <a:p>
            <a:pPr indent="0" marL="0">
              <a:buNone/>
            </a:pPr>
            <a:r>
              <a:rPr lang="en-US" sz="1300" dirty="0">
                <a:solidFill>
                  <a:schemeClr val="tx1"/>
                </a:solidFill>
              </a:rPr>
              <a:t>Multiply revenue by the share</a:t>
            </a:r>
            <a:endParaRPr lang="en-US" sz="1300" dirty="0"/>
          </a:p>
        </p:txBody>
      </p:sp>
      <p:sp>
        <p:nvSpPr>
          <p:cNvPr id="36" name="Step 11"/>
          <p:cNvSpPr/>
          <p:nvPr/>
        </p:nvSpPr>
        <p:spPr>
          <a:xfrm>
            <a:off x="6163056" y="3977640"/>
            <a:ext cx="2679192" cy="987552"/>
          </a:xfrm>
          <a:prstGeom prst="roundRect">
            <a:avLst>
              <a:gd name="adj" fmla="val 11111"/>
            </a:avLst>
          </a:prstGeom>
          <a:solidFill>
            <a:schemeClr val="bg2"/>
          </a:solidFill>
          <a:ln/>
        </p:spPr>
      </p:sp>
      <p:sp>
        <p:nvSpPr>
          <p:cNvPr id="37" name="Step number"/>
          <p:cNvSpPr txBox="1"/>
          <p:nvPr/>
        </p:nvSpPr>
        <p:spPr>
          <a:xfrm>
            <a:off x="6300216" y="405079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11</a:t>
            </a:r>
            <a:endParaRPr lang="en-US" sz="1500" dirty="0"/>
          </a:p>
        </p:txBody>
      </p:sp>
      <p:sp>
        <p:nvSpPr>
          <p:cNvPr id="38" name="Step text"/>
          <p:cNvSpPr txBox="1"/>
          <p:nvPr/>
        </p:nvSpPr>
        <p:spPr>
          <a:xfrm>
            <a:off x="6300216" y="4288536"/>
            <a:ext cx="2423160" cy="640080"/>
          </a:xfrm>
          <a:prstGeom prst="rect">
            <a:avLst/>
          </a:prstGeom>
          <a:noFill/>
          <a:ln/>
        </p:spPr>
        <p:txBody>
          <a:bodyPr wrap="square" lIns="0" tIns="0" rIns="0" bIns="0" rtlCol="0" anchor="t"/>
          <a:lstStyle/>
          <a:p>
            <a:pPr indent="0" marL="0">
              <a:buNone/>
            </a:pPr>
            <a:r>
              <a:rPr lang="en-US" sz="1300" dirty="0">
                <a:solidFill>
                  <a:schemeClr val="tx1"/>
                </a:solidFill>
              </a:rPr>
              <a:t>Summarise to month, entity and state</a:t>
            </a:r>
            <a:endParaRPr lang="en-US" sz="1300" dirty="0"/>
          </a:p>
        </p:txBody>
      </p:sp>
      <p:sp>
        <p:nvSpPr>
          <p:cNvPr id="39" name="Step 12"/>
          <p:cNvSpPr/>
          <p:nvPr/>
        </p:nvSpPr>
        <p:spPr>
          <a:xfrm>
            <a:off x="8970264" y="3977640"/>
            <a:ext cx="2679192" cy="987552"/>
          </a:xfrm>
          <a:prstGeom prst="roundRect">
            <a:avLst>
              <a:gd name="adj" fmla="val 11111"/>
            </a:avLst>
          </a:prstGeom>
          <a:solidFill>
            <a:schemeClr val="bg2"/>
          </a:solidFill>
          <a:ln/>
        </p:spPr>
      </p:sp>
      <p:sp>
        <p:nvSpPr>
          <p:cNvPr id="40" name="Step number"/>
          <p:cNvSpPr txBox="1"/>
          <p:nvPr/>
        </p:nvSpPr>
        <p:spPr>
          <a:xfrm>
            <a:off x="9107424" y="405079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12</a:t>
            </a:r>
            <a:endParaRPr lang="en-US" sz="1500" dirty="0"/>
          </a:p>
        </p:txBody>
      </p:sp>
      <p:sp>
        <p:nvSpPr>
          <p:cNvPr id="41" name="Step text"/>
          <p:cNvSpPr txBox="1"/>
          <p:nvPr/>
        </p:nvSpPr>
        <p:spPr>
          <a:xfrm>
            <a:off x="9107424" y="4288536"/>
            <a:ext cx="2423160" cy="640080"/>
          </a:xfrm>
          <a:prstGeom prst="rect">
            <a:avLst/>
          </a:prstGeom>
          <a:noFill/>
          <a:ln/>
        </p:spPr>
        <p:txBody>
          <a:bodyPr wrap="square" lIns="0" tIns="0" rIns="0" bIns="0" rtlCol="0" anchor="t"/>
          <a:lstStyle/>
          <a:p>
            <a:pPr indent="0" marL="0">
              <a:buNone/>
            </a:pPr>
            <a:r>
              <a:rPr lang="en-US" sz="1300" dirty="0">
                <a:solidFill>
                  <a:schemeClr val="tx1"/>
                </a:solidFill>
              </a:rPr>
              <a:t>Publish the table for Power BI</a:t>
            </a:r>
            <a:endParaRPr lang="en-US" sz="1300" dirty="0"/>
          </a:p>
        </p:txBody>
      </p:sp>
      <p:sp>
        <p:nvSpPr>
          <p:cNvPr id="42" name="Sort label"/>
          <p:cNvSpPr txBox="1"/>
          <p:nvPr/>
        </p:nvSpPr>
        <p:spPr>
          <a:xfrm>
            <a:off x="548640" y="5138928"/>
            <a:ext cx="2011680" cy="320040"/>
          </a:xfrm>
          <a:prstGeom prst="rect">
            <a:avLst/>
          </a:prstGeom>
          <a:noFill/>
          <a:ln/>
        </p:spPr>
        <p:txBody>
          <a:bodyPr wrap="square" lIns="0" tIns="0" rIns="0" bIns="0" rtlCol="0" anchor="ctr"/>
          <a:lstStyle/>
          <a:p>
            <a:pPr indent="0" marL="0">
              <a:buNone/>
            </a:pPr>
            <a:r>
              <a:rPr lang="en-US" sz="1100" b="1" spc="200" kern="0" dirty="0">
                <a:solidFill>
                  <a:schemeClr val="accent1"/>
                </a:solidFill>
              </a:rPr>
              <a:t>SORT EACH STEP</a:t>
            </a:r>
            <a:endParaRPr lang="en-US" sz="1100" dirty="0"/>
          </a:p>
        </p:txBody>
      </p:sp>
      <p:sp>
        <p:nvSpPr>
          <p:cNvPr id="43" name="Pill"/>
          <p:cNvSpPr txBox="1"/>
          <p:nvPr/>
        </p:nvSpPr>
        <p:spPr>
          <a:xfrm>
            <a:off x="2651760" y="5166360"/>
            <a:ext cx="146304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000" b="1" spc="200" kern="0" dirty="0">
                <a:solidFill>
                  <a:schemeClr val="bg1"/>
                </a:solidFill>
              </a:rPr>
              <a:t>B  ·  BRONZE</a:t>
            </a:r>
            <a:endParaRPr lang="en-US" sz="1000" dirty="0"/>
          </a:p>
        </p:txBody>
      </p:sp>
      <p:sp>
        <p:nvSpPr>
          <p:cNvPr id="44" name="Pill"/>
          <p:cNvSpPr txBox="1"/>
          <p:nvPr/>
        </p:nvSpPr>
        <p:spPr>
          <a:xfrm>
            <a:off x="4251960" y="5166360"/>
            <a:ext cx="146304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S  ·  SILVER</a:t>
            </a:r>
            <a:endParaRPr lang="en-US" sz="1000" dirty="0"/>
          </a:p>
        </p:txBody>
      </p:sp>
      <p:sp>
        <p:nvSpPr>
          <p:cNvPr id="45" name="Pill"/>
          <p:cNvSpPr txBox="1"/>
          <p:nvPr/>
        </p:nvSpPr>
        <p:spPr>
          <a:xfrm>
            <a:off x="5852160" y="5166360"/>
            <a:ext cx="1463040" cy="274320"/>
          </a:xfrm>
          <a:prstGeom prst="roundRect">
            <a:avLst>
              <a:gd name="adj" fmla="val 50000"/>
            </a:avLst>
          </a:prstGeom>
          <a:solidFill>
            <a:schemeClr val="accent6"/>
          </a:solidFill>
          <a:ln/>
        </p:spPr>
        <p:txBody>
          <a:bodyPr wrap="square" lIns="0" tIns="0" rIns="0" bIns="0" rtlCol="0" anchor="ctr"/>
          <a:lstStyle/>
          <a:p>
            <a:pPr algn="ctr" indent="0" marL="0">
              <a:buNone/>
            </a:pPr>
            <a:r>
              <a:rPr lang="en-US" sz="1000" b="1" spc="200" kern="0" dirty="0">
                <a:solidFill>
                  <a:schemeClr val="tx1"/>
                </a:solidFill>
              </a:rPr>
              <a:t>G  ·  GOLD</a:t>
            </a:r>
            <a:endParaRPr lang="en-US" sz="1000" dirty="0"/>
          </a:p>
        </p:txBody>
      </p:sp>
      <p:sp>
        <p:nvSpPr>
          <p:cNvPr id="46" name="Instruction"/>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400" i="1" dirty="0">
                <a:solidFill>
                  <a:schemeClr val="tx1"/>
                </a:solidFill>
              </a:rPr>
              <a:t>In pairs, write B, S or G beside each step. Be ready to defend one choice.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4 · MEDALLION ARCHITECTURE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4: solutions</a:t>
            </a:r>
            <a:endParaRPr lang="en-US" sz="3200" dirty="0"/>
          </a:p>
        </p:txBody>
      </p:sp>
      <p:sp>
        <p:nvSpPr>
          <p:cNvPr id="5" name="Solved step 1"/>
          <p:cNvSpPr/>
          <p:nvPr/>
        </p:nvSpPr>
        <p:spPr>
          <a:xfrm>
            <a:off x="548640" y="178308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Layer tint 1"/>
          <p:cNvSpPr/>
          <p:nvPr/>
        </p:nvSpPr>
        <p:spPr>
          <a:xfrm>
            <a:off x="548640" y="1783080"/>
            <a:ext cx="2679192" cy="1024128"/>
          </a:xfrm>
          <a:prstGeom prst="roundRect">
            <a:avLst>
              <a:gd name="adj" fmla="val 10714"/>
            </a:avLst>
          </a:prstGeom>
          <a:solidFill>
            <a:schemeClr val="accent4">
              <a:alpha val="20000"/>
            </a:schemeClr>
          </a:solidFill>
          <a:ln/>
        </p:spPr>
      </p:sp>
      <p:sp>
        <p:nvSpPr>
          <p:cNvPr id="7" name="Pill"/>
          <p:cNvSpPr txBox="1"/>
          <p:nvPr/>
        </p:nvSpPr>
        <p:spPr>
          <a:xfrm>
            <a:off x="2148840" y="1874520"/>
            <a:ext cx="914400" cy="237744"/>
          </a:xfrm>
          <a:prstGeom prst="roundRect">
            <a:avLst>
              <a:gd name="adj" fmla="val 57692"/>
            </a:avLst>
          </a:prstGeom>
          <a:solidFill>
            <a:schemeClr val="accent4"/>
          </a:solidFill>
          <a:ln/>
        </p:spPr>
        <p:txBody>
          <a:bodyPr wrap="square" lIns="0" tIns="0" rIns="0" bIns="0" rtlCol="0" anchor="ctr"/>
          <a:lstStyle/>
          <a:p>
            <a:pPr algn="ctr" indent="0" marL="0">
              <a:buNone/>
            </a:pPr>
            <a:r>
              <a:rPr lang="en-US" sz="1000" b="1" spc="200" kern="0" dirty="0">
                <a:solidFill>
                  <a:schemeClr val="bg1"/>
                </a:solidFill>
              </a:rPr>
              <a:t>BRONZE</a:t>
            </a:r>
            <a:endParaRPr lang="en-US" sz="1000" dirty="0"/>
          </a:p>
        </p:txBody>
      </p:sp>
      <p:sp>
        <p:nvSpPr>
          <p:cNvPr id="8" name="Reason"/>
          <p:cNvSpPr txBox="1"/>
          <p:nvPr/>
        </p:nvSpPr>
        <p:spPr>
          <a:xfrm>
            <a:off x="685800" y="2587752"/>
            <a:ext cx="2468880" cy="182880"/>
          </a:xfrm>
          <a:prstGeom prst="rect">
            <a:avLst/>
          </a:prstGeom>
          <a:noFill/>
          <a:ln/>
        </p:spPr>
        <p:txBody>
          <a:bodyPr wrap="square" lIns="0" tIns="0" rIns="0" bIns="0" rtlCol="0" anchor="t"/>
          <a:lstStyle/>
          <a:p>
            <a:pPr indent="0" marL="0">
              <a:buNone/>
            </a:pPr>
            <a:r>
              <a:rPr lang="en-US" sz="1100" i="1" dirty="0">
                <a:solidFill>
                  <a:schemeClr val="tx1"/>
                </a:solidFill>
              </a:rPr>
              <a:t>Land as received</a:t>
            </a:r>
            <a:endParaRPr lang="en-US" sz="1100" dirty="0"/>
          </a:p>
        </p:txBody>
      </p:sp>
      <p:sp>
        <p:nvSpPr>
          <p:cNvPr id="9" name="Step number"/>
          <p:cNvSpPr txBox="1"/>
          <p:nvPr/>
        </p:nvSpPr>
        <p:spPr>
          <a:xfrm>
            <a:off x="685800" y="185623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1</a:t>
            </a:r>
            <a:endParaRPr lang="en-US" sz="1500" dirty="0"/>
          </a:p>
        </p:txBody>
      </p:sp>
      <p:sp>
        <p:nvSpPr>
          <p:cNvPr id="10" name="Step text"/>
          <p:cNvSpPr txBox="1"/>
          <p:nvPr/>
        </p:nvSpPr>
        <p:spPr>
          <a:xfrm>
            <a:off x="685800" y="2112264"/>
            <a:ext cx="2423160" cy="457200"/>
          </a:xfrm>
          <a:prstGeom prst="rect">
            <a:avLst/>
          </a:prstGeom>
          <a:noFill/>
          <a:ln/>
        </p:spPr>
        <p:txBody>
          <a:bodyPr wrap="square" lIns="0" tIns="0" rIns="0" bIns="0" rtlCol="0" anchor="t"/>
          <a:lstStyle/>
          <a:p>
            <a:pPr indent="0" marL="0">
              <a:buNone/>
            </a:pPr>
            <a:r>
              <a:rPr lang="en-US" sz="1250" dirty="0">
                <a:solidFill>
                  <a:schemeClr val="tx1"/>
                </a:solidFill>
              </a:rPr>
              <a:t>Copy the GAM CSV files into the lakehouse</a:t>
            </a:r>
            <a:endParaRPr lang="en-US" sz="1250" dirty="0"/>
          </a:p>
        </p:txBody>
      </p:sp>
      <p:sp>
        <p:nvSpPr>
          <p:cNvPr id="11" name="Solved step 2"/>
          <p:cNvSpPr/>
          <p:nvPr/>
        </p:nvSpPr>
        <p:spPr>
          <a:xfrm>
            <a:off x="3355848" y="178308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2" name="Layer tint 2"/>
          <p:cNvSpPr/>
          <p:nvPr/>
        </p:nvSpPr>
        <p:spPr>
          <a:xfrm>
            <a:off x="3355848" y="1783080"/>
            <a:ext cx="2679192" cy="1024128"/>
          </a:xfrm>
          <a:prstGeom prst="roundRect">
            <a:avLst>
              <a:gd name="adj" fmla="val 10714"/>
            </a:avLst>
          </a:prstGeom>
          <a:solidFill>
            <a:schemeClr val="accent4">
              <a:alpha val="20000"/>
            </a:schemeClr>
          </a:solidFill>
          <a:ln/>
        </p:spPr>
      </p:sp>
      <p:sp>
        <p:nvSpPr>
          <p:cNvPr id="13" name="Pill"/>
          <p:cNvSpPr txBox="1"/>
          <p:nvPr/>
        </p:nvSpPr>
        <p:spPr>
          <a:xfrm>
            <a:off x="4956048" y="1874520"/>
            <a:ext cx="914400" cy="237744"/>
          </a:xfrm>
          <a:prstGeom prst="roundRect">
            <a:avLst>
              <a:gd name="adj" fmla="val 57692"/>
            </a:avLst>
          </a:prstGeom>
          <a:solidFill>
            <a:schemeClr val="accent4"/>
          </a:solidFill>
          <a:ln/>
        </p:spPr>
        <p:txBody>
          <a:bodyPr wrap="square" lIns="0" tIns="0" rIns="0" bIns="0" rtlCol="0" anchor="ctr"/>
          <a:lstStyle/>
          <a:p>
            <a:pPr algn="ctr" indent="0" marL="0">
              <a:buNone/>
            </a:pPr>
            <a:r>
              <a:rPr lang="en-US" sz="1000" b="1" spc="200" kern="0" dirty="0">
                <a:solidFill>
                  <a:schemeClr val="bg1"/>
                </a:solidFill>
              </a:rPr>
              <a:t>BRONZE</a:t>
            </a:r>
            <a:endParaRPr lang="en-US" sz="1000" dirty="0"/>
          </a:p>
        </p:txBody>
      </p:sp>
      <p:sp>
        <p:nvSpPr>
          <p:cNvPr id="14" name="Reason"/>
          <p:cNvSpPr txBox="1"/>
          <p:nvPr/>
        </p:nvSpPr>
        <p:spPr>
          <a:xfrm>
            <a:off x="3493008" y="2587752"/>
            <a:ext cx="2468880" cy="182880"/>
          </a:xfrm>
          <a:prstGeom prst="rect">
            <a:avLst/>
          </a:prstGeom>
          <a:noFill/>
          <a:ln/>
        </p:spPr>
        <p:txBody>
          <a:bodyPr wrap="square" lIns="0" tIns="0" rIns="0" bIns="0" rtlCol="0" anchor="t"/>
          <a:lstStyle/>
          <a:p>
            <a:pPr indent="0" marL="0">
              <a:buNone/>
            </a:pPr>
            <a:r>
              <a:rPr lang="en-US" sz="1100" i="1" dirty="0">
                <a:solidFill>
                  <a:schemeClr val="tx1"/>
                </a:solidFill>
              </a:rPr>
              <a:t>Load metadata</a:t>
            </a:r>
            <a:endParaRPr lang="en-US" sz="1100" dirty="0"/>
          </a:p>
        </p:txBody>
      </p:sp>
      <p:sp>
        <p:nvSpPr>
          <p:cNvPr id="15" name="Step number"/>
          <p:cNvSpPr txBox="1"/>
          <p:nvPr/>
        </p:nvSpPr>
        <p:spPr>
          <a:xfrm>
            <a:off x="3493008" y="185623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2</a:t>
            </a:r>
            <a:endParaRPr lang="en-US" sz="1500" dirty="0"/>
          </a:p>
        </p:txBody>
      </p:sp>
      <p:sp>
        <p:nvSpPr>
          <p:cNvPr id="16" name="Step text"/>
          <p:cNvSpPr txBox="1"/>
          <p:nvPr/>
        </p:nvSpPr>
        <p:spPr>
          <a:xfrm>
            <a:off x="3493008" y="2112264"/>
            <a:ext cx="2423160" cy="457200"/>
          </a:xfrm>
          <a:prstGeom prst="rect">
            <a:avLst/>
          </a:prstGeom>
          <a:noFill/>
          <a:ln/>
        </p:spPr>
        <p:txBody>
          <a:bodyPr wrap="square" lIns="0" tIns="0" rIns="0" bIns="0" rtlCol="0" anchor="t"/>
          <a:lstStyle/>
          <a:p>
            <a:pPr indent="0" marL="0">
              <a:buNone/>
            </a:pPr>
            <a:r>
              <a:rPr lang="en-US" sz="1250" dirty="0">
                <a:solidFill>
                  <a:schemeClr val="tx1"/>
                </a:solidFill>
              </a:rPr>
              <a:t>Stamp each row with load date and file name</a:t>
            </a:r>
            <a:endParaRPr lang="en-US" sz="1250" dirty="0"/>
          </a:p>
        </p:txBody>
      </p:sp>
      <p:sp>
        <p:nvSpPr>
          <p:cNvPr id="17" name="Solved step 3"/>
          <p:cNvSpPr/>
          <p:nvPr/>
        </p:nvSpPr>
        <p:spPr>
          <a:xfrm>
            <a:off x="6163056" y="178308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8" name="Layer tint 3"/>
          <p:cNvSpPr/>
          <p:nvPr/>
        </p:nvSpPr>
        <p:spPr>
          <a:xfrm>
            <a:off x="6163056" y="1783080"/>
            <a:ext cx="2679192" cy="1024128"/>
          </a:xfrm>
          <a:prstGeom prst="roundRect">
            <a:avLst>
              <a:gd name="adj" fmla="val 10714"/>
            </a:avLst>
          </a:prstGeom>
          <a:solidFill>
            <a:schemeClr val="accent4">
              <a:alpha val="20000"/>
            </a:schemeClr>
          </a:solidFill>
          <a:ln/>
        </p:spPr>
      </p:sp>
      <p:sp>
        <p:nvSpPr>
          <p:cNvPr id="19" name="Pill"/>
          <p:cNvSpPr txBox="1"/>
          <p:nvPr/>
        </p:nvSpPr>
        <p:spPr>
          <a:xfrm>
            <a:off x="7763256" y="1874520"/>
            <a:ext cx="914400" cy="237744"/>
          </a:xfrm>
          <a:prstGeom prst="roundRect">
            <a:avLst>
              <a:gd name="adj" fmla="val 57692"/>
            </a:avLst>
          </a:prstGeom>
          <a:solidFill>
            <a:schemeClr val="accent4"/>
          </a:solidFill>
          <a:ln/>
        </p:spPr>
        <p:txBody>
          <a:bodyPr wrap="square" lIns="0" tIns="0" rIns="0" bIns="0" rtlCol="0" anchor="ctr"/>
          <a:lstStyle/>
          <a:p>
            <a:pPr algn="ctr" indent="0" marL="0">
              <a:buNone/>
            </a:pPr>
            <a:r>
              <a:rPr lang="en-US" sz="1000" b="1" spc="200" kern="0" dirty="0">
                <a:solidFill>
                  <a:schemeClr val="bg1"/>
                </a:solidFill>
              </a:rPr>
              <a:t>BRONZE</a:t>
            </a:r>
            <a:endParaRPr lang="en-US" sz="1000" dirty="0"/>
          </a:p>
        </p:txBody>
      </p:sp>
      <p:sp>
        <p:nvSpPr>
          <p:cNvPr id="20" name="Reason"/>
          <p:cNvSpPr txBox="1"/>
          <p:nvPr/>
        </p:nvSpPr>
        <p:spPr>
          <a:xfrm>
            <a:off x="6300216" y="2587752"/>
            <a:ext cx="2468880" cy="182880"/>
          </a:xfrm>
          <a:prstGeom prst="rect">
            <a:avLst/>
          </a:prstGeom>
          <a:noFill/>
          <a:ln/>
        </p:spPr>
        <p:txBody>
          <a:bodyPr wrap="square" lIns="0" tIns="0" rIns="0" bIns="0" rtlCol="0" anchor="t"/>
          <a:lstStyle/>
          <a:p>
            <a:pPr indent="0" marL="0">
              <a:buNone/>
            </a:pPr>
            <a:r>
              <a:rPr lang="en-US" sz="1100" i="1" dirty="0">
                <a:solidFill>
                  <a:schemeClr val="tx1"/>
                </a:solidFill>
              </a:rPr>
              <a:t>Audit trail</a:t>
            </a:r>
            <a:endParaRPr lang="en-US" sz="1100" dirty="0"/>
          </a:p>
        </p:txBody>
      </p:sp>
      <p:sp>
        <p:nvSpPr>
          <p:cNvPr id="21" name="Step number"/>
          <p:cNvSpPr txBox="1"/>
          <p:nvPr/>
        </p:nvSpPr>
        <p:spPr>
          <a:xfrm>
            <a:off x="6300216" y="185623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3</a:t>
            </a:r>
            <a:endParaRPr lang="en-US" sz="1500" dirty="0"/>
          </a:p>
        </p:txBody>
      </p:sp>
      <p:sp>
        <p:nvSpPr>
          <p:cNvPr id="22" name="Step text"/>
          <p:cNvSpPr txBox="1"/>
          <p:nvPr/>
        </p:nvSpPr>
        <p:spPr>
          <a:xfrm>
            <a:off x="6300216" y="2112264"/>
            <a:ext cx="2423160" cy="457200"/>
          </a:xfrm>
          <a:prstGeom prst="rect">
            <a:avLst/>
          </a:prstGeom>
          <a:noFill/>
          <a:ln/>
        </p:spPr>
        <p:txBody>
          <a:bodyPr wrap="square" lIns="0" tIns="0" rIns="0" bIns="0" rtlCol="0" anchor="t"/>
          <a:lstStyle/>
          <a:p>
            <a:pPr indent="0" marL="0">
              <a:buNone/>
            </a:pPr>
            <a:r>
              <a:rPr lang="en-US" sz="1250" dirty="0">
                <a:solidFill>
                  <a:schemeClr val="tx1"/>
                </a:solidFill>
              </a:rPr>
              <a:t>Keep an untouched copy of the SAP / EDP extract</a:t>
            </a:r>
            <a:endParaRPr lang="en-US" sz="1250" dirty="0"/>
          </a:p>
        </p:txBody>
      </p:sp>
      <p:sp>
        <p:nvSpPr>
          <p:cNvPr id="23" name="Solved step 4"/>
          <p:cNvSpPr/>
          <p:nvPr/>
        </p:nvSpPr>
        <p:spPr>
          <a:xfrm>
            <a:off x="8970264" y="178308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24" name="Layer tint 4"/>
          <p:cNvSpPr/>
          <p:nvPr/>
        </p:nvSpPr>
        <p:spPr>
          <a:xfrm>
            <a:off x="8970264" y="1783080"/>
            <a:ext cx="2679192" cy="1024128"/>
          </a:xfrm>
          <a:prstGeom prst="roundRect">
            <a:avLst>
              <a:gd name="adj" fmla="val 10714"/>
            </a:avLst>
          </a:prstGeom>
          <a:solidFill>
            <a:schemeClr val="accent5">
              <a:alpha val="20000"/>
            </a:schemeClr>
          </a:solidFill>
          <a:ln/>
        </p:spPr>
      </p:sp>
      <p:sp>
        <p:nvSpPr>
          <p:cNvPr id="25" name="Pill"/>
          <p:cNvSpPr txBox="1"/>
          <p:nvPr/>
        </p:nvSpPr>
        <p:spPr>
          <a:xfrm>
            <a:off x="10570464" y="1874520"/>
            <a:ext cx="914400" cy="237744"/>
          </a:xfrm>
          <a:prstGeom prst="roundRect">
            <a:avLst>
              <a:gd name="adj" fmla="val 57692"/>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SILVER</a:t>
            </a:r>
            <a:endParaRPr lang="en-US" sz="1000" dirty="0"/>
          </a:p>
        </p:txBody>
      </p:sp>
      <p:sp>
        <p:nvSpPr>
          <p:cNvPr id="26" name="Reason"/>
          <p:cNvSpPr txBox="1"/>
          <p:nvPr/>
        </p:nvSpPr>
        <p:spPr>
          <a:xfrm>
            <a:off x="9107424" y="2587752"/>
            <a:ext cx="2468880" cy="182880"/>
          </a:xfrm>
          <a:prstGeom prst="rect">
            <a:avLst/>
          </a:prstGeom>
          <a:noFill/>
          <a:ln/>
        </p:spPr>
        <p:txBody>
          <a:bodyPr wrap="square" lIns="0" tIns="0" rIns="0" bIns="0" rtlCol="0" anchor="t"/>
          <a:lstStyle/>
          <a:p>
            <a:pPr indent="0" marL="0">
              <a:buNone/>
            </a:pPr>
            <a:r>
              <a:rPr lang="en-US" sz="1100" i="1" dirty="0">
                <a:solidFill>
                  <a:schemeClr val="tx1"/>
                </a:solidFill>
              </a:rPr>
              <a:t>Standardise values</a:t>
            </a:r>
            <a:endParaRPr lang="en-US" sz="1100" dirty="0"/>
          </a:p>
        </p:txBody>
      </p:sp>
      <p:sp>
        <p:nvSpPr>
          <p:cNvPr id="27" name="Step number"/>
          <p:cNvSpPr txBox="1"/>
          <p:nvPr/>
        </p:nvSpPr>
        <p:spPr>
          <a:xfrm>
            <a:off x="9107424" y="185623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4</a:t>
            </a:r>
            <a:endParaRPr lang="en-US" sz="1500" dirty="0"/>
          </a:p>
        </p:txBody>
      </p:sp>
      <p:sp>
        <p:nvSpPr>
          <p:cNvPr id="28" name="Step text"/>
          <p:cNvSpPr txBox="1"/>
          <p:nvPr/>
        </p:nvSpPr>
        <p:spPr>
          <a:xfrm>
            <a:off x="9107424" y="2112264"/>
            <a:ext cx="2423160" cy="457200"/>
          </a:xfrm>
          <a:prstGeom prst="rect">
            <a:avLst/>
          </a:prstGeom>
          <a:noFill/>
          <a:ln/>
        </p:spPr>
        <p:txBody>
          <a:bodyPr wrap="square" lIns="0" tIns="0" rIns="0" bIns="0" rtlCol="0" anchor="t"/>
          <a:lstStyle/>
          <a:p>
            <a:pPr indent="0" marL="0">
              <a:buNone/>
            </a:pPr>
            <a:r>
              <a:rPr lang="en-US" sz="1250" dirty="0">
                <a:solidFill>
                  <a:schemeClr val="tx1"/>
                </a:solidFill>
              </a:rPr>
              <a:t>Turn 'Silicon Valley' into CA</a:t>
            </a:r>
            <a:endParaRPr lang="en-US" sz="1250" dirty="0"/>
          </a:p>
        </p:txBody>
      </p:sp>
      <p:sp>
        <p:nvSpPr>
          <p:cNvPr id="29" name="Solved step 5"/>
          <p:cNvSpPr/>
          <p:nvPr/>
        </p:nvSpPr>
        <p:spPr>
          <a:xfrm>
            <a:off x="548640" y="288036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0" name="Layer tint 5"/>
          <p:cNvSpPr/>
          <p:nvPr/>
        </p:nvSpPr>
        <p:spPr>
          <a:xfrm>
            <a:off x="548640" y="2880360"/>
            <a:ext cx="2679192" cy="1024128"/>
          </a:xfrm>
          <a:prstGeom prst="roundRect">
            <a:avLst>
              <a:gd name="adj" fmla="val 10714"/>
            </a:avLst>
          </a:prstGeom>
          <a:solidFill>
            <a:schemeClr val="accent5">
              <a:alpha val="20000"/>
            </a:schemeClr>
          </a:solidFill>
          <a:ln/>
        </p:spPr>
      </p:sp>
      <p:sp>
        <p:nvSpPr>
          <p:cNvPr id="31" name="Pill"/>
          <p:cNvSpPr txBox="1"/>
          <p:nvPr/>
        </p:nvSpPr>
        <p:spPr>
          <a:xfrm>
            <a:off x="2148840" y="2971800"/>
            <a:ext cx="914400" cy="237744"/>
          </a:xfrm>
          <a:prstGeom prst="roundRect">
            <a:avLst>
              <a:gd name="adj" fmla="val 57692"/>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SILVER</a:t>
            </a:r>
            <a:endParaRPr lang="en-US" sz="1000" dirty="0"/>
          </a:p>
        </p:txBody>
      </p:sp>
      <p:sp>
        <p:nvSpPr>
          <p:cNvPr id="32" name="Reason"/>
          <p:cNvSpPr txBox="1"/>
          <p:nvPr/>
        </p:nvSpPr>
        <p:spPr>
          <a:xfrm>
            <a:off x="685800" y="3685032"/>
            <a:ext cx="2468880" cy="182880"/>
          </a:xfrm>
          <a:prstGeom prst="rect">
            <a:avLst/>
          </a:prstGeom>
          <a:noFill/>
          <a:ln/>
        </p:spPr>
        <p:txBody>
          <a:bodyPr wrap="square" lIns="0" tIns="0" rIns="0" bIns="0" rtlCol="0" anchor="t"/>
          <a:lstStyle/>
          <a:p>
            <a:pPr indent="0" marL="0">
              <a:buNone/>
            </a:pPr>
            <a:r>
              <a:rPr lang="en-US" sz="1100" i="1" dirty="0">
                <a:solidFill>
                  <a:schemeClr val="tx1"/>
                </a:solidFill>
              </a:rPr>
              <a:t>A business rule</a:t>
            </a:r>
            <a:endParaRPr lang="en-US" sz="1100" dirty="0"/>
          </a:p>
        </p:txBody>
      </p:sp>
      <p:sp>
        <p:nvSpPr>
          <p:cNvPr id="33" name="Step number"/>
          <p:cNvSpPr txBox="1"/>
          <p:nvPr/>
        </p:nvSpPr>
        <p:spPr>
          <a:xfrm>
            <a:off x="685800" y="295351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5</a:t>
            </a:r>
            <a:endParaRPr lang="en-US" sz="1500" dirty="0"/>
          </a:p>
        </p:txBody>
      </p:sp>
      <p:sp>
        <p:nvSpPr>
          <p:cNvPr id="34" name="Step text"/>
          <p:cNvSpPr txBox="1"/>
          <p:nvPr/>
        </p:nvSpPr>
        <p:spPr>
          <a:xfrm>
            <a:off x="685800" y="3209544"/>
            <a:ext cx="2423160" cy="457200"/>
          </a:xfrm>
          <a:prstGeom prst="rect">
            <a:avLst/>
          </a:prstGeom>
          <a:noFill/>
          <a:ln/>
        </p:spPr>
        <p:txBody>
          <a:bodyPr wrap="square" lIns="0" tIns="0" rIns="0" bIns="0" rtlCol="0" anchor="t"/>
          <a:lstStyle/>
          <a:p>
            <a:pPr indent="0" marL="0">
              <a:buNone/>
            </a:pPr>
            <a:r>
              <a:rPr lang="en-US" sz="1250" dirty="0">
                <a:solidFill>
                  <a:schemeClr val="tx1"/>
                </a:solidFill>
              </a:rPr>
              <a:t>Flag a NULL region as N/A</a:t>
            </a:r>
            <a:endParaRPr lang="en-US" sz="1250" dirty="0"/>
          </a:p>
        </p:txBody>
      </p:sp>
      <p:sp>
        <p:nvSpPr>
          <p:cNvPr id="35" name="Solved step 6"/>
          <p:cNvSpPr/>
          <p:nvPr/>
        </p:nvSpPr>
        <p:spPr>
          <a:xfrm>
            <a:off x="3355848" y="288036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36" name="Layer tint 6"/>
          <p:cNvSpPr/>
          <p:nvPr/>
        </p:nvSpPr>
        <p:spPr>
          <a:xfrm>
            <a:off x="3355848" y="2880360"/>
            <a:ext cx="2679192" cy="1024128"/>
          </a:xfrm>
          <a:prstGeom prst="roundRect">
            <a:avLst>
              <a:gd name="adj" fmla="val 10714"/>
            </a:avLst>
          </a:prstGeom>
          <a:solidFill>
            <a:schemeClr val="accent5">
              <a:alpha val="20000"/>
            </a:schemeClr>
          </a:solidFill>
          <a:ln/>
        </p:spPr>
      </p:sp>
      <p:sp>
        <p:nvSpPr>
          <p:cNvPr id="37" name="Pill"/>
          <p:cNvSpPr txBox="1"/>
          <p:nvPr/>
        </p:nvSpPr>
        <p:spPr>
          <a:xfrm>
            <a:off x="4956048" y="2971800"/>
            <a:ext cx="914400" cy="237744"/>
          </a:xfrm>
          <a:prstGeom prst="roundRect">
            <a:avLst>
              <a:gd name="adj" fmla="val 57692"/>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SILVER</a:t>
            </a:r>
            <a:endParaRPr lang="en-US" sz="1000" dirty="0"/>
          </a:p>
        </p:txBody>
      </p:sp>
      <p:sp>
        <p:nvSpPr>
          <p:cNvPr id="38" name="Reason"/>
          <p:cNvSpPr txBox="1"/>
          <p:nvPr/>
        </p:nvSpPr>
        <p:spPr>
          <a:xfrm>
            <a:off x="3493008" y="3685032"/>
            <a:ext cx="2468880" cy="182880"/>
          </a:xfrm>
          <a:prstGeom prst="rect">
            <a:avLst/>
          </a:prstGeom>
          <a:noFill/>
          <a:ln/>
        </p:spPr>
        <p:txBody>
          <a:bodyPr wrap="square" lIns="0" tIns="0" rIns="0" bIns="0" rtlCol="0" anchor="t"/>
          <a:lstStyle/>
          <a:p>
            <a:pPr indent="0" marL="0">
              <a:buNone/>
            </a:pPr>
            <a:r>
              <a:rPr lang="en-US" sz="1100" i="1" dirty="0">
                <a:solidFill>
                  <a:schemeClr val="tx1"/>
                </a:solidFill>
              </a:rPr>
              <a:t>Conform periods</a:t>
            </a:r>
            <a:endParaRPr lang="en-US" sz="1100" dirty="0"/>
          </a:p>
        </p:txBody>
      </p:sp>
      <p:sp>
        <p:nvSpPr>
          <p:cNvPr id="39" name="Step number"/>
          <p:cNvSpPr txBox="1"/>
          <p:nvPr/>
        </p:nvSpPr>
        <p:spPr>
          <a:xfrm>
            <a:off x="3493008" y="295351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6</a:t>
            </a:r>
            <a:endParaRPr lang="en-US" sz="1500" dirty="0"/>
          </a:p>
        </p:txBody>
      </p:sp>
      <p:sp>
        <p:nvSpPr>
          <p:cNvPr id="40" name="Step text"/>
          <p:cNvSpPr txBox="1"/>
          <p:nvPr/>
        </p:nvSpPr>
        <p:spPr>
          <a:xfrm>
            <a:off x="3493008" y="3209544"/>
            <a:ext cx="2423160" cy="457200"/>
          </a:xfrm>
          <a:prstGeom prst="rect">
            <a:avLst/>
          </a:prstGeom>
          <a:noFill/>
          <a:ln/>
        </p:spPr>
        <p:txBody>
          <a:bodyPr wrap="square" lIns="0" tIns="0" rIns="0" bIns="0" rtlCol="0" anchor="t"/>
          <a:lstStyle/>
          <a:p>
            <a:pPr indent="0" marL="0">
              <a:buNone/>
            </a:pPr>
            <a:r>
              <a:rPr lang="en-US" sz="1250" dirty="0">
                <a:solidFill>
                  <a:schemeClr val="tx1"/>
                </a:solidFill>
              </a:rPr>
              <a:t>Shift fiscal periods back three months</a:t>
            </a:r>
            <a:endParaRPr lang="en-US" sz="1250" dirty="0"/>
          </a:p>
        </p:txBody>
      </p:sp>
      <p:sp>
        <p:nvSpPr>
          <p:cNvPr id="41" name="Solved step 7"/>
          <p:cNvSpPr/>
          <p:nvPr/>
        </p:nvSpPr>
        <p:spPr>
          <a:xfrm>
            <a:off x="6163056" y="288036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42" name="Layer tint 7"/>
          <p:cNvSpPr/>
          <p:nvPr/>
        </p:nvSpPr>
        <p:spPr>
          <a:xfrm>
            <a:off x="6163056" y="2880360"/>
            <a:ext cx="2679192" cy="1024128"/>
          </a:xfrm>
          <a:prstGeom prst="roundRect">
            <a:avLst>
              <a:gd name="adj" fmla="val 10714"/>
            </a:avLst>
          </a:prstGeom>
          <a:solidFill>
            <a:schemeClr val="accent5">
              <a:alpha val="20000"/>
            </a:schemeClr>
          </a:solidFill>
          <a:ln/>
        </p:spPr>
      </p:sp>
      <p:sp>
        <p:nvSpPr>
          <p:cNvPr id="43" name="Pill"/>
          <p:cNvSpPr txBox="1"/>
          <p:nvPr/>
        </p:nvSpPr>
        <p:spPr>
          <a:xfrm>
            <a:off x="7763256" y="2971800"/>
            <a:ext cx="914400" cy="237744"/>
          </a:xfrm>
          <a:prstGeom prst="roundRect">
            <a:avLst>
              <a:gd name="adj" fmla="val 57692"/>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SILVER</a:t>
            </a:r>
            <a:endParaRPr lang="en-US" sz="1000" dirty="0"/>
          </a:p>
        </p:txBody>
      </p:sp>
      <p:sp>
        <p:nvSpPr>
          <p:cNvPr id="44" name="Reason"/>
          <p:cNvSpPr txBox="1"/>
          <p:nvPr/>
        </p:nvSpPr>
        <p:spPr>
          <a:xfrm>
            <a:off x="6300216" y="3685032"/>
            <a:ext cx="2468880" cy="182880"/>
          </a:xfrm>
          <a:prstGeom prst="rect">
            <a:avLst/>
          </a:prstGeom>
          <a:noFill/>
          <a:ln/>
        </p:spPr>
        <p:txBody>
          <a:bodyPr wrap="square" lIns="0" tIns="0" rIns="0" bIns="0" rtlCol="0" anchor="t"/>
          <a:lstStyle/>
          <a:p>
            <a:pPr indent="0" marL="0">
              <a:buNone/>
            </a:pPr>
            <a:r>
              <a:rPr lang="en-US" sz="1100" i="1" dirty="0">
                <a:solidFill>
                  <a:schemeClr val="tx1"/>
                </a:solidFill>
              </a:rPr>
              <a:t>Map and flag</a:t>
            </a:r>
            <a:endParaRPr lang="en-US" sz="1100" dirty="0"/>
          </a:p>
        </p:txBody>
      </p:sp>
      <p:sp>
        <p:nvSpPr>
          <p:cNvPr id="45" name="Step number"/>
          <p:cNvSpPr txBox="1"/>
          <p:nvPr/>
        </p:nvSpPr>
        <p:spPr>
          <a:xfrm>
            <a:off x="6300216" y="295351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7</a:t>
            </a:r>
            <a:endParaRPr lang="en-US" sz="1500" dirty="0"/>
          </a:p>
        </p:txBody>
      </p:sp>
      <p:sp>
        <p:nvSpPr>
          <p:cNvPr id="46" name="Step text"/>
          <p:cNvSpPr txBox="1"/>
          <p:nvPr/>
        </p:nvSpPr>
        <p:spPr>
          <a:xfrm>
            <a:off x="6300216" y="3209544"/>
            <a:ext cx="2423160" cy="457200"/>
          </a:xfrm>
          <a:prstGeom prst="rect">
            <a:avLst/>
          </a:prstGeom>
          <a:noFill/>
          <a:ln/>
        </p:spPr>
        <p:txBody>
          <a:bodyPr wrap="square" lIns="0" tIns="0" rIns="0" bIns="0" rtlCol="0" anchor="t"/>
          <a:lstStyle/>
          <a:p>
            <a:pPr indent="0" marL="0">
              <a:buNone/>
            </a:pPr>
            <a:r>
              <a:rPr lang="en-US" sz="1250" dirty="0">
                <a:solidFill>
                  <a:schemeClr val="tx1"/>
                </a:solidFill>
              </a:rPr>
              <a:t>Join ad units to entities and list the unmapped</a:t>
            </a:r>
            <a:endParaRPr lang="en-US" sz="1250" dirty="0"/>
          </a:p>
        </p:txBody>
      </p:sp>
      <p:sp>
        <p:nvSpPr>
          <p:cNvPr id="47" name="Solved step 8"/>
          <p:cNvSpPr/>
          <p:nvPr/>
        </p:nvSpPr>
        <p:spPr>
          <a:xfrm>
            <a:off x="8970264" y="288036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48" name="Layer tint 8"/>
          <p:cNvSpPr/>
          <p:nvPr/>
        </p:nvSpPr>
        <p:spPr>
          <a:xfrm>
            <a:off x="8970264" y="2880360"/>
            <a:ext cx="2679192" cy="1024128"/>
          </a:xfrm>
          <a:prstGeom prst="roundRect">
            <a:avLst>
              <a:gd name="adj" fmla="val 10714"/>
            </a:avLst>
          </a:prstGeom>
          <a:solidFill>
            <a:schemeClr val="accent5">
              <a:alpha val="20000"/>
            </a:schemeClr>
          </a:solidFill>
          <a:ln/>
        </p:spPr>
      </p:sp>
      <p:sp>
        <p:nvSpPr>
          <p:cNvPr id="49" name="Pill"/>
          <p:cNvSpPr txBox="1"/>
          <p:nvPr/>
        </p:nvSpPr>
        <p:spPr>
          <a:xfrm>
            <a:off x="10570464" y="2971800"/>
            <a:ext cx="914400" cy="237744"/>
          </a:xfrm>
          <a:prstGeom prst="roundRect">
            <a:avLst>
              <a:gd name="adj" fmla="val 57692"/>
            </a:avLst>
          </a:prstGeom>
          <a:solidFill>
            <a:schemeClr val="accent5"/>
          </a:solidFill>
          <a:ln/>
        </p:spPr>
        <p:txBody>
          <a:bodyPr wrap="square" lIns="0" tIns="0" rIns="0" bIns="0" rtlCol="0" anchor="ctr"/>
          <a:lstStyle/>
          <a:p>
            <a:pPr algn="ctr" indent="0" marL="0">
              <a:buNone/>
            </a:pPr>
            <a:r>
              <a:rPr lang="en-US" sz="1000" b="1" spc="200" kern="0" dirty="0">
                <a:solidFill>
                  <a:schemeClr val="tx1"/>
                </a:solidFill>
              </a:rPr>
              <a:t>SILVER</a:t>
            </a:r>
            <a:endParaRPr lang="en-US" sz="1000" dirty="0"/>
          </a:p>
        </p:txBody>
      </p:sp>
      <p:sp>
        <p:nvSpPr>
          <p:cNvPr id="50" name="Reason"/>
          <p:cNvSpPr txBox="1"/>
          <p:nvPr/>
        </p:nvSpPr>
        <p:spPr>
          <a:xfrm>
            <a:off x="9107424" y="3685032"/>
            <a:ext cx="2468880" cy="182880"/>
          </a:xfrm>
          <a:prstGeom prst="rect">
            <a:avLst/>
          </a:prstGeom>
          <a:noFill/>
          <a:ln/>
        </p:spPr>
        <p:txBody>
          <a:bodyPr wrap="square" lIns="0" tIns="0" rIns="0" bIns="0" rtlCol="0" anchor="t"/>
          <a:lstStyle/>
          <a:p>
            <a:pPr indent="0" marL="0">
              <a:buNone/>
            </a:pPr>
            <a:r>
              <a:rPr lang="en-US" sz="1100" i="1" dirty="0">
                <a:solidFill>
                  <a:schemeClr val="tx1"/>
                </a:solidFill>
              </a:rPr>
              <a:t>Clean</a:t>
            </a:r>
            <a:endParaRPr lang="en-US" sz="1100" dirty="0"/>
          </a:p>
        </p:txBody>
      </p:sp>
      <p:sp>
        <p:nvSpPr>
          <p:cNvPr id="51" name="Step number"/>
          <p:cNvSpPr txBox="1"/>
          <p:nvPr/>
        </p:nvSpPr>
        <p:spPr>
          <a:xfrm>
            <a:off x="9107424" y="295351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8</a:t>
            </a:r>
            <a:endParaRPr lang="en-US" sz="1500" dirty="0"/>
          </a:p>
        </p:txBody>
      </p:sp>
      <p:sp>
        <p:nvSpPr>
          <p:cNvPr id="52" name="Step text"/>
          <p:cNvSpPr txBox="1"/>
          <p:nvPr/>
        </p:nvSpPr>
        <p:spPr>
          <a:xfrm>
            <a:off x="9107424" y="3209544"/>
            <a:ext cx="2423160" cy="457200"/>
          </a:xfrm>
          <a:prstGeom prst="rect">
            <a:avLst/>
          </a:prstGeom>
          <a:noFill/>
          <a:ln/>
        </p:spPr>
        <p:txBody>
          <a:bodyPr wrap="square" lIns="0" tIns="0" rIns="0" bIns="0" rtlCol="0" anchor="t"/>
          <a:lstStyle/>
          <a:p>
            <a:pPr indent="0" marL="0">
              <a:buNone/>
            </a:pPr>
            <a:r>
              <a:rPr lang="en-US" sz="1250" dirty="0">
                <a:solidFill>
                  <a:schemeClr val="tx1"/>
                </a:solidFill>
              </a:rPr>
              <a:t>Remove duplicate rows</a:t>
            </a:r>
            <a:endParaRPr lang="en-US" sz="1250" dirty="0"/>
          </a:p>
        </p:txBody>
      </p:sp>
      <p:sp>
        <p:nvSpPr>
          <p:cNvPr id="53" name="Solved step 9"/>
          <p:cNvSpPr/>
          <p:nvPr/>
        </p:nvSpPr>
        <p:spPr>
          <a:xfrm>
            <a:off x="548640" y="397764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54" name="Layer tint 9"/>
          <p:cNvSpPr/>
          <p:nvPr/>
        </p:nvSpPr>
        <p:spPr>
          <a:xfrm>
            <a:off x="548640" y="3977640"/>
            <a:ext cx="2679192" cy="1024128"/>
          </a:xfrm>
          <a:prstGeom prst="roundRect">
            <a:avLst>
              <a:gd name="adj" fmla="val 10714"/>
            </a:avLst>
          </a:prstGeom>
          <a:solidFill>
            <a:schemeClr val="accent6">
              <a:alpha val="20000"/>
            </a:schemeClr>
          </a:solidFill>
          <a:ln/>
        </p:spPr>
      </p:sp>
      <p:sp>
        <p:nvSpPr>
          <p:cNvPr id="55" name="Pill"/>
          <p:cNvSpPr txBox="1"/>
          <p:nvPr/>
        </p:nvSpPr>
        <p:spPr>
          <a:xfrm>
            <a:off x="2148840" y="4069080"/>
            <a:ext cx="914400" cy="237744"/>
          </a:xfrm>
          <a:prstGeom prst="roundRect">
            <a:avLst>
              <a:gd name="adj" fmla="val 57692"/>
            </a:avLst>
          </a:prstGeom>
          <a:solidFill>
            <a:schemeClr val="accent6"/>
          </a:solidFill>
          <a:ln/>
        </p:spPr>
        <p:txBody>
          <a:bodyPr wrap="square" lIns="0" tIns="0" rIns="0" bIns="0" rtlCol="0" anchor="ctr"/>
          <a:lstStyle/>
          <a:p>
            <a:pPr algn="ctr" indent="0" marL="0">
              <a:buNone/>
            </a:pPr>
            <a:r>
              <a:rPr lang="en-US" sz="1000" b="1" spc="200" kern="0" dirty="0">
                <a:solidFill>
                  <a:schemeClr val="tx1"/>
                </a:solidFill>
              </a:rPr>
              <a:t>GOLD</a:t>
            </a:r>
            <a:endParaRPr lang="en-US" sz="1000" dirty="0"/>
          </a:p>
        </p:txBody>
      </p:sp>
      <p:sp>
        <p:nvSpPr>
          <p:cNvPr id="56" name="Reason"/>
          <p:cNvSpPr txBox="1"/>
          <p:nvPr/>
        </p:nvSpPr>
        <p:spPr>
          <a:xfrm>
            <a:off x="685800" y="4782312"/>
            <a:ext cx="2468880" cy="182880"/>
          </a:xfrm>
          <a:prstGeom prst="rect">
            <a:avLst/>
          </a:prstGeom>
          <a:noFill/>
          <a:ln/>
        </p:spPr>
        <p:txBody>
          <a:bodyPr wrap="square" lIns="0" tIns="0" rIns="0" bIns="0" rtlCol="0" anchor="t"/>
          <a:lstStyle/>
          <a:p>
            <a:pPr indent="0" marL="0">
              <a:buNone/>
            </a:pPr>
            <a:r>
              <a:rPr lang="en-US" sz="1100" i="1" dirty="0">
                <a:solidFill>
                  <a:schemeClr val="tx1"/>
                </a:solidFill>
              </a:rPr>
              <a:t>A business measure</a:t>
            </a:r>
            <a:endParaRPr lang="en-US" sz="1100" dirty="0"/>
          </a:p>
        </p:txBody>
      </p:sp>
      <p:sp>
        <p:nvSpPr>
          <p:cNvPr id="57" name="Step number"/>
          <p:cNvSpPr txBox="1"/>
          <p:nvPr/>
        </p:nvSpPr>
        <p:spPr>
          <a:xfrm>
            <a:off x="685800" y="405079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9</a:t>
            </a:r>
            <a:endParaRPr lang="en-US" sz="1500" dirty="0"/>
          </a:p>
        </p:txBody>
      </p:sp>
      <p:sp>
        <p:nvSpPr>
          <p:cNvPr id="58" name="Step text"/>
          <p:cNvSpPr txBox="1"/>
          <p:nvPr/>
        </p:nvSpPr>
        <p:spPr>
          <a:xfrm>
            <a:off x="685800" y="4306824"/>
            <a:ext cx="2423160" cy="457200"/>
          </a:xfrm>
          <a:prstGeom prst="rect">
            <a:avLst/>
          </a:prstGeom>
          <a:noFill/>
          <a:ln/>
        </p:spPr>
        <p:txBody>
          <a:bodyPr wrap="square" lIns="0" tIns="0" rIns="0" bIns="0" rtlCol="0" anchor="t"/>
          <a:lstStyle/>
          <a:p>
            <a:pPr indent="0" marL="0">
              <a:buNone/>
            </a:pPr>
            <a:r>
              <a:rPr lang="en-US" sz="1250" dirty="0">
                <a:solidFill>
                  <a:schemeClr val="tx1"/>
                </a:solidFill>
              </a:rPr>
              <a:t>Compute each state's share of impressions</a:t>
            </a:r>
            <a:endParaRPr lang="en-US" sz="1250" dirty="0"/>
          </a:p>
        </p:txBody>
      </p:sp>
      <p:sp>
        <p:nvSpPr>
          <p:cNvPr id="59" name="Solved step 10"/>
          <p:cNvSpPr/>
          <p:nvPr/>
        </p:nvSpPr>
        <p:spPr>
          <a:xfrm>
            <a:off x="3355848" y="397764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0" name="Layer tint 10"/>
          <p:cNvSpPr/>
          <p:nvPr/>
        </p:nvSpPr>
        <p:spPr>
          <a:xfrm>
            <a:off x="3355848" y="3977640"/>
            <a:ext cx="2679192" cy="1024128"/>
          </a:xfrm>
          <a:prstGeom prst="roundRect">
            <a:avLst>
              <a:gd name="adj" fmla="val 10714"/>
            </a:avLst>
          </a:prstGeom>
          <a:solidFill>
            <a:schemeClr val="accent6">
              <a:alpha val="20000"/>
            </a:schemeClr>
          </a:solidFill>
          <a:ln/>
        </p:spPr>
      </p:sp>
      <p:sp>
        <p:nvSpPr>
          <p:cNvPr id="61" name="Pill"/>
          <p:cNvSpPr txBox="1"/>
          <p:nvPr/>
        </p:nvSpPr>
        <p:spPr>
          <a:xfrm>
            <a:off x="4956048" y="4069080"/>
            <a:ext cx="914400" cy="237744"/>
          </a:xfrm>
          <a:prstGeom prst="roundRect">
            <a:avLst>
              <a:gd name="adj" fmla="val 57692"/>
            </a:avLst>
          </a:prstGeom>
          <a:solidFill>
            <a:schemeClr val="accent6"/>
          </a:solidFill>
          <a:ln/>
        </p:spPr>
        <p:txBody>
          <a:bodyPr wrap="square" lIns="0" tIns="0" rIns="0" bIns="0" rtlCol="0" anchor="ctr"/>
          <a:lstStyle/>
          <a:p>
            <a:pPr algn="ctr" indent="0" marL="0">
              <a:buNone/>
            </a:pPr>
            <a:r>
              <a:rPr lang="en-US" sz="1000" b="1" spc="200" kern="0" dirty="0">
                <a:solidFill>
                  <a:schemeClr val="tx1"/>
                </a:solidFill>
              </a:rPr>
              <a:t>GOLD</a:t>
            </a:r>
            <a:endParaRPr lang="en-US" sz="1000" dirty="0"/>
          </a:p>
        </p:txBody>
      </p:sp>
      <p:sp>
        <p:nvSpPr>
          <p:cNvPr id="62" name="Reason"/>
          <p:cNvSpPr txBox="1"/>
          <p:nvPr/>
        </p:nvSpPr>
        <p:spPr>
          <a:xfrm>
            <a:off x="3493008" y="4782312"/>
            <a:ext cx="2468880" cy="182880"/>
          </a:xfrm>
          <a:prstGeom prst="rect">
            <a:avLst/>
          </a:prstGeom>
          <a:noFill/>
          <a:ln/>
        </p:spPr>
        <p:txBody>
          <a:bodyPr wrap="square" lIns="0" tIns="0" rIns="0" bIns="0" rtlCol="0" anchor="t"/>
          <a:lstStyle/>
          <a:p>
            <a:pPr indent="0" marL="0">
              <a:buNone/>
            </a:pPr>
            <a:r>
              <a:rPr lang="en-US" sz="1100" i="1" dirty="0">
                <a:solidFill>
                  <a:schemeClr val="tx1"/>
                </a:solidFill>
              </a:rPr>
              <a:t>A business measure</a:t>
            </a:r>
            <a:endParaRPr lang="en-US" sz="1100" dirty="0"/>
          </a:p>
        </p:txBody>
      </p:sp>
      <p:sp>
        <p:nvSpPr>
          <p:cNvPr id="63" name="Step number"/>
          <p:cNvSpPr txBox="1"/>
          <p:nvPr/>
        </p:nvSpPr>
        <p:spPr>
          <a:xfrm>
            <a:off x="3493008" y="405079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10</a:t>
            </a:r>
            <a:endParaRPr lang="en-US" sz="1500" dirty="0"/>
          </a:p>
        </p:txBody>
      </p:sp>
      <p:sp>
        <p:nvSpPr>
          <p:cNvPr id="64" name="Step text"/>
          <p:cNvSpPr txBox="1"/>
          <p:nvPr/>
        </p:nvSpPr>
        <p:spPr>
          <a:xfrm>
            <a:off x="3493008" y="4306824"/>
            <a:ext cx="2423160" cy="457200"/>
          </a:xfrm>
          <a:prstGeom prst="rect">
            <a:avLst/>
          </a:prstGeom>
          <a:noFill/>
          <a:ln/>
        </p:spPr>
        <p:txBody>
          <a:bodyPr wrap="square" lIns="0" tIns="0" rIns="0" bIns="0" rtlCol="0" anchor="t"/>
          <a:lstStyle/>
          <a:p>
            <a:pPr indent="0" marL="0">
              <a:buNone/>
            </a:pPr>
            <a:r>
              <a:rPr lang="en-US" sz="1250" dirty="0">
                <a:solidFill>
                  <a:schemeClr val="tx1"/>
                </a:solidFill>
              </a:rPr>
              <a:t>Multiply revenue by the share</a:t>
            </a:r>
            <a:endParaRPr lang="en-US" sz="1250" dirty="0"/>
          </a:p>
        </p:txBody>
      </p:sp>
      <p:sp>
        <p:nvSpPr>
          <p:cNvPr id="65" name="Solved step 11"/>
          <p:cNvSpPr/>
          <p:nvPr/>
        </p:nvSpPr>
        <p:spPr>
          <a:xfrm>
            <a:off x="6163056" y="397764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6" name="Layer tint 11"/>
          <p:cNvSpPr/>
          <p:nvPr/>
        </p:nvSpPr>
        <p:spPr>
          <a:xfrm>
            <a:off x="6163056" y="3977640"/>
            <a:ext cx="2679192" cy="1024128"/>
          </a:xfrm>
          <a:prstGeom prst="roundRect">
            <a:avLst>
              <a:gd name="adj" fmla="val 10714"/>
            </a:avLst>
          </a:prstGeom>
          <a:solidFill>
            <a:schemeClr val="accent6">
              <a:alpha val="20000"/>
            </a:schemeClr>
          </a:solidFill>
          <a:ln/>
        </p:spPr>
      </p:sp>
      <p:sp>
        <p:nvSpPr>
          <p:cNvPr id="67" name="Pill"/>
          <p:cNvSpPr txBox="1"/>
          <p:nvPr/>
        </p:nvSpPr>
        <p:spPr>
          <a:xfrm>
            <a:off x="7763256" y="4069080"/>
            <a:ext cx="914400" cy="237744"/>
          </a:xfrm>
          <a:prstGeom prst="roundRect">
            <a:avLst>
              <a:gd name="adj" fmla="val 57692"/>
            </a:avLst>
          </a:prstGeom>
          <a:solidFill>
            <a:schemeClr val="accent6"/>
          </a:solidFill>
          <a:ln/>
        </p:spPr>
        <p:txBody>
          <a:bodyPr wrap="square" lIns="0" tIns="0" rIns="0" bIns="0" rtlCol="0" anchor="ctr"/>
          <a:lstStyle/>
          <a:p>
            <a:pPr algn="ctr" indent="0" marL="0">
              <a:buNone/>
            </a:pPr>
            <a:r>
              <a:rPr lang="en-US" sz="1000" b="1" spc="200" kern="0" dirty="0">
                <a:solidFill>
                  <a:schemeClr val="tx1"/>
                </a:solidFill>
              </a:rPr>
              <a:t>GOLD</a:t>
            </a:r>
            <a:endParaRPr lang="en-US" sz="1000" dirty="0"/>
          </a:p>
        </p:txBody>
      </p:sp>
      <p:sp>
        <p:nvSpPr>
          <p:cNvPr id="68" name="Reason"/>
          <p:cNvSpPr txBox="1"/>
          <p:nvPr/>
        </p:nvSpPr>
        <p:spPr>
          <a:xfrm>
            <a:off x="6300216" y="4782312"/>
            <a:ext cx="2468880" cy="182880"/>
          </a:xfrm>
          <a:prstGeom prst="rect">
            <a:avLst/>
          </a:prstGeom>
          <a:noFill/>
          <a:ln/>
        </p:spPr>
        <p:txBody>
          <a:bodyPr wrap="square" lIns="0" tIns="0" rIns="0" bIns="0" rtlCol="0" anchor="t"/>
          <a:lstStyle/>
          <a:p>
            <a:pPr indent="0" marL="0">
              <a:buNone/>
            </a:pPr>
            <a:r>
              <a:rPr lang="en-US" sz="1100" i="1" dirty="0">
                <a:solidFill>
                  <a:schemeClr val="tx1"/>
                </a:solidFill>
              </a:rPr>
              <a:t>The reporting grain</a:t>
            </a:r>
            <a:endParaRPr lang="en-US" sz="1100" dirty="0"/>
          </a:p>
        </p:txBody>
      </p:sp>
      <p:sp>
        <p:nvSpPr>
          <p:cNvPr id="69" name="Step number"/>
          <p:cNvSpPr txBox="1"/>
          <p:nvPr/>
        </p:nvSpPr>
        <p:spPr>
          <a:xfrm>
            <a:off x="6300216" y="405079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11</a:t>
            </a:r>
            <a:endParaRPr lang="en-US" sz="1500" dirty="0"/>
          </a:p>
        </p:txBody>
      </p:sp>
      <p:sp>
        <p:nvSpPr>
          <p:cNvPr id="70" name="Step text"/>
          <p:cNvSpPr txBox="1"/>
          <p:nvPr/>
        </p:nvSpPr>
        <p:spPr>
          <a:xfrm>
            <a:off x="6300216" y="4306824"/>
            <a:ext cx="2423160" cy="457200"/>
          </a:xfrm>
          <a:prstGeom prst="rect">
            <a:avLst/>
          </a:prstGeom>
          <a:noFill/>
          <a:ln/>
        </p:spPr>
        <p:txBody>
          <a:bodyPr wrap="square" lIns="0" tIns="0" rIns="0" bIns="0" rtlCol="0" anchor="t"/>
          <a:lstStyle/>
          <a:p>
            <a:pPr indent="0" marL="0">
              <a:buNone/>
            </a:pPr>
            <a:r>
              <a:rPr lang="en-US" sz="1250" dirty="0">
                <a:solidFill>
                  <a:schemeClr val="tx1"/>
                </a:solidFill>
              </a:rPr>
              <a:t>Summarise to month, entity and state</a:t>
            </a:r>
            <a:endParaRPr lang="en-US" sz="1250" dirty="0"/>
          </a:p>
        </p:txBody>
      </p:sp>
      <p:sp>
        <p:nvSpPr>
          <p:cNvPr id="71" name="Solved step 12"/>
          <p:cNvSpPr/>
          <p:nvPr/>
        </p:nvSpPr>
        <p:spPr>
          <a:xfrm>
            <a:off x="8970264" y="3977640"/>
            <a:ext cx="2679192" cy="1024128"/>
          </a:xfrm>
          <a:prstGeom prst="roundRect">
            <a:avLst>
              <a:gd name="adj" fmla="val 10714"/>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72" name="Layer tint 12"/>
          <p:cNvSpPr/>
          <p:nvPr/>
        </p:nvSpPr>
        <p:spPr>
          <a:xfrm>
            <a:off x="8970264" y="3977640"/>
            <a:ext cx="2679192" cy="1024128"/>
          </a:xfrm>
          <a:prstGeom prst="roundRect">
            <a:avLst>
              <a:gd name="adj" fmla="val 10714"/>
            </a:avLst>
          </a:prstGeom>
          <a:solidFill>
            <a:schemeClr val="accent6">
              <a:alpha val="20000"/>
            </a:schemeClr>
          </a:solidFill>
          <a:ln/>
        </p:spPr>
      </p:sp>
      <p:sp>
        <p:nvSpPr>
          <p:cNvPr id="73" name="Pill"/>
          <p:cNvSpPr txBox="1"/>
          <p:nvPr/>
        </p:nvSpPr>
        <p:spPr>
          <a:xfrm>
            <a:off x="10570464" y="4069080"/>
            <a:ext cx="914400" cy="237744"/>
          </a:xfrm>
          <a:prstGeom prst="roundRect">
            <a:avLst>
              <a:gd name="adj" fmla="val 57692"/>
            </a:avLst>
          </a:prstGeom>
          <a:solidFill>
            <a:schemeClr val="accent6"/>
          </a:solidFill>
          <a:ln/>
        </p:spPr>
        <p:txBody>
          <a:bodyPr wrap="square" lIns="0" tIns="0" rIns="0" bIns="0" rtlCol="0" anchor="ctr"/>
          <a:lstStyle/>
          <a:p>
            <a:pPr algn="ctr" indent="0" marL="0">
              <a:buNone/>
            </a:pPr>
            <a:r>
              <a:rPr lang="en-US" sz="1000" b="1" spc="200" kern="0" dirty="0">
                <a:solidFill>
                  <a:schemeClr val="tx1"/>
                </a:solidFill>
              </a:rPr>
              <a:t>GOLD</a:t>
            </a:r>
            <a:endParaRPr lang="en-US" sz="1000" dirty="0"/>
          </a:p>
        </p:txBody>
      </p:sp>
      <p:sp>
        <p:nvSpPr>
          <p:cNvPr id="74" name="Reason"/>
          <p:cNvSpPr txBox="1"/>
          <p:nvPr/>
        </p:nvSpPr>
        <p:spPr>
          <a:xfrm>
            <a:off x="9107424" y="4782312"/>
            <a:ext cx="2468880" cy="182880"/>
          </a:xfrm>
          <a:prstGeom prst="rect">
            <a:avLst/>
          </a:prstGeom>
          <a:noFill/>
          <a:ln/>
        </p:spPr>
        <p:txBody>
          <a:bodyPr wrap="square" lIns="0" tIns="0" rIns="0" bIns="0" rtlCol="0" anchor="t"/>
          <a:lstStyle/>
          <a:p>
            <a:pPr indent="0" marL="0">
              <a:buNone/>
            </a:pPr>
            <a:r>
              <a:rPr lang="en-US" sz="1100" i="1" dirty="0">
                <a:solidFill>
                  <a:schemeClr val="tx1"/>
                </a:solidFill>
              </a:rPr>
              <a:t>Consumption</a:t>
            </a:r>
            <a:endParaRPr lang="en-US" sz="1100" dirty="0"/>
          </a:p>
        </p:txBody>
      </p:sp>
      <p:sp>
        <p:nvSpPr>
          <p:cNvPr id="75" name="Step number"/>
          <p:cNvSpPr txBox="1"/>
          <p:nvPr/>
        </p:nvSpPr>
        <p:spPr>
          <a:xfrm>
            <a:off x="9107424" y="4050792"/>
            <a:ext cx="365760" cy="27432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12</a:t>
            </a:r>
            <a:endParaRPr lang="en-US" sz="1500" dirty="0"/>
          </a:p>
        </p:txBody>
      </p:sp>
      <p:sp>
        <p:nvSpPr>
          <p:cNvPr id="76" name="Step text"/>
          <p:cNvSpPr txBox="1"/>
          <p:nvPr/>
        </p:nvSpPr>
        <p:spPr>
          <a:xfrm>
            <a:off x="9107424" y="4306824"/>
            <a:ext cx="2423160" cy="457200"/>
          </a:xfrm>
          <a:prstGeom prst="rect">
            <a:avLst/>
          </a:prstGeom>
          <a:noFill/>
          <a:ln/>
        </p:spPr>
        <p:txBody>
          <a:bodyPr wrap="square" lIns="0" tIns="0" rIns="0" bIns="0" rtlCol="0" anchor="t"/>
          <a:lstStyle/>
          <a:p>
            <a:pPr indent="0" marL="0">
              <a:buNone/>
            </a:pPr>
            <a:r>
              <a:rPr lang="en-US" sz="1250" dirty="0">
                <a:solidFill>
                  <a:schemeClr val="tx1"/>
                </a:solidFill>
              </a:rPr>
              <a:t>Publish the table for Power BI</a:t>
            </a:r>
            <a:endParaRPr lang="en-US" sz="1250" dirty="0"/>
          </a:p>
        </p:txBody>
      </p:sp>
      <p:sp>
        <p:nvSpPr>
          <p:cNvPr id="77" name="Footnote"/>
          <p:cNvSpPr txBox="1"/>
          <p:nvPr/>
        </p:nvSpPr>
        <p:spPr>
          <a:xfrm>
            <a:off x="548640" y="5193792"/>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Step 11 is debatable: silver if it only reduces volume, gold if the grain belongs to one report.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WRAP-UP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Day One in six sentences</a:t>
            </a:r>
            <a:endParaRPr lang="en-US" sz="3200" dirty="0"/>
          </a:p>
        </p:txBody>
      </p:sp>
      <p:sp>
        <p:nvSpPr>
          <p:cNvPr id="5" name="Recap 1"/>
          <p:cNvSpPr/>
          <p:nvPr/>
        </p:nvSpPr>
        <p:spPr>
          <a:xfrm>
            <a:off x="548640" y="1783080"/>
            <a:ext cx="3593592" cy="1828800"/>
          </a:xfrm>
          <a:prstGeom prst="roundRect">
            <a:avLst>
              <a:gd name="adj" fmla="val 6000"/>
            </a:avLst>
          </a:prstGeom>
          <a:solidFill>
            <a:schemeClr val="bg2"/>
          </a:solidFill>
          <a:ln/>
        </p:spPr>
      </p:sp>
      <p:sp>
        <p:nvSpPr>
          <p:cNvPr id="6" name="Recap chip 1"/>
          <p:cNvSpPr/>
          <p:nvPr/>
        </p:nvSpPr>
        <p:spPr>
          <a:xfrm>
            <a:off x="777240" y="2011680"/>
            <a:ext cx="457200" cy="457200"/>
          </a:xfrm>
          <a:prstGeom prst="roundRect">
            <a:avLst>
              <a:gd name="adj" fmla="val 16000"/>
            </a:avLst>
          </a:prstGeom>
          <a:solidFill>
            <a:schemeClr val="accent1"/>
          </a:solidFill>
          <a:ln/>
        </p:spPr>
      </p:sp>
      <p:sp>
        <p:nvSpPr>
          <p:cNvPr id="7" name="Recap number"/>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8" name="Recap label"/>
          <p:cNvSpPr txBox="1"/>
          <p:nvPr/>
        </p:nvSpPr>
        <p:spPr>
          <a:xfrm>
            <a:off x="141732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FABRIC AT DISNEY</a:t>
            </a:r>
            <a:endParaRPr lang="en-US" sz="1000" dirty="0"/>
          </a:p>
        </p:txBody>
      </p:sp>
      <p:sp>
        <p:nvSpPr>
          <p:cNvPr id="9" name="Recap sentence"/>
          <p:cNvSpPr txBox="1"/>
          <p:nvPr/>
        </p:nvSpPr>
        <p:spPr>
          <a:xfrm>
            <a:off x="777240" y="2606040"/>
            <a:ext cx="3154680" cy="914400"/>
          </a:xfrm>
          <a:prstGeom prst="rect">
            <a:avLst/>
          </a:prstGeom>
          <a:noFill/>
          <a:ln/>
        </p:spPr>
        <p:txBody>
          <a:bodyPr wrap="square" lIns="0" tIns="0" rIns="0" bIns="0" rtlCol="0" anchor="t"/>
          <a:lstStyle/>
          <a:p>
            <a:pPr indent="0" marL="0">
              <a:buNone/>
            </a:pPr>
            <a:r>
              <a:rPr lang="en-US" sz="1500" dirty="0">
                <a:solidFill>
                  <a:schemeClr val="tx1"/>
                </a:solidFill>
              </a:rPr>
              <a:t>Fabric is one platform on one copy of the data, set up as tenant, capacity, workspaces and items.</a:t>
            </a:r>
            <a:endParaRPr lang="en-US" sz="1500" dirty="0"/>
          </a:p>
        </p:txBody>
      </p:sp>
      <p:sp>
        <p:nvSpPr>
          <p:cNvPr id="10" name="Recap 2"/>
          <p:cNvSpPr/>
          <p:nvPr/>
        </p:nvSpPr>
        <p:spPr>
          <a:xfrm>
            <a:off x="4297680" y="1783080"/>
            <a:ext cx="3593592" cy="1828800"/>
          </a:xfrm>
          <a:prstGeom prst="roundRect">
            <a:avLst>
              <a:gd name="adj" fmla="val 6000"/>
            </a:avLst>
          </a:prstGeom>
          <a:solidFill>
            <a:schemeClr val="bg2"/>
          </a:solidFill>
          <a:ln/>
        </p:spPr>
      </p:sp>
      <p:sp>
        <p:nvSpPr>
          <p:cNvPr id="11" name="Recap chip 2"/>
          <p:cNvSpPr/>
          <p:nvPr/>
        </p:nvSpPr>
        <p:spPr>
          <a:xfrm>
            <a:off x="4526280" y="2011680"/>
            <a:ext cx="457200" cy="457200"/>
          </a:xfrm>
          <a:prstGeom prst="roundRect">
            <a:avLst>
              <a:gd name="adj" fmla="val 16000"/>
            </a:avLst>
          </a:prstGeom>
          <a:solidFill>
            <a:schemeClr val="accent1"/>
          </a:solidFill>
          <a:ln/>
        </p:spPr>
      </p:sp>
      <p:sp>
        <p:nvSpPr>
          <p:cNvPr id="12" name="Recap number"/>
          <p:cNvSpPr txBox="1"/>
          <p:nvPr/>
        </p:nvSpPr>
        <p:spPr>
          <a:xfrm>
            <a:off x="452628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13" name="Recap label"/>
          <p:cNvSpPr txBox="1"/>
          <p:nvPr/>
        </p:nvSpPr>
        <p:spPr>
          <a:xfrm>
            <a:off x="516636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MIGRATION STRATEGY</a:t>
            </a:r>
            <a:endParaRPr lang="en-US" sz="1000" dirty="0"/>
          </a:p>
        </p:txBody>
      </p:sp>
      <p:sp>
        <p:nvSpPr>
          <p:cNvPr id="14" name="Recap sentence"/>
          <p:cNvSpPr txBox="1"/>
          <p:nvPr/>
        </p:nvSpPr>
        <p:spPr>
          <a:xfrm>
            <a:off x="4526280" y="2606040"/>
            <a:ext cx="3154680" cy="914400"/>
          </a:xfrm>
          <a:prstGeom prst="rect">
            <a:avLst/>
          </a:prstGeom>
          <a:noFill/>
          <a:ln/>
        </p:spPr>
        <p:txBody>
          <a:bodyPr wrap="square" lIns="0" tIns="0" rIns="0" bIns="0" rtlCol="0" anchor="t"/>
          <a:lstStyle/>
          <a:p>
            <a:pPr indent="0" marL="0">
              <a:buNone/>
            </a:pPr>
            <a:r>
              <a:rPr lang="en-US" sz="1500" dirty="0">
                <a:solidFill>
                  <a:schemeClr val="tx1"/>
                </a:solidFill>
              </a:rPr>
              <a:t>We re-express Alteryx logic rather than copy the canvas, and prove it side by side.</a:t>
            </a:r>
            <a:endParaRPr lang="en-US" sz="1500" dirty="0"/>
          </a:p>
        </p:txBody>
      </p:sp>
      <p:sp>
        <p:nvSpPr>
          <p:cNvPr id="15" name="Recap 3"/>
          <p:cNvSpPr/>
          <p:nvPr/>
        </p:nvSpPr>
        <p:spPr>
          <a:xfrm>
            <a:off x="8046720" y="1783080"/>
            <a:ext cx="3593592" cy="1828800"/>
          </a:xfrm>
          <a:prstGeom prst="roundRect">
            <a:avLst>
              <a:gd name="adj" fmla="val 6000"/>
            </a:avLst>
          </a:prstGeom>
          <a:solidFill>
            <a:schemeClr val="bg2"/>
          </a:solidFill>
          <a:ln/>
        </p:spPr>
      </p:sp>
      <p:sp>
        <p:nvSpPr>
          <p:cNvPr id="16" name="Recap chip 3"/>
          <p:cNvSpPr/>
          <p:nvPr/>
        </p:nvSpPr>
        <p:spPr>
          <a:xfrm>
            <a:off x="8275320" y="2011680"/>
            <a:ext cx="457200" cy="457200"/>
          </a:xfrm>
          <a:prstGeom prst="roundRect">
            <a:avLst>
              <a:gd name="adj" fmla="val 16000"/>
            </a:avLst>
          </a:prstGeom>
          <a:solidFill>
            <a:schemeClr val="accent1"/>
          </a:solidFill>
          <a:ln/>
        </p:spPr>
      </p:sp>
      <p:sp>
        <p:nvSpPr>
          <p:cNvPr id="17" name="Recap number"/>
          <p:cNvSpPr txBox="1"/>
          <p:nvPr/>
        </p:nvSpPr>
        <p:spPr>
          <a:xfrm>
            <a:off x="827532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8" name="Recap label"/>
          <p:cNvSpPr txBox="1"/>
          <p:nvPr/>
        </p:nvSpPr>
        <p:spPr>
          <a:xfrm>
            <a:off x="891540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LAKEHOUSE AND ONELAKE</a:t>
            </a:r>
            <a:endParaRPr lang="en-US" sz="1000" dirty="0"/>
          </a:p>
        </p:txBody>
      </p:sp>
      <p:sp>
        <p:nvSpPr>
          <p:cNvPr id="19" name="Recap sentence"/>
          <p:cNvSpPr txBox="1"/>
          <p:nvPr/>
        </p:nvSpPr>
        <p:spPr>
          <a:xfrm>
            <a:off x="8275320" y="2606040"/>
            <a:ext cx="3154680" cy="914400"/>
          </a:xfrm>
          <a:prstGeom prst="rect">
            <a:avLst/>
          </a:prstGeom>
          <a:noFill/>
          <a:ln/>
        </p:spPr>
        <p:txBody>
          <a:bodyPr wrap="square" lIns="0" tIns="0" rIns="0" bIns="0" rtlCol="0" anchor="t"/>
          <a:lstStyle/>
          <a:p>
            <a:pPr indent="0" marL="0">
              <a:buNone/>
            </a:pPr>
            <a:r>
              <a:rPr lang="en-US" sz="1500" dirty="0">
                <a:solidFill>
                  <a:schemeClr val="tx1"/>
                </a:solidFill>
              </a:rPr>
              <a:t>Land in Files, work in Tables, and point with shortcuts instead of copying.</a:t>
            </a:r>
            <a:endParaRPr lang="en-US" sz="1500" dirty="0"/>
          </a:p>
        </p:txBody>
      </p:sp>
      <p:sp>
        <p:nvSpPr>
          <p:cNvPr id="20" name="Recap 4"/>
          <p:cNvSpPr/>
          <p:nvPr/>
        </p:nvSpPr>
        <p:spPr>
          <a:xfrm>
            <a:off x="548640" y="3749040"/>
            <a:ext cx="3593592" cy="1828800"/>
          </a:xfrm>
          <a:prstGeom prst="roundRect">
            <a:avLst>
              <a:gd name="adj" fmla="val 6000"/>
            </a:avLst>
          </a:prstGeom>
          <a:solidFill>
            <a:schemeClr val="bg2"/>
          </a:solidFill>
          <a:ln/>
        </p:spPr>
      </p:sp>
      <p:sp>
        <p:nvSpPr>
          <p:cNvPr id="21" name="Recap chip 4"/>
          <p:cNvSpPr/>
          <p:nvPr/>
        </p:nvSpPr>
        <p:spPr>
          <a:xfrm>
            <a:off x="777240" y="3977640"/>
            <a:ext cx="457200" cy="457200"/>
          </a:xfrm>
          <a:prstGeom prst="roundRect">
            <a:avLst>
              <a:gd name="adj" fmla="val 16000"/>
            </a:avLst>
          </a:prstGeom>
          <a:solidFill>
            <a:schemeClr val="accent2"/>
          </a:solidFill>
          <a:ln/>
        </p:spPr>
      </p:sp>
      <p:sp>
        <p:nvSpPr>
          <p:cNvPr id="22" name="Recap number"/>
          <p:cNvSpPr txBox="1"/>
          <p:nvPr/>
        </p:nvSpPr>
        <p:spPr>
          <a:xfrm>
            <a:off x="77724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23" name="Recap label"/>
          <p:cNvSpPr txBox="1"/>
          <p:nvPr/>
        </p:nvSpPr>
        <p:spPr>
          <a:xfrm>
            <a:off x="141732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SQL FUNDAMENTALS</a:t>
            </a:r>
            <a:endParaRPr lang="en-US" sz="1000" dirty="0"/>
          </a:p>
        </p:txBody>
      </p:sp>
      <p:sp>
        <p:nvSpPr>
          <p:cNvPr id="24" name="Recap sentence"/>
          <p:cNvSpPr txBox="1"/>
          <p:nvPr/>
        </p:nvSpPr>
        <p:spPr>
          <a:xfrm>
            <a:off x="777240" y="4572000"/>
            <a:ext cx="3154680" cy="914400"/>
          </a:xfrm>
          <a:prstGeom prst="rect">
            <a:avLst/>
          </a:prstGeom>
          <a:noFill/>
          <a:ln/>
        </p:spPr>
        <p:txBody>
          <a:bodyPr wrap="square" lIns="0" tIns="0" rIns="0" bIns="0" rtlCol="0" anchor="t"/>
          <a:lstStyle/>
          <a:p>
            <a:pPr indent="0" marL="0">
              <a:buNone/>
            </a:pPr>
            <a:r>
              <a:rPr lang="en-US" sz="1500" dirty="0">
                <a:solidFill>
                  <a:schemeClr val="tx1"/>
                </a:solidFill>
              </a:rPr>
              <a:t>Filter, join, aggregate and window, and treat NULL with respect.</a:t>
            </a:r>
            <a:endParaRPr lang="en-US" sz="1500" dirty="0"/>
          </a:p>
        </p:txBody>
      </p:sp>
      <p:sp>
        <p:nvSpPr>
          <p:cNvPr id="25" name="Recap 5"/>
          <p:cNvSpPr/>
          <p:nvPr/>
        </p:nvSpPr>
        <p:spPr>
          <a:xfrm>
            <a:off x="4297680" y="3749040"/>
            <a:ext cx="3593592" cy="1828800"/>
          </a:xfrm>
          <a:prstGeom prst="roundRect">
            <a:avLst>
              <a:gd name="adj" fmla="val 6000"/>
            </a:avLst>
          </a:prstGeom>
          <a:solidFill>
            <a:schemeClr val="bg2"/>
          </a:solidFill>
          <a:ln/>
        </p:spPr>
      </p:sp>
      <p:sp>
        <p:nvSpPr>
          <p:cNvPr id="26" name="Recap chip 5"/>
          <p:cNvSpPr/>
          <p:nvPr/>
        </p:nvSpPr>
        <p:spPr>
          <a:xfrm>
            <a:off x="4526280" y="3977640"/>
            <a:ext cx="457200" cy="457200"/>
          </a:xfrm>
          <a:prstGeom prst="roundRect">
            <a:avLst>
              <a:gd name="adj" fmla="val 16000"/>
            </a:avLst>
          </a:prstGeom>
          <a:solidFill>
            <a:schemeClr val="accent2"/>
          </a:solidFill>
          <a:ln/>
        </p:spPr>
      </p:sp>
      <p:sp>
        <p:nvSpPr>
          <p:cNvPr id="27" name="Recap number"/>
          <p:cNvSpPr txBox="1"/>
          <p:nvPr/>
        </p:nvSpPr>
        <p:spPr>
          <a:xfrm>
            <a:off x="452628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5</a:t>
            </a:r>
            <a:endParaRPr lang="en-US" sz="2000" dirty="0"/>
          </a:p>
        </p:txBody>
      </p:sp>
      <p:sp>
        <p:nvSpPr>
          <p:cNvPr id="28" name="Recap label"/>
          <p:cNvSpPr txBox="1"/>
          <p:nvPr/>
        </p:nvSpPr>
        <p:spPr>
          <a:xfrm>
            <a:off x="516636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PYTHON FUNDAMENTALS</a:t>
            </a:r>
            <a:endParaRPr lang="en-US" sz="1000" dirty="0"/>
          </a:p>
        </p:txBody>
      </p:sp>
      <p:sp>
        <p:nvSpPr>
          <p:cNvPr id="29" name="Recap sentence"/>
          <p:cNvSpPr txBox="1"/>
          <p:nvPr/>
        </p:nvSpPr>
        <p:spPr>
          <a:xfrm>
            <a:off x="4526280" y="4572000"/>
            <a:ext cx="3154680" cy="914400"/>
          </a:xfrm>
          <a:prstGeom prst="rect">
            <a:avLst/>
          </a:prstGeom>
          <a:noFill/>
          <a:ln/>
        </p:spPr>
        <p:txBody>
          <a:bodyPr wrap="square" lIns="0" tIns="0" rIns="0" bIns="0" rtlCol="0" anchor="t"/>
          <a:lstStyle/>
          <a:p>
            <a:pPr indent="0" marL="0">
              <a:buNone/>
            </a:pPr>
            <a:r>
              <a:rPr lang="en-US" sz="1500" dirty="0">
                <a:solidFill>
                  <a:schemeClr val="tx1"/>
                </a:solidFill>
              </a:rPr>
              <a:t>Notebooks run top to bottom, and a DataFrame is a table you can program.</a:t>
            </a:r>
            <a:endParaRPr lang="en-US" sz="1500" dirty="0"/>
          </a:p>
        </p:txBody>
      </p:sp>
      <p:sp>
        <p:nvSpPr>
          <p:cNvPr id="30" name="Recap 6"/>
          <p:cNvSpPr/>
          <p:nvPr/>
        </p:nvSpPr>
        <p:spPr>
          <a:xfrm>
            <a:off x="8046720" y="3749040"/>
            <a:ext cx="3593592" cy="1828800"/>
          </a:xfrm>
          <a:prstGeom prst="roundRect">
            <a:avLst>
              <a:gd name="adj" fmla="val 6000"/>
            </a:avLst>
          </a:prstGeom>
          <a:solidFill>
            <a:schemeClr val="bg2"/>
          </a:solidFill>
          <a:ln/>
        </p:spPr>
      </p:sp>
      <p:sp>
        <p:nvSpPr>
          <p:cNvPr id="31" name="Recap chip 6"/>
          <p:cNvSpPr/>
          <p:nvPr/>
        </p:nvSpPr>
        <p:spPr>
          <a:xfrm>
            <a:off x="8275320" y="3977640"/>
            <a:ext cx="457200" cy="457200"/>
          </a:xfrm>
          <a:prstGeom prst="roundRect">
            <a:avLst>
              <a:gd name="adj" fmla="val 16000"/>
            </a:avLst>
          </a:prstGeom>
          <a:solidFill>
            <a:schemeClr val="accent2"/>
          </a:solidFill>
          <a:ln/>
        </p:spPr>
      </p:sp>
      <p:sp>
        <p:nvSpPr>
          <p:cNvPr id="32" name="Recap number"/>
          <p:cNvSpPr txBox="1"/>
          <p:nvPr/>
        </p:nvSpPr>
        <p:spPr>
          <a:xfrm>
            <a:off x="827532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6</a:t>
            </a:r>
            <a:endParaRPr lang="en-US" sz="2000" dirty="0"/>
          </a:p>
        </p:txBody>
      </p:sp>
      <p:sp>
        <p:nvSpPr>
          <p:cNvPr id="33" name="Recap label"/>
          <p:cNvSpPr txBox="1"/>
          <p:nvPr/>
        </p:nvSpPr>
        <p:spPr>
          <a:xfrm>
            <a:off x="891540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MEDALLION ARCHITECTURE</a:t>
            </a:r>
            <a:endParaRPr lang="en-US" sz="1000" dirty="0"/>
          </a:p>
        </p:txBody>
      </p:sp>
      <p:sp>
        <p:nvSpPr>
          <p:cNvPr id="34" name="Recap sentence"/>
          <p:cNvSpPr txBox="1"/>
          <p:nvPr/>
        </p:nvSpPr>
        <p:spPr>
          <a:xfrm>
            <a:off x="8275320" y="4572000"/>
            <a:ext cx="3154680" cy="914400"/>
          </a:xfrm>
          <a:prstGeom prst="rect">
            <a:avLst/>
          </a:prstGeom>
          <a:noFill/>
          <a:ln/>
        </p:spPr>
        <p:txBody>
          <a:bodyPr wrap="square" lIns="0" tIns="0" rIns="0" bIns="0" rtlCol="0" anchor="t"/>
          <a:lstStyle/>
          <a:p>
            <a:pPr indent="0" marL="0">
              <a:buNone/>
            </a:pPr>
            <a:r>
              <a:rPr lang="en-US" sz="1500" dirty="0">
                <a:solidFill>
                  <a:schemeClr val="tx1"/>
                </a:solidFill>
              </a:rPr>
              <a:t>Bronze keeps it raw, silver makes it right, gold makes it useful.</a:t>
            </a:r>
            <a:endParaRPr lang="en-US" sz="1500" dirty="0"/>
          </a:p>
        </p:txBody>
      </p:sp>
      <p:sp>
        <p:nvSpPr>
          <p:cNvPr id="35"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Questions parked today go to the owners named at the start of the day.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rPr>
              <a:t>NEXT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bg1"/>
                </a:solidFill>
              </a:rPr>
              <a:t>Tomorrow: you build</a:t>
            </a:r>
            <a:endParaRPr lang="en-US" sz="3200" dirty="0"/>
          </a:p>
        </p:txBody>
      </p:sp>
      <p:sp>
        <p:nvSpPr>
          <p:cNvPr id="5" name="Day two label"/>
          <p:cNvSpPr txBox="1"/>
          <p:nvPr/>
        </p:nvSpPr>
        <p:spPr>
          <a:xfrm>
            <a:off x="548640" y="1783080"/>
            <a:ext cx="6400800" cy="228600"/>
          </a:xfrm>
          <a:prstGeom prst="rect">
            <a:avLst/>
          </a:prstGeom>
          <a:noFill/>
          <a:ln/>
        </p:spPr>
        <p:txBody>
          <a:bodyPr wrap="square" lIns="0" tIns="0" rIns="0" bIns="0" rtlCol="0" anchor="t"/>
          <a:lstStyle/>
          <a:p>
            <a:pPr indent="0" marL="0">
              <a:buNone/>
            </a:pPr>
            <a:r>
              <a:rPr lang="en-US" sz="1100" b="1" spc="300" kern="0" dirty="0">
                <a:solidFill>
                  <a:schemeClr val="accent2"/>
                </a:solidFill>
              </a:rPr>
              <a:t>DAY TWO  ·  BUILDING IN FABRIC</a:t>
            </a:r>
            <a:endParaRPr lang="en-US" sz="1100" dirty="0"/>
          </a:p>
        </p:txBody>
      </p:sp>
      <p:sp>
        <p:nvSpPr>
          <p:cNvPr id="6" name="Day two module 03"/>
          <p:cNvSpPr/>
          <p:nvPr/>
        </p:nvSpPr>
        <p:spPr>
          <a:xfrm>
            <a:off x="548640" y="2103120"/>
            <a:ext cx="3291840" cy="2834640"/>
          </a:xfrm>
          <a:prstGeom prst="roundRect">
            <a:avLst>
              <a:gd name="adj" fmla="val 3871"/>
            </a:avLst>
          </a:prstGeom>
          <a:solidFill>
            <a:schemeClr val="tx2"/>
          </a:solidFill>
          <a:ln/>
        </p:spPr>
      </p:sp>
      <p:sp>
        <p:nvSpPr>
          <p:cNvPr id="7" name="Module number"/>
          <p:cNvSpPr txBox="1"/>
          <p:nvPr/>
        </p:nvSpPr>
        <p:spPr>
          <a:xfrm>
            <a:off x="777240" y="2194560"/>
            <a:ext cx="914400" cy="548640"/>
          </a:xfrm>
          <a:prstGeom prst="rect">
            <a:avLst/>
          </a:prstGeom>
          <a:noFill/>
          <a:ln/>
        </p:spPr>
        <p:txBody>
          <a:bodyPr wrap="square" lIns="0" tIns="0" rIns="0" bIns="0" rtlCol="0" anchor="t"/>
          <a:lstStyle/>
          <a:p>
            <a:pPr indent="0" marL="0">
              <a:buNone/>
            </a:pPr>
            <a:r>
              <a:rPr lang="en-US" sz="3200" b="1" dirty="0">
                <a:solidFill>
                  <a:schemeClr val="accent2"/>
                </a:solidFill>
                <a:latin typeface="+mj-lt" pitchFamily="34" charset="0"/>
                <a:ea typeface="+mj-lt" pitchFamily="34" charset="-122"/>
                <a:cs typeface="+mj-lt" pitchFamily="34" charset="-120"/>
              </a:rPr>
              <a:t>03</a:t>
            </a:r>
            <a:endParaRPr lang="en-US" sz="3200" dirty="0"/>
          </a:p>
        </p:txBody>
      </p:sp>
      <p:sp>
        <p:nvSpPr>
          <p:cNvPr id="8" name="Module name"/>
          <p:cNvSpPr txBox="1"/>
          <p:nvPr/>
        </p:nvSpPr>
        <p:spPr>
          <a:xfrm>
            <a:off x="777240" y="2788920"/>
            <a:ext cx="2834640" cy="59436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Data Engineering in Fabric</a:t>
            </a:r>
            <a:endParaRPr lang="en-US" sz="1700" dirty="0"/>
          </a:p>
        </p:txBody>
      </p:sp>
      <p:sp>
        <p:nvSpPr>
          <p:cNvPr id="9" name="Module topics"/>
          <p:cNvSpPr txBox="1"/>
          <p:nvPr/>
        </p:nvSpPr>
        <p:spPr>
          <a:xfrm>
            <a:off x="777240" y="3520440"/>
            <a:ext cx="2880360" cy="12801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bg1"/>
                </a:solidFill>
              </a:rPr>
              <a:t>Notebook development</a:t>
            </a:r>
            <a:endParaRPr lang="en-US" sz="1400" dirty="0"/>
          </a:p>
          <a:p>
            <a:pPr marL="342900" indent="-342900">
              <a:spcAft>
                <a:spcPts val="700"/>
              </a:spcAft>
              <a:buSzPct val="100000"/>
              <a:buChar char="•"/>
            </a:pPr>
            <a:r>
              <a:rPr lang="en-US" sz="1400" dirty="0">
                <a:solidFill>
                  <a:schemeClr val="bg1"/>
                </a:solidFill>
              </a:rPr>
              <a:t>Alteryx to notebooks</a:t>
            </a:r>
            <a:endParaRPr lang="en-US" sz="1400" dirty="0"/>
          </a:p>
          <a:p>
            <a:pPr marL="342900" indent="-342900">
              <a:spcAft>
                <a:spcPts val="700"/>
              </a:spcAft>
              <a:buSzPct val="100000"/>
              <a:buChar char="•"/>
            </a:pPr>
            <a:r>
              <a:rPr lang="en-US" sz="1400" dirty="0">
                <a:solidFill>
                  <a:schemeClr val="bg1"/>
                </a:solidFill>
              </a:rPr>
              <a:t>Lab: migrate a workflow</a:t>
            </a:r>
            <a:endParaRPr lang="en-US" sz="1400" dirty="0"/>
          </a:p>
        </p:txBody>
      </p:sp>
      <p:sp>
        <p:nvSpPr>
          <p:cNvPr id="10" name="Day two module 04"/>
          <p:cNvSpPr/>
          <p:nvPr/>
        </p:nvSpPr>
        <p:spPr>
          <a:xfrm>
            <a:off x="3977640" y="2103120"/>
            <a:ext cx="3291840" cy="2834640"/>
          </a:xfrm>
          <a:prstGeom prst="roundRect">
            <a:avLst>
              <a:gd name="adj" fmla="val 3871"/>
            </a:avLst>
          </a:prstGeom>
          <a:solidFill>
            <a:schemeClr val="tx2"/>
          </a:solidFill>
          <a:ln/>
        </p:spPr>
      </p:sp>
      <p:sp>
        <p:nvSpPr>
          <p:cNvPr id="11" name="Module number"/>
          <p:cNvSpPr txBox="1"/>
          <p:nvPr/>
        </p:nvSpPr>
        <p:spPr>
          <a:xfrm>
            <a:off x="4206240" y="2194560"/>
            <a:ext cx="914400" cy="548640"/>
          </a:xfrm>
          <a:prstGeom prst="rect">
            <a:avLst/>
          </a:prstGeom>
          <a:noFill/>
          <a:ln/>
        </p:spPr>
        <p:txBody>
          <a:bodyPr wrap="square" lIns="0" tIns="0" rIns="0" bIns="0" rtlCol="0" anchor="t"/>
          <a:lstStyle/>
          <a:p>
            <a:pPr indent="0" marL="0">
              <a:buNone/>
            </a:pPr>
            <a:r>
              <a:rPr lang="en-US" sz="3200" b="1" dirty="0">
                <a:solidFill>
                  <a:schemeClr val="accent2"/>
                </a:solidFill>
                <a:latin typeface="+mj-lt" pitchFamily="34" charset="0"/>
                <a:ea typeface="+mj-lt" pitchFamily="34" charset="-122"/>
                <a:cs typeface="+mj-lt" pitchFamily="34" charset="-120"/>
              </a:rPr>
              <a:t>04</a:t>
            </a:r>
            <a:endParaRPr lang="en-US" sz="3200" dirty="0"/>
          </a:p>
        </p:txBody>
      </p:sp>
      <p:sp>
        <p:nvSpPr>
          <p:cNvPr id="12" name="Module name"/>
          <p:cNvSpPr txBox="1"/>
          <p:nvPr/>
        </p:nvSpPr>
        <p:spPr>
          <a:xfrm>
            <a:off x="4206240" y="2788920"/>
            <a:ext cx="2834640" cy="59436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User Experience &amp; Consumption</a:t>
            </a:r>
            <a:endParaRPr lang="en-US" sz="1700" dirty="0"/>
          </a:p>
        </p:txBody>
      </p:sp>
      <p:sp>
        <p:nvSpPr>
          <p:cNvPr id="13" name="Module topics"/>
          <p:cNvSpPr txBox="1"/>
          <p:nvPr/>
        </p:nvSpPr>
        <p:spPr>
          <a:xfrm>
            <a:off x="4206240" y="3520440"/>
            <a:ext cx="2880360" cy="12801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bg1"/>
                </a:solidFill>
              </a:rPr>
              <a:t>Portal-driven execution</a:t>
            </a:r>
            <a:endParaRPr lang="en-US" sz="1400" dirty="0"/>
          </a:p>
          <a:p>
            <a:pPr marL="342900" indent="-342900">
              <a:spcAft>
                <a:spcPts val="700"/>
              </a:spcAft>
              <a:buSzPct val="100000"/>
              <a:buChar char="•"/>
            </a:pPr>
            <a:r>
              <a:rPr lang="en-US" sz="1400" dirty="0">
                <a:solidFill>
                  <a:schemeClr val="bg1"/>
                </a:solidFill>
              </a:rPr>
              <a:t>Reporting and Power BI</a:t>
            </a:r>
            <a:endParaRPr lang="en-US" sz="1400" dirty="0"/>
          </a:p>
          <a:p>
            <a:pPr marL="342900" indent="-342900">
              <a:spcAft>
                <a:spcPts val="700"/>
              </a:spcAft>
              <a:buSzPct val="100000"/>
              <a:buChar char="•"/>
            </a:pPr>
            <a:r>
              <a:rPr lang="en-US" sz="1400" dirty="0">
                <a:solidFill>
                  <a:schemeClr val="bg1"/>
                </a:solidFill>
              </a:rPr>
              <a:t>Lab: add a front door</a:t>
            </a:r>
            <a:endParaRPr lang="en-US" sz="1400" dirty="0"/>
          </a:p>
        </p:txBody>
      </p:sp>
      <p:sp>
        <p:nvSpPr>
          <p:cNvPr id="14" name="Before tomorrow card"/>
          <p:cNvSpPr/>
          <p:nvPr/>
        </p:nvSpPr>
        <p:spPr>
          <a:xfrm>
            <a:off x="7589520" y="2103120"/>
            <a:ext cx="4050792" cy="2834640"/>
          </a:xfrm>
          <a:prstGeom prst="roundRect">
            <a:avLst>
              <a:gd name="adj" fmla="val 3871"/>
            </a:avLst>
          </a:prstGeom>
          <a:solidFill>
            <a:schemeClr val="bg2"/>
          </a:solidFill>
          <a:ln/>
        </p:spPr>
      </p:sp>
      <p:sp>
        <p:nvSpPr>
          <p:cNvPr id="15" name="Pill"/>
          <p:cNvSpPr txBox="1"/>
          <p:nvPr/>
        </p:nvSpPr>
        <p:spPr>
          <a:xfrm>
            <a:off x="7818120" y="2240280"/>
            <a:ext cx="173736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BEFORE TOMORROW</a:t>
            </a:r>
            <a:endParaRPr lang="en-US" sz="1050" dirty="0"/>
          </a:p>
        </p:txBody>
      </p:sp>
      <p:sp>
        <p:nvSpPr>
          <p:cNvPr id="16" name="Before tomorrow list"/>
          <p:cNvSpPr txBox="1"/>
          <p:nvPr/>
        </p:nvSpPr>
        <p:spPr>
          <a:xfrm>
            <a:off x="7818120" y="2697480"/>
            <a:ext cx="3611880" cy="210312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Confirm you can sign in to Fabric and Azure DevOps.</a:t>
            </a:r>
            <a:endParaRPr lang="en-US" sz="1450" dirty="0"/>
          </a:p>
          <a:p>
            <a:pPr marL="342900" indent="-342900">
              <a:spcAft>
                <a:spcPts val="1000"/>
              </a:spcAft>
              <a:buSzPct val="100000"/>
              <a:buChar char="•"/>
            </a:pPr>
            <a:r>
              <a:rPr lang="en-US" sz="1450" dirty="0">
                <a:solidFill>
                  <a:schemeClr val="tx1"/>
                </a:solidFill>
              </a:rPr>
              <a:t>Re-run Exercises 2 and 3 until the answers feel obvious.</a:t>
            </a:r>
            <a:endParaRPr lang="en-US" sz="1450" dirty="0"/>
          </a:p>
          <a:p>
            <a:pPr marL="342900" indent="-342900">
              <a:spcAft>
                <a:spcPts val="1000"/>
              </a:spcAft>
              <a:buSzPct val="100000"/>
              <a:buChar char="•"/>
            </a:pPr>
            <a:r>
              <a:rPr lang="en-US" sz="1450" dirty="0">
                <a:solidFill>
                  <a:schemeClr val="tx1"/>
                </a:solidFill>
              </a:rPr>
              <a:t>Note your questions on Alteryx-to-Fabric terms.</a:t>
            </a:r>
            <a:endParaRPr lang="en-US" sz="1450" dirty="0"/>
          </a:p>
        </p:txBody>
      </p:sp>
      <p:sp>
        <p:nvSpPr>
          <p:cNvPr id="17" name="Day three strip"/>
          <p:cNvSpPr/>
          <p:nvPr/>
        </p:nvSpPr>
        <p:spPr>
          <a:xfrm>
            <a:off x="548640" y="5120640"/>
            <a:ext cx="11094415" cy="731520"/>
          </a:xfrm>
          <a:prstGeom prst="roundRect">
            <a:avLst>
              <a:gd name="adj" fmla="val 15000"/>
            </a:avLst>
          </a:prstGeom>
          <a:solidFill>
            <a:schemeClr val="tx2"/>
          </a:solidFill>
          <a:ln/>
        </p:spPr>
      </p:sp>
      <p:sp>
        <p:nvSpPr>
          <p:cNvPr id="18" name="Day three text"/>
          <p:cNvSpPr txBox="1"/>
          <p:nvPr/>
        </p:nvSpPr>
        <p:spPr>
          <a:xfrm>
            <a:off x="822960" y="5120640"/>
            <a:ext cx="10545775" cy="731520"/>
          </a:xfrm>
          <a:prstGeom prst="rect">
            <a:avLst/>
          </a:prstGeom>
          <a:noFill/>
          <a:ln/>
        </p:spPr>
        <p:txBody>
          <a:bodyPr wrap="square" lIns="0" tIns="0" rIns="0" bIns="0" rtlCol="0" anchor="ctr"/>
          <a:lstStyle/>
          <a:p>
            <a:pPr indent="0" marL="0">
              <a:buNone/>
            </a:pPr>
            <a:r>
              <a:rPr lang="en-US" sz="1450" b="1" dirty="0">
                <a:solidFill>
                  <a:schemeClr val="bg1"/>
                </a:solidFill>
              </a:rPr>
              <a:t>Day Three, shipping to production: </a:t>
            </a:r>
            <a:pPr indent="0" marL="0">
              <a:buNone/>
            </a:pPr>
            <a:r>
              <a:rPr lang="en-US" sz="1450" dirty="0">
                <a:solidFill>
                  <a:schemeClr val="bg1"/>
                </a:solidFill>
              </a:rPr>
              <a:t>Git fundamentals, deployment patterns, the Paved Path, and who you need and when.</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APPENDIX</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Reference material</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Cheat sheets, a glossary and the practice-data script.</a:t>
            </a:r>
            <a:endParaRPr lang="en-US" sz="1800" dirty="0"/>
          </a:p>
        </p:txBody>
      </p:sp>
      <p:sp>
        <p:nvSpPr>
          <p:cNvPr id="6" name="Appendix contents"/>
          <p:cNvSpPr txBox="1"/>
          <p:nvPr/>
        </p:nvSpPr>
        <p:spPr>
          <a:xfrm>
            <a:off x="7680960" y="4023360"/>
            <a:ext cx="3931920" cy="146304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SQL cheat sheet</a:t>
            </a:r>
            <a:endParaRPr lang="en-US" sz="1800" dirty="0"/>
          </a:p>
          <a:p>
            <a:pPr indent="0" marL="0">
              <a:spcAft>
                <a:spcPts val="600"/>
              </a:spcAft>
              <a:buNone/>
            </a:pPr>
            <a:r>
              <a:rPr lang="en-US" sz="1800" dirty="0">
                <a:solidFill>
                  <a:schemeClr val="bg1"/>
                </a:solidFill>
              </a:rPr>
              <a:t>PySpark cheat sheet</a:t>
            </a:r>
            <a:endParaRPr lang="en-US" sz="1800" dirty="0"/>
          </a:p>
          <a:p>
            <a:pPr indent="0" marL="0">
              <a:spcAft>
                <a:spcPts val="600"/>
              </a:spcAft>
              <a:buNone/>
            </a:pPr>
            <a:r>
              <a:rPr lang="en-US" sz="1800" dirty="0">
                <a:solidFill>
                  <a:schemeClr val="bg1"/>
                </a:solidFill>
              </a:rPr>
              <a:t>Glossary</a:t>
            </a:r>
            <a:endParaRPr lang="en-US" sz="1800" dirty="0"/>
          </a:p>
          <a:p>
            <a:pPr indent="0" marL="0">
              <a:spcAft>
                <a:spcPts val="600"/>
              </a:spcAft>
              <a:buNone/>
            </a:pPr>
            <a:r>
              <a:rPr lang="en-US" sz="1800" dirty="0">
                <a:solidFill>
                  <a:schemeClr val="bg1"/>
                </a:solidFill>
              </a:rPr>
              <a:t>Practice-data script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CHEAT SHEET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SQL cheat sheet</a:t>
            </a:r>
            <a:endParaRPr lang="en-US" sz="3200" dirty="0"/>
          </a:p>
        </p:txBody>
      </p:sp>
      <p:graphicFrame>
        <p:nvGraphicFramePr>
          <p:cNvPr id="65" name="Clause table"/>
          <p:cNvGraphicFramePr>
            <a:graphicFrameLocks noGrp="1"/>
          </p:cNvGraphicFramePr>
          <p:nvPr>
            <p:extLst>
              <p:ext uri="{D42A27DB-BD31-4B8C-83A1-F6EECF244321}">
                <p14:modId xmlns:p14="http://schemas.microsoft.com/office/powerpoint/2010/main" val="1579011935"/>
              </p:ext>
            </p:extLst>
          </p:nvPr>
        </p:nvGraphicFramePr>
        <p:xfrm>
          <a:off x="548640" y="1783080"/>
          <a:ext cx="5029200" cy="914400"/>
        </p:xfrm>
        <a:graphic>
          <a:graphicData uri="http://schemas.openxmlformats.org/drawingml/2006/table">
            <a:tbl>
              <a:tblPr/>
              <a:tblGrid>
                <a:gridCol w="1600200"/>
                <a:gridCol w="3429000"/>
              </a:tblGrid>
              <a:tr h="365760">
                <a:tc>
                  <a:txBody>
                    <a:bodyPr/>
                    <a:lstStyle/>
                    <a:p>
                      <a:pPr indent="0" marL="0">
                        <a:buNone/>
                      </a:pPr>
                      <a:r>
                        <a:rPr lang="en-US" sz="1250" b="1" dirty="0">
                          <a:solidFill>
                            <a:schemeClr val="bg1"/>
                          </a:solidFill>
                        </a:rPr>
                        <a:t>Clause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Does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FROM</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Picks the table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JOIN … ON</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Brings in columns from another table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WHERE</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Keeps rows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GROUP BY</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One row per group</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HAVING</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Keeps groups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SELECT</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Chooses columns and calculations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CASE WHEN</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If-then logic for a column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OVER (…)</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group total beside every row</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UNION ALL</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Stacks tables with the same columns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ORDER BY</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Sorts the answer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SQL patterns"/>
          <p:cNvSpPr/>
          <p:nvPr/>
        </p:nvSpPr>
        <p:spPr>
          <a:xfrm>
            <a:off x="5852160" y="1783080"/>
            <a:ext cx="5788152" cy="4069080"/>
          </a:xfrm>
          <a:prstGeom prst="roundRect">
            <a:avLst>
              <a:gd name="adj" fmla="val 2247"/>
            </a:avLst>
          </a:prstGeom>
          <a:solidFill>
            <a:schemeClr val="tx1"/>
          </a:solidFill>
          <a:ln/>
        </p:spPr>
      </p:sp>
      <p:sp>
        <p:nvSpPr>
          <p:cNvPr id="7" name="Code label"/>
          <p:cNvSpPr txBox="1"/>
          <p:nvPr/>
        </p:nvSpPr>
        <p:spPr>
          <a:xfrm>
            <a:off x="6053328" y="1874520"/>
            <a:ext cx="538581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PATTERNS</a:t>
            </a:r>
            <a:endParaRPr lang="en-US" sz="1000" dirty="0"/>
          </a:p>
        </p:txBody>
      </p:sp>
      <p:sp>
        <p:nvSpPr>
          <p:cNvPr id="8" name="SQL patterns text"/>
          <p:cNvSpPr txBox="1"/>
          <p:nvPr/>
        </p:nvSpPr>
        <p:spPr>
          <a:xfrm>
            <a:off x="6053328" y="2167128"/>
            <a:ext cx="5385816" cy="3575304"/>
          </a:xfrm>
          <a:prstGeom prst="rect">
            <a:avLst/>
          </a:prstGeom>
          <a:noFill/>
          <a:ln/>
        </p:spPr>
        <p:txBody>
          <a:bodyPr wrap="square" lIns="0" tIns="0" rIns="0" bIns="0" rtlCol="0" anchor="t"/>
          <a:lstStyle/>
          <a:p>
            <a:pPr indent="0" marL="0">
              <a:buNone/>
            </a:pPr>
            <a:r>
              <a:rPr lang="en-US" sz="1150" i="1" dirty="0">
                <a:solidFill>
                  <a:schemeClr val="accent5"/>
                </a:solidFill>
                <a:latin typeface="Courier New" pitchFamily="34" charset="0"/>
                <a:ea typeface="Courier New" pitchFamily="34" charset="-122"/>
                <a:cs typeface="Courier New" pitchFamily="34" charset="-120"/>
              </a:rPr>
              <a:t>-- keep valid rows</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WHERE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COALESCE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'N/A'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NOT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IN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'N/A'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'NO REGION'</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i="1" dirty="0">
                <a:solidFill>
                  <a:schemeClr val="accent5"/>
                </a:solidFill>
                <a:latin typeface="Courier New" pitchFamily="34" charset="0"/>
                <a:ea typeface="Courier New" pitchFamily="34" charset="-122"/>
                <a:cs typeface="Courier New" pitchFamily="34" charset="-120"/>
              </a:rPr>
              <a:t>-- flag with a rule</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CASE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WHEN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cond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THEN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ELSE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'b'</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END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AS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flag</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i="1" dirty="0">
                <a:solidFill>
                  <a:schemeClr val="accent5"/>
                </a:solidFill>
                <a:latin typeface="Courier New" pitchFamily="34" charset="0"/>
                <a:ea typeface="Courier New" pitchFamily="34" charset="-122"/>
                <a:cs typeface="Courier New" pitchFamily="34" charset="-120"/>
              </a:rPr>
              <a:t>-- find the unmapped</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LEFT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JOIN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m</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ON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k</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k</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WHERE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k</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IS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NULL</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i="1" dirty="0">
                <a:solidFill>
                  <a:schemeClr val="accent5"/>
                </a:solidFill>
                <a:latin typeface="Courier New" pitchFamily="34" charset="0"/>
                <a:ea typeface="Courier New" pitchFamily="34" charset="-122"/>
                <a:cs typeface="Courier New" pitchFamily="34" charset="-120"/>
              </a:rPr>
              <a:t>-- share of a group total</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x</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1.0</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SUM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x</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OVER</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2"/>
                </a:solidFill>
                <a:latin typeface="Courier New" pitchFamily="34" charset="0"/>
                <a:ea typeface="Courier New" pitchFamily="34" charset="-122"/>
                <a:cs typeface="Courier New" pitchFamily="34" charset="-120"/>
              </a:rPr>
              <a:t>PARTITION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BY</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g</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i="1" dirty="0">
                <a:solidFill>
                  <a:schemeClr val="accent5"/>
                </a:solidFill>
                <a:latin typeface="Courier New" pitchFamily="34" charset="0"/>
                <a:ea typeface="Courier New" pitchFamily="34" charset="-122"/>
                <a:cs typeface="Courier New" pitchFamily="34" charset="-120"/>
              </a:rPr>
              <a:t>-- first rows</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SELECT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TOP</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10</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FROM</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i="1" dirty="0">
                <a:solidFill>
                  <a:schemeClr val="accent5"/>
                </a:solidFill>
                <a:latin typeface="Courier New" pitchFamily="34" charset="0"/>
                <a:ea typeface="Courier New" pitchFamily="34" charset="-122"/>
                <a:cs typeface="Courier New" pitchFamily="34" charset="-120"/>
              </a:rPr>
              <a:t>-- T-SQL</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SELECT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FROM</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LIMIT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10</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i="1" dirty="0">
                <a:solidFill>
                  <a:schemeClr val="accent5"/>
                </a:solidFill>
                <a:latin typeface="Courier New" pitchFamily="34" charset="0"/>
                <a:ea typeface="Courier New" pitchFamily="34" charset="-122"/>
                <a:cs typeface="Courier New" pitchFamily="34" charset="-120"/>
              </a:rPr>
              <a:t>-- Spark SQL</a:t>
            </a:r>
            <a:endParaRPr lang="en-US" sz="11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CHEAT SHEET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PySpark cheat sheet</a:t>
            </a:r>
            <a:endParaRPr lang="en-US" sz="3200" dirty="0"/>
          </a:p>
        </p:txBody>
      </p:sp>
      <p:sp>
        <p:nvSpPr>
          <p:cNvPr id="5" name="PySpark recipes"/>
          <p:cNvSpPr/>
          <p:nvPr/>
        </p:nvSpPr>
        <p:spPr>
          <a:xfrm>
            <a:off x="548640" y="1783080"/>
            <a:ext cx="7589520" cy="4069080"/>
          </a:xfrm>
          <a:prstGeom prst="roundRect">
            <a:avLst>
              <a:gd name="adj" fmla="val 2247"/>
            </a:avLst>
          </a:prstGeom>
          <a:solidFill>
            <a:schemeClr val="tx1"/>
          </a:solidFill>
          <a:ln/>
        </p:spPr>
      </p:sp>
      <p:sp>
        <p:nvSpPr>
          <p:cNvPr id="6" name="Code label"/>
          <p:cNvSpPr txBox="1"/>
          <p:nvPr/>
        </p:nvSpPr>
        <p:spPr>
          <a:xfrm>
            <a:off x="749808" y="1874520"/>
            <a:ext cx="71871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RECIPES  ·  ASSUMES: FROM PYSPARK.SQL IMPORT FUNCTIONS AS F, WINDOW</a:t>
            </a:r>
            <a:endParaRPr lang="en-US" sz="1000" dirty="0"/>
          </a:p>
        </p:txBody>
      </p:sp>
      <p:sp>
        <p:nvSpPr>
          <p:cNvPr id="7" name="PySpark recipes text"/>
          <p:cNvSpPr txBox="1"/>
          <p:nvPr/>
        </p:nvSpPr>
        <p:spPr>
          <a:xfrm>
            <a:off x="749808" y="2167128"/>
            <a:ext cx="7187184" cy="35753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spark</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read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table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"silver_impressions"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read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printSchema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display</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limit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10</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look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filter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"region"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isNotNull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Filter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withColumn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"flag"</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Formula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when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cond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otherwise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"b"</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select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"b"</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alias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"c"</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Select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join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other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"key"</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"left"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Join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groupBy</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"g"</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agg</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sum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"x"</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alias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Summarize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unionByName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other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Union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dropDuplicates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"k"</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Unique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orderBy</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desc</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Sort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w</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Window</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partitionBy</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"g"</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window</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withColumn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"share"</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col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"x"</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sum</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"x"</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over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w</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write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mode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"overwrite"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saveAsTable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write</a:t>
            </a:r>
            <a:endParaRPr lang="en-US" sz="1200" dirty="0"/>
          </a:p>
        </p:txBody>
      </p:sp>
      <p:sp>
        <p:nvSpPr>
          <p:cNvPr id="8" name="Tip 1"/>
          <p:cNvSpPr/>
          <p:nvPr/>
        </p:nvSpPr>
        <p:spPr>
          <a:xfrm>
            <a:off x="8412480" y="1783080"/>
            <a:ext cx="3227832" cy="1261872"/>
          </a:xfrm>
          <a:prstGeom prst="roundRect">
            <a:avLst>
              <a:gd name="adj" fmla="val 8696"/>
            </a:avLst>
          </a:prstGeom>
          <a:solidFill>
            <a:schemeClr val="bg2"/>
          </a:solidFill>
          <a:ln/>
        </p:spPr>
      </p:sp>
      <p:sp>
        <p:nvSpPr>
          <p:cNvPr id="9" name="Test for NULL on purpose badge"/>
          <p:cNvSpPr/>
          <p:nvPr/>
        </p:nvSpPr>
        <p:spPr>
          <a:xfrm>
            <a:off x="8577072" y="1947672"/>
            <a:ext cx="457200" cy="457200"/>
          </a:xfrm>
          <a:prstGeom prst="ellipse">
            <a:avLst/>
          </a:prstGeom>
          <a:solidFill>
            <a:schemeClr val="accent1"/>
          </a:solidFill>
          <a:ln/>
        </p:spPr>
      </p:sp>
      <p:pic>
        <p:nvPicPr>
          <p:cNvPr id="10" name="Image 0" descr="Test for NULL on purpose icon">    </p:cNvPr>
          <p:cNvPicPr>
            <a:picLocks noChangeAspect="1"/>
          </p:cNvPicPr>
          <p:nvPr/>
        </p:nvPicPr>
        <p:blipFill>
          <a:blip r:embed="rId1"/>
          <a:stretch>
            <a:fillRect/>
          </a:stretch>
        </p:blipFill>
        <p:spPr>
          <a:xfrm>
            <a:off x="8691372" y="2061972"/>
            <a:ext cx="228600" cy="228600"/>
          </a:xfrm>
          <a:prstGeom prst="rect">
            <a:avLst/>
          </a:prstGeom>
        </p:spPr>
      </p:pic>
      <p:sp>
        <p:nvSpPr>
          <p:cNvPr id="11" name="Tip title"/>
          <p:cNvSpPr txBox="1"/>
          <p:nvPr/>
        </p:nvSpPr>
        <p:spPr>
          <a:xfrm>
            <a:off x="9189720" y="1892808"/>
            <a:ext cx="2377440" cy="54864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Test for NULL on purpose</a:t>
            </a:r>
            <a:endParaRPr lang="en-US" sz="1400" dirty="0"/>
          </a:p>
        </p:txBody>
      </p:sp>
      <p:sp>
        <p:nvSpPr>
          <p:cNvPr id="12" name="Tip text"/>
          <p:cNvSpPr txBox="1"/>
          <p:nvPr/>
        </p:nvSpPr>
        <p:spPr>
          <a:xfrm>
            <a:off x="8577072" y="2468880"/>
            <a:ext cx="2926080" cy="548640"/>
          </a:xfrm>
          <a:prstGeom prst="rect">
            <a:avLst/>
          </a:prstGeom>
          <a:noFill/>
          <a:ln/>
        </p:spPr>
        <p:txBody>
          <a:bodyPr wrap="square" lIns="0" tIns="0" rIns="0" bIns="0" rtlCol="0" anchor="t"/>
          <a:lstStyle/>
          <a:p>
            <a:pPr indent="0" marL="0">
              <a:buNone/>
            </a:pPr>
            <a:r>
              <a:rPr lang="en-US" sz="1200" dirty="0">
                <a:solidFill>
                  <a:schemeClr val="tx1"/>
                </a:solidFill>
              </a:rPr>
              <a:t>Use isNull(), isNotNull() and coalesce(). Never compare with NULL using =.</a:t>
            </a:r>
            <a:endParaRPr lang="en-US" sz="1200" dirty="0"/>
          </a:p>
        </p:txBody>
      </p:sp>
      <p:sp>
        <p:nvSpPr>
          <p:cNvPr id="13" name="Tip 2"/>
          <p:cNvSpPr/>
          <p:nvPr/>
        </p:nvSpPr>
        <p:spPr>
          <a:xfrm>
            <a:off x="8412480" y="3154680"/>
            <a:ext cx="3227832" cy="1261872"/>
          </a:xfrm>
          <a:prstGeom prst="roundRect">
            <a:avLst>
              <a:gd name="adj" fmla="val 8696"/>
            </a:avLst>
          </a:prstGeom>
          <a:solidFill>
            <a:schemeClr val="bg2"/>
          </a:solidFill>
          <a:ln/>
        </p:spPr>
      </p:sp>
      <p:sp>
        <p:nvSpPr>
          <p:cNvPr id="14" name="Make reruns safe badge"/>
          <p:cNvSpPr/>
          <p:nvPr/>
        </p:nvSpPr>
        <p:spPr>
          <a:xfrm>
            <a:off x="8577072" y="3319272"/>
            <a:ext cx="457200" cy="457200"/>
          </a:xfrm>
          <a:prstGeom prst="ellipse">
            <a:avLst/>
          </a:prstGeom>
          <a:solidFill>
            <a:schemeClr val="accent2"/>
          </a:solidFill>
          <a:ln/>
        </p:spPr>
      </p:sp>
      <p:pic>
        <p:nvPicPr>
          <p:cNvPr id="15" name="Image 1" descr="Make reruns safe icon">    </p:cNvPr>
          <p:cNvPicPr>
            <a:picLocks noChangeAspect="1"/>
          </p:cNvPicPr>
          <p:nvPr/>
        </p:nvPicPr>
        <p:blipFill>
          <a:blip r:embed="rId2"/>
          <a:stretch>
            <a:fillRect/>
          </a:stretch>
        </p:blipFill>
        <p:spPr>
          <a:xfrm>
            <a:off x="8691372" y="3433572"/>
            <a:ext cx="228600" cy="228600"/>
          </a:xfrm>
          <a:prstGeom prst="rect">
            <a:avLst/>
          </a:prstGeom>
        </p:spPr>
      </p:pic>
      <p:sp>
        <p:nvSpPr>
          <p:cNvPr id="16" name="Tip title"/>
          <p:cNvSpPr txBox="1"/>
          <p:nvPr/>
        </p:nvSpPr>
        <p:spPr>
          <a:xfrm>
            <a:off x="9189720" y="3264408"/>
            <a:ext cx="2377440" cy="54864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Make reruns safe</a:t>
            </a:r>
            <a:endParaRPr lang="en-US" sz="1400" dirty="0"/>
          </a:p>
        </p:txBody>
      </p:sp>
      <p:sp>
        <p:nvSpPr>
          <p:cNvPr id="17" name="Tip text"/>
          <p:cNvSpPr txBox="1"/>
          <p:nvPr/>
        </p:nvSpPr>
        <p:spPr>
          <a:xfrm>
            <a:off x="8577072" y="3840480"/>
            <a:ext cx="2926080" cy="548640"/>
          </a:xfrm>
          <a:prstGeom prst="rect">
            <a:avLst/>
          </a:prstGeom>
          <a:noFill/>
          <a:ln/>
        </p:spPr>
        <p:txBody>
          <a:bodyPr wrap="square" lIns="0" tIns="0" rIns="0" bIns="0" rtlCol="0" anchor="t"/>
          <a:lstStyle/>
          <a:p>
            <a:pPr indent="0" marL="0">
              <a:buNone/>
            </a:pPr>
            <a:r>
              <a:rPr lang="en-US" sz="1200" dirty="0">
                <a:solidFill>
                  <a:schemeClr val="tx1"/>
                </a:solidFill>
              </a:rPr>
              <a:t>Prefer overwrite. An append run twice duplicates rows.</a:t>
            </a:r>
            <a:endParaRPr lang="en-US" sz="1200" dirty="0"/>
          </a:p>
        </p:txBody>
      </p:sp>
      <p:sp>
        <p:nvSpPr>
          <p:cNvPr id="18" name="Tip 3"/>
          <p:cNvSpPr/>
          <p:nvPr/>
        </p:nvSpPr>
        <p:spPr>
          <a:xfrm>
            <a:off x="8412480" y="4526280"/>
            <a:ext cx="3227832" cy="1261872"/>
          </a:xfrm>
          <a:prstGeom prst="roundRect">
            <a:avLst>
              <a:gd name="adj" fmla="val 8696"/>
            </a:avLst>
          </a:prstGeom>
          <a:solidFill>
            <a:schemeClr val="bg2"/>
          </a:solidFill>
          <a:ln/>
        </p:spPr>
      </p:sp>
      <p:sp>
        <p:nvSpPr>
          <p:cNvPr id="19" name="Look before you transform badge"/>
          <p:cNvSpPr/>
          <p:nvPr/>
        </p:nvSpPr>
        <p:spPr>
          <a:xfrm>
            <a:off x="8577072" y="4690872"/>
            <a:ext cx="457200" cy="457200"/>
          </a:xfrm>
          <a:prstGeom prst="ellipse">
            <a:avLst/>
          </a:prstGeom>
          <a:solidFill>
            <a:schemeClr val="tx2"/>
          </a:solidFill>
          <a:ln/>
        </p:spPr>
      </p:sp>
      <p:pic>
        <p:nvPicPr>
          <p:cNvPr id="20" name="Image 2" descr="Look before you transform icon">    </p:cNvPr>
          <p:cNvPicPr>
            <a:picLocks noChangeAspect="1"/>
          </p:cNvPicPr>
          <p:nvPr/>
        </p:nvPicPr>
        <p:blipFill>
          <a:blip r:embed="rId3"/>
          <a:stretch>
            <a:fillRect/>
          </a:stretch>
        </p:blipFill>
        <p:spPr>
          <a:xfrm>
            <a:off x="8691372" y="4805172"/>
            <a:ext cx="228600" cy="228600"/>
          </a:xfrm>
          <a:prstGeom prst="rect">
            <a:avLst/>
          </a:prstGeom>
        </p:spPr>
      </p:pic>
      <p:sp>
        <p:nvSpPr>
          <p:cNvPr id="21" name="Tip title"/>
          <p:cNvSpPr txBox="1"/>
          <p:nvPr/>
        </p:nvSpPr>
        <p:spPr>
          <a:xfrm>
            <a:off x="9189720" y="4636008"/>
            <a:ext cx="2377440" cy="548640"/>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Look before you transform</a:t>
            </a:r>
            <a:endParaRPr lang="en-US" sz="1400" dirty="0"/>
          </a:p>
        </p:txBody>
      </p:sp>
      <p:sp>
        <p:nvSpPr>
          <p:cNvPr id="22" name="Tip text"/>
          <p:cNvSpPr txBox="1"/>
          <p:nvPr/>
        </p:nvSpPr>
        <p:spPr>
          <a:xfrm>
            <a:off x="8577072" y="5212080"/>
            <a:ext cx="2926080" cy="548640"/>
          </a:xfrm>
          <a:prstGeom prst="rect">
            <a:avLst/>
          </a:prstGeom>
          <a:noFill/>
          <a:ln/>
        </p:spPr>
        <p:txBody>
          <a:bodyPr wrap="square" lIns="0" tIns="0" rIns="0" bIns="0" rtlCol="0" anchor="t"/>
          <a:lstStyle/>
          <a:p>
            <a:pPr indent="0" marL="0">
              <a:buNone/>
            </a:pPr>
            <a:r>
              <a:rPr lang="en-US" sz="1200" dirty="0">
                <a:solidFill>
                  <a:schemeClr val="tx1"/>
                </a:solidFill>
              </a:rPr>
              <a:t>printSchema() and a few rows catch most problems.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GLOSSARY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Glossary</a:t>
            </a:r>
            <a:endParaRPr lang="en-US" sz="3200" dirty="0"/>
          </a:p>
        </p:txBody>
      </p:sp>
      <p:graphicFrame>
        <p:nvGraphicFramePr>
          <p:cNvPr id="67" name="Glossary 1"/>
          <p:cNvGraphicFramePr>
            <a:graphicFrameLocks noGrp="1"/>
          </p:cNvGraphicFramePr>
          <p:nvPr>
            <p:extLst>
              <p:ext uri="{D42A27DB-BD31-4B8C-83A1-F6EECF244321}">
                <p14:modId xmlns:p14="http://schemas.microsoft.com/office/powerpoint/2010/main" val="1579011935"/>
              </p:ext>
            </p:extLst>
          </p:nvPr>
        </p:nvGraphicFramePr>
        <p:xfrm>
          <a:off x="548640" y="1783080"/>
          <a:ext cx="5440680" cy="914400"/>
        </p:xfrm>
        <a:graphic>
          <a:graphicData uri="http://schemas.openxmlformats.org/drawingml/2006/table">
            <a:tbl>
              <a:tblPr/>
              <a:tblGrid>
                <a:gridCol w="1508760"/>
                <a:gridCol w="3931920"/>
              </a:tblGrid>
              <a:tr h="365760">
                <a:tc>
                  <a:txBody>
                    <a:bodyPr/>
                    <a:lstStyle/>
                    <a:p>
                      <a:pPr indent="0" marL="0">
                        <a:buNone/>
                      </a:pPr>
                      <a:r>
                        <a:rPr lang="en-US" sz="1250" b="1" dirty="0">
                          <a:solidFill>
                            <a:schemeClr val="bg1"/>
                          </a:solidFill>
                        </a:rPr>
                        <a:t>Term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Plain-English meaning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03504">
                <a:tc>
                  <a:txBody>
                    <a:bodyPr/>
                    <a:lstStyle/>
                    <a:p>
                      <a:pPr indent="0" marL="0">
                        <a:buNone/>
                      </a:pPr>
                      <a:r>
                        <a:rPr lang="en-US" sz="1250" b="1" dirty="0">
                          <a:solidFill>
                            <a:schemeClr val="tx1"/>
                          </a:solidFill>
                        </a:rPr>
                        <a:t>Fabric</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Microsoft's analytics platform: data engineering, pipelines, warehouses and Power BI in one place.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250" b="1" dirty="0">
                          <a:solidFill>
                            <a:schemeClr val="tx1"/>
                          </a:solidFill>
                        </a:rPr>
                        <a:t>OneLake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The single logical data lake for the tenant. OneDrive for data.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250" b="1" dirty="0">
                          <a:solidFill>
                            <a:schemeClr val="tx1"/>
                          </a:solidFill>
                        </a:rPr>
                        <a:t>Capacity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The pool of compute that your workspaces share.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250" b="1" dirty="0">
                          <a:solidFill>
                            <a:schemeClr val="tx1"/>
                          </a:solidFill>
                        </a:rPr>
                        <a:t>Workspace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container of items with its own members. Roughly a project folder.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250" b="1" dirty="0">
                          <a:solidFill>
                            <a:schemeClr val="tx1"/>
                          </a:solidFill>
                        </a:rPr>
                        <a:t>Lakehouse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Files plus tables in OneLake, read by notebooks and SQL.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250" b="1" dirty="0">
                          <a:solidFill>
                            <a:schemeClr val="tx1"/>
                          </a:solidFill>
                        </a:rPr>
                        <a:t>Delta table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table stored as Parquet files plus a log, so it keeps history.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graphicFrame>
        <p:nvGraphicFramePr>
          <p:cNvPr id="133" name="Glossary 2"/>
          <p:cNvGraphicFramePr>
            <a:graphicFrameLocks noGrp="1"/>
          </p:cNvGraphicFramePr>
          <p:nvPr>
            <p:extLst>
              <p:ext uri="{D42A27DB-BD31-4B8C-83A1-F6EECF244321}">
                <p14:modId xmlns:p14="http://schemas.microsoft.com/office/powerpoint/2010/main" val="1579011935"/>
              </p:ext>
            </p:extLst>
          </p:nvPr>
        </p:nvGraphicFramePr>
        <p:xfrm>
          <a:off x="6199632" y="1783080"/>
          <a:ext cx="5440680" cy="914400"/>
        </p:xfrm>
        <a:graphic>
          <a:graphicData uri="http://schemas.openxmlformats.org/drawingml/2006/table">
            <a:tbl>
              <a:tblPr/>
              <a:tblGrid>
                <a:gridCol w="1508760"/>
                <a:gridCol w="3931920"/>
              </a:tblGrid>
              <a:tr h="365760">
                <a:tc>
                  <a:txBody>
                    <a:bodyPr/>
                    <a:lstStyle/>
                    <a:p>
                      <a:pPr indent="0" marL="0">
                        <a:buNone/>
                      </a:pPr>
                      <a:r>
                        <a:rPr lang="en-US" sz="1250" b="1" dirty="0">
                          <a:solidFill>
                            <a:schemeClr val="bg1"/>
                          </a:solidFill>
                        </a:rPr>
                        <a:t>Term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Plain-English meaning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03504">
                <a:tc>
                  <a:txBody>
                    <a:bodyPr/>
                    <a:lstStyle/>
                    <a:p>
                      <a:pPr indent="0" marL="0">
                        <a:buNone/>
                      </a:pPr>
                      <a:r>
                        <a:rPr lang="en-US" sz="1250" b="1" dirty="0">
                          <a:solidFill>
                            <a:schemeClr val="tx1"/>
                          </a:solidFill>
                        </a:rPr>
                        <a:t>Shortcut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 pointer to data held elsewhere. No copy.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250" b="1" dirty="0">
                          <a:solidFill>
                            <a:schemeClr val="tx1"/>
                          </a:solidFill>
                        </a:rPr>
                        <a:t>Notebook</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document of text and code cells that runs in the browser. Replaces the workflow canvas.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250" b="1" dirty="0">
                          <a:solidFill>
                            <a:schemeClr val="tx1"/>
                          </a:solidFill>
                        </a:rPr>
                        <a:t>Pipeline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Runs steps in order, with parameters and a schedule. Replaces Server scheduling.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250" b="1" dirty="0">
                          <a:solidFill>
                            <a:schemeClr val="tx1"/>
                          </a:solidFill>
                        </a:rPr>
                        <a:t>SQL analytics endpoint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Read-only T-SQL access to lakehouse tables.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250" b="1" dirty="0">
                          <a:solidFill>
                            <a:schemeClr val="tx1"/>
                          </a:solidFill>
                        </a:rPr>
                        <a:t>Semantic model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 business-friendly layer over tables that Power BI and Excel use.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250" b="1" dirty="0">
                          <a:solidFill>
                            <a:schemeClr val="tx1"/>
                          </a:solidFill>
                        </a:rPr>
                        <a:t>Medallion architecture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Bronze, silver and gold layers that take data from raw to ready.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FACILITATOR</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Practice data: load script</a:t>
            </a:r>
            <a:endParaRPr lang="en-US" sz="3200" dirty="0"/>
          </a:p>
        </p:txBody>
      </p:sp>
      <p:sp>
        <p:nvSpPr>
          <p:cNvPr id="5" name="Load script"/>
          <p:cNvSpPr/>
          <p:nvPr/>
        </p:nvSpPr>
        <p:spPr>
          <a:xfrm>
            <a:off x="548640" y="1783080"/>
            <a:ext cx="7680960" cy="4069080"/>
          </a:xfrm>
          <a:prstGeom prst="roundRect">
            <a:avLst>
              <a:gd name="adj" fmla="val 2247"/>
            </a:avLst>
          </a:prstGeom>
          <a:solidFill>
            <a:schemeClr val="tx1"/>
          </a:solidFill>
          <a:ln/>
        </p:spPr>
      </p:sp>
      <p:sp>
        <p:nvSpPr>
          <p:cNvPr id="6" name="Code label"/>
          <p:cNvSpPr txBox="1"/>
          <p:nvPr/>
        </p:nvSpPr>
        <p:spPr>
          <a:xfrm>
            <a:off x="749808" y="1874520"/>
            <a:ext cx="72786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PYSPARK  ·  RUN ONCE IN A NOTEBOOK</a:t>
            </a:r>
            <a:endParaRPr lang="en-US" sz="1000" dirty="0"/>
          </a:p>
        </p:txBody>
      </p:sp>
      <p:sp>
        <p:nvSpPr>
          <p:cNvPr id="7" name="Load script text"/>
          <p:cNvSpPr txBox="1"/>
          <p:nvPr/>
        </p:nvSpPr>
        <p:spPr>
          <a:xfrm>
            <a:off x="749808" y="2167128"/>
            <a:ext cx="7278624" cy="357530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impr</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createDataFrame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"kitchen_tv"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"CA"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600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"kitchen_tv"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"NY"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300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"kitchen_tv"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None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100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"sports_hub"</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"CA"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200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"sports_hub"</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"TX"</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800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"sports_hub"</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"NO REGION"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150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"mystery_unit"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"CA"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50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"period string, ad_unit string, region string, impressions int"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amap</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createDataFrame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"kitchen_tv"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 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"sports_hub"</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 B"</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"ad_unit string, entity string"</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rev</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createDataFrame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 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10000.00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 B"</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20000.00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"period string, entity string, amount double"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impr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mode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"overwrite"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saveAsTable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"bronze_impressions"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amap</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mode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"overwrite"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saveAsTable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"ref_ad_unit_map"</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rev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mode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"overwrite"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saveAsTable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"silver_revenue"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8" name="Setup card"/>
          <p:cNvSpPr/>
          <p:nvPr/>
        </p:nvSpPr>
        <p:spPr>
          <a:xfrm>
            <a:off x="8503920" y="1783080"/>
            <a:ext cx="3136392" cy="4069080"/>
          </a:xfrm>
          <a:prstGeom prst="roundRect">
            <a:avLst>
              <a:gd name="adj" fmla="val 3499"/>
            </a:avLst>
          </a:prstGeom>
          <a:solidFill>
            <a:schemeClr val="bg2"/>
          </a:solidFill>
          <a:ln/>
        </p:spPr>
      </p:sp>
      <p:sp>
        <p:nvSpPr>
          <p:cNvPr id="9" name="Setup title"/>
          <p:cNvSpPr txBox="1"/>
          <p:nvPr/>
        </p:nvSpPr>
        <p:spPr>
          <a:xfrm>
            <a:off x="8732520" y="1901952"/>
            <a:ext cx="27432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Setup</a:t>
            </a:r>
            <a:endParaRPr lang="en-US" sz="1700" dirty="0"/>
          </a:p>
        </p:txBody>
      </p:sp>
      <p:sp>
        <p:nvSpPr>
          <p:cNvPr id="10" name="Setup chip 1"/>
          <p:cNvSpPr/>
          <p:nvPr/>
        </p:nvSpPr>
        <p:spPr>
          <a:xfrm>
            <a:off x="8732520" y="2468880"/>
            <a:ext cx="384048" cy="384048"/>
          </a:xfrm>
          <a:prstGeom prst="roundRect">
            <a:avLst>
              <a:gd name="adj" fmla="val 19048"/>
            </a:avLst>
          </a:prstGeom>
          <a:solidFill>
            <a:schemeClr val="accent1"/>
          </a:solidFill>
          <a:ln/>
        </p:spPr>
      </p:sp>
      <p:sp>
        <p:nvSpPr>
          <p:cNvPr id="11" name="Setup number"/>
          <p:cNvSpPr txBox="1"/>
          <p:nvPr/>
        </p:nvSpPr>
        <p:spPr>
          <a:xfrm>
            <a:off x="8732520" y="2468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12" name="Setup text"/>
          <p:cNvSpPr txBox="1"/>
          <p:nvPr/>
        </p:nvSpPr>
        <p:spPr>
          <a:xfrm>
            <a:off x="9281160" y="2423160"/>
            <a:ext cx="2240280" cy="777240"/>
          </a:xfrm>
          <a:prstGeom prst="rect">
            <a:avLst/>
          </a:prstGeom>
          <a:noFill/>
          <a:ln/>
        </p:spPr>
        <p:txBody>
          <a:bodyPr wrap="square" lIns="0" tIns="0" rIns="0" bIns="0" rtlCol="0" anchor="t"/>
          <a:lstStyle/>
          <a:p>
            <a:pPr indent="0" marL="0">
              <a:buNone/>
            </a:pPr>
            <a:r>
              <a:rPr lang="en-US" sz="1300" dirty="0">
                <a:solidFill>
                  <a:schemeClr val="tx1"/>
                </a:solidFill>
              </a:rPr>
              <a:t>Attach the exercise lakehouse to a notebook.</a:t>
            </a:r>
            <a:endParaRPr lang="en-US" sz="1300" dirty="0"/>
          </a:p>
        </p:txBody>
      </p:sp>
      <p:sp>
        <p:nvSpPr>
          <p:cNvPr id="13" name="Setup chip 2"/>
          <p:cNvSpPr/>
          <p:nvPr/>
        </p:nvSpPr>
        <p:spPr>
          <a:xfrm>
            <a:off x="8732520" y="3310128"/>
            <a:ext cx="384048" cy="384048"/>
          </a:xfrm>
          <a:prstGeom prst="roundRect">
            <a:avLst>
              <a:gd name="adj" fmla="val 19048"/>
            </a:avLst>
          </a:prstGeom>
          <a:solidFill>
            <a:schemeClr val="accent1"/>
          </a:solidFill>
          <a:ln/>
        </p:spPr>
      </p:sp>
      <p:sp>
        <p:nvSpPr>
          <p:cNvPr id="14" name="Setup number"/>
          <p:cNvSpPr txBox="1"/>
          <p:nvPr/>
        </p:nvSpPr>
        <p:spPr>
          <a:xfrm>
            <a:off x="8732520" y="331012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5" name="Setup text"/>
          <p:cNvSpPr txBox="1"/>
          <p:nvPr/>
        </p:nvSpPr>
        <p:spPr>
          <a:xfrm>
            <a:off x="9281160" y="3264408"/>
            <a:ext cx="2240280" cy="777240"/>
          </a:xfrm>
          <a:prstGeom prst="rect">
            <a:avLst/>
          </a:prstGeom>
          <a:noFill/>
          <a:ln/>
        </p:spPr>
        <p:txBody>
          <a:bodyPr wrap="square" lIns="0" tIns="0" rIns="0" bIns="0" rtlCol="0" anchor="t"/>
          <a:lstStyle/>
          <a:p>
            <a:pPr indent="0" marL="0">
              <a:buNone/>
            </a:pPr>
            <a:r>
              <a:rPr lang="en-US" sz="1300" dirty="0">
                <a:solidFill>
                  <a:schemeClr val="tx1"/>
                </a:solidFill>
              </a:rPr>
              <a:t>Paste the script into one cell and run it.</a:t>
            </a:r>
            <a:endParaRPr lang="en-US" sz="1300" dirty="0"/>
          </a:p>
        </p:txBody>
      </p:sp>
      <p:sp>
        <p:nvSpPr>
          <p:cNvPr id="16" name="Setup chip 3"/>
          <p:cNvSpPr/>
          <p:nvPr/>
        </p:nvSpPr>
        <p:spPr>
          <a:xfrm>
            <a:off x="8732520" y="4151376"/>
            <a:ext cx="384048" cy="384048"/>
          </a:xfrm>
          <a:prstGeom prst="roundRect">
            <a:avLst>
              <a:gd name="adj" fmla="val 19048"/>
            </a:avLst>
          </a:prstGeom>
          <a:solidFill>
            <a:schemeClr val="accent1"/>
          </a:solidFill>
          <a:ln/>
        </p:spPr>
      </p:sp>
      <p:sp>
        <p:nvSpPr>
          <p:cNvPr id="17" name="Setup number"/>
          <p:cNvSpPr txBox="1"/>
          <p:nvPr/>
        </p:nvSpPr>
        <p:spPr>
          <a:xfrm>
            <a:off x="8732520" y="41513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18" name="Setup text"/>
          <p:cNvSpPr txBox="1"/>
          <p:nvPr/>
        </p:nvSpPr>
        <p:spPr>
          <a:xfrm>
            <a:off x="9281160" y="4105656"/>
            <a:ext cx="2240280" cy="777240"/>
          </a:xfrm>
          <a:prstGeom prst="rect">
            <a:avLst/>
          </a:prstGeom>
          <a:noFill/>
          <a:ln/>
        </p:spPr>
        <p:txBody>
          <a:bodyPr wrap="square" lIns="0" tIns="0" rIns="0" bIns="0" rtlCol="0" anchor="t"/>
          <a:lstStyle/>
          <a:p>
            <a:pPr indent="0" marL="0">
              <a:buNone/>
            </a:pPr>
            <a:r>
              <a:rPr lang="en-US" sz="1300" dirty="0">
                <a:solidFill>
                  <a:schemeClr val="tx1"/>
                </a:solidFill>
              </a:rPr>
              <a:t>Check three tables appear under Tables.</a:t>
            </a:r>
            <a:endParaRPr lang="en-US" sz="1300" dirty="0"/>
          </a:p>
        </p:txBody>
      </p:sp>
      <p:sp>
        <p:nvSpPr>
          <p:cNvPr id="19" name="Setup chip 4"/>
          <p:cNvSpPr/>
          <p:nvPr/>
        </p:nvSpPr>
        <p:spPr>
          <a:xfrm>
            <a:off x="8732520" y="4992624"/>
            <a:ext cx="384048" cy="384048"/>
          </a:xfrm>
          <a:prstGeom prst="roundRect">
            <a:avLst>
              <a:gd name="adj" fmla="val 19048"/>
            </a:avLst>
          </a:prstGeom>
          <a:solidFill>
            <a:schemeClr val="accent1"/>
          </a:solidFill>
          <a:ln/>
        </p:spPr>
      </p:sp>
      <p:sp>
        <p:nvSpPr>
          <p:cNvPr id="20" name="Setup number"/>
          <p:cNvSpPr txBox="1"/>
          <p:nvPr/>
        </p:nvSpPr>
        <p:spPr>
          <a:xfrm>
            <a:off x="8732520" y="499262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1" name="Setup text"/>
          <p:cNvSpPr txBox="1"/>
          <p:nvPr/>
        </p:nvSpPr>
        <p:spPr>
          <a:xfrm>
            <a:off x="9281160" y="4946904"/>
            <a:ext cx="2240280" cy="777240"/>
          </a:xfrm>
          <a:prstGeom prst="rect">
            <a:avLst/>
          </a:prstGeom>
          <a:noFill/>
          <a:ln/>
        </p:spPr>
        <p:txBody>
          <a:bodyPr wrap="square" lIns="0" tIns="0" rIns="0" bIns="0" rtlCol="0" anchor="t"/>
          <a:lstStyle/>
          <a:p>
            <a:pPr indent="0" marL="0">
              <a:buNone/>
            </a:pPr>
            <a:r>
              <a:rPr lang="en-US" sz="1300" dirty="0">
                <a:solidFill>
                  <a:schemeClr val="tx1"/>
                </a:solidFill>
              </a:rPr>
              <a:t>For Exercise 1, add a sample CSV under Files/raw and one shortcut.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67</a:t>
            </a:fld>
            <a:endParaRPr lang="en-US"/>
          </a:p>
        </p:txBody>
      </p:sp>
    </p:spTree>
  </p:cSld>
  <p:clrMapOvr>
    <a:masterClrMapping/>
  </p:clrMapOvr>
</p:sld>
</file>

<file path=ppt/theme/theme1.xml><?xml version="1.0" encoding="utf-8"?>
<a:theme xmlns:a="http://schemas.openxmlformats.org/drawingml/2006/main" name="TDMI Fabric Training">
  <a:themeElements>
    <a:clrScheme name="TDMI Fabric Training">
      <a:dk1>
        <a:srgbClr val="0B1F3A"/>
      </a:dk1>
      <a:lt1>
        <a:srgbClr val="FFFFFF"/>
      </a:lt1>
      <a:dk2>
        <a:srgbClr val="00338D"/>
      </a:dk2>
      <a:lt2>
        <a:srgbClr val="EEF3FB"/>
      </a:lt2>
      <a:accent1>
        <a:srgbClr val="1E49E2"/>
      </a:accent1>
      <a:accent2>
        <a:srgbClr val="00A3A1"/>
      </a:accent2>
      <a:accent3>
        <a:srgbClr val="F2A900"/>
      </a:accent3>
      <a:accent4>
        <a:srgbClr val="B5651D"/>
      </a:accent4>
      <a:accent5>
        <a:srgbClr val="8D99A6"/>
      </a:accent5>
      <a:accent6>
        <a:srgbClr val="C9A227"/>
      </a:accent6>
      <a:hlink>
        <a:srgbClr val="1E49E2"/>
      </a:hlink>
      <a:folHlink>
        <a:srgbClr val="6B3FA0"/>
      </a:folHlink>
    </a:clrScheme>
    <a:fontScheme name="TDMI Fabric Trai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Fabric &amp; DevOps Enablement: Day One, Foundations</dc:title>
  <dc:subject>Disney Tax Data Management &amp; Innovation: Fabric training, Day One</dc:subject>
  <dc:creator>KPMG</dc:creator>
  <cp:lastModifiedBy>KPMG</cp:lastModifiedBy>
  <cp:revision>1</cp:revision>
  <dcterms:created xsi:type="dcterms:W3CDTF">2026-10-05T22:19:25Z</dcterms:created>
  <dcterms:modified xsi:type="dcterms:W3CDTF">2026-10-05T22:19:25Z</dcterms:modified>
</cp:coreProperties>
</file>