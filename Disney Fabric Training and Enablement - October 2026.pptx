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3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82" r:id="rId5"/>
    <p:sldId id="281" r:id="rId6"/>
    <p:sldId id="278" r:id="rId7"/>
    <p:sldId id="279" r:id="rId8"/>
    <p:sldId id="280" r:id="rId9"/>
    <p:sldId id="277" r:id="rId10"/>
    <p:sldId id="276" r:id="rId11"/>
    <p:sldId id="259" r:id="rId12"/>
    <p:sldId id="258" r:id="rId13"/>
    <p:sldId id="257" r:id="rId14"/>
    <p:sldId id="256"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id="{894ECFBE-A865-4723-8D37-2AD9382D9167}">
          <p14:sldIdLst>
            <p14:sldId id="282"/>
            <p14:sldId id="281"/>
            <p14:sldId id="278"/>
          </p14:sldIdLst>
        </p14:section>
        <p14:section name="Supplemental Slides" id="{B74C6CD8-76B0-409D-B289-55878422A1DF}">
          <p14:sldIdLst>
            <p14:sldId id="279"/>
            <p14:sldId id="280"/>
            <p14:sldId id="277"/>
          </p14:sldIdLst>
        </p14:section>
        <p14:section name="Graveyard" id="{B4C5EC50-A23C-45F8-9D62-1E253C924EFE}">
          <p14:sldIdLst>
            <p14:sldId id="276"/>
            <p14:sldId id="259"/>
            <p14:sldId id="258"/>
            <p14:sldId id="257"/>
            <p14:sldId id="2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B71869-155D-BE4E-4D42-6254A0D20142}" name="Hanson, Max A" initials="HM" userId="S::mahanson@kpmg.com::c3c5d76b-1419-4396-890e-db5fed01c2f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8D"/>
    <a:srgbClr val="005E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C1FC48-0F13-47AC-B645-26F72FDDB80E}" v="155" dt="2026-10-05T17:54:36.9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son, Max A" userId="S::mahanson@kpmg.com::c3c5d76b-1419-4396-890e-db5fed01c2f2" providerId="AD" clId="Web-{AE09AF03-E4AE-70ED-185D-FD55C304CE7C}"/>
    <pc:docChg chg="mod">
      <pc:chgData name="Hanson, Max A" userId="S::mahanson@kpmg.com::c3c5d76b-1419-4396-890e-db5fed01c2f2" providerId="AD" clId="Web-{AE09AF03-E4AE-70ED-185D-FD55C304CE7C}" dt="2026-09-16T18:46:28.595" v="0"/>
      <pc:docMkLst>
        <pc:docMk/>
      </pc:docMkLst>
    </pc:docChg>
  </pc:docChgLst>
  <pc:docChgLst>
    <pc:chgData name="Sheridan, Jack" userId="d0194f0e-edca-4d51-8263-e3fc5dbdcfa2" providerId="ADAL" clId="{647304D9-8AA5-40A0-A766-8E9CF048A9B0}"/>
    <pc:docChg chg="custSel addSld delSld modSld sldOrd addSection modSection">
      <pc:chgData name="Sheridan, Jack" userId="d0194f0e-edca-4d51-8263-e3fc5dbdcfa2" providerId="ADAL" clId="{647304D9-8AA5-40A0-A766-8E9CF048A9B0}" dt="2026-10-05T17:54:36.901" v="695"/>
      <pc:docMkLst>
        <pc:docMk/>
      </pc:docMkLst>
      <pc:sldChg chg="addSp modSp mod">
        <pc:chgData name="Sheridan, Jack" userId="d0194f0e-edca-4d51-8263-e3fc5dbdcfa2" providerId="ADAL" clId="{647304D9-8AA5-40A0-A766-8E9CF048A9B0}" dt="2026-09-16T18:29:55.133" v="363" actId="14100"/>
        <pc:sldMkLst>
          <pc:docMk/>
          <pc:sldMk cId="0" sldId="256"/>
        </pc:sldMkLst>
        <pc:spChg chg="add mod">
          <ac:chgData name="Sheridan, Jack" userId="d0194f0e-edca-4d51-8263-e3fc5dbdcfa2" providerId="ADAL" clId="{647304D9-8AA5-40A0-A766-8E9CF048A9B0}" dt="2026-09-16T18:29:55.133" v="363" actId="14100"/>
          <ac:spMkLst>
            <pc:docMk/>
            <pc:sldMk cId="0" sldId="256"/>
            <ac:spMk id="102" creationId="{113754C1-9BC2-2134-61BF-EE648C838B5D}"/>
          </ac:spMkLst>
        </pc:spChg>
      </pc:sldChg>
      <pc:sldChg chg="addSp delSp modSp add mod ord setBg">
        <pc:chgData name="Sheridan, Jack" userId="d0194f0e-edca-4d51-8263-e3fc5dbdcfa2" providerId="ADAL" clId="{647304D9-8AA5-40A0-A766-8E9CF048A9B0}" dt="2026-09-16T18:29:59.016" v="364" actId="14100"/>
        <pc:sldMkLst>
          <pc:docMk/>
          <pc:sldMk cId="0" sldId="257"/>
        </pc:sldMkLst>
        <pc:spChg chg="mod">
          <ac:chgData name="Sheridan, Jack" userId="d0194f0e-edca-4d51-8263-e3fc5dbdcfa2" providerId="ADAL" clId="{647304D9-8AA5-40A0-A766-8E9CF048A9B0}" dt="2026-09-14T17:53:29.164" v="129" actId="20577"/>
          <ac:spMkLst>
            <pc:docMk/>
            <pc:sldMk cId="0" sldId="257"/>
            <ac:spMk id="54" creationId="{00000000-0000-0000-0000-000000000000}"/>
          </ac:spMkLst>
        </pc:spChg>
        <pc:spChg chg="mod">
          <ac:chgData name="Sheridan, Jack" userId="d0194f0e-edca-4d51-8263-e3fc5dbdcfa2" providerId="ADAL" clId="{647304D9-8AA5-40A0-A766-8E9CF048A9B0}" dt="2026-09-14T17:49:58.586" v="93" actId="207"/>
          <ac:spMkLst>
            <pc:docMk/>
            <pc:sldMk cId="0" sldId="257"/>
            <ac:spMk id="79" creationId="{00000000-0000-0000-0000-000000000000}"/>
          </ac:spMkLst>
        </pc:spChg>
        <pc:spChg chg="mod">
          <ac:chgData name="Sheridan, Jack" userId="d0194f0e-edca-4d51-8263-e3fc5dbdcfa2" providerId="ADAL" clId="{647304D9-8AA5-40A0-A766-8E9CF048A9B0}" dt="2026-09-14T17:50:28.458" v="98" actId="108"/>
          <ac:spMkLst>
            <pc:docMk/>
            <pc:sldMk cId="0" sldId="257"/>
            <ac:spMk id="82" creationId="{00000000-0000-0000-0000-000000000000}"/>
          </ac:spMkLst>
        </pc:spChg>
        <pc:spChg chg="mod">
          <ac:chgData name="Sheridan, Jack" userId="d0194f0e-edca-4d51-8263-e3fc5dbdcfa2" providerId="ADAL" clId="{647304D9-8AA5-40A0-A766-8E9CF048A9B0}" dt="2026-09-14T17:50:22.444" v="96"/>
          <ac:spMkLst>
            <pc:docMk/>
            <pc:sldMk cId="0" sldId="257"/>
            <ac:spMk id="83" creationId="{00000000-0000-0000-0000-000000000000}"/>
          </ac:spMkLst>
        </pc:spChg>
        <pc:spChg chg="mod">
          <ac:chgData name="Sheridan, Jack" userId="d0194f0e-edca-4d51-8263-e3fc5dbdcfa2" providerId="ADAL" clId="{647304D9-8AA5-40A0-A766-8E9CF048A9B0}" dt="2026-09-14T17:50:04.845" v="94" actId="207"/>
          <ac:spMkLst>
            <pc:docMk/>
            <pc:sldMk cId="0" sldId="257"/>
            <ac:spMk id="84" creationId="{00000000-0000-0000-0000-000000000000}"/>
          </ac:spMkLst>
        </pc:spChg>
        <pc:spChg chg="mod">
          <ac:chgData name="Sheridan, Jack" userId="d0194f0e-edca-4d51-8263-e3fc5dbdcfa2" providerId="ADAL" clId="{647304D9-8AA5-40A0-A766-8E9CF048A9B0}" dt="2026-09-14T17:50:31.881" v="99" actId="108"/>
          <ac:spMkLst>
            <pc:docMk/>
            <pc:sldMk cId="0" sldId="257"/>
            <ac:spMk id="87" creationId="{00000000-0000-0000-0000-000000000000}"/>
          </ac:spMkLst>
        </pc:spChg>
        <pc:spChg chg="mod">
          <ac:chgData name="Sheridan, Jack" userId="d0194f0e-edca-4d51-8263-e3fc5dbdcfa2" providerId="ADAL" clId="{647304D9-8AA5-40A0-A766-8E9CF048A9B0}" dt="2026-09-14T17:50:23.396" v="97"/>
          <ac:spMkLst>
            <pc:docMk/>
            <pc:sldMk cId="0" sldId="257"/>
            <ac:spMk id="88" creationId="{00000000-0000-0000-0000-000000000000}"/>
          </ac:spMkLst>
        </pc:spChg>
        <pc:spChg chg="mod">
          <ac:chgData name="Sheridan, Jack" userId="d0194f0e-edca-4d51-8263-e3fc5dbdcfa2" providerId="ADAL" clId="{647304D9-8AA5-40A0-A766-8E9CF048A9B0}" dt="2026-09-14T21:02:37.542" v="137" actId="20577"/>
          <ac:spMkLst>
            <pc:docMk/>
            <pc:sldMk cId="0" sldId="257"/>
            <ac:spMk id="96" creationId="{00000000-0000-0000-0000-000000000000}"/>
          </ac:spMkLst>
        </pc:spChg>
        <pc:spChg chg="mod">
          <ac:chgData name="Sheridan, Jack" userId="d0194f0e-edca-4d51-8263-e3fc5dbdcfa2" providerId="ADAL" clId="{647304D9-8AA5-40A0-A766-8E9CF048A9B0}" dt="2026-09-14T17:47:56.839" v="8" actId="13926"/>
          <ac:spMkLst>
            <pc:docMk/>
            <pc:sldMk cId="0" sldId="257"/>
            <ac:spMk id="101" creationId="{00000000-0000-0000-0000-000000000000}"/>
          </ac:spMkLst>
        </pc:spChg>
        <pc:spChg chg="mod">
          <ac:chgData name="Sheridan, Jack" userId="d0194f0e-edca-4d51-8263-e3fc5dbdcfa2" providerId="ADAL" clId="{647304D9-8AA5-40A0-A766-8E9CF048A9B0}" dt="2026-09-14T17:48:07.519" v="18" actId="20577"/>
          <ac:spMkLst>
            <pc:docMk/>
            <pc:sldMk cId="0" sldId="257"/>
            <ac:spMk id="107" creationId="{00000000-0000-0000-0000-000000000000}"/>
          </ac:spMkLst>
        </pc:spChg>
        <pc:spChg chg="mod">
          <ac:chgData name="Sheridan, Jack" userId="d0194f0e-edca-4d51-8263-e3fc5dbdcfa2" providerId="ADAL" clId="{647304D9-8AA5-40A0-A766-8E9CF048A9B0}" dt="2026-09-14T17:48:18.678" v="32" actId="20577"/>
          <ac:spMkLst>
            <pc:docMk/>
            <pc:sldMk cId="0" sldId="257"/>
            <ac:spMk id="111" creationId="{00000000-0000-0000-0000-000000000000}"/>
          </ac:spMkLst>
        </pc:spChg>
        <pc:spChg chg="mod">
          <ac:chgData name="Sheridan, Jack" userId="d0194f0e-edca-4d51-8263-e3fc5dbdcfa2" providerId="ADAL" clId="{647304D9-8AA5-40A0-A766-8E9CF048A9B0}" dt="2026-09-14T17:48:49.385" v="92" actId="20577"/>
          <ac:spMkLst>
            <pc:docMk/>
            <pc:sldMk cId="0" sldId="257"/>
            <ac:spMk id="118" creationId="{00000000-0000-0000-0000-000000000000}"/>
          </ac:spMkLst>
        </pc:spChg>
        <pc:spChg chg="add mod">
          <ac:chgData name="Sheridan, Jack" userId="d0194f0e-edca-4d51-8263-e3fc5dbdcfa2" providerId="ADAL" clId="{647304D9-8AA5-40A0-A766-8E9CF048A9B0}" dt="2026-09-16T18:29:59.016" v="364" actId="14100"/>
          <ac:spMkLst>
            <pc:docMk/>
            <pc:sldMk cId="0" sldId="257"/>
            <ac:spMk id="128" creationId="{C57FE6B5-9212-7C22-42C3-969D40963DFD}"/>
          </ac:spMkLst>
        </pc:spChg>
      </pc:sldChg>
      <pc:sldChg chg="addSp delSp modSp add mod ord setBg">
        <pc:chgData name="Sheridan, Jack" userId="d0194f0e-edca-4d51-8263-e3fc5dbdcfa2" providerId="ADAL" clId="{647304D9-8AA5-40A0-A766-8E9CF048A9B0}" dt="2026-09-16T18:40:42.190" v="367" actId="1076"/>
        <pc:sldMkLst>
          <pc:docMk/>
          <pc:sldMk cId="0" sldId="258"/>
        </pc:sldMkLst>
        <pc:spChg chg="add mod">
          <ac:chgData name="Sheridan, Jack" userId="d0194f0e-edca-4d51-8263-e3fc5dbdcfa2" providerId="ADAL" clId="{647304D9-8AA5-40A0-A766-8E9CF048A9B0}" dt="2026-09-16T18:40:42.190" v="367" actId="1076"/>
          <ac:spMkLst>
            <pc:docMk/>
            <pc:sldMk cId="0" sldId="258"/>
            <ac:spMk id="131" creationId="{03DFADDB-9F42-542B-3EFF-3EF0B980A716}"/>
          </ac:spMkLst>
        </pc:spChg>
      </pc:sldChg>
      <pc:sldChg chg="addSp modSp add mod ord">
        <pc:chgData name="Sheridan, Jack" userId="d0194f0e-edca-4d51-8263-e3fc5dbdcfa2" providerId="ADAL" clId="{647304D9-8AA5-40A0-A766-8E9CF048A9B0}" dt="2026-09-16T20:23:50.425" v="412" actId="20578"/>
        <pc:sldMkLst>
          <pc:docMk/>
          <pc:sldMk cId="0" sldId="259"/>
        </pc:sldMkLst>
        <pc:spChg chg="mod">
          <ac:chgData name="Sheridan, Jack" userId="d0194f0e-edca-4d51-8263-e3fc5dbdcfa2" providerId="ADAL" clId="{647304D9-8AA5-40A0-A766-8E9CF048A9B0}" dt="2026-09-16T18:41:55.187" v="370" actId="207"/>
          <ac:spMkLst>
            <pc:docMk/>
            <pc:sldMk cId="0" sldId="259"/>
            <ac:spMk id="11" creationId="{00000000-0000-0000-0000-000000000000}"/>
          </ac:spMkLst>
        </pc:spChg>
        <pc:spChg chg="mod">
          <ac:chgData name="Sheridan, Jack" userId="d0194f0e-edca-4d51-8263-e3fc5dbdcfa2" providerId="ADAL" clId="{647304D9-8AA5-40A0-A766-8E9CF048A9B0}" dt="2026-09-16T18:43:28.757" v="376" actId="255"/>
          <ac:spMkLst>
            <pc:docMk/>
            <pc:sldMk cId="0" sldId="259"/>
            <ac:spMk id="14"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17"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20" creationId="{00000000-0000-0000-0000-000000000000}"/>
          </ac:spMkLst>
        </pc:spChg>
        <pc:spChg chg="mod">
          <ac:chgData name="Sheridan, Jack" userId="d0194f0e-edca-4d51-8263-e3fc5dbdcfa2" providerId="ADAL" clId="{647304D9-8AA5-40A0-A766-8E9CF048A9B0}" dt="2026-09-16T18:43:10.312" v="375"/>
          <ac:spMkLst>
            <pc:docMk/>
            <pc:sldMk cId="0" sldId="259"/>
            <ac:spMk id="23" creationId="{00000000-0000-0000-0000-000000000000}"/>
          </ac:spMkLst>
        </pc:spChg>
        <pc:spChg chg="mod">
          <ac:chgData name="Sheridan, Jack" userId="d0194f0e-edca-4d51-8263-e3fc5dbdcfa2" providerId="ADAL" clId="{647304D9-8AA5-40A0-A766-8E9CF048A9B0}" dt="2026-09-16T18:41:55.187" v="370" actId="207"/>
          <ac:spMkLst>
            <pc:docMk/>
            <pc:sldMk cId="0" sldId="259"/>
            <ac:spMk id="27" creationId="{00000000-0000-0000-0000-000000000000}"/>
          </ac:spMkLst>
        </pc:spChg>
        <pc:spChg chg="mod">
          <ac:chgData name="Sheridan, Jack" userId="d0194f0e-edca-4d51-8263-e3fc5dbdcfa2" providerId="ADAL" clId="{647304D9-8AA5-40A0-A766-8E9CF048A9B0}" dt="2026-09-16T18:41:55.187" v="370" actId="207"/>
          <ac:spMkLst>
            <pc:docMk/>
            <pc:sldMk cId="0" sldId="259"/>
            <ac:spMk id="30"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33"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36" creationId="{00000000-0000-0000-0000-000000000000}"/>
          </ac:spMkLst>
        </pc:spChg>
        <pc:spChg chg="mod">
          <ac:chgData name="Sheridan, Jack" userId="d0194f0e-edca-4d51-8263-e3fc5dbdcfa2" providerId="ADAL" clId="{647304D9-8AA5-40A0-A766-8E9CF048A9B0}" dt="2026-09-16T18:42:19.487" v="372" actId="20577"/>
          <ac:spMkLst>
            <pc:docMk/>
            <pc:sldMk cId="0" sldId="259"/>
            <ac:spMk id="40"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43"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46" creationId="{00000000-0000-0000-0000-000000000000}"/>
          </ac:spMkLst>
        </pc:spChg>
        <pc:spChg chg="mod">
          <ac:chgData name="Sheridan, Jack" userId="d0194f0e-edca-4d51-8263-e3fc5dbdcfa2" providerId="ADAL" clId="{647304D9-8AA5-40A0-A766-8E9CF048A9B0}" dt="2026-09-16T18:43:10.312" v="375"/>
          <ac:spMkLst>
            <pc:docMk/>
            <pc:sldMk cId="0" sldId="259"/>
            <ac:spMk id="49"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56"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59" creationId="{00000000-0000-0000-0000-000000000000}"/>
          </ac:spMkLst>
        </pc:spChg>
        <pc:spChg chg="mod">
          <ac:chgData name="Sheridan, Jack" userId="d0194f0e-edca-4d51-8263-e3fc5dbdcfa2" providerId="ADAL" clId="{647304D9-8AA5-40A0-A766-8E9CF048A9B0}" dt="2026-09-16T18:42:49.895" v="374" actId="255"/>
          <ac:spMkLst>
            <pc:docMk/>
            <pc:sldMk cId="0" sldId="259"/>
            <ac:spMk id="62" creationId="{00000000-0000-0000-0000-000000000000}"/>
          </ac:spMkLst>
        </pc:spChg>
        <pc:spChg chg="mod">
          <ac:chgData name="Sheridan, Jack" userId="d0194f0e-edca-4d51-8263-e3fc5dbdcfa2" providerId="ADAL" clId="{647304D9-8AA5-40A0-A766-8E9CF048A9B0}" dt="2026-09-16T18:41:07.533" v="369" actId="1076"/>
          <ac:spMkLst>
            <pc:docMk/>
            <pc:sldMk cId="0" sldId="259"/>
            <ac:spMk id="63" creationId="{00000000-0000-0000-0000-000000000000}"/>
          </ac:spMkLst>
        </pc:spChg>
        <pc:spChg chg="add mod">
          <ac:chgData name="Sheridan, Jack" userId="d0194f0e-edca-4d51-8263-e3fc5dbdcfa2" providerId="ADAL" clId="{647304D9-8AA5-40A0-A766-8E9CF048A9B0}" dt="2026-09-16T20:13:29.862" v="410" actId="20577"/>
          <ac:spMkLst>
            <pc:docMk/>
            <pc:sldMk cId="0" sldId="259"/>
            <ac:spMk id="70" creationId="{32242B5C-2A68-ABE9-AD2B-45AF4377A742}"/>
          </ac:spMkLst>
        </pc:spChg>
      </pc:sldChg>
      <pc:sldChg chg="addSp modSp add mod ord">
        <pc:chgData name="Sheridan, Jack" userId="d0194f0e-edca-4d51-8263-e3fc5dbdcfa2" providerId="ADAL" clId="{647304D9-8AA5-40A0-A766-8E9CF048A9B0}" dt="2026-09-17T20:27:58.292" v="544" actId="1076"/>
        <pc:sldMkLst>
          <pc:docMk/>
          <pc:sldMk cId="0" sldId="276"/>
        </pc:sldMkLst>
        <pc:spChg chg="add mod">
          <ac:chgData name="Sheridan, Jack" userId="d0194f0e-edca-4d51-8263-e3fc5dbdcfa2" providerId="ADAL" clId="{647304D9-8AA5-40A0-A766-8E9CF048A9B0}" dt="2026-09-17T20:27:58.292" v="544" actId="1076"/>
          <ac:spMkLst>
            <pc:docMk/>
            <pc:sldMk cId="0" sldId="276"/>
            <ac:spMk id="62" creationId="{2A5F8EE3-3DD2-192F-5F2A-11F3663B3928}"/>
          </ac:spMkLst>
        </pc:spChg>
      </pc:sldChg>
      <pc:sldChg chg="addSp modSp new ord">
        <pc:chgData name="Sheridan, Jack" userId="d0194f0e-edca-4d51-8263-e3fc5dbdcfa2" providerId="ADAL" clId="{647304D9-8AA5-40A0-A766-8E9CF048A9B0}" dt="2026-09-17T20:17:43.651" v="543" actId="20578"/>
        <pc:sldMkLst>
          <pc:docMk/>
          <pc:sldMk cId="3217638690" sldId="277"/>
        </pc:sldMkLst>
        <pc:picChg chg="add mod">
          <ac:chgData name="Sheridan, Jack" userId="d0194f0e-edca-4d51-8263-e3fc5dbdcfa2" providerId="ADAL" clId="{647304D9-8AA5-40A0-A766-8E9CF048A9B0}" dt="2026-09-17T20:17:27.017" v="538" actId="1076"/>
          <ac:picMkLst>
            <pc:docMk/>
            <pc:sldMk cId="3217638690" sldId="277"/>
            <ac:picMk id="1026" creationId="{3DB66756-C69A-BAEC-1505-90EBA1E9F922}"/>
          </ac:picMkLst>
        </pc:picChg>
      </pc:sldChg>
      <pc:sldChg chg="delSp modSp add mod setBg">
        <pc:chgData name="Sheridan, Jack" userId="d0194f0e-edca-4d51-8263-e3fc5dbdcfa2" providerId="ADAL" clId="{647304D9-8AA5-40A0-A766-8E9CF048A9B0}" dt="2026-09-18T18:10:04.940" v="618" actId="20577"/>
        <pc:sldMkLst>
          <pc:docMk/>
          <pc:sldMk cId="0" sldId="278"/>
        </pc:sldMkLst>
        <pc:spChg chg="mod">
          <ac:chgData name="Sheridan, Jack" userId="d0194f0e-edca-4d51-8263-e3fc5dbdcfa2" providerId="ADAL" clId="{647304D9-8AA5-40A0-A766-8E9CF048A9B0}" dt="2026-09-18T18:09:55.157" v="590" actId="313"/>
          <ac:spMkLst>
            <pc:docMk/>
            <pc:sldMk cId="0" sldId="278"/>
            <ac:spMk id="57" creationId="{00000000-0000-0000-0000-000000000000}"/>
          </ac:spMkLst>
        </pc:spChg>
        <pc:spChg chg="mod">
          <ac:chgData name="Sheridan, Jack" userId="d0194f0e-edca-4d51-8263-e3fc5dbdcfa2" providerId="ADAL" clId="{647304D9-8AA5-40A0-A766-8E9CF048A9B0}" dt="2026-09-18T18:10:04.940" v="618" actId="20577"/>
          <ac:spMkLst>
            <pc:docMk/>
            <pc:sldMk cId="0" sldId="278"/>
            <ac:spMk id="59" creationId="{00000000-0000-0000-0000-000000000000}"/>
          </ac:spMkLst>
        </pc:spChg>
      </pc:sldChg>
      <pc:sldChg chg="delSp add mod setBg">
        <pc:chgData name="Sheridan, Jack" userId="d0194f0e-edca-4d51-8263-e3fc5dbdcfa2" providerId="ADAL" clId="{647304D9-8AA5-40A0-A766-8E9CF048A9B0}" dt="2026-09-17T20:34:05.452" v="549" actId="478"/>
        <pc:sldMkLst>
          <pc:docMk/>
          <pc:sldMk cId="0" sldId="279"/>
        </pc:sldMkLst>
      </pc:sldChg>
      <pc:sldChg chg="delSp add mod setBg">
        <pc:chgData name="Sheridan, Jack" userId="d0194f0e-edca-4d51-8263-e3fc5dbdcfa2" providerId="ADAL" clId="{647304D9-8AA5-40A0-A766-8E9CF048A9B0}" dt="2026-09-17T20:34:12.113" v="550" actId="478"/>
        <pc:sldMkLst>
          <pc:docMk/>
          <pc:sldMk cId="0" sldId="280"/>
        </pc:sldMkLst>
      </pc:sldChg>
      <pc:sldChg chg="modSp add mod setBg">
        <pc:chgData name="Sheridan, Jack" userId="d0194f0e-edca-4d51-8263-e3fc5dbdcfa2" providerId="ADAL" clId="{647304D9-8AA5-40A0-A766-8E9CF048A9B0}" dt="2026-09-18T19:42:37.716" v="694" actId="1036"/>
        <pc:sldMkLst>
          <pc:docMk/>
          <pc:sldMk cId="0" sldId="281"/>
        </pc:sldMkLst>
        <pc:spChg chg="mod">
          <ac:chgData name="Sheridan, Jack" userId="d0194f0e-edca-4d51-8263-e3fc5dbdcfa2" providerId="ADAL" clId="{647304D9-8AA5-40A0-A766-8E9CF048A9B0}" dt="2026-09-18T19:41:48.515" v="667" actId="6549"/>
          <ac:spMkLst>
            <pc:docMk/>
            <pc:sldMk cId="0" sldId="281"/>
            <ac:spMk id="47" creationId="{00000000-0000-0000-0000-000000000000}"/>
          </ac:spMkLst>
        </pc:spChg>
        <pc:spChg chg="mod">
          <ac:chgData name="Sheridan, Jack" userId="d0194f0e-edca-4d51-8263-e3fc5dbdcfa2" providerId="ADAL" clId="{647304D9-8AA5-40A0-A766-8E9CF048A9B0}" dt="2026-09-18T19:42:24.273" v="684"/>
          <ac:spMkLst>
            <pc:docMk/>
            <pc:sldMk cId="0" sldId="281"/>
            <ac:spMk id="51" creationId="{00000000-0000-0000-0000-000000000000}"/>
          </ac:spMkLst>
        </pc:spChg>
        <pc:spChg chg="mod">
          <ac:chgData name="Sheridan, Jack" userId="d0194f0e-edca-4d51-8263-e3fc5dbdcfa2" providerId="ADAL" clId="{647304D9-8AA5-40A0-A766-8E9CF048A9B0}" dt="2026-09-18T19:42:32.288" v="685"/>
          <ac:spMkLst>
            <pc:docMk/>
            <pc:sldMk cId="0" sldId="281"/>
            <ac:spMk id="52" creationId="{00000000-0000-0000-0000-000000000000}"/>
          </ac:spMkLst>
        </pc:spChg>
        <pc:spChg chg="mod">
          <ac:chgData name="Sheridan, Jack" userId="d0194f0e-edca-4d51-8263-e3fc5dbdcfa2" providerId="ADAL" clId="{647304D9-8AA5-40A0-A766-8E9CF048A9B0}" dt="2026-09-18T19:42:37.716" v="694" actId="1036"/>
          <ac:spMkLst>
            <pc:docMk/>
            <pc:sldMk cId="0" sldId="281"/>
            <ac:spMk id="53" creationId="{00000000-0000-0000-0000-000000000000}"/>
          </ac:spMkLst>
        </pc:spChg>
        <pc:spChg chg="mod">
          <ac:chgData name="Sheridan, Jack" userId="d0194f0e-edca-4d51-8263-e3fc5dbdcfa2" providerId="ADAL" clId="{647304D9-8AA5-40A0-A766-8E9CF048A9B0}" dt="2026-09-18T19:42:37.716" v="694" actId="1036"/>
          <ac:spMkLst>
            <pc:docMk/>
            <pc:sldMk cId="0" sldId="281"/>
            <ac:spMk id="54" creationId="{00000000-0000-0000-0000-000000000000}"/>
          </ac:spMkLst>
        </pc:spChg>
        <pc:spChg chg="mod">
          <ac:chgData name="Sheridan, Jack" userId="d0194f0e-edca-4d51-8263-e3fc5dbdcfa2" providerId="ADAL" clId="{647304D9-8AA5-40A0-A766-8E9CF048A9B0}" dt="2026-09-18T19:41:58.977" v="682" actId="20577"/>
          <ac:spMkLst>
            <pc:docMk/>
            <pc:sldMk cId="0" sldId="281"/>
            <ac:spMk id="56" creationId="{00000000-0000-0000-0000-000000000000}"/>
          </ac:spMkLst>
        </pc:spChg>
      </pc:sldChg>
      <pc:sldChg chg="add">
        <pc:chgData name="Sheridan, Jack" userId="d0194f0e-edca-4d51-8263-e3fc5dbdcfa2" providerId="ADAL" clId="{647304D9-8AA5-40A0-A766-8E9CF048A9B0}" dt="2026-10-05T17:54:36.901" v="695"/>
        <pc:sldMkLst>
          <pc:docMk/>
          <pc:sldMk cId="0" sldId="282"/>
        </pc:sldMkLst>
      </pc:sldChg>
    </pc:docChg>
  </pc:docChgLst>
</pc:chgInfo>
</file>

<file path=ppt/comments/modernComment_103_0.xml><?xml version="1.0" encoding="utf-8"?>
<p188:cmLst xmlns:a="http://schemas.openxmlformats.org/drawingml/2006/main" xmlns:r="http://schemas.openxmlformats.org/officeDocument/2006/relationships" xmlns:p188="http://schemas.microsoft.com/office/powerpoint/2018/8/main">
  <p188:cm id="{E9624E5C-1B52-40D5-AE97-A4ACC4E1B3BC}" authorId="{92B71869-155D-BE4E-4D42-6254A0D20142}" created="2026-09-16T18:46:28.595">
    <pc:sldMkLst xmlns:pc="http://schemas.microsoft.com/office/powerpoint/2013/main/command">
      <pc:docMk/>
      <pc:sldMk cId="0" sldId="259"/>
    </pc:sldMkLst>
    <p188:txBody>
      <a:bodyPr/>
      <a:lstStyle/>
      <a:p>
        <a:r>
          <a:rPr lang="en-US"/>
          <a:t>Feels like we're missing Jason's ask on how to do Claude enabled application development. Covering pieces of in in 04 but we should try and be explicit with his ask. Feels like we got stuck in johnnys language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4422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338D"/>
          </a:solidFill>
          <a:ln/>
        </p:spPr>
        <p:txBody>
          <a:bodyPr/>
          <a:lstStyle/>
          <a:p>
            <a:endParaRPr lang="en-US"/>
          </a:p>
        </p:txBody>
      </p:sp>
      <p:sp>
        <p:nvSpPr>
          <p:cNvPr id="3" name="Text 1"/>
          <p:cNvSpPr/>
          <p:nvPr/>
        </p:nvSpPr>
        <p:spPr>
          <a:xfrm>
            <a:off x="457200" y="128016"/>
            <a:ext cx="8138160" cy="731520"/>
          </a:xfrm>
          <a:prstGeom prst="rect">
            <a:avLst/>
          </a:prstGeom>
          <a:noFill/>
          <a:ln/>
        </p:spPr>
        <p:txBody>
          <a:bodyPr wrap="square" lIns="0" tIns="0" rIns="0" bIns="0" rtlCol="0" anchor="ctr"/>
          <a:lstStyle/>
          <a:p>
            <a:pPr marL="0" indent="0">
              <a:lnSpc>
                <a:spcPts val="2300"/>
              </a:lnSpc>
              <a:buNone/>
            </a:pPr>
            <a:r>
              <a:rPr lang="en-US" sz="1850" b="1" dirty="0">
                <a:solidFill>
                  <a:srgbClr val="FFFFFF"/>
                </a:solidFill>
                <a:latin typeface="Arial" pitchFamily="34" charset="0"/>
                <a:ea typeface="Arial" pitchFamily="34" charset="-122"/>
                <a:cs typeface="Arial" pitchFamily="34" charset="-120"/>
              </a:rPr>
              <a:t>Microsoft Fabric &amp; DevOps enablement</a:t>
            </a:r>
            <a:endParaRPr lang="en-US" sz="1850" dirty="0"/>
          </a:p>
          <a:p>
            <a:pPr marL="0" indent="0">
              <a:lnSpc>
                <a:spcPts val="2300"/>
              </a:lnSpc>
              <a:buNone/>
            </a:pPr>
            <a:r>
              <a:rPr lang="en-US" sz="1850" b="1" dirty="0">
                <a:solidFill>
                  <a:srgbClr val="FFFFFF"/>
                </a:solidFill>
                <a:latin typeface="Arial" pitchFamily="34" charset="0"/>
                <a:ea typeface="Arial" pitchFamily="34" charset="-122"/>
                <a:cs typeface="Arial" pitchFamily="34" charset="-120"/>
              </a:rPr>
              <a:t>Proposed agenda  ·  three days</a:t>
            </a:r>
            <a:endParaRPr lang="en-US" sz="1850" dirty="0"/>
          </a:p>
        </p:txBody>
      </p:sp>
      <p:sp>
        <p:nvSpPr>
          <p:cNvPr id="4" name="Text 2"/>
          <p:cNvSpPr/>
          <p:nvPr/>
        </p:nvSpPr>
        <p:spPr>
          <a:xfrm>
            <a:off x="8229600" y="347472"/>
            <a:ext cx="3502152" cy="274320"/>
          </a:xfrm>
          <a:prstGeom prst="rect">
            <a:avLst/>
          </a:prstGeom>
          <a:noFill/>
          <a:ln/>
        </p:spPr>
        <p:txBody>
          <a:bodyPr wrap="square" lIns="0" tIns="0" rIns="0" bIns="0" rtlCol="0" anchor="ctr"/>
          <a:lstStyle/>
          <a:p>
            <a:pPr marL="0" indent="0" algn="r">
              <a:buNone/>
            </a:pPr>
            <a:r>
              <a:rPr lang="en-US" sz="1050" b="1" dirty="0">
                <a:solidFill>
                  <a:srgbClr val="8FB8E8"/>
                </a:solidFill>
                <a:latin typeface="Arial" pitchFamily="34" charset="0"/>
                <a:ea typeface="Arial" pitchFamily="34" charset="-122"/>
                <a:cs typeface="Arial" pitchFamily="34" charset="-120"/>
              </a:rPr>
              <a:t>KPMG  ·  Disney Tax Data Management &amp; Innovation</a:t>
            </a:r>
            <a:endParaRPr lang="en-US" sz="1050" dirty="0"/>
          </a:p>
        </p:txBody>
      </p:sp>
      <p:sp>
        <p:nvSpPr>
          <p:cNvPr id="201" name="dlabel 201"/>
          <p:cNvSpPr/>
          <p:nvPr/>
        </p:nvSpPr>
        <p:spPr>
          <a:xfrm>
            <a:off x="457200" y="1207008"/>
            <a:ext cx="3484778" cy="237744"/>
          </a:xfrm>
          <a:prstGeom prst="rect">
            <a:avLst/>
          </a:prstGeom>
          <a:noFill/>
          <a:ln/>
        </p:spPr>
        <p:txBody>
          <a:bodyPr wrap="square" lIns="0" tIns="0" rIns="0" bIns="0" rtlCol="0" anchor="ctr"/>
          <a:lstStyle/>
          <a:p>
            <a:pPr marL="0" indent="0">
              <a:buNone/>
            </a:pPr>
            <a:r>
              <a:rPr lang="en-US" sz="1000" b="1" kern="0" spc="100" dirty="0">
                <a:solidFill>
                  <a:srgbClr val="00338D"/>
                </a:solidFill>
                <a:latin typeface="Arial" pitchFamily="34" charset="0"/>
                <a:ea typeface="Arial" pitchFamily="34" charset="-122"/>
                <a:cs typeface="Arial" pitchFamily="34" charset="-120"/>
              </a:rPr>
              <a:t>DAY ONE</a:t>
            </a:r>
            <a:endParaRPr lang="en-US" sz="1000" dirty="0"/>
          </a:p>
        </p:txBody>
      </p:sp>
      <p:sp>
        <p:nvSpPr>
          <p:cNvPr id="202" name="dtitle 202"/>
          <p:cNvSpPr/>
          <p:nvPr/>
        </p:nvSpPr>
        <p:spPr>
          <a:xfrm>
            <a:off x="457200" y="1444752"/>
            <a:ext cx="3484778" cy="274320"/>
          </a:xfrm>
          <a:prstGeom prst="rect">
            <a:avLst/>
          </a:prstGeom>
          <a:noFill/>
          <a:ln/>
        </p:spPr>
        <p:txBody>
          <a:bodyPr wrap="square" lIns="0" tIns="0" rIns="0" bIns="0" rtlCol="0" anchor="ctr"/>
          <a:lstStyle/>
          <a:p>
            <a:pPr marL="0" indent="0">
              <a:buNone/>
            </a:pPr>
            <a:r>
              <a:rPr lang="en-US" sz="1400" b="1" dirty="0">
                <a:solidFill>
                  <a:srgbClr val="1A1A2E"/>
                </a:solidFill>
                <a:latin typeface="Arial" pitchFamily="34" charset="0"/>
                <a:ea typeface="Arial" pitchFamily="34" charset="-122"/>
                <a:cs typeface="Arial" pitchFamily="34" charset="-120"/>
              </a:rPr>
              <a:t>Foundations</a:t>
            </a:r>
            <a:endParaRPr lang="en-US" sz="1400" dirty="0"/>
          </a:p>
        </p:txBody>
      </p:sp>
      <p:sp>
        <p:nvSpPr>
          <p:cNvPr id="203" name="ddesc 203"/>
          <p:cNvSpPr/>
          <p:nvPr/>
        </p:nvSpPr>
        <p:spPr>
          <a:xfrm>
            <a:off x="457200" y="1737360"/>
            <a:ext cx="3484778" cy="274320"/>
          </a:xfrm>
          <a:prstGeom prst="rect">
            <a:avLst/>
          </a:prstGeom>
          <a:noFill/>
          <a:ln/>
        </p:spPr>
        <p:txBody>
          <a:bodyPr wrap="square" lIns="0" tIns="0" rIns="0" bIns="0" rtlCol="0" anchor="ctr"/>
          <a:lstStyle/>
          <a:p>
            <a:pPr marL="0" indent="0">
              <a:lnSpc>
                <a:spcPts val="1100"/>
              </a:lnSpc>
              <a:buNone/>
            </a:pPr>
            <a:r>
              <a:rPr lang="en-US" sz="900" dirty="0">
                <a:solidFill>
                  <a:srgbClr val="5A6472"/>
                </a:solidFill>
                <a:latin typeface="Arial" pitchFamily="34" charset="0"/>
                <a:ea typeface="Arial" pitchFamily="34" charset="-122"/>
                <a:cs typeface="Arial" pitchFamily="34" charset="-120"/>
              </a:rPr>
              <a:t>Shared vocabulary and the technical baseline.</a:t>
            </a:r>
            <a:endParaRPr lang="en-US" sz="900" dirty="0"/>
          </a:p>
        </p:txBody>
      </p:sp>
      <p:sp>
        <p:nvSpPr>
          <p:cNvPr id="204" name="bar 204"/>
          <p:cNvSpPr/>
          <p:nvPr/>
        </p:nvSpPr>
        <p:spPr>
          <a:xfrm>
            <a:off x="457200" y="2066543"/>
            <a:ext cx="3484778" cy="32004"/>
          </a:xfrm>
          <a:prstGeom prst="rect">
            <a:avLst/>
          </a:prstGeom>
          <a:solidFill>
            <a:srgbClr val="00338D"/>
          </a:solidFill>
          <a:ln/>
        </p:spPr>
        <p:txBody>
          <a:bodyPr/>
          <a:lstStyle/>
          <a:p>
            <a:endParaRPr lang="en-US"/>
          </a:p>
        </p:txBody>
      </p:sp>
      <p:sp>
        <p:nvSpPr>
          <p:cNvPr id="205" name="div 205"/>
          <p:cNvSpPr/>
          <p:nvPr/>
        </p:nvSpPr>
        <p:spPr>
          <a:xfrm>
            <a:off x="4142231" y="1207008"/>
            <a:ext cx="10972" cy="4553712"/>
          </a:xfrm>
          <a:prstGeom prst="rect">
            <a:avLst/>
          </a:prstGeom>
          <a:solidFill>
            <a:srgbClr val="D5DCE8"/>
          </a:solidFill>
          <a:ln/>
        </p:spPr>
        <p:txBody>
          <a:bodyPr/>
          <a:lstStyle/>
          <a:p>
            <a:endParaRPr lang="en-US"/>
          </a:p>
        </p:txBody>
      </p:sp>
      <p:sp>
        <p:nvSpPr>
          <p:cNvPr id="206" name="dlabel 206"/>
          <p:cNvSpPr/>
          <p:nvPr/>
        </p:nvSpPr>
        <p:spPr>
          <a:xfrm>
            <a:off x="4353458" y="1207008"/>
            <a:ext cx="3484778" cy="237744"/>
          </a:xfrm>
          <a:prstGeom prst="rect">
            <a:avLst/>
          </a:prstGeom>
          <a:noFill/>
          <a:ln/>
        </p:spPr>
        <p:txBody>
          <a:bodyPr wrap="square" lIns="0" tIns="0" rIns="0" bIns="0" rtlCol="0" anchor="ctr"/>
          <a:lstStyle/>
          <a:p>
            <a:pPr marL="0" indent="0">
              <a:buNone/>
            </a:pPr>
            <a:r>
              <a:rPr lang="en-US" sz="1000" b="1" kern="0" spc="100" dirty="0">
                <a:solidFill>
                  <a:srgbClr val="00338D"/>
                </a:solidFill>
                <a:latin typeface="Arial" pitchFamily="34" charset="0"/>
                <a:ea typeface="Arial" pitchFamily="34" charset="-122"/>
                <a:cs typeface="Arial" pitchFamily="34" charset="-120"/>
              </a:rPr>
              <a:t>DAY TWO</a:t>
            </a:r>
            <a:endParaRPr lang="en-US" sz="1000" dirty="0"/>
          </a:p>
        </p:txBody>
      </p:sp>
      <p:sp>
        <p:nvSpPr>
          <p:cNvPr id="207" name="dtitle 207"/>
          <p:cNvSpPr/>
          <p:nvPr/>
        </p:nvSpPr>
        <p:spPr>
          <a:xfrm>
            <a:off x="4353458" y="1444752"/>
            <a:ext cx="3484778" cy="274320"/>
          </a:xfrm>
          <a:prstGeom prst="rect">
            <a:avLst/>
          </a:prstGeom>
          <a:noFill/>
          <a:ln/>
        </p:spPr>
        <p:txBody>
          <a:bodyPr wrap="square" lIns="0" tIns="0" rIns="0" bIns="0" rtlCol="0" anchor="ctr"/>
          <a:lstStyle/>
          <a:p>
            <a:pPr marL="0" indent="0">
              <a:buNone/>
            </a:pPr>
            <a:r>
              <a:rPr lang="en-US" sz="1400" b="1" dirty="0">
                <a:solidFill>
                  <a:srgbClr val="1A1A2E"/>
                </a:solidFill>
                <a:latin typeface="Arial" pitchFamily="34" charset="0"/>
                <a:ea typeface="Arial" pitchFamily="34" charset="-122"/>
                <a:cs typeface="Arial" pitchFamily="34" charset="-120"/>
              </a:rPr>
              <a:t>Building in Fabric</a:t>
            </a:r>
            <a:endParaRPr lang="en-US" sz="1400" dirty="0"/>
          </a:p>
        </p:txBody>
      </p:sp>
      <p:sp>
        <p:nvSpPr>
          <p:cNvPr id="208" name="ddesc 208"/>
          <p:cNvSpPr/>
          <p:nvPr/>
        </p:nvSpPr>
        <p:spPr>
          <a:xfrm>
            <a:off x="4353458" y="1737360"/>
            <a:ext cx="3484778" cy="274320"/>
          </a:xfrm>
          <a:prstGeom prst="rect">
            <a:avLst/>
          </a:prstGeom>
          <a:noFill/>
          <a:ln/>
        </p:spPr>
        <p:txBody>
          <a:bodyPr wrap="square" lIns="0" tIns="0" rIns="0" bIns="0" rtlCol="0" anchor="ctr"/>
          <a:lstStyle/>
          <a:p>
            <a:pPr marL="0" indent="0">
              <a:lnSpc>
                <a:spcPts val="1100"/>
              </a:lnSpc>
              <a:buNone/>
            </a:pPr>
            <a:r>
              <a:rPr lang="en-US" sz="900" dirty="0">
                <a:solidFill>
                  <a:srgbClr val="5A6472"/>
                </a:solidFill>
                <a:latin typeface="Arial" pitchFamily="34" charset="0"/>
                <a:ea typeface="Arial" pitchFamily="34" charset="-122"/>
                <a:cs typeface="Arial" pitchFamily="34" charset="-120"/>
              </a:rPr>
              <a:t>Guided labs, from the build through to the business.</a:t>
            </a:r>
            <a:endParaRPr lang="en-US" sz="900" dirty="0"/>
          </a:p>
        </p:txBody>
      </p:sp>
      <p:sp>
        <p:nvSpPr>
          <p:cNvPr id="209" name="bar 209"/>
          <p:cNvSpPr/>
          <p:nvPr/>
        </p:nvSpPr>
        <p:spPr>
          <a:xfrm>
            <a:off x="4353458" y="2066543"/>
            <a:ext cx="3484778" cy="32004"/>
          </a:xfrm>
          <a:prstGeom prst="rect">
            <a:avLst/>
          </a:prstGeom>
          <a:solidFill>
            <a:srgbClr val="00338D"/>
          </a:solidFill>
          <a:ln/>
        </p:spPr>
        <p:txBody>
          <a:bodyPr/>
          <a:lstStyle/>
          <a:p>
            <a:endParaRPr lang="en-US"/>
          </a:p>
        </p:txBody>
      </p:sp>
      <p:sp>
        <p:nvSpPr>
          <p:cNvPr id="210" name="div 210"/>
          <p:cNvSpPr/>
          <p:nvPr/>
        </p:nvSpPr>
        <p:spPr>
          <a:xfrm>
            <a:off x="8038490" y="1207008"/>
            <a:ext cx="10972" cy="4553712"/>
          </a:xfrm>
          <a:prstGeom prst="rect">
            <a:avLst/>
          </a:prstGeom>
          <a:solidFill>
            <a:srgbClr val="D5DCE8"/>
          </a:solidFill>
          <a:ln/>
        </p:spPr>
        <p:txBody>
          <a:bodyPr/>
          <a:lstStyle/>
          <a:p>
            <a:endParaRPr lang="en-US"/>
          </a:p>
        </p:txBody>
      </p:sp>
      <p:sp>
        <p:nvSpPr>
          <p:cNvPr id="211" name="dlabel 211"/>
          <p:cNvSpPr/>
          <p:nvPr/>
        </p:nvSpPr>
        <p:spPr>
          <a:xfrm>
            <a:off x="8249716" y="1207008"/>
            <a:ext cx="3484778" cy="237744"/>
          </a:xfrm>
          <a:prstGeom prst="rect">
            <a:avLst/>
          </a:prstGeom>
          <a:noFill/>
          <a:ln/>
        </p:spPr>
        <p:txBody>
          <a:bodyPr wrap="square" lIns="0" tIns="0" rIns="0" bIns="0" rtlCol="0" anchor="ctr"/>
          <a:lstStyle/>
          <a:p>
            <a:pPr marL="0" indent="0">
              <a:buNone/>
            </a:pPr>
            <a:r>
              <a:rPr lang="en-US" sz="1000" b="1" kern="0" spc="100" dirty="0">
                <a:solidFill>
                  <a:srgbClr val="00338D"/>
                </a:solidFill>
                <a:latin typeface="Arial" pitchFamily="34" charset="0"/>
                <a:ea typeface="Arial" pitchFamily="34" charset="-122"/>
                <a:cs typeface="Arial" pitchFamily="34" charset="-120"/>
              </a:rPr>
              <a:t>DAY THREE</a:t>
            </a:r>
            <a:endParaRPr lang="en-US" sz="1000" dirty="0"/>
          </a:p>
        </p:txBody>
      </p:sp>
      <p:sp>
        <p:nvSpPr>
          <p:cNvPr id="212" name="dtitle 212"/>
          <p:cNvSpPr/>
          <p:nvPr/>
        </p:nvSpPr>
        <p:spPr>
          <a:xfrm>
            <a:off x="8249716" y="1444752"/>
            <a:ext cx="3484778" cy="274320"/>
          </a:xfrm>
          <a:prstGeom prst="rect">
            <a:avLst/>
          </a:prstGeom>
          <a:noFill/>
          <a:ln/>
        </p:spPr>
        <p:txBody>
          <a:bodyPr wrap="square" lIns="0" tIns="0" rIns="0" bIns="0" rtlCol="0" anchor="ctr"/>
          <a:lstStyle/>
          <a:p>
            <a:pPr marL="0" indent="0">
              <a:buNone/>
            </a:pPr>
            <a:r>
              <a:rPr lang="en-US" sz="1400" b="1" dirty="0">
                <a:solidFill>
                  <a:srgbClr val="1A1A2E"/>
                </a:solidFill>
                <a:latin typeface="Arial" pitchFamily="34" charset="0"/>
                <a:ea typeface="Arial" pitchFamily="34" charset="-122"/>
                <a:cs typeface="Arial" pitchFamily="34" charset="-120"/>
              </a:rPr>
              <a:t>Shipping to production</a:t>
            </a:r>
            <a:endParaRPr lang="en-US" sz="1400" dirty="0"/>
          </a:p>
        </p:txBody>
      </p:sp>
      <p:sp>
        <p:nvSpPr>
          <p:cNvPr id="213" name="ddesc 213"/>
          <p:cNvSpPr/>
          <p:nvPr/>
        </p:nvSpPr>
        <p:spPr>
          <a:xfrm>
            <a:off x="8249716" y="1737360"/>
            <a:ext cx="3484778" cy="274320"/>
          </a:xfrm>
          <a:prstGeom prst="rect">
            <a:avLst/>
          </a:prstGeom>
          <a:noFill/>
          <a:ln/>
        </p:spPr>
        <p:txBody>
          <a:bodyPr wrap="square" lIns="0" tIns="0" rIns="0" bIns="0" rtlCol="0" anchor="ctr"/>
          <a:lstStyle/>
          <a:p>
            <a:pPr marL="0" indent="0">
              <a:lnSpc>
                <a:spcPts val="1100"/>
              </a:lnSpc>
              <a:buNone/>
            </a:pPr>
            <a:r>
              <a:rPr lang="en-US" sz="900" dirty="0">
                <a:solidFill>
                  <a:srgbClr val="5A6472"/>
                </a:solidFill>
                <a:latin typeface="Arial" pitchFamily="34" charset="0"/>
                <a:ea typeface="Arial" pitchFamily="34" charset="-122"/>
                <a:cs typeface="Arial" pitchFamily="34" charset="-120"/>
              </a:rPr>
              <a:t>How changes ship, and the path to go-live.</a:t>
            </a:r>
            <a:endParaRPr lang="en-US" sz="900" dirty="0"/>
          </a:p>
        </p:txBody>
      </p:sp>
      <p:sp>
        <p:nvSpPr>
          <p:cNvPr id="214" name="bar 214"/>
          <p:cNvSpPr/>
          <p:nvPr/>
        </p:nvSpPr>
        <p:spPr>
          <a:xfrm>
            <a:off x="8249716" y="2066543"/>
            <a:ext cx="3484778" cy="32004"/>
          </a:xfrm>
          <a:prstGeom prst="rect">
            <a:avLst/>
          </a:prstGeom>
          <a:solidFill>
            <a:srgbClr val="00338D"/>
          </a:solidFill>
          <a:ln/>
        </p:spPr>
        <p:txBody>
          <a:bodyPr/>
          <a:lstStyle/>
          <a:p>
            <a:endParaRPr lang="en-US"/>
          </a:p>
        </p:txBody>
      </p:sp>
      <p:sp>
        <p:nvSpPr>
          <p:cNvPr id="215" name="num 215"/>
          <p:cNvSpPr/>
          <p:nvPr/>
        </p:nvSpPr>
        <p:spPr>
          <a:xfrm>
            <a:off x="457200" y="2212848"/>
            <a:ext cx="1641805"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01</a:t>
            </a:r>
            <a:endParaRPr lang="en-US" sz="2700" dirty="0"/>
          </a:p>
        </p:txBody>
      </p:sp>
      <p:sp>
        <p:nvSpPr>
          <p:cNvPr id="216" name="mtitle 216"/>
          <p:cNvSpPr/>
          <p:nvPr/>
        </p:nvSpPr>
        <p:spPr>
          <a:xfrm>
            <a:off x="457200" y="2633472"/>
            <a:ext cx="1641805" cy="512064"/>
          </a:xfrm>
          <a:prstGeom prst="rect">
            <a:avLst/>
          </a:prstGeom>
          <a:noFill/>
          <a:ln/>
        </p:spPr>
        <p:txBody>
          <a:bodyPr wrap="square" lIns="0" tIns="0" rIns="0" bIns="0" rtlCol="0" anchor="ctr"/>
          <a:lstStyle/>
          <a:p>
            <a:pPr marL="0" indent="0">
              <a:lnSpc>
                <a:spcPts val="1500"/>
              </a:lnSpc>
              <a:buNone/>
            </a:pPr>
            <a:r>
              <a:rPr lang="en-US" sz="1150" b="1" dirty="0">
                <a:solidFill>
                  <a:srgbClr val="0B2265"/>
                </a:solidFill>
                <a:latin typeface="Arial" pitchFamily="34" charset="0"/>
                <a:ea typeface="Arial" pitchFamily="34" charset="-122"/>
                <a:cs typeface="Arial" pitchFamily="34" charset="-120"/>
              </a:rPr>
              <a:t>Fabric Foundations</a:t>
            </a:r>
            <a:endParaRPr lang="en-US" sz="1150" dirty="0"/>
          </a:p>
          <a:p>
            <a:pPr marL="0" indent="0">
              <a:lnSpc>
                <a:spcPts val="1500"/>
              </a:lnSpc>
              <a:buNone/>
            </a:pPr>
            <a:r>
              <a:rPr lang="en-US" sz="1150" b="1" dirty="0">
                <a:solidFill>
                  <a:srgbClr val="0B2265"/>
                </a:solidFill>
                <a:latin typeface="Arial" pitchFamily="34" charset="0"/>
                <a:ea typeface="Arial" pitchFamily="34" charset="-122"/>
                <a:cs typeface="Arial" pitchFamily="34" charset="-120"/>
              </a:rPr>
              <a:t>&amp; Architecture</a:t>
            </a:r>
            <a:endParaRPr lang="en-US" sz="1150" dirty="0"/>
          </a:p>
        </p:txBody>
      </p:sp>
      <p:sp>
        <p:nvSpPr>
          <p:cNvPr id="217" name="msub 217"/>
          <p:cNvSpPr/>
          <p:nvPr/>
        </p:nvSpPr>
        <p:spPr>
          <a:xfrm>
            <a:off x="457200" y="3163824"/>
            <a:ext cx="1641805"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Common ground for a room that mixes tax professionals with technologists.</a:t>
            </a:r>
            <a:endParaRPr lang="en-US" sz="800" dirty="0"/>
          </a:p>
        </p:txBody>
      </p:sp>
      <p:sp>
        <p:nvSpPr>
          <p:cNvPr id="218" name="ilabel 218"/>
          <p:cNvSpPr/>
          <p:nvPr/>
        </p:nvSpPr>
        <p:spPr>
          <a:xfrm>
            <a:off x="457200" y="3602736"/>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Fabric at Disney</a:t>
            </a:r>
            <a:endParaRPr lang="en-US" sz="920" dirty="0"/>
          </a:p>
        </p:txBody>
      </p:sp>
      <p:sp>
        <p:nvSpPr>
          <p:cNvPr id="219" name="idesc 219"/>
          <p:cNvSpPr/>
          <p:nvPr/>
        </p:nvSpPr>
        <p:spPr>
          <a:xfrm>
            <a:off x="457200" y="3822191"/>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The environment your team works in, and how it is set up</a:t>
            </a:r>
            <a:endParaRPr lang="en-US" sz="860" dirty="0"/>
          </a:p>
        </p:txBody>
      </p:sp>
      <p:sp>
        <p:nvSpPr>
          <p:cNvPr id="220" name="ilabel 220"/>
          <p:cNvSpPr/>
          <p:nvPr/>
        </p:nvSpPr>
        <p:spPr>
          <a:xfrm>
            <a:off x="457200" y="4178808"/>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Migration strategy</a:t>
            </a:r>
            <a:endParaRPr lang="en-US" sz="920" dirty="0"/>
          </a:p>
        </p:txBody>
      </p:sp>
      <p:sp>
        <p:nvSpPr>
          <p:cNvPr id="221" name="idesc 221"/>
          <p:cNvSpPr/>
          <p:nvPr/>
        </p:nvSpPr>
        <p:spPr>
          <a:xfrm>
            <a:off x="457200" y="4398264"/>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How the Alteryx estate moves across, with terms mapped back</a:t>
            </a:r>
            <a:endParaRPr lang="en-US" sz="860" dirty="0"/>
          </a:p>
        </p:txBody>
      </p:sp>
      <p:sp>
        <p:nvSpPr>
          <p:cNvPr id="222" name="ilabel 222"/>
          <p:cNvSpPr/>
          <p:nvPr/>
        </p:nvSpPr>
        <p:spPr>
          <a:xfrm>
            <a:off x="457200" y="4754880"/>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Lakehouse and OneLake</a:t>
            </a:r>
            <a:endParaRPr lang="en-US" sz="920" dirty="0"/>
          </a:p>
        </p:txBody>
      </p:sp>
      <p:sp>
        <p:nvSpPr>
          <p:cNvPr id="223" name="idesc 223"/>
          <p:cNvSpPr/>
          <p:nvPr/>
        </p:nvSpPr>
        <p:spPr>
          <a:xfrm>
            <a:off x="457200" y="4974336"/>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Workspaces, tables, shortcuts and data organisation</a:t>
            </a:r>
            <a:endParaRPr lang="en-US" sz="860" dirty="0"/>
          </a:p>
        </p:txBody>
      </p:sp>
      <p:sp>
        <p:nvSpPr>
          <p:cNvPr id="224" name="num 224"/>
          <p:cNvSpPr/>
          <p:nvPr/>
        </p:nvSpPr>
        <p:spPr>
          <a:xfrm>
            <a:off x="2300173" y="2212848"/>
            <a:ext cx="1641805"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02</a:t>
            </a:r>
            <a:endParaRPr lang="en-US" sz="2700" dirty="0"/>
          </a:p>
        </p:txBody>
      </p:sp>
      <p:sp>
        <p:nvSpPr>
          <p:cNvPr id="225" name="mtitle 225"/>
          <p:cNvSpPr/>
          <p:nvPr/>
        </p:nvSpPr>
        <p:spPr>
          <a:xfrm>
            <a:off x="2300173" y="2633472"/>
            <a:ext cx="1641805" cy="512064"/>
          </a:xfrm>
          <a:prstGeom prst="rect">
            <a:avLst/>
          </a:prstGeom>
          <a:noFill/>
          <a:ln/>
        </p:spPr>
        <p:txBody>
          <a:bodyPr wrap="square" lIns="0" tIns="0" rIns="0" bIns="0" rtlCol="0" anchor="ctr"/>
          <a:lstStyle/>
          <a:p>
            <a:pPr marL="0" indent="0">
              <a:lnSpc>
                <a:spcPts val="1500"/>
              </a:lnSpc>
              <a:buNone/>
            </a:pPr>
            <a:r>
              <a:rPr lang="en-US" sz="1150" b="1" dirty="0">
                <a:solidFill>
                  <a:srgbClr val="0B2265"/>
                </a:solidFill>
                <a:latin typeface="Arial" pitchFamily="34" charset="0"/>
                <a:ea typeface="Arial" pitchFamily="34" charset="-122"/>
                <a:cs typeface="Arial" pitchFamily="34" charset="-120"/>
              </a:rPr>
              <a:t>SQL, Python &amp;</a:t>
            </a:r>
            <a:endParaRPr lang="en-US" sz="1150" dirty="0"/>
          </a:p>
          <a:p>
            <a:pPr marL="0" indent="0">
              <a:lnSpc>
                <a:spcPts val="1500"/>
              </a:lnSpc>
              <a:buNone/>
            </a:pPr>
            <a:r>
              <a:rPr lang="en-US" sz="1150" b="1" dirty="0">
                <a:solidFill>
                  <a:srgbClr val="0B2265"/>
                </a:solidFill>
                <a:latin typeface="Arial" pitchFamily="34" charset="0"/>
                <a:ea typeface="Arial" pitchFamily="34" charset="-122"/>
                <a:cs typeface="Arial" pitchFamily="34" charset="-120"/>
              </a:rPr>
              <a:t>Data Concepts</a:t>
            </a:r>
            <a:endParaRPr lang="en-US" sz="1150" dirty="0"/>
          </a:p>
        </p:txBody>
      </p:sp>
      <p:sp>
        <p:nvSpPr>
          <p:cNvPr id="226" name="msub 226"/>
          <p:cNvSpPr/>
          <p:nvPr/>
        </p:nvSpPr>
        <p:spPr>
          <a:xfrm>
            <a:off x="2300173" y="3163824"/>
            <a:ext cx="1641805"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The technical baseline, pitched for non-developers. Exercises throughout.</a:t>
            </a:r>
            <a:endParaRPr lang="en-US" sz="800" dirty="0"/>
          </a:p>
        </p:txBody>
      </p:sp>
      <p:sp>
        <p:nvSpPr>
          <p:cNvPr id="227" name="ilabel 227"/>
          <p:cNvSpPr/>
          <p:nvPr/>
        </p:nvSpPr>
        <p:spPr>
          <a:xfrm>
            <a:off x="2300173" y="3602736"/>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SQL fundamentals</a:t>
            </a:r>
            <a:endParaRPr lang="en-US" sz="920" dirty="0"/>
          </a:p>
        </p:txBody>
      </p:sp>
      <p:sp>
        <p:nvSpPr>
          <p:cNvPr id="228" name="idesc 228"/>
          <p:cNvSpPr/>
          <p:nvPr/>
        </p:nvSpPr>
        <p:spPr>
          <a:xfrm>
            <a:off x="2300173" y="3822191"/>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Querying concepts and basic data modelling</a:t>
            </a:r>
            <a:endParaRPr lang="en-US" sz="860" dirty="0"/>
          </a:p>
        </p:txBody>
      </p:sp>
      <p:sp>
        <p:nvSpPr>
          <p:cNvPr id="229" name="ilabel 229"/>
          <p:cNvSpPr/>
          <p:nvPr/>
        </p:nvSpPr>
        <p:spPr>
          <a:xfrm>
            <a:off x="2300173" y="4178808"/>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Python fundamentals</a:t>
            </a:r>
            <a:endParaRPr lang="en-US" sz="920" dirty="0"/>
          </a:p>
        </p:txBody>
      </p:sp>
      <p:sp>
        <p:nvSpPr>
          <p:cNvPr id="230" name="idesc 230"/>
          <p:cNvSpPr/>
          <p:nvPr/>
        </p:nvSpPr>
        <p:spPr>
          <a:xfrm>
            <a:off x="2300173" y="4398264"/>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Python basics and working with data in Fabric</a:t>
            </a:r>
            <a:endParaRPr lang="en-US" sz="860" dirty="0"/>
          </a:p>
        </p:txBody>
      </p:sp>
      <p:sp>
        <p:nvSpPr>
          <p:cNvPr id="231" name="ilabel 231"/>
          <p:cNvSpPr/>
          <p:nvPr/>
        </p:nvSpPr>
        <p:spPr>
          <a:xfrm>
            <a:off x="2300173" y="4754880"/>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Medallion architecture</a:t>
            </a:r>
            <a:endParaRPr lang="en-US" sz="920" dirty="0"/>
          </a:p>
        </p:txBody>
      </p:sp>
      <p:sp>
        <p:nvSpPr>
          <p:cNvPr id="232" name="idesc 232"/>
          <p:cNvSpPr/>
          <p:nvPr/>
        </p:nvSpPr>
        <p:spPr>
          <a:xfrm>
            <a:off x="2300173" y="4974336"/>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Bronze, silver and gold layers, and what belongs at each</a:t>
            </a:r>
            <a:endParaRPr lang="en-US" sz="860" dirty="0"/>
          </a:p>
        </p:txBody>
      </p:sp>
      <p:sp>
        <p:nvSpPr>
          <p:cNvPr id="233" name="num 233"/>
          <p:cNvSpPr/>
          <p:nvPr/>
        </p:nvSpPr>
        <p:spPr>
          <a:xfrm>
            <a:off x="4353458" y="2212848"/>
            <a:ext cx="1641805"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03</a:t>
            </a:r>
            <a:endParaRPr lang="en-US" sz="2700" dirty="0"/>
          </a:p>
        </p:txBody>
      </p:sp>
      <p:sp>
        <p:nvSpPr>
          <p:cNvPr id="234" name="mtitle 234"/>
          <p:cNvSpPr/>
          <p:nvPr/>
        </p:nvSpPr>
        <p:spPr>
          <a:xfrm>
            <a:off x="4353458" y="2633472"/>
            <a:ext cx="1641805" cy="512064"/>
          </a:xfrm>
          <a:prstGeom prst="rect">
            <a:avLst/>
          </a:prstGeom>
          <a:noFill/>
          <a:ln/>
        </p:spPr>
        <p:txBody>
          <a:bodyPr wrap="square" lIns="0" tIns="0" rIns="0" bIns="0" rtlCol="0" anchor="ctr"/>
          <a:lstStyle/>
          <a:p>
            <a:pPr marL="0" indent="0">
              <a:lnSpc>
                <a:spcPts val="1500"/>
              </a:lnSpc>
              <a:buNone/>
            </a:pPr>
            <a:r>
              <a:rPr lang="en-US" sz="1150" b="1" dirty="0">
                <a:solidFill>
                  <a:srgbClr val="0B2265"/>
                </a:solidFill>
                <a:latin typeface="Arial" pitchFamily="34" charset="0"/>
                <a:ea typeface="Arial" pitchFamily="34" charset="-122"/>
                <a:cs typeface="Arial" pitchFamily="34" charset="-120"/>
              </a:rPr>
              <a:t>Data Engineering</a:t>
            </a:r>
            <a:endParaRPr lang="en-US" sz="1150" dirty="0"/>
          </a:p>
          <a:p>
            <a:pPr marL="0" indent="0">
              <a:lnSpc>
                <a:spcPts val="1500"/>
              </a:lnSpc>
              <a:buNone/>
            </a:pPr>
            <a:r>
              <a:rPr lang="en-US" sz="1150" b="1" dirty="0">
                <a:solidFill>
                  <a:srgbClr val="0B2265"/>
                </a:solidFill>
                <a:latin typeface="Arial" pitchFamily="34" charset="0"/>
                <a:ea typeface="Arial" pitchFamily="34" charset="-122"/>
                <a:cs typeface="Arial" pitchFamily="34" charset="-120"/>
              </a:rPr>
              <a:t>in Fabric</a:t>
            </a:r>
            <a:endParaRPr lang="en-US" sz="1150" dirty="0"/>
          </a:p>
        </p:txBody>
      </p:sp>
      <p:sp>
        <p:nvSpPr>
          <p:cNvPr id="235" name="msub 235"/>
          <p:cNvSpPr/>
          <p:nvPr/>
        </p:nvSpPr>
        <p:spPr>
          <a:xfrm>
            <a:off x="4353458" y="3163824"/>
            <a:ext cx="1641805"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How workflows get built in the new environment. Hands-on.</a:t>
            </a:r>
            <a:endParaRPr lang="en-US" sz="800" dirty="0"/>
          </a:p>
        </p:txBody>
      </p:sp>
      <p:sp>
        <p:nvSpPr>
          <p:cNvPr id="236" name="ilabel 236"/>
          <p:cNvSpPr/>
          <p:nvPr/>
        </p:nvSpPr>
        <p:spPr>
          <a:xfrm>
            <a:off x="4353458" y="3602736"/>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Notebook development</a:t>
            </a:r>
            <a:endParaRPr lang="en-US" sz="920" dirty="0"/>
          </a:p>
        </p:txBody>
      </p:sp>
      <p:sp>
        <p:nvSpPr>
          <p:cNvPr id="237" name="idesc 237"/>
          <p:cNvSpPr/>
          <p:nvPr/>
        </p:nvSpPr>
        <p:spPr>
          <a:xfrm>
            <a:off x="4353458" y="3822191"/>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Notebooks as the primary build pattern, ETL and orchestration</a:t>
            </a:r>
            <a:endParaRPr lang="en-US" sz="860" dirty="0"/>
          </a:p>
        </p:txBody>
      </p:sp>
      <p:sp>
        <p:nvSpPr>
          <p:cNvPr id="238" name="ilabel 238"/>
          <p:cNvSpPr/>
          <p:nvPr/>
        </p:nvSpPr>
        <p:spPr>
          <a:xfrm>
            <a:off x="4353458" y="4178808"/>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Alteryx to notebooks</a:t>
            </a:r>
            <a:endParaRPr lang="en-US" sz="920" dirty="0"/>
          </a:p>
        </p:txBody>
      </p:sp>
      <p:sp>
        <p:nvSpPr>
          <p:cNvPr id="239" name="idesc 239"/>
          <p:cNvSpPr/>
          <p:nvPr/>
        </p:nvSpPr>
        <p:spPr>
          <a:xfrm>
            <a:off x="4353458" y="4398264"/>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How common Alteryx steps translate into notebook logic</a:t>
            </a:r>
            <a:endParaRPr lang="en-US" sz="860" dirty="0"/>
          </a:p>
        </p:txBody>
      </p:sp>
      <p:sp>
        <p:nvSpPr>
          <p:cNvPr id="240" name="ilabel 240"/>
          <p:cNvSpPr/>
          <p:nvPr/>
        </p:nvSpPr>
        <p:spPr>
          <a:xfrm>
            <a:off x="4353458" y="4754880"/>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Lab: migrate a workflow</a:t>
            </a:r>
            <a:endParaRPr lang="en-US" sz="920" dirty="0"/>
          </a:p>
        </p:txBody>
      </p:sp>
      <p:sp>
        <p:nvSpPr>
          <p:cNvPr id="241" name="idesc 241"/>
          <p:cNvSpPr/>
          <p:nvPr/>
        </p:nvSpPr>
        <p:spPr>
          <a:xfrm>
            <a:off x="4353458" y="4974336"/>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Guided migration of a prepared Alteryx workflow into Fabric</a:t>
            </a:r>
            <a:endParaRPr lang="en-US" sz="860" dirty="0"/>
          </a:p>
        </p:txBody>
      </p:sp>
      <p:sp>
        <p:nvSpPr>
          <p:cNvPr id="242" name="num 242"/>
          <p:cNvSpPr/>
          <p:nvPr/>
        </p:nvSpPr>
        <p:spPr>
          <a:xfrm>
            <a:off x="6196431" y="2212848"/>
            <a:ext cx="1641805"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04</a:t>
            </a:r>
            <a:endParaRPr lang="en-US" sz="2700" dirty="0"/>
          </a:p>
        </p:txBody>
      </p:sp>
      <p:sp>
        <p:nvSpPr>
          <p:cNvPr id="243" name="mtitle 243"/>
          <p:cNvSpPr/>
          <p:nvPr/>
        </p:nvSpPr>
        <p:spPr>
          <a:xfrm>
            <a:off x="6196431" y="2633472"/>
            <a:ext cx="1641805" cy="512064"/>
          </a:xfrm>
          <a:prstGeom prst="rect">
            <a:avLst/>
          </a:prstGeom>
          <a:noFill/>
          <a:ln/>
        </p:spPr>
        <p:txBody>
          <a:bodyPr wrap="square" lIns="0" tIns="0" rIns="0" bIns="0" rtlCol="0" anchor="ctr"/>
          <a:lstStyle/>
          <a:p>
            <a:pPr marL="0" indent="0">
              <a:lnSpc>
                <a:spcPts val="1500"/>
              </a:lnSpc>
              <a:buNone/>
            </a:pPr>
            <a:r>
              <a:rPr lang="en-US" sz="1150" b="1" dirty="0">
                <a:solidFill>
                  <a:srgbClr val="0B2265"/>
                </a:solidFill>
                <a:latin typeface="Arial" pitchFamily="34" charset="0"/>
                <a:ea typeface="Arial" pitchFamily="34" charset="-122"/>
                <a:cs typeface="Arial" pitchFamily="34" charset="-120"/>
              </a:rPr>
              <a:t>User Experience &amp;</a:t>
            </a:r>
            <a:endParaRPr lang="en-US" sz="1150" dirty="0"/>
          </a:p>
          <a:p>
            <a:pPr marL="0" indent="0">
              <a:lnSpc>
                <a:spcPts val="1500"/>
              </a:lnSpc>
              <a:buNone/>
            </a:pPr>
            <a:r>
              <a:rPr lang="en-US" sz="1150" b="1" dirty="0">
                <a:solidFill>
                  <a:srgbClr val="0B2265"/>
                </a:solidFill>
                <a:latin typeface="Arial" pitchFamily="34" charset="0"/>
                <a:ea typeface="Arial" pitchFamily="34" charset="-122"/>
                <a:cs typeface="Arial" pitchFamily="34" charset="-120"/>
              </a:rPr>
              <a:t>Consumption</a:t>
            </a:r>
            <a:endParaRPr lang="en-US" sz="1150" dirty="0"/>
          </a:p>
        </p:txBody>
      </p:sp>
      <p:sp>
        <p:nvSpPr>
          <p:cNvPr id="244" name="msub 244"/>
          <p:cNvSpPr/>
          <p:nvPr/>
        </p:nvSpPr>
        <p:spPr>
          <a:xfrm>
            <a:off x="6196431" y="3163824"/>
            <a:ext cx="1641805"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How the tax organization and business reaches what gets built. Hands-on.</a:t>
            </a:r>
            <a:endParaRPr lang="en-US" sz="800" dirty="0"/>
          </a:p>
        </p:txBody>
      </p:sp>
      <p:sp>
        <p:nvSpPr>
          <p:cNvPr id="245" name="ilabel 245"/>
          <p:cNvSpPr/>
          <p:nvPr/>
        </p:nvSpPr>
        <p:spPr>
          <a:xfrm>
            <a:off x="6196431" y="3602736"/>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Portal-driven execution</a:t>
            </a:r>
            <a:endParaRPr lang="en-US" sz="920" dirty="0"/>
          </a:p>
        </p:txBody>
      </p:sp>
      <p:sp>
        <p:nvSpPr>
          <p:cNvPr id="246" name="idesc 246"/>
          <p:cNvSpPr/>
          <p:nvPr/>
        </p:nvSpPr>
        <p:spPr>
          <a:xfrm>
            <a:off x="6196431" y="3822191"/>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Users enter inputs, notebooks run in the background</a:t>
            </a:r>
            <a:endParaRPr lang="en-US" sz="860" dirty="0"/>
          </a:p>
        </p:txBody>
      </p:sp>
      <p:sp>
        <p:nvSpPr>
          <p:cNvPr id="247" name="ilabel 247"/>
          <p:cNvSpPr/>
          <p:nvPr/>
        </p:nvSpPr>
        <p:spPr>
          <a:xfrm>
            <a:off x="6196431" y="4178808"/>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Reporting and Power BI</a:t>
            </a:r>
            <a:endParaRPr lang="en-US" sz="920" dirty="0"/>
          </a:p>
        </p:txBody>
      </p:sp>
      <p:sp>
        <p:nvSpPr>
          <p:cNvPr id="248" name="idesc 248"/>
          <p:cNvSpPr/>
          <p:nvPr/>
        </p:nvSpPr>
        <p:spPr>
          <a:xfrm>
            <a:off x="6196431" y="4398264"/>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Getting workflow output into Power BI and Power Query</a:t>
            </a:r>
            <a:endParaRPr lang="en-US" sz="860" dirty="0"/>
          </a:p>
        </p:txBody>
      </p:sp>
      <p:sp>
        <p:nvSpPr>
          <p:cNvPr id="249" name="ilabel 249"/>
          <p:cNvSpPr/>
          <p:nvPr/>
        </p:nvSpPr>
        <p:spPr>
          <a:xfrm>
            <a:off x="6196431" y="4754880"/>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Lab: add a front door</a:t>
            </a:r>
            <a:endParaRPr lang="en-US" sz="920" dirty="0"/>
          </a:p>
        </p:txBody>
      </p:sp>
      <p:sp>
        <p:nvSpPr>
          <p:cNvPr id="250" name="idesc 250"/>
          <p:cNvSpPr/>
          <p:nvPr/>
        </p:nvSpPr>
        <p:spPr>
          <a:xfrm>
            <a:off x="6196431" y="4974336"/>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Give your lab workflow inputs, a trigger and an output</a:t>
            </a:r>
            <a:endParaRPr lang="en-US" sz="860" dirty="0"/>
          </a:p>
        </p:txBody>
      </p:sp>
      <p:sp>
        <p:nvSpPr>
          <p:cNvPr id="251" name="num 251"/>
          <p:cNvSpPr/>
          <p:nvPr/>
        </p:nvSpPr>
        <p:spPr>
          <a:xfrm>
            <a:off x="8249716" y="2212848"/>
            <a:ext cx="1641805"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05</a:t>
            </a:r>
            <a:endParaRPr lang="en-US" sz="2700" dirty="0"/>
          </a:p>
        </p:txBody>
      </p:sp>
      <p:sp>
        <p:nvSpPr>
          <p:cNvPr id="252" name="mtitle 252"/>
          <p:cNvSpPr/>
          <p:nvPr/>
        </p:nvSpPr>
        <p:spPr>
          <a:xfrm>
            <a:off x="8249716" y="2633472"/>
            <a:ext cx="1641805" cy="512064"/>
          </a:xfrm>
          <a:prstGeom prst="rect">
            <a:avLst/>
          </a:prstGeom>
          <a:noFill/>
          <a:ln/>
        </p:spPr>
        <p:txBody>
          <a:bodyPr wrap="square" lIns="0" tIns="0" rIns="0" bIns="0" rtlCol="0" anchor="ctr"/>
          <a:lstStyle/>
          <a:p>
            <a:pPr marL="0" indent="0">
              <a:lnSpc>
                <a:spcPts val="1500"/>
              </a:lnSpc>
              <a:buNone/>
            </a:pPr>
            <a:r>
              <a:rPr lang="en-US" sz="1150" b="1" dirty="0">
                <a:solidFill>
                  <a:srgbClr val="0B2265"/>
                </a:solidFill>
                <a:latin typeface="Arial" pitchFamily="34" charset="0"/>
                <a:ea typeface="Arial" pitchFamily="34" charset="-122"/>
                <a:cs typeface="Arial" pitchFamily="34" charset="-120"/>
              </a:rPr>
              <a:t>DevOps, Governance</a:t>
            </a:r>
            <a:endParaRPr lang="en-US" sz="1150" dirty="0"/>
          </a:p>
          <a:p>
            <a:pPr marL="0" indent="0">
              <a:lnSpc>
                <a:spcPts val="1500"/>
              </a:lnSpc>
              <a:buNone/>
            </a:pPr>
            <a:r>
              <a:rPr lang="en-US" sz="1150" b="1" dirty="0">
                <a:solidFill>
                  <a:srgbClr val="0B2265"/>
                </a:solidFill>
                <a:latin typeface="Arial" pitchFamily="34" charset="0"/>
                <a:ea typeface="Arial" pitchFamily="34" charset="-122"/>
                <a:cs typeface="Arial" pitchFamily="34" charset="-120"/>
              </a:rPr>
              <a:t>&amp; Deployment</a:t>
            </a:r>
            <a:endParaRPr lang="en-US" sz="1150" dirty="0"/>
          </a:p>
        </p:txBody>
      </p:sp>
      <p:sp>
        <p:nvSpPr>
          <p:cNvPr id="253" name="msub 253"/>
          <p:cNvSpPr/>
          <p:nvPr/>
        </p:nvSpPr>
        <p:spPr>
          <a:xfrm>
            <a:off x="8249716" y="3163824"/>
            <a:ext cx="1641805"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How changes get shipped once solutions are live. Labs continue.</a:t>
            </a:r>
            <a:endParaRPr lang="en-US" sz="800" dirty="0"/>
          </a:p>
        </p:txBody>
      </p:sp>
      <p:sp>
        <p:nvSpPr>
          <p:cNvPr id="254" name="ilabel 254"/>
          <p:cNvSpPr/>
          <p:nvPr/>
        </p:nvSpPr>
        <p:spPr>
          <a:xfrm>
            <a:off x="8249716" y="3602736"/>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Git fundamentals</a:t>
            </a:r>
            <a:endParaRPr lang="en-US" sz="920" dirty="0"/>
          </a:p>
        </p:txBody>
      </p:sp>
      <p:sp>
        <p:nvSpPr>
          <p:cNvPr id="255" name="idesc 255"/>
          <p:cNvSpPr/>
          <p:nvPr/>
        </p:nvSpPr>
        <p:spPr>
          <a:xfrm>
            <a:off x="8249716" y="3822191"/>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Source control and branching, assuming no prior experience</a:t>
            </a:r>
            <a:endParaRPr lang="en-US" sz="860" dirty="0"/>
          </a:p>
        </p:txBody>
      </p:sp>
      <p:sp>
        <p:nvSpPr>
          <p:cNvPr id="256" name="ilabel 256"/>
          <p:cNvSpPr/>
          <p:nvPr/>
        </p:nvSpPr>
        <p:spPr>
          <a:xfrm>
            <a:off x="8249716" y="4178808"/>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Deployment patterns</a:t>
            </a:r>
            <a:endParaRPr lang="en-US" sz="920" dirty="0"/>
          </a:p>
        </p:txBody>
      </p:sp>
      <p:sp>
        <p:nvSpPr>
          <p:cNvPr id="257" name="idesc 257"/>
          <p:cNvSpPr/>
          <p:nvPr/>
        </p:nvSpPr>
        <p:spPr>
          <a:xfrm>
            <a:off x="8249716" y="4398264"/>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Pipelines, environments, and promoting between workspaces</a:t>
            </a:r>
            <a:endParaRPr lang="en-US" sz="860" dirty="0"/>
          </a:p>
        </p:txBody>
      </p:sp>
      <p:sp>
        <p:nvSpPr>
          <p:cNvPr id="258" name="ilabel 258"/>
          <p:cNvSpPr/>
          <p:nvPr/>
        </p:nvSpPr>
        <p:spPr>
          <a:xfrm>
            <a:off x="8249716" y="4754880"/>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Lab: ship what you built</a:t>
            </a:r>
            <a:endParaRPr lang="en-US" sz="920" dirty="0"/>
          </a:p>
        </p:txBody>
      </p:sp>
      <p:sp>
        <p:nvSpPr>
          <p:cNvPr id="259" name="idesc 259"/>
          <p:cNvSpPr/>
          <p:nvPr/>
        </p:nvSpPr>
        <p:spPr>
          <a:xfrm>
            <a:off x="8249716" y="4974336"/>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Put the lab workflow under source control and promote it</a:t>
            </a:r>
            <a:endParaRPr lang="en-US" sz="860" dirty="0"/>
          </a:p>
        </p:txBody>
      </p:sp>
      <p:sp>
        <p:nvSpPr>
          <p:cNvPr id="260" name="num 260"/>
          <p:cNvSpPr/>
          <p:nvPr/>
        </p:nvSpPr>
        <p:spPr>
          <a:xfrm>
            <a:off x="10092690" y="2212848"/>
            <a:ext cx="1641805" cy="384048"/>
          </a:xfrm>
          <a:prstGeom prst="rect">
            <a:avLst/>
          </a:prstGeom>
          <a:noFill/>
          <a:ln/>
        </p:spPr>
        <p:txBody>
          <a:bodyPr wrap="square" lIns="0" tIns="0" rIns="0" bIns="0" rtlCol="0" anchor="ctr"/>
          <a:lstStyle/>
          <a:p>
            <a:pPr marL="0" indent="0">
              <a:buNone/>
            </a:pPr>
            <a:r>
              <a:rPr lang="en-US" sz="2700" b="1" dirty="0">
                <a:solidFill>
                  <a:srgbClr val="1E49E2"/>
                </a:solidFill>
                <a:latin typeface="Arial" pitchFamily="34" charset="0"/>
                <a:ea typeface="Arial" pitchFamily="34" charset="-122"/>
                <a:cs typeface="Arial" pitchFamily="34" charset="-120"/>
              </a:rPr>
              <a:t>06</a:t>
            </a:r>
            <a:endParaRPr lang="en-US" sz="2700" dirty="0"/>
          </a:p>
        </p:txBody>
      </p:sp>
      <p:sp>
        <p:nvSpPr>
          <p:cNvPr id="261" name="mtitle 261"/>
          <p:cNvSpPr/>
          <p:nvPr/>
        </p:nvSpPr>
        <p:spPr>
          <a:xfrm>
            <a:off x="10092690" y="2633472"/>
            <a:ext cx="1641805" cy="512064"/>
          </a:xfrm>
          <a:prstGeom prst="rect">
            <a:avLst/>
          </a:prstGeom>
          <a:noFill/>
          <a:ln/>
        </p:spPr>
        <p:txBody>
          <a:bodyPr wrap="square" lIns="0" tIns="0" rIns="0" bIns="0" rtlCol="0" anchor="ctr"/>
          <a:lstStyle/>
          <a:p>
            <a:pPr marL="0" indent="0">
              <a:lnSpc>
                <a:spcPts val="1500"/>
              </a:lnSpc>
              <a:buNone/>
            </a:pPr>
            <a:r>
              <a:rPr lang="en-US" sz="1150" b="1" dirty="0">
                <a:solidFill>
                  <a:srgbClr val="0B2265"/>
                </a:solidFill>
                <a:latin typeface="Arial" pitchFamily="34" charset="0"/>
                <a:ea typeface="Arial" pitchFamily="34" charset="-122"/>
                <a:cs typeface="Arial" pitchFamily="34" charset="-120"/>
              </a:rPr>
              <a:t>Taking Applications</a:t>
            </a:r>
            <a:endParaRPr lang="en-US" sz="1150" dirty="0"/>
          </a:p>
          <a:p>
            <a:pPr marL="0" indent="0">
              <a:lnSpc>
                <a:spcPts val="1500"/>
              </a:lnSpc>
              <a:buNone/>
            </a:pPr>
            <a:r>
              <a:rPr lang="en-US" sz="1150" b="1" dirty="0">
                <a:solidFill>
                  <a:srgbClr val="0B2265"/>
                </a:solidFill>
                <a:latin typeface="Arial" pitchFamily="34" charset="0"/>
                <a:ea typeface="Arial" pitchFamily="34" charset="-122"/>
                <a:cs typeface="Arial" pitchFamily="34" charset="-120"/>
              </a:rPr>
              <a:t>to Production</a:t>
            </a:r>
            <a:endParaRPr lang="en-US" sz="1150" dirty="0"/>
          </a:p>
        </p:txBody>
      </p:sp>
      <p:sp>
        <p:nvSpPr>
          <p:cNvPr id="262" name="msub 262"/>
          <p:cNvSpPr/>
          <p:nvPr/>
        </p:nvSpPr>
        <p:spPr>
          <a:xfrm>
            <a:off x="10092690" y="3163824"/>
            <a:ext cx="1641805" cy="420624"/>
          </a:xfrm>
          <a:prstGeom prst="rect">
            <a:avLst/>
          </a:prstGeom>
          <a:noFill/>
          <a:ln/>
        </p:spPr>
        <p:txBody>
          <a:bodyPr wrap="square" lIns="0" tIns="0" rIns="0" bIns="0" rtlCol="0" anchor="ctr"/>
          <a:lstStyle/>
          <a:p>
            <a:pPr marL="0" indent="0">
              <a:lnSpc>
                <a:spcPts val="1000"/>
              </a:lnSpc>
              <a:buNone/>
            </a:pPr>
            <a:r>
              <a:rPr lang="en-US" sz="800" dirty="0">
                <a:solidFill>
                  <a:srgbClr val="5A6472"/>
                </a:solidFill>
                <a:latin typeface="Arial" pitchFamily="34" charset="0"/>
                <a:ea typeface="Arial" pitchFamily="34" charset="-122"/>
                <a:cs typeface="Arial" pitchFamily="34" charset="-120"/>
              </a:rPr>
              <a:t>The twelve steps from a working build to production, and who owns each.</a:t>
            </a:r>
            <a:endParaRPr lang="en-US" sz="800" dirty="0"/>
          </a:p>
        </p:txBody>
      </p:sp>
      <p:sp>
        <p:nvSpPr>
          <p:cNvPr id="263" name="ilabel 263"/>
          <p:cNvSpPr/>
          <p:nvPr/>
        </p:nvSpPr>
        <p:spPr>
          <a:xfrm>
            <a:off x="10092690" y="3602736"/>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The Paved Path</a:t>
            </a:r>
            <a:endParaRPr lang="en-US" sz="920" dirty="0"/>
          </a:p>
        </p:txBody>
      </p:sp>
      <p:sp>
        <p:nvSpPr>
          <p:cNvPr id="264" name="idesc 264"/>
          <p:cNvSpPr/>
          <p:nvPr/>
        </p:nvSpPr>
        <p:spPr>
          <a:xfrm>
            <a:off x="10092690" y="3822191"/>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Infra setup to HCL handoff, and where it gets stuck</a:t>
            </a:r>
            <a:endParaRPr lang="en-US" sz="860" dirty="0"/>
          </a:p>
        </p:txBody>
      </p:sp>
      <p:sp>
        <p:nvSpPr>
          <p:cNvPr id="265" name="ilabel 265"/>
          <p:cNvSpPr/>
          <p:nvPr/>
        </p:nvSpPr>
        <p:spPr>
          <a:xfrm>
            <a:off x="10092690" y="4178808"/>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Who you need, and when</a:t>
            </a:r>
            <a:endParaRPr lang="en-US" sz="920" dirty="0"/>
          </a:p>
        </p:txBody>
      </p:sp>
      <p:sp>
        <p:nvSpPr>
          <p:cNvPr id="266" name="idesc 266"/>
          <p:cNvSpPr/>
          <p:nvPr/>
        </p:nvSpPr>
        <p:spPr>
          <a:xfrm>
            <a:off x="10092690" y="4398264"/>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BAPPID, ESIS, consents, AI intake and email relay</a:t>
            </a:r>
            <a:endParaRPr lang="en-US" sz="860" dirty="0"/>
          </a:p>
        </p:txBody>
      </p:sp>
      <p:sp>
        <p:nvSpPr>
          <p:cNvPr id="267" name="ilabel 267"/>
          <p:cNvSpPr/>
          <p:nvPr/>
        </p:nvSpPr>
        <p:spPr>
          <a:xfrm>
            <a:off x="10092690" y="4754880"/>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The long poles</a:t>
            </a:r>
            <a:endParaRPr lang="en-US" sz="920" dirty="0"/>
          </a:p>
        </p:txBody>
      </p:sp>
      <p:sp>
        <p:nvSpPr>
          <p:cNvPr id="268" name="idesc 268"/>
          <p:cNvSpPr/>
          <p:nvPr/>
        </p:nvSpPr>
        <p:spPr>
          <a:xfrm>
            <a:off x="10092690" y="4974336"/>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ESIS is five sequential reviews over four to eight weeks</a:t>
            </a:r>
            <a:endParaRPr lang="en-US" sz="860" dirty="0"/>
          </a:p>
        </p:txBody>
      </p:sp>
      <p:sp>
        <p:nvSpPr>
          <p:cNvPr id="269" name="ilabel 269"/>
          <p:cNvSpPr/>
          <p:nvPr/>
        </p:nvSpPr>
        <p:spPr>
          <a:xfrm>
            <a:off x="10092690" y="5330952"/>
            <a:ext cx="1641805" cy="237744"/>
          </a:xfrm>
          <a:prstGeom prst="rect">
            <a:avLst/>
          </a:prstGeom>
          <a:noFill/>
          <a:ln/>
        </p:spPr>
        <p:txBody>
          <a:bodyPr wrap="square" lIns="0" tIns="0" rIns="0" bIns="0" rtlCol="0" anchor="ctr"/>
          <a:lstStyle/>
          <a:p>
            <a:pPr marL="0" indent="0">
              <a:lnSpc>
                <a:spcPts val="1080"/>
              </a:lnSpc>
              <a:buNone/>
            </a:pPr>
            <a:r>
              <a:rPr lang="en-US" sz="920" b="1" dirty="0">
                <a:solidFill>
                  <a:srgbClr val="1A1A2E"/>
                </a:solidFill>
                <a:latin typeface="Arial" pitchFamily="34" charset="0"/>
                <a:ea typeface="Arial" pitchFamily="34" charset="-122"/>
                <a:cs typeface="Arial" pitchFamily="34" charset="-120"/>
              </a:rPr>
              <a:t>UAT through to go-live</a:t>
            </a:r>
            <a:endParaRPr lang="en-US" sz="920" dirty="0"/>
          </a:p>
        </p:txBody>
      </p:sp>
      <p:sp>
        <p:nvSpPr>
          <p:cNvPr id="270" name="idesc 270"/>
          <p:cNvSpPr/>
          <p:nvPr/>
        </p:nvSpPr>
        <p:spPr>
          <a:xfrm>
            <a:off x="10092690" y="5550408"/>
            <a:ext cx="1641805" cy="402336"/>
          </a:xfrm>
          <a:prstGeom prst="rect">
            <a:avLst/>
          </a:prstGeom>
          <a:noFill/>
          <a:ln/>
        </p:spPr>
        <p:txBody>
          <a:bodyPr wrap="square" lIns="0" tIns="0" rIns="0" bIns="0" rtlCol="0" anchor="ctr"/>
          <a:lstStyle/>
          <a:p>
            <a:pPr marL="0" indent="0">
              <a:lnSpc>
                <a:spcPts val="1060"/>
              </a:lnSpc>
              <a:buNone/>
            </a:pPr>
            <a:r>
              <a:rPr lang="en-US" sz="860" dirty="0">
                <a:solidFill>
                  <a:srgbClr val="000000"/>
                </a:solidFill>
                <a:latin typeface="Arial" pitchFamily="34" charset="0"/>
                <a:ea typeface="Arial" pitchFamily="34" charset="-122"/>
                <a:cs typeface="Arial" pitchFamily="34" charset="-120"/>
              </a:rPr>
              <a:t>Acceptance in TEST, sign-off, then verifying the running app</a:t>
            </a:r>
            <a:endParaRPr lang="en-US" sz="860" dirty="0"/>
          </a:p>
        </p:txBody>
      </p:sp>
      <p:sp>
        <p:nvSpPr>
          <p:cNvPr id="67" name="Text 65"/>
          <p:cNvSpPr/>
          <p:nvPr/>
        </p:nvSpPr>
        <p:spPr>
          <a:xfrm>
            <a:off x="457200" y="5870448"/>
            <a:ext cx="11274552" cy="457200"/>
          </a:xfrm>
          <a:prstGeom prst="rect">
            <a:avLst/>
          </a:prstGeom>
          <a:noFill/>
          <a:ln/>
        </p:spPr>
        <p:txBody>
          <a:bodyPr wrap="square" lIns="0" tIns="0" rIns="0" bIns="0" rtlCol="0" anchor="ctr"/>
          <a:lstStyle/>
          <a:p>
            <a:pPr marL="0" indent="0">
              <a:lnSpc>
                <a:spcPts val="1000"/>
              </a:lnSpc>
              <a:buNone/>
            </a:pPr>
            <a:r>
              <a:rPr lang="en-US" sz="800" i="1" dirty="0">
                <a:solidFill>
                  <a:srgbClr val="5A6472"/>
                </a:solidFill>
                <a:latin typeface="Arial" pitchFamily="34" charset="0"/>
                <a:ea typeface="Arial" pitchFamily="34" charset="-122"/>
                <a:cs typeface="Arial" pitchFamily="34" charset="-120"/>
              </a:rPr>
              <a:t>Labs are structured and guided, built on representative Alteryx-to-Fabric migration scenarios in Disney's Fabric and Azure DevOps environments so no one gets blocked on a one-off workflow issue. Bring-your-own-workflow migration is handled in a separate Disney working session. Module 06 covers the existing TDMI delivery process, so the training reinforces the standard rather than introducing a second one. Attendees must be pre-credentialed before day one.</a:t>
            </a:r>
            <a:endParaRPr lang="en-US" sz="800" dirty="0"/>
          </a:p>
        </p:txBody>
      </p:sp>
      <p:sp>
        <p:nvSpPr>
          <p:cNvPr id="68" name="Shape 66"/>
          <p:cNvSpPr/>
          <p:nvPr/>
        </p:nvSpPr>
        <p:spPr>
          <a:xfrm>
            <a:off x="0" y="6382512"/>
            <a:ext cx="12188952" cy="475488"/>
          </a:xfrm>
          <a:prstGeom prst="rect">
            <a:avLst/>
          </a:prstGeom>
          <a:solidFill>
            <a:srgbClr val="00338D"/>
          </a:solidFill>
          <a:ln/>
        </p:spPr>
        <p:txBody>
          <a:bodyPr/>
          <a:lstStyle/>
          <a:p>
            <a:endParaRPr lang="en-US"/>
          </a:p>
        </p:txBody>
      </p:sp>
      <p:sp>
        <p:nvSpPr>
          <p:cNvPr id="69" name="Text 67"/>
          <p:cNvSpPr/>
          <p:nvPr/>
        </p:nvSpPr>
        <p:spPr>
          <a:xfrm>
            <a:off x="457200" y="6492240"/>
            <a:ext cx="8229600" cy="256032"/>
          </a:xfrm>
          <a:prstGeom prst="rect">
            <a:avLst/>
          </a:prstGeom>
          <a:noFill/>
          <a:ln/>
        </p:spPr>
        <p:txBody>
          <a:bodyPr wrap="square" lIns="0" tIns="0" rIns="0" bIns="0" rtlCol="0" anchor="ctr"/>
          <a:lstStyle/>
          <a:p>
            <a:pPr marL="0" indent="0">
              <a:buNone/>
            </a:pPr>
            <a:r>
              <a:rPr lang="en-US" sz="900" dirty="0">
                <a:solidFill>
                  <a:srgbClr val="FFFFFF"/>
                </a:solidFill>
                <a:latin typeface="Arial" pitchFamily="34" charset="0"/>
                <a:ea typeface="Arial" pitchFamily="34" charset="-122"/>
                <a:cs typeface="Arial" pitchFamily="34" charset="-120"/>
              </a:rPr>
              <a:t>Delivered on-site at a Disney facility.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0338D"/>
          </a:solidFill>
          <a:ln/>
        </p:spPr>
        <p:txBody>
          <a:bodyPr/>
          <a:lstStyle/>
          <a:p>
            <a:endParaRPr lang="en-US"/>
          </a:p>
        </p:txBody>
      </p:sp>
      <p:sp>
        <p:nvSpPr>
          <p:cNvPr id="3" name="Text 1"/>
          <p:cNvSpPr/>
          <p:nvPr/>
        </p:nvSpPr>
        <p:spPr>
          <a:xfrm>
            <a:off x="457200" y="118872"/>
            <a:ext cx="8138160" cy="694944"/>
          </a:xfrm>
          <a:prstGeom prst="rect">
            <a:avLst/>
          </a:prstGeom>
          <a:noFill/>
          <a:ln/>
        </p:spPr>
        <p:txBody>
          <a:bodyPr wrap="square" lIns="0" tIns="0" rIns="0" bIns="0" rtlCol="0" anchor="ctr"/>
          <a:lstStyle/>
          <a:p>
            <a:pPr marL="0" indent="0">
              <a:lnSpc>
                <a:spcPts val="2200"/>
              </a:lnSpc>
              <a:buNone/>
            </a:pPr>
            <a:r>
              <a:rPr lang="en-US" sz="1800" b="1">
                <a:solidFill>
                  <a:srgbClr val="FFFFFF"/>
                </a:solidFill>
                <a:latin typeface="Arial" pitchFamily="34" charset="0"/>
                <a:ea typeface="Arial" pitchFamily="34" charset="-122"/>
                <a:cs typeface="Arial" pitchFamily="34" charset="-120"/>
              </a:rPr>
              <a:t>Microsoft Fabric &amp; DevOps enablement</a:t>
            </a:r>
            <a:endParaRPr lang="en-US" sz="1800"/>
          </a:p>
          <a:p>
            <a:pPr marL="0" indent="0">
              <a:lnSpc>
                <a:spcPts val="2200"/>
              </a:lnSpc>
              <a:buNone/>
            </a:pPr>
            <a:r>
              <a:rPr lang="en-US" sz="1800" b="1">
                <a:solidFill>
                  <a:srgbClr val="FFFFFF"/>
                </a:solidFill>
                <a:latin typeface="Arial" pitchFamily="34" charset="0"/>
                <a:ea typeface="Arial" pitchFamily="34" charset="-122"/>
                <a:cs typeface="Arial" pitchFamily="34" charset="-120"/>
              </a:rPr>
              <a:t>Proposed agenda  ·  two days, extending to three if needed</a:t>
            </a:r>
            <a:endParaRPr lang="en-US" sz="1800"/>
          </a:p>
        </p:txBody>
      </p:sp>
      <p:sp>
        <p:nvSpPr>
          <p:cNvPr id="4" name="Text 2"/>
          <p:cNvSpPr/>
          <p:nvPr/>
        </p:nvSpPr>
        <p:spPr>
          <a:xfrm>
            <a:off x="8229600" y="329184"/>
            <a:ext cx="3502152" cy="274320"/>
          </a:xfrm>
          <a:prstGeom prst="rect">
            <a:avLst/>
          </a:prstGeom>
          <a:noFill/>
          <a:ln/>
        </p:spPr>
        <p:txBody>
          <a:bodyPr wrap="square" lIns="0" tIns="0" rIns="0" bIns="0" rtlCol="0" anchor="ctr"/>
          <a:lstStyle/>
          <a:p>
            <a:pPr marL="0" indent="0" algn="r">
              <a:buNone/>
            </a:pPr>
            <a:r>
              <a:rPr lang="en-US" sz="1050" b="1">
                <a:solidFill>
                  <a:srgbClr val="8FB8E8"/>
                </a:solidFill>
                <a:latin typeface="Arial" pitchFamily="34" charset="0"/>
                <a:ea typeface="Arial" pitchFamily="34" charset="-122"/>
                <a:cs typeface="Arial" pitchFamily="34" charset="-120"/>
              </a:rPr>
              <a:t>KPMG  ·  Disney Tax Data Management &amp; Innovation</a:t>
            </a:r>
            <a:endParaRPr lang="en-US" sz="1050"/>
          </a:p>
        </p:txBody>
      </p:sp>
      <p:sp>
        <p:nvSpPr>
          <p:cNvPr id="5" name="Shape 3"/>
          <p:cNvSpPr/>
          <p:nvPr/>
        </p:nvSpPr>
        <p:spPr>
          <a:xfrm>
            <a:off x="457200" y="1042416"/>
            <a:ext cx="11274552" cy="274320"/>
          </a:xfrm>
          <a:prstGeom prst="rect">
            <a:avLst/>
          </a:prstGeom>
          <a:solidFill>
            <a:srgbClr val="F4F7FB"/>
          </a:solidFill>
          <a:ln/>
        </p:spPr>
        <p:txBody>
          <a:bodyPr/>
          <a:lstStyle/>
          <a:p>
            <a:endParaRPr lang="en-US"/>
          </a:p>
        </p:txBody>
      </p:sp>
      <p:sp>
        <p:nvSpPr>
          <p:cNvPr id="6" name="Shape 4"/>
          <p:cNvSpPr/>
          <p:nvPr/>
        </p:nvSpPr>
        <p:spPr>
          <a:xfrm>
            <a:off x="457200" y="1042416"/>
            <a:ext cx="41148" cy="274320"/>
          </a:xfrm>
          <a:prstGeom prst="rect">
            <a:avLst/>
          </a:prstGeom>
          <a:solidFill>
            <a:srgbClr val="1E49E2"/>
          </a:solidFill>
          <a:ln/>
        </p:spPr>
        <p:txBody>
          <a:bodyPr/>
          <a:lstStyle/>
          <a:p>
            <a:endParaRPr lang="en-US"/>
          </a:p>
        </p:txBody>
      </p:sp>
      <p:sp>
        <p:nvSpPr>
          <p:cNvPr id="7" name="Text 5"/>
          <p:cNvSpPr/>
          <p:nvPr/>
        </p:nvSpPr>
        <p:spPr>
          <a:xfrm>
            <a:off x="603504" y="1083564"/>
            <a:ext cx="10981944" cy="201168"/>
          </a:xfrm>
          <a:prstGeom prst="rect">
            <a:avLst/>
          </a:prstGeom>
          <a:noFill/>
          <a:ln/>
        </p:spPr>
        <p:txBody>
          <a:bodyPr wrap="square" lIns="0" tIns="0" rIns="0" bIns="0" rtlCol="0" anchor="ctr"/>
          <a:lstStyle/>
          <a:p>
            <a:pPr marL="0" indent="0">
              <a:buNone/>
            </a:pPr>
            <a:r>
              <a:rPr lang="en-US" sz="940" b="1">
                <a:solidFill>
                  <a:srgbClr val="0B2265"/>
                </a:solidFill>
                <a:latin typeface="Arial" pitchFamily="34" charset="0"/>
                <a:ea typeface="Arial" pitchFamily="34" charset="-122"/>
                <a:cs typeface="Arial" pitchFamily="34" charset="-120"/>
              </a:rPr>
              <a:t>Scoped as two days. </a:t>
            </a:r>
            <a:r>
              <a:rPr lang="en-US" sz="940">
                <a:solidFill>
                  <a:srgbClr val="0B2265"/>
                </a:solidFill>
                <a:latin typeface="Arial" pitchFamily="34" charset="0"/>
                <a:ea typeface="Arial" pitchFamily="34" charset="-122"/>
                <a:cs typeface="Arial" pitchFamily="34" charset="-120"/>
              </a:rPr>
              <a:t>This can extend into a third day as the material comes together — we would rather add time than rush the concepts.</a:t>
            </a:r>
            <a:endParaRPr lang="en-US" sz="940"/>
          </a:p>
        </p:txBody>
      </p:sp>
      <p:sp>
        <p:nvSpPr>
          <p:cNvPr id="8" name="Text 6"/>
          <p:cNvSpPr/>
          <p:nvPr/>
        </p:nvSpPr>
        <p:spPr>
          <a:xfrm>
            <a:off x="457200" y="1463040"/>
            <a:ext cx="4304995" cy="219456"/>
          </a:xfrm>
          <a:prstGeom prst="rect">
            <a:avLst/>
          </a:prstGeom>
          <a:noFill/>
          <a:ln/>
        </p:spPr>
        <p:txBody>
          <a:bodyPr wrap="square" lIns="0" tIns="0" rIns="0" bIns="0" rtlCol="0" anchor="ctr"/>
          <a:lstStyle/>
          <a:p>
            <a:pPr marL="0" indent="0">
              <a:buNone/>
            </a:pPr>
            <a:r>
              <a:rPr lang="en-US" sz="1000" b="1" kern="0" spc="100">
                <a:solidFill>
                  <a:srgbClr val="00338D"/>
                </a:solidFill>
                <a:latin typeface="Arial" pitchFamily="34" charset="0"/>
                <a:ea typeface="Arial" pitchFamily="34" charset="-122"/>
                <a:cs typeface="Arial" pitchFamily="34" charset="-120"/>
              </a:rPr>
              <a:t>DAY ONE</a:t>
            </a:r>
            <a:endParaRPr lang="en-US" sz="1000"/>
          </a:p>
        </p:txBody>
      </p:sp>
      <p:sp>
        <p:nvSpPr>
          <p:cNvPr id="9" name="Text 7"/>
          <p:cNvSpPr/>
          <p:nvPr/>
        </p:nvSpPr>
        <p:spPr>
          <a:xfrm>
            <a:off x="457200" y="1682496"/>
            <a:ext cx="4304995" cy="274320"/>
          </a:xfrm>
          <a:prstGeom prst="rect">
            <a:avLst/>
          </a:prstGeom>
          <a:noFill/>
          <a:ln/>
        </p:spPr>
        <p:txBody>
          <a:bodyPr wrap="square" lIns="0" tIns="0" rIns="0" bIns="0" rtlCol="0" anchor="ctr"/>
          <a:lstStyle/>
          <a:p>
            <a:pPr marL="0" indent="0">
              <a:buNone/>
            </a:pPr>
            <a:r>
              <a:rPr lang="en-US" sz="1400" b="1">
                <a:solidFill>
                  <a:srgbClr val="1A1A2E"/>
                </a:solidFill>
                <a:latin typeface="Arial" pitchFamily="34" charset="0"/>
                <a:ea typeface="Arial" pitchFamily="34" charset="-122"/>
                <a:cs typeface="Arial" pitchFamily="34" charset="-120"/>
              </a:rPr>
              <a:t>Foundations</a:t>
            </a:r>
            <a:endParaRPr lang="en-US" sz="1400"/>
          </a:p>
        </p:txBody>
      </p:sp>
      <p:sp>
        <p:nvSpPr>
          <p:cNvPr id="10" name="Text 8"/>
          <p:cNvSpPr/>
          <p:nvPr/>
        </p:nvSpPr>
        <p:spPr>
          <a:xfrm>
            <a:off x="457200" y="1975104"/>
            <a:ext cx="4304995" cy="402336"/>
          </a:xfrm>
          <a:prstGeom prst="rect">
            <a:avLst/>
          </a:prstGeom>
          <a:noFill/>
          <a:ln/>
        </p:spPr>
        <p:txBody>
          <a:bodyPr wrap="square" lIns="0" tIns="0" rIns="0" bIns="0" rtlCol="0" anchor="ctr"/>
          <a:lstStyle/>
          <a:p>
            <a:pPr marL="0" indent="0">
              <a:lnSpc>
                <a:spcPts val="1050"/>
              </a:lnSpc>
              <a:buNone/>
            </a:pPr>
            <a:r>
              <a:rPr lang="en-US" sz="860">
                <a:solidFill>
                  <a:srgbClr val="5A6472"/>
                </a:solidFill>
                <a:latin typeface="Arial" pitchFamily="34" charset="0"/>
                <a:ea typeface="Arial" pitchFamily="34" charset="-122"/>
                <a:cs typeface="Arial" pitchFamily="34" charset="-120"/>
              </a:rPr>
              <a:t>Shared vocabulary, then the SQL and Python baseline the team will build on.</a:t>
            </a:r>
            <a:endParaRPr lang="en-US" sz="860"/>
          </a:p>
        </p:txBody>
      </p:sp>
      <p:sp>
        <p:nvSpPr>
          <p:cNvPr id="11" name="Shape 9"/>
          <p:cNvSpPr/>
          <p:nvPr/>
        </p:nvSpPr>
        <p:spPr>
          <a:xfrm>
            <a:off x="457200" y="2377440"/>
            <a:ext cx="4304995" cy="32004"/>
          </a:xfrm>
          <a:prstGeom prst="rect">
            <a:avLst/>
          </a:prstGeom>
          <a:solidFill>
            <a:srgbClr val="00338D"/>
          </a:solidFill>
          <a:ln/>
        </p:spPr>
        <p:txBody>
          <a:bodyPr/>
          <a:lstStyle/>
          <a:p>
            <a:endParaRPr lang="en-US"/>
          </a:p>
        </p:txBody>
      </p:sp>
      <p:sp>
        <p:nvSpPr>
          <p:cNvPr id="12" name="Text 10"/>
          <p:cNvSpPr/>
          <p:nvPr/>
        </p:nvSpPr>
        <p:spPr>
          <a:xfrm>
            <a:off x="5182819" y="1463040"/>
            <a:ext cx="6548933" cy="219456"/>
          </a:xfrm>
          <a:prstGeom prst="rect">
            <a:avLst/>
          </a:prstGeom>
          <a:noFill/>
          <a:ln/>
        </p:spPr>
        <p:txBody>
          <a:bodyPr wrap="square" lIns="0" tIns="0" rIns="0" bIns="0" rtlCol="0" anchor="ctr"/>
          <a:lstStyle/>
          <a:p>
            <a:pPr marL="0" indent="0">
              <a:buNone/>
            </a:pPr>
            <a:r>
              <a:rPr lang="en-US" sz="1000" b="1" kern="0" spc="100">
                <a:solidFill>
                  <a:srgbClr val="00338D"/>
                </a:solidFill>
                <a:latin typeface="Arial" pitchFamily="34" charset="0"/>
                <a:ea typeface="Arial" pitchFamily="34" charset="-122"/>
                <a:cs typeface="Arial" pitchFamily="34" charset="-120"/>
              </a:rPr>
              <a:t>DAY TWO</a:t>
            </a:r>
            <a:endParaRPr lang="en-US" sz="1000"/>
          </a:p>
        </p:txBody>
      </p:sp>
      <p:sp>
        <p:nvSpPr>
          <p:cNvPr id="13" name="Text 11"/>
          <p:cNvSpPr/>
          <p:nvPr/>
        </p:nvSpPr>
        <p:spPr>
          <a:xfrm>
            <a:off x="5182819" y="1682496"/>
            <a:ext cx="6548933" cy="274320"/>
          </a:xfrm>
          <a:prstGeom prst="rect">
            <a:avLst/>
          </a:prstGeom>
          <a:noFill/>
          <a:ln/>
        </p:spPr>
        <p:txBody>
          <a:bodyPr wrap="square" lIns="0" tIns="0" rIns="0" bIns="0" rtlCol="0" anchor="ctr"/>
          <a:lstStyle/>
          <a:p>
            <a:pPr marL="0" indent="0">
              <a:buNone/>
            </a:pPr>
            <a:r>
              <a:rPr lang="en-US" sz="1400" b="1">
                <a:solidFill>
                  <a:srgbClr val="1A1A2E"/>
                </a:solidFill>
                <a:latin typeface="Arial" pitchFamily="34" charset="0"/>
                <a:ea typeface="Arial" pitchFamily="34" charset="-122"/>
                <a:cs typeface="Arial" pitchFamily="34" charset="-120"/>
              </a:rPr>
              <a:t>Building, shipping and consuming</a:t>
            </a:r>
            <a:endParaRPr lang="en-US" sz="1400"/>
          </a:p>
        </p:txBody>
      </p:sp>
      <p:sp>
        <p:nvSpPr>
          <p:cNvPr id="14" name="Text 12"/>
          <p:cNvSpPr/>
          <p:nvPr/>
        </p:nvSpPr>
        <p:spPr>
          <a:xfrm>
            <a:off x="5182819" y="1975104"/>
            <a:ext cx="6548933" cy="402336"/>
          </a:xfrm>
          <a:prstGeom prst="rect">
            <a:avLst/>
          </a:prstGeom>
          <a:noFill/>
          <a:ln/>
        </p:spPr>
        <p:txBody>
          <a:bodyPr wrap="square" lIns="0" tIns="0" rIns="0" bIns="0" rtlCol="0" anchor="ctr"/>
          <a:lstStyle/>
          <a:p>
            <a:pPr marL="0" indent="0">
              <a:lnSpc>
                <a:spcPts val="1050"/>
              </a:lnSpc>
              <a:buNone/>
            </a:pPr>
            <a:r>
              <a:rPr lang="en-US" sz="860">
                <a:solidFill>
                  <a:srgbClr val="5A6472"/>
                </a:solidFill>
                <a:latin typeface="Arial" pitchFamily="34" charset="0"/>
                <a:ea typeface="Arial" pitchFamily="34" charset="-122"/>
                <a:cs typeface="Arial" pitchFamily="34" charset="-120"/>
              </a:rPr>
              <a:t>Hands-on workflow development, the AI-assisted way of working, and how solutions reach production and the people who use them.</a:t>
            </a:r>
            <a:endParaRPr lang="en-US" sz="860"/>
          </a:p>
        </p:txBody>
      </p:sp>
      <p:sp>
        <p:nvSpPr>
          <p:cNvPr id="15" name="Shape 13"/>
          <p:cNvSpPr/>
          <p:nvPr/>
        </p:nvSpPr>
        <p:spPr>
          <a:xfrm>
            <a:off x="5182819" y="2377440"/>
            <a:ext cx="6548933" cy="32004"/>
          </a:xfrm>
          <a:prstGeom prst="rect">
            <a:avLst/>
          </a:prstGeom>
          <a:solidFill>
            <a:srgbClr val="00338D"/>
          </a:solidFill>
          <a:ln/>
        </p:spPr>
        <p:txBody>
          <a:bodyPr/>
          <a:lstStyle/>
          <a:p>
            <a:endParaRPr lang="en-US"/>
          </a:p>
        </p:txBody>
      </p:sp>
      <p:sp>
        <p:nvSpPr>
          <p:cNvPr id="16" name="Shape 14"/>
          <p:cNvSpPr/>
          <p:nvPr/>
        </p:nvSpPr>
        <p:spPr>
          <a:xfrm>
            <a:off x="4967021" y="1463040"/>
            <a:ext cx="10973" cy="4187952"/>
          </a:xfrm>
          <a:prstGeom prst="rect">
            <a:avLst/>
          </a:prstGeom>
          <a:solidFill>
            <a:srgbClr val="D5DCE8"/>
          </a:solidFill>
          <a:ln/>
        </p:spPr>
        <p:txBody>
          <a:bodyPr/>
          <a:lstStyle/>
          <a:p>
            <a:endParaRPr lang="en-US"/>
          </a:p>
        </p:txBody>
      </p:sp>
      <p:sp>
        <p:nvSpPr>
          <p:cNvPr id="17" name="Text 15"/>
          <p:cNvSpPr/>
          <p:nvPr/>
        </p:nvSpPr>
        <p:spPr>
          <a:xfrm>
            <a:off x="457200" y="2414016"/>
            <a:ext cx="2061058" cy="384048"/>
          </a:xfrm>
          <a:prstGeom prst="rect">
            <a:avLst/>
          </a:prstGeom>
          <a:noFill/>
          <a:ln/>
        </p:spPr>
        <p:txBody>
          <a:bodyPr wrap="square" lIns="0" tIns="0" rIns="0" bIns="0" rtlCol="0" anchor="ctr"/>
          <a:lstStyle/>
          <a:p>
            <a:pPr marL="0" indent="0">
              <a:buNone/>
            </a:pPr>
            <a:r>
              <a:rPr lang="en-US" sz="2500" b="1">
                <a:solidFill>
                  <a:srgbClr val="1E49E2"/>
                </a:solidFill>
                <a:latin typeface="Arial" pitchFamily="34" charset="0"/>
                <a:ea typeface="Arial" pitchFamily="34" charset="-122"/>
                <a:cs typeface="Arial" pitchFamily="34" charset="-120"/>
              </a:rPr>
              <a:t>01</a:t>
            </a:r>
            <a:endParaRPr lang="en-US" sz="2500"/>
          </a:p>
        </p:txBody>
      </p:sp>
      <p:sp>
        <p:nvSpPr>
          <p:cNvPr id="18" name="Text 16"/>
          <p:cNvSpPr/>
          <p:nvPr/>
        </p:nvSpPr>
        <p:spPr>
          <a:xfrm>
            <a:off x="457200" y="2816352"/>
            <a:ext cx="2061058" cy="548640"/>
          </a:xfrm>
          <a:prstGeom prst="rect">
            <a:avLst/>
          </a:prstGeom>
          <a:noFill/>
          <a:ln/>
        </p:spPr>
        <p:txBody>
          <a:bodyPr wrap="square" lIns="0" tIns="0" rIns="0" bIns="0" rtlCol="0" anchor="ctr"/>
          <a:lstStyle/>
          <a:p>
            <a:pPr marL="0" indent="0">
              <a:lnSpc>
                <a:spcPts val="1350"/>
              </a:lnSpc>
              <a:buNone/>
            </a:pPr>
            <a:r>
              <a:rPr lang="en-US" sz="1120" b="1">
                <a:solidFill>
                  <a:srgbClr val="0B2265"/>
                </a:solidFill>
                <a:latin typeface="Arial" pitchFamily="34" charset="0"/>
                <a:ea typeface="Arial" pitchFamily="34" charset="-122"/>
                <a:cs typeface="Arial" pitchFamily="34" charset="-120"/>
              </a:rPr>
              <a:t>Fabric Foundations</a:t>
            </a:r>
            <a:endParaRPr lang="en-US" sz="1120"/>
          </a:p>
          <a:p>
            <a:pPr marL="0" indent="0">
              <a:lnSpc>
                <a:spcPts val="1350"/>
              </a:lnSpc>
              <a:buNone/>
            </a:pPr>
            <a:r>
              <a:rPr lang="en-US" sz="1120" b="1">
                <a:solidFill>
                  <a:srgbClr val="0B2265"/>
                </a:solidFill>
                <a:latin typeface="Arial" pitchFamily="34" charset="0"/>
                <a:ea typeface="Arial" pitchFamily="34" charset="-122"/>
                <a:cs typeface="Arial" pitchFamily="34" charset="-120"/>
              </a:rPr>
              <a:t>&amp; Architecture</a:t>
            </a:r>
            <a:endParaRPr lang="en-US" sz="1120"/>
          </a:p>
        </p:txBody>
      </p:sp>
      <p:sp>
        <p:nvSpPr>
          <p:cNvPr id="19" name="Text 17"/>
          <p:cNvSpPr/>
          <p:nvPr/>
        </p:nvSpPr>
        <p:spPr>
          <a:xfrm>
            <a:off x="457200" y="3346704"/>
            <a:ext cx="2061058" cy="384048"/>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Common ground for a room that mixes tax professionals with technologists.</a:t>
            </a:r>
            <a:endParaRPr lang="en-US" sz="800"/>
          </a:p>
        </p:txBody>
      </p:sp>
      <p:sp>
        <p:nvSpPr>
          <p:cNvPr id="20" name="Text 18"/>
          <p:cNvSpPr/>
          <p:nvPr/>
        </p:nvSpPr>
        <p:spPr>
          <a:xfrm>
            <a:off x="457200" y="374904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What Fabric looks like at Disney</a:t>
            </a:r>
            <a:endParaRPr lang="en-US" sz="920"/>
          </a:p>
        </p:txBody>
      </p:sp>
      <p:sp>
        <p:nvSpPr>
          <p:cNvPr id="21" name="Text 19"/>
          <p:cNvSpPr/>
          <p:nvPr/>
        </p:nvSpPr>
        <p:spPr>
          <a:xfrm>
            <a:off x="457200" y="400964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The environment your team works in, and how it is set up</a:t>
            </a:r>
            <a:endParaRPr lang="en-US" sz="880"/>
          </a:p>
        </p:txBody>
      </p:sp>
      <p:sp>
        <p:nvSpPr>
          <p:cNvPr id="22" name="Text 20"/>
          <p:cNvSpPr/>
          <p:nvPr/>
        </p:nvSpPr>
        <p:spPr>
          <a:xfrm>
            <a:off x="457200" y="429768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Alteryx migration strategy</a:t>
            </a:r>
            <a:endParaRPr lang="en-US" sz="920"/>
          </a:p>
        </p:txBody>
      </p:sp>
      <p:sp>
        <p:nvSpPr>
          <p:cNvPr id="23" name="Text 21"/>
          <p:cNvSpPr/>
          <p:nvPr/>
        </p:nvSpPr>
        <p:spPr>
          <a:xfrm>
            <a:off x="457200" y="455828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How the workflow estate moves across, with terms mapped back to Alteryx</a:t>
            </a:r>
            <a:endParaRPr lang="en-US" sz="880"/>
          </a:p>
        </p:txBody>
      </p:sp>
      <p:sp>
        <p:nvSpPr>
          <p:cNvPr id="24" name="Text 22"/>
          <p:cNvSpPr/>
          <p:nvPr/>
        </p:nvSpPr>
        <p:spPr>
          <a:xfrm>
            <a:off x="457200" y="484632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Lakehouse and OneLake</a:t>
            </a:r>
            <a:endParaRPr lang="en-US" sz="920"/>
          </a:p>
        </p:txBody>
      </p:sp>
      <p:sp>
        <p:nvSpPr>
          <p:cNvPr id="25" name="Text 23"/>
          <p:cNvSpPr/>
          <p:nvPr/>
        </p:nvSpPr>
        <p:spPr>
          <a:xfrm>
            <a:off x="457200" y="510692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Workspaces, tables and shortcuts, and how data is organised</a:t>
            </a:r>
            <a:endParaRPr lang="en-US" sz="880"/>
          </a:p>
        </p:txBody>
      </p:sp>
      <p:sp>
        <p:nvSpPr>
          <p:cNvPr id="26" name="Text 24"/>
          <p:cNvSpPr/>
          <p:nvPr/>
        </p:nvSpPr>
        <p:spPr>
          <a:xfrm>
            <a:off x="2701138" y="2414016"/>
            <a:ext cx="2061058" cy="384048"/>
          </a:xfrm>
          <a:prstGeom prst="rect">
            <a:avLst/>
          </a:prstGeom>
          <a:noFill/>
          <a:ln/>
        </p:spPr>
        <p:txBody>
          <a:bodyPr wrap="square" lIns="0" tIns="0" rIns="0" bIns="0" rtlCol="0" anchor="ctr"/>
          <a:lstStyle/>
          <a:p>
            <a:pPr marL="0" indent="0">
              <a:buNone/>
            </a:pPr>
            <a:r>
              <a:rPr lang="en-US" sz="2500" b="1">
                <a:solidFill>
                  <a:srgbClr val="1E49E2"/>
                </a:solidFill>
                <a:latin typeface="Arial" pitchFamily="34" charset="0"/>
                <a:ea typeface="Arial" pitchFamily="34" charset="-122"/>
                <a:cs typeface="Arial" pitchFamily="34" charset="-120"/>
              </a:rPr>
              <a:t>02</a:t>
            </a:r>
            <a:endParaRPr lang="en-US" sz="2500"/>
          </a:p>
        </p:txBody>
      </p:sp>
      <p:sp>
        <p:nvSpPr>
          <p:cNvPr id="27" name="Text 25"/>
          <p:cNvSpPr/>
          <p:nvPr/>
        </p:nvSpPr>
        <p:spPr>
          <a:xfrm>
            <a:off x="2701138" y="2816352"/>
            <a:ext cx="2061058" cy="548640"/>
          </a:xfrm>
          <a:prstGeom prst="rect">
            <a:avLst/>
          </a:prstGeom>
          <a:noFill/>
          <a:ln/>
        </p:spPr>
        <p:txBody>
          <a:bodyPr wrap="square" lIns="0" tIns="0" rIns="0" bIns="0" rtlCol="0" anchor="ctr"/>
          <a:lstStyle/>
          <a:p>
            <a:pPr marL="0" indent="0">
              <a:lnSpc>
                <a:spcPts val="1350"/>
              </a:lnSpc>
              <a:buNone/>
            </a:pPr>
            <a:r>
              <a:rPr lang="en-US" sz="1120" b="1">
                <a:solidFill>
                  <a:srgbClr val="0B2265"/>
                </a:solidFill>
                <a:latin typeface="Arial" pitchFamily="34" charset="0"/>
                <a:ea typeface="Arial" pitchFamily="34" charset="-122"/>
                <a:cs typeface="Arial" pitchFamily="34" charset="-120"/>
              </a:rPr>
              <a:t>SQL, Python &amp;</a:t>
            </a:r>
            <a:endParaRPr lang="en-US" sz="1120"/>
          </a:p>
          <a:p>
            <a:pPr marL="0" indent="0">
              <a:lnSpc>
                <a:spcPts val="1350"/>
              </a:lnSpc>
              <a:buNone/>
            </a:pPr>
            <a:r>
              <a:rPr lang="en-US" sz="1120" b="1">
                <a:solidFill>
                  <a:srgbClr val="0B2265"/>
                </a:solidFill>
                <a:latin typeface="Arial" pitchFamily="34" charset="0"/>
                <a:ea typeface="Arial" pitchFamily="34" charset="-122"/>
                <a:cs typeface="Arial" pitchFamily="34" charset="-120"/>
              </a:rPr>
              <a:t>Data Engineering</a:t>
            </a:r>
            <a:endParaRPr lang="en-US" sz="1120"/>
          </a:p>
        </p:txBody>
      </p:sp>
      <p:sp>
        <p:nvSpPr>
          <p:cNvPr id="28" name="Text 26"/>
          <p:cNvSpPr/>
          <p:nvPr/>
        </p:nvSpPr>
        <p:spPr>
          <a:xfrm>
            <a:off x="2701138" y="3346704"/>
            <a:ext cx="2061058" cy="384048"/>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The baseline skillset, pitched for a non-developer audience. Exercises throughout.</a:t>
            </a:r>
            <a:endParaRPr lang="en-US" sz="800"/>
          </a:p>
        </p:txBody>
      </p:sp>
      <p:sp>
        <p:nvSpPr>
          <p:cNvPr id="29" name="Text 27"/>
          <p:cNvSpPr/>
          <p:nvPr/>
        </p:nvSpPr>
        <p:spPr>
          <a:xfrm>
            <a:off x="2701138" y="374904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SQL fundamentals</a:t>
            </a:r>
            <a:endParaRPr lang="en-US" sz="920"/>
          </a:p>
        </p:txBody>
      </p:sp>
      <p:sp>
        <p:nvSpPr>
          <p:cNvPr id="30" name="Text 28"/>
          <p:cNvSpPr/>
          <p:nvPr/>
        </p:nvSpPr>
        <p:spPr>
          <a:xfrm>
            <a:off x="2701138" y="400964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Querying concepts and basic data modelling, with practical exercises</a:t>
            </a:r>
            <a:endParaRPr lang="en-US" sz="880"/>
          </a:p>
        </p:txBody>
      </p:sp>
      <p:sp>
        <p:nvSpPr>
          <p:cNvPr id="31" name="Text 29"/>
          <p:cNvSpPr/>
          <p:nvPr/>
        </p:nvSpPr>
        <p:spPr>
          <a:xfrm>
            <a:off x="2701138" y="429768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Python fundamentals</a:t>
            </a:r>
            <a:endParaRPr lang="en-US" sz="920"/>
          </a:p>
        </p:txBody>
      </p:sp>
      <p:sp>
        <p:nvSpPr>
          <p:cNvPr id="32" name="Text 30"/>
          <p:cNvSpPr/>
          <p:nvPr/>
        </p:nvSpPr>
        <p:spPr>
          <a:xfrm>
            <a:off x="2701138" y="455828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Python basics and working with data in common Fabric scenarios</a:t>
            </a:r>
            <a:endParaRPr lang="en-US" sz="880"/>
          </a:p>
        </p:txBody>
      </p:sp>
      <p:sp>
        <p:nvSpPr>
          <p:cNvPr id="33" name="Text 31"/>
          <p:cNvSpPr/>
          <p:nvPr/>
        </p:nvSpPr>
        <p:spPr>
          <a:xfrm>
            <a:off x="2701138" y="484632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Medallion architecture</a:t>
            </a:r>
            <a:endParaRPr lang="en-US" sz="920"/>
          </a:p>
        </p:txBody>
      </p:sp>
      <p:sp>
        <p:nvSpPr>
          <p:cNvPr id="34" name="Text 32"/>
          <p:cNvSpPr/>
          <p:nvPr/>
        </p:nvSpPr>
        <p:spPr>
          <a:xfrm>
            <a:off x="2701138" y="510692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Bronze, silver and gold layers, and what belongs at each stage</a:t>
            </a:r>
            <a:endParaRPr lang="en-US" sz="880"/>
          </a:p>
        </p:txBody>
      </p:sp>
      <p:sp>
        <p:nvSpPr>
          <p:cNvPr id="35" name="Text 33"/>
          <p:cNvSpPr/>
          <p:nvPr/>
        </p:nvSpPr>
        <p:spPr>
          <a:xfrm>
            <a:off x="5182819" y="2414016"/>
            <a:ext cx="2061058" cy="384048"/>
          </a:xfrm>
          <a:prstGeom prst="rect">
            <a:avLst/>
          </a:prstGeom>
          <a:noFill/>
          <a:ln/>
        </p:spPr>
        <p:txBody>
          <a:bodyPr wrap="square" lIns="0" tIns="0" rIns="0" bIns="0" rtlCol="0" anchor="ctr"/>
          <a:lstStyle/>
          <a:p>
            <a:pPr marL="0" indent="0">
              <a:buNone/>
            </a:pPr>
            <a:r>
              <a:rPr lang="en-US" sz="2500" b="1">
                <a:solidFill>
                  <a:srgbClr val="1E49E2"/>
                </a:solidFill>
                <a:latin typeface="Arial" pitchFamily="34" charset="0"/>
                <a:ea typeface="Arial" pitchFamily="34" charset="-122"/>
                <a:cs typeface="Arial" pitchFamily="34" charset="-120"/>
              </a:rPr>
              <a:t>03</a:t>
            </a:r>
            <a:endParaRPr lang="en-US" sz="2500"/>
          </a:p>
        </p:txBody>
      </p:sp>
      <p:sp>
        <p:nvSpPr>
          <p:cNvPr id="36" name="Text 34"/>
          <p:cNvSpPr/>
          <p:nvPr/>
        </p:nvSpPr>
        <p:spPr>
          <a:xfrm>
            <a:off x="5182819" y="2816352"/>
            <a:ext cx="2061058" cy="548640"/>
          </a:xfrm>
          <a:prstGeom prst="rect">
            <a:avLst/>
          </a:prstGeom>
          <a:noFill/>
          <a:ln/>
        </p:spPr>
        <p:txBody>
          <a:bodyPr wrap="square" lIns="0" tIns="0" rIns="0" bIns="0" rtlCol="0" anchor="ctr"/>
          <a:lstStyle/>
          <a:p>
            <a:pPr marL="0" indent="0">
              <a:lnSpc>
                <a:spcPts val="1350"/>
              </a:lnSpc>
              <a:buNone/>
            </a:pPr>
            <a:r>
              <a:rPr lang="en-US" sz="1120" b="1">
                <a:solidFill>
                  <a:srgbClr val="0B2265"/>
                </a:solidFill>
                <a:latin typeface="Arial" pitchFamily="34" charset="0"/>
                <a:ea typeface="Arial" pitchFamily="34" charset="-122"/>
                <a:cs typeface="Arial" pitchFamily="34" charset="-120"/>
              </a:rPr>
              <a:t>Hands-On Labs &amp;</a:t>
            </a:r>
            <a:endParaRPr lang="en-US" sz="1120"/>
          </a:p>
          <a:p>
            <a:pPr marL="0" indent="0">
              <a:lnSpc>
                <a:spcPts val="1350"/>
              </a:lnSpc>
              <a:buNone/>
            </a:pPr>
            <a:r>
              <a:rPr lang="en-US" sz="1120" b="1">
                <a:solidFill>
                  <a:srgbClr val="0B2265"/>
                </a:solidFill>
                <a:latin typeface="Arial" pitchFamily="34" charset="0"/>
                <a:ea typeface="Arial" pitchFamily="34" charset="-122"/>
                <a:cs typeface="Arial" pitchFamily="34" charset="-120"/>
              </a:rPr>
              <a:t>Workflow Development</a:t>
            </a:r>
            <a:endParaRPr lang="en-US" sz="1120"/>
          </a:p>
        </p:txBody>
      </p:sp>
      <p:sp>
        <p:nvSpPr>
          <p:cNvPr id="37" name="Text 35"/>
          <p:cNvSpPr/>
          <p:nvPr/>
        </p:nvSpPr>
        <p:spPr>
          <a:xfrm>
            <a:off x="5182819" y="3346704"/>
            <a:ext cx="2061058" cy="384048"/>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The bridge between Fabric and application development, through to what the business sees.</a:t>
            </a:r>
            <a:endParaRPr lang="en-US" sz="800"/>
          </a:p>
        </p:txBody>
      </p:sp>
      <p:sp>
        <p:nvSpPr>
          <p:cNvPr id="38" name="Text 36"/>
          <p:cNvSpPr/>
          <p:nvPr/>
        </p:nvSpPr>
        <p:spPr>
          <a:xfrm>
            <a:off x="5182819" y="374904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Notebook-centric development</a:t>
            </a:r>
            <a:endParaRPr lang="en-US" sz="920"/>
          </a:p>
        </p:txBody>
      </p:sp>
      <p:sp>
        <p:nvSpPr>
          <p:cNvPr id="39" name="Text 37"/>
          <p:cNvSpPr/>
          <p:nvPr/>
        </p:nvSpPr>
        <p:spPr>
          <a:xfrm>
            <a:off x="5182819" y="400964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Notebooks as the primary build pattern, ETL and orchestration</a:t>
            </a:r>
            <a:endParaRPr lang="en-US" sz="880"/>
          </a:p>
        </p:txBody>
      </p:sp>
      <p:sp>
        <p:nvSpPr>
          <p:cNvPr id="40" name="Text 38"/>
          <p:cNvSpPr/>
          <p:nvPr/>
        </p:nvSpPr>
        <p:spPr>
          <a:xfrm>
            <a:off x="5182819" y="429768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Lab: migrate a real workflow</a:t>
            </a:r>
            <a:endParaRPr lang="en-US" sz="920"/>
          </a:p>
        </p:txBody>
      </p:sp>
      <p:sp>
        <p:nvSpPr>
          <p:cNvPr id="41" name="Text 39"/>
          <p:cNvSpPr/>
          <p:nvPr/>
        </p:nvSpPr>
        <p:spPr>
          <a:xfrm>
            <a:off x="5182819" y="455828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Take one of your Alteryx workflows through to a working Fabric build</a:t>
            </a:r>
            <a:endParaRPr lang="en-US" sz="880"/>
          </a:p>
        </p:txBody>
      </p:sp>
      <p:sp>
        <p:nvSpPr>
          <p:cNvPr id="42" name="Text 40"/>
          <p:cNvSpPr/>
          <p:nvPr/>
        </p:nvSpPr>
        <p:spPr>
          <a:xfrm>
            <a:off x="5182819" y="484632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Portal-driven execution</a:t>
            </a:r>
            <a:endParaRPr lang="en-US" sz="920"/>
          </a:p>
        </p:txBody>
      </p:sp>
      <p:sp>
        <p:nvSpPr>
          <p:cNvPr id="43" name="Text 41"/>
          <p:cNvSpPr/>
          <p:nvPr/>
        </p:nvSpPr>
        <p:spPr>
          <a:xfrm>
            <a:off x="5182819" y="510692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Users supply inputs and parameters, notebooks run in the background</a:t>
            </a:r>
            <a:endParaRPr lang="en-US" sz="880"/>
          </a:p>
        </p:txBody>
      </p:sp>
      <p:sp>
        <p:nvSpPr>
          <p:cNvPr id="44" name="Text 42"/>
          <p:cNvSpPr/>
          <p:nvPr/>
        </p:nvSpPr>
        <p:spPr>
          <a:xfrm>
            <a:off x="5182819" y="539496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Power BI, Power Query and Excel</a:t>
            </a:r>
            <a:endParaRPr lang="en-US" sz="920"/>
          </a:p>
        </p:txBody>
      </p:sp>
      <p:sp>
        <p:nvSpPr>
          <p:cNvPr id="45" name="Text 43"/>
          <p:cNvSpPr/>
          <p:nvPr/>
        </p:nvSpPr>
        <p:spPr>
          <a:xfrm>
            <a:off x="5182819" y="565556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Connecting to Fabric, semantic models, consumption patterns</a:t>
            </a:r>
            <a:endParaRPr lang="en-US" sz="880"/>
          </a:p>
        </p:txBody>
      </p:sp>
      <p:sp>
        <p:nvSpPr>
          <p:cNvPr id="46" name="Text 44"/>
          <p:cNvSpPr/>
          <p:nvPr/>
        </p:nvSpPr>
        <p:spPr>
          <a:xfrm>
            <a:off x="7426757" y="2414016"/>
            <a:ext cx="2061058" cy="384048"/>
          </a:xfrm>
          <a:prstGeom prst="rect">
            <a:avLst/>
          </a:prstGeom>
          <a:noFill/>
          <a:ln/>
        </p:spPr>
        <p:txBody>
          <a:bodyPr wrap="square" lIns="0" tIns="0" rIns="0" bIns="0" rtlCol="0" anchor="ctr"/>
          <a:lstStyle/>
          <a:p>
            <a:pPr marL="0" indent="0">
              <a:buNone/>
            </a:pPr>
            <a:r>
              <a:rPr lang="en-US" sz="2500" b="1">
                <a:solidFill>
                  <a:srgbClr val="1E49E2"/>
                </a:solidFill>
                <a:latin typeface="Arial" pitchFamily="34" charset="0"/>
                <a:ea typeface="Arial" pitchFamily="34" charset="-122"/>
                <a:cs typeface="Arial" pitchFamily="34" charset="-120"/>
              </a:rPr>
              <a:t>04</a:t>
            </a:r>
            <a:endParaRPr lang="en-US" sz="2500"/>
          </a:p>
        </p:txBody>
      </p:sp>
      <p:sp>
        <p:nvSpPr>
          <p:cNvPr id="47" name="Text 45"/>
          <p:cNvSpPr/>
          <p:nvPr/>
        </p:nvSpPr>
        <p:spPr>
          <a:xfrm>
            <a:off x="7426757" y="2816352"/>
            <a:ext cx="2061058" cy="548640"/>
          </a:xfrm>
          <a:prstGeom prst="rect">
            <a:avLst/>
          </a:prstGeom>
          <a:noFill/>
          <a:ln/>
        </p:spPr>
        <p:txBody>
          <a:bodyPr wrap="square" lIns="0" tIns="0" rIns="0" bIns="0" rtlCol="0" anchor="ctr"/>
          <a:lstStyle/>
          <a:p>
            <a:pPr marL="0" indent="0">
              <a:lnSpc>
                <a:spcPts val="1350"/>
              </a:lnSpc>
              <a:buNone/>
            </a:pPr>
            <a:r>
              <a:rPr lang="en-US" sz="1120" b="1">
                <a:solidFill>
                  <a:srgbClr val="0B2265"/>
                </a:solidFill>
                <a:latin typeface="Arial" pitchFamily="34" charset="0"/>
                <a:ea typeface="Arial" pitchFamily="34" charset="-122"/>
                <a:cs typeface="Arial" pitchFamily="34" charset="-120"/>
              </a:rPr>
              <a:t>DevOps, Governance, VS Code &amp; Git</a:t>
            </a:r>
            <a:endParaRPr lang="en-US" sz="1120"/>
          </a:p>
        </p:txBody>
      </p:sp>
      <p:sp>
        <p:nvSpPr>
          <p:cNvPr id="48" name="Text 46"/>
          <p:cNvSpPr/>
          <p:nvPr/>
        </p:nvSpPr>
        <p:spPr>
          <a:xfrm>
            <a:off x="7426757" y="3346704"/>
            <a:ext cx="2061058" cy="384048"/>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How AI is used to create and accelerate Fabric development work.</a:t>
            </a:r>
            <a:endParaRPr lang="en-US" sz="800"/>
          </a:p>
        </p:txBody>
      </p:sp>
      <p:sp>
        <p:nvSpPr>
          <p:cNvPr id="49" name="Text 47"/>
          <p:cNvSpPr/>
          <p:nvPr/>
        </p:nvSpPr>
        <p:spPr>
          <a:xfrm>
            <a:off x="7426757" y="374904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AI-generated Python and SQL</a:t>
            </a:r>
            <a:endParaRPr lang="en-US" sz="920"/>
          </a:p>
        </p:txBody>
      </p:sp>
      <p:sp>
        <p:nvSpPr>
          <p:cNvPr id="50" name="Text 48"/>
          <p:cNvSpPr/>
          <p:nvPr/>
        </p:nvSpPr>
        <p:spPr>
          <a:xfrm>
            <a:off x="7426757" y="400964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Practical prompting, and agent-assisted app development</a:t>
            </a:r>
            <a:endParaRPr lang="en-US" sz="880"/>
          </a:p>
        </p:txBody>
      </p:sp>
      <p:sp>
        <p:nvSpPr>
          <p:cNvPr id="51" name="Text 49"/>
          <p:cNvSpPr/>
          <p:nvPr/>
        </p:nvSpPr>
        <p:spPr>
          <a:xfrm>
            <a:off x="7426757" y="4347972"/>
            <a:ext cx="2061058" cy="274320"/>
          </a:xfrm>
          <a:prstGeom prst="rect">
            <a:avLst/>
          </a:prstGeom>
          <a:noFill/>
          <a:ln/>
        </p:spPr>
        <p:txBody>
          <a:bodyPr wrap="square" lIns="0" tIns="0" rIns="0" bIns="0" rtlCol="0" anchor="ctr"/>
          <a:lstStyle/>
          <a:p>
            <a:pPr>
              <a:lnSpc>
                <a:spcPts val="1080"/>
              </a:lnSpc>
            </a:pPr>
            <a:r>
              <a:rPr lang="en-US" sz="920" b="1">
                <a:solidFill>
                  <a:srgbClr val="1A1A2E"/>
                </a:solidFill>
                <a:latin typeface="Arial" pitchFamily="34" charset="0"/>
                <a:ea typeface="Arial" pitchFamily="34" charset="-122"/>
                <a:cs typeface="Arial" pitchFamily="34" charset="-120"/>
              </a:rPr>
              <a:t>Release and environments</a:t>
            </a:r>
            <a:endParaRPr lang="en-US" sz="920"/>
          </a:p>
        </p:txBody>
      </p:sp>
      <p:sp>
        <p:nvSpPr>
          <p:cNvPr id="52" name="Text 50"/>
          <p:cNvSpPr/>
          <p:nvPr/>
        </p:nvSpPr>
        <p:spPr>
          <a:xfrm>
            <a:off x="7426757" y="4558284"/>
            <a:ext cx="2061058" cy="402336"/>
          </a:xfrm>
          <a:prstGeom prst="rect">
            <a:avLst/>
          </a:prstGeom>
          <a:noFill/>
          <a:ln/>
        </p:spPr>
        <p:txBody>
          <a:bodyPr wrap="square" lIns="0" tIns="0" rIns="0" bIns="0" rtlCol="0" anchor="ctr"/>
          <a:lstStyle/>
          <a:p>
            <a:pPr>
              <a:lnSpc>
                <a:spcPts val="1060"/>
              </a:lnSpc>
            </a:pPr>
            <a:r>
              <a:rPr lang="en-US" sz="900">
                <a:solidFill>
                  <a:srgbClr val="000000"/>
                </a:solidFill>
                <a:latin typeface="Arial" pitchFamily="34" charset="0"/>
                <a:ea typeface="Arial" pitchFamily="34" charset="-122"/>
                <a:cs typeface="Arial" pitchFamily="34" charset="-120"/>
              </a:rPr>
              <a:t>Dev, test and production, and the paved road for shipping changes</a:t>
            </a:r>
            <a:endParaRPr lang="en-US" sz="900"/>
          </a:p>
        </p:txBody>
      </p:sp>
      <p:sp>
        <p:nvSpPr>
          <p:cNvPr id="53" name="Text 51"/>
          <p:cNvSpPr/>
          <p:nvPr/>
        </p:nvSpPr>
        <p:spPr>
          <a:xfrm>
            <a:off x="7426757" y="487754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VS Code as the workbench</a:t>
            </a:r>
            <a:endParaRPr lang="en-US" sz="920"/>
          </a:p>
        </p:txBody>
      </p:sp>
      <p:sp>
        <p:nvSpPr>
          <p:cNvPr id="54" name="Text 52"/>
          <p:cNvSpPr/>
          <p:nvPr/>
        </p:nvSpPr>
        <p:spPr>
          <a:xfrm>
            <a:off x="7426757" y="513814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Lakehouse connection, notebook development, deployment and Git</a:t>
            </a:r>
            <a:endParaRPr lang="en-US" sz="880"/>
          </a:p>
        </p:txBody>
      </p:sp>
      <p:sp>
        <p:nvSpPr>
          <p:cNvPr id="55" name="Text 53"/>
          <p:cNvSpPr/>
          <p:nvPr/>
        </p:nvSpPr>
        <p:spPr>
          <a:xfrm>
            <a:off x="9670694" y="2414016"/>
            <a:ext cx="2061058" cy="384048"/>
          </a:xfrm>
          <a:prstGeom prst="rect">
            <a:avLst/>
          </a:prstGeom>
          <a:noFill/>
          <a:ln/>
        </p:spPr>
        <p:txBody>
          <a:bodyPr wrap="square" lIns="0" tIns="0" rIns="0" bIns="0" rtlCol="0" anchor="ctr"/>
          <a:lstStyle/>
          <a:p>
            <a:pPr marL="0" indent="0">
              <a:buNone/>
            </a:pPr>
            <a:r>
              <a:rPr lang="en-US" sz="2500" b="1">
                <a:solidFill>
                  <a:srgbClr val="1E49E2"/>
                </a:solidFill>
                <a:latin typeface="Arial" pitchFamily="34" charset="0"/>
                <a:ea typeface="Arial" pitchFamily="34" charset="-122"/>
                <a:cs typeface="Arial" pitchFamily="34" charset="-120"/>
              </a:rPr>
              <a:t>05</a:t>
            </a:r>
            <a:endParaRPr lang="en-US" sz="2500"/>
          </a:p>
        </p:txBody>
      </p:sp>
      <p:sp>
        <p:nvSpPr>
          <p:cNvPr id="56" name="Text 54"/>
          <p:cNvSpPr/>
          <p:nvPr/>
        </p:nvSpPr>
        <p:spPr>
          <a:xfrm>
            <a:off x="9670694" y="2816352"/>
            <a:ext cx="2061058" cy="548640"/>
          </a:xfrm>
          <a:prstGeom prst="rect">
            <a:avLst/>
          </a:prstGeom>
          <a:noFill/>
          <a:ln/>
        </p:spPr>
        <p:txBody>
          <a:bodyPr wrap="square" lIns="0" tIns="0" rIns="0" bIns="0" rtlCol="0" anchor="ctr"/>
          <a:lstStyle/>
          <a:p>
            <a:pPr marL="0" indent="0">
              <a:lnSpc>
                <a:spcPts val="1350"/>
              </a:lnSpc>
              <a:buNone/>
            </a:pPr>
            <a:r>
              <a:rPr lang="en-US" sz="1120" b="1">
                <a:solidFill>
                  <a:srgbClr val="0B2265"/>
                </a:solidFill>
                <a:latin typeface="Arial" pitchFamily="34" charset="0"/>
                <a:ea typeface="Arial" pitchFamily="34" charset="-122"/>
                <a:cs typeface="Arial" pitchFamily="34" charset="-120"/>
              </a:rPr>
              <a:t>Deployment &amp; Production Readiness</a:t>
            </a:r>
            <a:endParaRPr lang="en-US" sz="1120"/>
          </a:p>
        </p:txBody>
      </p:sp>
      <p:sp>
        <p:nvSpPr>
          <p:cNvPr id="57" name="Text 55"/>
          <p:cNvSpPr/>
          <p:nvPr/>
        </p:nvSpPr>
        <p:spPr>
          <a:xfrm>
            <a:off x="9670694" y="3346704"/>
            <a:ext cx="2061058" cy="384048"/>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Awareness of the lifecycle rather than operational ownership for every attendee.</a:t>
            </a:r>
            <a:endParaRPr lang="en-US" sz="800"/>
          </a:p>
        </p:txBody>
      </p:sp>
      <p:sp>
        <p:nvSpPr>
          <p:cNvPr id="58" name="Text 56"/>
          <p:cNvSpPr/>
          <p:nvPr/>
        </p:nvSpPr>
        <p:spPr>
          <a:xfrm>
            <a:off x="9670694" y="374904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Git and source control</a:t>
            </a:r>
            <a:endParaRPr lang="en-US" sz="920"/>
          </a:p>
        </p:txBody>
      </p:sp>
      <p:sp>
        <p:nvSpPr>
          <p:cNvPr id="59" name="Text 57"/>
          <p:cNvSpPr/>
          <p:nvPr/>
        </p:nvSpPr>
        <p:spPr>
          <a:xfrm>
            <a:off x="9670694" y="400964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Branching, promotion, and why source control matters</a:t>
            </a:r>
            <a:endParaRPr lang="en-US" sz="880"/>
          </a:p>
        </p:txBody>
      </p:sp>
      <p:sp>
        <p:nvSpPr>
          <p:cNvPr id="60" name="Text 58"/>
          <p:cNvSpPr/>
          <p:nvPr/>
        </p:nvSpPr>
        <p:spPr>
          <a:xfrm>
            <a:off x="9670694" y="429768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The promotion process</a:t>
            </a:r>
            <a:endParaRPr lang="en-US" sz="920"/>
          </a:p>
        </p:txBody>
      </p:sp>
      <p:sp>
        <p:nvSpPr>
          <p:cNvPr id="61" name="Text 59"/>
          <p:cNvSpPr/>
          <p:nvPr/>
        </p:nvSpPr>
        <p:spPr>
          <a:xfrm>
            <a:off x="9670694" y="455828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The lifecycle end to end, the approval gates and realistic timelines</a:t>
            </a:r>
            <a:endParaRPr lang="en-US" sz="880"/>
          </a:p>
        </p:txBody>
      </p:sp>
      <p:sp>
        <p:nvSpPr>
          <p:cNvPr id="62" name="Text 60"/>
          <p:cNvSpPr/>
          <p:nvPr/>
        </p:nvSpPr>
        <p:spPr>
          <a:xfrm>
            <a:off x="9670694" y="4846320"/>
            <a:ext cx="2061058" cy="274320"/>
          </a:xfrm>
          <a:prstGeom prst="rect">
            <a:avLst/>
          </a:prstGeom>
          <a:noFill/>
          <a:ln/>
        </p:spPr>
        <p:txBody>
          <a:bodyPr wrap="square" lIns="0" tIns="0" rIns="0" bIns="0" rtlCol="0" anchor="ctr"/>
          <a:lstStyle/>
          <a:p>
            <a:pPr marL="0" indent="0">
              <a:lnSpc>
                <a:spcPts val="1100"/>
              </a:lnSpc>
              <a:buNone/>
            </a:pPr>
            <a:r>
              <a:rPr lang="en-US" sz="920" b="1">
                <a:solidFill>
                  <a:srgbClr val="1A1A2E"/>
                </a:solidFill>
                <a:latin typeface="Arial" pitchFamily="34" charset="0"/>
                <a:ea typeface="Arial" pitchFamily="34" charset="-122"/>
                <a:cs typeface="Arial" pitchFamily="34" charset="-120"/>
              </a:rPr>
              <a:t>Working with Enterprise Tech</a:t>
            </a:r>
            <a:endParaRPr lang="en-US" sz="920"/>
          </a:p>
        </p:txBody>
      </p:sp>
      <p:sp>
        <p:nvSpPr>
          <p:cNvPr id="63" name="Text 61"/>
          <p:cNvSpPr/>
          <p:nvPr/>
        </p:nvSpPr>
        <p:spPr>
          <a:xfrm>
            <a:off x="9670694" y="5106924"/>
            <a:ext cx="2061058" cy="402336"/>
          </a:xfrm>
          <a:prstGeom prst="rect">
            <a:avLst/>
          </a:prstGeom>
          <a:noFill/>
          <a:ln/>
        </p:spPr>
        <p:txBody>
          <a:bodyPr wrap="square" lIns="0" tIns="0" rIns="0" bIns="0" rtlCol="0" anchor="ctr"/>
          <a:lstStyle/>
          <a:p>
            <a:pPr marL="0" indent="0">
              <a:lnSpc>
                <a:spcPts val="1080"/>
              </a:lnSpc>
              <a:buNone/>
            </a:pPr>
            <a:r>
              <a:rPr lang="en-US" sz="880">
                <a:solidFill>
                  <a:srgbClr val="000000"/>
                </a:solidFill>
                <a:latin typeface="Arial" pitchFamily="34" charset="0"/>
                <a:ea typeface="Arial" pitchFamily="34" charset="-122"/>
                <a:cs typeface="Arial" pitchFamily="34" charset="-120"/>
              </a:rPr>
              <a:t>Who you need, when to start, and what each approval actually asks for</a:t>
            </a:r>
            <a:endParaRPr lang="en-US" sz="880"/>
          </a:p>
        </p:txBody>
      </p:sp>
      <p:sp>
        <p:nvSpPr>
          <p:cNvPr id="64" name="Text 62"/>
          <p:cNvSpPr/>
          <p:nvPr/>
        </p:nvSpPr>
        <p:spPr>
          <a:xfrm>
            <a:off x="457200" y="5980176"/>
            <a:ext cx="11274552" cy="402336"/>
          </a:xfrm>
          <a:prstGeom prst="rect">
            <a:avLst/>
          </a:prstGeom>
          <a:noFill/>
          <a:ln/>
        </p:spPr>
        <p:txBody>
          <a:bodyPr wrap="square" lIns="0" tIns="0" rIns="0" bIns="0" rtlCol="0" anchor="ctr"/>
          <a:lstStyle/>
          <a:p>
            <a:pPr marL="0" indent="0">
              <a:lnSpc>
                <a:spcPts val="1000"/>
              </a:lnSpc>
              <a:buNone/>
            </a:pPr>
            <a:r>
              <a:rPr lang="en-US" sz="800" i="1">
                <a:solidFill>
                  <a:srgbClr val="5A6472"/>
                </a:solidFill>
                <a:latin typeface="Arial" pitchFamily="34" charset="0"/>
                <a:ea typeface="Arial" pitchFamily="34" charset="-122"/>
                <a:cs typeface="Arial" pitchFamily="34" charset="-120"/>
              </a:rPr>
              <a:t>Hands-on work runs inside Disney's Fabric POC environment, using the team's own workflows rather than sample data. All attendees are provisioned in advance. Power BI, Power Query and Excel integration sits inside Module 3, alongside the workflows the reporting draws from. Module 5 is scoped to awareness, not operational ownership. Disney governance, operating model and Fabric management decisions are handled in a separate internal session.</a:t>
            </a:r>
            <a:endParaRPr lang="en-US" sz="800"/>
          </a:p>
        </p:txBody>
      </p:sp>
      <p:sp>
        <p:nvSpPr>
          <p:cNvPr id="65" name="Shape 63"/>
          <p:cNvSpPr/>
          <p:nvPr/>
        </p:nvSpPr>
        <p:spPr>
          <a:xfrm>
            <a:off x="0" y="6382512"/>
            <a:ext cx="12188952" cy="475488"/>
          </a:xfrm>
          <a:prstGeom prst="rect">
            <a:avLst/>
          </a:prstGeom>
          <a:solidFill>
            <a:srgbClr val="00338D"/>
          </a:solidFill>
          <a:ln/>
        </p:spPr>
        <p:txBody>
          <a:bodyPr/>
          <a:lstStyle/>
          <a:p>
            <a:endParaRPr lang="en-US"/>
          </a:p>
        </p:txBody>
      </p:sp>
      <p:sp>
        <p:nvSpPr>
          <p:cNvPr id="66" name="Text 64"/>
          <p:cNvSpPr/>
          <p:nvPr/>
        </p:nvSpPr>
        <p:spPr>
          <a:xfrm>
            <a:off x="457200" y="6492240"/>
            <a:ext cx="8229600" cy="256032"/>
          </a:xfrm>
          <a:prstGeom prst="rect">
            <a:avLst/>
          </a:prstGeom>
          <a:noFill/>
          <a:ln/>
        </p:spPr>
        <p:txBody>
          <a:bodyPr wrap="square" lIns="0" tIns="0" rIns="0" bIns="0" rtlCol="0" anchor="ctr"/>
          <a:lstStyle/>
          <a:p>
            <a:pPr marL="0" indent="0">
              <a:buNone/>
            </a:pPr>
            <a:r>
              <a:rPr lang="en-US" sz="900">
                <a:solidFill>
                  <a:srgbClr val="FFFFFF"/>
                </a:solidFill>
                <a:latin typeface="Arial" pitchFamily="34" charset="0"/>
                <a:ea typeface="Arial" pitchFamily="34" charset="-122"/>
                <a:cs typeface="Arial" pitchFamily="34" charset="-120"/>
              </a:rPr>
              <a:t>Delivered on-site at a Disney facility.  ·  Venue to be confirmed.</a:t>
            </a:r>
            <a:endParaRPr lang="en-US" sz="900"/>
          </a:p>
        </p:txBody>
      </p:sp>
      <p:sp>
        <p:nvSpPr>
          <p:cNvPr id="67" name="Text 65"/>
          <p:cNvSpPr/>
          <p:nvPr/>
        </p:nvSpPr>
        <p:spPr>
          <a:xfrm>
            <a:off x="10881360" y="6473952"/>
            <a:ext cx="850392" cy="27432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KPMG</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338D"/>
          </a:solidFill>
          <a:ln/>
        </p:spPr>
        <p:txBody>
          <a:bodyPr/>
          <a:lstStyle/>
          <a:p>
            <a:endParaRPr lang="en-US"/>
          </a:p>
        </p:txBody>
      </p:sp>
      <p:sp>
        <p:nvSpPr>
          <p:cNvPr id="3" name="Text 1"/>
          <p:cNvSpPr/>
          <p:nvPr/>
        </p:nvSpPr>
        <p:spPr>
          <a:xfrm>
            <a:off x="457200" y="128016"/>
            <a:ext cx="8138160" cy="731520"/>
          </a:xfrm>
          <a:prstGeom prst="rect">
            <a:avLst/>
          </a:prstGeom>
          <a:noFill/>
          <a:ln/>
        </p:spPr>
        <p:txBody>
          <a:bodyPr wrap="square" lIns="0" tIns="0" rIns="0" bIns="0" rtlCol="0" anchor="ctr"/>
          <a:lstStyle/>
          <a:p>
            <a:pPr marL="0" indent="0">
              <a:lnSpc>
                <a:spcPts val="2300"/>
              </a:lnSpc>
              <a:buNone/>
            </a:pPr>
            <a:r>
              <a:rPr lang="en-US" sz="1850" b="1">
                <a:solidFill>
                  <a:srgbClr val="FFFFFF"/>
                </a:solidFill>
                <a:latin typeface="Arial" pitchFamily="34" charset="0"/>
                <a:ea typeface="Arial" pitchFamily="34" charset="-122"/>
                <a:cs typeface="Arial" pitchFamily="34" charset="-120"/>
              </a:rPr>
              <a:t>Microsoft Fabric &amp; DevOps enablement</a:t>
            </a:r>
            <a:endParaRPr lang="en-US" sz="1850"/>
          </a:p>
          <a:p>
            <a:pPr marL="0" indent="0">
              <a:lnSpc>
                <a:spcPts val="2300"/>
              </a:lnSpc>
              <a:buNone/>
            </a:pPr>
            <a:r>
              <a:rPr lang="en-US" sz="1850" b="1">
                <a:solidFill>
                  <a:srgbClr val="FFFFFF"/>
                </a:solidFill>
                <a:latin typeface="Arial" pitchFamily="34" charset="0"/>
                <a:ea typeface="Arial" pitchFamily="34" charset="-122"/>
                <a:cs typeface="Arial" pitchFamily="34" charset="-120"/>
              </a:rPr>
              <a:t>Proposed agenda  ·  October 19–20</a:t>
            </a:r>
            <a:endParaRPr lang="en-US" sz="1850"/>
          </a:p>
        </p:txBody>
      </p:sp>
      <p:sp>
        <p:nvSpPr>
          <p:cNvPr id="4" name="Text 2"/>
          <p:cNvSpPr/>
          <p:nvPr/>
        </p:nvSpPr>
        <p:spPr>
          <a:xfrm>
            <a:off x="8229600" y="347472"/>
            <a:ext cx="3502152" cy="274320"/>
          </a:xfrm>
          <a:prstGeom prst="rect">
            <a:avLst/>
          </a:prstGeom>
          <a:noFill/>
          <a:ln/>
        </p:spPr>
        <p:txBody>
          <a:bodyPr wrap="square" lIns="0" tIns="0" rIns="0" bIns="0" rtlCol="0" anchor="ctr"/>
          <a:lstStyle/>
          <a:p>
            <a:pPr marL="0" indent="0" algn="r">
              <a:buNone/>
            </a:pPr>
            <a:r>
              <a:rPr lang="en-US" sz="1050" b="1">
                <a:solidFill>
                  <a:srgbClr val="8FB8E8"/>
                </a:solidFill>
                <a:latin typeface="Arial" pitchFamily="34" charset="0"/>
                <a:ea typeface="Arial" pitchFamily="34" charset="-122"/>
                <a:cs typeface="Arial" pitchFamily="34" charset="-120"/>
              </a:rPr>
              <a:t>KPMG  ·  Disney Tax Data Management &amp; Innovation</a:t>
            </a:r>
            <a:endParaRPr lang="en-US" sz="1050"/>
          </a:p>
        </p:txBody>
      </p:sp>
      <p:sp>
        <p:nvSpPr>
          <p:cNvPr id="5" name="Text 3"/>
          <p:cNvSpPr/>
          <p:nvPr/>
        </p:nvSpPr>
        <p:spPr>
          <a:xfrm>
            <a:off x="457200" y="1207008"/>
            <a:ext cx="6446520" cy="237744"/>
          </a:xfrm>
          <a:prstGeom prst="rect">
            <a:avLst/>
          </a:prstGeom>
          <a:noFill/>
          <a:ln/>
        </p:spPr>
        <p:txBody>
          <a:bodyPr wrap="square" lIns="0" tIns="0" rIns="0" bIns="0" rtlCol="0" anchor="ctr"/>
          <a:lstStyle/>
          <a:p>
            <a:pPr marL="0" indent="0">
              <a:buNone/>
            </a:pPr>
            <a:r>
              <a:rPr lang="en-US" sz="1000" b="1" kern="0" spc="100">
                <a:solidFill>
                  <a:srgbClr val="00338D"/>
                </a:solidFill>
                <a:latin typeface="Arial" pitchFamily="34" charset="0"/>
                <a:ea typeface="Arial" pitchFamily="34" charset="-122"/>
                <a:cs typeface="Arial" pitchFamily="34" charset="-120"/>
              </a:rPr>
              <a:t>DAY ONE  ·  MONDAY 19 OCTOBER</a:t>
            </a:r>
            <a:endParaRPr lang="en-US" sz="1000"/>
          </a:p>
        </p:txBody>
      </p:sp>
      <p:sp>
        <p:nvSpPr>
          <p:cNvPr id="6" name="Text 4"/>
          <p:cNvSpPr/>
          <p:nvPr/>
        </p:nvSpPr>
        <p:spPr>
          <a:xfrm>
            <a:off x="457200" y="1444752"/>
            <a:ext cx="6446520" cy="274320"/>
          </a:xfrm>
          <a:prstGeom prst="rect">
            <a:avLst/>
          </a:prstGeom>
          <a:noFill/>
          <a:ln/>
        </p:spPr>
        <p:txBody>
          <a:bodyPr wrap="square" lIns="0" tIns="0" rIns="0" bIns="0" rtlCol="0" anchor="ctr"/>
          <a:lstStyle/>
          <a:p>
            <a:pPr marL="0" indent="0">
              <a:buNone/>
            </a:pPr>
            <a:r>
              <a:rPr lang="en-US" sz="1400" b="1">
                <a:solidFill>
                  <a:srgbClr val="1A1A2E"/>
                </a:solidFill>
                <a:latin typeface="Arial" pitchFamily="34" charset="0"/>
                <a:ea typeface="Arial" pitchFamily="34" charset="-122"/>
                <a:cs typeface="Arial" pitchFamily="34" charset="-120"/>
              </a:rPr>
              <a:t>Full day</a:t>
            </a:r>
            <a:endParaRPr lang="en-US" sz="1400"/>
          </a:p>
        </p:txBody>
      </p:sp>
      <p:sp>
        <p:nvSpPr>
          <p:cNvPr id="7" name="Text 5"/>
          <p:cNvSpPr/>
          <p:nvPr/>
        </p:nvSpPr>
        <p:spPr>
          <a:xfrm>
            <a:off x="457200" y="1737360"/>
            <a:ext cx="6446520" cy="274320"/>
          </a:xfrm>
          <a:prstGeom prst="rect">
            <a:avLst/>
          </a:prstGeom>
          <a:noFill/>
          <a:ln/>
        </p:spPr>
        <p:txBody>
          <a:bodyPr wrap="square" lIns="0" tIns="0" rIns="0" bIns="0" rtlCol="0" anchor="ctr"/>
          <a:lstStyle/>
          <a:p>
            <a:pPr marL="0" indent="0">
              <a:lnSpc>
                <a:spcPts val="1100"/>
              </a:lnSpc>
              <a:buNone/>
            </a:pPr>
            <a:r>
              <a:rPr lang="en-US" sz="900">
                <a:solidFill>
                  <a:srgbClr val="5A6472"/>
                </a:solidFill>
                <a:latin typeface="Arial" pitchFamily="34" charset="0"/>
                <a:ea typeface="Arial" pitchFamily="34" charset="-122"/>
                <a:cs typeface="Arial" pitchFamily="34" charset="-120"/>
              </a:rPr>
              <a:t>Hands-on in Fabric. Shared vocabulary, then building and reaching real workflows.</a:t>
            </a:r>
            <a:endParaRPr lang="en-US" sz="900"/>
          </a:p>
        </p:txBody>
      </p:sp>
      <p:sp>
        <p:nvSpPr>
          <p:cNvPr id="8" name="Text 6"/>
          <p:cNvSpPr/>
          <p:nvPr/>
        </p:nvSpPr>
        <p:spPr>
          <a:xfrm>
            <a:off x="7315200" y="1207008"/>
            <a:ext cx="4416552" cy="237744"/>
          </a:xfrm>
          <a:prstGeom prst="rect">
            <a:avLst/>
          </a:prstGeom>
          <a:noFill/>
          <a:ln/>
        </p:spPr>
        <p:txBody>
          <a:bodyPr wrap="square" lIns="0" tIns="0" rIns="0" bIns="0" rtlCol="0" anchor="ctr"/>
          <a:lstStyle/>
          <a:p>
            <a:pPr marL="0" indent="0">
              <a:buNone/>
            </a:pPr>
            <a:r>
              <a:rPr lang="en-US" sz="1000" b="1" kern="0" spc="100">
                <a:solidFill>
                  <a:srgbClr val="00338D"/>
                </a:solidFill>
                <a:latin typeface="Arial" pitchFamily="34" charset="0"/>
                <a:ea typeface="Arial" pitchFamily="34" charset="-122"/>
                <a:cs typeface="Arial" pitchFamily="34" charset="-120"/>
              </a:rPr>
              <a:t>DAY TWO  ·  TUESDAY 20 OCTOBER</a:t>
            </a:r>
            <a:endParaRPr lang="en-US" sz="1000"/>
          </a:p>
        </p:txBody>
      </p:sp>
      <p:sp>
        <p:nvSpPr>
          <p:cNvPr id="9" name="Text 7"/>
          <p:cNvSpPr/>
          <p:nvPr/>
        </p:nvSpPr>
        <p:spPr>
          <a:xfrm>
            <a:off x="7315200" y="1444752"/>
            <a:ext cx="4416552" cy="274320"/>
          </a:xfrm>
          <a:prstGeom prst="rect">
            <a:avLst/>
          </a:prstGeom>
          <a:noFill/>
          <a:ln/>
        </p:spPr>
        <p:txBody>
          <a:bodyPr wrap="square" lIns="0" tIns="0" rIns="0" bIns="0" rtlCol="0" anchor="ctr"/>
          <a:lstStyle/>
          <a:p>
            <a:pPr marL="0" indent="0">
              <a:buNone/>
            </a:pPr>
            <a:r>
              <a:rPr lang="en-US" sz="1400" b="1">
                <a:solidFill>
                  <a:srgbClr val="1A1A2E"/>
                </a:solidFill>
                <a:latin typeface="Arial" pitchFamily="34" charset="0"/>
                <a:ea typeface="Arial" pitchFamily="34" charset="-122"/>
                <a:cs typeface="Arial" pitchFamily="34" charset="-120"/>
              </a:rPr>
              <a:t>Full day</a:t>
            </a:r>
            <a:endParaRPr lang="en-US" sz="1400"/>
          </a:p>
        </p:txBody>
      </p:sp>
      <p:sp>
        <p:nvSpPr>
          <p:cNvPr id="10" name="Text 8"/>
          <p:cNvSpPr/>
          <p:nvPr/>
        </p:nvSpPr>
        <p:spPr>
          <a:xfrm>
            <a:off x="7315200" y="1737360"/>
            <a:ext cx="4416552" cy="274320"/>
          </a:xfrm>
          <a:prstGeom prst="rect">
            <a:avLst/>
          </a:prstGeom>
          <a:noFill/>
          <a:ln/>
        </p:spPr>
        <p:txBody>
          <a:bodyPr wrap="square" lIns="0" tIns="0" rIns="0" bIns="0" rtlCol="0" anchor="ctr"/>
          <a:lstStyle/>
          <a:p>
            <a:pPr marL="0" indent="0">
              <a:lnSpc>
                <a:spcPts val="1100"/>
              </a:lnSpc>
              <a:buNone/>
            </a:pPr>
            <a:r>
              <a:rPr lang="en-US" sz="900">
                <a:solidFill>
                  <a:srgbClr val="5A6472"/>
                </a:solidFill>
                <a:latin typeface="Arial" pitchFamily="34" charset="0"/>
                <a:ea typeface="Arial" pitchFamily="34" charset="-122"/>
                <a:cs typeface="Arial" pitchFamily="34" charset="-120"/>
              </a:rPr>
              <a:t>Deployment, and the process and people between a build and production.</a:t>
            </a:r>
            <a:endParaRPr lang="en-US" sz="900"/>
          </a:p>
        </p:txBody>
      </p:sp>
      <p:sp>
        <p:nvSpPr>
          <p:cNvPr id="11" name="Shape 9"/>
          <p:cNvSpPr/>
          <p:nvPr/>
        </p:nvSpPr>
        <p:spPr>
          <a:xfrm>
            <a:off x="457200" y="2066544"/>
            <a:ext cx="6446520" cy="32004"/>
          </a:xfrm>
          <a:prstGeom prst="rect">
            <a:avLst/>
          </a:prstGeom>
          <a:solidFill>
            <a:srgbClr val="00338D"/>
          </a:solidFill>
          <a:ln/>
        </p:spPr>
        <p:txBody>
          <a:bodyPr/>
          <a:lstStyle/>
          <a:p>
            <a:endParaRPr lang="en-US"/>
          </a:p>
        </p:txBody>
      </p:sp>
      <p:sp>
        <p:nvSpPr>
          <p:cNvPr id="12" name="Shape 10"/>
          <p:cNvSpPr/>
          <p:nvPr/>
        </p:nvSpPr>
        <p:spPr>
          <a:xfrm>
            <a:off x="7315200" y="2066544"/>
            <a:ext cx="4416552" cy="32004"/>
          </a:xfrm>
          <a:prstGeom prst="rect">
            <a:avLst/>
          </a:prstGeom>
          <a:solidFill>
            <a:srgbClr val="00338D"/>
          </a:solidFill>
          <a:ln/>
        </p:spPr>
        <p:txBody>
          <a:bodyPr/>
          <a:lstStyle/>
          <a:p>
            <a:endParaRPr lang="en-US"/>
          </a:p>
        </p:txBody>
      </p:sp>
      <p:sp>
        <p:nvSpPr>
          <p:cNvPr id="13" name="Shape 11"/>
          <p:cNvSpPr/>
          <p:nvPr/>
        </p:nvSpPr>
        <p:spPr>
          <a:xfrm>
            <a:off x="7103974" y="1207008"/>
            <a:ext cx="10973" cy="4553712"/>
          </a:xfrm>
          <a:prstGeom prst="rect">
            <a:avLst/>
          </a:prstGeom>
          <a:solidFill>
            <a:srgbClr val="D5DCE8"/>
          </a:solidFill>
          <a:ln/>
        </p:spPr>
        <p:txBody>
          <a:bodyPr/>
          <a:lstStyle/>
          <a:p>
            <a:endParaRPr lang="en-US"/>
          </a:p>
        </p:txBody>
      </p:sp>
      <p:sp>
        <p:nvSpPr>
          <p:cNvPr id="14" name="Text 12"/>
          <p:cNvSpPr/>
          <p:nvPr/>
        </p:nvSpPr>
        <p:spPr>
          <a:xfrm>
            <a:off x="457200" y="2212848"/>
            <a:ext cx="2014728" cy="384048"/>
          </a:xfrm>
          <a:prstGeom prst="rect">
            <a:avLst/>
          </a:prstGeom>
          <a:noFill/>
          <a:ln/>
        </p:spPr>
        <p:txBody>
          <a:bodyPr wrap="square" lIns="0" tIns="0" rIns="0" bIns="0" rtlCol="0" anchor="ctr"/>
          <a:lstStyle/>
          <a:p>
            <a:pPr marL="0" indent="0">
              <a:buNone/>
            </a:pPr>
            <a:r>
              <a:rPr lang="en-US" sz="2700" b="1">
                <a:solidFill>
                  <a:srgbClr val="1E49E2"/>
                </a:solidFill>
                <a:latin typeface="Arial" pitchFamily="34" charset="0"/>
                <a:ea typeface="Arial" pitchFamily="34" charset="-122"/>
                <a:cs typeface="Arial" pitchFamily="34" charset="-120"/>
              </a:rPr>
              <a:t>01</a:t>
            </a:r>
            <a:endParaRPr lang="en-US" sz="2700"/>
          </a:p>
        </p:txBody>
      </p:sp>
      <p:sp>
        <p:nvSpPr>
          <p:cNvPr id="15" name="Text 13"/>
          <p:cNvSpPr/>
          <p:nvPr/>
        </p:nvSpPr>
        <p:spPr>
          <a:xfrm>
            <a:off x="457200" y="2633472"/>
            <a:ext cx="2014728" cy="512064"/>
          </a:xfrm>
          <a:prstGeom prst="rect">
            <a:avLst/>
          </a:prstGeom>
          <a:noFill/>
          <a:ln/>
        </p:spPr>
        <p:txBody>
          <a:bodyPr wrap="square" lIns="0" tIns="0" rIns="0" bIns="0" rtlCol="0" anchor="ctr"/>
          <a:lstStyle/>
          <a:p>
            <a:pPr marL="0" indent="0">
              <a:lnSpc>
                <a:spcPts val="1500"/>
              </a:lnSpc>
              <a:buNone/>
            </a:pPr>
            <a:r>
              <a:rPr lang="en-US" sz="1250" b="1">
                <a:solidFill>
                  <a:srgbClr val="0B2265"/>
                </a:solidFill>
                <a:latin typeface="Arial" pitchFamily="34" charset="0"/>
                <a:ea typeface="Arial" pitchFamily="34" charset="-122"/>
                <a:cs typeface="Arial" pitchFamily="34" charset="-120"/>
              </a:rPr>
              <a:t>Fabric Foundations</a:t>
            </a:r>
            <a:endParaRPr lang="en-US" sz="1250"/>
          </a:p>
          <a:p>
            <a:pPr marL="0" indent="0">
              <a:lnSpc>
                <a:spcPts val="1500"/>
              </a:lnSpc>
              <a:buNone/>
            </a:pPr>
            <a:r>
              <a:rPr lang="en-US" sz="1250" b="1">
                <a:solidFill>
                  <a:srgbClr val="0B2265"/>
                </a:solidFill>
                <a:latin typeface="Arial" pitchFamily="34" charset="0"/>
                <a:ea typeface="Arial" pitchFamily="34" charset="-122"/>
                <a:cs typeface="Arial" pitchFamily="34" charset="-120"/>
              </a:rPr>
              <a:t>&amp; Architecture</a:t>
            </a:r>
            <a:endParaRPr lang="en-US" sz="1250"/>
          </a:p>
        </p:txBody>
      </p:sp>
      <p:sp>
        <p:nvSpPr>
          <p:cNvPr id="16" name="Text 14"/>
          <p:cNvSpPr/>
          <p:nvPr/>
        </p:nvSpPr>
        <p:spPr>
          <a:xfrm>
            <a:off x="457200" y="3163824"/>
            <a:ext cx="2014728" cy="420624"/>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Common ground for a room that mixes tax professionals with technologists.</a:t>
            </a:r>
            <a:endParaRPr lang="en-US" sz="800"/>
          </a:p>
        </p:txBody>
      </p:sp>
      <p:sp>
        <p:nvSpPr>
          <p:cNvPr id="17" name="Text 15"/>
          <p:cNvSpPr/>
          <p:nvPr/>
        </p:nvSpPr>
        <p:spPr>
          <a:xfrm>
            <a:off x="457200" y="3602736"/>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What Fabric looks like at Disney</a:t>
            </a:r>
            <a:endParaRPr lang="en-US" sz="920"/>
          </a:p>
        </p:txBody>
      </p:sp>
      <p:sp>
        <p:nvSpPr>
          <p:cNvPr id="18" name="Text 16"/>
          <p:cNvSpPr/>
          <p:nvPr/>
        </p:nvSpPr>
        <p:spPr>
          <a:xfrm>
            <a:off x="457200" y="3822192"/>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The environment your team actually works in, and how it is set up</a:t>
            </a:r>
            <a:endParaRPr lang="en-US" sz="860"/>
          </a:p>
        </p:txBody>
      </p:sp>
      <p:sp>
        <p:nvSpPr>
          <p:cNvPr id="19" name="Text 17"/>
          <p:cNvSpPr/>
          <p:nvPr/>
        </p:nvSpPr>
        <p:spPr>
          <a:xfrm>
            <a:off x="457200" y="4178808"/>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Alteryx migration strategy</a:t>
            </a:r>
            <a:endParaRPr lang="en-US" sz="920"/>
          </a:p>
        </p:txBody>
      </p:sp>
      <p:sp>
        <p:nvSpPr>
          <p:cNvPr id="20" name="Text 18"/>
          <p:cNvSpPr/>
          <p:nvPr/>
        </p:nvSpPr>
        <p:spPr>
          <a:xfrm>
            <a:off x="457200" y="4398264"/>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How the workflow estate moves across, with Fabric terms mapped back to Alteryx</a:t>
            </a:r>
            <a:endParaRPr lang="en-US" sz="860"/>
          </a:p>
        </p:txBody>
      </p:sp>
      <p:sp>
        <p:nvSpPr>
          <p:cNvPr id="21" name="Text 19"/>
          <p:cNvSpPr/>
          <p:nvPr/>
        </p:nvSpPr>
        <p:spPr>
          <a:xfrm>
            <a:off x="457200" y="4754880"/>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Technical foundations</a:t>
            </a:r>
            <a:endParaRPr lang="en-US" sz="920"/>
          </a:p>
        </p:txBody>
      </p:sp>
      <p:sp>
        <p:nvSpPr>
          <p:cNvPr id="22" name="Text 20"/>
          <p:cNvSpPr/>
          <p:nvPr/>
        </p:nvSpPr>
        <p:spPr>
          <a:xfrm>
            <a:off x="457200" y="4974336"/>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Database, SQL and Python concepts pitched for a non-developer audience</a:t>
            </a:r>
            <a:endParaRPr lang="en-US" sz="860"/>
          </a:p>
        </p:txBody>
      </p:sp>
      <p:sp>
        <p:nvSpPr>
          <p:cNvPr id="23" name="Text 21"/>
          <p:cNvSpPr/>
          <p:nvPr/>
        </p:nvSpPr>
        <p:spPr>
          <a:xfrm>
            <a:off x="2673096" y="2212848"/>
            <a:ext cx="2014728" cy="384048"/>
          </a:xfrm>
          <a:prstGeom prst="rect">
            <a:avLst/>
          </a:prstGeom>
          <a:noFill/>
          <a:ln/>
        </p:spPr>
        <p:txBody>
          <a:bodyPr wrap="square" lIns="0" tIns="0" rIns="0" bIns="0" rtlCol="0" anchor="ctr"/>
          <a:lstStyle/>
          <a:p>
            <a:pPr marL="0" indent="0">
              <a:buNone/>
            </a:pPr>
            <a:r>
              <a:rPr lang="en-US" sz="2700" b="1">
                <a:solidFill>
                  <a:srgbClr val="1E49E2"/>
                </a:solidFill>
                <a:latin typeface="Arial" pitchFamily="34" charset="0"/>
                <a:ea typeface="Arial" pitchFamily="34" charset="-122"/>
                <a:cs typeface="Arial" pitchFamily="34" charset="-120"/>
              </a:rPr>
              <a:t>02</a:t>
            </a:r>
            <a:endParaRPr lang="en-US" sz="2700"/>
          </a:p>
        </p:txBody>
      </p:sp>
      <p:sp>
        <p:nvSpPr>
          <p:cNvPr id="24" name="Text 22"/>
          <p:cNvSpPr/>
          <p:nvPr/>
        </p:nvSpPr>
        <p:spPr>
          <a:xfrm>
            <a:off x="2673096" y="2633472"/>
            <a:ext cx="2014728" cy="512064"/>
          </a:xfrm>
          <a:prstGeom prst="rect">
            <a:avLst/>
          </a:prstGeom>
          <a:noFill/>
          <a:ln/>
        </p:spPr>
        <p:txBody>
          <a:bodyPr wrap="square" lIns="0" tIns="0" rIns="0" bIns="0" rtlCol="0" anchor="ctr"/>
          <a:lstStyle/>
          <a:p>
            <a:pPr marL="0" indent="0">
              <a:lnSpc>
                <a:spcPts val="1500"/>
              </a:lnSpc>
              <a:buNone/>
            </a:pPr>
            <a:r>
              <a:rPr lang="en-US" sz="1250" b="1">
                <a:solidFill>
                  <a:srgbClr val="0B2265"/>
                </a:solidFill>
                <a:latin typeface="Arial" pitchFamily="34" charset="0"/>
                <a:ea typeface="Arial" pitchFamily="34" charset="-122"/>
                <a:cs typeface="Arial" pitchFamily="34" charset="-120"/>
              </a:rPr>
              <a:t>Data Engineering</a:t>
            </a:r>
            <a:endParaRPr lang="en-US" sz="1250"/>
          </a:p>
          <a:p>
            <a:pPr marL="0" indent="0">
              <a:lnSpc>
                <a:spcPts val="1500"/>
              </a:lnSpc>
              <a:buNone/>
            </a:pPr>
            <a:r>
              <a:rPr lang="en-US" sz="1250" b="1">
                <a:solidFill>
                  <a:srgbClr val="0B2265"/>
                </a:solidFill>
                <a:latin typeface="Arial" pitchFamily="34" charset="0"/>
                <a:ea typeface="Arial" pitchFamily="34" charset="-122"/>
                <a:cs typeface="Arial" pitchFamily="34" charset="-120"/>
              </a:rPr>
              <a:t>in Fabric</a:t>
            </a:r>
            <a:endParaRPr lang="en-US" sz="1250"/>
          </a:p>
        </p:txBody>
      </p:sp>
      <p:sp>
        <p:nvSpPr>
          <p:cNvPr id="25" name="Text 23"/>
          <p:cNvSpPr/>
          <p:nvPr/>
        </p:nvSpPr>
        <p:spPr>
          <a:xfrm>
            <a:off x="2673096" y="3163824"/>
            <a:ext cx="2014728" cy="420624"/>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How workflows get built in the new environment. Hands-on.</a:t>
            </a:r>
            <a:endParaRPr lang="en-US" sz="800"/>
          </a:p>
        </p:txBody>
      </p:sp>
      <p:sp>
        <p:nvSpPr>
          <p:cNvPr id="26" name="Text 24"/>
          <p:cNvSpPr/>
          <p:nvPr/>
        </p:nvSpPr>
        <p:spPr>
          <a:xfrm>
            <a:off x="2673096" y="3602736"/>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Lakehouse concepts</a:t>
            </a:r>
            <a:endParaRPr lang="en-US" sz="920"/>
          </a:p>
        </p:txBody>
      </p:sp>
      <p:sp>
        <p:nvSpPr>
          <p:cNvPr id="27" name="Text 25"/>
          <p:cNvSpPr/>
          <p:nvPr/>
        </p:nvSpPr>
        <p:spPr>
          <a:xfrm>
            <a:off x="2673096" y="3822192"/>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OneLake, workspaces, tables and shortcuts, and how data is organised</a:t>
            </a:r>
            <a:endParaRPr lang="en-US" sz="860"/>
          </a:p>
        </p:txBody>
      </p:sp>
      <p:sp>
        <p:nvSpPr>
          <p:cNvPr id="28" name="Text 26"/>
          <p:cNvSpPr/>
          <p:nvPr/>
        </p:nvSpPr>
        <p:spPr>
          <a:xfrm>
            <a:off x="2673096" y="4178808"/>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Medallion architecture</a:t>
            </a:r>
            <a:endParaRPr lang="en-US" sz="920"/>
          </a:p>
        </p:txBody>
      </p:sp>
      <p:sp>
        <p:nvSpPr>
          <p:cNvPr id="29" name="Text 27"/>
          <p:cNvSpPr/>
          <p:nvPr/>
        </p:nvSpPr>
        <p:spPr>
          <a:xfrm>
            <a:off x="2673096" y="4398264"/>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Bronze, silver and gold layers, and what belongs at each stage</a:t>
            </a:r>
            <a:endParaRPr lang="en-US" sz="860"/>
          </a:p>
        </p:txBody>
      </p:sp>
      <p:sp>
        <p:nvSpPr>
          <p:cNvPr id="30" name="Text 28"/>
          <p:cNvSpPr/>
          <p:nvPr/>
        </p:nvSpPr>
        <p:spPr>
          <a:xfrm>
            <a:off x="2673096" y="4754880"/>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Notebook-centric development</a:t>
            </a:r>
            <a:endParaRPr lang="en-US" sz="920"/>
          </a:p>
        </p:txBody>
      </p:sp>
      <p:sp>
        <p:nvSpPr>
          <p:cNvPr id="31" name="Text 29"/>
          <p:cNvSpPr/>
          <p:nvPr/>
        </p:nvSpPr>
        <p:spPr>
          <a:xfrm>
            <a:off x="2673096" y="4974336"/>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Notebooks as the primary build pattern, ETL development and orchestration</a:t>
            </a:r>
            <a:endParaRPr lang="en-US" sz="860"/>
          </a:p>
        </p:txBody>
      </p:sp>
      <p:sp>
        <p:nvSpPr>
          <p:cNvPr id="32" name="Text 30"/>
          <p:cNvSpPr/>
          <p:nvPr/>
        </p:nvSpPr>
        <p:spPr>
          <a:xfrm>
            <a:off x="2673096" y="5330952"/>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Lab: build a workflow</a:t>
            </a:r>
            <a:endParaRPr lang="en-US" sz="920"/>
          </a:p>
        </p:txBody>
      </p:sp>
      <p:sp>
        <p:nvSpPr>
          <p:cNvPr id="33" name="Text 31"/>
          <p:cNvSpPr/>
          <p:nvPr/>
        </p:nvSpPr>
        <p:spPr>
          <a:xfrm>
            <a:off x="2673096" y="5550408"/>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Take one of your own Alteryx workflows through to a working Fabric build</a:t>
            </a:r>
            <a:endParaRPr lang="en-US" sz="860"/>
          </a:p>
        </p:txBody>
      </p:sp>
      <p:sp>
        <p:nvSpPr>
          <p:cNvPr id="34" name="Text 32"/>
          <p:cNvSpPr/>
          <p:nvPr/>
        </p:nvSpPr>
        <p:spPr>
          <a:xfrm>
            <a:off x="4888992" y="2212848"/>
            <a:ext cx="2014728" cy="384048"/>
          </a:xfrm>
          <a:prstGeom prst="rect">
            <a:avLst/>
          </a:prstGeom>
          <a:noFill/>
          <a:ln/>
        </p:spPr>
        <p:txBody>
          <a:bodyPr wrap="square" lIns="0" tIns="0" rIns="0" bIns="0" rtlCol="0" anchor="ctr"/>
          <a:lstStyle/>
          <a:p>
            <a:pPr marL="0" indent="0">
              <a:buNone/>
            </a:pPr>
            <a:r>
              <a:rPr lang="en-US" sz="2700" b="1">
                <a:solidFill>
                  <a:srgbClr val="1E49E2"/>
                </a:solidFill>
                <a:latin typeface="Arial" pitchFamily="34" charset="0"/>
                <a:ea typeface="Arial" pitchFamily="34" charset="-122"/>
                <a:cs typeface="Arial" pitchFamily="34" charset="-120"/>
              </a:rPr>
              <a:t>03</a:t>
            </a:r>
            <a:endParaRPr lang="en-US" sz="2700"/>
          </a:p>
        </p:txBody>
      </p:sp>
      <p:sp>
        <p:nvSpPr>
          <p:cNvPr id="35" name="Text 33"/>
          <p:cNvSpPr/>
          <p:nvPr/>
        </p:nvSpPr>
        <p:spPr>
          <a:xfrm>
            <a:off x="4888992" y="2633472"/>
            <a:ext cx="2014728" cy="512064"/>
          </a:xfrm>
          <a:prstGeom prst="rect">
            <a:avLst/>
          </a:prstGeom>
          <a:noFill/>
          <a:ln/>
        </p:spPr>
        <p:txBody>
          <a:bodyPr wrap="square" lIns="0" tIns="0" rIns="0" bIns="0" rtlCol="0" anchor="ctr"/>
          <a:lstStyle/>
          <a:p>
            <a:pPr marL="0" indent="0">
              <a:lnSpc>
                <a:spcPts val="1500"/>
              </a:lnSpc>
              <a:buNone/>
            </a:pPr>
            <a:r>
              <a:rPr lang="en-US" sz="1250" b="1">
                <a:solidFill>
                  <a:srgbClr val="0B2265"/>
                </a:solidFill>
                <a:latin typeface="Arial" pitchFamily="34" charset="0"/>
                <a:ea typeface="Arial" pitchFamily="34" charset="-122"/>
                <a:cs typeface="Arial" pitchFamily="34" charset="-120"/>
              </a:rPr>
              <a:t>User Experience &amp;</a:t>
            </a:r>
            <a:endParaRPr lang="en-US" sz="1250"/>
          </a:p>
          <a:p>
            <a:pPr marL="0" indent="0">
              <a:lnSpc>
                <a:spcPts val="1500"/>
              </a:lnSpc>
              <a:buNone/>
            </a:pPr>
            <a:r>
              <a:rPr lang="en-US" sz="1250" b="1">
                <a:solidFill>
                  <a:srgbClr val="0B2265"/>
                </a:solidFill>
                <a:latin typeface="Arial" pitchFamily="34" charset="0"/>
                <a:ea typeface="Arial" pitchFamily="34" charset="-122"/>
                <a:cs typeface="Arial" pitchFamily="34" charset="-120"/>
              </a:rPr>
              <a:t>Workflow Consumption</a:t>
            </a:r>
            <a:endParaRPr lang="en-US" sz="1250"/>
          </a:p>
        </p:txBody>
      </p:sp>
      <p:sp>
        <p:nvSpPr>
          <p:cNvPr id="36" name="Text 34"/>
          <p:cNvSpPr/>
          <p:nvPr/>
        </p:nvSpPr>
        <p:spPr>
          <a:xfrm>
            <a:off x="4888992" y="3163824"/>
            <a:ext cx="2014728" cy="420624"/>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How the wider tax organization and business reaches what gets built. Hands-on.</a:t>
            </a:r>
            <a:endParaRPr lang="en-US" sz="800"/>
          </a:p>
        </p:txBody>
      </p:sp>
      <p:sp>
        <p:nvSpPr>
          <p:cNvPr id="37" name="Text 35"/>
          <p:cNvSpPr/>
          <p:nvPr/>
        </p:nvSpPr>
        <p:spPr>
          <a:xfrm>
            <a:off x="4888992" y="3602736"/>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Portal-driven workflow execution</a:t>
            </a:r>
            <a:endParaRPr lang="en-US" sz="920"/>
          </a:p>
        </p:txBody>
      </p:sp>
      <p:sp>
        <p:nvSpPr>
          <p:cNvPr id="38" name="Text 36"/>
          <p:cNvSpPr/>
          <p:nvPr/>
        </p:nvSpPr>
        <p:spPr>
          <a:xfrm>
            <a:off x="4888992" y="3822192"/>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Users supply inputs and parameters, notebooks run in the background</a:t>
            </a:r>
            <a:endParaRPr lang="en-US" sz="860"/>
          </a:p>
        </p:txBody>
      </p:sp>
      <p:sp>
        <p:nvSpPr>
          <p:cNvPr id="39" name="Text 37"/>
          <p:cNvSpPr/>
          <p:nvPr/>
        </p:nvSpPr>
        <p:spPr>
          <a:xfrm>
            <a:off x="4888992" y="4178808"/>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Reporting integration</a:t>
            </a:r>
            <a:endParaRPr lang="en-US" sz="920"/>
          </a:p>
        </p:txBody>
      </p:sp>
      <p:sp>
        <p:nvSpPr>
          <p:cNvPr id="40" name="Text 38"/>
          <p:cNvSpPr/>
          <p:nvPr/>
        </p:nvSpPr>
        <p:spPr>
          <a:xfrm>
            <a:off x="4888992" y="4398264"/>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The end-to-end path from workflow output through to a finished report</a:t>
            </a:r>
            <a:endParaRPr lang="en-US" sz="860"/>
          </a:p>
        </p:txBody>
      </p:sp>
      <p:sp>
        <p:nvSpPr>
          <p:cNvPr id="41" name="Text 39"/>
          <p:cNvSpPr/>
          <p:nvPr/>
        </p:nvSpPr>
        <p:spPr>
          <a:xfrm>
            <a:off x="4888992" y="4754880"/>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Power BI and Power Query</a:t>
            </a:r>
            <a:endParaRPr lang="en-US" sz="920"/>
          </a:p>
        </p:txBody>
      </p:sp>
      <p:sp>
        <p:nvSpPr>
          <p:cNvPr id="42" name="Text 40"/>
          <p:cNvSpPr/>
          <p:nvPr/>
        </p:nvSpPr>
        <p:spPr>
          <a:xfrm>
            <a:off x="4888992" y="4974336"/>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Getting Fabric data into the reports the tax organization already uses</a:t>
            </a:r>
            <a:endParaRPr lang="en-US" sz="860"/>
          </a:p>
        </p:txBody>
      </p:sp>
      <p:sp>
        <p:nvSpPr>
          <p:cNvPr id="43" name="Text 41"/>
          <p:cNvSpPr/>
          <p:nvPr/>
        </p:nvSpPr>
        <p:spPr>
          <a:xfrm>
            <a:off x="4888992" y="5330952"/>
            <a:ext cx="2014728"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Lab: put a front door on it</a:t>
            </a:r>
            <a:endParaRPr lang="en-US" sz="920"/>
          </a:p>
        </p:txBody>
      </p:sp>
      <p:sp>
        <p:nvSpPr>
          <p:cNvPr id="44" name="Text 42"/>
          <p:cNvSpPr/>
          <p:nvPr/>
        </p:nvSpPr>
        <p:spPr>
          <a:xfrm>
            <a:off x="4888992" y="5550408"/>
            <a:ext cx="2014728"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Give the workflow you built inputs, a trigger and somewhere the output lands</a:t>
            </a:r>
            <a:endParaRPr lang="en-US" sz="860"/>
          </a:p>
        </p:txBody>
      </p:sp>
      <p:sp>
        <p:nvSpPr>
          <p:cNvPr id="45" name="Text 43"/>
          <p:cNvSpPr/>
          <p:nvPr/>
        </p:nvSpPr>
        <p:spPr>
          <a:xfrm>
            <a:off x="7315200" y="2212848"/>
            <a:ext cx="2107692" cy="384048"/>
          </a:xfrm>
          <a:prstGeom prst="rect">
            <a:avLst/>
          </a:prstGeom>
          <a:noFill/>
          <a:ln/>
        </p:spPr>
        <p:txBody>
          <a:bodyPr wrap="square" lIns="0" tIns="0" rIns="0" bIns="0" rtlCol="0" anchor="ctr"/>
          <a:lstStyle/>
          <a:p>
            <a:pPr marL="0" indent="0">
              <a:buNone/>
            </a:pPr>
            <a:r>
              <a:rPr lang="en-US" sz="2700" b="1">
                <a:solidFill>
                  <a:srgbClr val="1E49E2"/>
                </a:solidFill>
                <a:latin typeface="Arial" pitchFamily="34" charset="0"/>
                <a:ea typeface="Arial" pitchFamily="34" charset="-122"/>
                <a:cs typeface="Arial" pitchFamily="34" charset="-120"/>
              </a:rPr>
              <a:t>04</a:t>
            </a:r>
            <a:endParaRPr lang="en-US" sz="2700"/>
          </a:p>
        </p:txBody>
      </p:sp>
      <p:sp>
        <p:nvSpPr>
          <p:cNvPr id="46" name="Text 44"/>
          <p:cNvSpPr/>
          <p:nvPr/>
        </p:nvSpPr>
        <p:spPr>
          <a:xfrm>
            <a:off x="7315200" y="2633472"/>
            <a:ext cx="2107692" cy="512064"/>
          </a:xfrm>
          <a:prstGeom prst="rect">
            <a:avLst/>
          </a:prstGeom>
          <a:noFill/>
          <a:ln/>
        </p:spPr>
        <p:txBody>
          <a:bodyPr wrap="square" lIns="0" tIns="0" rIns="0" bIns="0" rtlCol="0" anchor="ctr"/>
          <a:lstStyle/>
          <a:p>
            <a:pPr marL="0" indent="0">
              <a:lnSpc>
                <a:spcPts val="1500"/>
              </a:lnSpc>
              <a:buNone/>
            </a:pPr>
            <a:r>
              <a:rPr lang="en-US" sz="1250" b="1">
                <a:solidFill>
                  <a:srgbClr val="0B2265"/>
                </a:solidFill>
                <a:latin typeface="Arial" pitchFamily="34" charset="0"/>
                <a:ea typeface="Arial" pitchFamily="34" charset="-122"/>
                <a:cs typeface="Arial" pitchFamily="34" charset="-120"/>
              </a:rPr>
              <a:t>DevOps, Governance</a:t>
            </a:r>
            <a:endParaRPr lang="en-US" sz="1250"/>
          </a:p>
          <a:p>
            <a:pPr marL="0" indent="0">
              <a:lnSpc>
                <a:spcPts val="1500"/>
              </a:lnSpc>
              <a:buNone/>
            </a:pPr>
            <a:r>
              <a:rPr lang="en-US" sz="1250" b="1">
                <a:solidFill>
                  <a:srgbClr val="0B2265"/>
                </a:solidFill>
                <a:latin typeface="Arial" pitchFamily="34" charset="0"/>
                <a:ea typeface="Arial" pitchFamily="34" charset="-122"/>
                <a:cs typeface="Arial" pitchFamily="34" charset="-120"/>
              </a:rPr>
              <a:t>&amp; Deployment</a:t>
            </a:r>
            <a:endParaRPr lang="en-US" sz="1250"/>
          </a:p>
        </p:txBody>
      </p:sp>
      <p:sp>
        <p:nvSpPr>
          <p:cNvPr id="47" name="Text 45"/>
          <p:cNvSpPr/>
          <p:nvPr/>
        </p:nvSpPr>
        <p:spPr>
          <a:xfrm>
            <a:off x="7315200" y="3163824"/>
            <a:ext cx="2107692" cy="420624"/>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How changes get shipped once solutions are live. Labs continue here.</a:t>
            </a:r>
            <a:endParaRPr lang="en-US" sz="800"/>
          </a:p>
        </p:txBody>
      </p:sp>
      <p:sp>
        <p:nvSpPr>
          <p:cNvPr id="48" name="Text 46"/>
          <p:cNvSpPr/>
          <p:nvPr/>
        </p:nvSpPr>
        <p:spPr>
          <a:xfrm>
            <a:off x="7315200" y="3602736"/>
            <a:ext cx="2107692"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Git fundamentals</a:t>
            </a:r>
            <a:endParaRPr lang="en-US" sz="920"/>
          </a:p>
        </p:txBody>
      </p:sp>
      <p:sp>
        <p:nvSpPr>
          <p:cNvPr id="49" name="Text 47"/>
          <p:cNvSpPr/>
          <p:nvPr/>
        </p:nvSpPr>
        <p:spPr>
          <a:xfrm>
            <a:off x="7315200" y="3822192"/>
            <a:ext cx="2107692"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Source control basics and branching, assuming no prior experience</a:t>
            </a:r>
            <a:endParaRPr lang="en-US" sz="860"/>
          </a:p>
        </p:txBody>
      </p:sp>
      <p:sp>
        <p:nvSpPr>
          <p:cNvPr id="50" name="Text 48"/>
          <p:cNvSpPr/>
          <p:nvPr/>
        </p:nvSpPr>
        <p:spPr>
          <a:xfrm>
            <a:off x="7315200" y="4178808"/>
            <a:ext cx="2107692"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Deployment patterns</a:t>
            </a:r>
            <a:endParaRPr lang="en-US" sz="920"/>
          </a:p>
        </p:txBody>
      </p:sp>
      <p:sp>
        <p:nvSpPr>
          <p:cNvPr id="51" name="Text 49"/>
          <p:cNvSpPr/>
          <p:nvPr/>
        </p:nvSpPr>
        <p:spPr>
          <a:xfrm>
            <a:off x="7315200" y="4398264"/>
            <a:ext cx="2107692"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Deployment pipelines and promoting work between workspaces</a:t>
            </a:r>
            <a:endParaRPr lang="en-US" sz="860"/>
          </a:p>
        </p:txBody>
      </p:sp>
      <p:sp>
        <p:nvSpPr>
          <p:cNvPr id="52" name="Text 50"/>
          <p:cNvSpPr/>
          <p:nvPr/>
        </p:nvSpPr>
        <p:spPr>
          <a:xfrm>
            <a:off x="7315200" y="4754880"/>
            <a:ext cx="2107692"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Release and environments</a:t>
            </a:r>
            <a:endParaRPr lang="en-US" sz="920"/>
          </a:p>
        </p:txBody>
      </p:sp>
      <p:sp>
        <p:nvSpPr>
          <p:cNvPr id="53" name="Text 51"/>
          <p:cNvSpPr/>
          <p:nvPr/>
        </p:nvSpPr>
        <p:spPr>
          <a:xfrm>
            <a:off x="7315200" y="4974336"/>
            <a:ext cx="2107692"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Dev, test and production, and the paved road for shipping changes</a:t>
            </a:r>
            <a:endParaRPr lang="en-US" sz="860"/>
          </a:p>
        </p:txBody>
      </p:sp>
      <p:sp>
        <p:nvSpPr>
          <p:cNvPr id="54" name="Text 52"/>
          <p:cNvSpPr/>
          <p:nvPr/>
        </p:nvSpPr>
        <p:spPr>
          <a:xfrm>
            <a:off x="7315200" y="5330952"/>
            <a:ext cx="2107692"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Lab: ship what you built</a:t>
            </a:r>
            <a:endParaRPr lang="en-US" sz="920"/>
          </a:p>
        </p:txBody>
      </p:sp>
      <p:sp>
        <p:nvSpPr>
          <p:cNvPr id="55" name="Text 53"/>
          <p:cNvSpPr/>
          <p:nvPr/>
        </p:nvSpPr>
        <p:spPr>
          <a:xfrm>
            <a:off x="7315200" y="5550408"/>
            <a:ext cx="2107692"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Put day one's workflow under source control and promote it upward</a:t>
            </a:r>
            <a:endParaRPr lang="en-US" sz="860"/>
          </a:p>
        </p:txBody>
      </p:sp>
      <p:sp>
        <p:nvSpPr>
          <p:cNvPr id="56" name="Text 54"/>
          <p:cNvSpPr/>
          <p:nvPr/>
        </p:nvSpPr>
        <p:spPr>
          <a:xfrm>
            <a:off x="9624060" y="2212848"/>
            <a:ext cx="2107692" cy="384048"/>
          </a:xfrm>
          <a:prstGeom prst="rect">
            <a:avLst/>
          </a:prstGeom>
          <a:noFill/>
          <a:ln/>
        </p:spPr>
        <p:txBody>
          <a:bodyPr wrap="square" lIns="0" tIns="0" rIns="0" bIns="0" rtlCol="0" anchor="ctr"/>
          <a:lstStyle/>
          <a:p>
            <a:pPr marL="0" indent="0">
              <a:buNone/>
            </a:pPr>
            <a:r>
              <a:rPr lang="en-US" sz="2700" b="1">
                <a:solidFill>
                  <a:srgbClr val="1E49E2"/>
                </a:solidFill>
                <a:latin typeface="Arial" pitchFamily="34" charset="0"/>
                <a:ea typeface="Arial" pitchFamily="34" charset="-122"/>
                <a:cs typeface="Arial" pitchFamily="34" charset="-120"/>
              </a:rPr>
              <a:t>05</a:t>
            </a:r>
            <a:endParaRPr lang="en-US" sz="2700"/>
          </a:p>
        </p:txBody>
      </p:sp>
      <p:sp>
        <p:nvSpPr>
          <p:cNvPr id="57" name="Text 55"/>
          <p:cNvSpPr/>
          <p:nvPr/>
        </p:nvSpPr>
        <p:spPr>
          <a:xfrm>
            <a:off x="9624060" y="2633472"/>
            <a:ext cx="2107692" cy="512064"/>
          </a:xfrm>
          <a:prstGeom prst="rect">
            <a:avLst/>
          </a:prstGeom>
          <a:noFill/>
          <a:ln/>
        </p:spPr>
        <p:txBody>
          <a:bodyPr wrap="square" lIns="0" tIns="0" rIns="0" bIns="0" rtlCol="0" anchor="ctr"/>
          <a:lstStyle/>
          <a:p>
            <a:pPr marL="0" indent="0">
              <a:lnSpc>
                <a:spcPts val="1500"/>
              </a:lnSpc>
              <a:buNone/>
            </a:pPr>
            <a:r>
              <a:rPr lang="en-US" sz="1250" b="1">
                <a:solidFill>
                  <a:srgbClr val="0B2265"/>
                </a:solidFill>
                <a:latin typeface="Arial" pitchFamily="34" charset="0"/>
                <a:ea typeface="Arial" pitchFamily="34" charset="-122"/>
                <a:cs typeface="Arial" pitchFamily="34" charset="-120"/>
              </a:rPr>
              <a:t>Taking Applications to Production</a:t>
            </a:r>
            <a:endParaRPr lang="en-US" sz="1250"/>
          </a:p>
        </p:txBody>
      </p:sp>
      <p:sp>
        <p:nvSpPr>
          <p:cNvPr id="58" name="Text 56"/>
          <p:cNvSpPr/>
          <p:nvPr/>
        </p:nvSpPr>
        <p:spPr>
          <a:xfrm>
            <a:off x="9624060" y="3163824"/>
            <a:ext cx="2107692" cy="420624"/>
          </a:xfrm>
          <a:prstGeom prst="rect">
            <a:avLst/>
          </a:prstGeom>
          <a:noFill/>
          <a:ln/>
        </p:spPr>
        <p:txBody>
          <a:bodyPr wrap="square" lIns="0" tIns="0" rIns="0" bIns="0" rtlCol="0" anchor="ctr"/>
          <a:lstStyle/>
          <a:p>
            <a:pPr marL="0" indent="0">
              <a:lnSpc>
                <a:spcPts val="1000"/>
              </a:lnSpc>
              <a:buNone/>
            </a:pPr>
            <a:r>
              <a:rPr lang="en-US" sz="800">
                <a:solidFill>
                  <a:srgbClr val="5A6472"/>
                </a:solidFill>
                <a:latin typeface="Arial" pitchFamily="34" charset="0"/>
                <a:ea typeface="Arial" pitchFamily="34" charset="-122"/>
                <a:cs typeface="Arial" pitchFamily="34" charset="-120"/>
              </a:rPr>
              <a:t>The twelve steps from a working build to production, and who owns each one.</a:t>
            </a:r>
            <a:endParaRPr lang="en-US" sz="800"/>
          </a:p>
        </p:txBody>
      </p:sp>
      <p:sp>
        <p:nvSpPr>
          <p:cNvPr id="59" name="Text 57"/>
          <p:cNvSpPr/>
          <p:nvPr/>
        </p:nvSpPr>
        <p:spPr>
          <a:xfrm>
            <a:off x="9624060" y="3602736"/>
            <a:ext cx="2107692"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cs typeface="Arial" pitchFamily="34" charset="-120"/>
              </a:rPr>
              <a:t>The Paved Path</a:t>
            </a:r>
            <a:endParaRPr lang="en-US" sz="920"/>
          </a:p>
        </p:txBody>
      </p:sp>
      <p:sp>
        <p:nvSpPr>
          <p:cNvPr id="60" name="Text 58"/>
          <p:cNvSpPr/>
          <p:nvPr/>
        </p:nvSpPr>
        <p:spPr>
          <a:xfrm>
            <a:off x="9624060" y="3822192"/>
            <a:ext cx="2107692"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Infra setup through to HCL handoff, and where each step gets stuck</a:t>
            </a:r>
            <a:endParaRPr lang="en-US" sz="860"/>
          </a:p>
        </p:txBody>
      </p:sp>
      <p:sp>
        <p:nvSpPr>
          <p:cNvPr id="61" name="Text 59"/>
          <p:cNvSpPr/>
          <p:nvPr/>
        </p:nvSpPr>
        <p:spPr>
          <a:xfrm>
            <a:off x="9624060" y="4178808"/>
            <a:ext cx="2107692"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Who you need, and when</a:t>
            </a:r>
            <a:endParaRPr lang="en-US" sz="920"/>
          </a:p>
        </p:txBody>
      </p:sp>
      <p:sp>
        <p:nvSpPr>
          <p:cNvPr id="62" name="Text 60"/>
          <p:cNvSpPr/>
          <p:nvPr/>
        </p:nvSpPr>
        <p:spPr>
          <a:xfrm>
            <a:off x="9624060" y="4398264"/>
            <a:ext cx="2107692"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The teams behind BAPPID, ESIS, consents, AI intake and email relay</a:t>
            </a:r>
            <a:endParaRPr lang="en-US" sz="860"/>
          </a:p>
        </p:txBody>
      </p:sp>
      <p:sp>
        <p:nvSpPr>
          <p:cNvPr id="63" name="Text 61"/>
          <p:cNvSpPr/>
          <p:nvPr/>
        </p:nvSpPr>
        <p:spPr>
          <a:xfrm>
            <a:off x="9624060" y="4754880"/>
            <a:ext cx="2107692"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The long poles</a:t>
            </a:r>
            <a:endParaRPr lang="en-US" sz="920"/>
          </a:p>
        </p:txBody>
      </p:sp>
      <p:sp>
        <p:nvSpPr>
          <p:cNvPr id="64" name="Text 62"/>
          <p:cNvSpPr/>
          <p:nvPr/>
        </p:nvSpPr>
        <p:spPr>
          <a:xfrm>
            <a:off x="9624060" y="4974336"/>
            <a:ext cx="2107692"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ESIS is five sequential reviews over four to eight weeks. Start it week one</a:t>
            </a:r>
            <a:endParaRPr lang="en-US" sz="860"/>
          </a:p>
        </p:txBody>
      </p:sp>
      <p:sp>
        <p:nvSpPr>
          <p:cNvPr id="65" name="Text 63"/>
          <p:cNvSpPr/>
          <p:nvPr/>
        </p:nvSpPr>
        <p:spPr>
          <a:xfrm>
            <a:off x="9624060" y="5330952"/>
            <a:ext cx="2107692" cy="237744"/>
          </a:xfrm>
          <a:prstGeom prst="rect">
            <a:avLst/>
          </a:prstGeom>
          <a:noFill/>
          <a:ln/>
        </p:spPr>
        <p:txBody>
          <a:bodyPr wrap="square" lIns="0" tIns="0" rIns="0" bIns="0" rtlCol="0" anchor="ctr"/>
          <a:lstStyle/>
          <a:p>
            <a:pPr marL="0" indent="0">
              <a:lnSpc>
                <a:spcPts val="1080"/>
              </a:lnSpc>
              <a:buNone/>
            </a:pPr>
            <a:r>
              <a:rPr lang="en-US" sz="920" b="1">
                <a:solidFill>
                  <a:srgbClr val="1A1A2E"/>
                </a:solidFill>
                <a:latin typeface="Arial" pitchFamily="34" charset="0"/>
                <a:ea typeface="Arial" pitchFamily="34" charset="-122"/>
                <a:cs typeface="Arial" pitchFamily="34" charset="-120"/>
              </a:rPr>
              <a:t>UAT through to go-live</a:t>
            </a:r>
            <a:endParaRPr lang="en-US" sz="920"/>
          </a:p>
        </p:txBody>
      </p:sp>
      <p:sp>
        <p:nvSpPr>
          <p:cNvPr id="66" name="Text 64"/>
          <p:cNvSpPr/>
          <p:nvPr/>
        </p:nvSpPr>
        <p:spPr>
          <a:xfrm>
            <a:off x="9624060" y="5550408"/>
            <a:ext cx="2107692" cy="402336"/>
          </a:xfrm>
          <a:prstGeom prst="rect">
            <a:avLst/>
          </a:prstGeom>
          <a:noFill/>
          <a:ln/>
        </p:spPr>
        <p:txBody>
          <a:bodyPr wrap="square" lIns="0" tIns="0" rIns="0" bIns="0" rtlCol="0" anchor="ctr"/>
          <a:lstStyle/>
          <a:p>
            <a:pPr marL="0" indent="0">
              <a:lnSpc>
                <a:spcPts val="1060"/>
              </a:lnSpc>
              <a:buNone/>
            </a:pPr>
            <a:r>
              <a:rPr lang="en-US" sz="860">
                <a:solidFill>
                  <a:srgbClr val="000000"/>
                </a:solidFill>
                <a:latin typeface="Arial" pitchFamily="34" charset="0"/>
                <a:ea typeface="Arial" pitchFamily="34" charset="-122"/>
                <a:cs typeface="Arial" pitchFamily="34" charset="-120"/>
              </a:rPr>
              <a:t>Acceptance in TEST, functional sign-off, then verifying the running app</a:t>
            </a:r>
            <a:endParaRPr lang="en-US" sz="860"/>
          </a:p>
        </p:txBody>
      </p:sp>
      <p:sp>
        <p:nvSpPr>
          <p:cNvPr id="67" name="Text 65"/>
          <p:cNvSpPr/>
          <p:nvPr/>
        </p:nvSpPr>
        <p:spPr>
          <a:xfrm>
            <a:off x="457200" y="5870448"/>
            <a:ext cx="11274552" cy="457200"/>
          </a:xfrm>
          <a:prstGeom prst="rect">
            <a:avLst/>
          </a:prstGeom>
          <a:noFill/>
          <a:ln/>
        </p:spPr>
        <p:txBody>
          <a:bodyPr wrap="square" lIns="0" tIns="0" rIns="0" bIns="0" rtlCol="0" anchor="ctr"/>
          <a:lstStyle/>
          <a:p>
            <a:pPr marL="0" indent="0">
              <a:lnSpc>
                <a:spcPts val="1000"/>
              </a:lnSpc>
              <a:buNone/>
            </a:pPr>
            <a:r>
              <a:rPr lang="en-US" sz="800" i="1">
                <a:solidFill>
                  <a:srgbClr val="5A6472"/>
                </a:solidFill>
                <a:latin typeface="Arial" pitchFamily="34" charset="0"/>
                <a:ea typeface="Arial" pitchFamily="34" charset="-122"/>
                <a:cs typeface="Arial" pitchFamily="34" charset="-120"/>
              </a:rPr>
              <a:t>Hands-on work runs inside Disney's Fabric and Azure DevOps environments, using the team's own workflows rather than sample data. Pillar 05 covers the existing TDMI delivery process, so the training reinforces the standard rather than introducing a second one. Attendees must be pre-credentialed before the 19th.</a:t>
            </a:r>
            <a:endParaRPr lang="en-US" sz="800"/>
          </a:p>
        </p:txBody>
      </p:sp>
      <p:sp>
        <p:nvSpPr>
          <p:cNvPr id="68" name="Shape 66"/>
          <p:cNvSpPr/>
          <p:nvPr/>
        </p:nvSpPr>
        <p:spPr>
          <a:xfrm>
            <a:off x="0" y="6382512"/>
            <a:ext cx="12188952" cy="475488"/>
          </a:xfrm>
          <a:prstGeom prst="rect">
            <a:avLst/>
          </a:prstGeom>
          <a:solidFill>
            <a:srgbClr val="00338D"/>
          </a:solidFill>
          <a:ln/>
        </p:spPr>
        <p:txBody>
          <a:bodyPr/>
          <a:lstStyle/>
          <a:p>
            <a:endParaRPr lang="en-US"/>
          </a:p>
        </p:txBody>
      </p:sp>
      <p:sp>
        <p:nvSpPr>
          <p:cNvPr id="69" name="Text 67"/>
          <p:cNvSpPr/>
          <p:nvPr/>
        </p:nvSpPr>
        <p:spPr>
          <a:xfrm>
            <a:off x="457200" y="6492240"/>
            <a:ext cx="8229600" cy="256032"/>
          </a:xfrm>
          <a:prstGeom prst="rect">
            <a:avLst/>
          </a:prstGeom>
          <a:noFill/>
          <a:ln/>
        </p:spPr>
        <p:txBody>
          <a:bodyPr wrap="square" lIns="0" tIns="0" rIns="0" bIns="0" rtlCol="0" anchor="ctr"/>
          <a:lstStyle/>
          <a:p>
            <a:pPr marL="0" indent="0">
              <a:buNone/>
            </a:pPr>
            <a:r>
              <a:rPr lang="en-US" sz="900">
                <a:solidFill>
                  <a:srgbClr val="FFFFFF"/>
                </a:solidFill>
                <a:latin typeface="Arial" pitchFamily="34" charset="0"/>
                <a:ea typeface="Arial" pitchFamily="34" charset="-122"/>
                <a:cs typeface="Arial" pitchFamily="34" charset="-120"/>
              </a:rPr>
              <a:t>Delivered on-site at a Disney facility.</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338D"/>
          </a:solidFill>
          <a:ln/>
        </p:spPr>
        <p:txBody>
          <a:bodyPr/>
          <a:lstStyle/>
          <a:p>
            <a:endParaRPr lang="en-US"/>
          </a:p>
        </p:txBody>
      </p:sp>
      <p:sp>
        <p:nvSpPr>
          <p:cNvPr id="3" name="Text 1"/>
          <p:cNvSpPr/>
          <p:nvPr/>
        </p:nvSpPr>
        <p:spPr>
          <a:xfrm>
            <a:off x="457200" y="128016"/>
            <a:ext cx="8138160" cy="731520"/>
          </a:xfrm>
          <a:prstGeom prst="rect">
            <a:avLst/>
          </a:prstGeom>
          <a:noFill/>
          <a:ln/>
        </p:spPr>
        <p:txBody>
          <a:bodyPr wrap="square" lIns="0" tIns="0" rIns="0" bIns="0" rtlCol="0" anchor="ctr"/>
          <a:lstStyle/>
          <a:p>
            <a:pPr marL="0" indent="0">
              <a:lnSpc>
                <a:spcPts val="2300"/>
              </a:lnSpc>
              <a:buNone/>
            </a:pPr>
            <a:r>
              <a:rPr lang="en-US" sz="1850" b="1">
                <a:solidFill>
                  <a:srgbClr val="FFFFFF"/>
                </a:solidFill>
                <a:latin typeface="Arial" pitchFamily="34" charset="0"/>
                <a:ea typeface="Arial" pitchFamily="34" charset="-122"/>
                <a:cs typeface="Arial" pitchFamily="34" charset="-120"/>
              </a:rPr>
              <a:t>Now you've built it. Ship it.</a:t>
            </a:r>
            <a:endParaRPr lang="en-US" sz="1850"/>
          </a:p>
          <a:p>
            <a:pPr marL="0" indent="0">
              <a:lnSpc>
                <a:spcPts val="2300"/>
              </a:lnSpc>
              <a:buNone/>
            </a:pPr>
            <a:r>
              <a:rPr lang="en-US" sz="1850" b="1">
                <a:solidFill>
                  <a:srgbClr val="FFFFFF"/>
                </a:solidFill>
                <a:latin typeface="Arial" pitchFamily="34" charset="0"/>
                <a:ea typeface="Arial" pitchFamily="34" charset="-122"/>
                <a:cs typeface="Arial" pitchFamily="34" charset="-120"/>
              </a:rPr>
              <a:t>The twelve steps between a working build and production</a:t>
            </a:r>
            <a:endParaRPr lang="en-US" sz="1850"/>
          </a:p>
        </p:txBody>
      </p:sp>
      <p:sp>
        <p:nvSpPr>
          <p:cNvPr id="4" name="Text 2"/>
          <p:cNvSpPr/>
          <p:nvPr/>
        </p:nvSpPr>
        <p:spPr>
          <a:xfrm>
            <a:off x="8229600" y="347472"/>
            <a:ext cx="3502152" cy="274320"/>
          </a:xfrm>
          <a:prstGeom prst="rect">
            <a:avLst/>
          </a:prstGeom>
          <a:noFill/>
          <a:ln/>
        </p:spPr>
        <p:txBody>
          <a:bodyPr wrap="square" lIns="0" tIns="0" rIns="0" bIns="0" rtlCol="0" anchor="ctr"/>
          <a:lstStyle/>
          <a:p>
            <a:pPr marL="0" indent="0" algn="r">
              <a:buNone/>
            </a:pPr>
            <a:r>
              <a:rPr lang="en-US" sz="1050" b="1">
                <a:solidFill>
                  <a:srgbClr val="8FB8E8"/>
                </a:solidFill>
                <a:latin typeface="Arial" pitchFamily="34" charset="0"/>
                <a:ea typeface="Arial" pitchFamily="34" charset="-122"/>
                <a:cs typeface="Arial" pitchFamily="34" charset="-120"/>
              </a:rPr>
              <a:t>KPMG  ·  Disney Tax Data Management &amp; Innovation</a:t>
            </a:r>
            <a:endParaRPr lang="en-US" sz="1050"/>
          </a:p>
        </p:txBody>
      </p:sp>
      <p:sp>
        <p:nvSpPr>
          <p:cNvPr id="5" name="Shape 3"/>
          <p:cNvSpPr/>
          <p:nvPr/>
        </p:nvSpPr>
        <p:spPr>
          <a:xfrm>
            <a:off x="457200" y="1481328"/>
            <a:ext cx="1696212" cy="1783080"/>
          </a:xfrm>
          <a:prstGeom prst="rect">
            <a:avLst/>
          </a:prstGeom>
          <a:solidFill>
            <a:srgbClr val="F4F7FB"/>
          </a:solidFill>
          <a:ln/>
        </p:spPr>
        <p:txBody>
          <a:bodyPr/>
          <a:lstStyle/>
          <a:p>
            <a:endParaRPr lang="en-US"/>
          </a:p>
        </p:txBody>
      </p:sp>
      <p:sp>
        <p:nvSpPr>
          <p:cNvPr id="6" name="Shape 4"/>
          <p:cNvSpPr/>
          <p:nvPr/>
        </p:nvSpPr>
        <p:spPr>
          <a:xfrm>
            <a:off x="457200" y="1481328"/>
            <a:ext cx="1696212" cy="41148"/>
          </a:xfrm>
          <a:prstGeom prst="rect">
            <a:avLst/>
          </a:prstGeom>
          <a:solidFill>
            <a:srgbClr val="1E49E2"/>
          </a:solidFill>
          <a:ln/>
        </p:spPr>
        <p:txBody>
          <a:bodyPr/>
          <a:lstStyle/>
          <a:p>
            <a:endParaRPr lang="en-US"/>
          </a:p>
        </p:txBody>
      </p:sp>
      <p:sp>
        <p:nvSpPr>
          <p:cNvPr id="7" name="Text 5"/>
          <p:cNvSpPr/>
          <p:nvPr/>
        </p:nvSpPr>
        <p:spPr>
          <a:xfrm>
            <a:off x="585216" y="162763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1</a:t>
            </a:r>
            <a:endParaRPr lang="en-US" sz="1900"/>
          </a:p>
        </p:txBody>
      </p:sp>
      <p:sp>
        <p:nvSpPr>
          <p:cNvPr id="8" name="Text 6"/>
          <p:cNvSpPr/>
          <p:nvPr/>
        </p:nvSpPr>
        <p:spPr>
          <a:xfrm>
            <a:off x="585216" y="193852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Infra setup (ADO)</a:t>
            </a:r>
            <a:endParaRPr lang="en-US" sz="1050"/>
          </a:p>
        </p:txBody>
      </p:sp>
      <p:sp>
        <p:nvSpPr>
          <p:cNvPr id="9" name="Text 7"/>
          <p:cNvSpPr/>
          <p:nvPr/>
        </p:nvSpPr>
        <p:spPr>
          <a:xfrm>
            <a:off x="585216" y="235915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Repo and pipelines stood up on the standard stack</a:t>
            </a:r>
            <a:endParaRPr lang="en-US" sz="840"/>
          </a:p>
        </p:txBody>
      </p:sp>
      <p:sp>
        <p:nvSpPr>
          <p:cNvPr id="10" name="Shape 8"/>
          <p:cNvSpPr/>
          <p:nvPr/>
        </p:nvSpPr>
        <p:spPr>
          <a:xfrm>
            <a:off x="2372868" y="1481328"/>
            <a:ext cx="1696212" cy="1783080"/>
          </a:xfrm>
          <a:prstGeom prst="rect">
            <a:avLst/>
          </a:prstGeom>
          <a:solidFill>
            <a:srgbClr val="F4F7FB"/>
          </a:solidFill>
          <a:ln/>
        </p:spPr>
        <p:txBody>
          <a:bodyPr/>
          <a:lstStyle/>
          <a:p>
            <a:endParaRPr lang="en-US"/>
          </a:p>
        </p:txBody>
      </p:sp>
      <p:sp>
        <p:nvSpPr>
          <p:cNvPr id="11" name="Shape 9"/>
          <p:cNvSpPr/>
          <p:nvPr/>
        </p:nvSpPr>
        <p:spPr>
          <a:xfrm>
            <a:off x="2372868" y="1481328"/>
            <a:ext cx="1696212" cy="41148"/>
          </a:xfrm>
          <a:prstGeom prst="rect">
            <a:avLst/>
          </a:prstGeom>
          <a:solidFill>
            <a:srgbClr val="1E49E2"/>
          </a:solidFill>
          <a:ln/>
        </p:spPr>
        <p:txBody>
          <a:bodyPr/>
          <a:lstStyle/>
          <a:p>
            <a:endParaRPr lang="en-US"/>
          </a:p>
        </p:txBody>
      </p:sp>
      <p:sp>
        <p:nvSpPr>
          <p:cNvPr id="12" name="Text 10"/>
          <p:cNvSpPr/>
          <p:nvPr/>
        </p:nvSpPr>
        <p:spPr>
          <a:xfrm>
            <a:off x="2500884" y="162763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2</a:t>
            </a:r>
            <a:endParaRPr lang="en-US" sz="1900"/>
          </a:p>
        </p:txBody>
      </p:sp>
      <p:sp>
        <p:nvSpPr>
          <p:cNvPr id="13" name="Text 11"/>
          <p:cNvSpPr/>
          <p:nvPr/>
        </p:nvSpPr>
        <p:spPr>
          <a:xfrm>
            <a:off x="2500884" y="193852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UI draft created</a:t>
            </a:r>
            <a:endParaRPr lang="en-US" sz="1050"/>
          </a:p>
        </p:txBody>
      </p:sp>
      <p:sp>
        <p:nvSpPr>
          <p:cNvPr id="14" name="Text 12"/>
          <p:cNvSpPr/>
          <p:nvPr/>
        </p:nvSpPr>
        <p:spPr>
          <a:xfrm>
            <a:off x="2500884" y="235915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A first working interface, built to react to rather than describe</a:t>
            </a:r>
            <a:endParaRPr lang="en-US" sz="840"/>
          </a:p>
        </p:txBody>
      </p:sp>
      <p:sp>
        <p:nvSpPr>
          <p:cNvPr id="15" name="Shape 13"/>
          <p:cNvSpPr/>
          <p:nvPr/>
        </p:nvSpPr>
        <p:spPr>
          <a:xfrm>
            <a:off x="4288536" y="1481328"/>
            <a:ext cx="1696212" cy="1783080"/>
          </a:xfrm>
          <a:prstGeom prst="rect">
            <a:avLst/>
          </a:prstGeom>
          <a:solidFill>
            <a:srgbClr val="F4F7FB"/>
          </a:solidFill>
          <a:ln/>
        </p:spPr>
        <p:txBody>
          <a:bodyPr/>
          <a:lstStyle/>
          <a:p>
            <a:endParaRPr lang="en-US"/>
          </a:p>
        </p:txBody>
      </p:sp>
      <p:sp>
        <p:nvSpPr>
          <p:cNvPr id="16" name="Shape 14"/>
          <p:cNvSpPr/>
          <p:nvPr/>
        </p:nvSpPr>
        <p:spPr>
          <a:xfrm>
            <a:off x="4288536" y="1481328"/>
            <a:ext cx="1696212" cy="41148"/>
          </a:xfrm>
          <a:prstGeom prst="rect">
            <a:avLst/>
          </a:prstGeom>
          <a:solidFill>
            <a:srgbClr val="1E49E2"/>
          </a:solidFill>
          <a:ln/>
        </p:spPr>
        <p:txBody>
          <a:bodyPr/>
          <a:lstStyle/>
          <a:p>
            <a:endParaRPr lang="en-US"/>
          </a:p>
        </p:txBody>
      </p:sp>
      <p:sp>
        <p:nvSpPr>
          <p:cNvPr id="17" name="Text 15"/>
          <p:cNvSpPr/>
          <p:nvPr/>
        </p:nvSpPr>
        <p:spPr>
          <a:xfrm>
            <a:off x="4416552" y="162763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3</a:t>
            </a:r>
            <a:endParaRPr lang="en-US" sz="1900"/>
          </a:p>
        </p:txBody>
      </p:sp>
      <p:sp>
        <p:nvSpPr>
          <p:cNvPr id="18" name="Text 16"/>
          <p:cNvSpPr/>
          <p:nvPr/>
        </p:nvSpPr>
        <p:spPr>
          <a:xfrm>
            <a:off x="4416552" y="193852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UI review w/ business</a:t>
            </a:r>
            <a:endParaRPr lang="en-US" sz="1050"/>
          </a:p>
        </p:txBody>
      </p:sp>
      <p:sp>
        <p:nvSpPr>
          <p:cNvPr id="19" name="Text 17"/>
          <p:cNvSpPr/>
          <p:nvPr/>
        </p:nvSpPr>
        <p:spPr>
          <a:xfrm>
            <a:off x="4416552" y="235915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The people who will use it confirm the shape before the build hardens</a:t>
            </a:r>
            <a:endParaRPr lang="en-US" sz="840"/>
          </a:p>
        </p:txBody>
      </p:sp>
      <p:sp>
        <p:nvSpPr>
          <p:cNvPr id="20" name="Shape 18"/>
          <p:cNvSpPr/>
          <p:nvPr/>
        </p:nvSpPr>
        <p:spPr>
          <a:xfrm>
            <a:off x="6204204" y="1481328"/>
            <a:ext cx="1696212" cy="1783080"/>
          </a:xfrm>
          <a:prstGeom prst="rect">
            <a:avLst/>
          </a:prstGeom>
          <a:solidFill>
            <a:srgbClr val="F4F7FB"/>
          </a:solidFill>
          <a:ln/>
        </p:spPr>
        <p:txBody>
          <a:bodyPr/>
          <a:lstStyle/>
          <a:p>
            <a:endParaRPr lang="en-US"/>
          </a:p>
        </p:txBody>
      </p:sp>
      <p:sp>
        <p:nvSpPr>
          <p:cNvPr id="21" name="Shape 19"/>
          <p:cNvSpPr/>
          <p:nvPr/>
        </p:nvSpPr>
        <p:spPr>
          <a:xfrm>
            <a:off x="6204204" y="1481328"/>
            <a:ext cx="1696212" cy="41148"/>
          </a:xfrm>
          <a:prstGeom prst="rect">
            <a:avLst/>
          </a:prstGeom>
          <a:solidFill>
            <a:srgbClr val="1E49E2"/>
          </a:solidFill>
          <a:ln/>
        </p:spPr>
        <p:txBody>
          <a:bodyPr/>
          <a:lstStyle/>
          <a:p>
            <a:endParaRPr lang="en-US"/>
          </a:p>
        </p:txBody>
      </p:sp>
      <p:sp>
        <p:nvSpPr>
          <p:cNvPr id="22" name="Text 20"/>
          <p:cNvSpPr/>
          <p:nvPr/>
        </p:nvSpPr>
        <p:spPr>
          <a:xfrm>
            <a:off x="6332220" y="162763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4</a:t>
            </a:r>
            <a:endParaRPr lang="en-US" sz="1900"/>
          </a:p>
        </p:txBody>
      </p:sp>
      <p:sp>
        <p:nvSpPr>
          <p:cNvPr id="23" name="Text 21"/>
          <p:cNvSpPr/>
          <p:nvPr/>
        </p:nvSpPr>
        <p:spPr>
          <a:xfrm>
            <a:off x="6332220" y="193852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Dev build</a:t>
            </a:r>
            <a:endParaRPr lang="en-US" sz="1050"/>
          </a:p>
        </p:txBody>
      </p:sp>
      <p:sp>
        <p:nvSpPr>
          <p:cNvPr id="24" name="Text 22"/>
          <p:cNvSpPr/>
          <p:nvPr/>
        </p:nvSpPr>
        <p:spPr>
          <a:xfrm>
            <a:off x="6332220" y="235915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First deploy to DEV. Proof is the running app answering a request</a:t>
            </a:r>
            <a:endParaRPr lang="en-US" sz="840"/>
          </a:p>
        </p:txBody>
      </p:sp>
      <p:sp>
        <p:nvSpPr>
          <p:cNvPr id="25" name="Shape 23"/>
          <p:cNvSpPr/>
          <p:nvPr/>
        </p:nvSpPr>
        <p:spPr>
          <a:xfrm>
            <a:off x="8119872" y="1481328"/>
            <a:ext cx="1696212" cy="1783080"/>
          </a:xfrm>
          <a:prstGeom prst="rect">
            <a:avLst/>
          </a:prstGeom>
          <a:solidFill>
            <a:srgbClr val="F4F7FB"/>
          </a:solidFill>
          <a:ln/>
        </p:spPr>
        <p:txBody>
          <a:bodyPr/>
          <a:lstStyle/>
          <a:p>
            <a:endParaRPr lang="en-US"/>
          </a:p>
        </p:txBody>
      </p:sp>
      <p:sp>
        <p:nvSpPr>
          <p:cNvPr id="26" name="Shape 24"/>
          <p:cNvSpPr/>
          <p:nvPr/>
        </p:nvSpPr>
        <p:spPr>
          <a:xfrm>
            <a:off x="8119872" y="1481328"/>
            <a:ext cx="1696212" cy="41148"/>
          </a:xfrm>
          <a:prstGeom prst="rect">
            <a:avLst/>
          </a:prstGeom>
          <a:solidFill>
            <a:srgbClr val="1E49E2"/>
          </a:solidFill>
          <a:ln/>
        </p:spPr>
        <p:txBody>
          <a:bodyPr/>
          <a:lstStyle/>
          <a:p>
            <a:endParaRPr lang="en-US"/>
          </a:p>
        </p:txBody>
      </p:sp>
      <p:sp>
        <p:nvSpPr>
          <p:cNvPr id="27" name="Text 25"/>
          <p:cNvSpPr/>
          <p:nvPr/>
        </p:nvSpPr>
        <p:spPr>
          <a:xfrm>
            <a:off x="8247888" y="162763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5</a:t>
            </a:r>
            <a:endParaRPr lang="en-US" sz="1900"/>
          </a:p>
        </p:txBody>
      </p:sp>
      <p:sp>
        <p:nvSpPr>
          <p:cNvPr id="28" name="Text 26"/>
          <p:cNvSpPr/>
          <p:nvPr/>
        </p:nvSpPr>
        <p:spPr>
          <a:xfrm>
            <a:off x="8247888" y="193852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Test build</a:t>
            </a:r>
            <a:endParaRPr lang="en-US" sz="1050"/>
          </a:p>
        </p:txBody>
      </p:sp>
      <p:sp>
        <p:nvSpPr>
          <p:cNvPr id="29" name="Text 27"/>
          <p:cNvSpPr/>
          <p:nvPr/>
        </p:nvSpPr>
        <p:spPr>
          <a:xfrm>
            <a:off x="8247888" y="235915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Promoted through pipelines into the shared TEST environment</a:t>
            </a:r>
            <a:endParaRPr lang="en-US" sz="840"/>
          </a:p>
        </p:txBody>
      </p:sp>
      <p:sp>
        <p:nvSpPr>
          <p:cNvPr id="30" name="Shape 28"/>
          <p:cNvSpPr/>
          <p:nvPr/>
        </p:nvSpPr>
        <p:spPr>
          <a:xfrm>
            <a:off x="10035540" y="1481328"/>
            <a:ext cx="1696212" cy="1783080"/>
          </a:xfrm>
          <a:prstGeom prst="rect">
            <a:avLst/>
          </a:prstGeom>
          <a:solidFill>
            <a:srgbClr val="F4F7FB"/>
          </a:solidFill>
          <a:ln/>
        </p:spPr>
        <p:txBody>
          <a:bodyPr/>
          <a:lstStyle/>
          <a:p>
            <a:endParaRPr lang="en-US"/>
          </a:p>
        </p:txBody>
      </p:sp>
      <p:sp>
        <p:nvSpPr>
          <p:cNvPr id="31" name="Shape 29"/>
          <p:cNvSpPr/>
          <p:nvPr/>
        </p:nvSpPr>
        <p:spPr>
          <a:xfrm>
            <a:off x="10035540" y="1481328"/>
            <a:ext cx="1696212" cy="41148"/>
          </a:xfrm>
          <a:prstGeom prst="rect">
            <a:avLst/>
          </a:prstGeom>
          <a:solidFill>
            <a:srgbClr val="1E49E2"/>
          </a:solidFill>
          <a:ln/>
        </p:spPr>
        <p:txBody>
          <a:bodyPr/>
          <a:lstStyle/>
          <a:p>
            <a:endParaRPr lang="en-US"/>
          </a:p>
        </p:txBody>
      </p:sp>
      <p:sp>
        <p:nvSpPr>
          <p:cNvPr id="32" name="Text 30"/>
          <p:cNvSpPr/>
          <p:nvPr/>
        </p:nvSpPr>
        <p:spPr>
          <a:xfrm>
            <a:off x="10163556" y="162763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6</a:t>
            </a:r>
            <a:endParaRPr lang="en-US" sz="1900"/>
          </a:p>
        </p:txBody>
      </p:sp>
      <p:sp>
        <p:nvSpPr>
          <p:cNvPr id="33" name="Text 31"/>
          <p:cNvSpPr/>
          <p:nvPr/>
        </p:nvSpPr>
        <p:spPr>
          <a:xfrm>
            <a:off x="10163556" y="193852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AI engine build</a:t>
            </a:r>
            <a:endParaRPr lang="en-US" sz="1050"/>
          </a:p>
        </p:txBody>
      </p:sp>
      <p:sp>
        <p:nvSpPr>
          <p:cNvPr id="34" name="Text 32"/>
          <p:cNvSpPr/>
          <p:nvPr/>
        </p:nvSpPr>
        <p:spPr>
          <a:xfrm>
            <a:off x="10163556" y="235915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The AI layer built and grounded against real Fabric data</a:t>
            </a:r>
            <a:endParaRPr lang="en-US" sz="840"/>
          </a:p>
        </p:txBody>
      </p:sp>
      <p:sp>
        <p:nvSpPr>
          <p:cNvPr id="35" name="Shape 33"/>
          <p:cNvSpPr/>
          <p:nvPr/>
        </p:nvSpPr>
        <p:spPr>
          <a:xfrm>
            <a:off x="457200" y="3630168"/>
            <a:ext cx="1696212" cy="1783080"/>
          </a:xfrm>
          <a:prstGeom prst="rect">
            <a:avLst/>
          </a:prstGeom>
          <a:solidFill>
            <a:srgbClr val="F4F7FB"/>
          </a:solidFill>
          <a:ln/>
        </p:spPr>
        <p:txBody>
          <a:bodyPr/>
          <a:lstStyle/>
          <a:p>
            <a:endParaRPr lang="en-US"/>
          </a:p>
        </p:txBody>
      </p:sp>
      <p:sp>
        <p:nvSpPr>
          <p:cNvPr id="36" name="Shape 34"/>
          <p:cNvSpPr/>
          <p:nvPr/>
        </p:nvSpPr>
        <p:spPr>
          <a:xfrm>
            <a:off x="457200" y="3630168"/>
            <a:ext cx="1696212" cy="41148"/>
          </a:xfrm>
          <a:prstGeom prst="rect">
            <a:avLst/>
          </a:prstGeom>
          <a:solidFill>
            <a:srgbClr val="1E49E2"/>
          </a:solidFill>
          <a:ln/>
        </p:spPr>
        <p:txBody>
          <a:bodyPr/>
          <a:lstStyle/>
          <a:p>
            <a:endParaRPr lang="en-US"/>
          </a:p>
        </p:txBody>
      </p:sp>
      <p:sp>
        <p:nvSpPr>
          <p:cNvPr id="37" name="Text 35"/>
          <p:cNvSpPr/>
          <p:nvPr/>
        </p:nvSpPr>
        <p:spPr>
          <a:xfrm>
            <a:off x="585216" y="377647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7</a:t>
            </a:r>
            <a:endParaRPr lang="en-US" sz="1900"/>
          </a:p>
        </p:txBody>
      </p:sp>
      <p:sp>
        <p:nvSpPr>
          <p:cNvPr id="38" name="Text 36"/>
          <p:cNvSpPr/>
          <p:nvPr/>
        </p:nvSpPr>
        <p:spPr>
          <a:xfrm>
            <a:off x="585216" y="408736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Full flow confirmed</a:t>
            </a:r>
            <a:endParaRPr lang="en-US" sz="1050"/>
          </a:p>
        </p:txBody>
      </p:sp>
      <p:sp>
        <p:nvSpPr>
          <p:cNvPr id="39" name="Text 37"/>
          <p:cNvSpPr/>
          <p:nvPr/>
        </p:nvSpPr>
        <p:spPr>
          <a:xfrm>
            <a:off x="585216" y="450799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End to end, with every state reachable, not just the happy path</a:t>
            </a:r>
            <a:endParaRPr lang="en-US" sz="840"/>
          </a:p>
        </p:txBody>
      </p:sp>
      <p:sp>
        <p:nvSpPr>
          <p:cNvPr id="40" name="Shape 38"/>
          <p:cNvSpPr/>
          <p:nvPr/>
        </p:nvSpPr>
        <p:spPr>
          <a:xfrm>
            <a:off x="2372868" y="3630168"/>
            <a:ext cx="1696212" cy="1783080"/>
          </a:xfrm>
          <a:prstGeom prst="rect">
            <a:avLst/>
          </a:prstGeom>
          <a:solidFill>
            <a:srgbClr val="F4F7FB"/>
          </a:solidFill>
          <a:ln/>
        </p:spPr>
        <p:txBody>
          <a:bodyPr/>
          <a:lstStyle/>
          <a:p>
            <a:endParaRPr lang="en-US"/>
          </a:p>
        </p:txBody>
      </p:sp>
      <p:sp>
        <p:nvSpPr>
          <p:cNvPr id="41" name="Shape 39"/>
          <p:cNvSpPr/>
          <p:nvPr/>
        </p:nvSpPr>
        <p:spPr>
          <a:xfrm>
            <a:off x="2372868" y="3630168"/>
            <a:ext cx="1696212" cy="41148"/>
          </a:xfrm>
          <a:prstGeom prst="rect">
            <a:avLst/>
          </a:prstGeom>
          <a:solidFill>
            <a:srgbClr val="1E49E2"/>
          </a:solidFill>
          <a:ln/>
        </p:spPr>
        <p:txBody>
          <a:bodyPr/>
          <a:lstStyle/>
          <a:p>
            <a:endParaRPr lang="en-US"/>
          </a:p>
        </p:txBody>
      </p:sp>
      <p:sp>
        <p:nvSpPr>
          <p:cNvPr id="42" name="Text 40"/>
          <p:cNvSpPr/>
          <p:nvPr/>
        </p:nvSpPr>
        <p:spPr>
          <a:xfrm>
            <a:off x="2500884" y="377647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8</a:t>
            </a:r>
            <a:endParaRPr lang="en-US" sz="1900"/>
          </a:p>
        </p:txBody>
      </p:sp>
      <p:sp>
        <p:nvSpPr>
          <p:cNvPr id="43" name="Text 41"/>
          <p:cNvSpPr/>
          <p:nvPr/>
        </p:nvSpPr>
        <p:spPr>
          <a:xfrm>
            <a:off x="2500884" y="408736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UAT (test env)</a:t>
            </a:r>
            <a:endParaRPr lang="en-US" sz="1050"/>
          </a:p>
        </p:txBody>
      </p:sp>
      <p:sp>
        <p:nvSpPr>
          <p:cNvPr id="44" name="Text 42"/>
          <p:cNvSpPr/>
          <p:nvPr/>
        </p:nvSpPr>
        <p:spPr>
          <a:xfrm>
            <a:off x="2500884" y="450799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Business users run the manual cycle. Needs TEST consent first</a:t>
            </a:r>
            <a:endParaRPr lang="en-US" sz="840"/>
          </a:p>
        </p:txBody>
      </p:sp>
      <p:sp>
        <p:nvSpPr>
          <p:cNvPr id="45" name="Shape 43"/>
          <p:cNvSpPr/>
          <p:nvPr/>
        </p:nvSpPr>
        <p:spPr>
          <a:xfrm>
            <a:off x="4288536" y="3630168"/>
            <a:ext cx="1696212" cy="1783080"/>
          </a:xfrm>
          <a:prstGeom prst="rect">
            <a:avLst/>
          </a:prstGeom>
          <a:solidFill>
            <a:srgbClr val="F4F7FB"/>
          </a:solidFill>
          <a:ln/>
        </p:spPr>
        <p:txBody>
          <a:bodyPr/>
          <a:lstStyle/>
          <a:p>
            <a:endParaRPr lang="en-US"/>
          </a:p>
        </p:txBody>
      </p:sp>
      <p:sp>
        <p:nvSpPr>
          <p:cNvPr id="46" name="Shape 44"/>
          <p:cNvSpPr/>
          <p:nvPr/>
        </p:nvSpPr>
        <p:spPr>
          <a:xfrm>
            <a:off x="4288536" y="3630168"/>
            <a:ext cx="1696212" cy="41148"/>
          </a:xfrm>
          <a:prstGeom prst="rect">
            <a:avLst/>
          </a:prstGeom>
          <a:solidFill>
            <a:srgbClr val="1E49E2"/>
          </a:solidFill>
          <a:ln/>
        </p:spPr>
        <p:txBody>
          <a:bodyPr/>
          <a:lstStyle/>
          <a:p>
            <a:endParaRPr lang="en-US"/>
          </a:p>
        </p:txBody>
      </p:sp>
      <p:sp>
        <p:nvSpPr>
          <p:cNvPr id="47" name="Text 45"/>
          <p:cNvSpPr/>
          <p:nvPr/>
        </p:nvSpPr>
        <p:spPr>
          <a:xfrm>
            <a:off x="4416552" y="377647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9</a:t>
            </a:r>
            <a:endParaRPr lang="en-US" sz="1900"/>
          </a:p>
        </p:txBody>
      </p:sp>
      <p:sp>
        <p:nvSpPr>
          <p:cNvPr id="48" name="Text 46"/>
          <p:cNvSpPr/>
          <p:nvPr/>
        </p:nvSpPr>
        <p:spPr>
          <a:xfrm>
            <a:off x="4416552" y="408736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Functional sign-off</a:t>
            </a:r>
            <a:endParaRPr lang="en-US" sz="1050"/>
          </a:p>
        </p:txBody>
      </p:sp>
      <p:sp>
        <p:nvSpPr>
          <p:cNvPr id="49" name="Text 47"/>
          <p:cNvSpPr/>
          <p:nvPr/>
        </p:nvSpPr>
        <p:spPr>
          <a:xfrm>
            <a:off x="4416552" y="450799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The process owner signs. This gates the production build</a:t>
            </a:r>
            <a:endParaRPr lang="en-US" sz="840"/>
          </a:p>
        </p:txBody>
      </p:sp>
      <p:sp>
        <p:nvSpPr>
          <p:cNvPr id="50" name="Shape 48"/>
          <p:cNvSpPr/>
          <p:nvPr/>
        </p:nvSpPr>
        <p:spPr>
          <a:xfrm>
            <a:off x="6204204" y="3630168"/>
            <a:ext cx="1696212" cy="1783080"/>
          </a:xfrm>
          <a:prstGeom prst="rect">
            <a:avLst/>
          </a:prstGeom>
          <a:solidFill>
            <a:srgbClr val="F4F7FB"/>
          </a:solidFill>
          <a:ln/>
        </p:spPr>
        <p:txBody>
          <a:bodyPr/>
          <a:lstStyle/>
          <a:p>
            <a:endParaRPr lang="en-US"/>
          </a:p>
        </p:txBody>
      </p:sp>
      <p:sp>
        <p:nvSpPr>
          <p:cNvPr id="51" name="Shape 49"/>
          <p:cNvSpPr/>
          <p:nvPr/>
        </p:nvSpPr>
        <p:spPr>
          <a:xfrm>
            <a:off x="6204204" y="3630168"/>
            <a:ext cx="1696212" cy="41148"/>
          </a:xfrm>
          <a:prstGeom prst="rect">
            <a:avLst/>
          </a:prstGeom>
          <a:solidFill>
            <a:srgbClr val="1E49E2"/>
          </a:solidFill>
          <a:ln/>
        </p:spPr>
        <p:txBody>
          <a:bodyPr/>
          <a:lstStyle/>
          <a:p>
            <a:endParaRPr lang="en-US"/>
          </a:p>
        </p:txBody>
      </p:sp>
      <p:sp>
        <p:nvSpPr>
          <p:cNvPr id="52" name="Text 50"/>
          <p:cNvSpPr/>
          <p:nvPr/>
        </p:nvSpPr>
        <p:spPr>
          <a:xfrm>
            <a:off x="6332220" y="377647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10</a:t>
            </a:r>
            <a:endParaRPr lang="en-US" sz="1900"/>
          </a:p>
        </p:txBody>
      </p:sp>
      <p:sp>
        <p:nvSpPr>
          <p:cNvPr id="53" name="Text 51"/>
          <p:cNvSpPr/>
          <p:nvPr/>
        </p:nvSpPr>
        <p:spPr>
          <a:xfrm>
            <a:off x="6332220" y="408736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ESIS approved</a:t>
            </a:r>
            <a:endParaRPr lang="en-US" sz="1050"/>
          </a:p>
        </p:txBody>
      </p:sp>
      <p:sp>
        <p:nvSpPr>
          <p:cNvPr id="54" name="Text 52"/>
          <p:cNvSpPr/>
          <p:nvPr/>
        </p:nvSpPr>
        <p:spPr>
          <a:xfrm>
            <a:off x="6332220" y="450799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Five sequential reviews. The long pole — start it in week one</a:t>
            </a:r>
            <a:endParaRPr lang="en-US" sz="840"/>
          </a:p>
        </p:txBody>
      </p:sp>
      <p:sp>
        <p:nvSpPr>
          <p:cNvPr id="55" name="Shape 53"/>
          <p:cNvSpPr/>
          <p:nvPr/>
        </p:nvSpPr>
        <p:spPr>
          <a:xfrm>
            <a:off x="8119872" y="3630168"/>
            <a:ext cx="1696212" cy="1783080"/>
          </a:xfrm>
          <a:prstGeom prst="rect">
            <a:avLst/>
          </a:prstGeom>
          <a:solidFill>
            <a:srgbClr val="F4F7FB"/>
          </a:solidFill>
          <a:ln/>
        </p:spPr>
        <p:txBody>
          <a:bodyPr/>
          <a:lstStyle/>
          <a:p>
            <a:endParaRPr lang="en-US"/>
          </a:p>
        </p:txBody>
      </p:sp>
      <p:sp>
        <p:nvSpPr>
          <p:cNvPr id="56" name="Shape 54"/>
          <p:cNvSpPr/>
          <p:nvPr/>
        </p:nvSpPr>
        <p:spPr>
          <a:xfrm>
            <a:off x="8119872" y="3630168"/>
            <a:ext cx="1696212" cy="41148"/>
          </a:xfrm>
          <a:prstGeom prst="rect">
            <a:avLst/>
          </a:prstGeom>
          <a:solidFill>
            <a:srgbClr val="1E49E2"/>
          </a:solidFill>
          <a:ln/>
        </p:spPr>
        <p:txBody>
          <a:bodyPr/>
          <a:lstStyle/>
          <a:p>
            <a:endParaRPr lang="en-US"/>
          </a:p>
        </p:txBody>
      </p:sp>
      <p:sp>
        <p:nvSpPr>
          <p:cNvPr id="57" name="Text 55"/>
          <p:cNvSpPr/>
          <p:nvPr/>
        </p:nvSpPr>
        <p:spPr>
          <a:xfrm>
            <a:off x="8247888" y="377647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11</a:t>
            </a:r>
            <a:endParaRPr lang="en-US" sz="1900"/>
          </a:p>
        </p:txBody>
      </p:sp>
      <p:sp>
        <p:nvSpPr>
          <p:cNvPr id="58" name="Text 56"/>
          <p:cNvSpPr/>
          <p:nvPr/>
        </p:nvSpPr>
        <p:spPr>
          <a:xfrm>
            <a:off x="8247888" y="408736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Moved to production</a:t>
            </a:r>
            <a:endParaRPr lang="en-US" sz="1050"/>
          </a:p>
        </p:txBody>
      </p:sp>
      <p:sp>
        <p:nvSpPr>
          <p:cNvPr id="59" name="Text 57"/>
          <p:cNvSpPr/>
          <p:nvPr/>
        </p:nvSpPr>
        <p:spPr>
          <a:xfrm>
            <a:off x="8247888" y="450799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Same tag, explicit confirmation, every governing approval closed</a:t>
            </a:r>
            <a:endParaRPr lang="en-US" sz="840"/>
          </a:p>
        </p:txBody>
      </p:sp>
      <p:sp>
        <p:nvSpPr>
          <p:cNvPr id="60" name="Shape 58"/>
          <p:cNvSpPr/>
          <p:nvPr/>
        </p:nvSpPr>
        <p:spPr>
          <a:xfrm>
            <a:off x="10035540" y="3630168"/>
            <a:ext cx="1696212" cy="1783080"/>
          </a:xfrm>
          <a:prstGeom prst="rect">
            <a:avLst/>
          </a:prstGeom>
          <a:solidFill>
            <a:srgbClr val="F4F7FB"/>
          </a:solidFill>
          <a:ln/>
        </p:spPr>
        <p:txBody>
          <a:bodyPr/>
          <a:lstStyle/>
          <a:p>
            <a:endParaRPr lang="en-US"/>
          </a:p>
        </p:txBody>
      </p:sp>
      <p:sp>
        <p:nvSpPr>
          <p:cNvPr id="61" name="Shape 59"/>
          <p:cNvSpPr/>
          <p:nvPr/>
        </p:nvSpPr>
        <p:spPr>
          <a:xfrm>
            <a:off x="10035540" y="3630168"/>
            <a:ext cx="1696212" cy="41148"/>
          </a:xfrm>
          <a:prstGeom prst="rect">
            <a:avLst/>
          </a:prstGeom>
          <a:solidFill>
            <a:srgbClr val="1E49E2"/>
          </a:solidFill>
          <a:ln/>
        </p:spPr>
        <p:txBody>
          <a:bodyPr/>
          <a:lstStyle/>
          <a:p>
            <a:endParaRPr lang="en-US"/>
          </a:p>
        </p:txBody>
      </p:sp>
      <p:sp>
        <p:nvSpPr>
          <p:cNvPr id="62" name="Text 60"/>
          <p:cNvSpPr/>
          <p:nvPr/>
        </p:nvSpPr>
        <p:spPr>
          <a:xfrm>
            <a:off x="10163556" y="3776472"/>
            <a:ext cx="1440180" cy="274320"/>
          </a:xfrm>
          <a:prstGeom prst="rect">
            <a:avLst/>
          </a:prstGeom>
          <a:noFill/>
          <a:ln/>
        </p:spPr>
        <p:txBody>
          <a:bodyPr wrap="square" lIns="0" tIns="0" rIns="0" bIns="0" rtlCol="0" anchor="ctr"/>
          <a:lstStyle/>
          <a:p>
            <a:pPr marL="0" indent="0">
              <a:buNone/>
            </a:pPr>
            <a:r>
              <a:rPr lang="en-US" sz="1900" b="1">
                <a:solidFill>
                  <a:srgbClr val="1E49E2"/>
                </a:solidFill>
                <a:latin typeface="Arial" pitchFamily="34" charset="0"/>
                <a:ea typeface="Arial" pitchFamily="34" charset="-122"/>
                <a:cs typeface="Arial" pitchFamily="34" charset="-120"/>
              </a:rPr>
              <a:t>12</a:t>
            </a:r>
            <a:endParaRPr lang="en-US" sz="1900"/>
          </a:p>
        </p:txBody>
      </p:sp>
      <p:sp>
        <p:nvSpPr>
          <p:cNvPr id="63" name="Text 61"/>
          <p:cNvSpPr/>
          <p:nvPr/>
        </p:nvSpPr>
        <p:spPr>
          <a:xfrm>
            <a:off x="10163556" y="4087368"/>
            <a:ext cx="1440180" cy="365760"/>
          </a:xfrm>
          <a:prstGeom prst="rect">
            <a:avLst/>
          </a:prstGeom>
          <a:noFill/>
          <a:ln/>
        </p:spPr>
        <p:txBody>
          <a:bodyPr wrap="square" lIns="0" tIns="0" rIns="0" bIns="0" rtlCol="0" anchor="ctr"/>
          <a:lstStyle/>
          <a:p>
            <a:pPr marL="0" indent="0">
              <a:lnSpc>
                <a:spcPts val="1250"/>
              </a:lnSpc>
              <a:buNone/>
            </a:pPr>
            <a:r>
              <a:rPr lang="en-US" sz="1050" b="1">
                <a:solidFill>
                  <a:srgbClr val="0B2265"/>
                </a:solidFill>
                <a:latin typeface="Arial" pitchFamily="34" charset="0"/>
                <a:ea typeface="Arial" pitchFamily="34" charset="-122"/>
                <a:cs typeface="Arial" pitchFamily="34" charset="-120"/>
              </a:rPr>
              <a:t>Docs for HCL handoff</a:t>
            </a:r>
            <a:endParaRPr lang="en-US" sz="1050"/>
          </a:p>
        </p:txBody>
      </p:sp>
      <p:sp>
        <p:nvSpPr>
          <p:cNvPr id="64" name="Text 62"/>
          <p:cNvSpPr/>
          <p:nvPr/>
        </p:nvSpPr>
        <p:spPr>
          <a:xfrm>
            <a:off x="10163556" y="4507992"/>
            <a:ext cx="1440180" cy="777240"/>
          </a:xfrm>
          <a:prstGeom prst="rect">
            <a:avLst/>
          </a:prstGeom>
          <a:noFill/>
          <a:ln/>
        </p:spPr>
        <p:txBody>
          <a:bodyPr wrap="square" lIns="0" tIns="0" rIns="0" bIns="0" rtlCol="0" anchor="ctr"/>
          <a:lstStyle/>
          <a:p>
            <a:pPr marL="0" indent="0">
              <a:lnSpc>
                <a:spcPts val="1050"/>
              </a:lnSpc>
              <a:buNone/>
            </a:pPr>
            <a:r>
              <a:rPr lang="en-US" sz="840">
                <a:solidFill>
                  <a:srgbClr val="000000"/>
                </a:solidFill>
                <a:latin typeface="Arial" pitchFamily="34" charset="0"/>
                <a:ea typeface="Arial" pitchFamily="34" charset="-122"/>
                <a:cs typeface="Arial" pitchFamily="34" charset="-120"/>
              </a:rPr>
              <a:t>The support handover. Written along the way, not at the end</a:t>
            </a:r>
            <a:endParaRPr lang="en-US" sz="840"/>
          </a:p>
        </p:txBody>
      </p:sp>
      <p:sp>
        <p:nvSpPr>
          <p:cNvPr id="65" name="Text 63"/>
          <p:cNvSpPr/>
          <p:nvPr/>
        </p:nvSpPr>
        <p:spPr>
          <a:xfrm>
            <a:off x="457200" y="5614416"/>
            <a:ext cx="11274552" cy="274320"/>
          </a:xfrm>
          <a:prstGeom prst="rect">
            <a:avLst/>
          </a:prstGeom>
          <a:noFill/>
          <a:ln/>
        </p:spPr>
        <p:txBody>
          <a:bodyPr wrap="square" lIns="0" tIns="0" rIns="0" bIns="0" rtlCol="0" anchor="ctr"/>
          <a:lstStyle/>
          <a:p>
            <a:pPr marL="0" indent="0">
              <a:buNone/>
            </a:pPr>
            <a:r>
              <a:rPr lang="en-US" sz="1100" b="1">
                <a:solidFill>
                  <a:srgbClr val="0B2265"/>
                </a:solidFill>
                <a:latin typeface="Arial" pitchFamily="34" charset="0"/>
                <a:ea typeface="Arial" pitchFamily="34" charset="-122"/>
                <a:cs typeface="Arial" pitchFamily="34" charset="-120"/>
              </a:rPr>
              <a:t>Steps 1 to 9 run on your clock. Steps 10 and 12 do not — those are the ones that decide your date.</a:t>
            </a:r>
            <a:endParaRPr lang="en-US" sz="1100"/>
          </a:p>
        </p:txBody>
      </p:sp>
      <p:sp>
        <p:nvSpPr>
          <p:cNvPr id="66" name="Shape 64"/>
          <p:cNvSpPr/>
          <p:nvPr/>
        </p:nvSpPr>
        <p:spPr>
          <a:xfrm>
            <a:off x="0" y="6382512"/>
            <a:ext cx="12188952" cy="475488"/>
          </a:xfrm>
          <a:prstGeom prst="rect">
            <a:avLst/>
          </a:prstGeom>
          <a:solidFill>
            <a:srgbClr val="00338D"/>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338D"/>
          </a:solidFill>
          <a:ln/>
        </p:spPr>
        <p:txBody>
          <a:bodyPr/>
          <a:lstStyle/>
          <a:p>
            <a:endParaRPr lang="en-US"/>
          </a:p>
        </p:txBody>
      </p:sp>
      <p:sp>
        <p:nvSpPr>
          <p:cNvPr id="3" name="Text 1"/>
          <p:cNvSpPr/>
          <p:nvPr/>
        </p:nvSpPr>
        <p:spPr>
          <a:xfrm>
            <a:off x="457200" y="128016"/>
            <a:ext cx="8138160" cy="731520"/>
          </a:xfrm>
          <a:prstGeom prst="rect">
            <a:avLst/>
          </a:prstGeom>
          <a:noFill/>
          <a:ln/>
        </p:spPr>
        <p:txBody>
          <a:bodyPr wrap="square" lIns="0" tIns="0" rIns="0" bIns="0" rtlCol="0" anchor="ctr"/>
          <a:lstStyle/>
          <a:p>
            <a:pPr marL="0" indent="0">
              <a:lnSpc>
                <a:spcPts val="2300"/>
              </a:lnSpc>
              <a:buNone/>
            </a:pPr>
            <a:r>
              <a:rPr lang="en-US" sz="1850" b="1">
                <a:solidFill>
                  <a:srgbClr val="FFFFFF"/>
                </a:solidFill>
                <a:latin typeface="Arial" pitchFamily="34" charset="0"/>
                <a:ea typeface="Arial" pitchFamily="34" charset="-122"/>
                <a:cs typeface="Arial" pitchFamily="34" charset="-120"/>
              </a:rPr>
              <a:t>Who you need, and when</a:t>
            </a:r>
            <a:endParaRPr lang="en-US" sz="1850"/>
          </a:p>
          <a:p>
            <a:pPr marL="0" indent="0">
              <a:lnSpc>
                <a:spcPts val="2300"/>
              </a:lnSpc>
              <a:buNone/>
            </a:pPr>
            <a:r>
              <a:rPr lang="en-US" sz="1850" b="1">
                <a:solidFill>
                  <a:srgbClr val="FFFFFF"/>
                </a:solidFill>
                <a:latin typeface="Arial" pitchFamily="34" charset="0"/>
                <a:ea typeface="Arial" pitchFamily="34" charset="-122"/>
                <a:cs typeface="Arial" pitchFamily="34" charset="-120"/>
              </a:rPr>
              <a:t>The approvals track, and why it starts in week one</a:t>
            </a:r>
            <a:endParaRPr lang="en-US" sz="1850"/>
          </a:p>
        </p:txBody>
      </p:sp>
      <p:sp>
        <p:nvSpPr>
          <p:cNvPr id="4" name="Text 2"/>
          <p:cNvSpPr/>
          <p:nvPr/>
        </p:nvSpPr>
        <p:spPr>
          <a:xfrm>
            <a:off x="8229600" y="347472"/>
            <a:ext cx="3502152" cy="274320"/>
          </a:xfrm>
          <a:prstGeom prst="rect">
            <a:avLst/>
          </a:prstGeom>
          <a:noFill/>
          <a:ln/>
        </p:spPr>
        <p:txBody>
          <a:bodyPr wrap="square" lIns="0" tIns="0" rIns="0" bIns="0" rtlCol="0" anchor="ctr"/>
          <a:lstStyle/>
          <a:p>
            <a:pPr marL="0" indent="0" algn="r">
              <a:buNone/>
            </a:pPr>
            <a:r>
              <a:rPr lang="en-US" sz="1050" b="1">
                <a:solidFill>
                  <a:srgbClr val="8FB8E8"/>
                </a:solidFill>
                <a:latin typeface="Arial" pitchFamily="34" charset="0"/>
                <a:ea typeface="Arial" pitchFamily="34" charset="-122"/>
                <a:cs typeface="Arial" pitchFamily="34" charset="-120"/>
              </a:rPr>
              <a:t>KPMG  ·  Disney Tax Data Management &amp; Innovation</a:t>
            </a:r>
            <a:endParaRPr lang="en-US" sz="1050"/>
          </a:p>
        </p:txBody>
      </p:sp>
      <p:sp>
        <p:nvSpPr>
          <p:cNvPr id="5" name="Shape 3"/>
          <p:cNvSpPr/>
          <p:nvPr/>
        </p:nvSpPr>
        <p:spPr>
          <a:xfrm>
            <a:off x="457200" y="1298448"/>
            <a:ext cx="11274552" cy="274320"/>
          </a:xfrm>
          <a:prstGeom prst="rect">
            <a:avLst/>
          </a:prstGeom>
          <a:solidFill>
            <a:srgbClr val="00338D"/>
          </a:solidFill>
          <a:ln/>
        </p:spPr>
        <p:txBody>
          <a:bodyPr/>
          <a:lstStyle/>
          <a:p>
            <a:endParaRPr lang="en-US"/>
          </a:p>
        </p:txBody>
      </p:sp>
      <p:sp>
        <p:nvSpPr>
          <p:cNvPr id="6" name="Text 4"/>
          <p:cNvSpPr/>
          <p:nvPr/>
        </p:nvSpPr>
        <p:spPr>
          <a:xfrm>
            <a:off x="585216" y="1344168"/>
            <a:ext cx="3657600" cy="201168"/>
          </a:xfrm>
          <a:prstGeom prst="rect">
            <a:avLst/>
          </a:prstGeom>
          <a:noFill/>
          <a:ln/>
        </p:spPr>
        <p:txBody>
          <a:bodyPr wrap="square" lIns="0" tIns="0" rIns="0" bIns="0" rtlCol="0" anchor="ctr"/>
          <a:lstStyle/>
          <a:p>
            <a:pPr marL="0" indent="0">
              <a:buNone/>
            </a:pPr>
            <a:r>
              <a:rPr lang="en-US" sz="940" b="1" kern="0" spc="80">
                <a:solidFill>
                  <a:srgbClr val="FFFFFF"/>
                </a:solidFill>
                <a:latin typeface="Arial" pitchFamily="34" charset="0"/>
                <a:ea typeface="Arial" pitchFamily="34" charset="-122"/>
                <a:cs typeface="Arial" pitchFamily="34" charset="-120"/>
              </a:rPr>
              <a:t>Enterprise Technology</a:t>
            </a:r>
            <a:endParaRPr lang="en-US" sz="940"/>
          </a:p>
        </p:txBody>
      </p:sp>
      <p:sp>
        <p:nvSpPr>
          <p:cNvPr id="7" name="Text 5"/>
          <p:cNvSpPr/>
          <p:nvPr/>
        </p:nvSpPr>
        <p:spPr>
          <a:xfrm>
            <a:off x="4297680" y="1353312"/>
            <a:ext cx="3657600" cy="201168"/>
          </a:xfrm>
          <a:prstGeom prst="rect">
            <a:avLst/>
          </a:prstGeom>
          <a:noFill/>
          <a:ln/>
        </p:spPr>
        <p:txBody>
          <a:bodyPr wrap="square" lIns="0" tIns="0" rIns="0" bIns="0" rtlCol="0" anchor="ctr"/>
          <a:lstStyle/>
          <a:p>
            <a:pPr marL="0" indent="0">
              <a:buNone/>
            </a:pPr>
            <a:r>
              <a:rPr lang="en-US" sz="860">
                <a:solidFill>
                  <a:srgbClr val="8FB8E8"/>
                </a:solidFill>
                <a:latin typeface="Arial" pitchFamily="34" charset="0"/>
                <a:ea typeface="Arial" pitchFamily="34" charset="-122"/>
                <a:cs typeface="Arial" pitchFamily="34" charset="-120"/>
              </a:rPr>
              <a:t>Approvals &amp; consents</a:t>
            </a:r>
            <a:endParaRPr lang="en-US" sz="860"/>
          </a:p>
        </p:txBody>
      </p:sp>
      <p:sp>
        <p:nvSpPr>
          <p:cNvPr id="8" name="Shape 6"/>
          <p:cNvSpPr/>
          <p:nvPr/>
        </p:nvSpPr>
        <p:spPr>
          <a:xfrm>
            <a:off x="457200" y="1572768"/>
            <a:ext cx="11274552" cy="352044"/>
          </a:xfrm>
          <a:prstGeom prst="rect">
            <a:avLst/>
          </a:prstGeom>
          <a:solidFill>
            <a:srgbClr val="F4F7FB"/>
          </a:solidFill>
          <a:ln/>
        </p:spPr>
        <p:txBody>
          <a:bodyPr/>
          <a:lstStyle/>
          <a:p>
            <a:endParaRPr lang="en-US"/>
          </a:p>
        </p:txBody>
      </p:sp>
      <p:sp>
        <p:nvSpPr>
          <p:cNvPr id="9" name="Text 7"/>
          <p:cNvSpPr/>
          <p:nvPr/>
        </p:nvSpPr>
        <p:spPr>
          <a:xfrm>
            <a:off x="585216" y="1650492"/>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Create BAPPID</a:t>
            </a:r>
            <a:endParaRPr lang="en-US" sz="960"/>
          </a:p>
        </p:txBody>
      </p:sp>
      <p:sp>
        <p:nvSpPr>
          <p:cNvPr id="10" name="Text 8"/>
          <p:cNvSpPr/>
          <p:nvPr/>
        </p:nvSpPr>
        <p:spPr>
          <a:xfrm>
            <a:off x="3520440" y="1659636"/>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ServiceNow CMDB record, with a named technical owner</a:t>
            </a:r>
            <a:endParaRPr lang="en-US" sz="920"/>
          </a:p>
        </p:txBody>
      </p:sp>
      <p:sp>
        <p:nvSpPr>
          <p:cNvPr id="11" name="Text 9"/>
          <p:cNvSpPr/>
          <p:nvPr/>
        </p:nvSpPr>
        <p:spPr>
          <a:xfrm>
            <a:off x="9509760" y="1659636"/>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Week one</a:t>
            </a:r>
            <a:endParaRPr lang="en-US" sz="920"/>
          </a:p>
        </p:txBody>
      </p:sp>
      <p:sp>
        <p:nvSpPr>
          <p:cNvPr id="12" name="Text 10"/>
          <p:cNvSpPr/>
          <p:nvPr/>
        </p:nvSpPr>
        <p:spPr>
          <a:xfrm>
            <a:off x="585216" y="2002536"/>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Raise ESIS (RITM)</a:t>
            </a:r>
            <a:endParaRPr lang="en-US" sz="960"/>
          </a:p>
        </p:txBody>
      </p:sp>
      <p:sp>
        <p:nvSpPr>
          <p:cNvPr id="13" name="Text 11"/>
          <p:cNvSpPr/>
          <p:nvPr/>
        </p:nvSpPr>
        <p:spPr>
          <a:xfrm>
            <a:off x="3520440" y="2011680"/>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Permissions list, PII and data classification</a:t>
            </a:r>
            <a:endParaRPr lang="en-US" sz="920"/>
          </a:p>
        </p:txBody>
      </p:sp>
      <p:sp>
        <p:nvSpPr>
          <p:cNvPr id="14" name="Text 12"/>
          <p:cNvSpPr/>
          <p:nvPr/>
        </p:nvSpPr>
        <p:spPr>
          <a:xfrm>
            <a:off x="9509760" y="2011680"/>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Week one</a:t>
            </a:r>
            <a:endParaRPr lang="en-US" sz="920"/>
          </a:p>
        </p:txBody>
      </p:sp>
      <p:sp>
        <p:nvSpPr>
          <p:cNvPr id="15" name="Shape 13"/>
          <p:cNvSpPr/>
          <p:nvPr/>
        </p:nvSpPr>
        <p:spPr>
          <a:xfrm>
            <a:off x="457200" y="2276856"/>
            <a:ext cx="11274552" cy="352044"/>
          </a:xfrm>
          <a:prstGeom prst="rect">
            <a:avLst/>
          </a:prstGeom>
          <a:solidFill>
            <a:srgbClr val="F4F7FB"/>
          </a:solidFill>
          <a:ln/>
        </p:spPr>
        <p:txBody>
          <a:bodyPr/>
          <a:lstStyle/>
          <a:p>
            <a:endParaRPr lang="en-US"/>
          </a:p>
        </p:txBody>
      </p:sp>
      <p:sp>
        <p:nvSpPr>
          <p:cNvPr id="16" name="Text 14"/>
          <p:cNvSpPr/>
          <p:nvPr/>
        </p:nvSpPr>
        <p:spPr>
          <a:xfrm>
            <a:off x="585216" y="2354580"/>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TEST admin consent</a:t>
            </a:r>
            <a:endParaRPr lang="en-US" sz="960"/>
          </a:p>
        </p:txBody>
      </p:sp>
      <p:sp>
        <p:nvSpPr>
          <p:cNvPr id="17" name="Text 15"/>
          <p:cNvSpPr/>
          <p:nvPr/>
        </p:nvSpPr>
        <p:spPr>
          <a:xfrm>
            <a:off x="3520440" y="2363724"/>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Delegated scopes. Gates UAT — nothing can be tested without it</a:t>
            </a:r>
            <a:endParaRPr lang="en-US" sz="920"/>
          </a:p>
        </p:txBody>
      </p:sp>
      <p:sp>
        <p:nvSpPr>
          <p:cNvPr id="18" name="Text 16"/>
          <p:cNvSpPr/>
          <p:nvPr/>
        </p:nvSpPr>
        <p:spPr>
          <a:xfrm>
            <a:off x="9509760" y="2363724"/>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Before UAT</a:t>
            </a:r>
            <a:endParaRPr lang="en-US" sz="920"/>
          </a:p>
        </p:txBody>
      </p:sp>
      <p:sp>
        <p:nvSpPr>
          <p:cNvPr id="19" name="Text 17"/>
          <p:cNvSpPr/>
          <p:nvPr/>
        </p:nvSpPr>
        <p:spPr>
          <a:xfrm>
            <a:off x="585216" y="2706624"/>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ESIS approval</a:t>
            </a:r>
            <a:endParaRPr lang="en-US" sz="960"/>
          </a:p>
        </p:txBody>
      </p:sp>
      <p:sp>
        <p:nvSpPr>
          <p:cNvPr id="20" name="Text 18"/>
          <p:cNvSpPr/>
          <p:nvPr/>
        </p:nvSpPr>
        <p:spPr>
          <a:xfrm>
            <a:off x="3520440" y="2715768"/>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Service Mgmt → Engineering → Security → Legal → Operations</a:t>
            </a:r>
            <a:endParaRPr lang="en-US" sz="920"/>
          </a:p>
        </p:txBody>
      </p:sp>
      <p:sp>
        <p:nvSpPr>
          <p:cNvPr id="21" name="Text 19"/>
          <p:cNvSpPr/>
          <p:nvPr/>
        </p:nvSpPr>
        <p:spPr>
          <a:xfrm>
            <a:off x="9509760" y="2715768"/>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4–8 weeks</a:t>
            </a:r>
            <a:endParaRPr lang="en-US" sz="920"/>
          </a:p>
        </p:txBody>
      </p:sp>
      <p:sp>
        <p:nvSpPr>
          <p:cNvPr id="22" name="Shape 20"/>
          <p:cNvSpPr/>
          <p:nvPr/>
        </p:nvSpPr>
        <p:spPr>
          <a:xfrm>
            <a:off x="457200" y="2980944"/>
            <a:ext cx="11274552" cy="352044"/>
          </a:xfrm>
          <a:prstGeom prst="rect">
            <a:avLst/>
          </a:prstGeom>
          <a:solidFill>
            <a:srgbClr val="F4F7FB"/>
          </a:solidFill>
          <a:ln/>
        </p:spPr>
        <p:txBody>
          <a:bodyPr/>
          <a:lstStyle/>
          <a:p>
            <a:endParaRPr lang="en-US"/>
          </a:p>
        </p:txBody>
      </p:sp>
      <p:sp>
        <p:nvSpPr>
          <p:cNvPr id="23" name="Text 21"/>
          <p:cNvSpPr/>
          <p:nvPr/>
        </p:nvSpPr>
        <p:spPr>
          <a:xfrm>
            <a:off x="585216" y="3058668"/>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PROD admin consent</a:t>
            </a:r>
            <a:endParaRPr lang="en-US" sz="960"/>
          </a:p>
        </p:txBody>
      </p:sp>
      <p:sp>
        <p:nvSpPr>
          <p:cNvPr id="24" name="Text 22"/>
          <p:cNvSpPr/>
          <p:nvPr/>
        </p:nvSpPr>
        <p:spPr>
          <a:xfrm>
            <a:off x="3520440" y="3067812"/>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Constrained app permissions on the production tenant</a:t>
            </a:r>
            <a:endParaRPr lang="en-US" sz="920"/>
          </a:p>
        </p:txBody>
      </p:sp>
      <p:sp>
        <p:nvSpPr>
          <p:cNvPr id="25" name="Text 23"/>
          <p:cNvSpPr/>
          <p:nvPr/>
        </p:nvSpPr>
        <p:spPr>
          <a:xfrm>
            <a:off x="9509760" y="3067812"/>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Before go-live</a:t>
            </a:r>
            <a:endParaRPr lang="en-US" sz="920"/>
          </a:p>
        </p:txBody>
      </p:sp>
      <p:sp>
        <p:nvSpPr>
          <p:cNvPr id="26" name="Text 24"/>
          <p:cNvSpPr/>
          <p:nvPr/>
        </p:nvSpPr>
        <p:spPr>
          <a:xfrm>
            <a:off x="585216" y="3410712"/>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Email relay onboarding</a:t>
            </a:r>
            <a:endParaRPr lang="en-US" sz="960"/>
          </a:p>
        </p:txBody>
      </p:sp>
      <p:sp>
        <p:nvSpPr>
          <p:cNvPr id="27" name="Text 25"/>
          <p:cNvSpPr/>
          <p:nvPr/>
        </p:nvSpPr>
        <p:spPr>
          <a:xfrm>
            <a:off x="3520440" y="3419856"/>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ET&amp;D Messaging. Required before go-live, not after</a:t>
            </a:r>
            <a:endParaRPr lang="en-US" sz="920"/>
          </a:p>
        </p:txBody>
      </p:sp>
      <p:sp>
        <p:nvSpPr>
          <p:cNvPr id="28" name="Text 26"/>
          <p:cNvSpPr/>
          <p:nvPr/>
        </p:nvSpPr>
        <p:spPr>
          <a:xfrm>
            <a:off x="9509760" y="3419856"/>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Before go-live</a:t>
            </a:r>
            <a:endParaRPr lang="en-US" sz="920"/>
          </a:p>
        </p:txBody>
      </p:sp>
      <p:sp>
        <p:nvSpPr>
          <p:cNvPr id="29" name="Shape 27"/>
          <p:cNvSpPr/>
          <p:nvPr/>
        </p:nvSpPr>
        <p:spPr>
          <a:xfrm>
            <a:off x="457200" y="3867912"/>
            <a:ext cx="11274552" cy="274320"/>
          </a:xfrm>
          <a:prstGeom prst="rect">
            <a:avLst/>
          </a:prstGeom>
          <a:solidFill>
            <a:srgbClr val="00338D"/>
          </a:solidFill>
          <a:ln/>
        </p:spPr>
        <p:txBody>
          <a:bodyPr/>
          <a:lstStyle/>
          <a:p>
            <a:endParaRPr lang="en-US"/>
          </a:p>
        </p:txBody>
      </p:sp>
      <p:sp>
        <p:nvSpPr>
          <p:cNvPr id="30" name="Text 28"/>
          <p:cNvSpPr/>
          <p:nvPr/>
        </p:nvSpPr>
        <p:spPr>
          <a:xfrm>
            <a:off x="585216" y="3913632"/>
            <a:ext cx="3657600" cy="201168"/>
          </a:xfrm>
          <a:prstGeom prst="rect">
            <a:avLst/>
          </a:prstGeom>
          <a:noFill/>
          <a:ln/>
        </p:spPr>
        <p:txBody>
          <a:bodyPr wrap="square" lIns="0" tIns="0" rIns="0" bIns="0" rtlCol="0" anchor="ctr"/>
          <a:lstStyle/>
          <a:p>
            <a:pPr marL="0" indent="0">
              <a:buNone/>
            </a:pPr>
            <a:r>
              <a:rPr lang="en-US" sz="940" b="1" kern="0" spc="80">
                <a:solidFill>
                  <a:srgbClr val="FFFFFF"/>
                </a:solidFill>
                <a:latin typeface="Arial" pitchFamily="34" charset="0"/>
                <a:ea typeface="Arial" pitchFamily="34" charset="-122"/>
                <a:cs typeface="Arial" pitchFamily="34" charset="-120"/>
              </a:rPr>
              <a:t>Technology Enablement</a:t>
            </a:r>
            <a:endParaRPr lang="en-US" sz="940"/>
          </a:p>
        </p:txBody>
      </p:sp>
      <p:sp>
        <p:nvSpPr>
          <p:cNvPr id="31" name="Text 29"/>
          <p:cNvSpPr/>
          <p:nvPr/>
        </p:nvSpPr>
        <p:spPr>
          <a:xfrm>
            <a:off x="4297680" y="3922776"/>
            <a:ext cx="3657600" cy="201168"/>
          </a:xfrm>
          <a:prstGeom prst="rect">
            <a:avLst/>
          </a:prstGeom>
          <a:noFill/>
          <a:ln/>
        </p:spPr>
        <p:txBody>
          <a:bodyPr wrap="square" lIns="0" tIns="0" rIns="0" bIns="0" rtlCol="0" anchor="ctr"/>
          <a:lstStyle/>
          <a:p>
            <a:pPr marL="0" indent="0">
              <a:buNone/>
            </a:pPr>
            <a:r>
              <a:rPr lang="en-US" sz="860">
                <a:solidFill>
                  <a:srgbClr val="8FB8E8"/>
                </a:solidFill>
                <a:latin typeface="Arial" pitchFamily="34" charset="0"/>
                <a:ea typeface="Arial" pitchFamily="34" charset="-122"/>
                <a:cs typeface="Arial" pitchFamily="34" charset="-120"/>
              </a:rPr>
              <a:t>AI governance</a:t>
            </a:r>
            <a:endParaRPr lang="en-US" sz="860"/>
          </a:p>
        </p:txBody>
      </p:sp>
      <p:sp>
        <p:nvSpPr>
          <p:cNvPr id="32" name="Shape 30"/>
          <p:cNvSpPr/>
          <p:nvPr/>
        </p:nvSpPr>
        <p:spPr>
          <a:xfrm>
            <a:off x="457200" y="4142232"/>
            <a:ext cx="11274552" cy="352044"/>
          </a:xfrm>
          <a:prstGeom prst="rect">
            <a:avLst/>
          </a:prstGeom>
          <a:solidFill>
            <a:srgbClr val="F4F7FB"/>
          </a:solidFill>
          <a:ln/>
        </p:spPr>
        <p:txBody>
          <a:bodyPr/>
          <a:lstStyle/>
          <a:p>
            <a:endParaRPr lang="en-US"/>
          </a:p>
        </p:txBody>
      </p:sp>
      <p:sp>
        <p:nvSpPr>
          <p:cNvPr id="33" name="Text 31"/>
          <p:cNvSpPr/>
          <p:nvPr/>
        </p:nvSpPr>
        <p:spPr>
          <a:xfrm>
            <a:off x="585216" y="4219956"/>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AI intake form</a:t>
            </a:r>
            <a:endParaRPr lang="en-US" sz="960"/>
          </a:p>
        </p:txBody>
      </p:sp>
      <p:sp>
        <p:nvSpPr>
          <p:cNvPr id="34" name="Text 32"/>
          <p:cNvSpPr/>
          <p:nvPr/>
        </p:nvSpPr>
        <p:spPr>
          <a:xfrm>
            <a:off x="3520440" y="4229100"/>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Required for any AI use case, submitted through the intake portal</a:t>
            </a:r>
            <a:endParaRPr lang="en-US" sz="920"/>
          </a:p>
        </p:txBody>
      </p:sp>
      <p:sp>
        <p:nvSpPr>
          <p:cNvPr id="35" name="Text 33"/>
          <p:cNvSpPr/>
          <p:nvPr/>
        </p:nvSpPr>
        <p:spPr>
          <a:xfrm>
            <a:off x="9509760" y="4229100"/>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Week one</a:t>
            </a:r>
            <a:endParaRPr lang="en-US" sz="920"/>
          </a:p>
        </p:txBody>
      </p:sp>
      <p:sp>
        <p:nvSpPr>
          <p:cNvPr id="36" name="Shape 34"/>
          <p:cNvSpPr/>
          <p:nvPr/>
        </p:nvSpPr>
        <p:spPr>
          <a:xfrm>
            <a:off x="457200" y="4677156"/>
            <a:ext cx="11274552" cy="274320"/>
          </a:xfrm>
          <a:prstGeom prst="rect">
            <a:avLst/>
          </a:prstGeom>
          <a:solidFill>
            <a:srgbClr val="00338D"/>
          </a:solidFill>
          <a:ln/>
        </p:spPr>
        <p:txBody>
          <a:bodyPr/>
          <a:lstStyle/>
          <a:p>
            <a:endParaRPr lang="en-US"/>
          </a:p>
        </p:txBody>
      </p:sp>
      <p:sp>
        <p:nvSpPr>
          <p:cNvPr id="37" name="Text 35"/>
          <p:cNvSpPr/>
          <p:nvPr/>
        </p:nvSpPr>
        <p:spPr>
          <a:xfrm>
            <a:off x="585216" y="4722876"/>
            <a:ext cx="3657600" cy="201168"/>
          </a:xfrm>
          <a:prstGeom prst="rect">
            <a:avLst/>
          </a:prstGeom>
          <a:noFill/>
          <a:ln/>
        </p:spPr>
        <p:txBody>
          <a:bodyPr wrap="square" lIns="0" tIns="0" rIns="0" bIns="0" rtlCol="0" anchor="ctr"/>
          <a:lstStyle/>
          <a:p>
            <a:pPr marL="0" indent="0">
              <a:buNone/>
            </a:pPr>
            <a:r>
              <a:rPr lang="en-US" sz="940" b="1" kern="0" spc="80">
                <a:solidFill>
                  <a:srgbClr val="FFFFFF"/>
                </a:solidFill>
                <a:latin typeface="Arial" pitchFamily="34" charset="0"/>
                <a:ea typeface="Arial" pitchFamily="34" charset="-122"/>
                <a:cs typeface="Arial" pitchFamily="34" charset="-120"/>
              </a:rPr>
              <a:t>The business</a:t>
            </a:r>
            <a:endParaRPr lang="en-US" sz="940"/>
          </a:p>
        </p:txBody>
      </p:sp>
      <p:sp>
        <p:nvSpPr>
          <p:cNvPr id="38" name="Text 36"/>
          <p:cNvSpPr/>
          <p:nvPr/>
        </p:nvSpPr>
        <p:spPr>
          <a:xfrm>
            <a:off x="4297680" y="4732020"/>
            <a:ext cx="3657600" cy="201168"/>
          </a:xfrm>
          <a:prstGeom prst="rect">
            <a:avLst/>
          </a:prstGeom>
          <a:noFill/>
          <a:ln/>
        </p:spPr>
        <p:txBody>
          <a:bodyPr wrap="square" lIns="0" tIns="0" rIns="0" bIns="0" rtlCol="0" anchor="ctr"/>
          <a:lstStyle/>
          <a:p>
            <a:pPr marL="0" indent="0">
              <a:buNone/>
            </a:pPr>
            <a:r>
              <a:rPr lang="en-US" sz="860">
                <a:solidFill>
                  <a:srgbClr val="8FB8E8"/>
                </a:solidFill>
                <a:latin typeface="Arial" pitchFamily="34" charset="0"/>
                <a:ea typeface="Arial" pitchFamily="34" charset="-122"/>
                <a:cs typeface="Arial" pitchFamily="34" charset="-120"/>
              </a:rPr>
              <a:t>Testing &amp; sign-off</a:t>
            </a:r>
            <a:endParaRPr lang="en-US" sz="860"/>
          </a:p>
        </p:txBody>
      </p:sp>
      <p:sp>
        <p:nvSpPr>
          <p:cNvPr id="39" name="Shape 37"/>
          <p:cNvSpPr/>
          <p:nvPr/>
        </p:nvSpPr>
        <p:spPr>
          <a:xfrm>
            <a:off x="457200" y="4951476"/>
            <a:ext cx="11274552" cy="352044"/>
          </a:xfrm>
          <a:prstGeom prst="rect">
            <a:avLst/>
          </a:prstGeom>
          <a:solidFill>
            <a:srgbClr val="F4F7FB"/>
          </a:solidFill>
          <a:ln/>
        </p:spPr>
        <p:txBody>
          <a:bodyPr/>
          <a:lstStyle/>
          <a:p>
            <a:endParaRPr lang="en-US"/>
          </a:p>
        </p:txBody>
      </p:sp>
      <p:sp>
        <p:nvSpPr>
          <p:cNvPr id="40" name="Text 38"/>
          <p:cNvSpPr/>
          <p:nvPr/>
        </p:nvSpPr>
        <p:spPr>
          <a:xfrm>
            <a:off x="585216" y="5029200"/>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UAT testing</a:t>
            </a:r>
            <a:endParaRPr lang="en-US" sz="960"/>
          </a:p>
        </p:txBody>
      </p:sp>
      <p:sp>
        <p:nvSpPr>
          <p:cNvPr id="41" name="Text 39"/>
          <p:cNvSpPr/>
          <p:nvPr/>
        </p:nvSpPr>
        <p:spPr>
          <a:xfrm>
            <a:off x="3520440" y="5038344"/>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Your users, running the manual cycle in the TEST environment</a:t>
            </a:r>
            <a:endParaRPr lang="en-US" sz="920"/>
          </a:p>
        </p:txBody>
      </p:sp>
      <p:sp>
        <p:nvSpPr>
          <p:cNvPr id="42" name="Text 40"/>
          <p:cNvSpPr/>
          <p:nvPr/>
        </p:nvSpPr>
        <p:spPr>
          <a:xfrm>
            <a:off x="9509760" y="5038344"/>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After TEST consent</a:t>
            </a:r>
            <a:endParaRPr lang="en-US" sz="920"/>
          </a:p>
        </p:txBody>
      </p:sp>
      <p:sp>
        <p:nvSpPr>
          <p:cNvPr id="43" name="Text 41"/>
          <p:cNvSpPr/>
          <p:nvPr/>
        </p:nvSpPr>
        <p:spPr>
          <a:xfrm>
            <a:off x="585216" y="5381244"/>
            <a:ext cx="2606040" cy="219456"/>
          </a:xfrm>
          <a:prstGeom prst="rect">
            <a:avLst/>
          </a:prstGeom>
          <a:noFill/>
          <a:ln/>
        </p:spPr>
        <p:txBody>
          <a:bodyPr wrap="square" lIns="0" tIns="0" rIns="0" bIns="0" rtlCol="0" anchor="ctr"/>
          <a:lstStyle/>
          <a:p>
            <a:pPr marL="0" indent="0">
              <a:buNone/>
            </a:pPr>
            <a:r>
              <a:rPr lang="en-US" sz="960" b="1">
                <a:solidFill>
                  <a:srgbClr val="0B2265"/>
                </a:solidFill>
                <a:latin typeface="Arial" pitchFamily="34" charset="0"/>
                <a:ea typeface="Arial" pitchFamily="34" charset="-122"/>
                <a:cs typeface="Arial" pitchFamily="34" charset="-120"/>
              </a:rPr>
              <a:t>Functional sign-off</a:t>
            </a:r>
            <a:endParaRPr lang="en-US" sz="960"/>
          </a:p>
        </p:txBody>
      </p:sp>
      <p:sp>
        <p:nvSpPr>
          <p:cNvPr id="44" name="Text 42"/>
          <p:cNvSpPr/>
          <p:nvPr/>
        </p:nvSpPr>
        <p:spPr>
          <a:xfrm>
            <a:off x="3520440" y="5390388"/>
            <a:ext cx="5715000" cy="219456"/>
          </a:xfrm>
          <a:prstGeom prst="rect">
            <a:avLst/>
          </a:prstGeom>
          <a:noFill/>
          <a:ln/>
        </p:spPr>
        <p:txBody>
          <a:bodyPr wrap="square" lIns="0" tIns="0" rIns="0" bIns="0" rtlCol="0" anchor="ctr"/>
          <a:lstStyle/>
          <a:p>
            <a:pPr marL="0" indent="0">
              <a:buNone/>
            </a:pPr>
            <a:r>
              <a:rPr lang="en-US" sz="920">
                <a:solidFill>
                  <a:srgbClr val="000000"/>
                </a:solidFill>
                <a:latin typeface="Arial" pitchFamily="34" charset="0"/>
                <a:ea typeface="Arial" pitchFamily="34" charset="-122"/>
                <a:cs typeface="Arial" pitchFamily="34" charset="-120"/>
              </a:rPr>
              <a:t>The process owner signs. This is what gates the production build</a:t>
            </a:r>
            <a:endParaRPr lang="en-US" sz="920"/>
          </a:p>
        </p:txBody>
      </p:sp>
      <p:sp>
        <p:nvSpPr>
          <p:cNvPr id="45" name="Text 43"/>
          <p:cNvSpPr/>
          <p:nvPr/>
        </p:nvSpPr>
        <p:spPr>
          <a:xfrm>
            <a:off x="9509760" y="5390388"/>
            <a:ext cx="2084832" cy="219456"/>
          </a:xfrm>
          <a:prstGeom prst="rect">
            <a:avLst/>
          </a:prstGeom>
          <a:noFill/>
          <a:ln/>
        </p:spPr>
        <p:txBody>
          <a:bodyPr wrap="square" lIns="0" tIns="0" rIns="0" bIns="0" rtlCol="0" anchor="ctr"/>
          <a:lstStyle/>
          <a:p>
            <a:pPr marL="0" indent="0" algn="r">
              <a:buNone/>
            </a:pPr>
            <a:r>
              <a:rPr lang="en-US" sz="920" b="1">
                <a:solidFill>
                  <a:srgbClr val="1E49E2"/>
                </a:solidFill>
                <a:latin typeface="Arial" pitchFamily="34" charset="0"/>
                <a:ea typeface="Arial" pitchFamily="34" charset="-122"/>
                <a:cs typeface="Arial" pitchFamily="34" charset="-120"/>
              </a:rPr>
              <a:t>Before go-live</a:t>
            </a:r>
            <a:endParaRPr lang="en-US" sz="920"/>
          </a:p>
        </p:txBody>
      </p:sp>
      <p:sp>
        <p:nvSpPr>
          <p:cNvPr id="46" name="Text 44"/>
          <p:cNvSpPr/>
          <p:nvPr/>
        </p:nvSpPr>
        <p:spPr>
          <a:xfrm>
            <a:off x="457200" y="5687568"/>
            <a:ext cx="11274552" cy="274320"/>
          </a:xfrm>
          <a:prstGeom prst="rect">
            <a:avLst/>
          </a:prstGeom>
          <a:noFill/>
          <a:ln/>
        </p:spPr>
        <p:txBody>
          <a:bodyPr wrap="square" lIns="0" tIns="0" rIns="0" bIns="0" rtlCol="0" anchor="ctr"/>
          <a:lstStyle/>
          <a:p>
            <a:pPr marL="0" indent="0">
              <a:buNone/>
            </a:pPr>
            <a:r>
              <a:rPr lang="en-US" sz="1100" b="1">
                <a:solidFill>
                  <a:srgbClr val="0B2265"/>
                </a:solidFill>
                <a:latin typeface="Arial" pitchFamily="34" charset="0"/>
                <a:ea typeface="Arial" pitchFamily="34" charset="-122"/>
                <a:cs typeface="Arial" pitchFamily="34" charset="-120"/>
              </a:rPr>
              <a:t>An approval nobody opened is still open at go-live. Nothing about it being forgotten makes it optional.</a:t>
            </a:r>
            <a:endParaRPr lang="en-US" sz="1100"/>
          </a:p>
        </p:txBody>
      </p:sp>
      <p:sp>
        <p:nvSpPr>
          <p:cNvPr id="47" name="Text 45"/>
          <p:cNvSpPr/>
          <p:nvPr/>
        </p:nvSpPr>
        <p:spPr>
          <a:xfrm>
            <a:off x="457200" y="5998464"/>
            <a:ext cx="11274552" cy="274320"/>
          </a:xfrm>
          <a:prstGeom prst="rect">
            <a:avLst/>
          </a:prstGeom>
          <a:noFill/>
          <a:ln/>
        </p:spPr>
        <p:txBody>
          <a:bodyPr wrap="square" lIns="0" tIns="0" rIns="0" bIns="0" rtlCol="0" anchor="ctr"/>
          <a:lstStyle/>
          <a:p>
            <a:pPr marL="0" indent="0">
              <a:buNone/>
            </a:pPr>
            <a:r>
              <a:rPr lang="en-US" sz="900" i="1">
                <a:solidFill>
                  <a:srgbClr val="5A6472"/>
                </a:solidFill>
                <a:latin typeface="Arial" pitchFamily="34" charset="0"/>
                <a:ea typeface="Arial" pitchFamily="34" charset="-122"/>
                <a:cs typeface="Arial" pitchFamily="34" charset="-120"/>
              </a:rPr>
              <a:t>Named owners for each of these are to be confirmed with TDMI before the session, so attendees leave with contacts rather than team names.</a:t>
            </a:r>
            <a:endParaRPr lang="en-US" sz="900"/>
          </a:p>
        </p:txBody>
      </p:sp>
      <p:sp>
        <p:nvSpPr>
          <p:cNvPr id="48" name="Shape 46"/>
          <p:cNvSpPr/>
          <p:nvPr/>
        </p:nvSpPr>
        <p:spPr>
          <a:xfrm>
            <a:off x="0" y="6382512"/>
            <a:ext cx="12188952" cy="475488"/>
          </a:xfrm>
          <a:prstGeom prst="rect">
            <a:avLst/>
          </a:prstGeom>
          <a:solidFill>
            <a:srgbClr val="00338D"/>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DB66756-C69A-BAEC-1505-90EBA1E9F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502" y="0"/>
            <a:ext cx="7980996" cy="670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763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338D"/>
          </a:solidFill>
          <a:ln/>
        </p:spPr>
        <p:txBody>
          <a:bodyPr/>
          <a:lstStyle/>
          <a:p>
            <a:endParaRPr lang="en-US"/>
          </a:p>
        </p:txBody>
      </p:sp>
      <p:sp>
        <p:nvSpPr>
          <p:cNvPr id="3" name="Text 1"/>
          <p:cNvSpPr/>
          <p:nvPr/>
        </p:nvSpPr>
        <p:spPr>
          <a:xfrm>
            <a:off x="457201" y="201168"/>
            <a:ext cx="11768433" cy="749808"/>
          </a:xfrm>
          <a:prstGeom prst="rect">
            <a:avLst/>
          </a:prstGeom>
          <a:noFill/>
          <a:ln/>
        </p:spPr>
        <p:txBody>
          <a:bodyPr wrap="square" lIns="0" tIns="0" rIns="0" bIns="0" rtlCol="0" anchor="ctr"/>
          <a:lstStyle/>
          <a:p>
            <a:pPr>
              <a:lnSpc>
                <a:spcPts val="2600"/>
              </a:lnSpc>
            </a:pPr>
            <a:r>
              <a:rPr lang="en-US" sz="4000" b="1">
                <a:solidFill>
                  <a:srgbClr val="FFFFFF"/>
                </a:solidFill>
                <a:latin typeface="KPMG Bold" panose="020B0803030202040204" pitchFamily="34" charset="0"/>
                <a:ea typeface="Arial" pitchFamily="34" charset="-122"/>
                <a:cs typeface="Arial" pitchFamily="34" charset="-120"/>
              </a:rPr>
              <a:t>Microsoft Fabric &amp; DevOps enablement -- Proposed agenda  ·  October 19–20</a:t>
            </a:r>
            <a:endParaRPr lang="en-US" sz="4000">
              <a:latin typeface="KPMG Bold" panose="020B0803030202040204" pitchFamily="34" charset="0"/>
            </a:endParaRPr>
          </a:p>
        </p:txBody>
      </p:sp>
      <p:sp>
        <p:nvSpPr>
          <p:cNvPr id="5" name="Text 3"/>
          <p:cNvSpPr/>
          <p:nvPr/>
        </p:nvSpPr>
        <p:spPr>
          <a:xfrm>
            <a:off x="457200" y="1207008"/>
            <a:ext cx="4389120" cy="237744"/>
          </a:xfrm>
          <a:prstGeom prst="rect">
            <a:avLst/>
          </a:prstGeom>
          <a:noFill/>
          <a:ln/>
        </p:spPr>
        <p:txBody>
          <a:bodyPr wrap="square" lIns="0" tIns="0" rIns="0" bIns="0" rtlCol="0" anchor="ctr"/>
          <a:lstStyle/>
          <a:p>
            <a:r>
              <a:rPr lang="en-US" sz="1000" b="1" kern="0" spc="100">
                <a:solidFill>
                  <a:srgbClr val="00338D"/>
                </a:solidFill>
                <a:latin typeface="Arial" pitchFamily="34" charset="0"/>
                <a:ea typeface="Arial" pitchFamily="34" charset="-122"/>
                <a:cs typeface="Arial" pitchFamily="34" charset="-120"/>
              </a:rPr>
              <a:t>DAY ONE  ·  MONDAY 19 OCTOBER</a:t>
            </a:r>
            <a:endParaRPr lang="en-US" sz="1000"/>
          </a:p>
        </p:txBody>
      </p:sp>
      <p:sp>
        <p:nvSpPr>
          <p:cNvPr id="6" name="Text 4"/>
          <p:cNvSpPr/>
          <p:nvPr/>
        </p:nvSpPr>
        <p:spPr>
          <a:xfrm>
            <a:off x="457200" y="1444752"/>
            <a:ext cx="4389120" cy="274320"/>
          </a:xfrm>
          <a:prstGeom prst="rect">
            <a:avLst/>
          </a:prstGeom>
          <a:noFill/>
          <a:ln/>
        </p:spPr>
        <p:txBody>
          <a:bodyPr wrap="square" lIns="0" tIns="0" rIns="0" bIns="0" rtlCol="0" anchor="ctr"/>
          <a:lstStyle/>
          <a:p>
            <a:r>
              <a:rPr lang="en-US" sz="1400" b="1">
                <a:solidFill>
                  <a:srgbClr val="1A1A2E"/>
                </a:solidFill>
                <a:latin typeface="Arial" pitchFamily="34" charset="0"/>
                <a:ea typeface="Arial" pitchFamily="34" charset="-122"/>
                <a:cs typeface="Arial" pitchFamily="34" charset="-120"/>
              </a:rPr>
              <a:t>Half day, afternoon</a:t>
            </a:r>
            <a:endParaRPr lang="en-US" sz="1400"/>
          </a:p>
        </p:txBody>
      </p:sp>
      <p:sp>
        <p:nvSpPr>
          <p:cNvPr id="7" name="Text 5"/>
          <p:cNvSpPr/>
          <p:nvPr/>
        </p:nvSpPr>
        <p:spPr>
          <a:xfrm>
            <a:off x="457200" y="1719072"/>
            <a:ext cx="4389120" cy="384048"/>
          </a:xfrm>
          <a:prstGeom prst="rect">
            <a:avLst/>
          </a:prstGeom>
          <a:noFill/>
          <a:ln/>
        </p:spPr>
        <p:txBody>
          <a:bodyPr wrap="square" lIns="0" tIns="0" rIns="0" bIns="0" rtlCol="0" anchor="ctr"/>
          <a:lstStyle/>
          <a:p>
            <a:pPr>
              <a:lnSpc>
                <a:spcPts val="1100"/>
              </a:lnSpc>
            </a:pPr>
            <a:r>
              <a:rPr lang="en-US" sz="1100">
                <a:latin typeface="Arial" pitchFamily="34" charset="0"/>
                <a:ea typeface="Arial" pitchFamily="34" charset="-122"/>
                <a:cs typeface="Arial" pitchFamily="34" charset="-120"/>
              </a:rPr>
              <a:t>Shared vocabulary first, then how workflows get built.</a:t>
            </a:r>
            <a:endParaRPr lang="en-US" sz="1100"/>
          </a:p>
        </p:txBody>
      </p:sp>
      <p:sp>
        <p:nvSpPr>
          <p:cNvPr id="8" name="Text 6"/>
          <p:cNvSpPr/>
          <p:nvPr/>
        </p:nvSpPr>
        <p:spPr>
          <a:xfrm>
            <a:off x="5047488" y="1207008"/>
            <a:ext cx="6684264" cy="237744"/>
          </a:xfrm>
          <a:prstGeom prst="rect">
            <a:avLst/>
          </a:prstGeom>
          <a:noFill/>
          <a:ln/>
        </p:spPr>
        <p:txBody>
          <a:bodyPr wrap="square" lIns="0" tIns="0" rIns="0" bIns="0" rtlCol="0" anchor="ctr"/>
          <a:lstStyle/>
          <a:p>
            <a:r>
              <a:rPr lang="en-US" sz="1000" b="1" kern="0" spc="100">
                <a:solidFill>
                  <a:srgbClr val="00338D"/>
                </a:solidFill>
                <a:latin typeface="Arial" pitchFamily="34" charset="0"/>
                <a:ea typeface="Arial" pitchFamily="34" charset="-122"/>
                <a:cs typeface="Arial" pitchFamily="34" charset="-120"/>
              </a:rPr>
              <a:t>DAY TWO  ·  TUESDAY 20 OCTOBER</a:t>
            </a:r>
            <a:endParaRPr lang="en-US" sz="1000"/>
          </a:p>
        </p:txBody>
      </p:sp>
      <p:sp>
        <p:nvSpPr>
          <p:cNvPr id="9" name="Text 7"/>
          <p:cNvSpPr/>
          <p:nvPr/>
        </p:nvSpPr>
        <p:spPr>
          <a:xfrm>
            <a:off x="5047488" y="1444752"/>
            <a:ext cx="6684264" cy="274320"/>
          </a:xfrm>
          <a:prstGeom prst="rect">
            <a:avLst/>
          </a:prstGeom>
          <a:noFill/>
          <a:ln/>
        </p:spPr>
        <p:txBody>
          <a:bodyPr wrap="square" lIns="0" tIns="0" rIns="0" bIns="0" rtlCol="0" anchor="ctr"/>
          <a:lstStyle/>
          <a:p>
            <a:r>
              <a:rPr lang="en-US" sz="1400" b="1">
                <a:solidFill>
                  <a:srgbClr val="1A1A2E"/>
                </a:solidFill>
                <a:latin typeface="Arial" pitchFamily="34" charset="0"/>
                <a:ea typeface="Arial" pitchFamily="34" charset="-122"/>
                <a:cs typeface="Arial" pitchFamily="34" charset="-120"/>
              </a:rPr>
              <a:t>Full day</a:t>
            </a:r>
            <a:endParaRPr lang="en-US" sz="1400"/>
          </a:p>
        </p:txBody>
      </p:sp>
      <p:sp>
        <p:nvSpPr>
          <p:cNvPr id="10" name="Text 8"/>
          <p:cNvSpPr/>
          <p:nvPr/>
        </p:nvSpPr>
        <p:spPr>
          <a:xfrm>
            <a:off x="5047488" y="1719072"/>
            <a:ext cx="6684264" cy="384048"/>
          </a:xfrm>
          <a:prstGeom prst="rect">
            <a:avLst/>
          </a:prstGeom>
          <a:noFill/>
          <a:ln/>
        </p:spPr>
        <p:txBody>
          <a:bodyPr wrap="square" lIns="0" tIns="0" rIns="0" bIns="0" rtlCol="0" anchor="ctr"/>
          <a:lstStyle/>
          <a:p>
            <a:pPr>
              <a:lnSpc>
                <a:spcPts val="1100"/>
              </a:lnSpc>
            </a:pPr>
            <a:r>
              <a:rPr lang="en-US" sz="1100">
                <a:latin typeface="Arial" pitchFamily="34" charset="0"/>
                <a:ea typeface="Arial" pitchFamily="34" charset="-122"/>
                <a:cs typeface="Arial" pitchFamily="34" charset="-120"/>
              </a:rPr>
              <a:t>How the organization reaches what gets built, how changes ship, and how solutions get built with Claude.</a:t>
            </a:r>
            <a:endParaRPr lang="en-US" sz="1100"/>
          </a:p>
        </p:txBody>
      </p:sp>
      <p:sp>
        <p:nvSpPr>
          <p:cNvPr id="11" name="Shape 9"/>
          <p:cNvSpPr/>
          <p:nvPr/>
        </p:nvSpPr>
        <p:spPr>
          <a:xfrm>
            <a:off x="457200" y="2066545"/>
            <a:ext cx="4389120" cy="32004"/>
          </a:xfrm>
          <a:prstGeom prst="rect">
            <a:avLst/>
          </a:prstGeom>
          <a:solidFill>
            <a:srgbClr val="00338D"/>
          </a:solidFill>
          <a:ln/>
        </p:spPr>
        <p:txBody>
          <a:bodyPr/>
          <a:lstStyle/>
          <a:p>
            <a:endParaRPr lang="en-US"/>
          </a:p>
        </p:txBody>
      </p:sp>
      <p:sp>
        <p:nvSpPr>
          <p:cNvPr id="12" name="Shape 10"/>
          <p:cNvSpPr/>
          <p:nvPr/>
        </p:nvSpPr>
        <p:spPr>
          <a:xfrm>
            <a:off x="5047488" y="2066545"/>
            <a:ext cx="6684264" cy="32004"/>
          </a:xfrm>
          <a:prstGeom prst="rect">
            <a:avLst/>
          </a:prstGeom>
          <a:solidFill>
            <a:srgbClr val="00338D"/>
          </a:solidFill>
          <a:ln/>
        </p:spPr>
        <p:txBody>
          <a:bodyPr/>
          <a:lstStyle/>
          <a:p>
            <a:endParaRPr lang="en-US"/>
          </a:p>
        </p:txBody>
      </p:sp>
      <p:sp>
        <p:nvSpPr>
          <p:cNvPr id="13" name="Text 11"/>
          <p:cNvSpPr/>
          <p:nvPr/>
        </p:nvSpPr>
        <p:spPr>
          <a:xfrm>
            <a:off x="457200" y="2331720"/>
            <a:ext cx="2093976" cy="384048"/>
          </a:xfrm>
          <a:prstGeom prst="rect">
            <a:avLst/>
          </a:prstGeom>
          <a:noFill/>
          <a:ln/>
        </p:spPr>
        <p:txBody>
          <a:bodyPr wrap="square" lIns="0" tIns="0" rIns="0" bIns="0" rtlCol="0" anchor="ctr"/>
          <a:lstStyle/>
          <a:p>
            <a:r>
              <a:rPr lang="en-US" sz="2700" b="1">
                <a:solidFill>
                  <a:srgbClr val="1E49E2"/>
                </a:solidFill>
                <a:latin typeface="Arial" pitchFamily="34" charset="0"/>
                <a:ea typeface="Arial" pitchFamily="34" charset="-122"/>
                <a:cs typeface="Arial" pitchFamily="34" charset="-120"/>
              </a:rPr>
              <a:t>01</a:t>
            </a:r>
            <a:endParaRPr lang="en-US" sz="2700"/>
          </a:p>
        </p:txBody>
      </p:sp>
      <p:sp>
        <p:nvSpPr>
          <p:cNvPr id="14" name="Text 12"/>
          <p:cNvSpPr/>
          <p:nvPr/>
        </p:nvSpPr>
        <p:spPr>
          <a:xfrm>
            <a:off x="457200" y="2752344"/>
            <a:ext cx="2093976" cy="512064"/>
          </a:xfrm>
          <a:prstGeom prst="rect">
            <a:avLst/>
          </a:prstGeom>
          <a:noFill/>
          <a:ln/>
        </p:spPr>
        <p:txBody>
          <a:bodyPr wrap="square" lIns="0" tIns="0" rIns="0" bIns="0" rtlCol="0" anchor="ctr"/>
          <a:lstStyle/>
          <a:p>
            <a:pPr>
              <a:lnSpc>
                <a:spcPts val="1500"/>
              </a:lnSpc>
            </a:pPr>
            <a:r>
              <a:rPr lang="en-US" sz="1251" b="1">
                <a:solidFill>
                  <a:srgbClr val="0B2265"/>
                </a:solidFill>
                <a:latin typeface="Arial" pitchFamily="34" charset="0"/>
                <a:ea typeface="Arial" pitchFamily="34" charset="-122"/>
                <a:cs typeface="Arial" pitchFamily="34" charset="-120"/>
              </a:rPr>
              <a:t>Fabric Foundations</a:t>
            </a:r>
            <a:endParaRPr lang="en-US" sz="1251"/>
          </a:p>
          <a:p>
            <a:pPr>
              <a:lnSpc>
                <a:spcPts val="1500"/>
              </a:lnSpc>
            </a:pPr>
            <a:r>
              <a:rPr lang="en-US" sz="1251" b="1">
                <a:solidFill>
                  <a:srgbClr val="0B2265"/>
                </a:solidFill>
                <a:latin typeface="Arial" pitchFamily="34" charset="0"/>
                <a:ea typeface="Arial" pitchFamily="34" charset="-122"/>
                <a:cs typeface="Arial" pitchFamily="34" charset="-120"/>
              </a:rPr>
              <a:t>&amp; Architecture</a:t>
            </a:r>
            <a:endParaRPr lang="en-US" sz="1251"/>
          </a:p>
        </p:txBody>
      </p:sp>
      <p:sp>
        <p:nvSpPr>
          <p:cNvPr id="15" name="Text 13"/>
          <p:cNvSpPr/>
          <p:nvPr/>
        </p:nvSpPr>
        <p:spPr>
          <a:xfrm>
            <a:off x="457200" y="3300984"/>
            <a:ext cx="2093976" cy="475488"/>
          </a:xfrm>
          <a:prstGeom prst="rect">
            <a:avLst/>
          </a:prstGeom>
          <a:noFill/>
          <a:ln/>
        </p:spPr>
        <p:txBody>
          <a:bodyPr wrap="square" lIns="0" tIns="0" rIns="0" bIns="0" rtlCol="0" anchor="ctr"/>
          <a:lstStyle/>
          <a:p>
            <a:pPr>
              <a:lnSpc>
                <a:spcPts val="1000"/>
              </a:lnSpc>
            </a:pPr>
            <a:r>
              <a:rPr lang="en-US" sz="900">
                <a:latin typeface="Arial" pitchFamily="34" charset="0"/>
                <a:ea typeface="Arial" pitchFamily="34" charset="-122"/>
                <a:cs typeface="Arial" pitchFamily="34" charset="-120"/>
              </a:rPr>
              <a:t>Common ground for a room that mixes tax professionals with technologists.</a:t>
            </a:r>
            <a:endParaRPr lang="en-US" sz="900"/>
          </a:p>
        </p:txBody>
      </p:sp>
      <p:sp>
        <p:nvSpPr>
          <p:cNvPr id="16" name="Text 14"/>
          <p:cNvSpPr/>
          <p:nvPr/>
        </p:nvSpPr>
        <p:spPr>
          <a:xfrm>
            <a:off x="457200" y="383133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Why Disney is moving to Fabric</a:t>
            </a:r>
            <a:endParaRPr lang="en-US" sz="940"/>
          </a:p>
        </p:txBody>
      </p:sp>
      <p:sp>
        <p:nvSpPr>
          <p:cNvPr id="17" name="Text 15"/>
          <p:cNvSpPr/>
          <p:nvPr/>
        </p:nvSpPr>
        <p:spPr>
          <a:xfrm>
            <a:off x="457200" y="405536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Current state, the business case and the target operating model</a:t>
            </a:r>
            <a:endParaRPr lang="en-US" sz="900"/>
          </a:p>
        </p:txBody>
      </p:sp>
      <p:sp>
        <p:nvSpPr>
          <p:cNvPr id="18" name="Text 16"/>
          <p:cNvSpPr/>
          <p:nvPr/>
        </p:nvSpPr>
        <p:spPr>
          <a:xfrm>
            <a:off x="457200" y="447141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Alteryx migration strategy</a:t>
            </a:r>
            <a:endParaRPr lang="en-US" sz="940"/>
          </a:p>
        </p:txBody>
      </p:sp>
      <p:sp>
        <p:nvSpPr>
          <p:cNvPr id="19" name="Text 17"/>
          <p:cNvSpPr/>
          <p:nvPr/>
        </p:nvSpPr>
        <p:spPr>
          <a:xfrm>
            <a:off x="457200" y="469544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How the workflow estate moves across, with Fabric terms mapped back to Alteryx</a:t>
            </a:r>
            <a:endParaRPr lang="en-US" sz="900"/>
          </a:p>
        </p:txBody>
      </p:sp>
      <p:sp>
        <p:nvSpPr>
          <p:cNvPr id="20" name="Text 18"/>
          <p:cNvSpPr/>
          <p:nvPr/>
        </p:nvSpPr>
        <p:spPr>
          <a:xfrm>
            <a:off x="457200" y="511149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Technical foundations</a:t>
            </a:r>
            <a:endParaRPr lang="en-US" sz="940"/>
          </a:p>
        </p:txBody>
      </p:sp>
      <p:sp>
        <p:nvSpPr>
          <p:cNvPr id="21" name="Text 19"/>
          <p:cNvSpPr/>
          <p:nvPr/>
        </p:nvSpPr>
        <p:spPr>
          <a:xfrm>
            <a:off x="457200" y="533552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Database, SQL and Python concepts pitched for a non-developer audience</a:t>
            </a:r>
            <a:endParaRPr lang="en-US" sz="900"/>
          </a:p>
        </p:txBody>
      </p:sp>
      <p:sp>
        <p:nvSpPr>
          <p:cNvPr id="22" name="Text 20"/>
          <p:cNvSpPr/>
          <p:nvPr/>
        </p:nvSpPr>
        <p:spPr>
          <a:xfrm>
            <a:off x="2752344" y="2331720"/>
            <a:ext cx="2093976" cy="384048"/>
          </a:xfrm>
          <a:prstGeom prst="rect">
            <a:avLst/>
          </a:prstGeom>
          <a:noFill/>
          <a:ln/>
        </p:spPr>
        <p:txBody>
          <a:bodyPr wrap="square" lIns="0" tIns="0" rIns="0" bIns="0" rtlCol="0" anchor="ctr"/>
          <a:lstStyle/>
          <a:p>
            <a:r>
              <a:rPr lang="en-US" sz="2700" b="1">
                <a:solidFill>
                  <a:srgbClr val="1E49E2"/>
                </a:solidFill>
                <a:latin typeface="Arial" pitchFamily="34" charset="0"/>
                <a:ea typeface="Arial" pitchFamily="34" charset="-122"/>
                <a:cs typeface="Arial" pitchFamily="34" charset="-120"/>
              </a:rPr>
              <a:t>02</a:t>
            </a:r>
            <a:endParaRPr lang="en-US" sz="2700"/>
          </a:p>
        </p:txBody>
      </p:sp>
      <p:sp>
        <p:nvSpPr>
          <p:cNvPr id="23" name="Text 21"/>
          <p:cNvSpPr/>
          <p:nvPr/>
        </p:nvSpPr>
        <p:spPr>
          <a:xfrm>
            <a:off x="2752344" y="2752344"/>
            <a:ext cx="2093976" cy="512064"/>
          </a:xfrm>
          <a:prstGeom prst="rect">
            <a:avLst/>
          </a:prstGeom>
          <a:noFill/>
          <a:ln/>
        </p:spPr>
        <p:txBody>
          <a:bodyPr wrap="square" lIns="0" tIns="0" rIns="0" bIns="0" rtlCol="0" anchor="ctr"/>
          <a:lstStyle/>
          <a:p>
            <a:pPr>
              <a:lnSpc>
                <a:spcPts val="1500"/>
              </a:lnSpc>
            </a:pPr>
            <a:r>
              <a:rPr lang="en-US" sz="1251" b="1">
                <a:solidFill>
                  <a:srgbClr val="0B2265"/>
                </a:solidFill>
                <a:latin typeface="Arial" pitchFamily="34" charset="0"/>
                <a:ea typeface="Arial" pitchFamily="34" charset="-122"/>
                <a:cs typeface="Arial" pitchFamily="34" charset="-120"/>
              </a:rPr>
              <a:t>Data Engineering</a:t>
            </a:r>
            <a:endParaRPr lang="en-US" sz="1251"/>
          </a:p>
          <a:p>
            <a:pPr>
              <a:lnSpc>
                <a:spcPts val="1500"/>
              </a:lnSpc>
            </a:pPr>
            <a:r>
              <a:rPr lang="en-US" sz="1251" b="1">
                <a:solidFill>
                  <a:srgbClr val="0B2265"/>
                </a:solidFill>
                <a:latin typeface="Arial" pitchFamily="34" charset="0"/>
                <a:ea typeface="Arial" pitchFamily="34" charset="-122"/>
                <a:cs typeface="Arial" pitchFamily="34" charset="-120"/>
              </a:rPr>
              <a:t>in Fabric</a:t>
            </a:r>
            <a:endParaRPr lang="en-US" sz="1251"/>
          </a:p>
        </p:txBody>
      </p:sp>
      <p:sp>
        <p:nvSpPr>
          <p:cNvPr id="24" name="Text 22"/>
          <p:cNvSpPr/>
          <p:nvPr/>
        </p:nvSpPr>
        <p:spPr>
          <a:xfrm>
            <a:off x="2752344" y="3300984"/>
            <a:ext cx="2093976" cy="475488"/>
          </a:xfrm>
          <a:prstGeom prst="rect">
            <a:avLst/>
          </a:prstGeom>
          <a:noFill/>
          <a:ln/>
        </p:spPr>
        <p:txBody>
          <a:bodyPr wrap="square" lIns="0" tIns="0" rIns="0" bIns="0" rtlCol="0" anchor="ctr"/>
          <a:lstStyle/>
          <a:p>
            <a:pPr>
              <a:lnSpc>
                <a:spcPts val="1000"/>
              </a:lnSpc>
            </a:pPr>
            <a:r>
              <a:rPr lang="en-US" sz="900">
                <a:latin typeface="Arial" pitchFamily="34" charset="0"/>
                <a:ea typeface="Arial" pitchFamily="34" charset="-122"/>
                <a:cs typeface="Arial" pitchFamily="34" charset="-120"/>
              </a:rPr>
              <a:t>How workflows get built in the new environment.</a:t>
            </a:r>
            <a:endParaRPr lang="en-US" sz="900"/>
          </a:p>
        </p:txBody>
      </p:sp>
      <p:sp>
        <p:nvSpPr>
          <p:cNvPr id="25" name="Text 23"/>
          <p:cNvSpPr/>
          <p:nvPr/>
        </p:nvSpPr>
        <p:spPr>
          <a:xfrm>
            <a:off x="2752344" y="383133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Lakehouse concepts</a:t>
            </a:r>
            <a:endParaRPr lang="en-US" sz="940"/>
          </a:p>
        </p:txBody>
      </p:sp>
      <p:sp>
        <p:nvSpPr>
          <p:cNvPr id="26" name="Text 24"/>
          <p:cNvSpPr/>
          <p:nvPr/>
        </p:nvSpPr>
        <p:spPr>
          <a:xfrm>
            <a:off x="2752344" y="405536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OneLake, workspaces, tables and shortcuts, and how data is organised</a:t>
            </a:r>
            <a:endParaRPr lang="en-US" sz="900"/>
          </a:p>
        </p:txBody>
      </p:sp>
      <p:sp>
        <p:nvSpPr>
          <p:cNvPr id="27" name="Text 25"/>
          <p:cNvSpPr/>
          <p:nvPr/>
        </p:nvSpPr>
        <p:spPr>
          <a:xfrm>
            <a:off x="2752344" y="447141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Medallion architecture</a:t>
            </a:r>
            <a:endParaRPr lang="en-US" sz="940"/>
          </a:p>
        </p:txBody>
      </p:sp>
      <p:sp>
        <p:nvSpPr>
          <p:cNvPr id="28" name="Text 26"/>
          <p:cNvSpPr/>
          <p:nvPr/>
        </p:nvSpPr>
        <p:spPr>
          <a:xfrm>
            <a:off x="2752344" y="469544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Bronze, silver and gold layers, and what belongs at each stage</a:t>
            </a:r>
            <a:endParaRPr lang="en-US" sz="900"/>
          </a:p>
        </p:txBody>
      </p:sp>
      <p:sp>
        <p:nvSpPr>
          <p:cNvPr id="29" name="Text 27"/>
          <p:cNvSpPr/>
          <p:nvPr/>
        </p:nvSpPr>
        <p:spPr>
          <a:xfrm>
            <a:off x="2752344" y="511149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Notebook-centric development</a:t>
            </a:r>
            <a:endParaRPr lang="en-US" sz="940"/>
          </a:p>
        </p:txBody>
      </p:sp>
      <p:sp>
        <p:nvSpPr>
          <p:cNvPr id="30" name="Text 28"/>
          <p:cNvSpPr/>
          <p:nvPr/>
        </p:nvSpPr>
        <p:spPr>
          <a:xfrm>
            <a:off x="2752344" y="533552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Notebooks as the primary build pattern, ETL development and orchestration</a:t>
            </a:r>
            <a:endParaRPr lang="en-US" sz="900"/>
          </a:p>
        </p:txBody>
      </p:sp>
      <p:sp>
        <p:nvSpPr>
          <p:cNvPr id="31" name="Text 29"/>
          <p:cNvSpPr/>
          <p:nvPr/>
        </p:nvSpPr>
        <p:spPr>
          <a:xfrm>
            <a:off x="5047488" y="2331720"/>
            <a:ext cx="2093976" cy="384048"/>
          </a:xfrm>
          <a:prstGeom prst="rect">
            <a:avLst/>
          </a:prstGeom>
          <a:noFill/>
          <a:ln/>
        </p:spPr>
        <p:txBody>
          <a:bodyPr wrap="square" lIns="0" tIns="0" rIns="0" bIns="0" rtlCol="0" anchor="ctr"/>
          <a:lstStyle/>
          <a:p>
            <a:r>
              <a:rPr lang="en-US" sz="2700" b="1">
                <a:solidFill>
                  <a:srgbClr val="1E49E2"/>
                </a:solidFill>
                <a:latin typeface="Arial" pitchFamily="34" charset="0"/>
                <a:ea typeface="Arial" pitchFamily="34" charset="-122"/>
                <a:cs typeface="Arial" pitchFamily="34" charset="-120"/>
              </a:rPr>
              <a:t>03</a:t>
            </a:r>
            <a:endParaRPr lang="en-US" sz="2700"/>
          </a:p>
        </p:txBody>
      </p:sp>
      <p:sp>
        <p:nvSpPr>
          <p:cNvPr id="32" name="Text 30"/>
          <p:cNvSpPr/>
          <p:nvPr/>
        </p:nvSpPr>
        <p:spPr>
          <a:xfrm>
            <a:off x="5047488" y="2752344"/>
            <a:ext cx="2093976" cy="512064"/>
          </a:xfrm>
          <a:prstGeom prst="rect">
            <a:avLst/>
          </a:prstGeom>
          <a:noFill/>
          <a:ln/>
        </p:spPr>
        <p:txBody>
          <a:bodyPr wrap="square" lIns="0" tIns="0" rIns="0" bIns="0" rtlCol="0" anchor="ctr"/>
          <a:lstStyle/>
          <a:p>
            <a:pPr>
              <a:lnSpc>
                <a:spcPts val="1500"/>
              </a:lnSpc>
            </a:pPr>
            <a:r>
              <a:rPr lang="en-US" sz="1251" b="1">
                <a:solidFill>
                  <a:srgbClr val="0B2265"/>
                </a:solidFill>
                <a:latin typeface="Arial" pitchFamily="34" charset="0"/>
                <a:ea typeface="Arial" pitchFamily="34" charset="-122"/>
                <a:cs typeface="Arial" pitchFamily="34" charset="-120"/>
              </a:rPr>
              <a:t>User Experience &amp;</a:t>
            </a:r>
            <a:endParaRPr lang="en-US" sz="1251"/>
          </a:p>
          <a:p>
            <a:pPr>
              <a:lnSpc>
                <a:spcPts val="1500"/>
              </a:lnSpc>
            </a:pPr>
            <a:r>
              <a:rPr lang="en-US" sz="1251" b="1">
                <a:solidFill>
                  <a:srgbClr val="0B2265"/>
                </a:solidFill>
                <a:latin typeface="Arial" pitchFamily="34" charset="0"/>
                <a:ea typeface="Arial" pitchFamily="34" charset="-122"/>
                <a:cs typeface="Arial" pitchFamily="34" charset="-120"/>
              </a:rPr>
              <a:t>Workflow Consumption</a:t>
            </a:r>
            <a:endParaRPr lang="en-US" sz="1251"/>
          </a:p>
        </p:txBody>
      </p:sp>
      <p:sp>
        <p:nvSpPr>
          <p:cNvPr id="33" name="Text 31"/>
          <p:cNvSpPr/>
          <p:nvPr/>
        </p:nvSpPr>
        <p:spPr>
          <a:xfrm>
            <a:off x="5047488" y="3300984"/>
            <a:ext cx="2093976" cy="475488"/>
          </a:xfrm>
          <a:prstGeom prst="rect">
            <a:avLst/>
          </a:prstGeom>
          <a:noFill/>
          <a:ln/>
        </p:spPr>
        <p:txBody>
          <a:bodyPr wrap="square" lIns="0" tIns="0" rIns="0" bIns="0" rtlCol="0" anchor="ctr"/>
          <a:lstStyle/>
          <a:p>
            <a:pPr>
              <a:lnSpc>
                <a:spcPts val="1000"/>
              </a:lnSpc>
            </a:pPr>
            <a:r>
              <a:rPr lang="en-US" sz="900">
                <a:latin typeface="Arial" pitchFamily="34" charset="0"/>
                <a:ea typeface="Arial" pitchFamily="34" charset="-122"/>
                <a:cs typeface="Arial" pitchFamily="34" charset="-120"/>
              </a:rPr>
              <a:t>How the wider tax organization &amp; business reaches what gets built.</a:t>
            </a:r>
            <a:endParaRPr lang="en-US" sz="900"/>
          </a:p>
        </p:txBody>
      </p:sp>
      <p:sp>
        <p:nvSpPr>
          <p:cNvPr id="34" name="Text 32"/>
          <p:cNvSpPr/>
          <p:nvPr/>
        </p:nvSpPr>
        <p:spPr>
          <a:xfrm>
            <a:off x="5047488" y="383133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Portal-driven workflow execution</a:t>
            </a:r>
            <a:endParaRPr lang="en-US" sz="940"/>
          </a:p>
        </p:txBody>
      </p:sp>
      <p:sp>
        <p:nvSpPr>
          <p:cNvPr id="35" name="Text 33"/>
          <p:cNvSpPr/>
          <p:nvPr/>
        </p:nvSpPr>
        <p:spPr>
          <a:xfrm>
            <a:off x="5047488" y="405536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Users supply inputs and parameters, notebooks run in the background</a:t>
            </a:r>
            <a:endParaRPr lang="en-US" sz="900"/>
          </a:p>
        </p:txBody>
      </p:sp>
      <p:sp>
        <p:nvSpPr>
          <p:cNvPr id="36" name="Text 34"/>
          <p:cNvSpPr/>
          <p:nvPr/>
        </p:nvSpPr>
        <p:spPr>
          <a:xfrm>
            <a:off x="5047488" y="447141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Reporting integration</a:t>
            </a:r>
            <a:endParaRPr lang="en-US" sz="940"/>
          </a:p>
        </p:txBody>
      </p:sp>
      <p:sp>
        <p:nvSpPr>
          <p:cNvPr id="37" name="Text 35"/>
          <p:cNvSpPr/>
          <p:nvPr/>
        </p:nvSpPr>
        <p:spPr>
          <a:xfrm>
            <a:off x="5047488" y="469544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The end-to-end path from workflow output through to a finished report</a:t>
            </a:r>
            <a:endParaRPr lang="en-US" sz="900"/>
          </a:p>
        </p:txBody>
      </p:sp>
      <p:sp>
        <p:nvSpPr>
          <p:cNvPr id="38" name="Text 36"/>
          <p:cNvSpPr/>
          <p:nvPr/>
        </p:nvSpPr>
        <p:spPr>
          <a:xfrm>
            <a:off x="5047488" y="511149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Power BI and Power Query</a:t>
            </a:r>
            <a:endParaRPr lang="en-US" sz="940"/>
          </a:p>
        </p:txBody>
      </p:sp>
      <p:sp>
        <p:nvSpPr>
          <p:cNvPr id="39" name="Text 37"/>
          <p:cNvSpPr/>
          <p:nvPr/>
        </p:nvSpPr>
        <p:spPr>
          <a:xfrm>
            <a:off x="5047488" y="533552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Getting Fabric data into the reports the tax organization already uses</a:t>
            </a:r>
            <a:endParaRPr lang="en-US" sz="900"/>
          </a:p>
        </p:txBody>
      </p:sp>
      <p:sp>
        <p:nvSpPr>
          <p:cNvPr id="40" name="Text 38"/>
          <p:cNvSpPr/>
          <p:nvPr/>
        </p:nvSpPr>
        <p:spPr>
          <a:xfrm>
            <a:off x="7342632" y="2331720"/>
            <a:ext cx="2093976" cy="384048"/>
          </a:xfrm>
          <a:prstGeom prst="rect">
            <a:avLst/>
          </a:prstGeom>
          <a:noFill/>
          <a:ln/>
        </p:spPr>
        <p:txBody>
          <a:bodyPr wrap="square" lIns="0" tIns="0" rIns="0" bIns="0" rtlCol="0" anchor="ctr"/>
          <a:lstStyle/>
          <a:p>
            <a:r>
              <a:rPr lang="en-US" sz="2700" b="1">
                <a:solidFill>
                  <a:srgbClr val="1E49E2"/>
                </a:solidFill>
                <a:latin typeface="Arial" pitchFamily="34" charset="0"/>
                <a:ea typeface="Arial" pitchFamily="34" charset="-122"/>
                <a:cs typeface="Arial" pitchFamily="34" charset="-120"/>
              </a:rPr>
              <a:t>04</a:t>
            </a:r>
            <a:endParaRPr lang="en-US" sz="2700"/>
          </a:p>
        </p:txBody>
      </p:sp>
      <p:sp>
        <p:nvSpPr>
          <p:cNvPr id="41" name="Text 39"/>
          <p:cNvSpPr/>
          <p:nvPr/>
        </p:nvSpPr>
        <p:spPr>
          <a:xfrm>
            <a:off x="7342632" y="2752344"/>
            <a:ext cx="2093976" cy="512064"/>
          </a:xfrm>
          <a:prstGeom prst="rect">
            <a:avLst/>
          </a:prstGeom>
          <a:noFill/>
          <a:ln/>
        </p:spPr>
        <p:txBody>
          <a:bodyPr wrap="square" lIns="0" tIns="0" rIns="0" bIns="0" rtlCol="0" anchor="ctr"/>
          <a:lstStyle/>
          <a:p>
            <a:pPr>
              <a:lnSpc>
                <a:spcPts val="1500"/>
              </a:lnSpc>
            </a:pPr>
            <a:r>
              <a:rPr lang="en-US" sz="1251" b="1">
                <a:solidFill>
                  <a:srgbClr val="0B2265"/>
                </a:solidFill>
                <a:latin typeface="Arial" pitchFamily="34" charset="0"/>
                <a:ea typeface="Arial" pitchFamily="34" charset="-122"/>
                <a:cs typeface="Arial" pitchFamily="34" charset="-120"/>
              </a:rPr>
              <a:t>DevOps, Governance</a:t>
            </a:r>
            <a:endParaRPr lang="en-US" sz="1251"/>
          </a:p>
          <a:p>
            <a:pPr>
              <a:lnSpc>
                <a:spcPts val="1500"/>
              </a:lnSpc>
            </a:pPr>
            <a:r>
              <a:rPr lang="en-US" sz="1251" b="1">
                <a:solidFill>
                  <a:srgbClr val="0B2265"/>
                </a:solidFill>
                <a:latin typeface="Arial" pitchFamily="34" charset="0"/>
                <a:ea typeface="Arial" pitchFamily="34" charset="-122"/>
                <a:cs typeface="Arial" pitchFamily="34" charset="-120"/>
              </a:rPr>
              <a:t>&amp; Deployment</a:t>
            </a:r>
            <a:endParaRPr lang="en-US" sz="1251"/>
          </a:p>
        </p:txBody>
      </p:sp>
      <p:sp>
        <p:nvSpPr>
          <p:cNvPr id="42" name="Text 40"/>
          <p:cNvSpPr/>
          <p:nvPr/>
        </p:nvSpPr>
        <p:spPr>
          <a:xfrm>
            <a:off x="7342632" y="3300984"/>
            <a:ext cx="2093976" cy="475488"/>
          </a:xfrm>
          <a:prstGeom prst="rect">
            <a:avLst/>
          </a:prstGeom>
          <a:noFill/>
          <a:ln/>
        </p:spPr>
        <p:txBody>
          <a:bodyPr wrap="square" lIns="0" tIns="0" rIns="0" bIns="0" rtlCol="0" anchor="ctr"/>
          <a:lstStyle/>
          <a:p>
            <a:pPr>
              <a:lnSpc>
                <a:spcPts val="1000"/>
              </a:lnSpc>
            </a:pPr>
            <a:r>
              <a:rPr lang="en-US" sz="900">
                <a:latin typeface="Arial" pitchFamily="34" charset="0"/>
                <a:ea typeface="Arial" pitchFamily="34" charset="-122"/>
                <a:cs typeface="Arial" pitchFamily="34" charset="-120"/>
              </a:rPr>
              <a:t>How changes get shipped once solutions are live.</a:t>
            </a:r>
            <a:endParaRPr lang="en-US" sz="900"/>
          </a:p>
        </p:txBody>
      </p:sp>
      <p:sp>
        <p:nvSpPr>
          <p:cNvPr id="43" name="Text 41"/>
          <p:cNvSpPr/>
          <p:nvPr/>
        </p:nvSpPr>
        <p:spPr>
          <a:xfrm>
            <a:off x="7342632" y="383133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Git fundamentals</a:t>
            </a:r>
            <a:endParaRPr lang="en-US" sz="940"/>
          </a:p>
        </p:txBody>
      </p:sp>
      <p:sp>
        <p:nvSpPr>
          <p:cNvPr id="44" name="Text 42"/>
          <p:cNvSpPr/>
          <p:nvPr/>
        </p:nvSpPr>
        <p:spPr>
          <a:xfrm>
            <a:off x="7342632" y="405536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Source control basics and branching, assuming no prior experience</a:t>
            </a:r>
            <a:endParaRPr lang="en-US" sz="900"/>
          </a:p>
        </p:txBody>
      </p:sp>
      <p:sp>
        <p:nvSpPr>
          <p:cNvPr id="45" name="Text 43"/>
          <p:cNvSpPr/>
          <p:nvPr/>
        </p:nvSpPr>
        <p:spPr>
          <a:xfrm>
            <a:off x="7342632" y="447141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Deployment patterns</a:t>
            </a:r>
            <a:endParaRPr lang="en-US" sz="940"/>
          </a:p>
        </p:txBody>
      </p:sp>
      <p:sp>
        <p:nvSpPr>
          <p:cNvPr id="46" name="Text 44"/>
          <p:cNvSpPr/>
          <p:nvPr/>
        </p:nvSpPr>
        <p:spPr>
          <a:xfrm>
            <a:off x="7342632" y="469544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Deployment pipelines and promoting work between workspaces</a:t>
            </a:r>
            <a:endParaRPr lang="en-US" sz="900"/>
          </a:p>
        </p:txBody>
      </p:sp>
      <p:sp>
        <p:nvSpPr>
          <p:cNvPr id="47" name="Text 45"/>
          <p:cNvSpPr/>
          <p:nvPr/>
        </p:nvSpPr>
        <p:spPr>
          <a:xfrm>
            <a:off x="7342632" y="511149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Release and environment strategy</a:t>
            </a:r>
            <a:endParaRPr lang="en-US" sz="940"/>
          </a:p>
        </p:txBody>
      </p:sp>
      <p:sp>
        <p:nvSpPr>
          <p:cNvPr id="48" name="Text 46"/>
          <p:cNvSpPr/>
          <p:nvPr/>
        </p:nvSpPr>
        <p:spPr>
          <a:xfrm>
            <a:off x="7342632" y="533552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Dev, test and production, and the paved road for shipping changes</a:t>
            </a:r>
            <a:endParaRPr lang="en-US" sz="900"/>
          </a:p>
        </p:txBody>
      </p:sp>
      <p:sp>
        <p:nvSpPr>
          <p:cNvPr id="49" name="Text 47"/>
          <p:cNvSpPr/>
          <p:nvPr/>
        </p:nvSpPr>
        <p:spPr>
          <a:xfrm>
            <a:off x="9637776" y="2331720"/>
            <a:ext cx="2093976" cy="384048"/>
          </a:xfrm>
          <a:prstGeom prst="rect">
            <a:avLst/>
          </a:prstGeom>
          <a:noFill/>
          <a:ln/>
        </p:spPr>
        <p:txBody>
          <a:bodyPr wrap="square" lIns="0" tIns="0" rIns="0" bIns="0" rtlCol="0" anchor="ctr"/>
          <a:lstStyle/>
          <a:p>
            <a:r>
              <a:rPr lang="en-US" sz="2700" b="1">
                <a:solidFill>
                  <a:srgbClr val="1E49E2"/>
                </a:solidFill>
                <a:latin typeface="Arial" pitchFamily="34" charset="0"/>
                <a:ea typeface="Arial" pitchFamily="34" charset="-122"/>
                <a:cs typeface="Arial" pitchFamily="34" charset="-120"/>
              </a:rPr>
              <a:t>05</a:t>
            </a:r>
            <a:endParaRPr lang="en-US" sz="2700"/>
          </a:p>
        </p:txBody>
      </p:sp>
      <p:sp>
        <p:nvSpPr>
          <p:cNvPr id="50" name="Text 48"/>
          <p:cNvSpPr/>
          <p:nvPr/>
        </p:nvSpPr>
        <p:spPr>
          <a:xfrm>
            <a:off x="9637776" y="2752344"/>
            <a:ext cx="2093976" cy="512064"/>
          </a:xfrm>
          <a:prstGeom prst="rect">
            <a:avLst/>
          </a:prstGeom>
          <a:noFill/>
          <a:ln/>
        </p:spPr>
        <p:txBody>
          <a:bodyPr wrap="square" lIns="0" tIns="0" rIns="0" bIns="0" rtlCol="0" anchor="ctr"/>
          <a:lstStyle/>
          <a:p>
            <a:pPr>
              <a:lnSpc>
                <a:spcPts val="1500"/>
              </a:lnSpc>
            </a:pPr>
            <a:r>
              <a:rPr lang="en-US" sz="1251" b="1">
                <a:solidFill>
                  <a:srgbClr val="0B2265"/>
                </a:solidFill>
                <a:latin typeface="Arial" pitchFamily="34" charset="0"/>
                <a:ea typeface="Arial" pitchFamily="34" charset="-122"/>
                <a:cs typeface="Arial" pitchFamily="34" charset="-120"/>
              </a:rPr>
              <a:t>Claude-Enabled</a:t>
            </a:r>
            <a:endParaRPr lang="en-US" sz="1251"/>
          </a:p>
          <a:p>
            <a:pPr>
              <a:lnSpc>
                <a:spcPts val="1500"/>
              </a:lnSpc>
            </a:pPr>
            <a:r>
              <a:rPr lang="en-US" sz="1251" b="1">
                <a:solidFill>
                  <a:srgbClr val="0B2265"/>
                </a:solidFill>
                <a:latin typeface="Arial" pitchFamily="34" charset="0"/>
                <a:ea typeface="Arial" pitchFamily="34" charset="-122"/>
                <a:cs typeface="Arial" pitchFamily="34" charset="-120"/>
              </a:rPr>
              <a:t>Application Development</a:t>
            </a:r>
            <a:endParaRPr lang="en-US" sz="1251"/>
          </a:p>
        </p:txBody>
      </p:sp>
      <p:sp>
        <p:nvSpPr>
          <p:cNvPr id="51" name="Text 49"/>
          <p:cNvSpPr/>
          <p:nvPr/>
        </p:nvSpPr>
        <p:spPr>
          <a:xfrm>
            <a:off x="9637776" y="3300984"/>
            <a:ext cx="2093976" cy="475488"/>
          </a:xfrm>
          <a:prstGeom prst="rect">
            <a:avLst/>
          </a:prstGeom>
          <a:noFill/>
          <a:ln/>
        </p:spPr>
        <p:txBody>
          <a:bodyPr wrap="square" lIns="0" tIns="0" rIns="0" bIns="0" rtlCol="0" anchor="ctr"/>
          <a:lstStyle/>
          <a:p>
            <a:pPr>
              <a:lnSpc>
                <a:spcPts val="1000"/>
              </a:lnSpc>
            </a:pPr>
            <a:r>
              <a:rPr lang="en-US" sz="900">
                <a:latin typeface="Arial" pitchFamily="34" charset="0"/>
                <a:ea typeface="Arial" pitchFamily="34" charset="-122"/>
                <a:cs typeface="Arial" pitchFamily="34" charset="-120"/>
              </a:rPr>
              <a:t>How solutions get built with Claude, and what it takes to support them afterwards.</a:t>
            </a:r>
            <a:endParaRPr lang="en-US" sz="900"/>
          </a:p>
        </p:txBody>
      </p:sp>
      <p:sp>
        <p:nvSpPr>
          <p:cNvPr id="52" name="Text 50"/>
          <p:cNvSpPr/>
          <p:nvPr/>
        </p:nvSpPr>
        <p:spPr>
          <a:xfrm>
            <a:off x="9637776" y="383133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Building with Claude Code</a:t>
            </a:r>
            <a:endParaRPr lang="en-US" sz="940"/>
          </a:p>
        </p:txBody>
      </p:sp>
      <p:sp>
        <p:nvSpPr>
          <p:cNvPr id="53" name="Text 51"/>
          <p:cNvSpPr/>
          <p:nvPr/>
        </p:nvSpPr>
        <p:spPr>
          <a:xfrm>
            <a:off x="9637776" y="405536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Working against Fabric data, and the path from a first prototype to production</a:t>
            </a:r>
            <a:endParaRPr lang="en-US" sz="900"/>
          </a:p>
        </p:txBody>
      </p:sp>
      <p:sp>
        <p:nvSpPr>
          <p:cNvPr id="54" name="Text 52"/>
          <p:cNvSpPr/>
          <p:nvPr/>
        </p:nvSpPr>
        <p:spPr>
          <a:xfrm>
            <a:off x="9637776" y="447141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Sustaining what gets built</a:t>
            </a:r>
            <a:endParaRPr lang="en-US" sz="940"/>
          </a:p>
        </p:txBody>
      </p:sp>
      <p:sp>
        <p:nvSpPr>
          <p:cNvPr id="55" name="Text 53"/>
          <p:cNvSpPr/>
          <p:nvPr/>
        </p:nvSpPr>
        <p:spPr>
          <a:xfrm>
            <a:off x="9637776" y="469544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The standards and release process that keep an application supportable</a:t>
            </a:r>
            <a:endParaRPr lang="en-US" sz="900"/>
          </a:p>
        </p:txBody>
      </p:sp>
      <p:sp>
        <p:nvSpPr>
          <p:cNvPr id="56" name="Text 54"/>
          <p:cNvSpPr/>
          <p:nvPr/>
        </p:nvSpPr>
        <p:spPr>
          <a:xfrm>
            <a:off x="9637776" y="5111496"/>
            <a:ext cx="2093976" cy="219456"/>
          </a:xfrm>
          <a:prstGeom prst="rect">
            <a:avLst/>
          </a:prstGeom>
          <a:noFill/>
          <a:ln/>
        </p:spPr>
        <p:txBody>
          <a:bodyPr wrap="square" lIns="0" tIns="0" rIns="0" bIns="0" rtlCol="0" anchor="ctr"/>
          <a:lstStyle/>
          <a:p>
            <a:pPr>
              <a:lnSpc>
                <a:spcPts val="1100"/>
              </a:lnSpc>
            </a:pPr>
            <a:r>
              <a:rPr lang="en-US" sz="940" b="1">
                <a:solidFill>
                  <a:srgbClr val="1A1A2E"/>
                </a:solidFill>
                <a:latin typeface="Arial" pitchFamily="34" charset="0"/>
                <a:ea typeface="Arial" pitchFamily="34" charset="-122"/>
                <a:cs typeface="Arial" pitchFamily="34" charset="-120"/>
              </a:rPr>
              <a:t>AI and agent integration</a:t>
            </a:r>
            <a:endParaRPr lang="en-US" sz="940"/>
          </a:p>
        </p:txBody>
      </p:sp>
      <p:sp>
        <p:nvSpPr>
          <p:cNvPr id="57" name="Text 55"/>
          <p:cNvSpPr/>
          <p:nvPr/>
        </p:nvSpPr>
        <p:spPr>
          <a:xfrm>
            <a:off x="9637776" y="5335524"/>
            <a:ext cx="2093976" cy="402336"/>
          </a:xfrm>
          <a:prstGeom prst="rect">
            <a:avLst/>
          </a:prstGeom>
          <a:noFill/>
          <a:ln/>
        </p:spPr>
        <p:txBody>
          <a:bodyPr wrap="square" lIns="0" tIns="0" rIns="0" bIns="0" rtlCol="0" anchor="ctr"/>
          <a:lstStyle/>
          <a:p>
            <a:pPr>
              <a:lnSpc>
                <a:spcPts val="1100"/>
              </a:lnSpc>
            </a:pPr>
            <a:r>
              <a:rPr lang="en-US" sz="900">
                <a:solidFill>
                  <a:srgbClr val="000000"/>
                </a:solidFill>
                <a:latin typeface="Arial" pitchFamily="34" charset="0"/>
                <a:ea typeface="Arial" pitchFamily="34" charset="-122"/>
                <a:cs typeface="Arial" pitchFamily="34" charset="-120"/>
              </a:rPr>
              <a:t>Fabric Data Agents, Copilot and where the AI layer sits on top of Fabric</a:t>
            </a:r>
            <a:endParaRPr lang="en-US" sz="900"/>
          </a:p>
        </p:txBody>
      </p:sp>
      <p:sp>
        <p:nvSpPr>
          <p:cNvPr id="58" name="Shape 56"/>
          <p:cNvSpPr/>
          <p:nvPr/>
        </p:nvSpPr>
        <p:spPr>
          <a:xfrm>
            <a:off x="4942332" y="1207008"/>
            <a:ext cx="10973" cy="4645152"/>
          </a:xfrm>
          <a:prstGeom prst="rect">
            <a:avLst/>
          </a:prstGeom>
          <a:solidFill>
            <a:srgbClr val="D5DCE8"/>
          </a:solidFill>
          <a:ln/>
        </p:spPr>
        <p:txBody>
          <a:bodyPr/>
          <a:lstStyle/>
          <a:p>
            <a:endParaRPr lang="en-US"/>
          </a:p>
        </p:txBody>
      </p:sp>
      <p:sp>
        <p:nvSpPr>
          <p:cNvPr id="59" name="Text 57"/>
          <p:cNvSpPr/>
          <p:nvPr/>
        </p:nvSpPr>
        <p:spPr>
          <a:xfrm>
            <a:off x="457200" y="5961888"/>
            <a:ext cx="11274552" cy="402336"/>
          </a:xfrm>
          <a:prstGeom prst="rect">
            <a:avLst/>
          </a:prstGeom>
          <a:noFill/>
          <a:ln/>
        </p:spPr>
        <p:txBody>
          <a:bodyPr wrap="square" lIns="0" tIns="0" rIns="0" bIns="0" rtlCol="0" anchor="ctr"/>
          <a:lstStyle/>
          <a:p>
            <a:pPr>
              <a:lnSpc>
                <a:spcPts val="1000"/>
              </a:lnSpc>
            </a:pPr>
            <a:r>
              <a:rPr lang="en-US" sz="800" i="1">
                <a:solidFill>
                  <a:srgbClr val="5A6472"/>
                </a:solidFill>
                <a:latin typeface="Arial" pitchFamily="34" charset="0"/>
                <a:ea typeface="Arial" pitchFamily="34" charset="-122"/>
                <a:cs typeface="Arial" pitchFamily="34" charset="-120"/>
              </a:rPr>
              <a:t>Hands-on work runs inside Disney's Fabric environment across pillars 2, 4 and 5, and anchors to existing Microsoft Learn material. Platform security and governance sits with Disney enterprise technology. Pillar 5 is scoped to building on top of Fabric workloads and the process around it, not full-stack Azure development.</a:t>
            </a:r>
            <a:endParaRPr lang="en-US" sz="800"/>
          </a:p>
        </p:txBody>
      </p:sp>
      <p:sp>
        <p:nvSpPr>
          <p:cNvPr id="60" name="Shape 58"/>
          <p:cNvSpPr/>
          <p:nvPr/>
        </p:nvSpPr>
        <p:spPr>
          <a:xfrm>
            <a:off x="0" y="6382512"/>
            <a:ext cx="12188952" cy="475488"/>
          </a:xfrm>
          <a:prstGeom prst="rect">
            <a:avLst/>
          </a:prstGeom>
          <a:solidFill>
            <a:srgbClr val="00338D"/>
          </a:solidFill>
          <a:ln/>
        </p:spPr>
        <p:txBody>
          <a:bodyPr/>
          <a:lstStyle/>
          <a:p>
            <a:endParaRPr lang="en-US"/>
          </a:p>
        </p:txBody>
      </p:sp>
      <p:sp>
        <p:nvSpPr>
          <p:cNvPr id="61" name="Text 59"/>
          <p:cNvSpPr/>
          <p:nvPr/>
        </p:nvSpPr>
        <p:spPr>
          <a:xfrm>
            <a:off x="457200" y="6492240"/>
            <a:ext cx="5486400" cy="256032"/>
          </a:xfrm>
          <a:prstGeom prst="rect">
            <a:avLst/>
          </a:prstGeom>
          <a:noFill/>
          <a:ln/>
        </p:spPr>
        <p:txBody>
          <a:bodyPr wrap="square" lIns="0" tIns="0" rIns="0" bIns="0" rtlCol="0" anchor="ctr"/>
          <a:lstStyle/>
          <a:p>
            <a:r>
              <a:rPr lang="en-US" sz="900">
                <a:solidFill>
                  <a:srgbClr val="FFFFFF"/>
                </a:solidFill>
                <a:latin typeface="Arial" pitchFamily="34" charset="0"/>
                <a:ea typeface="Arial" pitchFamily="34" charset="-122"/>
                <a:cs typeface="Arial" pitchFamily="34" charset="-120"/>
              </a:rPr>
              <a:t>Delivered on-site at a Disney facility.</a:t>
            </a:r>
            <a:endParaRPr lang="en-US" sz="900"/>
          </a:p>
        </p:txBody>
      </p:sp>
      <p:sp>
        <p:nvSpPr>
          <p:cNvPr id="62" name="Rectangle 61">
            <a:extLst>
              <a:ext uri="{FF2B5EF4-FFF2-40B4-BE49-F238E27FC236}">
                <a16:creationId xmlns:a16="http://schemas.microsoft.com/office/drawing/2014/main" id="{2A5F8EE3-3DD2-192F-5F2A-11F3663B3928}"/>
              </a:ext>
            </a:extLst>
          </p:cNvPr>
          <p:cNvSpPr/>
          <p:nvPr/>
        </p:nvSpPr>
        <p:spPr>
          <a:xfrm>
            <a:off x="636936" y="6693408"/>
            <a:ext cx="8821104" cy="10881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rial" panose="020B0604020202020204" pitchFamily="34" charset="0"/>
                <a:cs typeface="Arial" panose="020B0604020202020204" pitchFamily="34" charset="0"/>
              </a:rPr>
              <a:t>Presented to Jason / Shanna on 9.17. Feedback- more time on </a:t>
            </a:r>
            <a:r>
              <a:rPr lang="en-US" sz="2800" err="1">
                <a:latin typeface="Arial" panose="020B0604020202020204" pitchFamily="34" charset="0"/>
                <a:cs typeface="Arial" panose="020B0604020202020204" pitchFamily="34" charset="0"/>
              </a:rPr>
              <a:t>claude</a:t>
            </a:r>
            <a:r>
              <a:rPr lang="en-US" sz="2800">
                <a:latin typeface="Arial" panose="020B0604020202020204" pitchFamily="34" charset="0"/>
                <a:cs typeface="Arial" panose="020B0604020202020204" pitchFamily="34" charset="0"/>
              </a:rPr>
              <a:t> enabled app development.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024128"/>
          </a:xfrm>
          <a:prstGeom prst="rect">
            <a:avLst/>
          </a:prstGeom>
          <a:solidFill>
            <a:srgbClr val="0B2265"/>
          </a:solidFill>
          <a:ln/>
        </p:spPr>
        <p:txBody>
          <a:bodyPr/>
          <a:lstStyle/>
          <a:p>
            <a:endParaRPr lang="en-US"/>
          </a:p>
        </p:txBody>
      </p:sp>
      <p:sp>
        <p:nvSpPr>
          <p:cNvPr id="3" name="Text 1"/>
          <p:cNvSpPr/>
          <p:nvPr/>
        </p:nvSpPr>
        <p:spPr>
          <a:xfrm>
            <a:off x="384048" y="146304"/>
            <a:ext cx="6766560" cy="777240"/>
          </a:xfrm>
          <a:prstGeom prst="rect">
            <a:avLst/>
          </a:prstGeom>
          <a:noFill/>
          <a:ln/>
        </p:spPr>
        <p:txBody>
          <a:bodyPr wrap="square" lIns="0" tIns="0" rIns="0" bIns="0" rtlCol="0" anchor="ctr"/>
          <a:lstStyle/>
          <a:p>
            <a:pPr marL="0" indent="0">
              <a:lnSpc>
                <a:spcPct val="102000"/>
              </a:lnSpc>
              <a:buNone/>
            </a:pPr>
            <a:r>
              <a:rPr lang="en-US" sz="2100" b="1">
                <a:solidFill>
                  <a:srgbClr val="FFFFFF"/>
                </a:solidFill>
                <a:latin typeface="Arial" pitchFamily="34" charset="0"/>
                <a:ea typeface="Arial" pitchFamily="34" charset="-122"/>
                <a:cs typeface="Arial" pitchFamily="34" charset="-120"/>
              </a:rPr>
              <a:t>Microsoft Fabric &amp; DevOps enablement</a:t>
            </a:r>
            <a:endParaRPr lang="en-US" sz="2100"/>
          </a:p>
          <a:p>
            <a:pPr marL="0" indent="0">
              <a:lnSpc>
                <a:spcPct val="102000"/>
              </a:lnSpc>
              <a:buNone/>
            </a:pPr>
            <a:r>
              <a:rPr lang="en-US" sz="2100" b="1">
                <a:solidFill>
                  <a:srgbClr val="FFFFFF"/>
                </a:solidFill>
                <a:latin typeface="Arial" pitchFamily="34" charset="0"/>
                <a:ea typeface="Arial" pitchFamily="34" charset="-122"/>
                <a:cs typeface="Arial" pitchFamily="34" charset="-120"/>
              </a:rPr>
              <a:t>Proposed agenda  ·  October 19–20</a:t>
            </a:r>
            <a:endParaRPr lang="en-US" sz="2100"/>
          </a:p>
        </p:txBody>
      </p:sp>
      <p:sp>
        <p:nvSpPr>
          <p:cNvPr id="4" name="Text 2"/>
          <p:cNvSpPr/>
          <p:nvPr/>
        </p:nvSpPr>
        <p:spPr>
          <a:xfrm>
            <a:off x="7406640" y="384048"/>
            <a:ext cx="4389120" cy="274320"/>
          </a:xfrm>
          <a:prstGeom prst="rect">
            <a:avLst/>
          </a:prstGeom>
          <a:noFill/>
          <a:ln/>
        </p:spPr>
        <p:txBody>
          <a:bodyPr wrap="square" lIns="0" tIns="0" rIns="0" bIns="0" rtlCol="0" anchor="ctr"/>
          <a:lstStyle/>
          <a:p>
            <a:pPr marL="0" indent="0" algn="r">
              <a:buNone/>
            </a:pPr>
            <a:r>
              <a:rPr lang="en-US" sz="1000" b="1">
                <a:solidFill>
                  <a:srgbClr val="8FB8E8"/>
                </a:solidFill>
                <a:latin typeface="Arial" pitchFamily="34" charset="0"/>
                <a:ea typeface="Arial" pitchFamily="34" charset="-122"/>
                <a:cs typeface="Arial" pitchFamily="34" charset="-120"/>
              </a:rPr>
              <a:t>KPMG  ·  Disney Tax Data Management &amp; Innovation</a:t>
            </a:r>
            <a:endParaRPr lang="en-US" sz="1000"/>
          </a:p>
        </p:txBody>
      </p:sp>
      <p:sp>
        <p:nvSpPr>
          <p:cNvPr id="5" name="Shape 3"/>
          <p:cNvSpPr/>
          <p:nvPr/>
        </p:nvSpPr>
        <p:spPr>
          <a:xfrm>
            <a:off x="0" y="1024128"/>
            <a:ext cx="3703320" cy="5660136"/>
          </a:xfrm>
          <a:prstGeom prst="rect">
            <a:avLst/>
          </a:prstGeom>
          <a:solidFill>
            <a:srgbClr val="F4F7FB"/>
          </a:solidFill>
          <a:ln/>
        </p:spPr>
        <p:txBody>
          <a:bodyPr/>
          <a:lstStyle/>
          <a:p>
            <a:endParaRPr lang="en-US"/>
          </a:p>
        </p:txBody>
      </p:sp>
      <p:sp>
        <p:nvSpPr>
          <p:cNvPr id="6" name="Text 4"/>
          <p:cNvSpPr/>
          <p:nvPr/>
        </p:nvSpPr>
        <p:spPr>
          <a:xfrm>
            <a:off x="384048" y="1353312"/>
            <a:ext cx="3017520" cy="201168"/>
          </a:xfrm>
          <a:prstGeom prst="rect">
            <a:avLst/>
          </a:prstGeom>
          <a:noFill/>
          <a:ln/>
        </p:spPr>
        <p:txBody>
          <a:bodyPr wrap="square" lIns="0" tIns="0" rIns="0" bIns="0" rtlCol="0" anchor="ctr"/>
          <a:lstStyle/>
          <a:p>
            <a:pPr marL="0" indent="0">
              <a:buNone/>
            </a:pPr>
            <a:r>
              <a:rPr lang="en-US" sz="900" b="1" kern="0" spc="120">
                <a:solidFill>
                  <a:srgbClr val="00338D"/>
                </a:solidFill>
                <a:latin typeface="Arial" pitchFamily="34" charset="0"/>
                <a:ea typeface="Arial" pitchFamily="34" charset="-122"/>
                <a:cs typeface="Arial" pitchFamily="34" charset="-120"/>
              </a:rPr>
              <a:t>DAY ONE  ·  MONDAY 19 OCTOBER</a:t>
            </a:r>
            <a:endParaRPr lang="en-US" sz="900"/>
          </a:p>
        </p:txBody>
      </p:sp>
      <p:sp>
        <p:nvSpPr>
          <p:cNvPr id="7" name="Text 5"/>
          <p:cNvSpPr/>
          <p:nvPr/>
        </p:nvSpPr>
        <p:spPr>
          <a:xfrm>
            <a:off x="384048" y="1591056"/>
            <a:ext cx="3017520" cy="292608"/>
          </a:xfrm>
          <a:prstGeom prst="rect">
            <a:avLst/>
          </a:prstGeom>
          <a:noFill/>
          <a:ln/>
        </p:spPr>
        <p:txBody>
          <a:bodyPr wrap="square" lIns="0" tIns="0" rIns="0" bIns="0" rtlCol="0" anchor="ctr"/>
          <a:lstStyle/>
          <a:p>
            <a:pPr marL="0" indent="0">
              <a:buNone/>
            </a:pPr>
            <a:r>
              <a:rPr lang="en-US" sz="1700" b="1">
                <a:solidFill>
                  <a:srgbClr val="1A1A2E"/>
                </a:solidFill>
                <a:latin typeface="Arial" pitchFamily="34" charset="0"/>
                <a:ea typeface="Arial" pitchFamily="34" charset="-122"/>
                <a:cs typeface="Arial" pitchFamily="34" charset="-120"/>
              </a:rPr>
              <a:t>Half day, afternoon</a:t>
            </a:r>
            <a:endParaRPr lang="en-US" sz="1700"/>
          </a:p>
        </p:txBody>
      </p:sp>
      <p:sp>
        <p:nvSpPr>
          <p:cNvPr id="8" name="Shape 6"/>
          <p:cNvSpPr/>
          <p:nvPr/>
        </p:nvSpPr>
        <p:spPr>
          <a:xfrm>
            <a:off x="384048" y="1956816"/>
            <a:ext cx="2926080" cy="13716"/>
          </a:xfrm>
          <a:prstGeom prst="rect">
            <a:avLst/>
          </a:prstGeom>
          <a:solidFill>
            <a:srgbClr val="C9D3E4"/>
          </a:solidFill>
          <a:ln/>
        </p:spPr>
        <p:txBody>
          <a:bodyPr/>
          <a:lstStyle/>
          <a:p>
            <a:endParaRPr lang="en-US"/>
          </a:p>
        </p:txBody>
      </p:sp>
      <p:sp>
        <p:nvSpPr>
          <p:cNvPr id="9" name="Text 7"/>
          <p:cNvSpPr/>
          <p:nvPr/>
        </p:nvSpPr>
        <p:spPr>
          <a:xfrm>
            <a:off x="384048" y="2121408"/>
            <a:ext cx="914400" cy="384048"/>
          </a:xfrm>
          <a:prstGeom prst="rect">
            <a:avLst/>
          </a:prstGeom>
          <a:noFill/>
          <a:ln/>
        </p:spPr>
        <p:txBody>
          <a:bodyPr wrap="square" lIns="0" tIns="0" rIns="0" bIns="0" rtlCol="0" anchor="ctr"/>
          <a:lstStyle/>
          <a:p>
            <a:pPr marL="0" indent="0">
              <a:buNone/>
            </a:pPr>
            <a:r>
              <a:rPr lang="en-US" sz="3000" b="1">
                <a:solidFill>
                  <a:srgbClr val="1E49E2"/>
                </a:solidFill>
                <a:latin typeface="Arial" pitchFamily="34" charset="0"/>
                <a:ea typeface="Arial" pitchFamily="34" charset="-122"/>
                <a:cs typeface="Arial" pitchFamily="34" charset="-120"/>
              </a:rPr>
              <a:t>01</a:t>
            </a:r>
            <a:endParaRPr lang="en-US" sz="3000"/>
          </a:p>
        </p:txBody>
      </p:sp>
      <p:sp>
        <p:nvSpPr>
          <p:cNvPr id="10" name="Text 8"/>
          <p:cNvSpPr/>
          <p:nvPr/>
        </p:nvSpPr>
        <p:spPr>
          <a:xfrm>
            <a:off x="384048" y="2560320"/>
            <a:ext cx="2926080" cy="457200"/>
          </a:xfrm>
          <a:prstGeom prst="rect">
            <a:avLst/>
          </a:prstGeom>
          <a:noFill/>
          <a:ln/>
        </p:spPr>
        <p:txBody>
          <a:bodyPr wrap="square" lIns="0" tIns="0" rIns="0" bIns="0" rtlCol="0" anchor="t"/>
          <a:lstStyle/>
          <a:p>
            <a:pPr marL="0" indent="0">
              <a:lnSpc>
                <a:spcPct val="100000"/>
              </a:lnSpc>
              <a:buNone/>
            </a:pPr>
            <a:r>
              <a:rPr lang="en-US" sz="1500" b="1">
                <a:solidFill>
                  <a:srgbClr val="0B2265"/>
                </a:solidFill>
                <a:latin typeface="Arial" pitchFamily="34" charset="0"/>
                <a:ea typeface="Arial" pitchFamily="34" charset="-122"/>
                <a:cs typeface="Arial" pitchFamily="34" charset="-120"/>
              </a:rPr>
              <a:t>Fabric Foundations &amp; Architecture</a:t>
            </a:r>
            <a:endParaRPr lang="en-US" sz="1500"/>
          </a:p>
        </p:txBody>
      </p:sp>
      <p:sp>
        <p:nvSpPr>
          <p:cNvPr id="11" name="Text 9"/>
          <p:cNvSpPr/>
          <p:nvPr/>
        </p:nvSpPr>
        <p:spPr>
          <a:xfrm>
            <a:off x="384048" y="3054096"/>
            <a:ext cx="2926080" cy="566928"/>
          </a:xfrm>
          <a:prstGeom prst="rect">
            <a:avLst/>
          </a:prstGeom>
          <a:noFill/>
          <a:ln/>
        </p:spPr>
        <p:txBody>
          <a:bodyPr wrap="square" lIns="0" tIns="0" rIns="0" bIns="0" rtlCol="0" anchor="t"/>
          <a:lstStyle/>
          <a:p>
            <a:pPr marL="0" indent="0">
              <a:lnSpc>
                <a:spcPct val="120000"/>
              </a:lnSpc>
              <a:buNone/>
            </a:pPr>
            <a:r>
              <a:rPr lang="en-US" sz="900">
                <a:latin typeface="Arial" pitchFamily="34" charset="0"/>
                <a:ea typeface="Arial" pitchFamily="34" charset="-122"/>
                <a:cs typeface="Arial" pitchFamily="34" charset="-120"/>
              </a:rPr>
              <a:t>The afternoon sets the shared vocabulary for the room before any Fabric-specific material. Pitched for a mixed audience of tax professionals and technologists.</a:t>
            </a:r>
            <a:endParaRPr lang="en-US" sz="900"/>
          </a:p>
        </p:txBody>
      </p:sp>
      <p:sp>
        <p:nvSpPr>
          <p:cNvPr id="12" name="Shape 10"/>
          <p:cNvSpPr/>
          <p:nvPr/>
        </p:nvSpPr>
        <p:spPr>
          <a:xfrm>
            <a:off x="384048" y="3730752"/>
            <a:ext cx="2926080" cy="13716"/>
          </a:xfrm>
          <a:prstGeom prst="rect">
            <a:avLst/>
          </a:prstGeom>
          <a:solidFill>
            <a:srgbClr val="C9D3E4"/>
          </a:solidFill>
          <a:ln/>
        </p:spPr>
        <p:txBody>
          <a:bodyPr/>
          <a:lstStyle/>
          <a:p>
            <a:endParaRPr lang="en-US"/>
          </a:p>
        </p:txBody>
      </p:sp>
      <p:sp>
        <p:nvSpPr>
          <p:cNvPr id="13" name="Text 11"/>
          <p:cNvSpPr/>
          <p:nvPr/>
        </p:nvSpPr>
        <p:spPr>
          <a:xfrm>
            <a:off x="384048" y="3840480"/>
            <a:ext cx="2926080"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Why Disney is moving to Fabric</a:t>
            </a:r>
            <a:endParaRPr lang="en-US" sz="1050"/>
          </a:p>
        </p:txBody>
      </p:sp>
      <p:sp>
        <p:nvSpPr>
          <p:cNvPr id="14" name="Text 12"/>
          <p:cNvSpPr/>
          <p:nvPr/>
        </p:nvSpPr>
        <p:spPr>
          <a:xfrm>
            <a:off x="384048" y="4059936"/>
            <a:ext cx="2880360"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cs typeface="Arial" pitchFamily="34" charset="-120"/>
              </a:rPr>
              <a:t>Current</a:t>
            </a:r>
            <a:r>
              <a:rPr lang="en-US" sz="900">
                <a:latin typeface="Arial" pitchFamily="34" charset="0"/>
                <a:ea typeface="Arial" pitchFamily="34" charset="-122"/>
                <a:cs typeface="Arial" pitchFamily="34" charset="-120"/>
              </a:rPr>
              <a:t> state, the business case and the target operating model</a:t>
            </a:r>
            <a:endParaRPr lang="en-US" sz="900"/>
          </a:p>
        </p:txBody>
      </p:sp>
      <p:sp>
        <p:nvSpPr>
          <p:cNvPr id="15" name="Shape 13"/>
          <p:cNvSpPr/>
          <p:nvPr/>
        </p:nvSpPr>
        <p:spPr>
          <a:xfrm>
            <a:off x="384048" y="4535424"/>
            <a:ext cx="2926080" cy="13716"/>
          </a:xfrm>
          <a:prstGeom prst="rect">
            <a:avLst/>
          </a:prstGeom>
          <a:solidFill>
            <a:srgbClr val="C9D3E4"/>
          </a:solidFill>
          <a:ln/>
        </p:spPr>
        <p:txBody>
          <a:bodyPr/>
          <a:lstStyle/>
          <a:p>
            <a:endParaRPr lang="en-US"/>
          </a:p>
        </p:txBody>
      </p:sp>
      <p:sp>
        <p:nvSpPr>
          <p:cNvPr id="16" name="Text 14"/>
          <p:cNvSpPr/>
          <p:nvPr/>
        </p:nvSpPr>
        <p:spPr>
          <a:xfrm>
            <a:off x="384048" y="4645152"/>
            <a:ext cx="2926080"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Alteryx migration strategy</a:t>
            </a:r>
            <a:endParaRPr lang="en-US" sz="1050"/>
          </a:p>
        </p:txBody>
      </p:sp>
      <p:sp>
        <p:nvSpPr>
          <p:cNvPr id="17" name="Text 15"/>
          <p:cNvSpPr/>
          <p:nvPr/>
        </p:nvSpPr>
        <p:spPr>
          <a:xfrm>
            <a:off x="384048" y="4864608"/>
            <a:ext cx="2880360"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How the workflow estate moves across, with Fabric terms mapped back to Alteryx</a:t>
            </a:r>
            <a:endParaRPr lang="en-US" sz="900"/>
          </a:p>
        </p:txBody>
      </p:sp>
      <p:sp>
        <p:nvSpPr>
          <p:cNvPr id="18" name="Shape 16"/>
          <p:cNvSpPr/>
          <p:nvPr/>
        </p:nvSpPr>
        <p:spPr>
          <a:xfrm>
            <a:off x="384048" y="5340096"/>
            <a:ext cx="2926080" cy="13716"/>
          </a:xfrm>
          <a:prstGeom prst="rect">
            <a:avLst/>
          </a:prstGeom>
          <a:solidFill>
            <a:srgbClr val="C9D3E4"/>
          </a:solidFill>
          <a:ln/>
        </p:spPr>
        <p:txBody>
          <a:bodyPr/>
          <a:lstStyle/>
          <a:p>
            <a:endParaRPr lang="en-US"/>
          </a:p>
        </p:txBody>
      </p:sp>
      <p:sp>
        <p:nvSpPr>
          <p:cNvPr id="19" name="Text 17"/>
          <p:cNvSpPr/>
          <p:nvPr/>
        </p:nvSpPr>
        <p:spPr>
          <a:xfrm>
            <a:off x="384048" y="5449824"/>
            <a:ext cx="2926080"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Technical foundations</a:t>
            </a:r>
            <a:endParaRPr lang="en-US" sz="1050"/>
          </a:p>
        </p:txBody>
      </p:sp>
      <p:sp>
        <p:nvSpPr>
          <p:cNvPr id="20" name="Text 18"/>
          <p:cNvSpPr/>
          <p:nvPr/>
        </p:nvSpPr>
        <p:spPr>
          <a:xfrm>
            <a:off x="384048" y="5669280"/>
            <a:ext cx="2880360"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Database, SQL and Python concepts pitched for a non-developer audience</a:t>
            </a:r>
            <a:endParaRPr lang="en-US" sz="900"/>
          </a:p>
        </p:txBody>
      </p:sp>
      <p:sp>
        <p:nvSpPr>
          <p:cNvPr id="21" name="Text 19"/>
          <p:cNvSpPr/>
          <p:nvPr/>
        </p:nvSpPr>
        <p:spPr>
          <a:xfrm>
            <a:off x="4133088" y="1353312"/>
            <a:ext cx="4572000" cy="201168"/>
          </a:xfrm>
          <a:prstGeom prst="rect">
            <a:avLst/>
          </a:prstGeom>
          <a:noFill/>
          <a:ln/>
        </p:spPr>
        <p:txBody>
          <a:bodyPr wrap="square" lIns="0" tIns="0" rIns="0" bIns="0" rtlCol="0" anchor="ctr"/>
          <a:lstStyle/>
          <a:p>
            <a:pPr marL="0" indent="0">
              <a:buNone/>
            </a:pPr>
            <a:r>
              <a:rPr lang="en-US" sz="900" b="1" kern="0" spc="120">
                <a:solidFill>
                  <a:srgbClr val="00338D"/>
                </a:solidFill>
                <a:latin typeface="Arial" pitchFamily="34" charset="0"/>
                <a:ea typeface="Arial" pitchFamily="34" charset="-122"/>
                <a:cs typeface="Arial" pitchFamily="34" charset="-120"/>
              </a:rPr>
              <a:t>DAY TWO  ·  TUESDAY 20 OCTOBER</a:t>
            </a:r>
            <a:endParaRPr lang="en-US" sz="900"/>
          </a:p>
        </p:txBody>
      </p:sp>
      <p:sp>
        <p:nvSpPr>
          <p:cNvPr id="22" name="Text 20"/>
          <p:cNvSpPr/>
          <p:nvPr/>
        </p:nvSpPr>
        <p:spPr>
          <a:xfrm>
            <a:off x="4133088" y="1591056"/>
            <a:ext cx="2743200" cy="292608"/>
          </a:xfrm>
          <a:prstGeom prst="rect">
            <a:avLst/>
          </a:prstGeom>
          <a:noFill/>
          <a:ln/>
        </p:spPr>
        <p:txBody>
          <a:bodyPr wrap="square" lIns="0" tIns="0" rIns="0" bIns="0" rtlCol="0" anchor="ctr"/>
          <a:lstStyle/>
          <a:p>
            <a:pPr marL="0" indent="0">
              <a:buNone/>
            </a:pPr>
            <a:r>
              <a:rPr lang="en-US" sz="1700" b="1">
                <a:solidFill>
                  <a:srgbClr val="1A1A2E"/>
                </a:solidFill>
                <a:latin typeface="Arial" pitchFamily="34" charset="0"/>
                <a:ea typeface="Arial" pitchFamily="34" charset="-122"/>
                <a:cs typeface="Arial" pitchFamily="34" charset="-120"/>
              </a:rPr>
              <a:t>Full day</a:t>
            </a:r>
            <a:endParaRPr lang="en-US" sz="1700"/>
          </a:p>
        </p:txBody>
      </p:sp>
      <p:sp>
        <p:nvSpPr>
          <p:cNvPr id="23" name="Text 21"/>
          <p:cNvSpPr/>
          <p:nvPr/>
        </p:nvSpPr>
        <p:spPr>
          <a:xfrm>
            <a:off x="6583680" y="1572768"/>
            <a:ext cx="5212080" cy="365760"/>
          </a:xfrm>
          <a:prstGeom prst="rect">
            <a:avLst/>
          </a:prstGeom>
          <a:noFill/>
          <a:ln/>
        </p:spPr>
        <p:txBody>
          <a:bodyPr wrap="square" lIns="0" tIns="0" rIns="0" bIns="0" rtlCol="0" anchor="t"/>
          <a:lstStyle/>
          <a:p>
            <a:pPr marL="0" indent="0">
              <a:lnSpc>
                <a:spcPct val="120000"/>
              </a:lnSpc>
              <a:buNone/>
            </a:pPr>
            <a:r>
              <a:rPr lang="en-US" sz="900">
                <a:solidFill>
                  <a:srgbClr val="5A6472"/>
                </a:solidFill>
                <a:latin typeface="Arial" pitchFamily="34" charset="0"/>
                <a:ea typeface="Arial" pitchFamily="34" charset="-122"/>
                <a:cs typeface="Arial" pitchFamily="34" charset="-120"/>
              </a:rPr>
              <a:t>Three pillars, each building on the one before it — how solutions are built, how the wider organization reaches them, and how changes are shipped.</a:t>
            </a:r>
            <a:endParaRPr lang="en-US" sz="900"/>
          </a:p>
        </p:txBody>
      </p:sp>
      <p:sp>
        <p:nvSpPr>
          <p:cNvPr id="24" name="Shape 22"/>
          <p:cNvSpPr/>
          <p:nvPr/>
        </p:nvSpPr>
        <p:spPr>
          <a:xfrm>
            <a:off x="4133088" y="1956816"/>
            <a:ext cx="7680960" cy="13716"/>
          </a:xfrm>
          <a:prstGeom prst="rect">
            <a:avLst/>
          </a:prstGeom>
          <a:solidFill>
            <a:srgbClr val="C9D3E4"/>
          </a:solidFill>
          <a:ln/>
        </p:spPr>
        <p:txBody>
          <a:bodyPr/>
          <a:lstStyle/>
          <a:p>
            <a:endParaRPr lang="en-US"/>
          </a:p>
        </p:txBody>
      </p:sp>
      <p:sp>
        <p:nvSpPr>
          <p:cNvPr id="25" name="Text 23"/>
          <p:cNvSpPr/>
          <p:nvPr/>
        </p:nvSpPr>
        <p:spPr>
          <a:xfrm>
            <a:off x="4133088" y="2121408"/>
            <a:ext cx="914400" cy="365760"/>
          </a:xfrm>
          <a:prstGeom prst="rect">
            <a:avLst/>
          </a:prstGeom>
          <a:noFill/>
          <a:ln/>
        </p:spPr>
        <p:txBody>
          <a:bodyPr wrap="square" lIns="0" tIns="0" rIns="0" bIns="0" rtlCol="0" anchor="ctr"/>
          <a:lstStyle/>
          <a:p>
            <a:pPr marL="0" indent="0">
              <a:buNone/>
            </a:pPr>
            <a:r>
              <a:rPr lang="en-US" sz="3000" b="1">
                <a:solidFill>
                  <a:srgbClr val="1E49E2"/>
                </a:solidFill>
                <a:latin typeface="Arial" pitchFamily="34" charset="0"/>
                <a:ea typeface="Arial" pitchFamily="34" charset="-122"/>
                <a:cs typeface="Arial" pitchFamily="34" charset="-120"/>
              </a:rPr>
              <a:t>02</a:t>
            </a:r>
            <a:endParaRPr lang="en-US" sz="3000"/>
          </a:p>
        </p:txBody>
      </p:sp>
      <p:sp>
        <p:nvSpPr>
          <p:cNvPr id="26" name="Text 24"/>
          <p:cNvSpPr/>
          <p:nvPr/>
        </p:nvSpPr>
        <p:spPr>
          <a:xfrm>
            <a:off x="4133088" y="2560320"/>
            <a:ext cx="2487168" cy="457200"/>
          </a:xfrm>
          <a:prstGeom prst="rect">
            <a:avLst/>
          </a:prstGeom>
          <a:noFill/>
          <a:ln/>
        </p:spPr>
        <p:txBody>
          <a:bodyPr wrap="square" lIns="0" tIns="0" rIns="0" bIns="0" rtlCol="0" anchor="t"/>
          <a:lstStyle/>
          <a:p>
            <a:pPr marL="0" indent="0">
              <a:lnSpc>
                <a:spcPct val="100000"/>
              </a:lnSpc>
              <a:buNone/>
            </a:pPr>
            <a:r>
              <a:rPr lang="en-US" sz="1300" b="1">
                <a:solidFill>
                  <a:srgbClr val="0B2265"/>
                </a:solidFill>
                <a:latin typeface="Arial" pitchFamily="34" charset="0"/>
                <a:ea typeface="Arial" pitchFamily="34" charset="-122"/>
                <a:cs typeface="Arial" pitchFamily="34" charset="-120"/>
              </a:rPr>
              <a:t>Data Engineering in Fabric</a:t>
            </a:r>
            <a:endParaRPr lang="en-US" sz="1300"/>
          </a:p>
        </p:txBody>
      </p:sp>
      <p:sp>
        <p:nvSpPr>
          <p:cNvPr id="27" name="Text 25"/>
          <p:cNvSpPr/>
          <p:nvPr/>
        </p:nvSpPr>
        <p:spPr>
          <a:xfrm>
            <a:off x="4133088" y="3054096"/>
            <a:ext cx="2487168" cy="365760"/>
          </a:xfrm>
          <a:prstGeom prst="rect">
            <a:avLst/>
          </a:prstGeom>
          <a:noFill/>
          <a:ln/>
        </p:spPr>
        <p:txBody>
          <a:bodyPr wrap="square" lIns="0" tIns="0" rIns="0" bIns="0" rtlCol="0" anchor="t"/>
          <a:lstStyle/>
          <a:p>
            <a:pPr marL="0" indent="0">
              <a:lnSpc>
                <a:spcPct val="120000"/>
              </a:lnSpc>
              <a:buNone/>
            </a:pPr>
            <a:r>
              <a:rPr lang="en-US" sz="900">
                <a:latin typeface="Arial" pitchFamily="34" charset="0"/>
                <a:ea typeface="Arial" pitchFamily="34" charset="-122"/>
                <a:cs typeface="Arial" pitchFamily="34" charset="-120"/>
              </a:rPr>
              <a:t>How workflows are actually built in the new environment.</a:t>
            </a:r>
            <a:endParaRPr lang="en-US" sz="900"/>
          </a:p>
        </p:txBody>
      </p:sp>
      <p:sp>
        <p:nvSpPr>
          <p:cNvPr id="28" name="Shape 26"/>
          <p:cNvSpPr/>
          <p:nvPr/>
        </p:nvSpPr>
        <p:spPr>
          <a:xfrm>
            <a:off x="4133088" y="3730752"/>
            <a:ext cx="2487168" cy="13716"/>
          </a:xfrm>
          <a:prstGeom prst="rect">
            <a:avLst/>
          </a:prstGeom>
          <a:solidFill>
            <a:srgbClr val="C9D3E4"/>
          </a:solidFill>
          <a:ln/>
        </p:spPr>
        <p:txBody>
          <a:bodyPr/>
          <a:lstStyle/>
          <a:p>
            <a:endParaRPr lang="en-US"/>
          </a:p>
        </p:txBody>
      </p:sp>
      <p:sp>
        <p:nvSpPr>
          <p:cNvPr id="29" name="Text 27"/>
          <p:cNvSpPr/>
          <p:nvPr/>
        </p:nvSpPr>
        <p:spPr>
          <a:xfrm>
            <a:off x="4133088" y="3840480"/>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Lakehouse concepts</a:t>
            </a:r>
            <a:endParaRPr lang="en-US" sz="1050"/>
          </a:p>
        </p:txBody>
      </p:sp>
      <p:sp>
        <p:nvSpPr>
          <p:cNvPr id="30" name="Text 28"/>
          <p:cNvSpPr/>
          <p:nvPr/>
        </p:nvSpPr>
        <p:spPr>
          <a:xfrm>
            <a:off x="4133088" y="4059936"/>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OneLake, workspaces, tables and shortcuts, and how data is organised</a:t>
            </a:r>
            <a:endParaRPr lang="en-US" sz="900"/>
          </a:p>
        </p:txBody>
      </p:sp>
      <p:sp>
        <p:nvSpPr>
          <p:cNvPr id="31" name="Shape 29"/>
          <p:cNvSpPr/>
          <p:nvPr/>
        </p:nvSpPr>
        <p:spPr>
          <a:xfrm>
            <a:off x="4133088" y="4535424"/>
            <a:ext cx="2487168" cy="13716"/>
          </a:xfrm>
          <a:prstGeom prst="rect">
            <a:avLst/>
          </a:prstGeom>
          <a:solidFill>
            <a:srgbClr val="C9D3E4"/>
          </a:solidFill>
          <a:ln/>
        </p:spPr>
        <p:txBody>
          <a:bodyPr/>
          <a:lstStyle/>
          <a:p>
            <a:endParaRPr lang="en-US"/>
          </a:p>
        </p:txBody>
      </p:sp>
      <p:sp>
        <p:nvSpPr>
          <p:cNvPr id="32" name="Text 30"/>
          <p:cNvSpPr/>
          <p:nvPr/>
        </p:nvSpPr>
        <p:spPr>
          <a:xfrm>
            <a:off x="4133088" y="4645152"/>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Medallion architecture</a:t>
            </a:r>
            <a:endParaRPr lang="en-US" sz="1050"/>
          </a:p>
        </p:txBody>
      </p:sp>
      <p:sp>
        <p:nvSpPr>
          <p:cNvPr id="33" name="Text 31"/>
          <p:cNvSpPr/>
          <p:nvPr/>
        </p:nvSpPr>
        <p:spPr>
          <a:xfrm>
            <a:off x="4133088" y="4864608"/>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Bronze, silver and gold layers, and what belongs at each stage</a:t>
            </a:r>
            <a:endParaRPr lang="en-US" sz="900"/>
          </a:p>
        </p:txBody>
      </p:sp>
      <p:sp>
        <p:nvSpPr>
          <p:cNvPr id="34" name="Shape 32"/>
          <p:cNvSpPr/>
          <p:nvPr/>
        </p:nvSpPr>
        <p:spPr>
          <a:xfrm>
            <a:off x="4133088" y="5340096"/>
            <a:ext cx="2487168" cy="13716"/>
          </a:xfrm>
          <a:prstGeom prst="rect">
            <a:avLst/>
          </a:prstGeom>
          <a:solidFill>
            <a:srgbClr val="C9D3E4"/>
          </a:solidFill>
          <a:ln/>
        </p:spPr>
        <p:txBody>
          <a:bodyPr/>
          <a:lstStyle/>
          <a:p>
            <a:endParaRPr lang="en-US"/>
          </a:p>
        </p:txBody>
      </p:sp>
      <p:sp>
        <p:nvSpPr>
          <p:cNvPr id="35" name="Text 33"/>
          <p:cNvSpPr/>
          <p:nvPr/>
        </p:nvSpPr>
        <p:spPr>
          <a:xfrm>
            <a:off x="4133088" y="5449824"/>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Notebook-centric development</a:t>
            </a:r>
            <a:endParaRPr lang="en-US" sz="1050"/>
          </a:p>
        </p:txBody>
      </p:sp>
      <p:sp>
        <p:nvSpPr>
          <p:cNvPr id="36" name="Text 34"/>
          <p:cNvSpPr/>
          <p:nvPr/>
        </p:nvSpPr>
        <p:spPr>
          <a:xfrm>
            <a:off x="4133088" y="5669280"/>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Notebooks as the primary build pattern, ETL development and orchestration</a:t>
            </a:r>
            <a:endParaRPr lang="en-US" sz="900"/>
          </a:p>
        </p:txBody>
      </p:sp>
      <p:sp>
        <p:nvSpPr>
          <p:cNvPr id="37" name="Shape 35"/>
          <p:cNvSpPr/>
          <p:nvPr/>
        </p:nvSpPr>
        <p:spPr>
          <a:xfrm>
            <a:off x="6675120" y="2157984"/>
            <a:ext cx="10973" cy="3895344"/>
          </a:xfrm>
          <a:prstGeom prst="rect">
            <a:avLst/>
          </a:prstGeom>
          <a:solidFill>
            <a:srgbClr val="DCE4F0"/>
          </a:solidFill>
          <a:ln/>
        </p:spPr>
        <p:txBody>
          <a:bodyPr/>
          <a:lstStyle/>
          <a:p>
            <a:endParaRPr lang="en-US"/>
          </a:p>
        </p:txBody>
      </p:sp>
      <p:sp>
        <p:nvSpPr>
          <p:cNvPr id="38" name="Text 36"/>
          <p:cNvSpPr/>
          <p:nvPr/>
        </p:nvSpPr>
        <p:spPr>
          <a:xfrm>
            <a:off x="6729984" y="2121408"/>
            <a:ext cx="914400" cy="365760"/>
          </a:xfrm>
          <a:prstGeom prst="rect">
            <a:avLst/>
          </a:prstGeom>
          <a:noFill/>
          <a:ln/>
        </p:spPr>
        <p:txBody>
          <a:bodyPr wrap="square" lIns="0" tIns="0" rIns="0" bIns="0" rtlCol="0" anchor="ctr"/>
          <a:lstStyle/>
          <a:p>
            <a:pPr marL="0" indent="0">
              <a:buNone/>
            </a:pPr>
            <a:r>
              <a:rPr lang="en-US" sz="3000" b="1">
                <a:solidFill>
                  <a:srgbClr val="1E49E2"/>
                </a:solidFill>
                <a:latin typeface="Arial" pitchFamily="34" charset="0"/>
                <a:ea typeface="Arial" pitchFamily="34" charset="-122"/>
                <a:cs typeface="Arial" pitchFamily="34" charset="-120"/>
              </a:rPr>
              <a:t>03</a:t>
            </a:r>
            <a:endParaRPr lang="en-US" sz="3000"/>
          </a:p>
        </p:txBody>
      </p:sp>
      <p:sp>
        <p:nvSpPr>
          <p:cNvPr id="39" name="Text 37"/>
          <p:cNvSpPr/>
          <p:nvPr/>
        </p:nvSpPr>
        <p:spPr>
          <a:xfrm>
            <a:off x="6729984" y="2560320"/>
            <a:ext cx="2487168" cy="457200"/>
          </a:xfrm>
          <a:prstGeom prst="rect">
            <a:avLst/>
          </a:prstGeom>
          <a:noFill/>
          <a:ln/>
        </p:spPr>
        <p:txBody>
          <a:bodyPr wrap="square" lIns="0" tIns="0" rIns="0" bIns="0" rtlCol="0" anchor="t"/>
          <a:lstStyle/>
          <a:p>
            <a:pPr marL="0" indent="0">
              <a:lnSpc>
                <a:spcPct val="100000"/>
              </a:lnSpc>
              <a:buNone/>
            </a:pPr>
            <a:r>
              <a:rPr lang="en-US" sz="1300" b="1">
                <a:solidFill>
                  <a:srgbClr val="0B2265"/>
                </a:solidFill>
                <a:latin typeface="Arial" pitchFamily="34" charset="0"/>
                <a:ea typeface="Arial" pitchFamily="34" charset="-122"/>
                <a:cs typeface="Arial" pitchFamily="34" charset="-120"/>
              </a:rPr>
              <a:t>User Experience &amp; Workflow Consumption</a:t>
            </a:r>
            <a:endParaRPr lang="en-US" sz="1300"/>
          </a:p>
        </p:txBody>
      </p:sp>
      <p:sp>
        <p:nvSpPr>
          <p:cNvPr id="40" name="Text 38"/>
          <p:cNvSpPr/>
          <p:nvPr/>
        </p:nvSpPr>
        <p:spPr>
          <a:xfrm>
            <a:off x="6729984" y="3054096"/>
            <a:ext cx="2487168" cy="365760"/>
          </a:xfrm>
          <a:prstGeom prst="rect">
            <a:avLst/>
          </a:prstGeom>
          <a:noFill/>
          <a:ln/>
        </p:spPr>
        <p:txBody>
          <a:bodyPr wrap="square" lIns="0" tIns="0" rIns="0" bIns="0" rtlCol="0" anchor="t"/>
          <a:lstStyle/>
          <a:p>
            <a:pPr marL="0" indent="0">
              <a:lnSpc>
                <a:spcPct val="120000"/>
              </a:lnSpc>
              <a:buNone/>
            </a:pPr>
            <a:r>
              <a:rPr lang="en-US" sz="900">
                <a:latin typeface="Arial" pitchFamily="34" charset="0"/>
                <a:ea typeface="Arial" pitchFamily="34" charset="-122"/>
                <a:cs typeface="Arial" pitchFamily="34" charset="-120"/>
              </a:rPr>
              <a:t>How the wider tax organization reaches what gets built.</a:t>
            </a:r>
            <a:endParaRPr lang="en-US" sz="900"/>
          </a:p>
        </p:txBody>
      </p:sp>
      <p:sp>
        <p:nvSpPr>
          <p:cNvPr id="41" name="Shape 39"/>
          <p:cNvSpPr/>
          <p:nvPr/>
        </p:nvSpPr>
        <p:spPr>
          <a:xfrm>
            <a:off x="6729984" y="3730752"/>
            <a:ext cx="2487168" cy="13716"/>
          </a:xfrm>
          <a:prstGeom prst="rect">
            <a:avLst/>
          </a:prstGeom>
          <a:solidFill>
            <a:srgbClr val="C9D3E4"/>
          </a:solidFill>
          <a:ln/>
        </p:spPr>
        <p:txBody>
          <a:bodyPr/>
          <a:lstStyle/>
          <a:p>
            <a:endParaRPr lang="en-US"/>
          </a:p>
        </p:txBody>
      </p:sp>
      <p:sp>
        <p:nvSpPr>
          <p:cNvPr id="42" name="Text 40"/>
          <p:cNvSpPr/>
          <p:nvPr/>
        </p:nvSpPr>
        <p:spPr>
          <a:xfrm>
            <a:off x="6729984" y="3840480"/>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Portal-driven workflow execution</a:t>
            </a:r>
            <a:endParaRPr lang="en-US" sz="1050"/>
          </a:p>
        </p:txBody>
      </p:sp>
      <p:sp>
        <p:nvSpPr>
          <p:cNvPr id="43" name="Text 41"/>
          <p:cNvSpPr/>
          <p:nvPr/>
        </p:nvSpPr>
        <p:spPr>
          <a:xfrm>
            <a:off x="6729984" y="4059936"/>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Users supply inputs and parameters, notebooks run in the background</a:t>
            </a:r>
            <a:endParaRPr lang="en-US" sz="900"/>
          </a:p>
        </p:txBody>
      </p:sp>
      <p:sp>
        <p:nvSpPr>
          <p:cNvPr id="44" name="Shape 42"/>
          <p:cNvSpPr/>
          <p:nvPr/>
        </p:nvSpPr>
        <p:spPr>
          <a:xfrm>
            <a:off x="6729984" y="4535424"/>
            <a:ext cx="2487168" cy="13716"/>
          </a:xfrm>
          <a:prstGeom prst="rect">
            <a:avLst/>
          </a:prstGeom>
          <a:solidFill>
            <a:srgbClr val="C9D3E4"/>
          </a:solidFill>
          <a:ln/>
        </p:spPr>
        <p:txBody>
          <a:bodyPr/>
          <a:lstStyle/>
          <a:p>
            <a:endParaRPr lang="en-US"/>
          </a:p>
        </p:txBody>
      </p:sp>
      <p:sp>
        <p:nvSpPr>
          <p:cNvPr id="45" name="Text 43"/>
          <p:cNvSpPr/>
          <p:nvPr/>
        </p:nvSpPr>
        <p:spPr>
          <a:xfrm>
            <a:off x="6729984" y="4645152"/>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Reporting integration</a:t>
            </a:r>
            <a:endParaRPr lang="en-US" sz="1050"/>
          </a:p>
        </p:txBody>
      </p:sp>
      <p:sp>
        <p:nvSpPr>
          <p:cNvPr id="46" name="Text 44"/>
          <p:cNvSpPr/>
          <p:nvPr/>
        </p:nvSpPr>
        <p:spPr>
          <a:xfrm>
            <a:off x="6729984" y="4864608"/>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The end-to-end path from workflow output through to a finished report</a:t>
            </a:r>
            <a:endParaRPr lang="en-US" sz="900"/>
          </a:p>
        </p:txBody>
      </p:sp>
      <p:sp>
        <p:nvSpPr>
          <p:cNvPr id="47" name="Shape 45"/>
          <p:cNvSpPr/>
          <p:nvPr/>
        </p:nvSpPr>
        <p:spPr>
          <a:xfrm>
            <a:off x="6729984" y="5340096"/>
            <a:ext cx="2487168" cy="13716"/>
          </a:xfrm>
          <a:prstGeom prst="rect">
            <a:avLst/>
          </a:prstGeom>
          <a:solidFill>
            <a:srgbClr val="C9D3E4"/>
          </a:solidFill>
          <a:ln/>
        </p:spPr>
        <p:txBody>
          <a:bodyPr/>
          <a:lstStyle/>
          <a:p>
            <a:endParaRPr lang="en-US"/>
          </a:p>
        </p:txBody>
      </p:sp>
      <p:sp>
        <p:nvSpPr>
          <p:cNvPr id="48" name="Text 46"/>
          <p:cNvSpPr/>
          <p:nvPr/>
        </p:nvSpPr>
        <p:spPr>
          <a:xfrm>
            <a:off x="6729984" y="5449824"/>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Power BI and Power Query</a:t>
            </a:r>
            <a:endParaRPr lang="en-US" sz="1050"/>
          </a:p>
        </p:txBody>
      </p:sp>
      <p:sp>
        <p:nvSpPr>
          <p:cNvPr id="49" name="Text 47"/>
          <p:cNvSpPr/>
          <p:nvPr/>
        </p:nvSpPr>
        <p:spPr>
          <a:xfrm>
            <a:off x="6729984" y="5669280"/>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Getting Fabric data into the reports the tax organization already uses</a:t>
            </a:r>
            <a:endParaRPr lang="en-US" sz="900"/>
          </a:p>
        </p:txBody>
      </p:sp>
      <p:sp>
        <p:nvSpPr>
          <p:cNvPr id="50" name="Shape 48"/>
          <p:cNvSpPr/>
          <p:nvPr/>
        </p:nvSpPr>
        <p:spPr>
          <a:xfrm>
            <a:off x="9272016" y="2157984"/>
            <a:ext cx="10973" cy="3895344"/>
          </a:xfrm>
          <a:prstGeom prst="rect">
            <a:avLst/>
          </a:prstGeom>
          <a:solidFill>
            <a:srgbClr val="DCE4F0"/>
          </a:solidFill>
          <a:ln/>
        </p:spPr>
        <p:txBody>
          <a:bodyPr/>
          <a:lstStyle/>
          <a:p>
            <a:endParaRPr lang="en-US"/>
          </a:p>
        </p:txBody>
      </p:sp>
      <p:sp>
        <p:nvSpPr>
          <p:cNvPr id="51" name="Text 49"/>
          <p:cNvSpPr/>
          <p:nvPr/>
        </p:nvSpPr>
        <p:spPr>
          <a:xfrm>
            <a:off x="9326880" y="2121408"/>
            <a:ext cx="914400" cy="365760"/>
          </a:xfrm>
          <a:prstGeom prst="rect">
            <a:avLst/>
          </a:prstGeom>
          <a:noFill/>
          <a:ln/>
        </p:spPr>
        <p:txBody>
          <a:bodyPr wrap="square" lIns="0" tIns="0" rIns="0" bIns="0" rtlCol="0" anchor="ctr"/>
          <a:lstStyle/>
          <a:p>
            <a:pPr marL="0" indent="0">
              <a:buNone/>
            </a:pPr>
            <a:r>
              <a:rPr lang="en-US" sz="3000" b="1">
                <a:solidFill>
                  <a:srgbClr val="1E49E2"/>
                </a:solidFill>
                <a:latin typeface="Arial" pitchFamily="34" charset="0"/>
                <a:ea typeface="Arial" pitchFamily="34" charset="-122"/>
                <a:cs typeface="Arial" pitchFamily="34" charset="-120"/>
              </a:rPr>
              <a:t>04</a:t>
            </a:r>
            <a:endParaRPr lang="en-US" sz="3000"/>
          </a:p>
        </p:txBody>
      </p:sp>
      <p:sp>
        <p:nvSpPr>
          <p:cNvPr id="52" name="Text 50"/>
          <p:cNvSpPr/>
          <p:nvPr/>
        </p:nvSpPr>
        <p:spPr>
          <a:xfrm>
            <a:off x="9326880" y="2560320"/>
            <a:ext cx="2487168" cy="457200"/>
          </a:xfrm>
          <a:prstGeom prst="rect">
            <a:avLst/>
          </a:prstGeom>
          <a:noFill/>
          <a:ln/>
        </p:spPr>
        <p:txBody>
          <a:bodyPr wrap="square" lIns="0" tIns="0" rIns="0" bIns="0" rtlCol="0" anchor="t"/>
          <a:lstStyle/>
          <a:p>
            <a:pPr marL="0" indent="0">
              <a:lnSpc>
                <a:spcPct val="100000"/>
              </a:lnSpc>
              <a:buNone/>
            </a:pPr>
            <a:r>
              <a:rPr lang="en-US" sz="1300" b="1">
                <a:solidFill>
                  <a:srgbClr val="0B2265"/>
                </a:solidFill>
                <a:latin typeface="Arial" pitchFamily="34" charset="0"/>
                <a:ea typeface="Arial" pitchFamily="34" charset="-122"/>
                <a:cs typeface="Arial" pitchFamily="34" charset="-120"/>
              </a:rPr>
              <a:t>DevOps, Governance &amp; Deployment</a:t>
            </a:r>
            <a:endParaRPr lang="en-US" sz="1300"/>
          </a:p>
        </p:txBody>
      </p:sp>
      <p:sp>
        <p:nvSpPr>
          <p:cNvPr id="53" name="Text 51"/>
          <p:cNvSpPr/>
          <p:nvPr/>
        </p:nvSpPr>
        <p:spPr>
          <a:xfrm>
            <a:off x="9326880" y="3054096"/>
            <a:ext cx="2487168" cy="365760"/>
          </a:xfrm>
          <a:prstGeom prst="rect">
            <a:avLst/>
          </a:prstGeom>
          <a:noFill/>
          <a:ln/>
        </p:spPr>
        <p:txBody>
          <a:bodyPr wrap="square" lIns="0" tIns="0" rIns="0" bIns="0" rtlCol="0" anchor="t"/>
          <a:lstStyle/>
          <a:p>
            <a:pPr marL="0" indent="0">
              <a:lnSpc>
                <a:spcPct val="120000"/>
              </a:lnSpc>
              <a:buNone/>
            </a:pPr>
            <a:r>
              <a:rPr lang="en-US" sz="900">
                <a:latin typeface="Arial" pitchFamily="34" charset="0"/>
                <a:ea typeface="Arial" pitchFamily="34" charset="-122"/>
                <a:cs typeface="Arial" pitchFamily="34" charset="-120"/>
              </a:rPr>
              <a:t>How changes are shipped safely once solutions are live.</a:t>
            </a:r>
            <a:endParaRPr lang="en-US" sz="900"/>
          </a:p>
        </p:txBody>
      </p:sp>
      <p:sp>
        <p:nvSpPr>
          <p:cNvPr id="54" name="Shape 52"/>
          <p:cNvSpPr/>
          <p:nvPr/>
        </p:nvSpPr>
        <p:spPr>
          <a:xfrm>
            <a:off x="9326880" y="3730752"/>
            <a:ext cx="2487168" cy="13716"/>
          </a:xfrm>
          <a:prstGeom prst="rect">
            <a:avLst/>
          </a:prstGeom>
          <a:solidFill>
            <a:srgbClr val="C9D3E4"/>
          </a:solidFill>
          <a:ln/>
        </p:spPr>
        <p:txBody>
          <a:bodyPr/>
          <a:lstStyle/>
          <a:p>
            <a:endParaRPr lang="en-US"/>
          </a:p>
        </p:txBody>
      </p:sp>
      <p:sp>
        <p:nvSpPr>
          <p:cNvPr id="55" name="Text 53"/>
          <p:cNvSpPr/>
          <p:nvPr/>
        </p:nvSpPr>
        <p:spPr>
          <a:xfrm>
            <a:off x="9326880" y="3840480"/>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Git fundamentals</a:t>
            </a:r>
            <a:endParaRPr lang="en-US" sz="1050"/>
          </a:p>
        </p:txBody>
      </p:sp>
      <p:sp>
        <p:nvSpPr>
          <p:cNvPr id="56" name="Text 54"/>
          <p:cNvSpPr/>
          <p:nvPr/>
        </p:nvSpPr>
        <p:spPr>
          <a:xfrm>
            <a:off x="9326880" y="4059936"/>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Source control basics and branching, assuming no prior experience</a:t>
            </a:r>
            <a:endParaRPr lang="en-US" sz="900"/>
          </a:p>
        </p:txBody>
      </p:sp>
      <p:sp>
        <p:nvSpPr>
          <p:cNvPr id="57" name="Shape 55"/>
          <p:cNvSpPr/>
          <p:nvPr/>
        </p:nvSpPr>
        <p:spPr>
          <a:xfrm>
            <a:off x="9326880" y="4535424"/>
            <a:ext cx="2487168" cy="13716"/>
          </a:xfrm>
          <a:prstGeom prst="rect">
            <a:avLst/>
          </a:prstGeom>
          <a:solidFill>
            <a:srgbClr val="C9D3E4"/>
          </a:solidFill>
          <a:ln/>
        </p:spPr>
        <p:txBody>
          <a:bodyPr/>
          <a:lstStyle/>
          <a:p>
            <a:endParaRPr lang="en-US"/>
          </a:p>
        </p:txBody>
      </p:sp>
      <p:sp>
        <p:nvSpPr>
          <p:cNvPr id="58" name="Text 56"/>
          <p:cNvSpPr/>
          <p:nvPr/>
        </p:nvSpPr>
        <p:spPr>
          <a:xfrm>
            <a:off x="9326880" y="4645152"/>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Deployment patterns</a:t>
            </a:r>
            <a:endParaRPr lang="en-US" sz="1050"/>
          </a:p>
        </p:txBody>
      </p:sp>
      <p:sp>
        <p:nvSpPr>
          <p:cNvPr id="59" name="Text 57"/>
          <p:cNvSpPr/>
          <p:nvPr/>
        </p:nvSpPr>
        <p:spPr>
          <a:xfrm>
            <a:off x="9326880" y="4864608"/>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Deployment pipelines and promoting work between workspaces</a:t>
            </a:r>
            <a:endParaRPr lang="en-US" sz="900"/>
          </a:p>
        </p:txBody>
      </p:sp>
      <p:sp>
        <p:nvSpPr>
          <p:cNvPr id="60" name="Shape 58"/>
          <p:cNvSpPr/>
          <p:nvPr/>
        </p:nvSpPr>
        <p:spPr>
          <a:xfrm>
            <a:off x="9326880" y="5340096"/>
            <a:ext cx="2487168" cy="13716"/>
          </a:xfrm>
          <a:prstGeom prst="rect">
            <a:avLst/>
          </a:prstGeom>
          <a:solidFill>
            <a:srgbClr val="C9D3E4"/>
          </a:solidFill>
          <a:ln/>
        </p:spPr>
        <p:txBody>
          <a:bodyPr/>
          <a:lstStyle/>
          <a:p>
            <a:endParaRPr lang="en-US"/>
          </a:p>
        </p:txBody>
      </p:sp>
      <p:sp>
        <p:nvSpPr>
          <p:cNvPr id="61" name="Text 59"/>
          <p:cNvSpPr/>
          <p:nvPr/>
        </p:nvSpPr>
        <p:spPr>
          <a:xfrm>
            <a:off x="9326880" y="5449824"/>
            <a:ext cx="2487168" cy="201168"/>
          </a:xfrm>
          <a:prstGeom prst="rect">
            <a:avLst/>
          </a:prstGeom>
          <a:noFill/>
          <a:ln/>
        </p:spPr>
        <p:txBody>
          <a:bodyPr wrap="square" lIns="0" tIns="0" rIns="0" bIns="0" rtlCol="0" anchor="t"/>
          <a:lstStyle/>
          <a:p>
            <a:pPr marL="0" indent="0">
              <a:buNone/>
            </a:pPr>
            <a:r>
              <a:rPr lang="en-US" sz="1050" b="1">
                <a:solidFill>
                  <a:srgbClr val="1A1A2E"/>
                </a:solidFill>
                <a:latin typeface="Arial" pitchFamily="34" charset="0"/>
                <a:ea typeface="Arial" pitchFamily="34" charset="-122"/>
                <a:cs typeface="Arial" pitchFamily="34" charset="-120"/>
              </a:rPr>
              <a:t>Release and environment strategy</a:t>
            </a:r>
            <a:endParaRPr lang="en-US" sz="1050"/>
          </a:p>
        </p:txBody>
      </p:sp>
      <p:sp>
        <p:nvSpPr>
          <p:cNvPr id="62" name="Text 60"/>
          <p:cNvSpPr/>
          <p:nvPr/>
        </p:nvSpPr>
        <p:spPr>
          <a:xfrm>
            <a:off x="9326880" y="5669280"/>
            <a:ext cx="2432304" cy="365760"/>
          </a:xfrm>
          <a:prstGeom prst="rect">
            <a:avLst/>
          </a:prstGeom>
          <a:noFill/>
          <a:ln/>
        </p:spPr>
        <p:txBody>
          <a:bodyPr wrap="square" lIns="0" tIns="0" rIns="0" bIns="0" rtlCol="0" anchor="t"/>
          <a:lstStyle/>
          <a:p>
            <a:pPr marL="0" indent="0">
              <a:lnSpc>
                <a:spcPct val="115000"/>
              </a:lnSpc>
              <a:buNone/>
            </a:pPr>
            <a:r>
              <a:rPr lang="en-US" sz="900">
                <a:latin typeface="Arial" pitchFamily="34" charset="0"/>
                <a:ea typeface="Arial" pitchFamily="34" charset="-122"/>
                <a:cs typeface="Arial" pitchFamily="34" charset="-120"/>
              </a:rPr>
              <a:t>Dev, test and production, and the paved road for shipping changes</a:t>
            </a:r>
            <a:endParaRPr lang="en-US" sz="900"/>
          </a:p>
        </p:txBody>
      </p:sp>
      <p:sp>
        <p:nvSpPr>
          <p:cNvPr id="63" name="Text 61"/>
          <p:cNvSpPr/>
          <p:nvPr/>
        </p:nvSpPr>
        <p:spPr>
          <a:xfrm>
            <a:off x="384048" y="6108192"/>
            <a:ext cx="11430000" cy="237744"/>
          </a:xfrm>
          <a:prstGeom prst="rect">
            <a:avLst/>
          </a:prstGeom>
          <a:noFill/>
          <a:ln/>
        </p:spPr>
        <p:txBody>
          <a:bodyPr wrap="square" lIns="0" tIns="0" rIns="0" bIns="0" rtlCol="0" anchor="t"/>
          <a:lstStyle/>
          <a:p>
            <a:pPr marL="0" indent="0">
              <a:lnSpc>
                <a:spcPct val="110000"/>
              </a:lnSpc>
              <a:buNone/>
            </a:pPr>
            <a:r>
              <a:rPr lang="en-US" sz="720" i="1">
                <a:solidFill>
                  <a:srgbClr val="5A6472"/>
                </a:solidFill>
                <a:latin typeface="Arial" pitchFamily="34" charset="0"/>
                <a:ea typeface="Arial" pitchFamily="34" charset="-122"/>
                <a:cs typeface="Arial" pitchFamily="34" charset="-120"/>
              </a:rPr>
              <a:t>Hands-on work runs inside Disney's Fabric environment across pillars 2 and 4 and anchors to existing Microsoft Learn material. Platform security and governance sits with Disney enterprise technology. Application development is scoped to lightweight interfaces over Fabric workloads rather than full-stack Azure build.</a:t>
            </a:r>
            <a:endParaRPr lang="en-US" sz="720"/>
          </a:p>
        </p:txBody>
      </p:sp>
      <p:sp>
        <p:nvSpPr>
          <p:cNvPr id="64" name="Shape 62"/>
          <p:cNvSpPr/>
          <p:nvPr/>
        </p:nvSpPr>
        <p:spPr>
          <a:xfrm>
            <a:off x="0" y="6446520"/>
            <a:ext cx="12191695" cy="237744"/>
          </a:xfrm>
          <a:prstGeom prst="rect">
            <a:avLst/>
          </a:prstGeom>
          <a:solidFill>
            <a:srgbClr val="1E49E2"/>
          </a:solidFill>
          <a:ln/>
        </p:spPr>
        <p:txBody>
          <a:bodyPr/>
          <a:lstStyle/>
          <a:p>
            <a:endParaRPr lang="en-US"/>
          </a:p>
        </p:txBody>
      </p:sp>
      <p:sp>
        <p:nvSpPr>
          <p:cNvPr id="65" name="Text 63"/>
          <p:cNvSpPr/>
          <p:nvPr/>
        </p:nvSpPr>
        <p:spPr>
          <a:xfrm>
            <a:off x="384048" y="6464808"/>
            <a:ext cx="8686800" cy="201168"/>
          </a:xfrm>
          <a:prstGeom prst="rect">
            <a:avLst/>
          </a:prstGeom>
          <a:noFill/>
          <a:ln/>
        </p:spPr>
        <p:txBody>
          <a:bodyPr wrap="square" lIns="0" tIns="0" rIns="0" bIns="0" rtlCol="0" anchor="ctr"/>
          <a:lstStyle/>
          <a:p>
            <a:pPr marL="0" indent="0">
              <a:buNone/>
            </a:pPr>
            <a:r>
              <a:rPr lang="en-US" sz="850">
                <a:solidFill>
                  <a:srgbClr val="FFFFFF"/>
                </a:solidFill>
                <a:latin typeface="Arial" pitchFamily="34" charset="0"/>
                <a:ea typeface="Arial" pitchFamily="34" charset="-122"/>
                <a:cs typeface="Arial" pitchFamily="34" charset="-120"/>
              </a:rPr>
              <a:t>Delivered on-site at a Disney facility.</a:t>
            </a:r>
            <a:endParaRPr lang="en-US" sz="850"/>
          </a:p>
        </p:txBody>
      </p:sp>
      <p:sp>
        <p:nvSpPr>
          <p:cNvPr id="66" name="Text 64"/>
          <p:cNvSpPr/>
          <p:nvPr/>
        </p:nvSpPr>
        <p:spPr>
          <a:xfrm>
            <a:off x="10881360" y="6455664"/>
            <a:ext cx="914400" cy="219456"/>
          </a:xfrm>
          <a:prstGeom prst="rect">
            <a:avLst/>
          </a:prstGeom>
          <a:noFill/>
          <a:ln/>
        </p:spPr>
        <p:txBody>
          <a:bodyPr wrap="square" lIns="0" tIns="0" rIns="0" bIns="0" rtlCol="0" anchor="ctr"/>
          <a:lstStyle/>
          <a:p>
            <a:pPr marL="0" indent="0" algn="r">
              <a:buNone/>
            </a:pPr>
            <a:r>
              <a:rPr lang="en-US" sz="1100" b="1">
                <a:solidFill>
                  <a:srgbClr val="FFFFFF"/>
                </a:solidFill>
                <a:latin typeface="Arial" pitchFamily="34" charset="0"/>
                <a:ea typeface="Arial" pitchFamily="34" charset="-122"/>
                <a:cs typeface="Arial" pitchFamily="34" charset="-120"/>
              </a:rPr>
              <a:t>KPMG</a:t>
            </a:r>
            <a:endParaRPr lang="en-US" sz="1100"/>
          </a:p>
        </p:txBody>
      </p:sp>
      <p:sp>
        <p:nvSpPr>
          <p:cNvPr id="67" name="Text 65"/>
          <p:cNvSpPr/>
          <p:nvPr/>
        </p:nvSpPr>
        <p:spPr>
          <a:xfrm>
            <a:off x="384048" y="6711696"/>
            <a:ext cx="10515600" cy="128016"/>
          </a:xfrm>
          <a:prstGeom prst="rect">
            <a:avLst/>
          </a:prstGeom>
          <a:noFill/>
          <a:ln/>
        </p:spPr>
        <p:txBody>
          <a:bodyPr wrap="square" lIns="0" tIns="0" rIns="0" bIns="0" rtlCol="0" anchor="ctr"/>
          <a:lstStyle/>
          <a:p>
            <a:pPr marL="0" indent="0">
              <a:buNone/>
            </a:pPr>
            <a:r>
              <a:rPr lang="en-US" sz="500">
                <a:solidFill>
                  <a:srgbClr val="808080"/>
                </a:solidFill>
                <a:latin typeface="Arial" pitchFamily="34" charset="0"/>
                <a:ea typeface="Arial" pitchFamily="34" charset="-122"/>
                <a:cs typeface="Arial" pitchFamily="34" charset="-120"/>
              </a:rPr>
              <a:t>© 2026 KPMG LLP, a Delaware limited liability partnership and its subsidiaries are part of the KPMG global organization of independent member firms affiliated with KPMG International Limited, a private English company limited by guarantee. All rights reserved.</a:t>
            </a:r>
            <a:endParaRPr lang="en-US" sz="500"/>
          </a:p>
        </p:txBody>
      </p:sp>
      <p:sp>
        <p:nvSpPr>
          <p:cNvPr id="68" name="Text 66"/>
          <p:cNvSpPr/>
          <p:nvPr/>
        </p:nvSpPr>
        <p:spPr>
          <a:xfrm>
            <a:off x="11658600" y="6702552"/>
            <a:ext cx="274320" cy="137160"/>
          </a:xfrm>
          <a:prstGeom prst="rect">
            <a:avLst/>
          </a:prstGeom>
          <a:noFill/>
          <a:ln/>
        </p:spPr>
        <p:txBody>
          <a:bodyPr wrap="square" lIns="0" tIns="0" rIns="0" bIns="0" rtlCol="0" anchor="ctr"/>
          <a:lstStyle/>
          <a:p>
            <a:pPr marL="0" indent="0" algn="r">
              <a:buNone/>
            </a:pPr>
            <a:r>
              <a:rPr lang="en-US" sz="700">
                <a:solidFill>
                  <a:srgbClr val="00338D"/>
                </a:solidFill>
                <a:latin typeface="Arial" pitchFamily="34" charset="0"/>
                <a:ea typeface="Arial" pitchFamily="34" charset="-122"/>
                <a:cs typeface="Arial" pitchFamily="34" charset="-120"/>
              </a:rPr>
              <a:t>1</a:t>
            </a:r>
            <a:endParaRPr lang="en-US" sz="700"/>
          </a:p>
        </p:txBody>
      </p:sp>
      <p:sp>
        <p:nvSpPr>
          <p:cNvPr id="70" name="Rectangle 69">
            <a:extLst>
              <a:ext uri="{FF2B5EF4-FFF2-40B4-BE49-F238E27FC236}">
                <a16:creationId xmlns:a16="http://schemas.microsoft.com/office/drawing/2014/main" id="{32242B5C-2A68-ABE9-AD2B-45AF4377A742}"/>
              </a:ext>
            </a:extLst>
          </p:cNvPr>
          <p:cNvSpPr/>
          <p:nvPr/>
        </p:nvSpPr>
        <p:spPr>
          <a:xfrm>
            <a:off x="745236" y="5769864"/>
            <a:ext cx="8821104" cy="10881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rial" panose="020B0604020202020204" pitchFamily="34" charset="0"/>
                <a:cs typeface="Arial" panose="020B0604020202020204" pitchFamily="34" charset="0"/>
              </a:rPr>
              <a:t>Deprecated from max’s comment</a:t>
            </a: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7457" cy="1024128"/>
          </a:xfrm>
          <a:prstGeom prst="rect">
            <a:avLst/>
          </a:prstGeom>
          <a:solidFill>
            <a:srgbClr val="0B2265"/>
          </a:solidFill>
          <a:ln w="12700">
            <a:solidFill>
              <a:srgbClr val="0B2265"/>
            </a:solidFill>
            <a:prstDash val="solid"/>
          </a:ln>
        </p:spPr>
        <p:txBody>
          <a:bodyPr/>
          <a:lstStyle/>
          <a:p>
            <a:endParaRPr lang="en-US"/>
          </a:p>
        </p:txBody>
      </p:sp>
      <p:sp>
        <p:nvSpPr>
          <p:cNvPr id="3" name="Shape 1"/>
          <p:cNvSpPr/>
          <p:nvPr/>
        </p:nvSpPr>
        <p:spPr>
          <a:xfrm>
            <a:off x="172593" y="0"/>
            <a:ext cx="227457" cy="1024128"/>
          </a:xfrm>
          <a:prstGeom prst="rect">
            <a:avLst/>
          </a:prstGeom>
          <a:solidFill>
            <a:srgbClr val="0B2368"/>
          </a:solidFill>
          <a:ln w="12700">
            <a:solidFill>
              <a:srgbClr val="0B2368"/>
            </a:solidFill>
            <a:prstDash val="solid"/>
          </a:ln>
        </p:spPr>
        <p:txBody>
          <a:bodyPr/>
          <a:lstStyle/>
          <a:p>
            <a:endParaRPr lang="en-US"/>
          </a:p>
        </p:txBody>
      </p:sp>
      <p:sp>
        <p:nvSpPr>
          <p:cNvPr id="4" name="Shape 2"/>
          <p:cNvSpPr/>
          <p:nvPr/>
        </p:nvSpPr>
        <p:spPr>
          <a:xfrm>
            <a:off x="345186" y="0"/>
            <a:ext cx="227457" cy="1024128"/>
          </a:xfrm>
          <a:prstGeom prst="rect">
            <a:avLst/>
          </a:prstGeom>
          <a:solidFill>
            <a:srgbClr val="0C246B"/>
          </a:solidFill>
          <a:ln w="12700">
            <a:solidFill>
              <a:srgbClr val="0C246B"/>
            </a:solidFill>
            <a:prstDash val="solid"/>
          </a:ln>
        </p:spPr>
        <p:txBody>
          <a:bodyPr/>
          <a:lstStyle/>
          <a:p>
            <a:endParaRPr lang="en-US"/>
          </a:p>
        </p:txBody>
      </p:sp>
      <p:sp>
        <p:nvSpPr>
          <p:cNvPr id="5" name="Shape 3"/>
          <p:cNvSpPr/>
          <p:nvPr/>
        </p:nvSpPr>
        <p:spPr>
          <a:xfrm>
            <a:off x="517779" y="0"/>
            <a:ext cx="227457" cy="1024128"/>
          </a:xfrm>
          <a:prstGeom prst="rect">
            <a:avLst/>
          </a:prstGeom>
          <a:solidFill>
            <a:srgbClr val="0C256F"/>
          </a:solidFill>
          <a:ln w="12700">
            <a:solidFill>
              <a:srgbClr val="0C256F"/>
            </a:solidFill>
            <a:prstDash val="solid"/>
          </a:ln>
        </p:spPr>
        <p:txBody>
          <a:bodyPr/>
          <a:lstStyle/>
          <a:p>
            <a:endParaRPr lang="en-US"/>
          </a:p>
        </p:txBody>
      </p:sp>
      <p:sp>
        <p:nvSpPr>
          <p:cNvPr id="6" name="Shape 4"/>
          <p:cNvSpPr/>
          <p:nvPr/>
        </p:nvSpPr>
        <p:spPr>
          <a:xfrm>
            <a:off x="690372" y="0"/>
            <a:ext cx="227457" cy="1024128"/>
          </a:xfrm>
          <a:prstGeom prst="rect">
            <a:avLst/>
          </a:prstGeom>
          <a:solidFill>
            <a:srgbClr val="0D2672"/>
          </a:solidFill>
          <a:ln w="12700">
            <a:solidFill>
              <a:srgbClr val="0D2672"/>
            </a:solidFill>
            <a:prstDash val="solid"/>
          </a:ln>
        </p:spPr>
        <p:txBody>
          <a:bodyPr/>
          <a:lstStyle/>
          <a:p>
            <a:endParaRPr lang="en-US"/>
          </a:p>
        </p:txBody>
      </p:sp>
      <p:sp>
        <p:nvSpPr>
          <p:cNvPr id="7" name="Shape 5"/>
          <p:cNvSpPr/>
          <p:nvPr/>
        </p:nvSpPr>
        <p:spPr>
          <a:xfrm>
            <a:off x="862965" y="0"/>
            <a:ext cx="227457" cy="1024128"/>
          </a:xfrm>
          <a:prstGeom prst="rect">
            <a:avLst/>
          </a:prstGeom>
          <a:solidFill>
            <a:srgbClr val="0D2775"/>
          </a:solidFill>
          <a:ln w="12700">
            <a:solidFill>
              <a:srgbClr val="0D2775"/>
            </a:solidFill>
            <a:prstDash val="solid"/>
          </a:ln>
        </p:spPr>
        <p:txBody>
          <a:bodyPr/>
          <a:lstStyle/>
          <a:p>
            <a:endParaRPr lang="en-US"/>
          </a:p>
        </p:txBody>
      </p:sp>
      <p:sp>
        <p:nvSpPr>
          <p:cNvPr id="8" name="Shape 6"/>
          <p:cNvSpPr/>
          <p:nvPr/>
        </p:nvSpPr>
        <p:spPr>
          <a:xfrm>
            <a:off x="1035558" y="0"/>
            <a:ext cx="227457" cy="1024128"/>
          </a:xfrm>
          <a:prstGeom prst="rect">
            <a:avLst/>
          </a:prstGeom>
          <a:solidFill>
            <a:srgbClr val="0E2878"/>
          </a:solidFill>
          <a:ln w="12700">
            <a:solidFill>
              <a:srgbClr val="0E2878"/>
            </a:solidFill>
            <a:prstDash val="solid"/>
          </a:ln>
        </p:spPr>
        <p:txBody>
          <a:bodyPr/>
          <a:lstStyle/>
          <a:p>
            <a:endParaRPr lang="en-US"/>
          </a:p>
        </p:txBody>
      </p:sp>
      <p:sp>
        <p:nvSpPr>
          <p:cNvPr id="9" name="Shape 7"/>
          <p:cNvSpPr/>
          <p:nvPr/>
        </p:nvSpPr>
        <p:spPr>
          <a:xfrm>
            <a:off x="1208151" y="0"/>
            <a:ext cx="227457" cy="1024128"/>
          </a:xfrm>
          <a:prstGeom prst="rect">
            <a:avLst/>
          </a:prstGeom>
          <a:solidFill>
            <a:srgbClr val="0E297B"/>
          </a:solidFill>
          <a:ln w="12700">
            <a:solidFill>
              <a:srgbClr val="0E297B"/>
            </a:solidFill>
            <a:prstDash val="solid"/>
          </a:ln>
        </p:spPr>
        <p:txBody>
          <a:bodyPr/>
          <a:lstStyle/>
          <a:p>
            <a:endParaRPr lang="en-US"/>
          </a:p>
        </p:txBody>
      </p:sp>
      <p:sp>
        <p:nvSpPr>
          <p:cNvPr id="10" name="Shape 8"/>
          <p:cNvSpPr/>
          <p:nvPr/>
        </p:nvSpPr>
        <p:spPr>
          <a:xfrm>
            <a:off x="1380744" y="0"/>
            <a:ext cx="227457" cy="1024128"/>
          </a:xfrm>
          <a:prstGeom prst="rect">
            <a:avLst/>
          </a:prstGeom>
          <a:solidFill>
            <a:srgbClr val="0F2A7F"/>
          </a:solidFill>
          <a:ln w="12700">
            <a:solidFill>
              <a:srgbClr val="0F2A7F"/>
            </a:solidFill>
            <a:prstDash val="solid"/>
          </a:ln>
        </p:spPr>
        <p:txBody>
          <a:bodyPr/>
          <a:lstStyle/>
          <a:p>
            <a:endParaRPr lang="en-US"/>
          </a:p>
        </p:txBody>
      </p:sp>
      <p:sp>
        <p:nvSpPr>
          <p:cNvPr id="11" name="Shape 9"/>
          <p:cNvSpPr/>
          <p:nvPr/>
        </p:nvSpPr>
        <p:spPr>
          <a:xfrm>
            <a:off x="1553337" y="0"/>
            <a:ext cx="227457" cy="1024128"/>
          </a:xfrm>
          <a:prstGeom prst="rect">
            <a:avLst/>
          </a:prstGeom>
          <a:solidFill>
            <a:srgbClr val="0F2B82"/>
          </a:solidFill>
          <a:ln w="12700">
            <a:solidFill>
              <a:srgbClr val="0F2B82"/>
            </a:solidFill>
            <a:prstDash val="solid"/>
          </a:ln>
        </p:spPr>
        <p:txBody>
          <a:bodyPr/>
          <a:lstStyle/>
          <a:p>
            <a:endParaRPr lang="en-US"/>
          </a:p>
        </p:txBody>
      </p:sp>
      <p:sp>
        <p:nvSpPr>
          <p:cNvPr id="12" name="Shape 10"/>
          <p:cNvSpPr/>
          <p:nvPr/>
        </p:nvSpPr>
        <p:spPr>
          <a:xfrm>
            <a:off x="1725930" y="0"/>
            <a:ext cx="227457" cy="1024128"/>
          </a:xfrm>
          <a:prstGeom prst="rect">
            <a:avLst/>
          </a:prstGeom>
          <a:solidFill>
            <a:srgbClr val="102C85"/>
          </a:solidFill>
          <a:ln w="12700">
            <a:solidFill>
              <a:srgbClr val="102C85"/>
            </a:solidFill>
            <a:prstDash val="solid"/>
          </a:ln>
        </p:spPr>
        <p:txBody>
          <a:bodyPr/>
          <a:lstStyle/>
          <a:p>
            <a:endParaRPr lang="en-US"/>
          </a:p>
        </p:txBody>
      </p:sp>
      <p:sp>
        <p:nvSpPr>
          <p:cNvPr id="13" name="Shape 11"/>
          <p:cNvSpPr/>
          <p:nvPr/>
        </p:nvSpPr>
        <p:spPr>
          <a:xfrm>
            <a:off x="1898523" y="0"/>
            <a:ext cx="227457" cy="1024128"/>
          </a:xfrm>
          <a:prstGeom prst="rect">
            <a:avLst/>
          </a:prstGeom>
          <a:solidFill>
            <a:srgbClr val="102D88"/>
          </a:solidFill>
          <a:ln w="12700">
            <a:solidFill>
              <a:srgbClr val="102D88"/>
            </a:solidFill>
            <a:prstDash val="solid"/>
          </a:ln>
        </p:spPr>
        <p:txBody>
          <a:bodyPr/>
          <a:lstStyle/>
          <a:p>
            <a:endParaRPr lang="en-US"/>
          </a:p>
        </p:txBody>
      </p:sp>
      <p:sp>
        <p:nvSpPr>
          <p:cNvPr id="14" name="Shape 12"/>
          <p:cNvSpPr/>
          <p:nvPr/>
        </p:nvSpPr>
        <p:spPr>
          <a:xfrm>
            <a:off x="2071116" y="0"/>
            <a:ext cx="227457" cy="1024128"/>
          </a:xfrm>
          <a:prstGeom prst="rect">
            <a:avLst/>
          </a:prstGeom>
          <a:solidFill>
            <a:srgbClr val="112E8B"/>
          </a:solidFill>
          <a:ln w="12700">
            <a:solidFill>
              <a:srgbClr val="112E8B"/>
            </a:solidFill>
            <a:prstDash val="solid"/>
          </a:ln>
        </p:spPr>
        <p:txBody>
          <a:bodyPr/>
          <a:lstStyle/>
          <a:p>
            <a:endParaRPr lang="en-US"/>
          </a:p>
        </p:txBody>
      </p:sp>
      <p:sp>
        <p:nvSpPr>
          <p:cNvPr id="15" name="Shape 13"/>
          <p:cNvSpPr/>
          <p:nvPr/>
        </p:nvSpPr>
        <p:spPr>
          <a:xfrm>
            <a:off x="2243709" y="0"/>
            <a:ext cx="227457" cy="1024128"/>
          </a:xfrm>
          <a:prstGeom prst="rect">
            <a:avLst/>
          </a:prstGeom>
          <a:solidFill>
            <a:srgbClr val="112F8F"/>
          </a:solidFill>
          <a:ln w="12700">
            <a:solidFill>
              <a:srgbClr val="112F8F"/>
            </a:solidFill>
            <a:prstDash val="solid"/>
          </a:ln>
        </p:spPr>
        <p:txBody>
          <a:bodyPr/>
          <a:lstStyle/>
          <a:p>
            <a:endParaRPr lang="en-US"/>
          </a:p>
        </p:txBody>
      </p:sp>
      <p:sp>
        <p:nvSpPr>
          <p:cNvPr id="16" name="Shape 14"/>
          <p:cNvSpPr/>
          <p:nvPr/>
        </p:nvSpPr>
        <p:spPr>
          <a:xfrm>
            <a:off x="2416302" y="0"/>
            <a:ext cx="227457" cy="1024128"/>
          </a:xfrm>
          <a:prstGeom prst="rect">
            <a:avLst/>
          </a:prstGeom>
          <a:solidFill>
            <a:srgbClr val="123092"/>
          </a:solidFill>
          <a:ln w="12700">
            <a:solidFill>
              <a:srgbClr val="123092"/>
            </a:solidFill>
            <a:prstDash val="solid"/>
          </a:ln>
        </p:spPr>
        <p:txBody>
          <a:bodyPr/>
          <a:lstStyle/>
          <a:p>
            <a:endParaRPr lang="en-US"/>
          </a:p>
        </p:txBody>
      </p:sp>
      <p:sp>
        <p:nvSpPr>
          <p:cNvPr id="17" name="Shape 15"/>
          <p:cNvSpPr/>
          <p:nvPr/>
        </p:nvSpPr>
        <p:spPr>
          <a:xfrm>
            <a:off x="2588895" y="0"/>
            <a:ext cx="227457" cy="1024128"/>
          </a:xfrm>
          <a:prstGeom prst="rect">
            <a:avLst/>
          </a:prstGeom>
          <a:solidFill>
            <a:srgbClr val="123195"/>
          </a:solidFill>
          <a:ln w="12700">
            <a:solidFill>
              <a:srgbClr val="123195"/>
            </a:solidFill>
            <a:prstDash val="solid"/>
          </a:ln>
        </p:spPr>
        <p:txBody>
          <a:bodyPr/>
          <a:lstStyle/>
          <a:p>
            <a:endParaRPr lang="en-US"/>
          </a:p>
        </p:txBody>
      </p:sp>
      <p:sp>
        <p:nvSpPr>
          <p:cNvPr id="18" name="Shape 16"/>
          <p:cNvSpPr/>
          <p:nvPr/>
        </p:nvSpPr>
        <p:spPr>
          <a:xfrm>
            <a:off x="2761488" y="0"/>
            <a:ext cx="227457" cy="1024128"/>
          </a:xfrm>
          <a:prstGeom prst="rect">
            <a:avLst/>
          </a:prstGeom>
          <a:solidFill>
            <a:srgbClr val="133298"/>
          </a:solidFill>
          <a:ln w="12700">
            <a:solidFill>
              <a:srgbClr val="133298"/>
            </a:solidFill>
            <a:prstDash val="solid"/>
          </a:ln>
        </p:spPr>
        <p:txBody>
          <a:bodyPr/>
          <a:lstStyle/>
          <a:p>
            <a:endParaRPr lang="en-US"/>
          </a:p>
        </p:txBody>
      </p:sp>
      <p:sp>
        <p:nvSpPr>
          <p:cNvPr id="19" name="Shape 17"/>
          <p:cNvSpPr/>
          <p:nvPr/>
        </p:nvSpPr>
        <p:spPr>
          <a:xfrm>
            <a:off x="2934081" y="0"/>
            <a:ext cx="227457" cy="1024128"/>
          </a:xfrm>
          <a:prstGeom prst="rect">
            <a:avLst/>
          </a:prstGeom>
          <a:solidFill>
            <a:srgbClr val="13339B"/>
          </a:solidFill>
          <a:ln w="12700">
            <a:solidFill>
              <a:srgbClr val="13339B"/>
            </a:solidFill>
            <a:prstDash val="solid"/>
          </a:ln>
        </p:spPr>
        <p:txBody>
          <a:bodyPr/>
          <a:lstStyle/>
          <a:p>
            <a:endParaRPr lang="en-US"/>
          </a:p>
        </p:txBody>
      </p:sp>
      <p:sp>
        <p:nvSpPr>
          <p:cNvPr id="20" name="Shape 18"/>
          <p:cNvSpPr/>
          <p:nvPr/>
        </p:nvSpPr>
        <p:spPr>
          <a:xfrm>
            <a:off x="3106674" y="0"/>
            <a:ext cx="227457" cy="1024128"/>
          </a:xfrm>
          <a:prstGeom prst="rect">
            <a:avLst/>
          </a:prstGeom>
          <a:solidFill>
            <a:srgbClr val="14349F"/>
          </a:solidFill>
          <a:ln w="12700">
            <a:solidFill>
              <a:srgbClr val="14349F"/>
            </a:solidFill>
            <a:prstDash val="solid"/>
          </a:ln>
        </p:spPr>
        <p:txBody>
          <a:bodyPr/>
          <a:lstStyle/>
          <a:p>
            <a:endParaRPr lang="en-US"/>
          </a:p>
        </p:txBody>
      </p:sp>
      <p:sp>
        <p:nvSpPr>
          <p:cNvPr id="21" name="Shape 19"/>
          <p:cNvSpPr/>
          <p:nvPr/>
        </p:nvSpPr>
        <p:spPr>
          <a:xfrm>
            <a:off x="3279267" y="0"/>
            <a:ext cx="227457" cy="1024128"/>
          </a:xfrm>
          <a:prstGeom prst="rect">
            <a:avLst/>
          </a:prstGeom>
          <a:solidFill>
            <a:srgbClr val="1435A2"/>
          </a:solidFill>
          <a:ln w="12700">
            <a:solidFill>
              <a:srgbClr val="1435A2"/>
            </a:solidFill>
            <a:prstDash val="solid"/>
          </a:ln>
        </p:spPr>
        <p:txBody>
          <a:bodyPr/>
          <a:lstStyle/>
          <a:p>
            <a:endParaRPr lang="en-US"/>
          </a:p>
        </p:txBody>
      </p:sp>
      <p:sp>
        <p:nvSpPr>
          <p:cNvPr id="22" name="Shape 20"/>
          <p:cNvSpPr/>
          <p:nvPr/>
        </p:nvSpPr>
        <p:spPr>
          <a:xfrm>
            <a:off x="3451860" y="0"/>
            <a:ext cx="227457" cy="1024128"/>
          </a:xfrm>
          <a:prstGeom prst="rect">
            <a:avLst/>
          </a:prstGeom>
          <a:solidFill>
            <a:srgbClr val="1536A5"/>
          </a:solidFill>
          <a:ln w="12700">
            <a:solidFill>
              <a:srgbClr val="1536A5"/>
            </a:solidFill>
            <a:prstDash val="solid"/>
          </a:ln>
        </p:spPr>
        <p:txBody>
          <a:bodyPr/>
          <a:lstStyle/>
          <a:p>
            <a:endParaRPr lang="en-US"/>
          </a:p>
        </p:txBody>
      </p:sp>
      <p:sp>
        <p:nvSpPr>
          <p:cNvPr id="23" name="Shape 21"/>
          <p:cNvSpPr/>
          <p:nvPr/>
        </p:nvSpPr>
        <p:spPr>
          <a:xfrm>
            <a:off x="3624453" y="0"/>
            <a:ext cx="227457" cy="1024128"/>
          </a:xfrm>
          <a:prstGeom prst="rect">
            <a:avLst/>
          </a:prstGeom>
          <a:solidFill>
            <a:srgbClr val="1537A8"/>
          </a:solidFill>
          <a:ln w="12700">
            <a:solidFill>
              <a:srgbClr val="1537A8"/>
            </a:solidFill>
            <a:prstDash val="solid"/>
          </a:ln>
        </p:spPr>
        <p:txBody>
          <a:bodyPr/>
          <a:lstStyle/>
          <a:p>
            <a:endParaRPr lang="en-US"/>
          </a:p>
        </p:txBody>
      </p:sp>
      <p:sp>
        <p:nvSpPr>
          <p:cNvPr id="24" name="Shape 22"/>
          <p:cNvSpPr/>
          <p:nvPr/>
        </p:nvSpPr>
        <p:spPr>
          <a:xfrm>
            <a:off x="3797046" y="0"/>
            <a:ext cx="227457" cy="1024128"/>
          </a:xfrm>
          <a:prstGeom prst="rect">
            <a:avLst/>
          </a:prstGeom>
          <a:solidFill>
            <a:srgbClr val="1638AC"/>
          </a:solidFill>
          <a:ln w="12700">
            <a:solidFill>
              <a:srgbClr val="1638AC"/>
            </a:solidFill>
            <a:prstDash val="solid"/>
          </a:ln>
        </p:spPr>
        <p:txBody>
          <a:bodyPr/>
          <a:lstStyle/>
          <a:p>
            <a:endParaRPr lang="en-US"/>
          </a:p>
        </p:txBody>
      </p:sp>
      <p:sp>
        <p:nvSpPr>
          <p:cNvPr id="25" name="Shape 23"/>
          <p:cNvSpPr/>
          <p:nvPr/>
        </p:nvSpPr>
        <p:spPr>
          <a:xfrm>
            <a:off x="3969639" y="0"/>
            <a:ext cx="227457" cy="1024128"/>
          </a:xfrm>
          <a:prstGeom prst="rect">
            <a:avLst/>
          </a:prstGeom>
          <a:solidFill>
            <a:srgbClr val="1639AF"/>
          </a:solidFill>
          <a:ln w="12700">
            <a:solidFill>
              <a:srgbClr val="1639AF"/>
            </a:solidFill>
            <a:prstDash val="solid"/>
          </a:ln>
        </p:spPr>
        <p:txBody>
          <a:bodyPr/>
          <a:lstStyle/>
          <a:p>
            <a:endParaRPr lang="en-US"/>
          </a:p>
        </p:txBody>
      </p:sp>
      <p:sp>
        <p:nvSpPr>
          <p:cNvPr id="26" name="Shape 24"/>
          <p:cNvSpPr/>
          <p:nvPr/>
        </p:nvSpPr>
        <p:spPr>
          <a:xfrm>
            <a:off x="4142232" y="0"/>
            <a:ext cx="227457" cy="1024128"/>
          </a:xfrm>
          <a:prstGeom prst="rect">
            <a:avLst/>
          </a:prstGeom>
          <a:solidFill>
            <a:srgbClr val="173AB2"/>
          </a:solidFill>
          <a:ln w="12700">
            <a:solidFill>
              <a:srgbClr val="173AB2"/>
            </a:solidFill>
            <a:prstDash val="solid"/>
          </a:ln>
        </p:spPr>
        <p:txBody>
          <a:bodyPr/>
          <a:lstStyle/>
          <a:p>
            <a:endParaRPr lang="en-US"/>
          </a:p>
        </p:txBody>
      </p:sp>
      <p:sp>
        <p:nvSpPr>
          <p:cNvPr id="27" name="Shape 25"/>
          <p:cNvSpPr/>
          <p:nvPr/>
        </p:nvSpPr>
        <p:spPr>
          <a:xfrm>
            <a:off x="4314825" y="0"/>
            <a:ext cx="227457" cy="1024128"/>
          </a:xfrm>
          <a:prstGeom prst="rect">
            <a:avLst/>
          </a:prstGeom>
          <a:solidFill>
            <a:srgbClr val="173BB5"/>
          </a:solidFill>
          <a:ln w="12700">
            <a:solidFill>
              <a:srgbClr val="173BB5"/>
            </a:solidFill>
            <a:prstDash val="solid"/>
          </a:ln>
        </p:spPr>
        <p:txBody>
          <a:bodyPr/>
          <a:lstStyle/>
          <a:p>
            <a:endParaRPr lang="en-US"/>
          </a:p>
        </p:txBody>
      </p:sp>
      <p:sp>
        <p:nvSpPr>
          <p:cNvPr id="28" name="Shape 26"/>
          <p:cNvSpPr/>
          <p:nvPr/>
        </p:nvSpPr>
        <p:spPr>
          <a:xfrm>
            <a:off x="4487418" y="0"/>
            <a:ext cx="227457" cy="1024128"/>
          </a:xfrm>
          <a:prstGeom prst="rect">
            <a:avLst/>
          </a:prstGeom>
          <a:solidFill>
            <a:srgbClr val="183CB8"/>
          </a:solidFill>
          <a:ln w="12700">
            <a:solidFill>
              <a:srgbClr val="183CB8"/>
            </a:solidFill>
            <a:prstDash val="solid"/>
          </a:ln>
        </p:spPr>
        <p:txBody>
          <a:bodyPr/>
          <a:lstStyle/>
          <a:p>
            <a:endParaRPr lang="en-US"/>
          </a:p>
        </p:txBody>
      </p:sp>
      <p:sp>
        <p:nvSpPr>
          <p:cNvPr id="29" name="Shape 27"/>
          <p:cNvSpPr/>
          <p:nvPr/>
        </p:nvSpPr>
        <p:spPr>
          <a:xfrm>
            <a:off x="4660011" y="0"/>
            <a:ext cx="227457" cy="1024128"/>
          </a:xfrm>
          <a:prstGeom prst="rect">
            <a:avLst/>
          </a:prstGeom>
          <a:solidFill>
            <a:srgbClr val="183DBC"/>
          </a:solidFill>
          <a:ln w="12700">
            <a:solidFill>
              <a:srgbClr val="183DBC"/>
            </a:solidFill>
            <a:prstDash val="solid"/>
          </a:ln>
        </p:spPr>
        <p:txBody>
          <a:bodyPr/>
          <a:lstStyle/>
          <a:p>
            <a:endParaRPr lang="en-US"/>
          </a:p>
        </p:txBody>
      </p:sp>
      <p:sp>
        <p:nvSpPr>
          <p:cNvPr id="30" name="Shape 28"/>
          <p:cNvSpPr/>
          <p:nvPr/>
        </p:nvSpPr>
        <p:spPr>
          <a:xfrm>
            <a:off x="4832604" y="0"/>
            <a:ext cx="227457" cy="1024128"/>
          </a:xfrm>
          <a:prstGeom prst="rect">
            <a:avLst/>
          </a:prstGeom>
          <a:solidFill>
            <a:srgbClr val="193EBF"/>
          </a:solidFill>
          <a:ln w="12700">
            <a:solidFill>
              <a:srgbClr val="193EBF"/>
            </a:solidFill>
            <a:prstDash val="solid"/>
          </a:ln>
        </p:spPr>
        <p:txBody>
          <a:bodyPr/>
          <a:lstStyle/>
          <a:p>
            <a:endParaRPr lang="en-US"/>
          </a:p>
        </p:txBody>
      </p:sp>
      <p:sp>
        <p:nvSpPr>
          <p:cNvPr id="31" name="Shape 29"/>
          <p:cNvSpPr/>
          <p:nvPr/>
        </p:nvSpPr>
        <p:spPr>
          <a:xfrm>
            <a:off x="5005197" y="0"/>
            <a:ext cx="227457" cy="1024128"/>
          </a:xfrm>
          <a:prstGeom prst="rect">
            <a:avLst/>
          </a:prstGeom>
          <a:solidFill>
            <a:srgbClr val="193FC2"/>
          </a:solidFill>
          <a:ln w="12700">
            <a:solidFill>
              <a:srgbClr val="193FC2"/>
            </a:solidFill>
            <a:prstDash val="solid"/>
          </a:ln>
        </p:spPr>
        <p:txBody>
          <a:bodyPr/>
          <a:lstStyle/>
          <a:p>
            <a:endParaRPr lang="en-US"/>
          </a:p>
        </p:txBody>
      </p:sp>
      <p:sp>
        <p:nvSpPr>
          <p:cNvPr id="32" name="Shape 30"/>
          <p:cNvSpPr/>
          <p:nvPr/>
        </p:nvSpPr>
        <p:spPr>
          <a:xfrm>
            <a:off x="5177790" y="0"/>
            <a:ext cx="227457" cy="1024128"/>
          </a:xfrm>
          <a:prstGeom prst="rect">
            <a:avLst/>
          </a:prstGeom>
          <a:solidFill>
            <a:srgbClr val="1A40C5"/>
          </a:solidFill>
          <a:ln w="12700">
            <a:solidFill>
              <a:srgbClr val="1A40C5"/>
            </a:solidFill>
            <a:prstDash val="solid"/>
          </a:ln>
        </p:spPr>
        <p:txBody>
          <a:bodyPr/>
          <a:lstStyle/>
          <a:p>
            <a:endParaRPr lang="en-US"/>
          </a:p>
        </p:txBody>
      </p:sp>
      <p:sp>
        <p:nvSpPr>
          <p:cNvPr id="33" name="Shape 31"/>
          <p:cNvSpPr/>
          <p:nvPr/>
        </p:nvSpPr>
        <p:spPr>
          <a:xfrm>
            <a:off x="5350383" y="0"/>
            <a:ext cx="227457" cy="1024128"/>
          </a:xfrm>
          <a:prstGeom prst="rect">
            <a:avLst/>
          </a:prstGeom>
          <a:solidFill>
            <a:srgbClr val="1A41C8"/>
          </a:solidFill>
          <a:ln w="12700">
            <a:solidFill>
              <a:srgbClr val="1A41C8"/>
            </a:solidFill>
            <a:prstDash val="solid"/>
          </a:ln>
        </p:spPr>
        <p:txBody>
          <a:bodyPr/>
          <a:lstStyle/>
          <a:p>
            <a:endParaRPr lang="en-US"/>
          </a:p>
        </p:txBody>
      </p:sp>
      <p:sp>
        <p:nvSpPr>
          <p:cNvPr id="34" name="Shape 32"/>
          <p:cNvSpPr/>
          <p:nvPr/>
        </p:nvSpPr>
        <p:spPr>
          <a:xfrm>
            <a:off x="5522976" y="0"/>
            <a:ext cx="227457" cy="1024128"/>
          </a:xfrm>
          <a:prstGeom prst="rect">
            <a:avLst/>
          </a:prstGeom>
          <a:solidFill>
            <a:srgbClr val="1B42CC"/>
          </a:solidFill>
          <a:ln w="12700">
            <a:solidFill>
              <a:srgbClr val="1B42CC"/>
            </a:solidFill>
            <a:prstDash val="solid"/>
          </a:ln>
        </p:spPr>
        <p:txBody>
          <a:bodyPr/>
          <a:lstStyle/>
          <a:p>
            <a:endParaRPr lang="en-US"/>
          </a:p>
        </p:txBody>
      </p:sp>
      <p:sp>
        <p:nvSpPr>
          <p:cNvPr id="35" name="Shape 33"/>
          <p:cNvSpPr/>
          <p:nvPr/>
        </p:nvSpPr>
        <p:spPr>
          <a:xfrm>
            <a:off x="5695569" y="0"/>
            <a:ext cx="227457" cy="1024128"/>
          </a:xfrm>
          <a:prstGeom prst="rect">
            <a:avLst/>
          </a:prstGeom>
          <a:solidFill>
            <a:srgbClr val="1B43CF"/>
          </a:solidFill>
          <a:ln w="12700">
            <a:solidFill>
              <a:srgbClr val="1B43CF"/>
            </a:solidFill>
            <a:prstDash val="solid"/>
          </a:ln>
        </p:spPr>
        <p:txBody>
          <a:bodyPr/>
          <a:lstStyle/>
          <a:p>
            <a:endParaRPr lang="en-US"/>
          </a:p>
        </p:txBody>
      </p:sp>
      <p:sp>
        <p:nvSpPr>
          <p:cNvPr id="36" name="Shape 34"/>
          <p:cNvSpPr/>
          <p:nvPr/>
        </p:nvSpPr>
        <p:spPr>
          <a:xfrm>
            <a:off x="5868162" y="0"/>
            <a:ext cx="227457" cy="1024128"/>
          </a:xfrm>
          <a:prstGeom prst="rect">
            <a:avLst/>
          </a:prstGeom>
          <a:solidFill>
            <a:srgbClr val="1C44D2"/>
          </a:solidFill>
          <a:ln w="12700">
            <a:solidFill>
              <a:srgbClr val="1C44D2"/>
            </a:solidFill>
            <a:prstDash val="solid"/>
          </a:ln>
        </p:spPr>
        <p:txBody>
          <a:bodyPr/>
          <a:lstStyle/>
          <a:p>
            <a:endParaRPr lang="en-US"/>
          </a:p>
        </p:txBody>
      </p:sp>
      <p:sp>
        <p:nvSpPr>
          <p:cNvPr id="37" name="Shape 35"/>
          <p:cNvSpPr/>
          <p:nvPr/>
        </p:nvSpPr>
        <p:spPr>
          <a:xfrm>
            <a:off x="6040755" y="0"/>
            <a:ext cx="227457" cy="1024128"/>
          </a:xfrm>
          <a:prstGeom prst="rect">
            <a:avLst/>
          </a:prstGeom>
          <a:solidFill>
            <a:srgbClr val="1C45D5"/>
          </a:solidFill>
          <a:ln w="12700">
            <a:solidFill>
              <a:srgbClr val="1C45D5"/>
            </a:solidFill>
            <a:prstDash val="solid"/>
          </a:ln>
        </p:spPr>
        <p:txBody>
          <a:bodyPr/>
          <a:lstStyle/>
          <a:p>
            <a:endParaRPr lang="en-US"/>
          </a:p>
        </p:txBody>
      </p:sp>
      <p:sp>
        <p:nvSpPr>
          <p:cNvPr id="38" name="Shape 36"/>
          <p:cNvSpPr/>
          <p:nvPr/>
        </p:nvSpPr>
        <p:spPr>
          <a:xfrm>
            <a:off x="6213348" y="0"/>
            <a:ext cx="227457" cy="1024128"/>
          </a:xfrm>
          <a:prstGeom prst="rect">
            <a:avLst/>
          </a:prstGeom>
          <a:solidFill>
            <a:srgbClr val="1D46D8"/>
          </a:solidFill>
          <a:ln w="12700">
            <a:solidFill>
              <a:srgbClr val="1D46D8"/>
            </a:solidFill>
            <a:prstDash val="solid"/>
          </a:ln>
        </p:spPr>
        <p:txBody>
          <a:bodyPr/>
          <a:lstStyle/>
          <a:p>
            <a:endParaRPr lang="en-US"/>
          </a:p>
        </p:txBody>
      </p:sp>
      <p:sp>
        <p:nvSpPr>
          <p:cNvPr id="39" name="Shape 37"/>
          <p:cNvSpPr/>
          <p:nvPr/>
        </p:nvSpPr>
        <p:spPr>
          <a:xfrm>
            <a:off x="6385941" y="0"/>
            <a:ext cx="227457" cy="1024128"/>
          </a:xfrm>
          <a:prstGeom prst="rect">
            <a:avLst/>
          </a:prstGeom>
          <a:solidFill>
            <a:srgbClr val="1D47DC"/>
          </a:solidFill>
          <a:ln w="12700">
            <a:solidFill>
              <a:srgbClr val="1D47DC"/>
            </a:solidFill>
            <a:prstDash val="solid"/>
          </a:ln>
        </p:spPr>
        <p:txBody>
          <a:bodyPr/>
          <a:lstStyle/>
          <a:p>
            <a:endParaRPr lang="en-US"/>
          </a:p>
        </p:txBody>
      </p:sp>
      <p:sp>
        <p:nvSpPr>
          <p:cNvPr id="40" name="Shape 38"/>
          <p:cNvSpPr/>
          <p:nvPr/>
        </p:nvSpPr>
        <p:spPr>
          <a:xfrm>
            <a:off x="6558534" y="0"/>
            <a:ext cx="227457" cy="1024128"/>
          </a:xfrm>
          <a:prstGeom prst="rect">
            <a:avLst/>
          </a:prstGeom>
          <a:solidFill>
            <a:srgbClr val="1E48DF"/>
          </a:solidFill>
          <a:ln w="12700">
            <a:solidFill>
              <a:srgbClr val="1E48DF"/>
            </a:solidFill>
            <a:prstDash val="solid"/>
          </a:ln>
        </p:spPr>
        <p:txBody>
          <a:bodyPr/>
          <a:lstStyle/>
          <a:p>
            <a:endParaRPr lang="en-US"/>
          </a:p>
        </p:txBody>
      </p:sp>
      <p:sp>
        <p:nvSpPr>
          <p:cNvPr id="41" name="Shape 39"/>
          <p:cNvSpPr/>
          <p:nvPr/>
        </p:nvSpPr>
        <p:spPr>
          <a:xfrm>
            <a:off x="6731127" y="0"/>
            <a:ext cx="227457" cy="1024128"/>
          </a:xfrm>
          <a:prstGeom prst="rect">
            <a:avLst/>
          </a:prstGeom>
          <a:solidFill>
            <a:srgbClr val="1E49E2"/>
          </a:solidFill>
          <a:ln w="12700">
            <a:solidFill>
              <a:srgbClr val="1E49E2"/>
            </a:solidFill>
            <a:prstDash val="solid"/>
          </a:ln>
        </p:spPr>
        <p:txBody>
          <a:bodyPr/>
          <a:lstStyle/>
          <a:p>
            <a:endParaRPr lang="en-US"/>
          </a:p>
        </p:txBody>
      </p:sp>
      <p:sp>
        <p:nvSpPr>
          <p:cNvPr id="42" name="Text 40"/>
          <p:cNvSpPr/>
          <p:nvPr/>
        </p:nvSpPr>
        <p:spPr>
          <a:xfrm>
            <a:off x="411480" y="128016"/>
            <a:ext cx="6309360" cy="786384"/>
          </a:xfrm>
          <a:prstGeom prst="rect">
            <a:avLst/>
          </a:prstGeom>
          <a:noFill/>
          <a:ln/>
        </p:spPr>
        <p:txBody>
          <a:bodyPr wrap="square" lIns="0" tIns="0" rIns="0" bIns="0" rtlCol="0" anchor="ctr"/>
          <a:lstStyle/>
          <a:p>
            <a:pPr marL="0" indent="0">
              <a:lnSpc>
                <a:spcPct val="95000"/>
              </a:lnSpc>
              <a:buNone/>
            </a:pPr>
            <a:r>
              <a:rPr lang="en-US" sz="2200" b="1">
                <a:solidFill>
                  <a:srgbClr val="FFFFFF"/>
                </a:solidFill>
                <a:latin typeface="Arial" pitchFamily="34" charset="0"/>
                <a:ea typeface="Arial" pitchFamily="34" charset="-122"/>
                <a:cs typeface="Arial" pitchFamily="34" charset="-120"/>
              </a:rPr>
              <a:t>Microsoft Fabric &amp; DevOps enablement</a:t>
            </a:r>
            <a:endParaRPr lang="en-US" sz="2200"/>
          </a:p>
          <a:p>
            <a:pPr marL="0" indent="0">
              <a:lnSpc>
                <a:spcPct val="95000"/>
              </a:lnSpc>
              <a:buNone/>
            </a:pPr>
            <a:r>
              <a:rPr lang="en-US" sz="2200" b="1">
                <a:solidFill>
                  <a:srgbClr val="FFFFFF"/>
                </a:solidFill>
                <a:latin typeface="Arial" pitchFamily="34" charset="0"/>
                <a:ea typeface="Arial" pitchFamily="34" charset="-122"/>
                <a:cs typeface="Arial" pitchFamily="34" charset="-120"/>
              </a:rPr>
              <a:t>Proposed agenda  ·  October 19–20</a:t>
            </a:r>
            <a:endParaRPr lang="en-US" sz="2200"/>
          </a:p>
        </p:txBody>
      </p:sp>
      <p:sp>
        <p:nvSpPr>
          <p:cNvPr id="43" name="Text 41"/>
          <p:cNvSpPr/>
          <p:nvPr/>
        </p:nvSpPr>
        <p:spPr>
          <a:xfrm>
            <a:off x="7269480" y="219456"/>
            <a:ext cx="4572000" cy="603504"/>
          </a:xfrm>
          <a:prstGeom prst="rect">
            <a:avLst/>
          </a:prstGeom>
          <a:noFill/>
          <a:ln/>
        </p:spPr>
        <p:txBody>
          <a:bodyPr wrap="square" lIns="0" tIns="0" rIns="0" bIns="0" rtlCol="0" anchor="t"/>
          <a:lstStyle/>
          <a:p>
            <a:pPr marL="0" indent="0">
              <a:lnSpc>
                <a:spcPct val="105000"/>
              </a:lnSpc>
              <a:buNone/>
            </a:pPr>
            <a:r>
              <a:rPr lang="en-US" sz="1100" b="1">
                <a:solidFill>
                  <a:srgbClr val="00338D"/>
                </a:solidFill>
                <a:latin typeface="Arial" pitchFamily="34" charset="0"/>
                <a:ea typeface="Arial" pitchFamily="34" charset="-122"/>
                <a:cs typeface="Arial" pitchFamily="34" charset="-120"/>
              </a:rPr>
              <a:t>KPMG  ·  Disney Tax Data Management &amp; Innovation. Where the agenda stands today, and the items still open ahead of Friday’s group call.</a:t>
            </a:r>
            <a:endParaRPr lang="en-US" sz="1100"/>
          </a:p>
        </p:txBody>
      </p:sp>
      <p:sp>
        <p:nvSpPr>
          <p:cNvPr id="44" name="Text 42"/>
          <p:cNvSpPr/>
          <p:nvPr/>
        </p:nvSpPr>
        <p:spPr>
          <a:xfrm>
            <a:off x="411480" y="1225296"/>
            <a:ext cx="4572000" cy="256032"/>
          </a:xfrm>
          <a:prstGeom prst="rect">
            <a:avLst/>
          </a:prstGeom>
          <a:noFill/>
          <a:ln/>
        </p:spPr>
        <p:txBody>
          <a:bodyPr wrap="square" lIns="0" tIns="0" rIns="0" bIns="0" rtlCol="0" anchor="ctr"/>
          <a:lstStyle/>
          <a:p>
            <a:pPr marL="0" indent="0">
              <a:buNone/>
            </a:pPr>
            <a:r>
              <a:rPr lang="en-US" sz="1350" b="1">
                <a:solidFill>
                  <a:srgbClr val="1E49E2"/>
                </a:solidFill>
                <a:latin typeface="Arial" pitchFamily="34" charset="0"/>
                <a:ea typeface="Arial" pitchFamily="34" charset="-122"/>
                <a:cs typeface="Arial" pitchFamily="34" charset="-120"/>
              </a:rPr>
              <a:t>Proposed shape of the session</a:t>
            </a:r>
            <a:endParaRPr lang="en-US" sz="1350"/>
          </a:p>
        </p:txBody>
      </p:sp>
      <p:sp>
        <p:nvSpPr>
          <p:cNvPr id="45" name="Shape 43"/>
          <p:cNvSpPr/>
          <p:nvPr/>
        </p:nvSpPr>
        <p:spPr>
          <a:xfrm>
            <a:off x="411480" y="1554480"/>
            <a:ext cx="5751576" cy="932688"/>
          </a:xfrm>
          <a:prstGeom prst="rect">
            <a:avLst/>
          </a:prstGeom>
          <a:solidFill>
            <a:srgbClr val="F2F2F2"/>
          </a:solidFill>
          <a:ln w="12700">
            <a:solidFill>
              <a:srgbClr val="F2F2F2"/>
            </a:solidFill>
            <a:prstDash val="solid"/>
          </a:ln>
        </p:spPr>
        <p:txBody>
          <a:bodyPr/>
          <a:lstStyle/>
          <a:p>
            <a:endParaRPr lang="en-US"/>
          </a:p>
        </p:txBody>
      </p:sp>
      <p:sp>
        <p:nvSpPr>
          <p:cNvPr id="46" name="Shape 44"/>
          <p:cNvSpPr/>
          <p:nvPr/>
        </p:nvSpPr>
        <p:spPr>
          <a:xfrm>
            <a:off x="411480" y="1554480"/>
            <a:ext cx="5751576" cy="50292"/>
          </a:xfrm>
          <a:prstGeom prst="rect">
            <a:avLst/>
          </a:prstGeom>
          <a:solidFill>
            <a:srgbClr val="00338D"/>
          </a:solidFill>
          <a:ln w="12700">
            <a:solidFill>
              <a:srgbClr val="00338D"/>
            </a:solidFill>
            <a:prstDash val="solid"/>
          </a:ln>
        </p:spPr>
        <p:txBody>
          <a:bodyPr/>
          <a:lstStyle/>
          <a:p>
            <a:endParaRPr lang="en-US"/>
          </a:p>
        </p:txBody>
      </p:sp>
      <p:sp>
        <p:nvSpPr>
          <p:cNvPr id="47" name="Text 45"/>
          <p:cNvSpPr/>
          <p:nvPr/>
        </p:nvSpPr>
        <p:spPr>
          <a:xfrm>
            <a:off x="594360" y="1673352"/>
            <a:ext cx="5394960" cy="182880"/>
          </a:xfrm>
          <a:prstGeom prst="rect">
            <a:avLst/>
          </a:prstGeom>
          <a:noFill/>
          <a:ln/>
        </p:spPr>
        <p:txBody>
          <a:bodyPr wrap="square" lIns="0" tIns="0" rIns="0" bIns="0" rtlCol="0" anchor="ctr"/>
          <a:lstStyle/>
          <a:p>
            <a:pPr marL="0" indent="0">
              <a:buNone/>
            </a:pPr>
            <a:r>
              <a:rPr lang="en-US" sz="850" b="1" kern="0" spc="100">
                <a:solidFill>
                  <a:srgbClr val="00338D"/>
                </a:solidFill>
                <a:latin typeface="Arial" pitchFamily="34" charset="0"/>
                <a:ea typeface="Arial" pitchFamily="34" charset="-122"/>
                <a:cs typeface="Arial" pitchFamily="34" charset="-120"/>
              </a:rPr>
              <a:t>DAY ONE  ·  MONDAY, OCTOBER 19</a:t>
            </a:r>
            <a:endParaRPr lang="en-US" sz="850"/>
          </a:p>
        </p:txBody>
      </p:sp>
      <p:sp>
        <p:nvSpPr>
          <p:cNvPr id="48" name="Text 46"/>
          <p:cNvSpPr/>
          <p:nvPr/>
        </p:nvSpPr>
        <p:spPr>
          <a:xfrm>
            <a:off x="594360" y="1856232"/>
            <a:ext cx="5394960" cy="219456"/>
          </a:xfrm>
          <a:prstGeom prst="rect">
            <a:avLst/>
          </a:prstGeom>
          <a:noFill/>
          <a:ln/>
        </p:spPr>
        <p:txBody>
          <a:bodyPr wrap="square" lIns="0" tIns="0" rIns="0" bIns="0" rtlCol="0" anchor="ctr"/>
          <a:lstStyle/>
          <a:p>
            <a:pPr marL="0" indent="0">
              <a:buNone/>
            </a:pPr>
            <a:r>
              <a:rPr lang="en-US" sz="1250" b="1">
                <a:solidFill>
                  <a:srgbClr val="0B2265"/>
                </a:solidFill>
                <a:latin typeface="Arial" pitchFamily="34" charset="0"/>
                <a:ea typeface="Arial" pitchFamily="34" charset="-122"/>
                <a:cs typeface="Arial" pitchFamily="34" charset="-120"/>
              </a:rPr>
              <a:t>Half day, afternoon</a:t>
            </a:r>
            <a:endParaRPr lang="en-US" sz="1250"/>
          </a:p>
        </p:txBody>
      </p:sp>
      <p:sp>
        <p:nvSpPr>
          <p:cNvPr id="49" name="Text 47"/>
          <p:cNvSpPr/>
          <p:nvPr/>
        </p:nvSpPr>
        <p:spPr>
          <a:xfrm>
            <a:off x="594360" y="2093976"/>
            <a:ext cx="5394960" cy="347472"/>
          </a:xfrm>
          <a:prstGeom prst="rect">
            <a:avLst/>
          </a:prstGeom>
          <a:noFill/>
          <a:ln/>
        </p:spPr>
        <p:txBody>
          <a:bodyPr wrap="square" lIns="0" tIns="0" rIns="0" bIns="0" rtlCol="0" anchor="t"/>
          <a:lstStyle/>
          <a:p>
            <a:pPr marL="0" indent="0">
              <a:lnSpc>
                <a:spcPct val="100000"/>
              </a:lnSpc>
              <a:buNone/>
            </a:pPr>
            <a:r>
              <a:rPr lang="en-US" sz="860">
                <a:solidFill>
                  <a:srgbClr val="000000"/>
                </a:solidFill>
                <a:latin typeface="Arial" pitchFamily="34" charset="0"/>
                <a:ea typeface="Arial" pitchFamily="34" charset="-122"/>
                <a:cs typeface="Arial" pitchFamily="34" charset="-120"/>
              </a:rPr>
              <a:t>Opens with a short framing session and moves straight into a working discussion on how TDMI implements Fabric going forward. Hosted at a Disney facility.</a:t>
            </a:r>
            <a:endParaRPr lang="en-US" sz="860"/>
          </a:p>
        </p:txBody>
      </p:sp>
      <p:sp>
        <p:nvSpPr>
          <p:cNvPr id="50" name="Shape 48"/>
          <p:cNvSpPr/>
          <p:nvPr/>
        </p:nvSpPr>
        <p:spPr>
          <a:xfrm>
            <a:off x="6437376" y="1554480"/>
            <a:ext cx="5751576" cy="932688"/>
          </a:xfrm>
          <a:prstGeom prst="rect">
            <a:avLst/>
          </a:prstGeom>
          <a:solidFill>
            <a:srgbClr val="F2F2F2"/>
          </a:solidFill>
          <a:ln w="12700">
            <a:solidFill>
              <a:srgbClr val="F2F2F2"/>
            </a:solidFill>
            <a:prstDash val="solid"/>
          </a:ln>
        </p:spPr>
        <p:txBody>
          <a:bodyPr/>
          <a:lstStyle/>
          <a:p>
            <a:endParaRPr lang="en-US"/>
          </a:p>
        </p:txBody>
      </p:sp>
      <p:sp>
        <p:nvSpPr>
          <p:cNvPr id="51" name="Shape 49"/>
          <p:cNvSpPr/>
          <p:nvPr/>
        </p:nvSpPr>
        <p:spPr>
          <a:xfrm>
            <a:off x="6437376" y="1554480"/>
            <a:ext cx="5751576" cy="50292"/>
          </a:xfrm>
          <a:prstGeom prst="rect">
            <a:avLst/>
          </a:prstGeom>
          <a:solidFill>
            <a:srgbClr val="1E49E2"/>
          </a:solidFill>
          <a:ln w="12700">
            <a:solidFill>
              <a:srgbClr val="1E49E2"/>
            </a:solidFill>
            <a:prstDash val="solid"/>
          </a:ln>
        </p:spPr>
        <p:txBody>
          <a:bodyPr/>
          <a:lstStyle/>
          <a:p>
            <a:endParaRPr lang="en-US"/>
          </a:p>
        </p:txBody>
      </p:sp>
      <p:sp>
        <p:nvSpPr>
          <p:cNvPr id="52" name="Text 50"/>
          <p:cNvSpPr/>
          <p:nvPr/>
        </p:nvSpPr>
        <p:spPr>
          <a:xfrm>
            <a:off x="6620256" y="1673352"/>
            <a:ext cx="5394960" cy="182880"/>
          </a:xfrm>
          <a:prstGeom prst="rect">
            <a:avLst/>
          </a:prstGeom>
          <a:noFill/>
          <a:ln/>
        </p:spPr>
        <p:txBody>
          <a:bodyPr wrap="square" lIns="0" tIns="0" rIns="0" bIns="0" rtlCol="0" anchor="ctr"/>
          <a:lstStyle/>
          <a:p>
            <a:pPr marL="0" indent="0">
              <a:buNone/>
            </a:pPr>
            <a:r>
              <a:rPr lang="en-US" sz="850" b="1" kern="0" spc="100">
                <a:solidFill>
                  <a:srgbClr val="1E49E2"/>
                </a:solidFill>
                <a:latin typeface="Arial" pitchFamily="34" charset="0"/>
                <a:ea typeface="Arial" pitchFamily="34" charset="-122"/>
                <a:cs typeface="Arial" pitchFamily="34" charset="-120"/>
              </a:rPr>
              <a:t>DAY TWO  ·  TUESDAY, OCTOBER 20</a:t>
            </a:r>
            <a:endParaRPr lang="en-US" sz="850"/>
          </a:p>
        </p:txBody>
      </p:sp>
      <p:sp>
        <p:nvSpPr>
          <p:cNvPr id="53" name="Text 51"/>
          <p:cNvSpPr/>
          <p:nvPr/>
        </p:nvSpPr>
        <p:spPr>
          <a:xfrm>
            <a:off x="6620256" y="1856232"/>
            <a:ext cx="5394960" cy="219456"/>
          </a:xfrm>
          <a:prstGeom prst="rect">
            <a:avLst/>
          </a:prstGeom>
          <a:noFill/>
          <a:ln/>
        </p:spPr>
        <p:txBody>
          <a:bodyPr wrap="square" lIns="0" tIns="0" rIns="0" bIns="0" rtlCol="0" anchor="ctr"/>
          <a:lstStyle/>
          <a:p>
            <a:pPr marL="0" indent="0">
              <a:buNone/>
            </a:pPr>
            <a:r>
              <a:rPr lang="en-US" sz="1250" b="1">
                <a:solidFill>
                  <a:srgbClr val="0B2265"/>
                </a:solidFill>
                <a:latin typeface="Arial" pitchFamily="34" charset="0"/>
                <a:ea typeface="Arial" pitchFamily="34" charset="-122"/>
                <a:cs typeface="Arial" pitchFamily="34" charset="-120"/>
              </a:rPr>
              <a:t>Full day</a:t>
            </a:r>
            <a:endParaRPr lang="en-US" sz="1250"/>
          </a:p>
        </p:txBody>
      </p:sp>
      <p:sp>
        <p:nvSpPr>
          <p:cNvPr id="54" name="Text 52"/>
          <p:cNvSpPr/>
          <p:nvPr/>
        </p:nvSpPr>
        <p:spPr>
          <a:xfrm>
            <a:off x="6620256" y="2093976"/>
            <a:ext cx="5394960" cy="347472"/>
          </a:xfrm>
          <a:prstGeom prst="rect">
            <a:avLst/>
          </a:prstGeom>
          <a:noFill/>
          <a:ln/>
        </p:spPr>
        <p:txBody>
          <a:bodyPr wrap="square" lIns="0" tIns="0" rIns="0" bIns="0" rtlCol="0" anchor="t"/>
          <a:lstStyle/>
          <a:p>
            <a:pPr marL="0" indent="0">
              <a:lnSpc>
                <a:spcPct val="100000"/>
              </a:lnSpc>
              <a:buNone/>
            </a:pPr>
            <a:r>
              <a:rPr lang="en-US" sz="860">
                <a:solidFill>
                  <a:srgbClr val="000000"/>
                </a:solidFill>
                <a:latin typeface="Arial" pitchFamily="34" charset="0"/>
                <a:ea typeface="Arial" pitchFamily="34" charset="-122"/>
                <a:cs typeface="Arial" pitchFamily="34" charset="-120"/>
              </a:rPr>
              <a:t>Data engineering patterns, the hands-on lab, deployment and the application and AI layers. Expecting fewer than ten attendees.</a:t>
            </a:r>
            <a:endParaRPr lang="en-US" sz="860"/>
          </a:p>
        </p:txBody>
      </p:sp>
      <p:sp>
        <p:nvSpPr>
          <p:cNvPr id="55" name="Text 53"/>
          <p:cNvSpPr/>
          <p:nvPr/>
        </p:nvSpPr>
        <p:spPr>
          <a:xfrm>
            <a:off x="411480" y="2670048"/>
            <a:ext cx="4572000" cy="256032"/>
          </a:xfrm>
          <a:prstGeom prst="rect">
            <a:avLst/>
          </a:prstGeom>
          <a:noFill/>
          <a:ln/>
        </p:spPr>
        <p:txBody>
          <a:bodyPr wrap="square" lIns="0" tIns="0" rIns="0" bIns="0" rtlCol="0" anchor="ctr"/>
          <a:lstStyle/>
          <a:p>
            <a:pPr marL="0" indent="0">
              <a:buNone/>
            </a:pPr>
            <a:r>
              <a:rPr lang="en-US" sz="1350" b="1">
                <a:solidFill>
                  <a:srgbClr val="1E49E2"/>
                </a:solidFill>
                <a:latin typeface="Arial" pitchFamily="34" charset="0"/>
                <a:ea typeface="Arial" pitchFamily="34" charset="-122"/>
                <a:cs typeface="Arial" pitchFamily="34" charset="-120"/>
              </a:rPr>
              <a:t>Proposed agenda</a:t>
            </a:r>
            <a:endParaRPr lang="en-US" sz="1350"/>
          </a:p>
        </p:txBody>
      </p:sp>
      <p:sp>
        <p:nvSpPr>
          <p:cNvPr id="56" name="Shape 54"/>
          <p:cNvSpPr/>
          <p:nvPr/>
        </p:nvSpPr>
        <p:spPr>
          <a:xfrm>
            <a:off x="411480" y="2980944"/>
            <a:ext cx="6903720" cy="365760"/>
          </a:xfrm>
          <a:prstGeom prst="rect">
            <a:avLst/>
          </a:prstGeom>
          <a:solidFill>
            <a:srgbClr val="F2F2F2"/>
          </a:solidFill>
          <a:ln w="12700">
            <a:solidFill>
              <a:srgbClr val="F2F2F2"/>
            </a:solidFill>
            <a:prstDash val="solid"/>
          </a:ln>
        </p:spPr>
        <p:txBody>
          <a:bodyPr/>
          <a:lstStyle/>
          <a:p>
            <a:endParaRPr lang="en-US"/>
          </a:p>
        </p:txBody>
      </p:sp>
      <p:sp>
        <p:nvSpPr>
          <p:cNvPr id="57" name="Text 55"/>
          <p:cNvSpPr/>
          <p:nvPr/>
        </p:nvSpPr>
        <p:spPr>
          <a:xfrm>
            <a:off x="484632" y="304952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1</a:t>
            </a:r>
            <a:endParaRPr lang="en-US" sz="1200"/>
          </a:p>
        </p:txBody>
      </p:sp>
      <p:sp>
        <p:nvSpPr>
          <p:cNvPr id="58" name="Text 56"/>
          <p:cNvSpPr/>
          <p:nvPr/>
        </p:nvSpPr>
        <p:spPr>
          <a:xfrm>
            <a:off x="841248" y="3022092"/>
            <a:ext cx="310896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Framing and target state</a:t>
            </a:r>
            <a:endParaRPr lang="en-US" sz="1000"/>
          </a:p>
        </p:txBody>
      </p:sp>
      <p:sp>
        <p:nvSpPr>
          <p:cNvPr id="59" name="Text 57"/>
          <p:cNvSpPr/>
          <p:nvPr/>
        </p:nvSpPr>
        <p:spPr>
          <a:xfrm>
            <a:off x="841248" y="317754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A short opener — where Fabric fits at Disney and what the two days are for</a:t>
            </a:r>
            <a:endParaRPr lang="en-US" sz="830"/>
          </a:p>
        </p:txBody>
      </p:sp>
      <p:sp>
        <p:nvSpPr>
          <p:cNvPr id="60" name="Shape 58"/>
          <p:cNvSpPr/>
          <p:nvPr/>
        </p:nvSpPr>
        <p:spPr>
          <a:xfrm>
            <a:off x="6263640" y="3076956"/>
            <a:ext cx="960120" cy="192024"/>
          </a:xfrm>
          <a:prstGeom prst="rect">
            <a:avLst/>
          </a:prstGeom>
          <a:solidFill>
            <a:srgbClr val="00338D"/>
          </a:solidFill>
          <a:ln w="12700">
            <a:solidFill>
              <a:srgbClr val="00338D"/>
            </a:solidFill>
            <a:prstDash val="solid"/>
          </a:ln>
        </p:spPr>
        <p:txBody>
          <a:bodyPr/>
          <a:lstStyle/>
          <a:p>
            <a:endParaRPr lang="en-US"/>
          </a:p>
        </p:txBody>
      </p:sp>
      <p:sp>
        <p:nvSpPr>
          <p:cNvPr id="61" name="Text 59"/>
          <p:cNvSpPr/>
          <p:nvPr/>
        </p:nvSpPr>
        <p:spPr>
          <a:xfrm>
            <a:off x="6263640" y="308884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DAY 1</a:t>
            </a:r>
            <a:endParaRPr lang="en-US" sz="680"/>
          </a:p>
        </p:txBody>
      </p:sp>
      <p:sp>
        <p:nvSpPr>
          <p:cNvPr id="62" name="Text 60"/>
          <p:cNvSpPr/>
          <p:nvPr/>
        </p:nvSpPr>
        <p:spPr>
          <a:xfrm>
            <a:off x="484632" y="341528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2</a:t>
            </a:r>
            <a:endParaRPr lang="en-US" sz="1200"/>
          </a:p>
        </p:txBody>
      </p:sp>
      <p:sp>
        <p:nvSpPr>
          <p:cNvPr id="63" name="Text 61"/>
          <p:cNvSpPr/>
          <p:nvPr/>
        </p:nvSpPr>
        <p:spPr>
          <a:xfrm>
            <a:off x="841248" y="3387852"/>
            <a:ext cx="310896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Core Fabric capabilities and principles</a:t>
            </a:r>
            <a:endParaRPr lang="en-US" sz="1000"/>
          </a:p>
        </p:txBody>
      </p:sp>
      <p:sp>
        <p:nvSpPr>
          <p:cNvPr id="64" name="Text 62"/>
          <p:cNvSpPr/>
          <p:nvPr/>
        </p:nvSpPr>
        <p:spPr>
          <a:xfrm>
            <a:off x="841248" y="354330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OneLake, workspaces, Lakehouse, Warehouse, Direct Lake — kept tight, no entry-level material</a:t>
            </a:r>
            <a:endParaRPr lang="en-US" sz="830"/>
          </a:p>
        </p:txBody>
      </p:sp>
      <p:sp>
        <p:nvSpPr>
          <p:cNvPr id="65" name="Shape 63"/>
          <p:cNvSpPr/>
          <p:nvPr/>
        </p:nvSpPr>
        <p:spPr>
          <a:xfrm>
            <a:off x="6263640" y="3442716"/>
            <a:ext cx="960120" cy="192024"/>
          </a:xfrm>
          <a:prstGeom prst="rect">
            <a:avLst/>
          </a:prstGeom>
          <a:solidFill>
            <a:srgbClr val="00338D"/>
          </a:solidFill>
          <a:ln w="12700">
            <a:solidFill>
              <a:srgbClr val="00338D"/>
            </a:solidFill>
            <a:prstDash val="solid"/>
          </a:ln>
        </p:spPr>
        <p:txBody>
          <a:bodyPr/>
          <a:lstStyle/>
          <a:p>
            <a:endParaRPr lang="en-US"/>
          </a:p>
        </p:txBody>
      </p:sp>
      <p:sp>
        <p:nvSpPr>
          <p:cNvPr id="66" name="Text 64"/>
          <p:cNvSpPr/>
          <p:nvPr/>
        </p:nvSpPr>
        <p:spPr>
          <a:xfrm>
            <a:off x="6263640" y="345460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DAY 1</a:t>
            </a:r>
            <a:endParaRPr lang="en-US" sz="680"/>
          </a:p>
        </p:txBody>
      </p:sp>
      <p:sp>
        <p:nvSpPr>
          <p:cNvPr id="67" name="Shape 65"/>
          <p:cNvSpPr/>
          <p:nvPr/>
        </p:nvSpPr>
        <p:spPr>
          <a:xfrm>
            <a:off x="411480" y="3712464"/>
            <a:ext cx="6903720" cy="365760"/>
          </a:xfrm>
          <a:prstGeom prst="rect">
            <a:avLst/>
          </a:prstGeom>
          <a:solidFill>
            <a:srgbClr val="F2F2F2"/>
          </a:solidFill>
          <a:ln w="12700">
            <a:solidFill>
              <a:srgbClr val="F2F2F2"/>
            </a:solidFill>
            <a:prstDash val="solid"/>
          </a:ln>
        </p:spPr>
        <p:txBody>
          <a:bodyPr/>
          <a:lstStyle/>
          <a:p>
            <a:endParaRPr lang="en-US"/>
          </a:p>
        </p:txBody>
      </p:sp>
      <p:sp>
        <p:nvSpPr>
          <p:cNvPr id="68" name="Text 66"/>
          <p:cNvSpPr/>
          <p:nvPr/>
        </p:nvSpPr>
        <p:spPr>
          <a:xfrm>
            <a:off x="484632" y="3781044"/>
            <a:ext cx="274320" cy="237744"/>
          </a:xfrm>
          <a:prstGeom prst="rect">
            <a:avLst/>
          </a:prstGeom>
          <a:noFill/>
          <a:ln/>
        </p:spPr>
        <p:txBody>
          <a:bodyPr wrap="square" lIns="0" tIns="0" rIns="0" bIns="0" rtlCol="0" anchor="ctr"/>
          <a:lstStyle/>
          <a:p>
            <a:pPr marL="0" indent="0" algn="ctr">
              <a:buNone/>
            </a:pPr>
            <a:r>
              <a:rPr lang="en-US" sz="1200" b="1">
                <a:solidFill>
                  <a:srgbClr val="1E49E2"/>
                </a:solidFill>
                <a:latin typeface="Arial" pitchFamily="34" charset="0"/>
                <a:ea typeface="Arial" pitchFamily="34" charset="-122"/>
                <a:cs typeface="Arial" pitchFamily="34" charset="-120"/>
              </a:rPr>
              <a:t>3</a:t>
            </a:r>
            <a:endParaRPr lang="en-US" sz="1200"/>
          </a:p>
        </p:txBody>
      </p:sp>
      <p:sp>
        <p:nvSpPr>
          <p:cNvPr id="69" name="Text 67"/>
          <p:cNvSpPr/>
          <p:nvPr/>
        </p:nvSpPr>
        <p:spPr>
          <a:xfrm>
            <a:off x="841248" y="3753612"/>
            <a:ext cx="310896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What Fabric at Disney looks like</a:t>
            </a:r>
            <a:endParaRPr lang="en-US" sz="1000"/>
          </a:p>
        </p:txBody>
      </p:sp>
      <p:sp>
        <p:nvSpPr>
          <p:cNvPr id="70" name="Text 68"/>
          <p:cNvSpPr/>
          <p:nvPr/>
        </p:nvSpPr>
        <p:spPr>
          <a:xfrm>
            <a:off x="841248" y="390906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A working session to build consensus across TDMI on how you implement Fabric going forward</a:t>
            </a:r>
            <a:endParaRPr lang="en-US" sz="830"/>
          </a:p>
        </p:txBody>
      </p:sp>
      <p:sp>
        <p:nvSpPr>
          <p:cNvPr id="71" name="Shape 69"/>
          <p:cNvSpPr/>
          <p:nvPr/>
        </p:nvSpPr>
        <p:spPr>
          <a:xfrm>
            <a:off x="6263640" y="3808476"/>
            <a:ext cx="960120" cy="192024"/>
          </a:xfrm>
          <a:prstGeom prst="rect">
            <a:avLst/>
          </a:prstGeom>
          <a:solidFill>
            <a:srgbClr val="1E49E2"/>
          </a:solidFill>
          <a:ln w="12700">
            <a:solidFill>
              <a:srgbClr val="1E49E2"/>
            </a:solidFill>
            <a:prstDash val="solid"/>
          </a:ln>
        </p:spPr>
        <p:txBody>
          <a:bodyPr/>
          <a:lstStyle/>
          <a:p>
            <a:endParaRPr lang="en-US"/>
          </a:p>
        </p:txBody>
      </p:sp>
      <p:sp>
        <p:nvSpPr>
          <p:cNvPr id="72" name="Text 70"/>
          <p:cNvSpPr/>
          <p:nvPr/>
        </p:nvSpPr>
        <p:spPr>
          <a:xfrm>
            <a:off x="6263640" y="382036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WORKING</a:t>
            </a:r>
            <a:endParaRPr lang="en-US" sz="680"/>
          </a:p>
        </p:txBody>
      </p:sp>
      <p:sp>
        <p:nvSpPr>
          <p:cNvPr id="73" name="Text 71"/>
          <p:cNvSpPr/>
          <p:nvPr/>
        </p:nvSpPr>
        <p:spPr>
          <a:xfrm>
            <a:off x="484632" y="414680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4</a:t>
            </a:r>
            <a:endParaRPr lang="en-US" sz="1200"/>
          </a:p>
        </p:txBody>
      </p:sp>
      <p:sp>
        <p:nvSpPr>
          <p:cNvPr id="74" name="Text 72"/>
          <p:cNvSpPr/>
          <p:nvPr/>
        </p:nvSpPr>
        <p:spPr>
          <a:xfrm>
            <a:off x="841248" y="4119372"/>
            <a:ext cx="310896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Data engineering patterns</a:t>
            </a:r>
            <a:endParaRPr lang="en-US" sz="1000"/>
          </a:p>
        </p:txBody>
      </p:sp>
      <p:sp>
        <p:nvSpPr>
          <p:cNvPr id="75" name="Text 73"/>
          <p:cNvSpPr/>
          <p:nvPr/>
        </p:nvSpPr>
        <p:spPr>
          <a:xfrm>
            <a:off x="841248" y="427482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Medallion architecture and transformation patterns, framed conceptually</a:t>
            </a:r>
            <a:endParaRPr lang="en-US" sz="830"/>
          </a:p>
        </p:txBody>
      </p:sp>
      <p:sp>
        <p:nvSpPr>
          <p:cNvPr id="76" name="Shape 74"/>
          <p:cNvSpPr/>
          <p:nvPr/>
        </p:nvSpPr>
        <p:spPr>
          <a:xfrm>
            <a:off x="6263640" y="4174236"/>
            <a:ext cx="960120" cy="192024"/>
          </a:xfrm>
          <a:prstGeom prst="rect">
            <a:avLst/>
          </a:prstGeom>
          <a:solidFill>
            <a:srgbClr val="00338D"/>
          </a:solidFill>
          <a:ln w="12700">
            <a:solidFill>
              <a:srgbClr val="00338D"/>
            </a:solidFill>
            <a:prstDash val="solid"/>
          </a:ln>
        </p:spPr>
        <p:txBody>
          <a:bodyPr/>
          <a:lstStyle/>
          <a:p>
            <a:endParaRPr lang="en-US"/>
          </a:p>
        </p:txBody>
      </p:sp>
      <p:sp>
        <p:nvSpPr>
          <p:cNvPr id="77" name="Text 75"/>
          <p:cNvSpPr/>
          <p:nvPr/>
        </p:nvSpPr>
        <p:spPr>
          <a:xfrm>
            <a:off x="6263640" y="418612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DAY 2</a:t>
            </a:r>
            <a:endParaRPr lang="en-US" sz="680"/>
          </a:p>
        </p:txBody>
      </p:sp>
      <p:sp>
        <p:nvSpPr>
          <p:cNvPr id="78" name="Shape 76"/>
          <p:cNvSpPr/>
          <p:nvPr/>
        </p:nvSpPr>
        <p:spPr>
          <a:xfrm>
            <a:off x="411480" y="4443984"/>
            <a:ext cx="6903720" cy="365760"/>
          </a:xfrm>
          <a:prstGeom prst="rect">
            <a:avLst/>
          </a:prstGeom>
          <a:solidFill>
            <a:srgbClr val="F2F2F2"/>
          </a:solidFill>
          <a:ln w="12700">
            <a:solidFill>
              <a:srgbClr val="F2F2F2"/>
            </a:solidFill>
            <a:prstDash val="solid"/>
          </a:ln>
        </p:spPr>
        <p:txBody>
          <a:bodyPr/>
          <a:lstStyle/>
          <a:p>
            <a:endParaRPr lang="en-US"/>
          </a:p>
        </p:txBody>
      </p:sp>
      <p:sp>
        <p:nvSpPr>
          <p:cNvPr id="79" name="Text 77"/>
          <p:cNvSpPr/>
          <p:nvPr/>
        </p:nvSpPr>
        <p:spPr>
          <a:xfrm>
            <a:off x="484632" y="4512564"/>
            <a:ext cx="274320" cy="237744"/>
          </a:xfrm>
          <a:prstGeom prst="rect">
            <a:avLst/>
          </a:prstGeom>
          <a:noFill/>
          <a:ln/>
        </p:spPr>
        <p:txBody>
          <a:bodyPr wrap="square" lIns="0" tIns="0" rIns="0" bIns="0" rtlCol="0" anchor="ctr"/>
          <a:lstStyle/>
          <a:p>
            <a:pPr marL="0" indent="0" algn="ctr">
              <a:buNone/>
            </a:pPr>
            <a:r>
              <a:rPr lang="en-US" sz="1200" b="1">
                <a:solidFill>
                  <a:srgbClr val="00B8F5"/>
                </a:solidFill>
                <a:latin typeface="Arial" pitchFamily="34" charset="0"/>
                <a:ea typeface="Arial" pitchFamily="34" charset="-122"/>
                <a:cs typeface="Arial" pitchFamily="34" charset="-120"/>
              </a:rPr>
              <a:t>5</a:t>
            </a:r>
            <a:endParaRPr lang="en-US" sz="1200"/>
          </a:p>
        </p:txBody>
      </p:sp>
      <p:sp>
        <p:nvSpPr>
          <p:cNvPr id="80" name="Text 78"/>
          <p:cNvSpPr/>
          <p:nvPr/>
        </p:nvSpPr>
        <p:spPr>
          <a:xfrm>
            <a:off x="841248" y="4485132"/>
            <a:ext cx="310896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Hands-on lab</a:t>
            </a:r>
            <a:endParaRPr lang="en-US" sz="1000"/>
          </a:p>
        </p:txBody>
      </p:sp>
      <p:sp>
        <p:nvSpPr>
          <p:cNvPr id="81" name="Text 79"/>
          <p:cNvSpPr/>
          <p:nvPr/>
        </p:nvSpPr>
        <p:spPr>
          <a:xfrm>
            <a:off x="841248" y="464058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A single focused lab: transformation through Dataflow Gen2, then CI/CD through Azure DevOps</a:t>
            </a:r>
            <a:endParaRPr lang="en-US" sz="830"/>
          </a:p>
        </p:txBody>
      </p:sp>
      <p:sp>
        <p:nvSpPr>
          <p:cNvPr id="82" name="Shape 80"/>
          <p:cNvSpPr/>
          <p:nvPr/>
        </p:nvSpPr>
        <p:spPr>
          <a:xfrm>
            <a:off x="6263640" y="4539996"/>
            <a:ext cx="960120" cy="192024"/>
          </a:xfrm>
          <a:prstGeom prst="rect">
            <a:avLst/>
          </a:prstGeom>
          <a:solidFill>
            <a:srgbClr val="00B8F5"/>
          </a:solidFill>
          <a:ln w="12700">
            <a:solidFill>
              <a:srgbClr val="00B8F5"/>
            </a:solidFill>
            <a:prstDash val="solid"/>
          </a:ln>
        </p:spPr>
        <p:txBody>
          <a:bodyPr/>
          <a:lstStyle/>
          <a:p>
            <a:endParaRPr lang="en-US"/>
          </a:p>
        </p:txBody>
      </p:sp>
      <p:sp>
        <p:nvSpPr>
          <p:cNvPr id="83" name="Text 81"/>
          <p:cNvSpPr/>
          <p:nvPr/>
        </p:nvSpPr>
        <p:spPr>
          <a:xfrm>
            <a:off x="6263640" y="455188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HANDS-ON</a:t>
            </a:r>
            <a:endParaRPr lang="en-US" sz="680"/>
          </a:p>
        </p:txBody>
      </p:sp>
      <p:sp>
        <p:nvSpPr>
          <p:cNvPr id="84" name="Text 82"/>
          <p:cNvSpPr/>
          <p:nvPr/>
        </p:nvSpPr>
        <p:spPr>
          <a:xfrm>
            <a:off x="484632" y="487832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6</a:t>
            </a:r>
            <a:endParaRPr lang="en-US" sz="1200"/>
          </a:p>
        </p:txBody>
      </p:sp>
      <p:sp>
        <p:nvSpPr>
          <p:cNvPr id="85" name="Text 83"/>
          <p:cNvSpPr/>
          <p:nvPr/>
        </p:nvSpPr>
        <p:spPr>
          <a:xfrm>
            <a:off x="841248" y="4850892"/>
            <a:ext cx="310896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Deployment and release</a:t>
            </a:r>
            <a:endParaRPr lang="en-US" sz="1000"/>
          </a:p>
        </p:txBody>
      </p:sp>
      <p:sp>
        <p:nvSpPr>
          <p:cNvPr id="86" name="Text 84"/>
          <p:cNvSpPr/>
          <p:nvPr/>
        </p:nvSpPr>
        <p:spPr>
          <a:xfrm>
            <a:off x="841248" y="500634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Git, branching, Dev / Test / Prod and the paved road for shipping changes</a:t>
            </a:r>
            <a:endParaRPr lang="en-US" sz="830"/>
          </a:p>
        </p:txBody>
      </p:sp>
      <p:sp>
        <p:nvSpPr>
          <p:cNvPr id="87" name="Shape 85"/>
          <p:cNvSpPr/>
          <p:nvPr/>
        </p:nvSpPr>
        <p:spPr>
          <a:xfrm>
            <a:off x="6263640" y="4905756"/>
            <a:ext cx="960120" cy="192024"/>
          </a:xfrm>
          <a:prstGeom prst="rect">
            <a:avLst/>
          </a:prstGeom>
          <a:solidFill>
            <a:srgbClr val="00338D"/>
          </a:solidFill>
          <a:ln w="12700">
            <a:solidFill>
              <a:srgbClr val="00338D"/>
            </a:solidFill>
            <a:prstDash val="solid"/>
          </a:ln>
        </p:spPr>
        <p:txBody>
          <a:bodyPr/>
          <a:lstStyle/>
          <a:p>
            <a:endParaRPr lang="en-US"/>
          </a:p>
        </p:txBody>
      </p:sp>
      <p:sp>
        <p:nvSpPr>
          <p:cNvPr id="88" name="Text 86"/>
          <p:cNvSpPr/>
          <p:nvPr/>
        </p:nvSpPr>
        <p:spPr>
          <a:xfrm>
            <a:off x="6263640" y="491764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DAY 2</a:t>
            </a:r>
            <a:endParaRPr lang="en-US" sz="680"/>
          </a:p>
        </p:txBody>
      </p:sp>
      <p:sp>
        <p:nvSpPr>
          <p:cNvPr id="89" name="Shape 87"/>
          <p:cNvSpPr/>
          <p:nvPr/>
        </p:nvSpPr>
        <p:spPr>
          <a:xfrm>
            <a:off x="411480" y="5175504"/>
            <a:ext cx="6903720" cy="365760"/>
          </a:xfrm>
          <a:prstGeom prst="rect">
            <a:avLst/>
          </a:prstGeom>
          <a:solidFill>
            <a:srgbClr val="F2F2F2"/>
          </a:solidFill>
          <a:ln w="12700">
            <a:solidFill>
              <a:srgbClr val="F2F2F2"/>
            </a:solidFill>
            <a:prstDash val="solid"/>
          </a:ln>
        </p:spPr>
        <p:txBody>
          <a:bodyPr/>
          <a:lstStyle/>
          <a:p>
            <a:endParaRPr lang="en-US"/>
          </a:p>
        </p:txBody>
      </p:sp>
      <p:sp>
        <p:nvSpPr>
          <p:cNvPr id="90" name="Text 88"/>
          <p:cNvSpPr/>
          <p:nvPr/>
        </p:nvSpPr>
        <p:spPr>
          <a:xfrm>
            <a:off x="484632" y="524408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7</a:t>
            </a:r>
            <a:endParaRPr lang="en-US" sz="1200"/>
          </a:p>
        </p:txBody>
      </p:sp>
      <p:sp>
        <p:nvSpPr>
          <p:cNvPr id="91" name="Text 89"/>
          <p:cNvSpPr/>
          <p:nvPr/>
        </p:nvSpPr>
        <p:spPr>
          <a:xfrm>
            <a:off x="841248" y="5216652"/>
            <a:ext cx="310896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User-facing experiences on Fabric</a:t>
            </a:r>
            <a:endParaRPr lang="en-US" sz="1000"/>
          </a:p>
        </p:txBody>
      </p:sp>
      <p:sp>
        <p:nvSpPr>
          <p:cNvPr id="92" name="Text 90"/>
          <p:cNvSpPr/>
          <p:nvPr/>
        </p:nvSpPr>
        <p:spPr>
          <a:xfrm>
            <a:off x="841248" y="537210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The spectrum: capturing inputs, triggering pipelines, monitoring runs and returning results</a:t>
            </a:r>
            <a:endParaRPr lang="en-US" sz="830"/>
          </a:p>
        </p:txBody>
      </p:sp>
      <p:sp>
        <p:nvSpPr>
          <p:cNvPr id="93" name="Shape 91"/>
          <p:cNvSpPr/>
          <p:nvPr/>
        </p:nvSpPr>
        <p:spPr>
          <a:xfrm>
            <a:off x="6263640" y="5271516"/>
            <a:ext cx="960120" cy="192024"/>
          </a:xfrm>
          <a:prstGeom prst="rect">
            <a:avLst/>
          </a:prstGeom>
          <a:solidFill>
            <a:srgbClr val="00338D"/>
          </a:solidFill>
          <a:ln w="12700">
            <a:solidFill>
              <a:srgbClr val="00338D"/>
            </a:solidFill>
            <a:prstDash val="solid"/>
          </a:ln>
        </p:spPr>
        <p:txBody>
          <a:bodyPr/>
          <a:lstStyle/>
          <a:p>
            <a:endParaRPr lang="en-US"/>
          </a:p>
        </p:txBody>
      </p:sp>
      <p:sp>
        <p:nvSpPr>
          <p:cNvPr id="94" name="Text 92"/>
          <p:cNvSpPr/>
          <p:nvPr/>
        </p:nvSpPr>
        <p:spPr>
          <a:xfrm>
            <a:off x="6263640" y="528340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DAY 2</a:t>
            </a:r>
            <a:endParaRPr lang="en-US" sz="680"/>
          </a:p>
        </p:txBody>
      </p:sp>
      <p:sp>
        <p:nvSpPr>
          <p:cNvPr id="95" name="Text 93"/>
          <p:cNvSpPr/>
          <p:nvPr/>
        </p:nvSpPr>
        <p:spPr>
          <a:xfrm>
            <a:off x="484632" y="560984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8</a:t>
            </a:r>
            <a:endParaRPr lang="en-US" sz="1200"/>
          </a:p>
        </p:txBody>
      </p:sp>
      <p:sp>
        <p:nvSpPr>
          <p:cNvPr id="96" name="Text 94"/>
          <p:cNvSpPr/>
          <p:nvPr/>
        </p:nvSpPr>
        <p:spPr>
          <a:xfrm>
            <a:off x="841248" y="5582412"/>
            <a:ext cx="310896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AI and agent integration</a:t>
            </a:r>
            <a:endParaRPr lang="en-US" sz="1000"/>
          </a:p>
        </p:txBody>
      </p:sp>
      <p:sp>
        <p:nvSpPr>
          <p:cNvPr id="97" name="Text 95"/>
          <p:cNvSpPr/>
          <p:nvPr/>
        </p:nvSpPr>
        <p:spPr>
          <a:xfrm>
            <a:off x="841248" y="573786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Fabric Data Agents, Copilot and how the AI layer sits on top of Fabric</a:t>
            </a:r>
            <a:endParaRPr lang="en-US" sz="830"/>
          </a:p>
        </p:txBody>
      </p:sp>
      <p:sp>
        <p:nvSpPr>
          <p:cNvPr id="98" name="Shape 96"/>
          <p:cNvSpPr/>
          <p:nvPr/>
        </p:nvSpPr>
        <p:spPr>
          <a:xfrm>
            <a:off x="6263640" y="5637276"/>
            <a:ext cx="960120" cy="192024"/>
          </a:xfrm>
          <a:prstGeom prst="rect">
            <a:avLst/>
          </a:prstGeom>
          <a:solidFill>
            <a:srgbClr val="00338D"/>
          </a:solidFill>
          <a:ln w="12700">
            <a:solidFill>
              <a:srgbClr val="00338D"/>
            </a:solidFill>
            <a:prstDash val="solid"/>
          </a:ln>
        </p:spPr>
        <p:txBody>
          <a:bodyPr/>
          <a:lstStyle/>
          <a:p>
            <a:endParaRPr lang="en-US"/>
          </a:p>
        </p:txBody>
      </p:sp>
      <p:sp>
        <p:nvSpPr>
          <p:cNvPr id="99" name="Text 97"/>
          <p:cNvSpPr/>
          <p:nvPr/>
        </p:nvSpPr>
        <p:spPr>
          <a:xfrm>
            <a:off x="6263640" y="564916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DAY 2</a:t>
            </a:r>
            <a:endParaRPr lang="en-US" sz="680"/>
          </a:p>
        </p:txBody>
      </p:sp>
      <p:sp>
        <p:nvSpPr>
          <p:cNvPr id="100" name="Text 98"/>
          <p:cNvSpPr/>
          <p:nvPr/>
        </p:nvSpPr>
        <p:spPr>
          <a:xfrm>
            <a:off x="411480" y="5961888"/>
            <a:ext cx="6903720" cy="164592"/>
          </a:xfrm>
          <a:prstGeom prst="rect">
            <a:avLst/>
          </a:prstGeom>
          <a:noFill/>
          <a:ln/>
        </p:spPr>
        <p:txBody>
          <a:bodyPr wrap="square" lIns="0" tIns="0" rIns="0" bIns="0" rtlCol="0" anchor="ctr"/>
          <a:lstStyle/>
          <a:p>
            <a:pPr marL="0" indent="0">
              <a:buNone/>
            </a:pPr>
            <a:r>
              <a:rPr lang="en-US" sz="760" i="1">
                <a:solidFill>
                  <a:srgbClr val="595959"/>
                </a:solidFill>
                <a:latin typeface="Arial" pitchFamily="34" charset="0"/>
                <a:ea typeface="Arial" pitchFamily="34" charset="-122"/>
                <a:cs typeface="Arial" pitchFamily="34" charset="-120"/>
              </a:rPr>
              <a:t>Fabric security and governance sits with Disney enterprise technology, so it is not covered here. Hands-on work anchors to existing Microsoft Learn material rather than custom labs.</a:t>
            </a:r>
            <a:endParaRPr lang="en-US" sz="760"/>
          </a:p>
        </p:txBody>
      </p:sp>
      <p:sp>
        <p:nvSpPr>
          <p:cNvPr id="101" name="Text 99"/>
          <p:cNvSpPr/>
          <p:nvPr/>
        </p:nvSpPr>
        <p:spPr>
          <a:xfrm>
            <a:off x="7635240" y="2670048"/>
            <a:ext cx="4114800" cy="256032"/>
          </a:xfrm>
          <a:prstGeom prst="rect">
            <a:avLst/>
          </a:prstGeom>
          <a:noFill/>
          <a:ln/>
        </p:spPr>
        <p:txBody>
          <a:bodyPr wrap="square" lIns="0" tIns="0" rIns="0" bIns="0" rtlCol="0" anchor="ctr"/>
          <a:lstStyle/>
          <a:p>
            <a:pPr marL="0" indent="0">
              <a:buNone/>
            </a:pPr>
            <a:r>
              <a:rPr lang="en-US" sz="1350" b="1">
                <a:solidFill>
                  <a:srgbClr val="1E49E2"/>
                </a:solidFill>
                <a:latin typeface="Arial" pitchFamily="34" charset="0"/>
                <a:ea typeface="Arial" pitchFamily="34" charset="-122"/>
                <a:cs typeface="Arial" pitchFamily="34" charset="-120"/>
              </a:rPr>
              <a:t>Open items</a:t>
            </a:r>
            <a:endParaRPr lang="en-US" sz="1350"/>
          </a:p>
        </p:txBody>
      </p:sp>
      <p:sp>
        <p:nvSpPr>
          <p:cNvPr id="102" name="Shape 100"/>
          <p:cNvSpPr/>
          <p:nvPr/>
        </p:nvSpPr>
        <p:spPr>
          <a:xfrm>
            <a:off x="7635240" y="2980944"/>
            <a:ext cx="4142232" cy="3035808"/>
          </a:xfrm>
          <a:prstGeom prst="rect">
            <a:avLst/>
          </a:prstGeom>
          <a:solidFill>
            <a:srgbClr val="F2F2F2"/>
          </a:solidFill>
          <a:ln w="12700">
            <a:solidFill>
              <a:srgbClr val="F2F2F2"/>
            </a:solidFill>
            <a:prstDash val="solid"/>
          </a:ln>
        </p:spPr>
        <p:txBody>
          <a:bodyPr/>
          <a:lstStyle/>
          <a:p>
            <a:endParaRPr lang="en-US"/>
          </a:p>
        </p:txBody>
      </p:sp>
      <p:sp>
        <p:nvSpPr>
          <p:cNvPr id="103" name="Shape 101"/>
          <p:cNvSpPr/>
          <p:nvPr/>
        </p:nvSpPr>
        <p:spPr>
          <a:xfrm>
            <a:off x="7635240" y="2980944"/>
            <a:ext cx="4142232" cy="50292"/>
          </a:xfrm>
          <a:prstGeom prst="rect">
            <a:avLst/>
          </a:prstGeom>
          <a:solidFill>
            <a:srgbClr val="0B2265"/>
          </a:solidFill>
          <a:ln w="12700">
            <a:solidFill>
              <a:srgbClr val="0B2265"/>
            </a:solidFill>
            <a:prstDash val="solid"/>
          </a:ln>
        </p:spPr>
        <p:txBody>
          <a:bodyPr/>
          <a:lstStyle/>
          <a:p>
            <a:endParaRPr lang="en-US"/>
          </a:p>
        </p:txBody>
      </p:sp>
      <p:sp>
        <p:nvSpPr>
          <p:cNvPr id="104" name="Shape 102"/>
          <p:cNvSpPr/>
          <p:nvPr/>
        </p:nvSpPr>
        <p:spPr>
          <a:xfrm>
            <a:off x="7818120" y="3159252"/>
            <a:ext cx="219456" cy="219456"/>
          </a:xfrm>
          <a:prstGeom prst="ellipse">
            <a:avLst/>
          </a:prstGeom>
          <a:solidFill>
            <a:srgbClr val="00338D"/>
          </a:solidFill>
          <a:ln w="12700">
            <a:solidFill>
              <a:srgbClr val="00338D"/>
            </a:solidFill>
            <a:prstDash val="solid"/>
          </a:ln>
        </p:spPr>
        <p:txBody>
          <a:bodyPr/>
          <a:lstStyle/>
          <a:p>
            <a:endParaRPr lang="en-US"/>
          </a:p>
        </p:txBody>
      </p:sp>
      <p:sp>
        <p:nvSpPr>
          <p:cNvPr id="105" name="Text 103"/>
          <p:cNvSpPr/>
          <p:nvPr/>
        </p:nvSpPr>
        <p:spPr>
          <a:xfrm>
            <a:off x="7818120" y="3186684"/>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1</a:t>
            </a:r>
            <a:endParaRPr lang="en-US" sz="900"/>
          </a:p>
        </p:txBody>
      </p:sp>
      <p:sp>
        <p:nvSpPr>
          <p:cNvPr id="106" name="Text 104"/>
          <p:cNvSpPr/>
          <p:nvPr/>
        </p:nvSpPr>
        <p:spPr>
          <a:xfrm>
            <a:off x="8147304" y="3145536"/>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Defining application development</a:t>
            </a:r>
            <a:endParaRPr lang="en-US" sz="980"/>
          </a:p>
        </p:txBody>
      </p:sp>
      <p:sp>
        <p:nvSpPr>
          <p:cNvPr id="107" name="Text 105"/>
          <p:cNvSpPr/>
          <p:nvPr/>
        </p:nvSpPr>
        <p:spPr>
          <a:xfrm>
            <a:off x="8147304" y="3332988"/>
            <a:ext cx="3474720" cy="38404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Johnny’s framing is lightweight interfaces over Fabric workloads rather than full-stack build. We want your read before we lock the module.</a:t>
            </a:r>
            <a:endParaRPr lang="en-US" sz="820"/>
          </a:p>
        </p:txBody>
      </p:sp>
      <p:sp>
        <p:nvSpPr>
          <p:cNvPr id="108" name="Shape 106"/>
          <p:cNvSpPr/>
          <p:nvPr/>
        </p:nvSpPr>
        <p:spPr>
          <a:xfrm>
            <a:off x="7818120" y="3721608"/>
            <a:ext cx="219456" cy="219456"/>
          </a:xfrm>
          <a:prstGeom prst="ellipse">
            <a:avLst/>
          </a:prstGeom>
          <a:solidFill>
            <a:srgbClr val="1E49E2"/>
          </a:solidFill>
          <a:ln w="12700">
            <a:solidFill>
              <a:srgbClr val="1E49E2"/>
            </a:solidFill>
            <a:prstDash val="solid"/>
          </a:ln>
        </p:spPr>
        <p:txBody>
          <a:bodyPr/>
          <a:lstStyle/>
          <a:p>
            <a:endParaRPr lang="en-US"/>
          </a:p>
        </p:txBody>
      </p:sp>
      <p:sp>
        <p:nvSpPr>
          <p:cNvPr id="109" name="Text 107"/>
          <p:cNvSpPr/>
          <p:nvPr/>
        </p:nvSpPr>
        <p:spPr>
          <a:xfrm>
            <a:off x="7818120" y="3749040"/>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2</a:t>
            </a:r>
            <a:endParaRPr lang="en-US" sz="900"/>
          </a:p>
        </p:txBody>
      </p:sp>
      <p:sp>
        <p:nvSpPr>
          <p:cNvPr id="110" name="Text 108"/>
          <p:cNvSpPr/>
          <p:nvPr/>
        </p:nvSpPr>
        <p:spPr>
          <a:xfrm>
            <a:off x="8147304" y="3707892"/>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What the Fabric working session covers</a:t>
            </a:r>
            <a:endParaRPr lang="en-US" sz="980"/>
          </a:p>
        </p:txBody>
      </p:sp>
      <p:sp>
        <p:nvSpPr>
          <p:cNvPr id="111" name="Text 109"/>
          <p:cNvSpPr/>
          <p:nvPr/>
        </p:nvSpPr>
        <p:spPr>
          <a:xfrm>
            <a:off x="8147304" y="3895344"/>
            <a:ext cx="3474720" cy="38404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The topics TDMI needs to reach consensus on. This is the part that cannot come from Microsoft Learn.</a:t>
            </a:r>
            <a:endParaRPr lang="en-US" sz="820"/>
          </a:p>
        </p:txBody>
      </p:sp>
      <p:sp>
        <p:nvSpPr>
          <p:cNvPr id="112" name="Shape 110"/>
          <p:cNvSpPr/>
          <p:nvPr/>
        </p:nvSpPr>
        <p:spPr>
          <a:xfrm>
            <a:off x="7818120" y="4283964"/>
            <a:ext cx="219456" cy="219456"/>
          </a:xfrm>
          <a:prstGeom prst="ellipse">
            <a:avLst/>
          </a:prstGeom>
          <a:solidFill>
            <a:srgbClr val="00338D"/>
          </a:solidFill>
          <a:ln w="12700">
            <a:solidFill>
              <a:srgbClr val="00338D"/>
            </a:solidFill>
            <a:prstDash val="solid"/>
          </a:ln>
        </p:spPr>
        <p:txBody>
          <a:bodyPr/>
          <a:lstStyle/>
          <a:p>
            <a:endParaRPr lang="en-US"/>
          </a:p>
        </p:txBody>
      </p:sp>
      <p:sp>
        <p:nvSpPr>
          <p:cNvPr id="113" name="Text 111"/>
          <p:cNvSpPr/>
          <p:nvPr/>
        </p:nvSpPr>
        <p:spPr>
          <a:xfrm>
            <a:off x="7818120" y="4311396"/>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3</a:t>
            </a:r>
            <a:endParaRPr lang="en-US" sz="900"/>
          </a:p>
        </p:txBody>
      </p:sp>
      <p:sp>
        <p:nvSpPr>
          <p:cNvPr id="114" name="Text 112"/>
          <p:cNvSpPr/>
          <p:nvPr/>
        </p:nvSpPr>
        <p:spPr>
          <a:xfrm>
            <a:off x="8147304" y="4270248"/>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Alteryx workflow inventory</a:t>
            </a:r>
            <a:endParaRPr lang="en-US" sz="980"/>
          </a:p>
        </p:txBody>
      </p:sp>
      <p:sp>
        <p:nvSpPr>
          <p:cNvPr id="115" name="Text 113"/>
          <p:cNvSpPr/>
          <p:nvPr/>
        </p:nvSpPr>
        <p:spPr>
          <a:xfrm>
            <a:off x="8147304" y="4457700"/>
            <a:ext cx="3474720" cy="38404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Does a current list exist? Sizing the candidates high, medium and low would shape how we frame the migration content.</a:t>
            </a:r>
            <a:endParaRPr lang="en-US" sz="820"/>
          </a:p>
        </p:txBody>
      </p:sp>
      <p:sp>
        <p:nvSpPr>
          <p:cNvPr id="116" name="Shape 114"/>
          <p:cNvSpPr/>
          <p:nvPr/>
        </p:nvSpPr>
        <p:spPr>
          <a:xfrm>
            <a:off x="7818120" y="4846320"/>
            <a:ext cx="219456" cy="219456"/>
          </a:xfrm>
          <a:prstGeom prst="ellipse">
            <a:avLst/>
          </a:prstGeom>
          <a:solidFill>
            <a:srgbClr val="1E49E2"/>
          </a:solidFill>
          <a:ln w="12700">
            <a:solidFill>
              <a:srgbClr val="1E49E2"/>
            </a:solidFill>
            <a:prstDash val="solid"/>
          </a:ln>
        </p:spPr>
        <p:txBody>
          <a:bodyPr/>
          <a:lstStyle/>
          <a:p>
            <a:endParaRPr lang="en-US"/>
          </a:p>
        </p:txBody>
      </p:sp>
      <p:sp>
        <p:nvSpPr>
          <p:cNvPr id="117" name="Text 115"/>
          <p:cNvSpPr/>
          <p:nvPr/>
        </p:nvSpPr>
        <p:spPr>
          <a:xfrm>
            <a:off x="7818120" y="4873752"/>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4</a:t>
            </a:r>
            <a:endParaRPr lang="en-US" sz="900"/>
          </a:p>
        </p:txBody>
      </p:sp>
      <p:sp>
        <p:nvSpPr>
          <p:cNvPr id="118" name="Text 116"/>
          <p:cNvSpPr/>
          <p:nvPr/>
        </p:nvSpPr>
        <p:spPr>
          <a:xfrm>
            <a:off x="8147304" y="4832604"/>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Environment access as a hard prerequisite</a:t>
            </a:r>
            <a:endParaRPr lang="en-US" sz="980"/>
          </a:p>
        </p:txBody>
      </p:sp>
      <p:sp>
        <p:nvSpPr>
          <p:cNvPr id="119" name="Text 117"/>
          <p:cNvSpPr/>
          <p:nvPr/>
        </p:nvSpPr>
        <p:spPr>
          <a:xfrm>
            <a:off x="8147304" y="5020056"/>
            <a:ext cx="3474720" cy="38404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All attendees pre-credentialed and the workspace provisioned in advance. No setup time on the day.</a:t>
            </a:r>
            <a:endParaRPr lang="en-US" sz="820"/>
          </a:p>
        </p:txBody>
      </p:sp>
      <p:sp>
        <p:nvSpPr>
          <p:cNvPr id="120" name="Shape 118"/>
          <p:cNvSpPr/>
          <p:nvPr/>
        </p:nvSpPr>
        <p:spPr>
          <a:xfrm>
            <a:off x="7818120" y="5408676"/>
            <a:ext cx="219456" cy="219456"/>
          </a:xfrm>
          <a:prstGeom prst="ellipse">
            <a:avLst/>
          </a:prstGeom>
          <a:solidFill>
            <a:srgbClr val="00B8F5"/>
          </a:solidFill>
          <a:ln w="12700">
            <a:solidFill>
              <a:srgbClr val="00B8F5"/>
            </a:solidFill>
            <a:prstDash val="solid"/>
          </a:ln>
        </p:spPr>
        <p:txBody>
          <a:bodyPr/>
          <a:lstStyle/>
          <a:p>
            <a:endParaRPr lang="en-US"/>
          </a:p>
        </p:txBody>
      </p:sp>
      <p:sp>
        <p:nvSpPr>
          <p:cNvPr id="121" name="Text 119"/>
          <p:cNvSpPr/>
          <p:nvPr/>
        </p:nvSpPr>
        <p:spPr>
          <a:xfrm>
            <a:off x="7818120" y="5436108"/>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5</a:t>
            </a:r>
            <a:endParaRPr lang="en-US" sz="900"/>
          </a:p>
        </p:txBody>
      </p:sp>
      <p:sp>
        <p:nvSpPr>
          <p:cNvPr id="122" name="Text 120"/>
          <p:cNvSpPr/>
          <p:nvPr/>
        </p:nvSpPr>
        <p:spPr>
          <a:xfrm>
            <a:off x="8147304" y="5394960"/>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Confirming the day and a half</a:t>
            </a:r>
            <a:endParaRPr lang="en-US" sz="980"/>
          </a:p>
        </p:txBody>
      </p:sp>
      <p:sp>
        <p:nvSpPr>
          <p:cNvPr id="123" name="Text 121"/>
          <p:cNvSpPr/>
          <p:nvPr/>
        </p:nvSpPr>
        <p:spPr>
          <a:xfrm>
            <a:off x="8147304" y="5582412"/>
            <a:ext cx="3474720" cy="38404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Half day on the 19th, overnight, full day on the 20th — confirming this matches what your team expects.</a:t>
            </a:r>
            <a:endParaRPr lang="en-US" sz="820"/>
          </a:p>
        </p:txBody>
      </p:sp>
      <p:sp>
        <p:nvSpPr>
          <p:cNvPr id="124" name="Shape 122"/>
          <p:cNvSpPr/>
          <p:nvPr/>
        </p:nvSpPr>
        <p:spPr>
          <a:xfrm>
            <a:off x="411480" y="6199632"/>
            <a:ext cx="11365992" cy="310896"/>
          </a:xfrm>
          <a:prstGeom prst="rect">
            <a:avLst/>
          </a:prstGeom>
          <a:solidFill>
            <a:srgbClr val="1E49E2"/>
          </a:solidFill>
          <a:ln w="12700">
            <a:solidFill>
              <a:srgbClr val="1E49E2"/>
            </a:solidFill>
            <a:prstDash val="solid"/>
          </a:ln>
        </p:spPr>
        <p:txBody>
          <a:bodyPr/>
          <a:lstStyle/>
          <a:p>
            <a:endParaRPr lang="en-US"/>
          </a:p>
        </p:txBody>
      </p:sp>
      <p:sp>
        <p:nvSpPr>
          <p:cNvPr id="125" name="Text 123"/>
          <p:cNvSpPr/>
          <p:nvPr/>
        </p:nvSpPr>
        <p:spPr>
          <a:xfrm>
            <a:off x="411480" y="6259068"/>
            <a:ext cx="11365992" cy="219456"/>
          </a:xfrm>
          <a:prstGeom prst="rect">
            <a:avLst/>
          </a:prstGeom>
          <a:noFill/>
          <a:ln/>
        </p:spPr>
        <p:txBody>
          <a:bodyPr wrap="square" lIns="0" tIns="0" rIns="0" bIns="0" rtlCol="0" anchor="ctr"/>
          <a:lstStyle/>
          <a:p>
            <a:pPr marL="0" indent="0" algn="ctr">
              <a:buNone/>
            </a:pPr>
            <a:r>
              <a:rPr lang="en-US" sz="1050">
                <a:solidFill>
                  <a:srgbClr val="FFFFFF"/>
                </a:solidFill>
                <a:latin typeface="Arial" pitchFamily="34" charset="0"/>
                <a:ea typeface="Arial" pitchFamily="34" charset="-122"/>
                <a:cs typeface="Arial" pitchFamily="34" charset="-120"/>
              </a:rPr>
              <a:t>Friday’s group call is where we take this to a first-draft agenda with the wider TDMI team.</a:t>
            </a:r>
            <a:endParaRPr lang="en-US" sz="1050"/>
          </a:p>
        </p:txBody>
      </p:sp>
      <p:sp>
        <p:nvSpPr>
          <p:cNvPr id="128" name="Text 126"/>
          <p:cNvSpPr/>
          <p:nvPr/>
        </p:nvSpPr>
        <p:spPr>
          <a:xfrm>
            <a:off x="1234440" y="6537960"/>
            <a:ext cx="8686800" cy="237744"/>
          </a:xfrm>
          <a:prstGeom prst="rect">
            <a:avLst/>
          </a:prstGeom>
          <a:noFill/>
          <a:ln/>
        </p:spPr>
        <p:txBody>
          <a:bodyPr wrap="square" lIns="0" tIns="0" rIns="0" bIns="0" rtlCol="0" anchor="ctr"/>
          <a:lstStyle/>
          <a:p>
            <a:pPr marL="0" indent="0">
              <a:lnSpc>
                <a:spcPct val="100000"/>
              </a:lnSpc>
              <a:buNone/>
            </a:pPr>
            <a:r>
              <a:rPr lang="en-US" sz="550">
                <a:solidFill>
                  <a:srgbClr val="808080"/>
                </a:solidFill>
                <a:latin typeface="Arial" pitchFamily="34" charset="0"/>
                <a:ea typeface="Arial" pitchFamily="34" charset="-122"/>
                <a:cs typeface="Arial" pitchFamily="34" charset="-120"/>
              </a:rPr>
              <a:t>© 2026 KPMG LLP, a Delaware limited liability partnership and its subsidiaries are part of the KPMG global organization of independent</a:t>
            </a:r>
            <a:endParaRPr lang="en-US" sz="550"/>
          </a:p>
          <a:p>
            <a:pPr marL="0" indent="0">
              <a:lnSpc>
                <a:spcPct val="100000"/>
              </a:lnSpc>
              <a:buNone/>
            </a:pPr>
            <a:r>
              <a:rPr lang="en-US" sz="550">
                <a:solidFill>
                  <a:srgbClr val="808080"/>
                </a:solidFill>
                <a:latin typeface="Arial" pitchFamily="34" charset="0"/>
                <a:ea typeface="Arial" pitchFamily="34" charset="-122"/>
                <a:cs typeface="Arial" pitchFamily="34" charset="-120"/>
              </a:rPr>
              <a:t>member firms affiliated with KPMG International Limited, a private English company limited by guarantee. All rights reserved.</a:t>
            </a:r>
            <a:endParaRPr lang="en-US" sz="550"/>
          </a:p>
        </p:txBody>
      </p:sp>
      <p:sp>
        <p:nvSpPr>
          <p:cNvPr id="129" name="Text 127"/>
          <p:cNvSpPr/>
          <p:nvPr/>
        </p:nvSpPr>
        <p:spPr>
          <a:xfrm>
            <a:off x="11475720" y="6547104"/>
            <a:ext cx="301752" cy="182880"/>
          </a:xfrm>
          <a:prstGeom prst="rect">
            <a:avLst/>
          </a:prstGeom>
          <a:noFill/>
          <a:ln/>
        </p:spPr>
        <p:txBody>
          <a:bodyPr wrap="square" lIns="0" tIns="0" rIns="0" bIns="0" rtlCol="0" anchor="ctr"/>
          <a:lstStyle/>
          <a:p>
            <a:pPr marL="0" indent="0" algn="r">
              <a:buNone/>
            </a:pPr>
            <a:r>
              <a:rPr lang="en-US" sz="900">
                <a:solidFill>
                  <a:srgbClr val="00338D"/>
                </a:solidFill>
                <a:latin typeface="Arial" pitchFamily="34" charset="0"/>
                <a:ea typeface="Arial" pitchFamily="34" charset="-122"/>
                <a:cs typeface="Arial" pitchFamily="34" charset="-120"/>
              </a:rPr>
              <a:t>1</a:t>
            </a:r>
            <a:endParaRPr lang="en-US" sz="900"/>
          </a:p>
        </p:txBody>
      </p:sp>
      <p:sp>
        <p:nvSpPr>
          <p:cNvPr id="131" name="Rectangle 130">
            <a:extLst>
              <a:ext uri="{FF2B5EF4-FFF2-40B4-BE49-F238E27FC236}">
                <a16:creationId xmlns:a16="http://schemas.microsoft.com/office/drawing/2014/main" id="{03DFADDB-9F42-542B-3EFF-3EF0B980A716}"/>
              </a:ext>
            </a:extLst>
          </p:cNvPr>
          <p:cNvSpPr/>
          <p:nvPr/>
        </p:nvSpPr>
        <p:spPr>
          <a:xfrm>
            <a:off x="745236" y="5769864"/>
            <a:ext cx="8821104" cy="10881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rial" panose="020B0604020202020204" pitchFamily="34" charset="0"/>
                <a:cs typeface="Arial" panose="020B0604020202020204" pitchFamily="34" charset="0"/>
              </a:rPr>
              <a:t>What Jack presented to Alex on 9/16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7457" cy="1024128"/>
          </a:xfrm>
          <a:prstGeom prst="rect">
            <a:avLst/>
          </a:prstGeom>
          <a:solidFill>
            <a:srgbClr val="0B2265"/>
          </a:solidFill>
          <a:ln w="12700">
            <a:solidFill>
              <a:srgbClr val="0B2265"/>
            </a:solidFill>
            <a:prstDash val="solid"/>
          </a:ln>
        </p:spPr>
        <p:txBody>
          <a:bodyPr/>
          <a:lstStyle/>
          <a:p>
            <a:endParaRPr lang="en-US"/>
          </a:p>
        </p:txBody>
      </p:sp>
      <p:sp>
        <p:nvSpPr>
          <p:cNvPr id="3" name="Shape 1"/>
          <p:cNvSpPr/>
          <p:nvPr/>
        </p:nvSpPr>
        <p:spPr>
          <a:xfrm>
            <a:off x="172593" y="0"/>
            <a:ext cx="227457" cy="1024128"/>
          </a:xfrm>
          <a:prstGeom prst="rect">
            <a:avLst/>
          </a:prstGeom>
          <a:solidFill>
            <a:srgbClr val="0B2368"/>
          </a:solidFill>
          <a:ln w="12700">
            <a:solidFill>
              <a:srgbClr val="0B2368"/>
            </a:solidFill>
            <a:prstDash val="solid"/>
          </a:ln>
        </p:spPr>
        <p:txBody>
          <a:bodyPr/>
          <a:lstStyle/>
          <a:p>
            <a:endParaRPr lang="en-US"/>
          </a:p>
        </p:txBody>
      </p:sp>
      <p:sp>
        <p:nvSpPr>
          <p:cNvPr id="4" name="Shape 2"/>
          <p:cNvSpPr/>
          <p:nvPr/>
        </p:nvSpPr>
        <p:spPr>
          <a:xfrm>
            <a:off x="345186" y="0"/>
            <a:ext cx="227457" cy="1024128"/>
          </a:xfrm>
          <a:prstGeom prst="rect">
            <a:avLst/>
          </a:prstGeom>
          <a:solidFill>
            <a:srgbClr val="0C246B"/>
          </a:solidFill>
          <a:ln w="12700">
            <a:solidFill>
              <a:srgbClr val="0C246B"/>
            </a:solidFill>
            <a:prstDash val="solid"/>
          </a:ln>
        </p:spPr>
        <p:txBody>
          <a:bodyPr/>
          <a:lstStyle/>
          <a:p>
            <a:endParaRPr lang="en-US"/>
          </a:p>
        </p:txBody>
      </p:sp>
      <p:sp>
        <p:nvSpPr>
          <p:cNvPr id="5" name="Shape 3"/>
          <p:cNvSpPr/>
          <p:nvPr/>
        </p:nvSpPr>
        <p:spPr>
          <a:xfrm>
            <a:off x="517779" y="0"/>
            <a:ext cx="227457" cy="1024128"/>
          </a:xfrm>
          <a:prstGeom prst="rect">
            <a:avLst/>
          </a:prstGeom>
          <a:solidFill>
            <a:srgbClr val="0C256F"/>
          </a:solidFill>
          <a:ln w="12700">
            <a:solidFill>
              <a:srgbClr val="0C256F"/>
            </a:solidFill>
            <a:prstDash val="solid"/>
          </a:ln>
        </p:spPr>
        <p:txBody>
          <a:bodyPr/>
          <a:lstStyle/>
          <a:p>
            <a:endParaRPr lang="en-US"/>
          </a:p>
        </p:txBody>
      </p:sp>
      <p:sp>
        <p:nvSpPr>
          <p:cNvPr id="6" name="Shape 4"/>
          <p:cNvSpPr/>
          <p:nvPr/>
        </p:nvSpPr>
        <p:spPr>
          <a:xfrm>
            <a:off x="690372" y="0"/>
            <a:ext cx="227457" cy="1024128"/>
          </a:xfrm>
          <a:prstGeom prst="rect">
            <a:avLst/>
          </a:prstGeom>
          <a:solidFill>
            <a:srgbClr val="0D2672"/>
          </a:solidFill>
          <a:ln w="12700">
            <a:solidFill>
              <a:srgbClr val="0D2672"/>
            </a:solidFill>
            <a:prstDash val="solid"/>
          </a:ln>
        </p:spPr>
        <p:txBody>
          <a:bodyPr/>
          <a:lstStyle/>
          <a:p>
            <a:endParaRPr lang="en-US"/>
          </a:p>
        </p:txBody>
      </p:sp>
      <p:sp>
        <p:nvSpPr>
          <p:cNvPr id="7" name="Shape 5"/>
          <p:cNvSpPr/>
          <p:nvPr/>
        </p:nvSpPr>
        <p:spPr>
          <a:xfrm>
            <a:off x="862965" y="0"/>
            <a:ext cx="227457" cy="1024128"/>
          </a:xfrm>
          <a:prstGeom prst="rect">
            <a:avLst/>
          </a:prstGeom>
          <a:solidFill>
            <a:srgbClr val="0D2775"/>
          </a:solidFill>
          <a:ln w="12700">
            <a:solidFill>
              <a:srgbClr val="0D2775"/>
            </a:solidFill>
            <a:prstDash val="solid"/>
          </a:ln>
        </p:spPr>
        <p:txBody>
          <a:bodyPr/>
          <a:lstStyle/>
          <a:p>
            <a:endParaRPr lang="en-US"/>
          </a:p>
        </p:txBody>
      </p:sp>
      <p:sp>
        <p:nvSpPr>
          <p:cNvPr id="8" name="Shape 6"/>
          <p:cNvSpPr/>
          <p:nvPr/>
        </p:nvSpPr>
        <p:spPr>
          <a:xfrm>
            <a:off x="1035558" y="0"/>
            <a:ext cx="227457" cy="1024128"/>
          </a:xfrm>
          <a:prstGeom prst="rect">
            <a:avLst/>
          </a:prstGeom>
          <a:solidFill>
            <a:srgbClr val="0E2878"/>
          </a:solidFill>
          <a:ln w="12700">
            <a:solidFill>
              <a:srgbClr val="0E2878"/>
            </a:solidFill>
            <a:prstDash val="solid"/>
          </a:ln>
        </p:spPr>
        <p:txBody>
          <a:bodyPr/>
          <a:lstStyle/>
          <a:p>
            <a:endParaRPr lang="en-US"/>
          </a:p>
        </p:txBody>
      </p:sp>
      <p:sp>
        <p:nvSpPr>
          <p:cNvPr id="9" name="Shape 7"/>
          <p:cNvSpPr/>
          <p:nvPr/>
        </p:nvSpPr>
        <p:spPr>
          <a:xfrm>
            <a:off x="1208151" y="0"/>
            <a:ext cx="227457" cy="1024128"/>
          </a:xfrm>
          <a:prstGeom prst="rect">
            <a:avLst/>
          </a:prstGeom>
          <a:solidFill>
            <a:srgbClr val="0E297B"/>
          </a:solidFill>
          <a:ln w="12700">
            <a:solidFill>
              <a:srgbClr val="0E297B"/>
            </a:solidFill>
            <a:prstDash val="solid"/>
          </a:ln>
        </p:spPr>
        <p:txBody>
          <a:bodyPr/>
          <a:lstStyle/>
          <a:p>
            <a:endParaRPr lang="en-US"/>
          </a:p>
        </p:txBody>
      </p:sp>
      <p:sp>
        <p:nvSpPr>
          <p:cNvPr id="10" name="Shape 8"/>
          <p:cNvSpPr/>
          <p:nvPr/>
        </p:nvSpPr>
        <p:spPr>
          <a:xfrm>
            <a:off x="1380744" y="0"/>
            <a:ext cx="227457" cy="1024128"/>
          </a:xfrm>
          <a:prstGeom prst="rect">
            <a:avLst/>
          </a:prstGeom>
          <a:solidFill>
            <a:srgbClr val="0F2A7F"/>
          </a:solidFill>
          <a:ln w="12700">
            <a:solidFill>
              <a:srgbClr val="0F2A7F"/>
            </a:solidFill>
            <a:prstDash val="solid"/>
          </a:ln>
        </p:spPr>
        <p:txBody>
          <a:bodyPr/>
          <a:lstStyle/>
          <a:p>
            <a:endParaRPr lang="en-US"/>
          </a:p>
        </p:txBody>
      </p:sp>
      <p:sp>
        <p:nvSpPr>
          <p:cNvPr id="11" name="Shape 9"/>
          <p:cNvSpPr/>
          <p:nvPr/>
        </p:nvSpPr>
        <p:spPr>
          <a:xfrm>
            <a:off x="1553337" y="0"/>
            <a:ext cx="227457" cy="1024128"/>
          </a:xfrm>
          <a:prstGeom prst="rect">
            <a:avLst/>
          </a:prstGeom>
          <a:solidFill>
            <a:srgbClr val="0F2B82"/>
          </a:solidFill>
          <a:ln w="12700">
            <a:solidFill>
              <a:srgbClr val="0F2B82"/>
            </a:solidFill>
            <a:prstDash val="solid"/>
          </a:ln>
        </p:spPr>
        <p:txBody>
          <a:bodyPr/>
          <a:lstStyle/>
          <a:p>
            <a:endParaRPr lang="en-US"/>
          </a:p>
        </p:txBody>
      </p:sp>
      <p:sp>
        <p:nvSpPr>
          <p:cNvPr id="12" name="Shape 10"/>
          <p:cNvSpPr/>
          <p:nvPr/>
        </p:nvSpPr>
        <p:spPr>
          <a:xfrm>
            <a:off x="1725930" y="0"/>
            <a:ext cx="227457" cy="1024128"/>
          </a:xfrm>
          <a:prstGeom prst="rect">
            <a:avLst/>
          </a:prstGeom>
          <a:solidFill>
            <a:srgbClr val="102C85"/>
          </a:solidFill>
          <a:ln w="12700">
            <a:solidFill>
              <a:srgbClr val="102C85"/>
            </a:solidFill>
            <a:prstDash val="solid"/>
          </a:ln>
        </p:spPr>
        <p:txBody>
          <a:bodyPr/>
          <a:lstStyle/>
          <a:p>
            <a:endParaRPr lang="en-US"/>
          </a:p>
        </p:txBody>
      </p:sp>
      <p:sp>
        <p:nvSpPr>
          <p:cNvPr id="13" name="Shape 11"/>
          <p:cNvSpPr/>
          <p:nvPr/>
        </p:nvSpPr>
        <p:spPr>
          <a:xfrm>
            <a:off x="1898523" y="0"/>
            <a:ext cx="227457" cy="1024128"/>
          </a:xfrm>
          <a:prstGeom prst="rect">
            <a:avLst/>
          </a:prstGeom>
          <a:solidFill>
            <a:srgbClr val="102D88"/>
          </a:solidFill>
          <a:ln w="12700">
            <a:solidFill>
              <a:srgbClr val="102D88"/>
            </a:solidFill>
            <a:prstDash val="solid"/>
          </a:ln>
        </p:spPr>
        <p:txBody>
          <a:bodyPr/>
          <a:lstStyle/>
          <a:p>
            <a:endParaRPr lang="en-US"/>
          </a:p>
        </p:txBody>
      </p:sp>
      <p:sp>
        <p:nvSpPr>
          <p:cNvPr id="14" name="Shape 12"/>
          <p:cNvSpPr/>
          <p:nvPr/>
        </p:nvSpPr>
        <p:spPr>
          <a:xfrm>
            <a:off x="2071116" y="0"/>
            <a:ext cx="227457" cy="1024128"/>
          </a:xfrm>
          <a:prstGeom prst="rect">
            <a:avLst/>
          </a:prstGeom>
          <a:solidFill>
            <a:srgbClr val="112E8B"/>
          </a:solidFill>
          <a:ln w="12700">
            <a:solidFill>
              <a:srgbClr val="112E8B"/>
            </a:solidFill>
            <a:prstDash val="solid"/>
          </a:ln>
        </p:spPr>
        <p:txBody>
          <a:bodyPr/>
          <a:lstStyle/>
          <a:p>
            <a:endParaRPr lang="en-US"/>
          </a:p>
        </p:txBody>
      </p:sp>
      <p:sp>
        <p:nvSpPr>
          <p:cNvPr id="15" name="Shape 13"/>
          <p:cNvSpPr/>
          <p:nvPr/>
        </p:nvSpPr>
        <p:spPr>
          <a:xfrm>
            <a:off x="2243709" y="0"/>
            <a:ext cx="227457" cy="1024128"/>
          </a:xfrm>
          <a:prstGeom prst="rect">
            <a:avLst/>
          </a:prstGeom>
          <a:solidFill>
            <a:srgbClr val="112F8F"/>
          </a:solidFill>
          <a:ln w="12700">
            <a:solidFill>
              <a:srgbClr val="112F8F"/>
            </a:solidFill>
            <a:prstDash val="solid"/>
          </a:ln>
        </p:spPr>
        <p:txBody>
          <a:bodyPr/>
          <a:lstStyle/>
          <a:p>
            <a:endParaRPr lang="en-US"/>
          </a:p>
        </p:txBody>
      </p:sp>
      <p:sp>
        <p:nvSpPr>
          <p:cNvPr id="16" name="Shape 14"/>
          <p:cNvSpPr/>
          <p:nvPr/>
        </p:nvSpPr>
        <p:spPr>
          <a:xfrm>
            <a:off x="2416302" y="0"/>
            <a:ext cx="227457" cy="1024128"/>
          </a:xfrm>
          <a:prstGeom prst="rect">
            <a:avLst/>
          </a:prstGeom>
          <a:solidFill>
            <a:srgbClr val="123092"/>
          </a:solidFill>
          <a:ln w="12700">
            <a:solidFill>
              <a:srgbClr val="123092"/>
            </a:solidFill>
            <a:prstDash val="solid"/>
          </a:ln>
        </p:spPr>
        <p:txBody>
          <a:bodyPr/>
          <a:lstStyle/>
          <a:p>
            <a:endParaRPr lang="en-US"/>
          </a:p>
        </p:txBody>
      </p:sp>
      <p:sp>
        <p:nvSpPr>
          <p:cNvPr id="17" name="Shape 15"/>
          <p:cNvSpPr/>
          <p:nvPr/>
        </p:nvSpPr>
        <p:spPr>
          <a:xfrm>
            <a:off x="2588895" y="0"/>
            <a:ext cx="227457" cy="1024128"/>
          </a:xfrm>
          <a:prstGeom prst="rect">
            <a:avLst/>
          </a:prstGeom>
          <a:solidFill>
            <a:srgbClr val="123195"/>
          </a:solidFill>
          <a:ln w="12700">
            <a:solidFill>
              <a:srgbClr val="123195"/>
            </a:solidFill>
            <a:prstDash val="solid"/>
          </a:ln>
        </p:spPr>
        <p:txBody>
          <a:bodyPr/>
          <a:lstStyle/>
          <a:p>
            <a:endParaRPr lang="en-US"/>
          </a:p>
        </p:txBody>
      </p:sp>
      <p:sp>
        <p:nvSpPr>
          <p:cNvPr id="18" name="Shape 16"/>
          <p:cNvSpPr/>
          <p:nvPr/>
        </p:nvSpPr>
        <p:spPr>
          <a:xfrm>
            <a:off x="2761488" y="0"/>
            <a:ext cx="227457" cy="1024128"/>
          </a:xfrm>
          <a:prstGeom prst="rect">
            <a:avLst/>
          </a:prstGeom>
          <a:solidFill>
            <a:srgbClr val="133298"/>
          </a:solidFill>
          <a:ln w="12700">
            <a:solidFill>
              <a:srgbClr val="133298"/>
            </a:solidFill>
            <a:prstDash val="solid"/>
          </a:ln>
        </p:spPr>
        <p:txBody>
          <a:bodyPr/>
          <a:lstStyle/>
          <a:p>
            <a:endParaRPr lang="en-US"/>
          </a:p>
        </p:txBody>
      </p:sp>
      <p:sp>
        <p:nvSpPr>
          <p:cNvPr id="19" name="Shape 17"/>
          <p:cNvSpPr/>
          <p:nvPr/>
        </p:nvSpPr>
        <p:spPr>
          <a:xfrm>
            <a:off x="2934081" y="0"/>
            <a:ext cx="227457" cy="1024128"/>
          </a:xfrm>
          <a:prstGeom prst="rect">
            <a:avLst/>
          </a:prstGeom>
          <a:solidFill>
            <a:srgbClr val="13339B"/>
          </a:solidFill>
          <a:ln w="12700">
            <a:solidFill>
              <a:srgbClr val="13339B"/>
            </a:solidFill>
            <a:prstDash val="solid"/>
          </a:ln>
        </p:spPr>
        <p:txBody>
          <a:bodyPr/>
          <a:lstStyle/>
          <a:p>
            <a:endParaRPr lang="en-US"/>
          </a:p>
        </p:txBody>
      </p:sp>
      <p:sp>
        <p:nvSpPr>
          <p:cNvPr id="20" name="Shape 18"/>
          <p:cNvSpPr/>
          <p:nvPr/>
        </p:nvSpPr>
        <p:spPr>
          <a:xfrm>
            <a:off x="3106674" y="0"/>
            <a:ext cx="227457" cy="1024128"/>
          </a:xfrm>
          <a:prstGeom prst="rect">
            <a:avLst/>
          </a:prstGeom>
          <a:solidFill>
            <a:srgbClr val="14349F"/>
          </a:solidFill>
          <a:ln w="12700">
            <a:solidFill>
              <a:srgbClr val="14349F"/>
            </a:solidFill>
            <a:prstDash val="solid"/>
          </a:ln>
        </p:spPr>
        <p:txBody>
          <a:bodyPr/>
          <a:lstStyle/>
          <a:p>
            <a:endParaRPr lang="en-US"/>
          </a:p>
        </p:txBody>
      </p:sp>
      <p:sp>
        <p:nvSpPr>
          <p:cNvPr id="21" name="Shape 19"/>
          <p:cNvSpPr/>
          <p:nvPr/>
        </p:nvSpPr>
        <p:spPr>
          <a:xfrm>
            <a:off x="3279267" y="0"/>
            <a:ext cx="227457" cy="1024128"/>
          </a:xfrm>
          <a:prstGeom prst="rect">
            <a:avLst/>
          </a:prstGeom>
          <a:solidFill>
            <a:srgbClr val="1435A2"/>
          </a:solidFill>
          <a:ln w="12700">
            <a:solidFill>
              <a:srgbClr val="1435A2"/>
            </a:solidFill>
            <a:prstDash val="solid"/>
          </a:ln>
        </p:spPr>
        <p:txBody>
          <a:bodyPr/>
          <a:lstStyle/>
          <a:p>
            <a:endParaRPr lang="en-US"/>
          </a:p>
        </p:txBody>
      </p:sp>
      <p:sp>
        <p:nvSpPr>
          <p:cNvPr id="22" name="Shape 20"/>
          <p:cNvSpPr/>
          <p:nvPr/>
        </p:nvSpPr>
        <p:spPr>
          <a:xfrm>
            <a:off x="3451860" y="0"/>
            <a:ext cx="227457" cy="1024128"/>
          </a:xfrm>
          <a:prstGeom prst="rect">
            <a:avLst/>
          </a:prstGeom>
          <a:solidFill>
            <a:srgbClr val="1536A5"/>
          </a:solidFill>
          <a:ln w="12700">
            <a:solidFill>
              <a:srgbClr val="1536A5"/>
            </a:solidFill>
            <a:prstDash val="solid"/>
          </a:ln>
        </p:spPr>
        <p:txBody>
          <a:bodyPr/>
          <a:lstStyle/>
          <a:p>
            <a:endParaRPr lang="en-US"/>
          </a:p>
        </p:txBody>
      </p:sp>
      <p:sp>
        <p:nvSpPr>
          <p:cNvPr id="23" name="Shape 21"/>
          <p:cNvSpPr/>
          <p:nvPr/>
        </p:nvSpPr>
        <p:spPr>
          <a:xfrm>
            <a:off x="3624453" y="0"/>
            <a:ext cx="227457" cy="1024128"/>
          </a:xfrm>
          <a:prstGeom prst="rect">
            <a:avLst/>
          </a:prstGeom>
          <a:solidFill>
            <a:srgbClr val="1537A8"/>
          </a:solidFill>
          <a:ln w="12700">
            <a:solidFill>
              <a:srgbClr val="1537A8"/>
            </a:solidFill>
            <a:prstDash val="solid"/>
          </a:ln>
        </p:spPr>
        <p:txBody>
          <a:bodyPr/>
          <a:lstStyle/>
          <a:p>
            <a:endParaRPr lang="en-US"/>
          </a:p>
        </p:txBody>
      </p:sp>
      <p:sp>
        <p:nvSpPr>
          <p:cNvPr id="24" name="Shape 22"/>
          <p:cNvSpPr/>
          <p:nvPr/>
        </p:nvSpPr>
        <p:spPr>
          <a:xfrm>
            <a:off x="3797046" y="0"/>
            <a:ext cx="227457" cy="1024128"/>
          </a:xfrm>
          <a:prstGeom prst="rect">
            <a:avLst/>
          </a:prstGeom>
          <a:solidFill>
            <a:srgbClr val="1638AC"/>
          </a:solidFill>
          <a:ln w="12700">
            <a:solidFill>
              <a:srgbClr val="1638AC"/>
            </a:solidFill>
            <a:prstDash val="solid"/>
          </a:ln>
        </p:spPr>
        <p:txBody>
          <a:bodyPr/>
          <a:lstStyle/>
          <a:p>
            <a:endParaRPr lang="en-US"/>
          </a:p>
        </p:txBody>
      </p:sp>
      <p:sp>
        <p:nvSpPr>
          <p:cNvPr id="25" name="Shape 23"/>
          <p:cNvSpPr/>
          <p:nvPr/>
        </p:nvSpPr>
        <p:spPr>
          <a:xfrm>
            <a:off x="3969639" y="0"/>
            <a:ext cx="227457" cy="1024128"/>
          </a:xfrm>
          <a:prstGeom prst="rect">
            <a:avLst/>
          </a:prstGeom>
          <a:solidFill>
            <a:srgbClr val="1639AF"/>
          </a:solidFill>
          <a:ln w="12700">
            <a:solidFill>
              <a:srgbClr val="1639AF"/>
            </a:solidFill>
            <a:prstDash val="solid"/>
          </a:ln>
        </p:spPr>
        <p:txBody>
          <a:bodyPr/>
          <a:lstStyle/>
          <a:p>
            <a:endParaRPr lang="en-US"/>
          </a:p>
        </p:txBody>
      </p:sp>
      <p:sp>
        <p:nvSpPr>
          <p:cNvPr id="26" name="Shape 24"/>
          <p:cNvSpPr/>
          <p:nvPr/>
        </p:nvSpPr>
        <p:spPr>
          <a:xfrm>
            <a:off x="4142232" y="0"/>
            <a:ext cx="227457" cy="1024128"/>
          </a:xfrm>
          <a:prstGeom prst="rect">
            <a:avLst/>
          </a:prstGeom>
          <a:solidFill>
            <a:srgbClr val="173AB2"/>
          </a:solidFill>
          <a:ln w="12700">
            <a:solidFill>
              <a:srgbClr val="173AB2"/>
            </a:solidFill>
            <a:prstDash val="solid"/>
          </a:ln>
        </p:spPr>
        <p:txBody>
          <a:bodyPr/>
          <a:lstStyle/>
          <a:p>
            <a:endParaRPr lang="en-US"/>
          </a:p>
        </p:txBody>
      </p:sp>
      <p:sp>
        <p:nvSpPr>
          <p:cNvPr id="27" name="Shape 25"/>
          <p:cNvSpPr/>
          <p:nvPr/>
        </p:nvSpPr>
        <p:spPr>
          <a:xfrm>
            <a:off x="4314825" y="0"/>
            <a:ext cx="227457" cy="1024128"/>
          </a:xfrm>
          <a:prstGeom prst="rect">
            <a:avLst/>
          </a:prstGeom>
          <a:solidFill>
            <a:srgbClr val="173BB5"/>
          </a:solidFill>
          <a:ln w="12700">
            <a:solidFill>
              <a:srgbClr val="173BB5"/>
            </a:solidFill>
            <a:prstDash val="solid"/>
          </a:ln>
        </p:spPr>
        <p:txBody>
          <a:bodyPr/>
          <a:lstStyle/>
          <a:p>
            <a:endParaRPr lang="en-US"/>
          </a:p>
        </p:txBody>
      </p:sp>
      <p:sp>
        <p:nvSpPr>
          <p:cNvPr id="28" name="Shape 26"/>
          <p:cNvSpPr/>
          <p:nvPr/>
        </p:nvSpPr>
        <p:spPr>
          <a:xfrm>
            <a:off x="4487418" y="0"/>
            <a:ext cx="227457" cy="1024128"/>
          </a:xfrm>
          <a:prstGeom prst="rect">
            <a:avLst/>
          </a:prstGeom>
          <a:solidFill>
            <a:srgbClr val="183CB8"/>
          </a:solidFill>
          <a:ln w="12700">
            <a:solidFill>
              <a:srgbClr val="183CB8"/>
            </a:solidFill>
            <a:prstDash val="solid"/>
          </a:ln>
        </p:spPr>
        <p:txBody>
          <a:bodyPr/>
          <a:lstStyle/>
          <a:p>
            <a:endParaRPr lang="en-US"/>
          </a:p>
        </p:txBody>
      </p:sp>
      <p:sp>
        <p:nvSpPr>
          <p:cNvPr id="29" name="Shape 27"/>
          <p:cNvSpPr/>
          <p:nvPr/>
        </p:nvSpPr>
        <p:spPr>
          <a:xfrm>
            <a:off x="4660011" y="0"/>
            <a:ext cx="227457" cy="1024128"/>
          </a:xfrm>
          <a:prstGeom prst="rect">
            <a:avLst/>
          </a:prstGeom>
          <a:solidFill>
            <a:srgbClr val="183DBC"/>
          </a:solidFill>
          <a:ln w="12700">
            <a:solidFill>
              <a:srgbClr val="183DBC"/>
            </a:solidFill>
            <a:prstDash val="solid"/>
          </a:ln>
        </p:spPr>
        <p:txBody>
          <a:bodyPr/>
          <a:lstStyle/>
          <a:p>
            <a:endParaRPr lang="en-US"/>
          </a:p>
        </p:txBody>
      </p:sp>
      <p:sp>
        <p:nvSpPr>
          <p:cNvPr id="30" name="Shape 28"/>
          <p:cNvSpPr/>
          <p:nvPr/>
        </p:nvSpPr>
        <p:spPr>
          <a:xfrm>
            <a:off x="4832604" y="0"/>
            <a:ext cx="227457" cy="1024128"/>
          </a:xfrm>
          <a:prstGeom prst="rect">
            <a:avLst/>
          </a:prstGeom>
          <a:solidFill>
            <a:srgbClr val="193EBF"/>
          </a:solidFill>
          <a:ln w="12700">
            <a:solidFill>
              <a:srgbClr val="193EBF"/>
            </a:solidFill>
            <a:prstDash val="solid"/>
          </a:ln>
        </p:spPr>
        <p:txBody>
          <a:bodyPr/>
          <a:lstStyle/>
          <a:p>
            <a:endParaRPr lang="en-US"/>
          </a:p>
        </p:txBody>
      </p:sp>
      <p:sp>
        <p:nvSpPr>
          <p:cNvPr id="31" name="Shape 29"/>
          <p:cNvSpPr/>
          <p:nvPr/>
        </p:nvSpPr>
        <p:spPr>
          <a:xfrm>
            <a:off x="5005197" y="0"/>
            <a:ext cx="227457" cy="1024128"/>
          </a:xfrm>
          <a:prstGeom prst="rect">
            <a:avLst/>
          </a:prstGeom>
          <a:solidFill>
            <a:srgbClr val="193FC2"/>
          </a:solidFill>
          <a:ln w="12700">
            <a:solidFill>
              <a:srgbClr val="193FC2"/>
            </a:solidFill>
            <a:prstDash val="solid"/>
          </a:ln>
        </p:spPr>
        <p:txBody>
          <a:bodyPr/>
          <a:lstStyle/>
          <a:p>
            <a:endParaRPr lang="en-US"/>
          </a:p>
        </p:txBody>
      </p:sp>
      <p:sp>
        <p:nvSpPr>
          <p:cNvPr id="32" name="Shape 30"/>
          <p:cNvSpPr/>
          <p:nvPr/>
        </p:nvSpPr>
        <p:spPr>
          <a:xfrm>
            <a:off x="5177790" y="0"/>
            <a:ext cx="227457" cy="1024128"/>
          </a:xfrm>
          <a:prstGeom prst="rect">
            <a:avLst/>
          </a:prstGeom>
          <a:solidFill>
            <a:srgbClr val="1A40C5"/>
          </a:solidFill>
          <a:ln w="12700">
            <a:solidFill>
              <a:srgbClr val="1A40C5"/>
            </a:solidFill>
            <a:prstDash val="solid"/>
          </a:ln>
        </p:spPr>
        <p:txBody>
          <a:bodyPr/>
          <a:lstStyle/>
          <a:p>
            <a:endParaRPr lang="en-US"/>
          </a:p>
        </p:txBody>
      </p:sp>
      <p:sp>
        <p:nvSpPr>
          <p:cNvPr id="33" name="Shape 31"/>
          <p:cNvSpPr/>
          <p:nvPr/>
        </p:nvSpPr>
        <p:spPr>
          <a:xfrm>
            <a:off x="5350383" y="0"/>
            <a:ext cx="227457" cy="1024128"/>
          </a:xfrm>
          <a:prstGeom prst="rect">
            <a:avLst/>
          </a:prstGeom>
          <a:solidFill>
            <a:srgbClr val="1A41C8"/>
          </a:solidFill>
          <a:ln w="12700">
            <a:solidFill>
              <a:srgbClr val="1A41C8"/>
            </a:solidFill>
            <a:prstDash val="solid"/>
          </a:ln>
        </p:spPr>
        <p:txBody>
          <a:bodyPr/>
          <a:lstStyle/>
          <a:p>
            <a:endParaRPr lang="en-US"/>
          </a:p>
        </p:txBody>
      </p:sp>
      <p:sp>
        <p:nvSpPr>
          <p:cNvPr id="34" name="Shape 32"/>
          <p:cNvSpPr/>
          <p:nvPr/>
        </p:nvSpPr>
        <p:spPr>
          <a:xfrm>
            <a:off x="5522976" y="0"/>
            <a:ext cx="227457" cy="1024128"/>
          </a:xfrm>
          <a:prstGeom prst="rect">
            <a:avLst/>
          </a:prstGeom>
          <a:solidFill>
            <a:srgbClr val="1B42CC"/>
          </a:solidFill>
          <a:ln w="12700">
            <a:solidFill>
              <a:srgbClr val="1B42CC"/>
            </a:solidFill>
            <a:prstDash val="solid"/>
          </a:ln>
        </p:spPr>
        <p:txBody>
          <a:bodyPr/>
          <a:lstStyle/>
          <a:p>
            <a:endParaRPr lang="en-US"/>
          </a:p>
        </p:txBody>
      </p:sp>
      <p:sp>
        <p:nvSpPr>
          <p:cNvPr id="35" name="Shape 33"/>
          <p:cNvSpPr/>
          <p:nvPr/>
        </p:nvSpPr>
        <p:spPr>
          <a:xfrm>
            <a:off x="5695569" y="0"/>
            <a:ext cx="227457" cy="1024128"/>
          </a:xfrm>
          <a:prstGeom prst="rect">
            <a:avLst/>
          </a:prstGeom>
          <a:solidFill>
            <a:srgbClr val="1B43CF"/>
          </a:solidFill>
          <a:ln w="12700">
            <a:solidFill>
              <a:srgbClr val="1B43CF"/>
            </a:solidFill>
            <a:prstDash val="solid"/>
          </a:ln>
        </p:spPr>
        <p:txBody>
          <a:bodyPr/>
          <a:lstStyle/>
          <a:p>
            <a:endParaRPr lang="en-US"/>
          </a:p>
        </p:txBody>
      </p:sp>
      <p:sp>
        <p:nvSpPr>
          <p:cNvPr id="36" name="Shape 34"/>
          <p:cNvSpPr/>
          <p:nvPr/>
        </p:nvSpPr>
        <p:spPr>
          <a:xfrm>
            <a:off x="5868162" y="0"/>
            <a:ext cx="227457" cy="1024128"/>
          </a:xfrm>
          <a:prstGeom prst="rect">
            <a:avLst/>
          </a:prstGeom>
          <a:solidFill>
            <a:srgbClr val="1C44D2"/>
          </a:solidFill>
          <a:ln w="12700">
            <a:solidFill>
              <a:srgbClr val="1C44D2"/>
            </a:solidFill>
            <a:prstDash val="solid"/>
          </a:ln>
        </p:spPr>
        <p:txBody>
          <a:bodyPr/>
          <a:lstStyle/>
          <a:p>
            <a:endParaRPr lang="en-US"/>
          </a:p>
        </p:txBody>
      </p:sp>
      <p:sp>
        <p:nvSpPr>
          <p:cNvPr id="37" name="Shape 35"/>
          <p:cNvSpPr/>
          <p:nvPr/>
        </p:nvSpPr>
        <p:spPr>
          <a:xfrm>
            <a:off x="6040755" y="0"/>
            <a:ext cx="227457" cy="1024128"/>
          </a:xfrm>
          <a:prstGeom prst="rect">
            <a:avLst/>
          </a:prstGeom>
          <a:solidFill>
            <a:srgbClr val="1C45D5"/>
          </a:solidFill>
          <a:ln w="12700">
            <a:solidFill>
              <a:srgbClr val="1C45D5"/>
            </a:solidFill>
            <a:prstDash val="solid"/>
          </a:ln>
        </p:spPr>
        <p:txBody>
          <a:bodyPr/>
          <a:lstStyle/>
          <a:p>
            <a:endParaRPr lang="en-US"/>
          </a:p>
        </p:txBody>
      </p:sp>
      <p:sp>
        <p:nvSpPr>
          <p:cNvPr id="38" name="Shape 36"/>
          <p:cNvSpPr/>
          <p:nvPr/>
        </p:nvSpPr>
        <p:spPr>
          <a:xfrm>
            <a:off x="6213348" y="0"/>
            <a:ext cx="227457" cy="1024128"/>
          </a:xfrm>
          <a:prstGeom prst="rect">
            <a:avLst/>
          </a:prstGeom>
          <a:solidFill>
            <a:srgbClr val="1D46D8"/>
          </a:solidFill>
          <a:ln w="12700">
            <a:solidFill>
              <a:srgbClr val="1D46D8"/>
            </a:solidFill>
            <a:prstDash val="solid"/>
          </a:ln>
        </p:spPr>
        <p:txBody>
          <a:bodyPr/>
          <a:lstStyle/>
          <a:p>
            <a:endParaRPr lang="en-US"/>
          </a:p>
        </p:txBody>
      </p:sp>
      <p:sp>
        <p:nvSpPr>
          <p:cNvPr id="39" name="Shape 37"/>
          <p:cNvSpPr/>
          <p:nvPr/>
        </p:nvSpPr>
        <p:spPr>
          <a:xfrm>
            <a:off x="6385941" y="0"/>
            <a:ext cx="227457" cy="1024128"/>
          </a:xfrm>
          <a:prstGeom prst="rect">
            <a:avLst/>
          </a:prstGeom>
          <a:solidFill>
            <a:srgbClr val="1D47DC"/>
          </a:solidFill>
          <a:ln w="12700">
            <a:solidFill>
              <a:srgbClr val="1D47DC"/>
            </a:solidFill>
            <a:prstDash val="solid"/>
          </a:ln>
        </p:spPr>
        <p:txBody>
          <a:bodyPr/>
          <a:lstStyle/>
          <a:p>
            <a:endParaRPr lang="en-US"/>
          </a:p>
        </p:txBody>
      </p:sp>
      <p:sp>
        <p:nvSpPr>
          <p:cNvPr id="40" name="Shape 38"/>
          <p:cNvSpPr/>
          <p:nvPr/>
        </p:nvSpPr>
        <p:spPr>
          <a:xfrm>
            <a:off x="6558534" y="0"/>
            <a:ext cx="227457" cy="1024128"/>
          </a:xfrm>
          <a:prstGeom prst="rect">
            <a:avLst/>
          </a:prstGeom>
          <a:solidFill>
            <a:srgbClr val="1E48DF"/>
          </a:solidFill>
          <a:ln w="12700">
            <a:solidFill>
              <a:srgbClr val="1E48DF"/>
            </a:solidFill>
            <a:prstDash val="solid"/>
          </a:ln>
        </p:spPr>
        <p:txBody>
          <a:bodyPr/>
          <a:lstStyle/>
          <a:p>
            <a:endParaRPr lang="en-US"/>
          </a:p>
        </p:txBody>
      </p:sp>
      <p:sp>
        <p:nvSpPr>
          <p:cNvPr id="41" name="Shape 39"/>
          <p:cNvSpPr/>
          <p:nvPr/>
        </p:nvSpPr>
        <p:spPr>
          <a:xfrm>
            <a:off x="6731127" y="0"/>
            <a:ext cx="227457" cy="1024128"/>
          </a:xfrm>
          <a:prstGeom prst="rect">
            <a:avLst/>
          </a:prstGeom>
          <a:solidFill>
            <a:srgbClr val="1E49E2"/>
          </a:solidFill>
          <a:ln w="12700">
            <a:solidFill>
              <a:srgbClr val="1E49E2"/>
            </a:solidFill>
            <a:prstDash val="solid"/>
          </a:ln>
        </p:spPr>
        <p:txBody>
          <a:bodyPr/>
          <a:lstStyle/>
          <a:p>
            <a:endParaRPr lang="en-US"/>
          </a:p>
        </p:txBody>
      </p:sp>
      <p:sp>
        <p:nvSpPr>
          <p:cNvPr id="42" name="Text 40"/>
          <p:cNvSpPr/>
          <p:nvPr/>
        </p:nvSpPr>
        <p:spPr>
          <a:xfrm>
            <a:off x="411480" y="109728"/>
            <a:ext cx="6309360" cy="804672"/>
          </a:xfrm>
          <a:prstGeom prst="rect">
            <a:avLst/>
          </a:prstGeom>
          <a:noFill/>
          <a:ln/>
        </p:spPr>
        <p:txBody>
          <a:bodyPr wrap="square" lIns="0" tIns="0" rIns="0" bIns="0" rtlCol="0" anchor="ctr"/>
          <a:lstStyle/>
          <a:p>
            <a:pPr marL="0" indent="0">
              <a:lnSpc>
                <a:spcPct val="92000"/>
              </a:lnSpc>
              <a:buNone/>
            </a:pPr>
            <a:r>
              <a:rPr lang="en-US" sz="2500" b="1">
                <a:solidFill>
                  <a:srgbClr val="FFFFFF"/>
                </a:solidFill>
                <a:latin typeface="Arial" pitchFamily="34" charset="0"/>
                <a:ea typeface="Arial" pitchFamily="34" charset="-122"/>
                <a:cs typeface="Arial" pitchFamily="34" charset="-120"/>
              </a:rPr>
              <a:t>Fabric &amp; DevOps enablement</a:t>
            </a:r>
            <a:endParaRPr lang="en-US" sz="2500"/>
          </a:p>
          <a:p>
            <a:pPr marL="0" indent="0">
              <a:lnSpc>
                <a:spcPct val="92000"/>
              </a:lnSpc>
              <a:buNone/>
            </a:pPr>
            <a:r>
              <a:rPr lang="en-US" sz="2500" b="1">
                <a:solidFill>
                  <a:srgbClr val="FFFFFF"/>
                </a:solidFill>
                <a:latin typeface="Arial" pitchFamily="34" charset="0"/>
                <a:ea typeface="Arial" pitchFamily="34" charset="-122"/>
                <a:cs typeface="Arial" pitchFamily="34" charset="-120"/>
              </a:rPr>
              <a:t>Internal working session</a:t>
            </a:r>
            <a:endParaRPr lang="en-US" sz="2500"/>
          </a:p>
        </p:txBody>
      </p:sp>
      <p:sp>
        <p:nvSpPr>
          <p:cNvPr id="43" name="Text 41"/>
          <p:cNvSpPr/>
          <p:nvPr/>
        </p:nvSpPr>
        <p:spPr>
          <a:xfrm>
            <a:off x="7269480" y="219456"/>
            <a:ext cx="4572000" cy="548640"/>
          </a:xfrm>
          <a:prstGeom prst="rect">
            <a:avLst/>
          </a:prstGeom>
          <a:noFill/>
          <a:ln/>
        </p:spPr>
        <p:txBody>
          <a:bodyPr wrap="square" lIns="0" tIns="0" rIns="0" bIns="0" rtlCol="0" anchor="ctr"/>
          <a:lstStyle/>
          <a:p>
            <a:pPr marL="0" indent="0">
              <a:lnSpc>
                <a:spcPct val="105000"/>
              </a:lnSpc>
              <a:buNone/>
            </a:pPr>
            <a:r>
              <a:rPr lang="en-US" sz="1150" b="1">
                <a:solidFill>
                  <a:srgbClr val="00338D"/>
                </a:solidFill>
                <a:latin typeface="Arial" pitchFamily="34" charset="0"/>
                <a:ea typeface="Arial" pitchFamily="34" charset="-122"/>
                <a:cs typeface="Arial" pitchFamily="34" charset="-120"/>
              </a:rPr>
              <a:t>Internal only. Aligning on a one-day agenda and resolving open questions ahead of Friday’s call with Disney.</a:t>
            </a:r>
            <a:endParaRPr lang="en-US" sz="1150"/>
          </a:p>
        </p:txBody>
      </p:sp>
      <p:sp>
        <p:nvSpPr>
          <p:cNvPr id="44" name="Text 42"/>
          <p:cNvSpPr/>
          <p:nvPr/>
        </p:nvSpPr>
        <p:spPr>
          <a:xfrm>
            <a:off x="411480" y="1225296"/>
            <a:ext cx="3657600" cy="256032"/>
          </a:xfrm>
          <a:prstGeom prst="rect">
            <a:avLst/>
          </a:prstGeom>
          <a:noFill/>
          <a:ln/>
        </p:spPr>
        <p:txBody>
          <a:bodyPr wrap="square" lIns="0" tIns="0" rIns="0" bIns="0" rtlCol="0" anchor="ctr"/>
          <a:lstStyle/>
          <a:p>
            <a:pPr marL="0" indent="0">
              <a:buNone/>
            </a:pPr>
            <a:r>
              <a:rPr lang="en-US" sz="1350" b="1">
                <a:solidFill>
                  <a:srgbClr val="1E49E2"/>
                </a:solidFill>
                <a:latin typeface="Arial" pitchFamily="34" charset="0"/>
                <a:ea typeface="Arial" pitchFamily="34" charset="-122"/>
                <a:cs typeface="Arial" pitchFamily="34" charset="-120"/>
              </a:rPr>
              <a:t>Key dates</a:t>
            </a:r>
            <a:endParaRPr lang="en-US" sz="1350"/>
          </a:p>
        </p:txBody>
      </p:sp>
      <p:sp>
        <p:nvSpPr>
          <p:cNvPr id="45" name="Shape 43"/>
          <p:cNvSpPr/>
          <p:nvPr/>
        </p:nvSpPr>
        <p:spPr>
          <a:xfrm>
            <a:off x="411480" y="1554480"/>
            <a:ext cx="5751576" cy="932688"/>
          </a:xfrm>
          <a:prstGeom prst="rect">
            <a:avLst/>
          </a:prstGeom>
          <a:solidFill>
            <a:srgbClr val="F2F2F2"/>
          </a:solidFill>
          <a:ln w="12700">
            <a:solidFill>
              <a:srgbClr val="F2F2F2"/>
            </a:solidFill>
            <a:prstDash val="solid"/>
          </a:ln>
        </p:spPr>
        <p:txBody>
          <a:bodyPr/>
          <a:lstStyle/>
          <a:p>
            <a:endParaRPr lang="en-US"/>
          </a:p>
        </p:txBody>
      </p:sp>
      <p:sp>
        <p:nvSpPr>
          <p:cNvPr id="46" name="Shape 44"/>
          <p:cNvSpPr/>
          <p:nvPr/>
        </p:nvSpPr>
        <p:spPr>
          <a:xfrm>
            <a:off x="411480" y="1554480"/>
            <a:ext cx="5751576" cy="50292"/>
          </a:xfrm>
          <a:prstGeom prst="rect">
            <a:avLst/>
          </a:prstGeom>
          <a:solidFill>
            <a:srgbClr val="00338D"/>
          </a:solidFill>
          <a:ln w="12700">
            <a:solidFill>
              <a:srgbClr val="00338D"/>
            </a:solidFill>
            <a:prstDash val="solid"/>
          </a:ln>
        </p:spPr>
        <p:txBody>
          <a:bodyPr/>
          <a:lstStyle/>
          <a:p>
            <a:endParaRPr lang="en-US"/>
          </a:p>
        </p:txBody>
      </p:sp>
      <p:sp>
        <p:nvSpPr>
          <p:cNvPr id="47" name="Text 45"/>
          <p:cNvSpPr/>
          <p:nvPr/>
        </p:nvSpPr>
        <p:spPr>
          <a:xfrm>
            <a:off x="594360" y="1673352"/>
            <a:ext cx="5394960" cy="182880"/>
          </a:xfrm>
          <a:prstGeom prst="rect">
            <a:avLst/>
          </a:prstGeom>
          <a:noFill/>
          <a:ln/>
        </p:spPr>
        <p:txBody>
          <a:bodyPr wrap="square" lIns="0" tIns="0" rIns="0" bIns="0" rtlCol="0" anchor="ctr"/>
          <a:lstStyle/>
          <a:p>
            <a:pPr marL="0" indent="0">
              <a:buNone/>
            </a:pPr>
            <a:r>
              <a:rPr lang="en-US" sz="850" b="1" kern="0" spc="100">
                <a:solidFill>
                  <a:srgbClr val="00338D"/>
                </a:solidFill>
                <a:latin typeface="Arial" pitchFamily="34" charset="0"/>
                <a:ea typeface="Arial" pitchFamily="34" charset="-122"/>
                <a:cs typeface="Arial" pitchFamily="34" charset="-120"/>
              </a:rPr>
              <a:t>FRIDAY  ·  2:30 EST</a:t>
            </a:r>
            <a:endParaRPr lang="en-US" sz="850"/>
          </a:p>
        </p:txBody>
      </p:sp>
      <p:sp>
        <p:nvSpPr>
          <p:cNvPr id="48" name="Text 46"/>
          <p:cNvSpPr/>
          <p:nvPr/>
        </p:nvSpPr>
        <p:spPr>
          <a:xfrm>
            <a:off x="594360" y="1856232"/>
            <a:ext cx="5394960" cy="219456"/>
          </a:xfrm>
          <a:prstGeom prst="rect">
            <a:avLst/>
          </a:prstGeom>
          <a:noFill/>
          <a:ln/>
        </p:spPr>
        <p:txBody>
          <a:bodyPr wrap="square" lIns="0" tIns="0" rIns="0" bIns="0" rtlCol="0" anchor="ctr"/>
          <a:lstStyle/>
          <a:p>
            <a:pPr marL="0" indent="0">
              <a:buNone/>
            </a:pPr>
            <a:r>
              <a:rPr lang="en-US" sz="1250" b="1">
                <a:solidFill>
                  <a:srgbClr val="0B2265"/>
                </a:solidFill>
                <a:latin typeface="Arial" pitchFamily="34" charset="0"/>
                <a:ea typeface="Arial" pitchFamily="34" charset="-122"/>
                <a:cs typeface="Arial" pitchFamily="34" charset="-120"/>
              </a:rPr>
              <a:t>Full group call with Disney</a:t>
            </a:r>
            <a:endParaRPr lang="en-US" sz="1250"/>
          </a:p>
        </p:txBody>
      </p:sp>
      <p:sp>
        <p:nvSpPr>
          <p:cNvPr id="49" name="Text 47"/>
          <p:cNvSpPr/>
          <p:nvPr/>
        </p:nvSpPr>
        <p:spPr>
          <a:xfrm>
            <a:off x="594360" y="2093976"/>
            <a:ext cx="5394960" cy="347472"/>
          </a:xfrm>
          <a:prstGeom prst="rect">
            <a:avLst/>
          </a:prstGeom>
          <a:noFill/>
          <a:ln/>
        </p:spPr>
        <p:txBody>
          <a:bodyPr wrap="square" lIns="0" tIns="0" rIns="0" bIns="0" rtlCol="0" anchor="t"/>
          <a:lstStyle/>
          <a:p>
            <a:pPr marL="0" indent="0">
              <a:lnSpc>
                <a:spcPct val="100000"/>
              </a:lnSpc>
              <a:buNone/>
            </a:pPr>
            <a:r>
              <a:rPr lang="en-US" sz="860">
                <a:solidFill>
                  <a:srgbClr val="000000"/>
                </a:solidFill>
                <a:latin typeface="Arial" pitchFamily="34" charset="0"/>
                <a:ea typeface="Arial" pitchFamily="34" charset="-122"/>
                <a:cs typeface="Arial" pitchFamily="34" charset="-120"/>
              </a:rPr>
              <a:t>Introductions and a walk-through of the proposed agenda. This is the session where we validate scope with Garret, Alex, Mike and Johnny together.</a:t>
            </a:r>
            <a:endParaRPr lang="en-US" sz="860"/>
          </a:p>
        </p:txBody>
      </p:sp>
      <p:sp>
        <p:nvSpPr>
          <p:cNvPr id="50" name="Shape 48"/>
          <p:cNvSpPr/>
          <p:nvPr/>
        </p:nvSpPr>
        <p:spPr>
          <a:xfrm>
            <a:off x="6437376" y="1554480"/>
            <a:ext cx="5751576" cy="932688"/>
          </a:xfrm>
          <a:prstGeom prst="rect">
            <a:avLst/>
          </a:prstGeom>
          <a:solidFill>
            <a:srgbClr val="F2F2F2"/>
          </a:solidFill>
          <a:ln w="12700">
            <a:solidFill>
              <a:srgbClr val="F2F2F2"/>
            </a:solidFill>
            <a:prstDash val="solid"/>
          </a:ln>
        </p:spPr>
        <p:txBody>
          <a:bodyPr/>
          <a:lstStyle/>
          <a:p>
            <a:endParaRPr lang="en-US"/>
          </a:p>
        </p:txBody>
      </p:sp>
      <p:sp>
        <p:nvSpPr>
          <p:cNvPr id="51" name="Shape 49"/>
          <p:cNvSpPr/>
          <p:nvPr/>
        </p:nvSpPr>
        <p:spPr>
          <a:xfrm>
            <a:off x="6437376" y="1554480"/>
            <a:ext cx="5751576" cy="50292"/>
          </a:xfrm>
          <a:prstGeom prst="rect">
            <a:avLst/>
          </a:prstGeom>
          <a:solidFill>
            <a:srgbClr val="1E49E2"/>
          </a:solidFill>
          <a:ln w="12700">
            <a:solidFill>
              <a:srgbClr val="1E49E2"/>
            </a:solidFill>
            <a:prstDash val="solid"/>
          </a:ln>
        </p:spPr>
        <p:txBody>
          <a:bodyPr/>
          <a:lstStyle/>
          <a:p>
            <a:endParaRPr lang="en-US"/>
          </a:p>
        </p:txBody>
      </p:sp>
      <p:sp>
        <p:nvSpPr>
          <p:cNvPr id="52" name="Text 50"/>
          <p:cNvSpPr/>
          <p:nvPr/>
        </p:nvSpPr>
        <p:spPr>
          <a:xfrm>
            <a:off x="6620256" y="1673352"/>
            <a:ext cx="5394960" cy="182880"/>
          </a:xfrm>
          <a:prstGeom prst="rect">
            <a:avLst/>
          </a:prstGeom>
          <a:noFill/>
          <a:ln/>
        </p:spPr>
        <p:txBody>
          <a:bodyPr wrap="square" lIns="0" tIns="0" rIns="0" bIns="0" rtlCol="0" anchor="ctr"/>
          <a:lstStyle/>
          <a:p>
            <a:pPr marL="0" indent="0">
              <a:buNone/>
            </a:pPr>
            <a:r>
              <a:rPr lang="en-US" sz="850" b="1" kern="0" spc="100">
                <a:solidFill>
                  <a:srgbClr val="1E49E2"/>
                </a:solidFill>
                <a:latin typeface="Arial" pitchFamily="34" charset="0"/>
                <a:ea typeface="Arial" pitchFamily="34" charset="-122"/>
                <a:cs typeface="Arial" pitchFamily="34" charset="-120"/>
              </a:rPr>
              <a:t>MONDAY  ·  OCTOBER 19</a:t>
            </a:r>
            <a:endParaRPr lang="en-US" sz="850"/>
          </a:p>
        </p:txBody>
      </p:sp>
      <p:sp>
        <p:nvSpPr>
          <p:cNvPr id="53" name="Text 51"/>
          <p:cNvSpPr/>
          <p:nvPr/>
        </p:nvSpPr>
        <p:spPr>
          <a:xfrm>
            <a:off x="6620256" y="1856232"/>
            <a:ext cx="5394960" cy="219456"/>
          </a:xfrm>
          <a:prstGeom prst="rect">
            <a:avLst/>
          </a:prstGeom>
          <a:noFill/>
          <a:ln/>
        </p:spPr>
        <p:txBody>
          <a:bodyPr wrap="square" lIns="0" tIns="0" rIns="0" bIns="0" rtlCol="0" anchor="ctr"/>
          <a:lstStyle/>
          <a:p>
            <a:pPr marL="0" indent="0">
              <a:buNone/>
            </a:pPr>
            <a:r>
              <a:rPr lang="en-US" sz="1250" b="1">
                <a:solidFill>
                  <a:srgbClr val="0B2265"/>
                </a:solidFill>
                <a:latin typeface="Arial" pitchFamily="34" charset="0"/>
                <a:ea typeface="Arial" pitchFamily="34" charset="-122"/>
                <a:cs typeface="Arial" pitchFamily="34" charset="-120"/>
              </a:rPr>
              <a:t>Training delivered at Disney</a:t>
            </a:r>
            <a:endParaRPr lang="en-US" sz="1250"/>
          </a:p>
        </p:txBody>
      </p:sp>
      <p:sp>
        <p:nvSpPr>
          <p:cNvPr id="54" name="Text 52"/>
          <p:cNvSpPr/>
          <p:nvPr/>
        </p:nvSpPr>
        <p:spPr>
          <a:xfrm>
            <a:off x="6620256" y="2093976"/>
            <a:ext cx="5394960" cy="347472"/>
          </a:xfrm>
          <a:prstGeom prst="rect">
            <a:avLst/>
          </a:prstGeom>
          <a:noFill/>
          <a:ln/>
        </p:spPr>
        <p:txBody>
          <a:bodyPr wrap="square" lIns="0" tIns="0" rIns="0" bIns="0" rtlCol="0" anchor="t"/>
          <a:lstStyle/>
          <a:p>
            <a:pPr marL="0" indent="0">
              <a:lnSpc>
                <a:spcPct val="100000"/>
              </a:lnSpc>
              <a:buNone/>
            </a:pPr>
            <a:r>
              <a:rPr lang="en-US" sz="860">
                <a:solidFill>
                  <a:srgbClr val="000000"/>
                </a:solidFill>
                <a:latin typeface="Arial" pitchFamily="34" charset="0"/>
                <a:ea typeface="Arial" pitchFamily="34" charset="-122"/>
                <a:cs typeface="Arial" pitchFamily="34" charset="-120"/>
              </a:rPr>
              <a:t>Venue has moved — no longer Lakehouse. Disney will host now. </a:t>
            </a:r>
            <a:endParaRPr lang="en-US" sz="860"/>
          </a:p>
        </p:txBody>
      </p:sp>
      <p:sp>
        <p:nvSpPr>
          <p:cNvPr id="55" name="Text 53"/>
          <p:cNvSpPr/>
          <p:nvPr/>
        </p:nvSpPr>
        <p:spPr>
          <a:xfrm>
            <a:off x="411480" y="2670048"/>
            <a:ext cx="3657600" cy="256032"/>
          </a:xfrm>
          <a:prstGeom prst="rect">
            <a:avLst/>
          </a:prstGeom>
          <a:noFill/>
          <a:ln/>
        </p:spPr>
        <p:txBody>
          <a:bodyPr wrap="square" lIns="0" tIns="0" rIns="0" bIns="0" rtlCol="0" anchor="ctr"/>
          <a:lstStyle/>
          <a:p>
            <a:pPr marL="0" indent="0">
              <a:buNone/>
            </a:pPr>
            <a:r>
              <a:rPr lang="en-US" sz="1350" b="1">
                <a:solidFill>
                  <a:srgbClr val="1E49E2"/>
                </a:solidFill>
                <a:latin typeface="Arial" pitchFamily="34" charset="0"/>
                <a:ea typeface="Arial" pitchFamily="34" charset="-122"/>
                <a:cs typeface="Arial" pitchFamily="34" charset="-120"/>
              </a:rPr>
              <a:t>New proposed one-day agenda</a:t>
            </a:r>
            <a:endParaRPr lang="en-US" sz="1350"/>
          </a:p>
        </p:txBody>
      </p:sp>
      <p:sp>
        <p:nvSpPr>
          <p:cNvPr id="56" name="Shape 54"/>
          <p:cNvSpPr/>
          <p:nvPr/>
        </p:nvSpPr>
        <p:spPr>
          <a:xfrm>
            <a:off x="411480" y="2980944"/>
            <a:ext cx="6903720" cy="365760"/>
          </a:xfrm>
          <a:prstGeom prst="rect">
            <a:avLst/>
          </a:prstGeom>
          <a:solidFill>
            <a:srgbClr val="F2F2F2"/>
          </a:solidFill>
          <a:ln w="12700">
            <a:solidFill>
              <a:srgbClr val="F2F2F2"/>
            </a:solidFill>
            <a:prstDash val="solid"/>
          </a:ln>
        </p:spPr>
        <p:txBody>
          <a:bodyPr/>
          <a:lstStyle/>
          <a:p>
            <a:endParaRPr lang="en-US"/>
          </a:p>
        </p:txBody>
      </p:sp>
      <p:sp>
        <p:nvSpPr>
          <p:cNvPr id="57" name="Text 55"/>
          <p:cNvSpPr/>
          <p:nvPr/>
        </p:nvSpPr>
        <p:spPr>
          <a:xfrm>
            <a:off x="484632" y="3049524"/>
            <a:ext cx="274320" cy="237744"/>
          </a:xfrm>
          <a:prstGeom prst="rect">
            <a:avLst/>
          </a:prstGeom>
          <a:noFill/>
          <a:ln/>
        </p:spPr>
        <p:txBody>
          <a:bodyPr wrap="square" lIns="0" tIns="0" rIns="0" bIns="0" rtlCol="0" anchor="ctr"/>
          <a:lstStyle/>
          <a:p>
            <a:pPr marL="0" indent="0" algn="ctr">
              <a:buNone/>
            </a:pPr>
            <a:r>
              <a:rPr lang="en-US" sz="1200" b="1">
                <a:solidFill>
                  <a:srgbClr val="595959"/>
                </a:solidFill>
                <a:latin typeface="Arial" pitchFamily="34" charset="0"/>
                <a:ea typeface="Arial" pitchFamily="34" charset="-122"/>
                <a:cs typeface="Arial" pitchFamily="34" charset="-120"/>
              </a:rPr>
              <a:t>1</a:t>
            </a:r>
            <a:endParaRPr lang="en-US" sz="1200"/>
          </a:p>
        </p:txBody>
      </p:sp>
      <p:sp>
        <p:nvSpPr>
          <p:cNvPr id="58" name="Text 56"/>
          <p:cNvSpPr/>
          <p:nvPr/>
        </p:nvSpPr>
        <p:spPr>
          <a:xfrm>
            <a:off x="841248" y="3022092"/>
            <a:ext cx="283464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Kickoff and target state</a:t>
            </a:r>
            <a:endParaRPr lang="en-US" sz="1000"/>
          </a:p>
        </p:txBody>
      </p:sp>
      <p:sp>
        <p:nvSpPr>
          <p:cNvPr id="59" name="Text 57"/>
          <p:cNvSpPr/>
          <p:nvPr/>
        </p:nvSpPr>
        <p:spPr>
          <a:xfrm>
            <a:off x="841248" y="317754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Alteryx to Fabric to a user-facing output, end to end</a:t>
            </a:r>
            <a:endParaRPr lang="en-US" sz="830"/>
          </a:p>
        </p:txBody>
      </p:sp>
      <p:sp>
        <p:nvSpPr>
          <p:cNvPr id="60" name="Shape 58"/>
          <p:cNvSpPr/>
          <p:nvPr/>
        </p:nvSpPr>
        <p:spPr>
          <a:xfrm>
            <a:off x="6263640" y="3076956"/>
            <a:ext cx="960120" cy="192024"/>
          </a:xfrm>
          <a:prstGeom prst="rect">
            <a:avLst/>
          </a:prstGeom>
          <a:solidFill>
            <a:srgbClr val="595959"/>
          </a:solidFill>
          <a:ln w="12700">
            <a:solidFill>
              <a:srgbClr val="595959"/>
            </a:solidFill>
            <a:prstDash val="solid"/>
          </a:ln>
        </p:spPr>
        <p:txBody>
          <a:bodyPr/>
          <a:lstStyle/>
          <a:p>
            <a:endParaRPr lang="en-US"/>
          </a:p>
        </p:txBody>
      </p:sp>
      <p:sp>
        <p:nvSpPr>
          <p:cNvPr id="61" name="Text 59"/>
          <p:cNvSpPr/>
          <p:nvPr/>
        </p:nvSpPr>
        <p:spPr>
          <a:xfrm>
            <a:off x="6263640" y="308884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RECAP</a:t>
            </a:r>
            <a:endParaRPr lang="en-US" sz="680"/>
          </a:p>
        </p:txBody>
      </p:sp>
      <p:sp>
        <p:nvSpPr>
          <p:cNvPr id="62" name="Text 60"/>
          <p:cNvSpPr/>
          <p:nvPr/>
        </p:nvSpPr>
        <p:spPr>
          <a:xfrm>
            <a:off x="484632" y="3415284"/>
            <a:ext cx="274320" cy="237744"/>
          </a:xfrm>
          <a:prstGeom prst="rect">
            <a:avLst/>
          </a:prstGeom>
          <a:noFill/>
          <a:ln/>
        </p:spPr>
        <p:txBody>
          <a:bodyPr wrap="square" lIns="0" tIns="0" rIns="0" bIns="0" rtlCol="0" anchor="ctr"/>
          <a:lstStyle/>
          <a:p>
            <a:pPr marL="0" indent="0" algn="ctr">
              <a:buNone/>
            </a:pPr>
            <a:r>
              <a:rPr lang="en-US" sz="1200" b="1">
                <a:solidFill>
                  <a:srgbClr val="595959"/>
                </a:solidFill>
                <a:latin typeface="Arial" pitchFamily="34" charset="0"/>
                <a:ea typeface="Arial" pitchFamily="34" charset="-122"/>
                <a:cs typeface="Arial" pitchFamily="34" charset="-120"/>
              </a:rPr>
              <a:t>2</a:t>
            </a:r>
            <a:endParaRPr lang="en-US" sz="1200"/>
          </a:p>
        </p:txBody>
      </p:sp>
      <p:sp>
        <p:nvSpPr>
          <p:cNvPr id="63" name="Text 61"/>
          <p:cNvSpPr/>
          <p:nvPr/>
        </p:nvSpPr>
        <p:spPr>
          <a:xfrm>
            <a:off x="841248" y="3387852"/>
            <a:ext cx="283464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Fabric foundation</a:t>
            </a:r>
            <a:endParaRPr lang="en-US" sz="1000"/>
          </a:p>
        </p:txBody>
      </p:sp>
      <p:sp>
        <p:nvSpPr>
          <p:cNvPr id="64" name="Text 62"/>
          <p:cNvSpPr/>
          <p:nvPr/>
        </p:nvSpPr>
        <p:spPr>
          <a:xfrm>
            <a:off x="841248" y="354330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OneLake, workspaces, Lakehouse, Warehouse, Direct Lake</a:t>
            </a:r>
            <a:endParaRPr lang="en-US" sz="830"/>
          </a:p>
        </p:txBody>
      </p:sp>
      <p:sp>
        <p:nvSpPr>
          <p:cNvPr id="65" name="Shape 63"/>
          <p:cNvSpPr/>
          <p:nvPr/>
        </p:nvSpPr>
        <p:spPr>
          <a:xfrm>
            <a:off x="6263640" y="3442716"/>
            <a:ext cx="960120" cy="192024"/>
          </a:xfrm>
          <a:prstGeom prst="rect">
            <a:avLst/>
          </a:prstGeom>
          <a:solidFill>
            <a:srgbClr val="595959"/>
          </a:solidFill>
          <a:ln w="12700">
            <a:solidFill>
              <a:srgbClr val="595959"/>
            </a:solidFill>
            <a:prstDash val="solid"/>
          </a:ln>
        </p:spPr>
        <p:txBody>
          <a:bodyPr/>
          <a:lstStyle/>
          <a:p>
            <a:endParaRPr lang="en-US"/>
          </a:p>
        </p:txBody>
      </p:sp>
      <p:sp>
        <p:nvSpPr>
          <p:cNvPr id="66" name="Text 64"/>
          <p:cNvSpPr/>
          <p:nvPr/>
        </p:nvSpPr>
        <p:spPr>
          <a:xfrm>
            <a:off x="6263640" y="345460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RECAP</a:t>
            </a:r>
            <a:endParaRPr lang="en-US" sz="680"/>
          </a:p>
        </p:txBody>
      </p:sp>
      <p:sp>
        <p:nvSpPr>
          <p:cNvPr id="67" name="Shape 65"/>
          <p:cNvSpPr/>
          <p:nvPr/>
        </p:nvSpPr>
        <p:spPr>
          <a:xfrm>
            <a:off x="411480" y="3712464"/>
            <a:ext cx="6903720" cy="365760"/>
          </a:xfrm>
          <a:prstGeom prst="rect">
            <a:avLst/>
          </a:prstGeom>
          <a:solidFill>
            <a:srgbClr val="F2F2F2"/>
          </a:solidFill>
          <a:ln w="12700">
            <a:solidFill>
              <a:srgbClr val="F2F2F2"/>
            </a:solidFill>
            <a:prstDash val="solid"/>
          </a:ln>
        </p:spPr>
        <p:txBody>
          <a:bodyPr/>
          <a:lstStyle/>
          <a:p>
            <a:endParaRPr lang="en-US"/>
          </a:p>
        </p:txBody>
      </p:sp>
      <p:sp>
        <p:nvSpPr>
          <p:cNvPr id="68" name="Text 66"/>
          <p:cNvSpPr/>
          <p:nvPr/>
        </p:nvSpPr>
        <p:spPr>
          <a:xfrm>
            <a:off x="484632" y="378104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3</a:t>
            </a:r>
            <a:endParaRPr lang="en-US" sz="1200"/>
          </a:p>
        </p:txBody>
      </p:sp>
      <p:sp>
        <p:nvSpPr>
          <p:cNvPr id="69" name="Text 67"/>
          <p:cNvSpPr/>
          <p:nvPr/>
        </p:nvSpPr>
        <p:spPr>
          <a:xfrm>
            <a:off x="841248" y="3753612"/>
            <a:ext cx="283464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Data engineering</a:t>
            </a:r>
            <a:endParaRPr lang="en-US" sz="1000"/>
          </a:p>
        </p:txBody>
      </p:sp>
      <p:sp>
        <p:nvSpPr>
          <p:cNvPr id="70" name="Text 68"/>
          <p:cNvSpPr/>
          <p:nvPr/>
        </p:nvSpPr>
        <p:spPr>
          <a:xfrm>
            <a:off x="841248" y="390906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Pipelines, notebooks, shortcuts, medallion — mapped to Alteryx patterns</a:t>
            </a:r>
            <a:endParaRPr lang="en-US" sz="830"/>
          </a:p>
        </p:txBody>
      </p:sp>
      <p:sp>
        <p:nvSpPr>
          <p:cNvPr id="71" name="Shape 69"/>
          <p:cNvSpPr/>
          <p:nvPr/>
        </p:nvSpPr>
        <p:spPr>
          <a:xfrm>
            <a:off x="6263640" y="3808476"/>
            <a:ext cx="960120" cy="192024"/>
          </a:xfrm>
          <a:prstGeom prst="rect">
            <a:avLst/>
          </a:prstGeom>
          <a:solidFill>
            <a:srgbClr val="00338D"/>
          </a:solidFill>
          <a:ln w="12700">
            <a:solidFill>
              <a:srgbClr val="00338D"/>
            </a:solidFill>
            <a:prstDash val="solid"/>
          </a:ln>
        </p:spPr>
        <p:txBody>
          <a:bodyPr/>
          <a:lstStyle/>
          <a:p>
            <a:endParaRPr lang="en-US"/>
          </a:p>
        </p:txBody>
      </p:sp>
      <p:sp>
        <p:nvSpPr>
          <p:cNvPr id="72" name="Text 70"/>
          <p:cNvSpPr/>
          <p:nvPr/>
        </p:nvSpPr>
        <p:spPr>
          <a:xfrm>
            <a:off x="6263640" y="382036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NET-NEW</a:t>
            </a:r>
            <a:endParaRPr lang="en-US" sz="680"/>
          </a:p>
        </p:txBody>
      </p:sp>
      <p:sp>
        <p:nvSpPr>
          <p:cNvPr id="73" name="Text 71"/>
          <p:cNvSpPr/>
          <p:nvPr/>
        </p:nvSpPr>
        <p:spPr>
          <a:xfrm>
            <a:off x="484632" y="414680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4</a:t>
            </a:r>
            <a:endParaRPr lang="en-US" sz="1200"/>
          </a:p>
        </p:txBody>
      </p:sp>
      <p:sp>
        <p:nvSpPr>
          <p:cNvPr id="74" name="Text 72"/>
          <p:cNvSpPr/>
          <p:nvPr/>
        </p:nvSpPr>
        <p:spPr>
          <a:xfrm>
            <a:off x="841248" y="4119372"/>
            <a:ext cx="283464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Alteryx to Fabric migration patterns</a:t>
            </a:r>
            <a:endParaRPr lang="en-US" sz="1000"/>
          </a:p>
        </p:txBody>
      </p:sp>
      <p:sp>
        <p:nvSpPr>
          <p:cNvPr id="75" name="Text 73"/>
          <p:cNvSpPr/>
          <p:nvPr/>
        </p:nvSpPr>
        <p:spPr>
          <a:xfrm>
            <a:off x="841248" y="427482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Decomposing a real workflow: pipeline, notebook or parameter</a:t>
            </a:r>
            <a:endParaRPr lang="en-US" sz="830"/>
          </a:p>
        </p:txBody>
      </p:sp>
      <p:sp>
        <p:nvSpPr>
          <p:cNvPr id="76" name="Shape 74"/>
          <p:cNvSpPr/>
          <p:nvPr/>
        </p:nvSpPr>
        <p:spPr>
          <a:xfrm>
            <a:off x="6263640" y="4174236"/>
            <a:ext cx="960120" cy="192024"/>
          </a:xfrm>
          <a:prstGeom prst="rect">
            <a:avLst/>
          </a:prstGeom>
          <a:solidFill>
            <a:srgbClr val="00338D"/>
          </a:solidFill>
          <a:ln w="12700">
            <a:solidFill>
              <a:srgbClr val="00338D"/>
            </a:solidFill>
            <a:prstDash val="solid"/>
          </a:ln>
        </p:spPr>
        <p:txBody>
          <a:bodyPr/>
          <a:lstStyle/>
          <a:p>
            <a:endParaRPr lang="en-US"/>
          </a:p>
        </p:txBody>
      </p:sp>
      <p:sp>
        <p:nvSpPr>
          <p:cNvPr id="77" name="Text 75"/>
          <p:cNvSpPr/>
          <p:nvPr/>
        </p:nvSpPr>
        <p:spPr>
          <a:xfrm>
            <a:off x="6263640" y="418612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NET-NEW</a:t>
            </a:r>
            <a:endParaRPr lang="en-US" sz="680"/>
          </a:p>
        </p:txBody>
      </p:sp>
      <p:sp>
        <p:nvSpPr>
          <p:cNvPr id="78" name="Shape 76"/>
          <p:cNvSpPr/>
          <p:nvPr/>
        </p:nvSpPr>
        <p:spPr>
          <a:xfrm>
            <a:off x="411480" y="4443984"/>
            <a:ext cx="6903720" cy="365760"/>
          </a:xfrm>
          <a:prstGeom prst="rect">
            <a:avLst/>
          </a:prstGeom>
          <a:solidFill>
            <a:srgbClr val="F2F2F2"/>
          </a:solidFill>
          <a:ln w="12700">
            <a:solidFill>
              <a:srgbClr val="F2F2F2"/>
            </a:solidFill>
            <a:prstDash val="solid"/>
          </a:ln>
        </p:spPr>
        <p:txBody>
          <a:bodyPr/>
          <a:lstStyle/>
          <a:p>
            <a:endParaRPr lang="en-US"/>
          </a:p>
        </p:txBody>
      </p:sp>
      <p:sp>
        <p:nvSpPr>
          <p:cNvPr id="79" name="Text 77"/>
          <p:cNvSpPr/>
          <p:nvPr/>
        </p:nvSpPr>
        <p:spPr>
          <a:xfrm>
            <a:off x="484632" y="451256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5</a:t>
            </a:r>
            <a:endParaRPr lang="en-US" sz="1200">
              <a:solidFill>
                <a:srgbClr val="00338D"/>
              </a:solidFill>
            </a:endParaRPr>
          </a:p>
        </p:txBody>
      </p:sp>
      <p:sp>
        <p:nvSpPr>
          <p:cNvPr id="80" name="Text 78"/>
          <p:cNvSpPr/>
          <p:nvPr/>
        </p:nvSpPr>
        <p:spPr>
          <a:xfrm>
            <a:off x="841248" y="4485132"/>
            <a:ext cx="283464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User-facing experiences on Fabric</a:t>
            </a:r>
            <a:endParaRPr lang="en-US" sz="1000"/>
          </a:p>
        </p:txBody>
      </p:sp>
      <p:sp>
        <p:nvSpPr>
          <p:cNvPr id="81" name="Text 79"/>
          <p:cNvSpPr/>
          <p:nvPr/>
        </p:nvSpPr>
        <p:spPr>
          <a:xfrm>
            <a:off x="841248" y="464058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The spectrum: input capture, triggering pipelines, monitoring, returning results</a:t>
            </a:r>
            <a:endParaRPr lang="en-US" sz="830"/>
          </a:p>
        </p:txBody>
      </p:sp>
      <p:sp>
        <p:nvSpPr>
          <p:cNvPr id="82" name="Shape 80"/>
          <p:cNvSpPr/>
          <p:nvPr/>
        </p:nvSpPr>
        <p:spPr>
          <a:xfrm>
            <a:off x="6263640" y="4539996"/>
            <a:ext cx="960120" cy="192024"/>
          </a:xfrm>
          <a:prstGeom prst="rect">
            <a:avLst/>
          </a:prstGeom>
          <a:solidFill>
            <a:srgbClr val="00338D"/>
          </a:solidFill>
          <a:ln w="12700">
            <a:solidFill>
              <a:srgbClr val="00338D"/>
            </a:solidFill>
            <a:prstDash val="solid"/>
          </a:ln>
        </p:spPr>
        <p:txBody>
          <a:bodyPr/>
          <a:lstStyle/>
          <a:p>
            <a:endParaRPr lang="en-US"/>
          </a:p>
        </p:txBody>
      </p:sp>
      <p:sp>
        <p:nvSpPr>
          <p:cNvPr id="83" name="Text 81"/>
          <p:cNvSpPr/>
          <p:nvPr/>
        </p:nvSpPr>
        <p:spPr>
          <a:xfrm>
            <a:off x="6263640" y="4551883"/>
            <a:ext cx="960120" cy="173736"/>
          </a:xfrm>
          <a:prstGeom prst="rect">
            <a:avLst/>
          </a:prstGeom>
          <a:noFill/>
          <a:ln/>
        </p:spPr>
        <p:txBody>
          <a:bodyPr wrap="square" lIns="0" tIns="0" rIns="0" bIns="0" rtlCol="0" anchor="ctr"/>
          <a:lstStyle/>
          <a:p>
            <a:pPr algn="ctr"/>
            <a:r>
              <a:rPr lang="en-US" sz="680" b="1" kern="0" spc="50">
                <a:solidFill>
                  <a:srgbClr val="FFFFFF"/>
                </a:solidFill>
                <a:latin typeface="Arial" pitchFamily="34" charset="0"/>
                <a:ea typeface="Arial" pitchFamily="34" charset="-122"/>
                <a:cs typeface="Arial" pitchFamily="34" charset="-120"/>
              </a:rPr>
              <a:t>NET-NEW</a:t>
            </a:r>
            <a:endParaRPr lang="en-US" sz="680"/>
          </a:p>
        </p:txBody>
      </p:sp>
      <p:sp>
        <p:nvSpPr>
          <p:cNvPr id="84" name="Text 82"/>
          <p:cNvSpPr/>
          <p:nvPr/>
        </p:nvSpPr>
        <p:spPr>
          <a:xfrm>
            <a:off x="484632" y="487832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6</a:t>
            </a:r>
            <a:endParaRPr lang="en-US" sz="1200">
              <a:solidFill>
                <a:srgbClr val="00338D"/>
              </a:solidFill>
            </a:endParaRPr>
          </a:p>
        </p:txBody>
      </p:sp>
      <p:sp>
        <p:nvSpPr>
          <p:cNvPr id="85" name="Text 83"/>
          <p:cNvSpPr/>
          <p:nvPr/>
        </p:nvSpPr>
        <p:spPr>
          <a:xfrm>
            <a:off x="841248" y="4850892"/>
            <a:ext cx="283464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DevOps and deployment</a:t>
            </a:r>
            <a:endParaRPr lang="en-US" sz="1000"/>
          </a:p>
        </p:txBody>
      </p:sp>
      <p:sp>
        <p:nvSpPr>
          <p:cNvPr id="86" name="Text 84"/>
          <p:cNvSpPr/>
          <p:nvPr/>
        </p:nvSpPr>
        <p:spPr>
          <a:xfrm>
            <a:off x="841248" y="500634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Git, branching, CI/CD, Dev / Test / Prod, monitoring, the Process Canon model</a:t>
            </a:r>
            <a:endParaRPr lang="en-US" sz="830"/>
          </a:p>
        </p:txBody>
      </p:sp>
      <p:sp>
        <p:nvSpPr>
          <p:cNvPr id="87" name="Shape 85"/>
          <p:cNvSpPr/>
          <p:nvPr/>
        </p:nvSpPr>
        <p:spPr>
          <a:xfrm>
            <a:off x="6263640" y="4905756"/>
            <a:ext cx="960120" cy="192024"/>
          </a:xfrm>
          <a:prstGeom prst="rect">
            <a:avLst/>
          </a:prstGeom>
          <a:solidFill>
            <a:srgbClr val="00338D"/>
          </a:solidFill>
          <a:ln w="12700">
            <a:solidFill>
              <a:srgbClr val="00338D"/>
            </a:solidFill>
            <a:prstDash val="solid"/>
          </a:ln>
        </p:spPr>
        <p:txBody>
          <a:bodyPr/>
          <a:lstStyle/>
          <a:p>
            <a:endParaRPr lang="en-US"/>
          </a:p>
        </p:txBody>
      </p:sp>
      <p:sp>
        <p:nvSpPr>
          <p:cNvPr id="88" name="Text 86"/>
          <p:cNvSpPr/>
          <p:nvPr/>
        </p:nvSpPr>
        <p:spPr>
          <a:xfrm>
            <a:off x="6263640" y="4917643"/>
            <a:ext cx="960120" cy="173736"/>
          </a:xfrm>
          <a:prstGeom prst="rect">
            <a:avLst/>
          </a:prstGeom>
          <a:noFill/>
          <a:ln/>
        </p:spPr>
        <p:txBody>
          <a:bodyPr wrap="square" lIns="0" tIns="0" rIns="0" bIns="0" rtlCol="0" anchor="ctr"/>
          <a:lstStyle/>
          <a:p>
            <a:pPr algn="ctr"/>
            <a:r>
              <a:rPr lang="en-US" sz="680" b="1" kern="0" spc="50">
                <a:solidFill>
                  <a:srgbClr val="FFFFFF"/>
                </a:solidFill>
                <a:latin typeface="Arial" pitchFamily="34" charset="0"/>
                <a:ea typeface="Arial" pitchFamily="34" charset="-122"/>
                <a:cs typeface="Arial" pitchFamily="34" charset="-120"/>
              </a:rPr>
              <a:t>NET-NEW</a:t>
            </a:r>
            <a:endParaRPr lang="en-US" sz="680"/>
          </a:p>
        </p:txBody>
      </p:sp>
      <p:sp>
        <p:nvSpPr>
          <p:cNvPr id="89" name="Shape 87"/>
          <p:cNvSpPr/>
          <p:nvPr/>
        </p:nvSpPr>
        <p:spPr>
          <a:xfrm>
            <a:off x="411480" y="5175504"/>
            <a:ext cx="6903720" cy="365760"/>
          </a:xfrm>
          <a:prstGeom prst="rect">
            <a:avLst/>
          </a:prstGeom>
          <a:solidFill>
            <a:srgbClr val="F2F2F2"/>
          </a:solidFill>
          <a:ln w="12700">
            <a:solidFill>
              <a:srgbClr val="F2F2F2"/>
            </a:solidFill>
            <a:prstDash val="solid"/>
          </a:ln>
        </p:spPr>
        <p:txBody>
          <a:bodyPr/>
          <a:lstStyle/>
          <a:p>
            <a:endParaRPr lang="en-US"/>
          </a:p>
        </p:txBody>
      </p:sp>
      <p:sp>
        <p:nvSpPr>
          <p:cNvPr id="90" name="Text 88"/>
          <p:cNvSpPr/>
          <p:nvPr/>
        </p:nvSpPr>
        <p:spPr>
          <a:xfrm>
            <a:off x="484632" y="5244084"/>
            <a:ext cx="274320" cy="237744"/>
          </a:xfrm>
          <a:prstGeom prst="rect">
            <a:avLst/>
          </a:prstGeom>
          <a:noFill/>
          <a:ln/>
        </p:spPr>
        <p:txBody>
          <a:bodyPr wrap="square" lIns="0" tIns="0" rIns="0" bIns="0" rtlCol="0" anchor="ctr"/>
          <a:lstStyle/>
          <a:p>
            <a:pPr marL="0" indent="0" algn="ctr">
              <a:buNone/>
            </a:pPr>
            <a:r>
              <a:rPr lang="en-US" sz="1200" b="1">
                <a:solidFill>
                  <a:srgbClr val="00338D"/>
                </a:solidFill>
                <a:latin typeface="Arial" pitchFamily="34" charset="0"/>
                <a:ea typeface="Arial" pitchFamily="34" charset="-122"/>
                <a:cs typeface="Arial" pitchFamily="34" charset="-120"/>
              </a:rPr>
              <a:t>7</a:t>
            </a:r>
            <a:endParaRPr lang="en-US" sz="1200"/>
          </a:p>
        </p:txBody>
      </p:sp>
      <p:sp>
        <p:nvSpPr>
          <p:cNvPr id="91" name="Text 89"/>
          <p:cNvSpPr/>
          <p:nvPr/>
        </p:nvSpPr>
        <p:spPr>
          <a:xfrm>
            <a:off x="841248" y="5216652"/>
            <a:ext cx="283464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AI and agent integration</a:t>
            </a:r>
            <a:endParaRPr lang="en-US" sz="1000"/>
          </a:p>
        </p:txBody>
      </p:sp>
      <p:sp>
        <p:nvSpPr>
          <p:cNvPr id="92" name="Text 90"/>
          <p:cNvSpPr/>
          <p:nvPr/>
        </p:nvSpPr>
        <p:spPr>
          <a:xfrm>
            <a:off x="841248" y="537210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Fabric Data Agents, Copilot, Claude-based development standards, grounding</a:t>
            </a:r>
            <a:endParaRPr lang="en-US" sz="830"/>
          </a:p>
        </p:txBody>
      </p:sp>
      <p:sp>
        <p:nvSpPr>
          <p:cNvPr id="93" name="Shape 91"/>
          <p:cNvSpPr/>
          <p:nvPr/>
        </p:nvSpPr>
        <p:spPr>
          <a:xfrm>
            <a:off x="6263640" y="5271516"/>
            <a:ext cx="960120" cy="192024"/>
          </a:xfrm>
          <a:prstGeom prst="rect">
            <a:avLst/>
          </a:prstGeom>
          <a:solidFill>
            <a:srgbClr val="00338D"/>
          </a:solidFill>
          <a:ln w="12700">
            <a:solidFill>
              <a:srgbClr val="00338D"/>
            </a:solidFill>
            <a:prstDash val="solid"/>
          </a:ln>
        </p:spPr>
        <p:txBody>
          <a:bodyPr/>
          <a:lstStyle/>
          <a:p>
            <a:endParaRPr lang="en-US"/>
          </a:p>
        </p:txBody>
      </p:sp>
      <p:sp>
        <p:nvSpPr>
          <p:cNvPr id="94" name="Text 92"/>
          <p:cNvSpPr/>
          <p:nvPr/>
        </p:nvSpPr>
        <p:spPr>
          <a:xfrm>
            <a:off x="6263640" y="528340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NET-NEW</a:t>
            </a:r>
            <a:endParaRPr lang="en-US" sz="680"/>
          </a:p>
        </p:txBody>
      </p:sp>
      <p:sp>
        <p:nvSpPr>
          <p:cNvPr id="95" name="Text 93"/>
          <p:cNvSpPr/>
          <p:nvPr/>
        </p:nvSpPr>
        <p:spPr>
          <a:xfrm>
            <a:off x="484632" y="5609844"/>
            <a:ext cx="274320" cy="237744"/>
          </a:xfrm>
          <a:prstGeom prst="rect">
            <a:avLst/>
          </a:prstGeom>
          <a:noFill/>
          <a:ln/>
        </p:spPr>
        <p:txBody>
          <a:bodyPr wrap="square" lIns="0" tIns="0" rIns="0" bIns="0" rtlCol="0" anchor="ctr"/>
          <a:lstStyle/>
          <a:p>
            <a:pPr marL="0" indent="0" algn="ctr">
              <a:buNone/>
            </a:pPr>
            <a:r>
              <a:rPr lang="en-US" sz="1200" b="1">
                <a:solidFill>
                  <a:srgbClr val="00B8F5"/>
                </a:solidFill>
                <a:latin typeface="Arial" pitchFamily="34" charset="0"/>
                <a:ea typeface="Arial" pitchFamily="34" charset="-122"/>
                <a:cs typeface="Arial" pitchFamily="34" charset="-120"/>
              </a:rPr>
              <a:t>8</a:t>
            </a:r>
            <a:endParaRPr lang="en-US" sz="1200"/>
          </a:p>
        </p:txBody>
      </p:sp>
      <p:sp>
        <p:nvSpPr>
          <p:cNvPr id="96" name="Text 94"/>
          <p:cNvSpPr/>
          <p:nvPr/>
        </p:nvSpPr>
        <p:spPr>
          <a:xfrm>
            <a:off x="841248" y="5582412"/>
            <a:ext cx="2834640" cy="182880"/>
          </a:xfrm>
          <a:prstGeom prst="rect">
            <a:avLst/>
          </a:prstGeom>
          <a:noFill/>
          <a:ln/>
        </p:spPr>
        <p:txBody>
          <a:bodyPr wrap="square" lIns="0" tIns="0" rIns="0" bIns="0" rtlCol="0" anchor="ctr"/>
          <a:lstStyle/>
          <a:p>
            <a:pPr marL="0" indent="0">
              <a:buNone/>
            </a:pPr>
            <a:r>
              <a:rPr lang="en-US" sz="1000" b="1">
                <a:solidFill>
                  <a:srgbClr val="0B2265"/>
                </a:solidFill>
                <a:latin typeface="Arial" pitchFamily="34" charset="0"/>
                <a:ea typeface="Arial" pitchFamily="34" charset="-122"/>
                <a:cs typeface="Arial" pitchFamily="34" charset="-120"/>
              </a:rPr>
              <a:t>Hands on lab</a:t>
            </a:r>
            <a:endParaRPr lang="en-US" sz="1000"/>
          </a:p>
        </p:txBody>
      </p:sp>
      <p:sp>
        <p:nvSpPr>
          <p:cNvPr id="97" name="Text 95"/>
          <p:cNvSpPr/>
          <p:nvPr/>
        </p:nvSpPr>
        <p:spPr>
          <a:xfrm>
            <a:off x="841248" y="5737860"/>
            <a:ext cx="5074920" cy="164592"/>
          </a:xfrm>
          <a:prstGeom prst="rect">
            <a:avLst/>
          </a:prstGeom>
          <a:noFill/>
          <a:ln/>
        </p:spPr>
        <p:txBody>
          <a:bodyPr wrap="square" lIns="0" tIns="0" rIns="0" bIns="0" rtlCol="0" anchor="t"/>
          <a:lstStyle/>
          <a:p>
            <a:pPr marL="0" indent="0">
              <a:buNone/>
            </a:pPr>
            <a:r>
              <a:rPr lang="en-US" sz="830">
                <a:solidFill>
                  <a:srgbClr val="000000"/>
                </a:solidFill>
                <a:latin typeface="Arial" pitchFamily="34" charset="0"/>
                <a:ea typeface="Arial" pitchFamily="34" charset="-122"/>
                <a:cs typeface="Arial" pitchFamily="34" charset="-120"/>
              </a:rPr>
              <a:t>Their workflow: source to Fabric to a triggered run, shipped through a pipeline</a:t>
            </a:r>
            <a:endParaRPr lang="en-US" sz="830"/>
          </a:p>
        </p:txBody>
      </p:sp>
      <p:sp>
        <p:nvSpPr>
          <p:cNvPr id="98" name="Shape 96"/>
          <p:cNvSpPr/>
          <p:nvPr/>
        </p:nvSpPr>
        <p:spPr>
          <a:xfrm>
            <a:off x="6263640" y="5637276"/>
            <a:ext cx="960120" cy="192024"/>
          </a:xfrm>
          <a:prstGeom prst="rect">
            <a:avLst/>
          </a:prstGeom>
          <a:solidFill>
            <a:srgbClr val="00B8F5"/>
          </a:solidFill>
          <a:ln w="12700">
            <a:solidFill>
              <a:srgbClr val="00B8F5"/>
            </a:solidFill>
            <a:prstDash val="solid"/>
          </a:ln>
        </p:spPr>
        <p:txBody>
          <a:bodyPr/>
          <a:lstStyle/>
          <a:p>
            <a:endParaRPr lang="en-US"/>
          </a:p>
        </p:txBody>
      </p:sp>
      <p:sp>
        <p:nvSpPr>
          <p:cNvPr id="99" name="Text 97"/>
          <p:cNvSpPr/>
          <p:nvPr/>
        </p:nvSpPr>
        <p:spPr>
          <a:xfrm>
            <a:off x="6263640" y="5649163"/>
            <a:ext cx="960120" cy="173736"/>
          </a:xfrm>
          <a:prstGeom prst="rect">
            <a:avLst/>
          </a:prstGeom>
          <a:noFill/>
          <a:ln/>
        </p:spPr>
        <p:txBody>
          <a:bodyPr wrap="square" lIns="0" tIns="0" rIns="0" bIns="0" rtlCol="0" anchor="ctr"/>
          <a:lstStyle/>
          <a:p>
            <a:pPr marL="0" indent="0" algn="ctr">
              <a:buNone/>
            </a:pPr>
            <a:r>
              <a:rPr lang="en-US" sz="680" b="1" kern="0" spc="50">
                <a:solidFill>
                  <a:srgbClr val="FFFFFF"/>
                </a:solidFill>
                <a:latin typeface="Arial" pitchFamily="34" charset="0"/>
                <a:ea typeface="Arial" pitchFamily="34" charset="-122"/>
                <a:cs typeface="Arial" pitchFamily="34" charset="-120"/>
              </a:rPr>
              <a:t>HANDS-ON</a:t>
            </a:r>
            <a:endParaRPr lang="en-US" sz="680"/>
          </a:p>
        </p:txBody>
      </p:sp>
      <p:sp>
        <p:nvSpPr>
          <p:cNvPr id="101" name="Text 99"/>
          <p:cNvSpPr/>
          <p:nvPr/>
        </p:nvSpPr>
        <p:spPr>
          <a:xfrm>
            <a:off x="7635240" y="2670048"/>
            <a:ext cx="4114800" cy="256032"/>
          </a:xfrm>
          <a:prstGeom prst="rect">
            <a:avLst/>
          </a:prstGeom>
          <a:noFill/>
          <a:ln/>
        </p:spPr>
        <p:txBody>
          <a:bodyPr wrap="square" lIns="0" tIns="0" rIns="0" bIns="0" rtlCol="0" anchor="ctr"/>
          <a:lstStyle/>
          <a:p>
            <a:pPr marL="0" indent="0">
              <a:buNone/>
            </a:pPr>
            <a:r>
              <a:rPr lang="en-US" sz="1350" b="1">
                <a:solidFill>
                  <a:srgbClr val="1E49E2"/>
                </a:solidFill>
                <a:highlight>
                  <a:srgbClr val="FFFF00"/>
                </a:highlight>
                <a:latin typeface="Arial" pitchFamily="34" charset="0"/>
                <a:ea typeface="Arial" pitchFamily="34" charset="-122"/>
                <a:cs typeface="Arial" pitchFamily="34" charset="-120"/>
              </a:rPr>
              <a:t>Still unclear — needs discussion</a:t>
            </a:r>
            <a:endParaRPr lang="en-US" sz="1350">
              <a:highlight>
                <a:srgbClr val="FFFF00"/>
              </a:highlight>
            </a:endParaRPr>
          </a:p>
        </p:txBody>
      </p:sp>
      <p:sp>
        <p:nvSpPr>
          <p:cNvPr id="102" name="Shape 100"/>
          <p:cNvSpPr/>
          <p:nvPr/>
        </p:nvSpPr>
        <p:spPr>
          <a:xfrm>
            <a:off x="7635240" y="2980944"/>
            <a:ext cx="4142232" cy="3035808"/>
          </a:xfrm>
          <a:prstGeom prst="rect">
            <a:avLst/>
          </a:prstGeom>
          <a:solidFill>
            <a:srgbClr val="F2F2F2"/>
          </a:solidFill>
          <a:ln w="12700">
            <a:solidFill>
              <a:srgbClr val="F2F2F2"/>
            </a:solidFill>
            <a:prstDash val="solid"/>
          </a:ln>
        </p:spPr>
        <p:txBody>
          <a:bodyPr/>
          <a:lstStyle/>
          <a:p>
            <a:endParaRPr lang="en-US"/>
          </a:p>
        </p:txBody>
      </p:sp>
      <p:sp>
        <p:nvSpPr>
          <p:cNvPr id="103" name="Shape 101"/>
          <p:cNvSpPr/>
          <p:nvPr/>
        </p:nvSpPr>
        <p:spPr>
          <a:xfrm>
            <a:off x="7635240" y="2980944"/>
            <a:ext cx="4142232" cy="50292"/>
          </a:xfrm>
          <a:prstGeom prst="rect">
            <a:avLst/>
          </a:prstGeom>
          <a:solidFill>
            <a:srgbClr val="0B2265"/>
          </a:solidFill>
          <a:ln w="12700">
            <a:solidFill>
              <a:srgbClr val="0B2265"/>
            </a:solidFill>
            <a:prstDash val="solid"/>
          </a:ln>
        </p:spPr>
        <p:txBody>
          <a:bodyPr/>
          <a:lstStyle/>
          <a:p>
            <a:endParaRPr lang="en-US"/>
          </a:p>
        </p:txBody>
      </p:sp>
      <p:sp>
        <p:nvSpPr>
          <p:cNvPr id="104" name="Shape 102"/>
          <p:cNvSpPr/>
          <p:nvPr/>
        </p:nvSpPr>
        <p:spPr>
          <a:xfrm>
            <a:off x="7818120" y="3140964"/>
            <a:ext cx="219456" cy="219456"/>
          </a:xfrm>
          <a:prstGeom prst="ellipse">
            <a:avLst/>
          </a:prstGeom>
          <a:solidFill>
            <a:srgbClr val="00338D"/>
          </a:solidFill>
          <a:ln w="12700">
            <a:solidFill>
              <a:srgbClr val="00338D"/>
            </a:solidFill>
            <a:prstDash val="solid"/>
          </a:ln>
        </p:spPr>
        <p:txBody>
          <a:bodyPr/>
          <a:lstStyle/>
          <a:p>
            <a:endParaRPr lang="en-US"/>
          </a:p>
        </p:txBody>
      </p:sp>
      <p:sp>
        <p:nvSpPr>
          <p:cNvPr id="105" name="Text 103"/>
          <p:cNvSpPr/>
          <p:nvPr/>
        </p:nvSpPr>
        <p:spPr>
          <a:xfrm>
            <a:off x="7818120" y="3168396"/>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1</a:t>
            </a:r>
            <a:endParaRPr lang="en-US" sz="900"/>
          </a:p>
        </p:txBody>
      </p:sp>
      <p:sp>
        <p:nvSpPr>
          <p:cNvPr id="106" name="Text 104"/>
          <p:cNvSpPr/>
          <p:nvPr/>
        </p:nvSpPr>
        <p:spPr>
          <a:xfrm>
            <a:off x="8147304" y="3127248"/>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Define application development</a:t>
            </a:r>
            <a:endParaRPr lang="en-US" sz="980"/>
          </a:p>
        </p:txBody>
      </p:sp>
      <p:sp>
        <p:nvSpPr>
          <p:cNvPr id="107" name="Text 105"/>
          <p:cNvSpPr/>
          <p:nvPr/>
        </p:nvSpPr>
        <p:spPr>
          <a:xfrm>
            <a:off x="8147304" y="3314700"/>
            <a:ext cx="3474720" cy="29260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Johnny’s view is lightweight interfaces over Fabric workloads, not React or full-stack. Friday is where we understand that with Garret, Alex and Mike.</a:t>
            </a:r>
            <a:endParaRPr lang="en-US" sz="820"/>
          </a:p>
        </p:txBody>
      </p:sp>
      <p:sp>
        <p:nvSpPr>
          <p:cNvPr id="108" name="Shape 106"/>
          <p:cNvSpPr/>
          <p:nvPr/>
        </p:nvSpPr>
        <p:spPr>
          <a:xfrm>
            <a:off x="7818120" y="3602736"/>
            <a:ext cx="219456" cy="219456"/>
          </a:xfrm>
          <a:prstGeom prst="ellipse">
            <a:avLst/>
          </a:prstGeom>
          <a:solidFill>
            <a:srgbClr val="1E49E2"/>
          </a:solidFill>
          <a:ln w="12700">
            <a:solidFill>
              <a:srgbClr val="1E49E2"/>
            </a:solidFill>
            <a:prstDash val="solid"/>
          </a:ln>
        </p:spPr>
        <p:txBody>
          <a:bodyPr/>
          <a:lstStyle/>
          <a:p>
            <a:endParaRPr lang="en-US"/>
          </a:p>
        </p:txBody>
      </p:sp>
      <p:sp>
        <p:nvSpPr>
          <p:cNvPr id="109" name="Text 107"/>
          <p:cNvSpPr/>
          <p:nvPr/>
        </p:nvSpPr>
        <p:spPr>
          <a:xfrm>
            <a:off x="7818120" y="3630168"/>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2</a:t>
            </a:r>
            <a:endParaRPr lang="en-US" sz="900"/>
          </a:p>
        </p:txBody>
      </p:sp>
      <p:sp>
        <p:nvSpPr>
          <p:cNvPr id="110" name="Text 108"/>
          <p:cNvSpPr/>
          <p:nvPr/>
        </p:nvSpPr>
        <p:spPr>
          <a:xfrm>
            <a:off x="8147304" y="3589020"/>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The underlying business problem</a:t>
            </a:r>
            <a:endParaRPr lang="en-US" sz="980"/>
          </a:p>
        </p:txBody>
      </p:sp>
      <p:sp>
        <p:nvSpPr>
          <p:cNvPr id="111" name="Text 109"/>
          <p:cNvSpPr/>
          <p:nvPr/>
        </p:nvSpPr>
        <p:spPr>
          <a:xfrm>
            <a:off x="8147304" y="3776472"/>
            <a:ext cx="3474720" cy="29260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Business users should launch their own workflows so Tax  team is no longer the middleman.</a:t>
            </a:r>
            <a:endParaRPr lang="en-US" sz="820"/>
          </a:p>
        </p:txBody>
      </p:sp>
      <p:sp>
        <p:nvSpPr>
          <p:cNvPr id="112" name="Shape 110"/>
          <p:cNvSpPr/>
          <p:nvPr/>
        </p:nvSpPr>
        <p:spPr>
          <a:xfrm>
            <a:off x="7818120" y="4064508"/>
            <a:ext cx="219456" cy="219456"/>
          </a:xfrm>
          <a:prstGeom prst="ellipse">
            <a:avLst/>
          </a:prstGeom>
          <a:solidFill>
            <a:srgbClr val="00338D"/>
          </a:solidFill>
          <a:ln w="12700">
            <a:solidFill>
              <a:srgbClr val="00338D"/>
            </a:solidFill>
            <a:prstDash val="solid"/>
          </a:ln>
        </p:spPr>
        <p:txBody>
          <a:bodyPr/>
          <a:lstStyle/>
          <a:p>
            <a:endParaRPr lang="en-US"/>
          </a:p>
        </p:txBody>
      </p:sp>
      <p:sp>
        <p:nvSpPr>
          <p:cNvPr id="113" name="Text 111"/>
          <p:cNvSpPr/>
          <p:nvPr/>
        </p:nvSpPr>
        <p:spPr>
          <a:xfrm>
            <a:off x="7818120" y="4091940"/>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3</a:t>
            </a:r>
            <a:endParaRPr lang="en-US" sz="900"/>
          </a:p>
        </p:txBody>
      </p:sp>
      <p:sp>
        <p:nvSpPr>
          <p:cNvPr id="114" name="Text 112"/>
          <p:cNvSpPr/>
          <p:nvPr/>
        </p:nvSpPr>
        <p:spPr>
          <a:xfrm>
            <a:off x="8147304" y="4050792"/>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One KPMG point of view on front-end</a:t>
            </a:r>
            <a:endParaRPr lang="en-US" sz="980"/>
          </a:p>
        </p:txBody>
      </p:sp>
      <p:sp>
        <p:nvSpPr>
          <p:cNvPr id="115" name="Text 113"/>
          <p:cNvSpPr/>
          <p:nvPr/>
        </p:nvSpPr>
        <p:spPr>
          <a:xfrm>
            <a:off x="8147304" y="4238244"/>
            <a:ext cx="3474720" cy="29260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Whether Fabric offers native capability. Settle internally before Friday.</a:t>
            </a:r>
            <a:endParaRPr lang="en-US" sz="820"/>
          </a:p>
        </p:txBody>
      </p:sp>
      <p:sp>
        <p:nvSpPr>
          <p:cNvPr id="116" name="Shape 114"/>
          <p:cNvSpPr/>
          <p:nvPr/>
        </p:nvSpPr>
        <p:spPr>
          <a:xfrm>
            <a:off x="7818120" y="4526280"/>
            <a:ext cx="219456" cy="219456"/>
          </a:xfrm>
          <a:prstGeom prst="ellipse">
            <a:avLst/>
          </a:prstGeom>
          <a:solidFill>
            <a:srgbClr val="1E49E2"/>
          </a:solidFill>
          <a:ln w="12700">
            <a:solidFill>
              <a:srgbClr val="1E49E2"/>
            </a:solidFill>
            <a:prstDash val="solid"/>
          </a:ln>
        </p:spPr>
        <p:txBody>
          <a:bodyPr/>
          <a:lstStyle/>
          <a:p>
            <a:endParaRPr lang="en-US"/>
          </a:p>
        </p:txBody>
      </p:sp>
      <p:sp>
        <p:nvSpPr>
          <p:cNvPr id="117" name="Text 115"/>
          <p:cNvSpPr/>
          <p:nvPr/>
        </p:nvSpPr>
        <p:spPr>
          <a:xfrm>
            <a:off x="7818120" y="4553712"/>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4</a:t>
            </a:r>
            <a:endParaRPr lang="en-US" sz="900"/>
          </a:p>
        </p:txBody>
      </p:sp>
      <p:sp>
        <p:nvSpPr>
          <p:cNvPr id="118" name="Text 116"/>
          <p:cNvSpPr/>
          <p:nvPr/>
        </p:nvSpPr>
        <p:spPr>
          <a:xfrm>
            <a:off x="8147304" y="4512564"/>
            <a:ext cx="3867912"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How hard to push the current paved road (Process Cannon)</a:t>
            </a:r>
            <a:endParaRPr lang="en-US" sz="980"/>
          </a:p>
        </p:txBody>
      </p:sp>
      <p:sp>
        <p:nvSpPr>
          <p:cNvPr id="119" name="Text 117"/>
          <p:cNvSpPr/>
          <p:nvPr/>
        </p:nvSpPr>
        <p:spPr>
          <a:xfrm>
            <a:off x="8147304" y="4700016"/>
            <a:ext cx="3474720" cy="29260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Johnny’s repository standards as the target state or as the baseline for the wider team.</a:t>
            </a:r>
            <a:endParaRPr lang="en-US" sz="820"/>
          </a:p>
        </p:txBody>
      </p:sp>
      <p:sp>
        <p:nvSpPr>
          <p:cNvPr id="120" name="Shape 118"/>
          <p:cNvSpPr/>
          <p:nvPr/>
        </p:nvSpPr>
        <p:spPr>
          <a:xfrm>
            <a:off x="7818120" y="4988052"/>
            <a:ext cx="219456" cy="219456"/>
          </a:xfrm>
          <a:prstGeom prst="ellipse">
            <a:avLst/>
          </a:prstGeom>
          <a:solidFill>
            <a:srgbClr val="00338D"/>
          </a:solidFill>
          <a:ln w="12700">
            <a:solidFill>
              <a:srgbClr val="00338D"/>
            </a:solidFill>
            <a:prstDash val="solid"/>
          </a:ln>
        </p:spPr>
        <p:txBody>
          <a:bodyPr/>
          <a:lstStyle/>
          <a:p>
            <a:endParaRPr lang="en-US"/>
          </a:p>
        </p:txBody>
      </p:sp>
      <p:sp>
        <p:nvSpPr>
          <p:cNvPr id="121" name="Text 119"/>
          <p:cNvSpPr/>
          <p:nvPr/>
        </p:nvSpPr>
        <p:spPr>
          <a:xfrm>
            <a:off x="7818120" y="5015484"/>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5</a:t>
            </a:r>
            <a:endParaRPr lang="en-US" sz="900"/>
          </a:p>
        </p:txBody>
      </p:sp>
      <p:sp>
        <p:nvSpPr>
          <p:cNvPr id="122" name="Text 120"/>
          <p:cNvSpPr/>
          <p:nvPr/>
        </p:nvSpPr>
        <p:spPr>
          <a:xfrm>
            <a:off x="8147304" y="4974336"/>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One day or two</a:t>
            </a:r>
            <a:endParaRPr lang="en-US" sz="980"/>
          </a:p>
        </p:txBody>
      </p:sp>
      <p:sp>
        <p:nvSpPr>
          <p:cNvPr id="123" name="Text 121"/>
          <p:cNvSpPr/>
          <p:nvPr/>
        </p:nvSpPr>
        <p:spPr>
          <a:xfrm>
            <a:off x="8147304" y="5161788"/>
            <a:ext cx="3474720" cy="29260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The proposal to Jason was two days. This agenda is built as one — confirm before Friday.</a:t>
            </a:r>
            <a:endParaRPr lang="en-US" sz="820"/>
          </a:p>
        </p:txBody>
      </p:sp>
      <p:sp>
        <p:nvSpPr>
          <p:cNvPr id="124" name="Shape 122"/>
          <p:cNvSpPr/>
          <p:nvPr/>
        </p:nvSpPr>
        <p:spPr>
          <a:xfrm>
            <a:off x="7818120" y="5449824"/>
            <a:ext cx="219456" cy="219456"/>
          </a:xfrm>
          <a:prstGeom prst="ellipse">
            <a:avLst/>
          </a:prstGeom>
          <a:solidFill>
            <a:srgbClr val="00B8F5"/>
          </a:solidFill>
          <a:ln w="12700">
            <a:solidFill>
              <a:srgbClr val="00B8F5"/>
            </a:solidFill>
            <a:prstDash val="solid"/>
          </a:ln>
        </p:spPr>
        <p:txBody>
          <a:bodyPr/>
          <a:lstStyle/>
          <a:p>
            <a:endParaRPr lang="en-US"/>
          </a:p>
        </p:txBody>
      </p:sp>
      <p:sp>
        <p:nvSpPr>
          <p:cNvPr id="125" name="Text 123"/>
          <p:cNvSpPr/>
          <p:nvPr/>
        </p:nvSpPr>
        <p:spPr>
          <a:xfrm>
            <a:off x="7818120" y="5477256"/>
            <a:ext cx="219456" cy="173736"/>
          </a:xfrm>
          <a:prstGeom prst="rect">
            <a:avLst/>
          </a:prstGeom>
          <a:noFill/>
          <a:ln/>
        </p:spPr>
        <p:txBody>
          <a:bodyPr wrap="square" lIns="0" tIns="0" rIns="0" bIns="0" rtlCol="0" anchor="ctr"/>
          <a:lstStyle/>
          <a:p>
            <a:pPr marL="0" indent="0" algn="ctr">
              <a:buNone/>
            </a:pPr>
            <a:r>
              <a:rPr lang="en-US" sz="900" b="1">
                <a:solidFill>
                  <a:srgbClr val="FFFFFF"/>
                </a:solidFill>
                <a:latin typeface="Arial" pitchFamily="34" charset="0"/>
                <a:ea typeface="Arial" pitchFamily="34" charset="-122"/>
                <a:cs typeface="Arial" pitchFamily="34" charset="-120"/>
              </a:rPr>
              <a:t>6</a:t>
            </a:r>
            <a:endParaRPr lang="en-US" sz="900"/>
          </a:p>
        </p:txBody>
      </p:sp>
      <p:sp>
        <p:nvSpPr>
          <p:cNvPr id="126" name="Text 124"/>
          <p:cNvSpPr/>
          <p:nvPr/>
        </p:nvSpPr>
        <p:spPr>
          <a:xfrm>
            <a:off x="8147304" y="5436108"/>
            <a:ext cx="3474720" cy="182880"/>
          </a:xfrm>
          <a:prstGeom prst="rect">
            <a:avLst/>
          </a:prstGeom>
          <a:noFill/>
          <a:ln/>
        </p:spPr>
        <p:txBody>
          <a:bodyPr wrap="square" lIns="0" tIns="0" rIns="0" bIns="0" rtlCol="0" anchor="ctr"/>
          <a:lstStyle/>
          <a:p>
            <a:pPr marL="0" indent="0">
              <a:buNone/>
            </a:pPr>
            <a:r>
              <a:rPr lang="en-US" sz="980" b="1">
                <a:solidFill>
                  <a:srgbClr val="0B2265"/>
                </a:solidFill>
                <a:latin typeface="Arial" pitchFamily="34" charset="0"/>
                <a:ea typeface="Arial" pitchFamily="34" charset="-122"/>
                <a:cs typeface="Arial" pitchFamily="34" charset="-120"/>
              </a:rPr>
              <a:t>Gating items for the hands-on work</a:t>
            </a:r>
            <a:endParaRPr lang="en-US" sz="980"/>
          </a:p>
        </p:txBody>
      </p:sp>
      <p:sp>
        <p:nvSpPr>
          <p:cNvPr id="127" name="Text 125"/>
          <p:cNvSpPr/>
          <p:nvPr/>
        </p:nvSpPr>
        <p:spPr>
          <a:xfrm>
            <a:off x="8147304" y="5623560"/>
            <a:ext cx="3474720" cy="292608"/>
          </a:xfrm>
          <a:prstGeom prst="rect">
            <a:avLst/>
          </a:prstGeom>
          <a:noFill/>
          <a:ln/>
        </p:spPr>
        <p:txBody>
          <a:bodyPr wrap="square" lIns="0" tIns="0" rIns="0" bIns="0" rtlCol="0" anchor="t"/>
          <a:lstStyle/>
          <a:p>
            <a:pPr marL="0" indent="0">
              <a:lnSpc>
                <a:spcPct val="100000"/>
              </a:lnSpc>
              <a:buNone/>
            </a:pPr>
            <a:r>
              <a:rPr lang="en-US" sz="820">
                <a:solidFill>
                  <a:srgbClr val="000000"/>
                </a:solidFill>
                <a:latin typeface="Arial" pitchFamily="34" charset="0"/>
                <a:ea typeface="Arial" pitchFamily="34" charset="-122"/>
                <a:cs typeface="Arial" pitchFamily="34" charset="-120"/>
              </a:rPr>
              <a:t>Workflow selection and environment access to Fabric and Azure DevOps. The deadline is now 19 October.</a:t>
            </a:r>
            <a:endParaRPr lang="en-US" sz="820"/>
          </a:p>
        </p:txBody>
      </p:sp>
      <p:sp>
        <p:nvSpPr>
          <p:cNvPr id="129" name="Text 127"/>
          <p:cNvSpPr/>
          <p:nvPr/>
        </p:nvSpPr>
        <p:spPr>
          <a:xfrm>
            <a:off x="411480" y="6259068"/>
            <a:ext cx="11365992" cy="219456"/>
          </a:xfrm>
          <a:prstGeom prst="rect">
            <a:avLst/>
          </a:prstGeom>
          <a:noFill/>
          <a:ln/>
        </p:spPr>
        <p:txBody>
          <a:bodyPr wrap="square" lIns="0" tIns="0" rIns="0" bIns="0" rtlCol="0" anchor="ctr"/>
          <a:lstStyle/>
          <a:p>
            <a:pPr marL="0" indent="0" algn="ctr">
              <a:buNone/>
            </a:pPr>
            <a:r>
              <a:rPr lang="en-US" sz="1050">
                <a:solidFill>
                  <a:srgbClr val="FFFFFF"/>
                </a:solidFill>
                <a:latin typeface="Arial" pitchFamily="34" charset="0"/>
                <a:ea typeface="Arial" pitchFamily="34" charset="-122"/>
                <a:cs typeface="Arial" pitchFamily="34" charset="-120"/>
              </a:rPr>
              <a:t>Internal working draft — not for distribution to Disney.</a:t>
            </a:r>
            <a:endParaRPr lang="en-US" sz="1050"/>
          </a:p>
        </p:txBody>
      </p:sp>
      <p:sp>
        <p:nvSpPr>
          <p:cNvPr id="132" name="Text 130"/>
          <p:cNvSpPr/>
          <p:nvPr/>
        </p:nvSpPr>
        <p:spPr>
          <a:xfrm>
            <a:off x="1234440" y="6537960"/>
            <a:ext cx="8686800" cy="237744"/>
          </a:xfrm>
          <a:prstGeom prst="rect">
            <a:avLst/>
          </a:prstGeom>
          <a:noFill/>
          <a:ln/>
        </p:spPr>
        <p:txBody>
          <a:bodyPr wrap="square" lIns="0" tIns="0" rIns="0" bIns="0" rtlCol="0" anchor="ctr"/>
          <a:lstStyle/>
          <a:p>
            <a:pPr marL="0" indent="0">
              <a:lnSpc>
                <a:spcPct val="100000"/>
              </a:lnSpc>
              <a:buNone/>
            </a:pPr>
            <a:r>
              <a:rPr lang="en-US" sz="550">
                <a:solidFill>
                  <a:srgbClr val="808080"/>
                </a:solidFill>
                <a:latin typeface="Arial" pitchFamily="34" charset="0"/>
                <a:ea typeface="Arial" pitchFamily="34" charset="-122"/>
                <a:cs typeface="Arial" pitchFamily="34" charset="-120"/>
              </a:rPr>
              <a:t>© 2026 KPMG LLP, a Delaware limited liability partnership and its subsidiaries are part of the KPMG global organization of independent</a:t>
            </a:r>
            <a:endParaRPr lang="en-US" sz="550"/>
          </a:p>
          <a:p>
            <a:pPr marL="0" indent="0">
              <a:lnSpc>
                <a:spcPct val="100000"/>
              </a:lnSpc>
              <a:buNone/>
            </a:pPr>
            <a:r>
              <a:rPr lang="en-US" sz="550">
                <a:solidFill>
                  <a:srgbClr val="808080"/>
                </a:solidFill>
                <a:latin typeface="Arial" pitchFamily="34" charset="0"/>
                <a:ea typeface="Arial" pitchFamily="34" charset="-122"/>
                <a:cs typeface="Arial" pitchFamily="34" charset="-120"/>
              </a:rPr>
              <a:t>member firms affiliated with KPMG International Limited, a private English company limited by guarantee. All rights reserved.</a:t>
            </a:r>
            <a:endParaRPr lang="en-US" sz="550"/>
          </a:p>
        </p:txBody>
      </p:sp>
      <p:sp>
        <p:nvSpPr>
          <p:cNvPr id="133" name="Text 131"/>
          <p:cNvSpPr/>
          <p:nvPr/>
        </p:nvSpPr>
        <p:spPr>
          <a:xfrm>
            <a:off x="11475720" y="6547104"/>
            <a:ext cx="301752" cy="182880"/>
          </a:xfrm>
          <a:prstGeom prst="rect">
            <a:avLst/>
          </a:prstGeom>
          <a:noFill/>
          <a:ln/>
        </p:spPr>
        <p:txBody>
          <a:bodyPr wrap="square" lIns="0" tIns="0" rIns="0" bIns="0" rtlCol="0" anchor="ctr"/>
          <a:lstStyle/>
          <a:p>
            <a:pPr marL="0" indent="0" algn="r">
              <a:buNone/>
            </a:pPr>
            <a:r>
              <a:rPr lang="en-US" sz="900">
                <a:solidFill>
                  <a:srgbClr val="00338D"/>
                </a:solidFill>
                <a:latin typeface="Arial" pitchFamily="34" charset="0"/>
                <a:ea typeface="Arial" pitchFamily="34" charset="-122"/>
                <a:cs typeface="Arial" pitchFamily="34" charset="-120"/>
              </a:rPr>
              <a:t>1</a:t>
            </a:r>
            <a:endParaRPr lang="en-US" sz="900"/>
          </a:p>
        </p:txBody>
      </p:sp>
      <p:sp>
        <p:nvSpPr>
          <p:cNvPr id="128" name="Rectangle 127">
            <a:extLst>
              <a:ext uri="{FF2B5EF4-FFF2-40B4-BE49-F238E27FC236}">
                <a16:creationId xmlns:a16="http://schemas.microsoft.com/office/drawing/2014/main" id="{C57FE6B5-9212-7C22-42C3-969D40963DFD}"/>
              </a:ext>
            </a:extLst>
          </p:cNvPr>
          <p:cNvSpPr/>
          <p:nvPr/>
        </p:nvSpPr>
        <p:spPr>
          <a:xfrm>
            <a:off x="1575624" y="585216"/>
            <a:ext cx="8890445" cy="98023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rial" panose="020B0604020202020204" pitchFamily="34" charset="0"/>
                <a:cs typeface="Arial" panose="020B0604020202020204" pitchFamily="34" charset="0"/>
              </a:rPr>
              <a:t>KPMG internal Call on 9/14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0338D"/>
          </a:solidFill>
          <a:ln/>
        </p:spPr>
        <p:txBody>
          <a:bodyPr/>
          <a:lstStyle/>
          <a:p>
            <a:endParaRPr lang="en-US"/>
          </a:p>
        </p:txBody>
      </p:sp>
      <p:sp>
        <p:nvSpPr>
          <p:cNvPr id="3" name="Shape 1"/>
          <p:cNvSpPr/>
          <p:nvPr/>
        </p:nvSpPr>
        <p:spPr>
          <a:xfrm>
            <a:off x="201168" y="0"/>
            <a:ext cx="11990527" cy="1298448"/>
          </a:xfrm>
          <a:prstGeom prst="rect">
            <a:avLst/>
          </a:prstGeom>
          <a:solidFill>
            <a:srgbClr val="00338D"/>
          </a:solidFill>
          <a:ln/>
        </p:spPr>
        <p:txBody>
          <a:bodyPr/>
          <a:lstStyle/>
          <a:p>
            <a:endParaRPr lang="en-US"/>
          </a:p>
        </p:txBody>
      </p:sp>
      <p:sp>
        <p:nvSpPr>
          <p:cNvPr id="4" name="Text 2"/>
          <p:cNvSpPr/>
          <p:nvPr/>
        </p:nvSpPr>
        <p:spPr>
          <a:xfrm>
            <a:off x="502920" y="164592"/>
            <a:ext cx="2011680" cy="365760"/>
          </a:xfrm>
          <a:prstGeom prst="rect">
            <a:avLst/>
          </a:prstGeom>
          <a:noFill/>
          <a:ln/>
        </p:spPr>
        <p:txBody>
          <a:bodyPr wrap="square" rtlCol="0" anchor="ctr"/>
          <a:lstStyle/>
          <a:p>
            <a:pPr marL="0" indent="0">
              <a:buNone/>
            </a:pPr>
            <a:r>
              <a:rPr lang="en-US" sz="2000" b="1" kern="0" spc="100">
                <a:solidFill>
                  <a:srgbClr val="FFFFFF"/>
                </a:solidFill>
                <a:latin typeface="Arial" pitchFamily="34" charset="0"/>
                <a:ea typeface="Arial" pitchFamily="34" charset="-122"/>
                <a:cs typeface="Arial" pitchFamily="34" charset="-120"/>
              </a:rPr>
              <a:t>KPMG</a:t>
            </a:r>
            <a:endParaRPr lang="en-US" sz="2000"/>
          </a:p>
        </p:txBody>
      </p:sp>
      <p:sp>
        <p:nvSpPr>
          <p:cNvPr id="5" name="Text 3"/>
          <p:cNvSpPr/>
          <p:nvPr/>
        </p:nvSpPr>
        <p:spPr>
          <a:xfrm>
            <a:off x="8869680" y="219456"/>
            <a:ext cx="3108960" cy="274320"/>
          </a:xfrm>
          <a:prstGeom prst="rect">
            <a:avLst/>
          </a:prstGeom>
          <a:noFill/>
          <a:ln/>
        </p:spPr>
        <p:txBody>
          <a:bodyPr wrap="square" rtlCol="0" anchor="ctr"/>
          <a:lstStyle/>
          <a:p>
            <a:pPr marL="0" indent="0" algn="r">
              <a:buNone/>
            </a:pPr>
            <a:r>
              <a:rPr lang="en-US" sz="900" kern="0" spc="200">
                <a:solidFill>
                  <a:srgbClr val="0091DA"/>
                </a:solidFill>
                <a:latin typeface="Arial" pitchFamily="34" charset="0"/>
                <a:ea typeface="Arial" pitchFamily="34" charset="-122"/>
                <a:cs typeface="Arial" pitchFamily="34" charset="-120"/>
              </a:rPr>
              <a:t>PROPOSED AGENDA  ·  INTERNAL DRAFT</a:t>
            </a:r>
            <a:endParaRPr lang="en-US" sz="900"/>
          </a:p>
        </p:txBody>
      </p:sp>
      <p:sp>
        <p:nvSpPr>
          <p:cNvPr id="6" name="Text 4"/>
          <p:cNvSpPr/>
          <p:nvPr/>
        </p:nvSpPr>
        <p:spPr>
          <a:xfrm>
            <a:off x="502920" y="502920"/>
            <a:ext cx="11338560" cy="457200"/>
          </a:xfrm>
          <a:prstGeom prst="rect">
            <a:avLst/>
          </a:prstGeom>
          <a:noFill/>
          <a:ln/>
        </p:spPr>
        <p:txBody>
          <a:bodyPr wrap="square" rtlCol="0" anchor="ctr"/>
          <a:lstStyle/>
          <a:p>
            <a:pPr marL="0" indent="0">
              <a:buNone/>
            </a:pPr>
            <a:r>
              <a:rPr lang="en-US" sz="2100" b="1">
                <a:solidFill>
                  <a:srgbClr val="FFFFFF"/>
                </a:solidFill>
                <a:latin typeface="Arial" pitchFamily="34" charset="0"/>
                <a:ea typeface="Arial" pitchFamily="34" charset="-122"/>
                <a:cs typeface="Arial" pitchFamily="34" charset="-120"/>
              </a:rPr>
              <a:t>Disney Tax Technology - Microsoft Fabric &amp; Application Development Enablement</a:t>
            </a:r>
            <a:endParaRPr lang="en-US" sz="2100"/>
          </a:p>
        </p:txBody>
      </p:sp>
      <p:sp>
        <p:nvSpPr>
          <p:cNvPr id="7" name="Text 5"/>
          <p:cNvSpPr/>
          <p:nvPr/>
        </p:nvSpPr>
        <p:spPr>
          <a:xfrm>
            <a:off x="521208" y="932688"/>
            <a:ext cx="11338560" cy="292608"/>
          </a:xfrm>
          <a:prstGeom prst="rect">
            <a:avLst/>
          </a:prstGeom>
          <a:noFill/>
          <a:ln/>
        </p:spPr>
        <p:txBody>
          <a:bodyPr wrap="square" rtlCol="0" anchor="ctr"/>
          <a:lstStyle/>
          <a:p>
            <a:pPr marL="0" indent="0">
              <a:buNone/>
            </a:pPr>
            <a:r>
              <a:rPr lang="en-US" sz="1100" b="1">
                <a:solidFill>
                  <a:srgbClr val="0091DA"/>
                </a:solidFill>
                <a:latin typeface="Arial" pitchFamily="34" charset="0"/>
                <a:ea typeface="Arial" pitchFamily="34" charset="-122"/>
                <a:cs typeface="Arial" pitchFamily="34" charset="-120"/>
              </a:rPr>
              <a:t>Full-day, on-site  </a:t>
            </a:r>
            <a:r>
              <a:rPr lang="en-US" sz="1100">
                <a:solidFill>
                  <a:srgbClr val="C9D6EC"/>
                </a:solidFill>
                <a:latin typeface="Arial" pitchFamily="34" charset="0"/>
                <a:ea typeface="Arial" pitchFamily="34" charset="-122"/>
                <a:cs typeface="Arial" pitchFamily="34" charset="-120"/>
              </a:rPr>
              <a:t>(~6.5 hrs content + lunch; scalable to half-day)</a:t>
            </a:r>
            <a:endParaRPr lang="en-US" sz="1100"/>
          </a:p>
        </p:txBody>
      </p:sp>
      <p:sp>
        <p:nvSpPr>
          <p:cNvPr id="8" name="Shape 6"/>
          <p:cNvSpPr/>
          <p:nvPr/>
        </p:nvSpPr>
        <p:spPr>
          <a:xfrm>
            <a:off x="502920" y="1664208"/>
            <a:ext cx="2670048" cy="1847088"/>
          </a:xfrm>
          <a:prstGeom prst="rect">
            <a:avLst/>
          </a:prstGeom>
          <a:solidFill>
            <a:srgbClr val="EEF2F8"/>
          </a:solidFill>
          <a:ln w="9525">
            <a:solidFill>
              <a:srgbClr val="DCE4F0"/>
            </a:solidFill>
            <a:prstDash val="solid"/>
          </a:ln>
          <a:effectLst>
            <a:outerShdw blurRad="63500" dist="25400" dir="8100000" algn="bl" rotWithShape="0">
              <a:srgbClr val="000000">
                <a:alpha val="10000"/>
              </a:srgbClr>
            </a:outerShdw>
          </a:effectLst>
        </p:spPr>
        <p:txBody>
          <a:bodyPr/>
          <a:lstStyle/>
          <a:p>
            <a:endParaRPr lang="en-US"/>
          </a:p>
        </p:txBody>
      </p:sp>
      <p:sp>
        <p:nvSpPr>
          <p:cNvPr id="9" name="Shape 7"/>
          <p:cNvSpPr/>
          <p:nvPr/>
        </p:nvSpPr>
        <p:spPr>
          <a:xfrm>
            <a:off x="502920" y="1664208"/>
            <a:ext cx="2670048" cy="64008"/>
          </a:xfrm>
          <a:prstGeom prst="rect">
            <a:avLst/>
          </a:prstGeom>
          <a:solidFill>
            <a:srgbClr val="00338D"/>
          </a:solidFill>
          <a:ln/>
        </p:spPr>
        <p:txBody>
          <a:bodyPr/>
          <a:lstStyle/>
          <a:p>
            <a:endParaRPr lang="en-US"/>
          </a:p>
        </p:txBody>
      </p:sp>
      <p:sp>
        <p:nvSpPr>
          <p:cNvPr id="10" name="Shape 8"/>
          <p:cNvSpPr/>
          <p:nvPr/>
        </p:nvSpPr>
        <p:spPr>
          <a:xfrm>
            <a:off x="649224" y="1847088"/>
            <a:ext cx="384048" cy="384048"/>
          </a:xfrm>
          <a:prstGeom prst="ellipse">
            <a:avLst/>
          </a:prstGeom>
          <a:solidFill>
            <a:srgbClr val="00338D"/>
          </a:solidFill>
          <a:ln/>
        </p:spPr>
        <p:txBody>
          <a:bodyPr/>
          <a:lstStyle/>
          <a:p>
            <a:endParaRPr lang="en-US"/>
          </a:p>
        </p:txBody>
      </p:sp>
      <p:sp>
        <p:nvSpPr>
          <p:cNvPr id="11" name="Text 9"/>
          <p:cNvSpPr/>
          <p:nvPr/>
        </p:nvSpPr>
        <p:spPr>
          <a:xfrm>
            <a:off x="649224" y="184708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Arial" pitchFamily="34" charset="0"/>
                <a:ea typeface="Arial" pitchFamily="34" charset="-122"/>
                <a:cs typeface="Arial" pitchFamily="34" charset="-120"/>
              </a:rPr>
              <a:t>1</a:t>
            </a:r>
            <a:endParaRPr lang="en-US" sz="1500"/>
          </a:p>
        </p:txBody>
      </p:sp>
      <p:pic>
        <p:nvPicPr>
          <p:cNvPr id="12" name="Image 0" descr="preencoded.png"/>
          <p:cNvPicPr>
            <a:picLocks noChangeAspect="1"/>
          </p:cNvPicPr>
          <p:nvPr/>
        </p:nvPicPr>
        <p:blipFill>
          <a:blip r:embed="rId3"/>
          <a:stretch>
            <a:fillRect/>
          </a:stretch>
        </p:blipFill>
        <p:spPr>
          <a:xfrm>
            <a:off x="2240280" y="1911096"/>
            <a:ext cx="155448" cy="155448"/>
          </a:xfrm>
          <a:prstGeom prst="rect">
            <a:avLst/>
          </a:prstGeom>
        </p:spPr>
      </p:pic>
      <p:sp>
        <p:nvSpPr>
          <p:cNvPr id="13" name="Text 10"/>
          <p:cNvSpPr/>
          <p:nvPr/>
        </p:nvSpPr>
        <p:spPr>
          <a:xfrm>
            <a:off x="2414016" y="1847088"/>
            <a:ext cx="658368" cy="274320"/>
          </a:xfrm>
          <a:prstGeom prst="rect">
            <a:avLst/>
          </a:prstGeom>
          <a:noFill/>
          <a:ln/>
        </p:spPr>
        <p:txBody>
          <a:bodyPr wrap="square" lIns="0" tIns="0" rIns="0" bIns="0" rtlCol="0" anchor="ctr"/>
          <a:lstStyle/>
          <a:p>
            <a:pPr marL="0" indent="0" algn="r">
              <a:buNone/>
            </a:pPr>
            <a:r>
              <a:rPr lang="en-US" sz="950" b="1">
                <a:solidFill>
                  <a:srgbClr val="5B6472"/>
                </a:solidFill>
                <a:latin typeface="Arial" pitchFamily="34" charset="0"/>
                <a:ea typeface="Arial" pitchFamily="34" charset="-122"/>
                <a:cs typeface="Arial" pitchFamily="34" charset="-120"/>
              </a:rPr>
              <a:t>30 min</a:t>
            </a:r>
            <a:endParaRPr lang="en-US" sz="950"/>
          </a:p>
        </p:txBody>
      </p:sp>
      <p:sp>
        <p:nvSpPr>
          <p:cNvPr id="14" name="Text 11"/>
          <p:cNvSpPr/>
          <p:nvPr/>
        </p:nvSpPr>
        <p:spPr>
          <a:xfrm>
            <a:off x="649224" y="2340864"/>
            <a:ext cx="2377440" cy="365760"/>
          </a:xfrm>
          <a:prstGeom prst="rect">
            <a:avLst/>
          </a:prstGeom>
          <a:noFill/>
          <a:ln/>
        </p:spPr>
        <p:txBody>
          <a:bodyPr wrap="square" lIns="0" tIns="0" rIns="0" bIns="0" rtlCol="0" anchor="t"/>
          <a:lstStyle/>
          <a:p>
            <a:pPr marL="0" indent="0">
              <a:buNone/>
            </a:pPr>
            <a:r>
              <a:rPr lang="en-US" sz="1250" b="1">
                <a:solidFill>
                  <a:srgbClr val="1A1A2E"/>
                </a:solidFill>
                <a:latin typeface="Arial" pitchFamily="34" charset="0"/>
                <a:ea typeface="Arial" pitchFamily="34" charset="-122"/>
                <a:cs typeface="Arial" pitchFamily="34" charset="-120"/>
              </a:rPr>
              <a:t>Kickoff &amp; Architecture</a:t>
            </a:r>
            <a:endParaRPr lang="en-US" sz="1250"/>
          </a:p>
        </p:txBody>
      </p:sp>
      <p:sp>
        <p:nvSpPr>
          <p:cNvPr id="15" name="Text 12"/>
          <p:cNvSpPr/>
          <p:nvPr/>
        </p:nvSpPr>
        <p:spPr>
          <a:xfrm>
            <a:off x="649224" y="2706624"/>
            <a:ext cx="2377440" cy="640080"/>
          </a:xfrm>
          <a:prstGeom prst="rect">
            <a:avLst/>
          </a:prstGeom>
          <a:noFill/>
          <a:ln/>
        </p:spPr>
        <p:txBody>
          <a:bodyPr wrap="square" lIns="0" tIns="0" rIns="0" bIns="0" rtlCol="0" anchor="t"/>
          <a:lstStyle/>
          <a:p>
            <a:pPr marL="0" indent="0">
              <a:lnSpc>
                <a:spcPct val="100000"/>
              </a:lnSpc>
              <a:buNone/>
            </a:pPr>
            <a:r>
              <a:rPr lang="en-US" sz="880">
                <a:solidFill>
                  <a:srgbClr val="5B6472"/>
                </a:solidFill>
                <a:latin typeface="Arial" pitchFamily="34" charset="0"/>
                <a:ea typeface="Arial" pitchFamily="34" charset="-122"/>
                <a:cs typeface="Arial" pitchFamily="34" charset="-120"/>
              </a:rPr>
              <a:t>What Fabric is, where it fits at Disney; target </a:t>
            </a:r>
            <a:r>
              <a:rPr lang="en-US" sz="880" err="1">
                <a:solidFill>
                  <a:srgbClr val="5B6472"/>
                </a:solidFill>
                <a:latin typeface="Arial" pitchFamily="34" charset="0"/>
                <a:ea typeface="Arial" pitchFamily="34" charset="-122"/>
                <a:cs typeface="Arial" pitchFamily="34" charset="-120"/>
              </a:rPr>
              <a:t>Alteryx→Fabric</a:t>
            </a:r>
            <a:r>
              <a:rPr lang="en-US" sz="880">
                <a:solidFill>
                  <a:srgbClr val="5B6472"/>
                </a:solidFill>
                <a:latin typeface="Arial" pitchFamily="34" charset="0"/>
                <a:ea typeface="Arial" pitchFamily="34" charset="-122"/>
                <a:cs typeface="Arial" pitchFamily="34" charset="-120"/>
              </a:rPr>
              <a:t> pattern; coexistence with Snowflake / Databricks</a:t>
            </a:r>
            <a:endParaRPr lang="en-US" sz="880"/>
          </a:p>
        </p:txBody>
      </p:sp>
      <p:sp>
        <p:nvSpPr>
          <p:cNvPr id="16" name="Shape 13"/>
          <p:cNvSpPr/>
          <p:nvPr/>
        </p:nvSpPr>
        <p:spPr>
          <a:xfrm>
            <a:off x="649224" y="3218688"/>
            <a:ext cx="594360" cy="201168"/>
          </a:xfrm>
          <a:prstGeom prst="roundRect">
            <a:avLst>
              <a:gd name="adj" fmla="val 50000"/>
            </a:avLst>
          </a:prstGeom>
          <a:solidFill>
            <a:srgbClr val="5B6472"/>
          </a:solidFill>
          <a:ln/>
        </p:spPr>
        <p:txBody>
          <a:bodyPr/>
          <a:lstStyle/>
          <a:p>
            <a:endParaRPr lang="en-US"/>
          </a:p>
        </p:txBody>
      </p:sp>
      <p:sp>
        <p:nvSpPr>
          <p:cNvPr id="17" name="Text 14"/>
          <p:cNvSpPr/>
          <p:nvPr/>
        </p:nvSpPr>
        <p:spPr>
          <a:xfrm>
            <a:off x="649224" y="3218688"/>
            <a:ext cx="594360" cy="201168"/>
          </a:xfrm>
          <a:prstGeom prst="rect">
            <a:avLst/>
          </a:prstGeom>
          <a:noFill/>
          <a:ln/>
        </p:spPr>
        <p:txBody>
          <a:bodyPr wrap="square" lIns="0" tIns="0" rIns="0" bIns="0" rtlCol="0" anchor="ctr"/>
          <a:lstStyle/>
          <a:p>
            <a:pPr marL="0" indent="0" algn="ctr">
              <a:buNone/>
            </a:pPr>
            <a:r>
              <a:rPr lang="en-US" sz="700" b="1" kern="0" spc="100">
                <a:solidFill>
                  <a:srgbClr val="FFFFFF"/>
                </a:solidFill>
                <a:latin typeface="Arial" pitchFamily="34" charset="0"/>
                <a:ea typeface="Arial" pitchFamily="34" charset="-122"/>
                <a:cs typeface="Arial" pitchFamily="34" charset="-120"/>
              </a:rPr>
              <a:t>RECAP</a:t>
            </a:r>
            <a:endParaRPr lang="en-US" sz="700"/>
          </a:p>
        </p:txBody>
      </p:sp>
      <p:pic>
        <p:nvPicPr>
          <p:cNvPr id="18" name="Image 1" descr="preencoded.png"/>
          <p:cNvPicPr>
            <a:picLocks noChangeAspect="1"/>
          </p:cNvPicPr>
          <p:nvPr/>
        </p:nvPicPr>
        <p:blipFill>
          <a:blip r:embed="rId4"/>
          <a:stretch>
            <a:fillRect/>
          </a:stretch>
        </p:blipFill>
        <p:spPr>
          <a:xfrm>
            <a:off x="2715768" y="3127248"/>
            <a:ext cx="292608" cy="292608"/>
          </a:xfrm>
          <a:prstGeom prst="rect">
            <a:avLst/>
          </a:prstGeom>
        </p:spPr>
      </p:pic>
      <p:sp>
        <p:nvSpPr>
          <p:cNvPr id="19" name="Shape 15"/>
          <p:cNvSpPr/>
          <p:nvPr/>
        </p:nvSpPr>
        <p:spPr>
          <a:xfrm>
            <a:off x="3291840" y="1664208"/>
            <a:ext cx="2670048" cy="1847088"/>
          </a:xfrm>
          <a:prstGeom prst="rect">
            <a:avLst/>
          </a:prstGeom>
          <a:solidFill>
            <a:srgbClr val="EEF2F8"/>
          </a:solidFill>
          <a:ln w="9525">
            <a:solidFill>
              <a:srgbClr val="DCE4F0"/>
            </a:solidFill>
            <a:prstDash val="solid"/>
          </a:ln>
          <a:effectLst>
            <a:outerShdw blurRad="63500" dist="25400" dir="8100000" algn="bl" rotWithShape="0">
              <a:srgbClr val="000000">
                <a:alpha val="10000"/>
              </a:srgbClr>
            </a:outerShdw>
          </a:effectLst>
        </p:spPr>
        <p:txBody>
          <a:bodyPr/>
          <a:lstStyle/>
          <a:p>
            <a:endParaRPr lang="en-US"/>
          </a:p>
        </p:txBody>
      </p:sp>
      <p:sp>
        <p:nvSpPr>
          <p:cNvPr id="20" name="Shape 16"/>
          <p:cNvSpPr/>
          <p:nvPr/>
        </p:nvSpPr>
        <p:spPr>
          <a:xfrm>
            <a:off x="3291840" y="1664208"/>
            <a:ext cx="2670048" cy="64008"/>
          </a:xfrm>
          <a:prstGeom prst="rect">
            <a:avLst/>
          </a:prstGeom>
          <a:solidFill>
            <a:srgbClr val="00338D"/>
          </a:solidFill>
          <a:ln/>
        </p:spPr>
        <p:txBody>
          <a:bodyPr/>
          <a:lstStyle/>
          <a:p>
            <a:endParaRPr lang="en-US"/>
          </a:p>
        </p:txBody>
      </p:sp>
      <p:sp>
        <p:nvSpPr>
          <p:cNvPr id="21" name="Shape 17"/>
          <p:cNvSpPr/>
          <p:nvPr/>
        </p:nvSpPr>
        <p:spPr>
          <a:xfrm>
            <a:off x="3438144" y="1847088"/>
            <a:ext cx="384048" cy="384048"/>
          </a:xfrm>
          <a:prstGeom prst="ellipse">
            <a:avLst/>
          </a:prstGeom>
          <a:solidFill>
            <a:srgbClr val="00338D"/>
          </a:solidFill>
          <a:ln/>
        </p:spPr>
        <p:txBody>
          <a:bodyPr/>
          <a:lstStyle/>
          <a:p>
            <a:endParaRPr lang="en-US"/>
          </a:p>
        </p:txBody>
      </p:sp>
      <p:sp>
        <p:nvSpPr>
          <p:cNvPr id="22" name="Text 18"/>
          <p:cNvSpPr/>
          <p:nvPr/>
        </p:nvSpPr>
        <p:spPr>
          <a:xfrm>
            <a:off x="3438144" y="184708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Arial" pitchFamily="34" charset="0"/>
                <a:ea typeface="Arial" pitchFamily="34" charset="-122"/>
                <a:cs typeface="Arial" pitchFamily="34" charset="-120"/>
              </a:rPr>
              <a:t>2</a:t>
            </a:r>
            <a:endParaRPr lang="en-US" sz="1500"/>
          </a:p>
        </p:txBody>
      </p:sp>
      <p:pic>
        <p:nvPicPr>
          <p:cNvPr id="23" name="Image 2" descr="preencoded.png"/>
          <p:cNvPicPr>
            <a:picLocks noChangeAspect="1"/>
          </p:cNvPicPr>
          <p:nvPr/>
        </p:nvPicPr>
        <p:blipFill>
          <a:blip r:embed="rId3"/>
          <a:stretch>
            <a:fillRect/>
          </a:stretch>
        </p:blipFill>
        <p:spPr>
          <a:xfrm>
            <a:off x="5029200" y="1911096"/>
            <a:ext cx="155448" cy="155448"/>
          </a:xfrm>
          <a:prstGeom prst="rect">
            <a:avLst/>
          </a:prstGeom>
        </p:spPr>
      </p:pic>
      <p:sp>
        <p:nvSpPr>
          <p:cNvPr id="24" name="Text 19"/>
          <p:cNvSpPr/>
          <p:nvPr/>
        </p:nvSpPr>
        <p:spPr>
          <a:xfrm>
            <a:off x="5202936" y="1847088"/>
            <a:ext cx="658368" cy="274320"/>
          </a:xfrm>
          <a:prstGeom prst="rect">
            <a:avLst/>
          </a:prstGeom>
          <a:noFill/>
          <a:ln/>
        </p:spPr>
        <p:txBody>
          <a:bodyPr wrap="square" lIns="0" tIns="0" rIns="0" bIns="0" rtlCol="0" anchor="ctr"/>
          <a:lstStyle/>
          <a:p>
            <a:pPr marL="0" indent="0" algn="r">
              <a:buNone/>
            </a:pPr>
            <a:r>
              <a:rPr lang="en-US" sz="950" b="1">
                <a:solidFill>
                  <a:srgbClr val="5B6472"/>
                </a:solidFill>
                <a:latin typeface="Arial" pitchFamily="34" charset="0"/>
                <a:ea typeface="Arial" pitchFamily="34" charset="-122"/>
                <a:cs typeface="Arial" pitchFamily="34" charset="-120"/>
              </a:rPr>
              <a:t>45 min</a:t>
            </a:r>
            <a:endParaRPr lang="en-US" sz="950"/>
          </a:p>
        </p:txBody>
      </p:sp>
      <p:sp>
        <p:nvSpPr>
          <p:cNvPr id="25" name="Text 20"/>
          <p:cNvSpPr/>
          <p:nvPr/>
        </p:nvSpPr>
        <p:spPr>
          <a:xfrm>
            <a:off x="3438144" y="2340864"/>
            <a:ext cx="2377440" cy="365760"/>
          </a:xfrm>
          <a:prstGeom prst="rect">
            <a:avLst/>
          </a:prstGeom>
          <a:noFill/>
          <a:ln/>
        </p:spPr>
        <p:txBody>
          <a:bodyPr wrap="square" lIns="0" tIns="0" rIns="0" bIns="0" rtlCol="0" anchor="t"/>
          <a:lstStyle/>
          <a:p>
            <a:pPr marL="0" indent="0">
              <a:buNone/>
            </a:pPr>
            <a:r>
              <a:rPr lang="en-US" sz="1250" b="1">
                <a:solidFill>
                  <a:srgbClr val="1A1A2E"/>
                </a:solidFill>
                <a:latin typeface="Arial" pitchFamily="34" charset="0"/>
                <a:ea typeface="Arial" pitchFamily="34" charset="-122"/>
                <a:cs typeface="Arial" pitchFamily="34" charset="-120"/>
              </a:rPr>
              <a:t>Fabric Foundation</a:t>
            </a:r>
            <a:endParaRPr lang="en-US" sz="1250"/>
          </a:p>
        </p:txBody>
      </p:sp>
      <p:sp>
        <p:nvSpPr>
          <p:cNvPr id="26" name="Text 21"/>
          <p:cNvSpPr/>
          <p:nvPr/>
        </p:nvSpPr>
        <p:spPr>
          <a:xfrm>
            <a:off x="3438144" y="2706624"/>
            <a:ext cx="2377440" cy="640080"/>
          </a:xfrm>
          <a:prstGeom prst="rect">
            <a:avLst/>
          </a:prstGeom>
          <a:noFill/>
          <a:ln/>
        </p:spPr>
        <p:txBody>
          <a:bodyPr wrap="square" lIns="0" tIns="0" rIns="0" bIns="0" rtlCol="0" anchor="t"/>
          <a:lstStyle/>
          <a:p>
            <a:pPr marL="0" indent="0">
              <a:lnSpc>
                <a:spcPct val="100000"/>
              </a:lnSpc>
              <a:buNone/>
            </a:pPr>
            <a:r>
              <a:rPr lang="en-US" sz="880">
                <a:solidFill>
                  <a:srgbClr val="5B6472"/>
                </a:solidFill>
                <a:latin typeface="Arial" pitchFamily="34" charset="0"/>
                <a:ea typeface="Arial" pitchFamily="34" charset="-122"/>
                <a:cs typeface="Arial" pitchFamily="34" charset="-120"/>
              </a:rPr>
              <a:t>OneLake, workspaces, Lakehouse, Warehouse, Direct Lake</a:t>
            </a:r>
            <a:endParaRPr lang="en-US" sz="880"/>
          </a:p>
        </p:txBody>
      </p:sp>
      <p:sp>
        <p:nvSpPr>
          <p:cNvPr id="27" name="Shape 22"/>
          <p:cNvSpPr/>
          <p:nvPr/>
        </p:nvSpPr>
        <p:spPr>
          <a:xfrm>
            <a:off x="3438144" y="3218688"/>
            <a:ext cx="594360" cy="201168"/>
          </a:xfrm>
          <a:prstGeom prst="roundRect">
            <a:avLst>
              <a:gd name="adj" fmla="val 50000"/>
            </a:avLst>
          </a:prstGeom>
          <a:solidFill>
            <a:srgbClr val="5B6472"/>
          </a:solidFill>
          <a:ln/>
        </p:spPr>
        <p:txBody>
          <a:bodyPr/>
          <a:lstStyle/>
          <a:p>
            <a:endParaRPr lang="en-US"/>
          </a:p>
        </p:txBody>
      </p:sp>
      <p:sp>
        <p:nvSpPr>
          <p:cNvPr id="28" name="Text 23"/>
          <p:cNvSpPr/>
          <p:nvPr/>
        </p:nvSpPr>
        <p:spPr>
          <a:xfrm>
            <a:off x="3438144" y="3218688"/>
            <a:ext cx="594360" cy="201168"/>
          </a:xfrm>
          <a:prstGeom prst="rect">
            <a:avLst/>
          </a:prstGeom>
          <a:noFill/>
          <a:ln/>
        </p:spPr>
        <p:txBody>
          <a:bodyPr wrap="square" lIns="0" tIns="0" rIns="0" bIns="0" rtlCol="0" anchor="ctr"/>
          <a:lstStyle/>
          <a:p>
            <a:pPr marL="0" indent="0" algn="ctr">
              <a:buNone/>
            </a:pPr>
            <a:r>
              <a:rPr lang="en-US" sz="700" b="1" kern="0" spc="100">
                <a:solidFill>
                  <a:srgbClr val="FFFFFF"/>
                </a:solidFill>
                <a:latin typeface="Arial" pitchFamily="34" charset="0"/>
                <a:ea typeface="Arial" pitchFamily="34" charset="-122"/>
                <a:cs typeface="Arial" pitchFamily="34" charset="-120"/>
              </a:rPr>
              <a:t>RECAP</a:t>
            </a:r>
            <a:endParaRPr lang="en-US" sz="700"/>
          </a:p>
        </p:txBody>
      </p:sp>
      <p:pic>
        <p:nvPicPr>
          <p:cNvPr id="29" name="Image 3" descr="preencoded.png"/>
          <p:cNvPicPr>
            <a:picLocks noChangeAspect="1"/>
          </p:cNvPicPr>
          <p:nvPr/>
        </p:nvPicPr>
        <p:blipFill>
          <a:blip r:embed="rId5"/>
          <a:stretch>
            <a:fillRect/>
          </a:stretch>
        </p:blipFill>
        <p:spPr>
          <a:xfrm>
            <a:off x="5504688" y="3127248"/>
            <a:ext cx="292608" cy="292608"/>
          </a:xfrm>
          <a:prstGeom prst="rect">
            <a:avLst/>
          </a:prstGeom>
        </p:spPr>
      </p:pic>
      <p:sp>
        <p:nvSpPr>
          <p:cNvPr id="30" name="Shape 24"/>
          <p:cNvSpPr/>
          <p:nvPr/>
        </p:nvSpPr>
        <p:spPr>
          <a:xfrm>
            <a:off x="6080760" y="1664208"/>
            <a:ext cx="2670048" cy="1847088"/>
          </a:xfrm>
          <a:prstGeom prst="rect">
            <a:avLst/>
          </a:prstGeom>
          <a:solidFill>
            <a:srgbClr val="EEF2F8"/>
          </a:solidFill>
          <a:ln w="9525">
            <a:solidFill>
              <a:srgbClr val="DCE4F0"/>
            </a:solidFill>
            <a:prstDash val="solid"/>
          </a:ln>
          <a:effectLst>
            <a:outerShdw blurRad="63500" dist="25400" dir="8100000" algn="bl" rotWithShape="0">
              <a:srgbClr val="000000">
                <a:alpha val="10000"/>
              </a:srgbClr>
            </a:outerShdw>
          </a:effectLst>
        </p:spPr>
        <p:txBody>
          <a:bodyPr/>
          <a:lstStyle/>
          <a:p>
            <a:endParaRPr lang="en-US"/>
          </a:p>
        </p:txBody>
      </p:sp>
      <p:sp>
        <p:nvSpPr>
          <p:cNvPr id="31" name="Shape 25"/>
          <p:cNvSpPr/>
          <p:nvPr/>
        </p:nvSpPr>
        <p:spPr>
          <a:xfrm>
            <a:off x="6080760" y="1664208"/>
            <a:ext cx="2670048" cy="64008"/>
          </a:xfrm>
          <a:prstGeom prst="rect">
            <a:avLst/>
          </a:prstGeom>
          <a:solidFill>
            <a:srgbClr val="00338D"/>
          </a:solidFill>
          <a:ln/>
        </p:spPr>
        <p:txBody>
          <a:bodyPr/>
          <a:lstStyle/>
          <a:p>
            <a:endParaRPr lang="en-US"/>
          </a:p>
        </p:txBody>
      </p:sp>
      <p:sp>
        <p:nvSpPr>
          <p:cNvPr id="32" name="Shape 26"/>
          <p:cNvSpPr/>
          <p:nvPr/>
        </p:nvSpPr>
        <p:spPr>
          <a:xfrm>
            <a:off x="6227064" y="1847088"/>
            <a:ext cx="384048" cy="384048"/>
          </a:xfrm>
          <a:prstGeom prst="ellipse">
            <a:avLst/>
          </a:prstGeom>
          <a:solidFill>
            <a:srgbClr val="00338D"/>
          </a:solidFill>
          <a:ln/>
        </p:spPr>
        <p:txBody>
          <a:bodyPr/>
          <a:lstStyle/>
          <a:p>
            <a:endParaRPr lang="en-US"/>
          </a:p>
        </p:txBody>
      </p:sp>
      <p:sp>
        <p:nvSpPr>
          <p:cNvPr id="33" name="Text 27"/>
          <p:cNvSpPr/>
          <p:nvPr/>
        </p:nvSpPr>
        <p:spPr>
          <a:xfrm>
            <a:off x="6227064" y="184708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Arial" pitchFamily="34" charset="0"/>
                <a:ea typeface="Arial" pitchFamily="34" charset="-122"/>
                <a:cs typeface="Arial" pitchFamily="34" charset="-120"/>
              </a:rPr>
              <a:t>3</a:t>
            </a:r>
            <a:endParaRPr lang="en-US" sz="1500"/>
          </a:p>
        </p:txBody>
      </p:sp>
      <p:pic>
        <p:nvPicPr>
          <p:cNvPr id="34" name="Image 4" descr="preencoded.png"/>
          <p:cNvPicPr>
            <a:picLocks noChangeAspect="1"/>
          </p:cNvPicPr>
          <p:nvPr/>
        </p:nvPicPr>
        <p:blipFill>
          <a:blip r:embed="rId3"/>
          <a:stretch>
            <a:fillRect/>
          </a:stretch>
        </p:blipFill>
        <p:spPr>
          <a:xfrm>
            <a:off x="7818120" y="1911096"/>
            <a:ext cx="155448" cy="155448"/>
          </a:xfrm>
          <a:prstGeom prst="rect">
            <a:avLst/>
          </a:prstGeom>
        </p:spPr>
      </p:pic>
      <p:sp>
        <p:nvSpPr>
          <p:cNvPr id="35" name="Text 28"/>
          <p:cNvSpPr/>
          <p:nvPr/>
        </p:nvSpPr>
        <p:spPr>
          <a:xfrm>
            <a:off x="7991856" y="1847088"/>
            <a:ext cx="658368" cy="274320"/>
          </a:xfrm>
          <a:prstGeom prst="rect">
            <a:avLst/>
          </a:prstGeom>
          <a:noFill/>
          <a:ln/>
        </p:spPr>
        <p:txBody>
          <a:bodyPr wrap="square" lIns="0" tIns="0" rIns="0" bIns="0" rtlCol="0" anchor="ctr"/>
          <a:lstStyle/>
          <a:p>
            <a:pPr marL="0" indent="0" algn="r">
              <a:buNone/>
            </a:pPr>
            <a:r>
              <a:rPr lang="en-US" sz="950" b="1">
                <a:solidFill>
                  <a:srgbClr val="5B6472"/>
                </a:solidFill>
                <a:latin typeface="Arial" pitchFamily="34" charset="0"/>
                <a:ea typeface="Arial" pitchFamily="34" charset="-122"/>
                <a:cs typeface="Arial" pitchFamily="34" charset="-120"/>
              </a:rPr>
              <a:t>60 min</a:t>
            </a:r>
            <a:endParaRPr lang="en-US" sz="950"/>
          </a:p>
        </p:txBody>
      </p:sp>
      <p:sp>
        <p:nvSpPr>
          <p:cNvPr id="36" name="Text 29"/>
          <p:cNvSpPr/>
          <p:nvPr/>
        </p:nvSpPr>
        <p:spPr>
          <a:xfrm>
            <a:off x="6227064" y="2340864"/>
            <a:ext cx="2377440" cy="365760"/>
          </a:xfrm>
          <a:prstGeom prst="rect">
            <a:avLst/>
          </a:prstGeom>
          <a:noFill/>
          <a:ln/>
        </p:spPr>
        <p:txBody>
          <a:bodyPr wrap="square" lIns="0" tIns="0" rIns="0" bIns="0" rtlCol="0" anchor="t"/>
          <a:lstStyle/>
          <a:p>
            <a:pPr marL="0" indent="0">
              <a:buNone/>
            </a:pPr>
            <a:r>
              <a:rPr lang="en-US" sz="1250" b="1">
                <a:solidFill>
                  <a:srgbClr val="1A1A2E"/>
                </a:solidFill>
                <a:latin typeface="Arial" pitchFamily="34" charset="0"/>
                <a:ea typeface="Arial" pitchFamily="34" charset="-122"/>
                <a:cs typeface="Arial" pitchFamily="34" charset="-120"/>
              </a:rPr>
              <a:t>Data Engineering</a:t>
            </a:r>
            <a:endParaRPr lang="en-US" sz="1250"/>
          </a:p>
        </p:txBody>
      </p:sp>
      <p:sp>
        <p:nvSpPr>
          <p:cNvPr id="37" name="Text 30"/>
          <p:cNvSpPr/>
          <p:nvPr/>
        </p:nvSpPr>
        <p:spPr>
          <a:xfrm>
            <a:off x="6227064" y="2706624"/>
            <a:ext cx="2377440" cy="640080"/>
          </a:xfrm>
          <a:prstGeom prst="rect">
            <a:avLst/>
          </a:prstGeom>
          <a:noFill/>
          <a:ln/>
        </p:spPr>
        <p:txBody>
          <a:bodyPr wrap="square" lIns="0" tIns="0" rIns="0" bIns="0" rtlCol="0" anchor="t"/>
          <a:lstStyle/>
          <a:p>
            <a:pPr marL="0" indent="0">
              <a:lnSpc>
                <a:spcPct val="100000"/>
              </a:lnSpc>
              <a:buNone/>
            </a:pPr>
            <a:r>
              <a:rPr lang="en-US" sz="880">
                <a:solidFill>
                  <a:srgbClr val="5B6472"/>
                </a:solidFill>
                <a:latin typeface="Arial" pitchFamily="34" charset="0"/>
                <a:ea typeface="Arial" pitchFamily="34" charset="-122"/>
                <a:cs typeface="Arial" pitchFamily="34" charset="-120"/>
              </a:rPr>
              <a:t>Pipelines, notebooks, shortcuts, Bronze / Silver / Gold — mapped to Alteryx patterns they know</a:t>
            </a:r>
            <a:endParaRPr lang="en-US" sz="880"/>
          </a:p>
        </p:txBody>
      </p:sp>
      <p:sp>
        <p:nvSpPr>
          <p:cNvPr id="38" name="Shape 31"/>
          <p:cNvSpPr/>
          <p:nvPr/>
        </p:nvSpPr>
        <p:spPr>
          <a:xfrm>
            <a:off x="6227064" y="3218688"/>
            <a:ext cx="707746" cy="201168"/>
          </a:xfrm>
          <a:prstGeom prst="roundRect">
            <a:avLst>
              <a:gd name="adj" fmla="val 50000"/>
            </a:avLst>
          </a:prstGeom>
          <a:solidFill>
            <a:srgbClr val="005EB8"/>
          </a:solidFill>
          <a:ln/>
        </p:spPr>
        <p:txBody>
          <a:bodyPr/>
          <a:lstStyle/>
          <a:p>
            <a:endParaRPr lang="en-US"/>
          </a:p>
        </p:txBody>
      </p:sp>
      <p:sp>
        <p:nvSpPr>
          <p:cNvPr id="39" name="Text 32"/>
          <p:cNvSpPr/>
          <p:nvPr/>
        </p:nvSpPr>
        <p:spPr>
          <a:xfrm>
            <a:off x="6227064" y="3218688"/>
            <a:ext cx="707746" cy="201168"/>
          </a:xfrm>
          <a:prstGeom prst="rect">
            <a:avLst/>
          </a:prstGeom>
          <a:noFill/>
          <a:ln/>
        </p:spPr>
        <p:txBody>
          <a:bodyPr wrap="square" lIns="0" tIns="0" rIns="0" bIns="0" rtlCol="0" anchor="ctr"/>
          <a:lstStyle/>
          <a:p>
            <a:pPr marL="0" indent="0" algn="ctr">
              <a:buNone/>
            </a:pPr>
            <a:r>
              <a:rPr lang="en-US" sz="700" b="1" kern="0" spc="100">
                <a:solidFill>
                  <a:srgbClr val="FFFFFF"/>
                </a:solidFill>
                <a:latin typeface="Arial" pitchFamily="34" charset="0"/>
                <a:ea typeface="Arial" pitchFamily="34" charset="-122"/>
                <a:cs typeface="Arial" pitchFamily="34" charset="-120"/>
              </a:rPr>
              <a:t>NET-NEW</a:t>
            </a:r>
            <a:endParaRPr lang="en-US" sz="700"/>
          </a:p>
        </p:txBody>
      </p:sp>
      <p:pic>
        <p:nvPicPr>
          <p:cNvPr id="40" name="Image 5" descr="preencoded.png"/>
          <p:cNvPicPr>
            <a:picLocks noChangeAspect="1"/>
          </p:cNvPicPr>
          <p:nvPr/>
        </p:nvPicPr>
        <p:blipFill>
          <a:blip r:embed="rId6"/>
          <a:stretch>
            <a:fillRect/>
          </a:stretch>
        </p:blipFill>
        <p:spPr>
          <a:xfrm>
            <a:off x="8293608" y="3127248"/>
            <a:ext cx="292608" cy="292608"/>
          </a:xfrm>
          <a:prstGeom prst="rect">
            <a:avLst/>
          </a:prstGeom>
        </p:spPr>
      </p:pic>
      <p:sp>
        <p:nvSpPr>
          <p:cNvPr id="41" name="Shape 33"/>
          <p:cNvSpPr/>
          <p:nvPr/>
        </p:nvSpPr>
        <p:spPr>
          <a:xfrm>
            <a:off x="8869680" y="1664208"/>
            <a:ext cx="2670048" cy="1847088"/>
          </a:xfrm>
          <a:prstGeom prst="rect">
            <a:avLst/>
          </a:prstGeom>
          <a:solidFill>
            <a:srgbClr val="EEF2F8"/>
          </a:solidFill>
          <a:ln w="9525">
            <a:solidFill>
              <a:srgbClr val="DCE4F0"/>
            </a:solidFill>
            <a:prstDash val="solid"/>
          </a:ln>
          <a:effectLst>
            <a:outerShdw blurRad="63500" dist="25400" dir="8100000" algn="bl" rotWithShape="0">
              <a:srgbClr val="000000">
                <a:alpha val="10000"/>
              </a:srgbClr>
            </a:outerShdw>
          </a:effectLst>
        </p:spPr>
        <p:txBody>
          <a:bodyPr/>
          <a:lstStyle/>
          <a:p>
            <a:endParaRPr lang="en-US"/>
          </a:p>
        </p:txBody>
      </p:sp>
      <p:sp>
        <p:nvSpPr>
          <p:cNvPr id="42" name="Shape 34"/>
          <p:cNvSpPr/>
          <p:nvPr/>
        </p:nvSpPr>
        <p:spPr>
          <a:xfrm>
            <a:off x="8869680" y="1664208"/>
            <a:ext cx="2670048" cy="64008"/>
          </a:xfrm>
          <a:prstGeom prst="rect">
            <a:avLst/>
          </a:prstGeom>
          <a:solidFill>
            <a:srgbClr val="00338D"/>
          </a:solidFill>
          <a:ln/>
        </p:spPr>
        <p:txBody>
          <a:bodyPr/>
          <a:lstStyle/>
          <a:p>
            <a:endParaRPr lang="en-US"/>
          </a:p>
        </p:txBody>
      </p:sp>
      <p:sp>
        <p:nvSpPr>
          <p:cNvPr id="43" name="Shape 35"/>
          <p:cNvSpPr/>
          <p:nvPr/>
        </p:nvSpPr>
        <p:spPr>
          <a:xfrm>
            <a:off x="9015984" y="1847088"/>
            <a:ext cx="384048" cy="384048"/>
          </a:xfrm>
          <a:prstGeom prst="ellipse">
            <a:avLst/>
          </a:prstGeom>
          <a:solidFill>
            <a:srgbClr val="00338D"/>
          </a:solidFill>
          <a:ln/>
        </p:spPr>
        <p:txBody>
          <a:bodyPr/>
          <a:lstStyle/>
          <a:p>
            <a:endParaRPr lang="en-US"/>
          </a:p>
        </p:txBody>
      </p:sp>
      <p:sp>
        <p:nvSpPr>
          <p:cNvPr id="44" name="Text 36"/>
          <p:cNvSpPr/>
          <p:nvPr/>
        </p:nvSpPr>
        <p:spPr>
          <a:xfrm>
            <a:off x="9015984" y="184708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Arial" pitchFamily="34" charset="0"/>
                <a:ea typeface="Arial" pitchFamily="34" charset="-122"/>
                <a:cs typeface="Arial" pitchFamily="34" charset="-120"/>
              </a:rPr>
              <a:t>4</a:t>
            </a:r>
            <a:endParaRPr lang="en-US" sz="1500"/>
          </a:p>
        </p:txBody>
      </p:sp>
      <p:pic>
        <p:nvPicPr>
          <p:cNvPr id="45" name="Image 6" descr="preencoded.png"/>
          <p:cNvPicPr>
            <a:picLocks noChangeAspect="1"/>
          </p:cNvPicPr>
          <p:nvPr/>
        </p:nvPicPr>
        <p:blipFill>
          <a:blip r:embed="rId3"/>
          <a:stretch>
            <a:fillRect/>
          </a:stretch>
        </p:blipFill>
        <p:spPr>
          <a:xfrm>
            <a:off x="10607040" y="1911096"/>
            <a:ext cx="155448" cy="155448"/>
          </a:xfrm>
          <a:prstGeom prst="rect">
            <a:avLst/>
          </a:prstGeom>
        </p:spPr>
      </p:pic>
      <p:sp>
        <p:nvSpPr>
          <p:cNvPr id="46" name="Text 37"/>
          <p:cNvSpPr/>
          <p:nvPr/>
        </p:nvSpPr>
        <p:spPr>
          <a:xfrm>
            <a:off x="10780776" y="1847088"/>
            <a:ext cx="658368" cy="274320"/>
          </a:xfrm>
          <a:prstGeom prst="rect">
            <a:avLst/>
          </a:prstGeom>
          <a:noFill/>
          <a:ln/>
        </p:spPr>
        <p:txBody>
          <a:bodyPr wrap="square" lIns="0" tIns="0" rIns="0" bIns="0" rtlCol="0" anchor="ctr"/>
          <a:lstStyle/>
          <a:p>
            <a:pPr marL="0" indent="0" algn="r">
              <a:buNone/>
            </a:pPr>
            <a:r>
              <a:rPr lang="en-US" sz="950" b="1">
                <a:solidFill>
                  <a:srgbClr val="5B6472"/>
                </a:solidFill>
                <a:latin typeface="Arial" pitchFamily="34" charset="0"/>
                <a:ea typeface="Arial" pitchFamily="34" charset="-122"/>
                <a:cs typeface="Arial" pitchFamily="34" charset="-120"/>
              </a:rPr>
              <a:t>45 min</a:t>
            </a:r>
            <a:endParaRPr lang="en-US" sz="950"/>
          </a:p>
        </p:txBody>
      </p:sp>
      <p:sp>
        <p:nvSpPr>
          <p:cNvPr id="47" name="Text 38"/>
          <p:cNvSpPr/>
          <p:nvPr/>
        </p:nvSpPr>
        <p:spPr>
          <a:xfrm>
            <a:off x="9015984" y="2340864"/>
            <a:ext cx="2377440" cy="365760"/>
          </a:xfrm>
          <a:prstGeom prst="rect">
            <a:avLst/>
          </a:prstGeom>
          <a:noFill/>
          <a:ln/>
        </p:spPr>
        <p:txBody>
          <a:bodyPr wrap="square" lIns="0" tIns="0" rIns="0" bIns="0" rtlCol="0" anchor="t"/>
          <a:lstStyle/>
          <a:p>
            <a:pPr marL="0" indent="0">
              <a:buNone/>
            </a:pPr>
            <a:r>
              <a:rPr lang="en-US" sz="1250" b="1">
                <a:solidFill>
                  <a:srgbClr val="1A1A2E"/>
                </a:solidFill>
                <a:latin typeface="Arial" pitchFamily="34" charset="0"/>
                <a:ea typeface="Arial" pitchFamily="34" charset="-122"/>
                <a:cs typeface="Arial" pitchFamily="34" charset="-120"/>
              </a:rPr>
              <a:t>Security &amp; Governance</a:t>
            </a:r>
            <a:endParaRPr lang="en-US" sz="1250"/>
          </a:p>
        </p:txBody>
      </p:sp>
      <p:sp>
        <p:nvSpPr>
          <p:cNvPr id="48" name="Text 39"/>
          <p:cNvSpPr/>
          <p:nvPr/>
        </p:nvSpPr>
        <p:spPr>
          <a:xfrm>
            <a:off x="9015984" y="2706624"/>
            <a:ext cx="2377440" cy="640080"/>
          </a:xfrm>
          <a:prstGeom prst="rect">
            <a:avLst/>
          </a:prstGeom>
          <a:noFill/>
          <a:ln/>
        </p:spPr>
        <p:txBody>
          <a:bodyPr wrap="square" lIns="0" tIns="0" rIns="0" bIns="0" rtlCol="0" anchor="t"/>
          <a:lstStyle/>
          <a:p>
            <a:pPr marL="0" indent="0">
              <a:lnSpc>
                <a:spcPct val="100000"/>
              </a:lnSpc>
              <a:buNone/>
            </a:pPr>
            <a:r>
              <a:rPr lang="en-US" sz="880">
                <a:solidFill>
                  <a:srgbClr val="5B6472"/>
                </a:solidFill>
                <a:latin typeface="Arial" pitchFamily="34" charset="0"/>
                <a:ea typeface="Arial" pitchFamily="34" charset="-122"/>
                <a:cs typeface="Arial" pitchFamily="34" charset="-120"/>
              </a:rPr>
              <a:t>Entra, workspace roles, OneLake security, Purview, RLS / OLS</a:t>
            </a:r>
            <a:endParaRPr lang="en-US" sz="880"/>
          </a:p>
        </p:txBody>
      </p:sp>
      <p:sp>
        <p:nvSpPr>
          <p:cNvPr id="49" name="Shape 40"/>
          <p:cNvSpPr/>
          <p:nvPr/>
        </p:nvSpPr>
        <p:spPr>
          <a:xfrm>
            <a:off x="9015984" y="3218688"/>
            <a:ext cx="707746" cy="201168"/>
          </a:xfrm>
          <a:prstGeom prst="roundRect">
            <a:avLst>
              <a:gd name="adj" fmla="val 50000"/>
            </a:avLst>
          </a:prstGeom>
          <a:solidFill>
            <a:srgbClr val="005EB8"/>
          </a:solidFill>
          <a:ln/>
        </p:spPr>
        <p:txBody>
          <a:bodyPr/>
          <a:lstStyle/>
          <a:p>
            <a:endParaRPr lang="en-US"/>
          </a:p>
        </p:txBody>
      </p:sp>
      <p:sp>
        <p:nvSpPr>
          <p:cNvPr id="50" name="Text 41"/>
          <p:cNvSpPr/>
          <p:nvPr/>
        </p:nvSpPr>
        <p:spPr>
          <a:xfrm>
            <a:off x="9015984" y="3218688"/>
            <a:ext cx="707746" cy="201168"/>
          </a:xfrm>
          <a:prstGeom prst="rect">
            <a:avLst/>
          </a:prstGeom>
          <a:noFill/>
          <a:ln/>
        </p:spPr>
        <p:txBody>
          <a:bodyPr wrap="square" lIns="0" tIns="0" rIns="0" bIns="0" rtlCol="0" anchor="ctr"/>
          <a:lstStyle/>
          <a:p>
            <a:pPr marL="0" indent="0" algn="ctr">
              <a:buNone/>
            </a:pPr>
            <a:r>
              <a:rPr lang="en-US" sz="700" b="1" kern="0" spc="100">
                <a:solidFill>
                  <a:srgbClr val="FFFFFF"/>
                </a:solidFill>
                <a:latin typeface="Arial" pitchFamily="34" charset="0"/>
                <a:ea typeface="Arial" pitchFamily="34" charset="-122"/>
                <a:cs typeface="Arial" pitchFamily="34" charset="-120"/>
              </a:rPr>
              <a:t>NET-NEW</a:t>
            </a:r>
            <a:endParaRPr lang="en-US" sz="700"/>
          </a:p>
        </p:txBody>
      </p:sp>
      <p:pic>
        <p:nvPicPr>
          <p:cNvPr id="51" name="Image 7" descr="preencoded.png"/>
          <p:cNvPicPr>
            <a:picLocks noChangeAspect="1"/>
          </p:cNvPicPr>
          <p:nvPr/>
        </p:nvPicPr>
        <p:blipFill>
          <a:blip r:embed="rId7"/>
          <a:stretch>
            <a:fillRect/>
          </a:stretch>
        </p:blipFill>
        <p:spPr>
          <a:xfrm>
            <a:off x="11082528" y="3127248"/>
            <a:ext cx="292608" cy="292608"/>
          </a:xfrm>
          <a:prstGeom prst="rect">
            <a:avLst/>
          </a:prstGeom>
        </p:spPr>
      </p:pic>
      <p:sp>
        <p:nvSpPr>
          <p:cNvPr id="52" name="Shape 42"/>
          <p:cNvSpPr/>
          <p:nvPr/>
        </p:nvSpPr>
        <p:spPr>
          <a:xfrm>
            <a:off x="502920" y="3675888"/>
            <a:ext cx="2670048" cy="1847088"/>
          </a:xfrm>
          <a:prstGeom prst="rect">
            <a:avLst/>
          </a:prstGeom>
          <a:solidFill>
            <a:srgbClr val="EEF2F8"/>
          </a:solidFill>
          <a:ln w="9525">
            <a:solidFill>
              <a:srgbClr val="DCE4F0"/>
            </a:solidFill>
            <a:prstDash val="solid"/>
          </a:ln>
          <a:effectLst>
            <a:outerShdw blurRad="63500" dist="25400" dir="8100000" algn="bl" rotWithShape="0">
              <a:srgbClr val="000000">
                <a:alpha val="10000"/>
              </a:srgbClr>
            </a:outerShdw>
          </a:effectLst>
        </p:spPr>
        <p:txBody>
          <a:bodyPr/>
          <a:lstStyle/>
          <a:p>
            <a:endParaRPr lang="en-US"/>
          </a:p>
        </p:txBody>
      </p:sp>
      <p:sp>
        <p:nvSpPr>
          <p:cNvPr id="53" name="Shape 43"/>
          <p:cNvSpPr/>
          <p:nvPr/>
        </p:nvSpPr>
        <p:spPr>
          <a:xfrm>
            <a:off x="502920" y="3675888"/>
            <a:ext cx="2670048" cy="64008"/>
          </a:xfrm>
          <a:prstGeom prst="rect">
            <a:avLst/>
          </a:prstGeom>
          <a:solidFill>
            <a:srgbClr val="7030A0"/>
          </a:solidFill>
          <a:ln/>
        </p:spPr>
        <p:txBody>
          <a:bodyPr/>
          <a:lstStyle/>
          <a:p>
            <a:endParaRPr lang="en-US"/>
          </a:p>
        </p:txBody>
      </p:sp>
      <p:sp>
        <p:nvSpPr>
          <p:cNvPr id="54" name="Shape 44"/>
          <p:cNvSpPr/>
          <p:nvPr/>
        </p:nvSpPr>
        <p:spPr>
          <a:xfrm>
            <a:off x="649224" y="3858768"/>
            <a:ext cx="384048" cy="384048"/>
          </a:xfrm>
          <a:prstGeom prst="ellipse">
            <a:avLst/>
          </a:prstGeom>
          <a:solidFill>
            <a:srgbClr val="00338D"/>
          </a:solidFill>
          <a:ln/>
        </p:spPr>
        <p:txBody>
          <a:bodyPr/>
          <a:lstStyle/>
          <a:p>
            <a:endParaRPr lang="en-US"/>
          </a:p>
        </p:txBody>
      </p:sp>
      <p:sp>
        <p:nvSpPr>
          <p:cNvPr id="55" name="Text 45"/>
          <p:cNvSpPr/>
          <p:nvPr/>
        </p:nvSpPr>
        <p:spPr>
          <a:xfrm>
            <a:off x="649224" y="3858768"/>
            <a:ext cx="384048" cy="384048"/>
          </a:xfrm>
          <a:prstGeom prst="rect">
            <a:avLst/>
          </a:prstGeom>
          <a:solidFill>
            <a:srgbClr val="7030A0"/>
          </a:solidFill>
          <a:ln/>
        </p:spPr>
        <p:txBody>
          <a:bodyPr wrap="square" lIns="0" tIns="0" rIns="0" bIns="0" rtlCol="0" anchor="ctr"/>
          <a:lstStyle/>
          <a:p>
            <a:pPr marL="0" indent="0" algn="ctr">
              <a:buNone/>
            </a:pPr>
            <a:r>
              <a:rPr lang="en-US" sz="1500" b="1">
                <a:solidFill>
                  <a:srgbClr val="FFFFFF"/>
                </a:solidFill>
                <a:latin typeface="Arial" pitchFamily="34" charset="0"/>
                <a:ea typeface="Arial" pitchFamily="34" charset="-122"/>
                <a:cs typeface="Arial" pitchFamily="34" charset="-120"/>
              </a:rPr>
              <a:t>5</a:t>
            </a:r>
            <a:endParaRPr lang="en-US" sz="1500"/>
          </a:p>
        </p:txBody>
      </p:sp>
      <p:pic>
        <p:nvPicPr>
          <p:cNvPr id="56" name="Image 8" descr="preencoded.png"/>
          <p:cNvPicPr>
            <a:picLocks noChangeAspect="1"/>
          </p:cNvPicPr>
          <p:nvPr/>
        </p:nvPicPr>
        <p:blipFill>
          <a:blip r:embed="rId3"/>
          <a:stretch>
            <a:fillRect/>
          </a:stretch>
        </p:blipFill>
        <p:spPr>
          <a:xfrm>
            <a:off x="2240280" y="3922776"/>
            <a:ext cx="155448" cy="155448"/>
          </a:xfrm>
          <a:prstGeom prst="rect">
            <a:avLst/>
          </a:prstGeom>
        </p:spPr>
      </p:pic>
      <p:sp>
        <p:nvSpPr>
          <p:cNvPr id="57" name="Text 46"/>
          <p:cNvSpPr/>
          <p:nvPr/>
        </p:nvSpPr>
        <p:spPr>
          <a:xfrm>
            <a:off x="2414016" y="3858768"/>
            <a:ext cx="658368" cy="274320"/>
          </a:xfrm>
          <a:prstGeom prst="rect">
            <a:avLst/>
          </a:prstGeom>
          <a:noFill/>
          <a:ln/>
        </p:spPr>
        <p:txBody>
          <a:bodyPr wrap="square" lIns="0" tIns="0" rIns="0" bIns="0" rtlCol="0" anchor="ctr"/>
          <a:lstStyle/>
          <a:p>
            <a:pPr marL="0" indent="0" algn="r">
              <a:buNone/>
            </a:pPr>
            <a:r>
              <a:rPr lang="en-US" sz="950" b="1">
                <a:solidFill>
                  <a:srgbClr val="5B6472"/>
                </a:solidFill>
                <a:latin typeface="Arial" pitchFamily="34" charset="0"/>
                <a:ea typeface="Arial" pitchFamily="34" charset="-122"/>
                <a:cs typeface="Arial" pitchFamily="34" charset="-120"/>
              </a:rPr>
              <a:t>60 min</a:t>
            </a:r>
            <a:endParaRPr lang="en-US" sz="950"/>
          </a:p>
        </p:txBody>
      </p:sp>
      <p:sp>
        <p:nvSpPr>
          <p:cNvPr id="58" name="Text 47"/>
          <p:cNvSpPr/>
          <p:nvPr/>
        </p:nvSpPr>
        <p:spPr>
          <a:xfrm>
            <a:off x="649224" y="4352544"/>
            <a:ext cx="2377440" cy="365760"/>
          </a:xfrm>
          <a:prstGeom prst="rect">
            <a:avLst/>
          </a:prstGeom>
          <a:noFill/>
          <a:ln/>
        </p:spPr>
        <p:txBody>
          <a:bodyPr wrap="square" lIns="0" tIns="0" rIns="0" bIns="0" rtlCol="0" anchor="t"/>
          <a:lstStyle/>
          <a:p>
            <a:pPr marL="0" indent="0">
              <a:buNone/>
            </a:pPr>
            <a:r>
              <a:rPr lang="en-US" sz="1250" b="1">
                <a:solidFill>
                  <a:srgbClr val="1A1A2E"/>
                </a:solidFill>
                <a:latin typeface="Arial" pitchFamily="34" charset="0"/>
                <a:ea typeface="Arial" pitchFamily="34" charset="-122"/>
                <a:cs typeface="Arial" pitchFamily="34" charset="-120"/>
              </a:rPr>
              <a:t>Application Development</a:t>
            </a:r>
            <a:endParaRPr lang="en-US" sz="1250"/>
          </a:p>
        </p:txBody>
      </p:sp>
      <p:sp>
        <p:nvSpPr>
          <p:cNvPr id="59" name="Text 48"/>
          <p:cNvSpPr/>
          <p:nvPr/>
        </p:nvSpPr>
        <p:spPr>
          <a:xfrm>
            <a:off x="649224" y="4718304"/>
            <a:ext cx="2377440" cy="640080"/>
          </a:xfrm>
          <a:prstGeom prst="rect">
            <a:avLst/>
          </a:prstGeom>
          <a:noFill/>
          <a:ln/>
        </p:spPr>
        <p:txBody>
          <a:bodyPr wrap="square" lIns="0" tIns="0" rIns="0" bIns="0" rtlCol="0" anchor="t"/>
          <a:lstStyle/>
          <a:p>
            <a:pPr marL="0" indent="0">
              <a:lnSpc>
                <a:spcPct val="100000"/>
              </a:lnSpc>
              <a:buNone/>
            </a:pPr>
            <a:r>
              <a:rPr lang="en-US" sz="880">
                <a:solidFill>
                  <a:srgbClr val="5B6472"/>
                </a:solidFill>
                <a:latin typeface="Arial" pitchFamily="34" charset="0"/>
                <a:ea typeface="Arial" pitchFamily="34" charset="-122"/>
                <a:cs typeface="Arial" pitchFamily="34" charset="-120"/>
              </a:rPr>
              <a:t>Talk through the KPMG + Johnny (TDMI) work: idea→PROD process, Solo→Upsize, React / FastAPI / Azure SQL apps on Fabric</a:t>
            </a:r>
            <a:endParaRPr lang="en-US" sz="880"/>
          </a:p>
        </p:txBody>
      </p:sp>
      <p:sp>
        <p:nvSpPr>
          <p:cNvPr id="60" name="Shape 49"/>
          <p:cNvSpPr/>
          <p:nvPr/>
        </p:nvSpPr>
        <p:spPr>
          <a:xfrm>
            <a:off x="649224" y="5230368"/>
            <a:ext cx="707746" cy="201168"/>
          </a:xfrm>
          <a:prstGeom prst="roundRect">
            <a:avLst>
              <a:gd name="adj" fmla="val 50000"/>
            </a:avLst>
          </a:prstGeom>
          <a:solidFill>
            <a:srgbClr val="005EB8"/>
          </a:solidFill>
          <a:ln/>
        </p:spPr>
        <p:txBody>
          <a:bodyPr/>
          <a:lstStyle/>
          <a:p>
            <a:endParaRPr lang="en-US"/>
          </a:p>
        </p:txBody>
      </p:sp>
      <p:sp>
        <p:nvSpPr>
          <p:cNvPr id="61" name="Text 50"/>
          <p:cNvSpPr/>
          <p:nvPr/>
        </p:nvSpPr>
        <p:spPr>
          <a:xfrm>
            <a:off x="649224" y="5230368"/>
            <a:ext cx="707746" cy="201168"/>
          </a:xfrm>
          <a:prstGeom prst="rect">
            <a:avLst/>
          </a:prstGeom>
          <a:solidFill>
            <a:srgbClr val="7030A0"/>
          </a:solidFill>
          <a:ln/>
        </p:spPr>
        <p:txBody>
          <a:bodyPr wrap="square" lIns="0" tIns="0" rIns="0" bIns="0" rtlCol="0" anchor="ctr"/>
          <a:lstStyle/>
          <a:p>
            <a:pPr marL="0" indent="0" algn="ctr">
              <a:buNone/>
            </a:pPr>
            <a:r>
              <a:rPr lang="en-US" sz="700" b="1" kern="0" spc="100">
                <a:solidFill>
                  <a:srgbClr val="FFFFFF"/>
                </a:solidFill>
                <a:latin typeface="Arial" pitchFamily="34" charset="0"/>
                <a:ea typeface="Arial" pitchFamily="34" charset="-122"/>
                <a:cs typeface="Arial" pitchFamily="34" charset="-120"/>
              </a:rPr>
              <a:t>NET-NEW</a:t>
            </a:r>
            <a:endParaRPr lang="en-US" sz="700"/>
          </a:p>
        </p:txBody>
      </p:sp>
      <p:pic>
        <p:nvPicPr>
          <p:cNvPr id="62" name="Image 9" descr="preencoded.png"/>
          <p:cNvPicPr>
            <a:picLocks noChangeAspect="1"/>
          </p:cNvPicPr>
          <p:nvPr/>
        </p:nvPicPr>
        <p:blipFill>
          <a:blip r:embed="rId8"/>
          <a:stretch>
            <a:fillRect/>
          </a:stretch>
        </p:blipFill>
        <p:spPr>
          <a:xfrm>
            <a:off x="2715768" y="5138928"/>
            <a:ext cx="292608" cy="292608"/>
          </a:xfrm>
          <a:prstGeom prst="rect">
            <a:avLst/>
          </a:prstGeom>
        </p:spPr>
      </p:pic>
      <p:sp>
        <p:nvSpPr>
          <p:cNvPr id="63" name="Shape 51"/>
          <p:cNvSpPr/>
          <p:nvPr/>
        </p:nvSpPr>
        <p:spPr>
          <a:xfrm>
            <a:off x="3291840" y="3675888"/>
            <a:ext cx="2670048" cy="1847088"/>
          </a:xfrm>
          <a:prstGeom prst="rect">
            <a:avLst/>
          </a:prstGeom>
          <a:solidFill>
            <a:srgbClr val="EEF2F8"/>
          </a:solidFill>
          <a:ln w="9525">
            <a:solidFill>
              <a:srgbClr val="DCE4F0"/>
            </a:solidFill>
            <a:prstDash val="solid"/>
          </a:ln>
          <a:effectLst>
            <a:outerShdw blurRad="63500" dist="25400" dir="8100000" algn="bl" rotWithShape="0">
              <a:srgbClr val="000000">
                <a:alpha val="10000"/>
              </a:srgbClr>
            </a:outerShdw>
          </a:effectLst>
        </p:spPr>
        <p:txBody>
          <a:bodyPr/>
          <a:lstStyle/>
          <a:p>
            <a:endParaRPr lang="en-US"/>
          </a:p>
        </p:txBody>
      </p:sp>
      <p:sp>
        <p:nvSpPr>
          <p:cNvPr id="64" name="Shape 52"/>
          <p:cNvSpPr/>
          <p:nvPr/>
        </p:nvSpPr>
        <p:spPr>
          <a:xfrm>
            <a:off x="3291840" y="3675888"/>
            <a:ext cx="2670048" cy="64008"/>
          </a:xfrm>
          <a:prstGeom prst="rect">
            <a:avLst/>
          </a:prstGeom>
          <a:solidFill>
            <a:srgbClr val="7030A0"/>
          </a:solidFill>
          <a:ln/>
        </p:spPr>
        <p:txBody>
          <a:bodyPr/>
          <a:lstStyle/>
          <a:p>
            <a:endParaRPr lang="en-US"/>
          </a:p>
        </p:txBody>
      </p:sp>
      <p:sp>
        <p:nvSpPr>
          <p:cNvPr id="65" name="Shape 53"/>
          <p:cNvSpPr/>
          <p:nvPr/>
        </p:nvSpPr>
        <p:spPr>
          <a:xfrm>
            <a:off x="3438144" y="3858768"/>
            <a:ext cx="384048" cy="384048"/>
          </a:xfrm>
          <a:prstGeom prst="ellipse">
            <a:avLst/>
          </a:prstGeom>
          <a:solidFill>
            <a:srgbClr val="7030A0"/>
          </a:solidFill>
          <a:ln/>
        </p:spPr>
        <p:txBody>
          <a:bodyPr/>
          <a:lstStyle/>
          <a:p>
            <a:endParaRPr lang="en-US"/>
          </a:p>
        </p:txBody>
      </p:sp>
      <p:sp>
        <p:nvSpPr>
          <p:cNvPr id="66" name="Text 54"/>
          <p:cNvSpPr/>
          <p:nvPr/>
        </p:nvSpPr>
        <p:spPr>
          <a:xfrm>
            <a:off x="3438144" y="385876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Arial" pitchFamily="34" charset="0"/>
                <a:ea typeface="Arial" pitchFamily="34" charset="-122"/>
                <a:cs typeface="Arial" pitchFamily="34" charset="-120"/>
              </a:rPr>
              <a:t>6</a:t>
            </a:r>
            <a:endParaRPr lang="en-US" sz="1500"/>
          </a:p>
        </p:txBody>
      </p:sp>
      <p:pic>
        <p:nvPicPr>
          <p:cNvPr id="67" name="Image 10" descr="preencoded.png"/>
          <p:cNvPicPr>
            <a:picLocks noChangeAspect="1"/>
          </p:cNvPicPr>
          <p:nvPr/>
        </p:nvPicPr>
        <p:blipFill>
          <a:blip r:embed="rId3"/>
          <a:stretch>
            <a:fillRect/>
          </a:stretch>
        </p:blipFill>
        <p:spPr>
          <a:xfrm>
            <a:off x="5029200" y="3922776"/>
            <a:ext cx="155448" cy="155448"/>
          </a:xfrm>
          <a:prstGeom prst="rect">
            <a:avLst/>
          </a:prstGeom>
        </p:spPr>
      </p:pic>
      <p:sp>
        <p:nvSpPr>
          <p:cNvPr id="68" name="Text 55"/>
          <p:cNvSpPr/>
          <p:nvPr/>
        </p:nvSpPr>
        <p:spPr>
          <a:xfrm>
            <a:off x="5202936" y="3858768"/>
            <a:ext cx="658368" cy="274320"/>
          </a:xfrm>
          <a:prstGeom prst="rect">
            <a:avLst/>
          </a:prstGeom>
          <a:noFill/>
          <a:ln/>
        </p:spPr>
        <p:txBody>
          <a:bodyPr wrap="square" lIns="0" tIns="0" rIns="0" bIns="0" rtlCol="0" anchor="ctr"/>
          <a:lstStyle/>
          <a:p>
            <a:pPr marL="0" indent="0" algn="r">
              <a:buNone/>
            </a:pPr>
            <a:r>
              <a:rPr lang="en-US" sz="950" b="1">
                <a:solidFill>
                  <a:srgbClr val="5B6472"/>
                </a:solidFill>
                <a:latin typeface="Arial" pitchFamily="34" charset="0"/>
                <a:ea typeface="Arial" pitchFamily="34" charset="-122"/>
                <a:cs typeface="Arial" pitchFamily="34" charset="-120"/>
              </a:rPr>
              <a:t>45 min</a:t>
            </a:r>
            <a:endParaRPr lang="en-US" sz="950"/>
          </a:p>
        </p:txBody>
      </p:sp>
      <p:sp>
        <p:nvSpPr>
          <p:cNvPr id="69" name="Text 56"/>
          <p:cNvSpPr/>
          <p:nvPr/>
        </p:nvSpPr>
        <p:spPr>
          <a:xfrm>
            <a:off x="3438144" y="4352544"/>
            <a:ext cx="2377440" cy="365760"/>
          </a:xfrm>
          <a:prstGeom prst="rect">
            <a:avLst/>
          </a:prstGeom>
          <a:noFill/>
          <a:ln/>
        </p:spPr>
        <p:txBody>
          <a:bodyPr wrap="square" lIns="0" tIns="0" rIns="0" bIns="0" rtlCol="0" anchor="t"/>
          <a:lstStyle/>
          <a:p>
            <a:pPr marL="0" indent="0">
              <a:buNone/>
            </a:pPr>
            <a:r>
              <a:rPr lang="en-US" sz="1250" b="1">
                <a:solidFill>
                  <a:srgbClr val="1A1A2E"/>
                </a:solidFill>
                <a:latin typeface="Arial" pitchFamily="34" charset="0"/>
                <a:ea typeface="Arial" pitchFamily="34" charset="-122"/>
                <a:cs typeface="Arial" pitchFamily="34" charset="-120"/>
              </a:rPr>
              <a:t>AI &amp; Agent Integration</a:t>
            </a:r>
            <a:endParaRPr lang="en-US" sz="1250"/>
          </a:p>
        </p:txBody>
      </p:sp>
      <p:sp>
        <p:nvSpPr>
          <p:cNvPr id="70" name="Text 57"/>
          <p:cNvSpPr/>
          <p:nvPr/>
        </p:nvSpPr>
        <p:spPr>
          <a:xfrm>
            <a:off x="3438144" y="4718304"/>
            <a:ext cx="2377440" cy="640080"/>
          </a:xfrm>
          <a:prstGeom prst="rect">
            <a:avLst/>
          </a:prstGeom>
          <a:noFill/>
          <a:ln/>
        </p:spPr>
        <p:txBody>
          <a:bodyPr wrap="square" lIns="0" tIns="0" rIns="0" bIns="0" rtlCol="0" anchor="t"/>
          <a:lstStyle/>
          <a:p>
            <a:pPr marL="0" indent="0">
              <a:lnSpc>
                <a:spcPct val="100000"/>
              </a:lnSpc>
              <a:buNone/>
            </a:pPr>
            <a:r>
              <a:rPr lang="en-US" sz="880">
                <a:solidFill>
                  <a:srgbClr val="5B6472"/>
                </a:solidFill>
                <a:latin typeface="Arial" pitchFamily="34" charset="0"/>
                <a:ea typeface="Arial" pitchFamily="34" charset="-122"/>
                <a:cs typeface="Arial" pitchFamily="34" charset="-120"/>
              </a:rPr>
              <a:t>Talk through the KPMG + Johnny (TDMI) work: Foundry, Copilot, Fabric Data Agents, grounding in Fabric</a:t>
            </a:r>
            <a:endParaRPr lang="en-US" sz="880"/>
          </a:p>
        </p:txBody>
      </p:sp>
      <p:sp>
        <p:nvSpPr>
          <p:cNvPr id="71" name="Shape 58"/>
          <p:cNvSpPr/>
          <p:nvPr/>
        </p:nvSpPr>
        <p:spPr>
          <a:xfrm>
            <a:off x="3438144" y="5230368"/>
            <a:ext cx="707746" cy="201168"/>
          </a:xfrm>
          <a:prstGeom prst="roundRect">
            <a:avLst>
              <a:gd name="adj" fmla="val 50000"/>
            </a:avLst>
          </a:prstGeom>
          <a:solidFill>
            <a:srgbClr val="7030A0"/>
          </a:solidFill>
          <a:ln/>
        </p:spPr>
        <p:txBody>
          <a:bodyPr/>
          <a:lstStyle/>
          <a:p>
            <a:endParaRPr lang="en-US"/>
          </a:p>
        </p:txBody>
      </p:sp>
      <p:sp>
        <p:nvSpPr>
          <p:cNvPr id="72" name="Text 59"/>
          <p:cNvSpPr/>
          <p:nvPr/>
        </p:nvSpPr>
        <p:spPr>
          <a:xfrm>
            <a:off x="3438144" y="5230368"/>
            <a:ext cx="707746" cy="201168"/>
          </a:xfrm>
          <a:prstGeom prst="rect">
            <a:avLst/>
          </a:prstGeom>
          <a:noFill/>
          <a:ln/>
        </p:spPr>
        <p:txBody>
          <a:bodyPr wrap="square" lIns="0" tIns="0" rIns="0" bIns="0" rtlCol="0" anchor="ctr"/>
          <a:lstStyle/>
          <a:p>
            <a:pPr marL="0" indent="0" algn="ctr">
              <a:buNone/>
            </a:pPr>
            <a:r>
              <a:rPr lang="en-US" sz="700" b="1" kern="0" spc="100">
                <a:solidFill>
                  <a:srgbClr val="FFFFFF"/>
                </a:solidFill>
                <a:latin typeface="Arial" pitchFamily="34" charset="0"/>
                <a:ea typeface="Arial" pitchFamily="34" charset="-122"/>
                <a:cs typeface="Arial" pitchFamily="34" charset="-120"/>
              </a:rPr>
              <a:t>NET-NEW</a:t>
            </a:r>
            <a:endParaRPr lang="en-US" sz="700"/>
          </a:p>
        </p:txBody>
      </p:sp>
      <p:pic>
        <p:nvPicPr>
          <p:cNvPr id="73" name="Image 11" descr="preencoded.png"/>
          <p:cNvPicPr>
            <a:picLocks noChangeAspect="1"/>
          </p:cNvPicPr>
          <p:nvPr/>
        </p:nvPicPr>
        <p:blipFill>
          <a:blip r:embed="rId9"/>
          <a:stretch>
            <a:fillRect/>
          </a:stretch>
        </p:blipFill>
        <p:spPr>
          <a:xfrm>
            <a:off x="5504688" y="5138928"/>
            <a:ext cx="292608" cy="292608"/>
          </a:xfrm>
          <a:prstGeom prst="rect">
            <a:avLst/>
          </a:prstGeom>
        </p:spPr>
      </p:pic>
      <p:sp>
        <p:nvSpPr>
          <p:cNvPr id="74" name="Shape 60"/>
          <p:cNvSpPr/>
          <p:nvPr/>
        </p:nvSpPr>
        <p:spPr>
          <a:xfrm>
            <a:off x="6080760" y="3675888"/>
            <a:ext cx="2670048" cy="1847088"/>
          </a:xfrm>
          <a:prstGeom prst="rect">
            <a:avLst/>
          </a:prstGeom>
          <a:solidFill>
            <a:srgbClr val="EEF2F8"/>
          </a:solidFill>
          <a:ln w="9525">
            <a:solidFill>
              <a:srgbClr val="DCE4F0"/>
            </a:solidFill>
            <a:prstDash val="solid"/>
          </a:ln>
          <a:effectLst>
            <a:outerShdw blurRad="63500" dist="25400" dir="8100000" algn="bl" rotWithShape="0">
              <a:srgbClr val="000000">
                <a:alpha val="10000"/>
              </a:srgbClr>
            </a:outerShdw>
          </a:effectLst>
        </p:spPr>
        <p:txBody>
          <a:bodyPr/>
          <a:lstStyle/>
          <a:p>
            <a:endParaRPr lang="en-US"/>
          </a:p>
        </p:txBody>
      </p:sp>
      <p:sp>
        <p:nvSpPr>
          <p:cNvPr id="75" name="Shape 61"/>
          <p:cNvSpPr/>
          <p:nvPr/>
        </p:nvSpPr>
        <p:spPr>
          <a:xfrm>
            <a:off x="6080760" y="3675888"/>
            <a:ext cx="2670048" cy="64008"/>
          </a:xfrm>
          <a:prstGeom prst="rect">
            <a:avLst/>
          </a:prstGeom>
          <a:solidFill>
            <a:srgbClr val="7030A0"/>
          </a:solidFill>
          <a:ln/>
        </p:spPr>
        <p:txBody>
          <a:bodyPr/>
          <a:lstStyle/>
          <a:p>
            <a:endParaRPr lang="en-US"/>
          </a:p>
        </p:txBody>
      </p:sp>
      <p:sp>
        <p:nvSpPr>
          <p:cNvPr id="76" name="Shape 62"/>
          <p:cNvSpPr/>
          <p:nvPr/>
        </p:nvSpPr>
        <p:spPr>
          <a:xfrm>
            <a:off x="6227064" y="3858768"/>
            <a:ext cx="384048" cy="384048"/>
          </a:xfrm>
          <a:prstGeom prst="ellipse">
            <a:avLst/>
          </a:prstGeom>
          <a:solidFill>
            <a:srgbClr val="7030A0"/>
          </a:solidFill>
          <a:ln/>
        </p:spPr>
        <p:txBody>
          <a:bodyPr/>
          <a:lstStyle/>
          <a:p>
            <a:endParaRPr lang="en-US"/>
          </a:p>
        </p:txBody>
      </p:sp>
      <p:sp>
        <p:nvSpPr>
          <p:cNvPr id="77" name="Text 63"/>
          <p:cNvSpPr/>
          <p:nvPr/>
        </p:nvSpPr>
        <p:spPr>
          <a:xfrm>
            <a:off x="6227064" y="385876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Arial" pitchFamily="34" charset="0"/>
                <a:ea typeface="Arial" pitchFamily="34" charset="-122"/>
                <a:cs typeface="Arial" pitchFamily="34" charset="-120"/>
              </a:rPr>
              <a:t>7</a:t>
            </a:r>
            <a:endParaRPr lang="en-US" sz="1500"/>
          </a:p>
        </p:txBody>
      </p:sp>
      <p:pic>
        <p:nvPicPr>
          <p:cNvPr id="78" name="Image 12" descr="preencoded.png"/>
          <p:cNvPicPr>
            <a:picLocks noChangeAspect="1"/>
          </p:cNvPicPr>
          <p:nvPr/>
        </p:nvPicPr>
        <p:blipFill>
          <a:blip r:embed="rId3"/>
          <a:stretch>
            <a:fillRect/>
          </a:stretch>
        </p:blipFill>
        <p:spPr>
          <a:xfrm>
            <a:off x="7818120" y="3922776"/>
            <a:ext cx="155448" cy="155448"/>
          </a:xfrm>
          <a:prstGeom prst="rect">
            <a:avLst/>
          </a:prstGeom>
        </p:spPr>
      </p:pic>
      <p:sp>
        <p:nvSpPr>
          <p:cNvPr id="79" name="Text 64"/>
          <p:cNvSpPr/>
          <p:nvPr/>
        </p:nvSpPr>
        <p:spPr>
          <a:xfrm>
            <a:off x="7991856" y="3858768"/>
            <a:ext cx="658368" cy="274320"/>
          </a:xfrm>
          <a:prstGeom prst="rect">
            <a:avLst/>
          </a:prstGeom>
          <a:noFill/>
          <a:ln/>
        </p:spPr>
        <p:txBody>
          <a:bodyPr wrap="square" lIns="0" tIns="0" rIns="0" bIns="0" rtlCol="0" anchor="ctr"/>
          <a:lstStyle/>
          <a:p>
            <a:pPr marL="0" indent="0" algn="r">
              <a:buNone/>
            </a:pPr>
            <a:r>
              <a:rPr lang="en-US" sz="950" b="1">
                <a:solidFill>
                  <a:srgbClr val="5B6472"/>
                </a:solidFill>
                <a:latin typeface="Arial" pitchFamily="34" charset="0"/>
                <a:ea typeface="Arial" pitchFamily="34" charset="-122"/>
                <a:cs typeface="Arial" pitchFamily="34" charset="-120"/>
              </a:rPr>
              <a:t>45 min</a:t>
            </a:r>
            <a:endParaRPr lang="en-US" sz="950"/>
          </a:p>
        </p:txBody>
      </p:sp>
      <p:sp>
        <p:nvSpPr>
          <p:cNvPr id="80" name="Text 65"/>
          <p:cNvSpPr/>
          <p:nvPr/>
        </p:nvSpPr>
        <p:spPr>
          <a:xfrm>
            <a:off x="6227064" y="4352544"/>
            <a:ext cx="2377440" cy="365760"/>
          </a:xfrm>
          <a:prstGeom prst="rect">
            <a:avLst/>
          </a:prstGeom>
          <a:noFill/>
          <a:ln/>
        </p:spPr>
        <p:txBody>
          <a:bodyPr wrap="square" lIns="0" tIns="0" rIns="0" bIns="0" rtlCol="0" anchor="t"/>
          <a:lstStyle/>
          <a:p>
            <a:pPr marL="0" indent="0">
              <a:buNone/>
            </a:pPr>
            <a:r>
              <a:rPr lang="en-US" sz="1250" b="1">
                <a:solidFill>
                  <a:srgbClr val="1A1A2E"/>
                </a:solidFill>
                <a:latin typeface="Arial" pitchFamily="34" charset="0"/>
                <a:ea typeface="Arial" pitchFamily="34" charset="-122"/>
                <a:cs typeface="Arial" pitchFamily="34" charset="-120"/>
              </a:rPr>
              <a:t>DevOps &amp; Deployment</a:t>
            </a:r>
            <a:endParaRPr lang="en-US" sz="1250"/>
          </a:p>
        </p:txBody>
      </p:sp>
      <p:sp>
        <p:nvSpPr>
          <p:cNvPr id="81" name="Text 66"/>
          <p:cNvSpPr/>
          <p:nvPr/>
        </p:nvSpPr>
        <p:spPr>
          <a:xfrm>
            <a:off x="6227064" y="4718304"/>
            <a:ext cx="2377440" cy="640080"/>
          </a:xfrm>
          <a:prstGeom prst="rect">
            <a:avLst/>
          </a:prstGeom>
          <a:noFill/>
          <a:ln/>
        </p:spPr>
        <p:txBody>
          <a:bodyPr wrap="square" lIns="0" tIns="0" rIns="0" bIns="0" rtlCol="0" anchor="t"/>
          <a:lstStyle/>
          <a:p>
            <a:pPr marL="0" indent="0">
              <a:lnSpc>
                <a:spcPct val="100000"/>
              </a:lnSpc>
              <a:buNone/>
            </a:pPr>
            <a:r>
              <a:rPr lang="en-US" sz="880">
                <a:solidFill>
                  <a:srgbClr val="5B6472"/>
                </a:solidFill>
                <a:latin typeface="Arial" pitchFamily="34" charset="0"/>
                <a:ea typeface="Arial" pitchFamily="34" charset="-122"/>
                <a:cs typeface="Arial" pitchFamily="34" charset="-120"/>
              </a:rPr>
              <a:t>Git, CI/CD, Dev / Test / Prod, deployment pipelines, monitoring</a:t>
            </a:r>
            <a:endParaRPr lang="en-US" sz="880"/>
          </a:p>
        </p:txBody>
      </p:sp>
      <p:sp>
        <p:nvSpPr>
          <p:cNvPr id="82" name="Shape 67"/>
          <p:cNvSpPr/>
          <p:nvPr/>
        </p:nvSpPr>
        <p:spPr>
          <a:xfrm>
            <a:off x="6227064" y="5230368"/>
            <a:ext cx="707746" cy="201168"/>
          </a:xfrm>
          <a:prstGeom prst="roundRect">
            <a:avLst>
              <a:gd name="adj" fmla="val 50000"/>
            </a:avLst>
          </a:prstGeom>
          <a:solidFill>
            <a:srgbClr val="7030A0"/>
          </a:solidFill>
          <a:ln/>
        </p:spPr>
        <p:txBody>
          <a:bodyPr/>
          <a:lstStyle/>
          <a:p>
            <a:endParaRPr lang="en-US"/>
          </a:p>
        </p:txBody>
      </p:sp>
      <p:sp>
        <p:nvSpPr>
          <p:cNvPr id="83" name="Text 68"/>
          <p:cNvSpPr/>
          <p:nvPr/>
        </p:nvSpPr>
        <p:spPr>
          <a:xfrm>
            <a:off x="6227064" y="5230368"/>
            <a:ext cx="707746" cy="201168"/>
          </a:xfrm>
          <a:prstGeom prst="rect">
            <a:avLst/>
          </a:prstGeom>
          <a:noFill/>
          <a:ln/>
        </p:spPr>
        <p:txBody>
          <a:bodyPr wrap="square" lIns="0" tIns="0" rIns="0" bIns="0" rtlCol="0" anchor="ctr"/>
          <a:lstStyle/>
          <a:p>
            <a:pPr marL="0" indent="0" algn="ctr">
              <a:buNone/>
            </a:pPr>
            <a:r>
              <a:rPr lang="en-US" sz="700" b="1" kern="0" spc="100">
                <a:solidFill>
                  <a:srgbClr val="FFFFFF"/>
                </a:solidFill>
                <a:latin typeface="Arial" pitchFamily="34" charset="0"/>
                <a:ea typeface="Arial" pitchFamily="34" charset="-122"/>
                <a:cs typeface="Arial" pitchFamily="34" charset="-120"/>
              </a:rPr>
              <a:t>NET-NEW</a:t>
            </a:r>
            <a:endParaRPr lang="en-US" sz="700"/>
          </a:p>
        </p:txBody>
      </p:sp>
      <p:pic>
        <p:nvPicPr>
          <p:cNvPr id="84" name="Image 13" descr="preencoded.png"/>
          <p:cNvPicPr>
            <a:picLocks noChangeAspect="1"/>
          </p:cNvPicPr>
          <p:nvPr/>
        </p:nvPicPr>
        <p:blipFill>
          <a:blip r:embed="rId10"/>
          <a:stretch>
            <a:fillRect/>
          </a:stretch>
        </p:blipFill>
        <p:spPr>
          <a:xfrm>
            <a:off x="8293608" y="5138928"/>
            <a:ext cx="292608" cy="292608"/>
          </a:xfrm>
          <a:prstGeom prst="rect">
            <a:avLst/>
          </a:prstGeom>
        </p:spPr>
      </p:pic>
      <p:sp>
        <p:nvSpPr>
          <p:cNvPr id="85" name="Shape 69"/>
          <p:cNvSpPr/>
          <p:nvPr/>
        </p:nvSpPr>
        <p:spPr>
          <a:xfrm>
            <a:off x="8869680" y="3675888"/>
            <a:ext cx="2670048" cy="1847088"/>
          </a:xfrm>
          <a:prstGeom prst="rect">
            <a:avLst/>
          </a:prstGeom>
          <a:solidFill>
            <a:srgbClr val="EEF2F8"/>
          </a:solidFill>
          <a:ln w="9525">
            <a:solidFill>
              <a:srgbClr val="DCE4F0"/>
            </a:solidFill>
            <a:prstDash val="solid"/>
          </a:ln>
          <a:effectLst>
            <a:outerShdw blurRad="63500" dist="25400" dir="8100000" algn="bl" rotWithShape="0">
              <a:srgbClr val="000000">
                <a:alpha val="10000"/>
              </a:srgbClr>
            </a:outerShdw>
          </a:effectLst>
        </p:spPr>
        <p:txBody>
          <a:bodyPr/>
          <a:lstStyle/>
          <a:p>
            <a:endParaRPr lang="en-US"/>
          </a:p>
        </p:txBody>
      </p:sp>
      <p:sp>
        <p:nvSpPr>
          <p:cNvPr id="86" name="Shape 70"/>
          <p:cNvSpPr/>
          <p:nvPr/>
        </p:nvSpPr>
        <p:spPr>
          <a:xfrm>
            <a:off x="8869680" y="3675888"/>
            <a:ext cx="2670048" cy="64008"/>
          </a:xfrm>
          <a:prstGeom prst="rect">
            <a:avLst/>
          </a:prstGeom>
          <a:solidFill>
            <a:srgbClr val="00338D"/>
          </a:solidFill>
          <a:ln/>
        </p:spPr>
        <p:txBody>
          <a:bodyPr/>
          <a:lstStyle/>
          <a:p>
            <a:endParaRPr lang="en-US"/>
          </a:p>
        </p:txBody>
      </p:sp>
      <p:sp>
        <p:nvSpPr>
          <p:cNvPr id="87" name="Shape 71"/>
          <p:cNvSpPr/>
          <p:nvPr/>
        </p:nvSpPr>
        <p:spPr>
          <a:xfrm>
            <a:off x="9015984" y="3858768"/>
            <a:ext cx="384048" cy="384048"/>
          </a:xfrm>
          <a:prstGeom prst="ellipse">
            <a:avLst/>
          </a:prstGeom>
          <a:solidFill>
            <a:srgbClr val="00338D"/>
          </a:solidFill>
          <a:ln/>
        </p:spPr>
        <p:txBody>
          <a:bodyPr/>
          <a:lstStyle/>
          <a:p>
            <a:endParaRPr lang="en-US"/>
          </a:p>
        </p:txBody>
      </p:sp>
      <p:sp>
        <p:nvSpPr>
          <p:cNvPr id="88" name="Text 72"/>
          <p:cNvSpPr/>
          <p:nvPr/>
        </p:nvSpPr>
        <p:spPr>
          <a:xfrm>
            <a:off x="9015984" y="385876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Arial" pitchFamily="34" charset="0"/>
                <a:ea typeface="Arial" pitchFamily="34" charset="-122"/>
                <a:cs typeface="Arial" pitchFamily="34" charset="-120"/>
              </a:rPr>
              <a:t>8</a:t>
            </a:r>
            <a:endParaRPr lang="en-US" sz="1500"/>
          </a:p>
        </p:txBody>
      </p:sp>
      <p:pic>
        <p:nvPicPr>
          <p:cNvPr id="89" name="Image 14" descr="preencoded.png"/>
          <p:cNvPicPr>
            <a:picLocks noChangeAspect="1"/>
          </p:cNvPicPr>
          <p:nvPr/>
        </p:nvPicPr>
        <p:blipFill>
          <a:blip r:embed="rId3"/>
          <a:stretch>
            <a:fillRect/>
          </a:stretch>
        </p:blipFill>
        <p:spPr>
          <a:xfrm>
            <a:off x="10607040" y="3922776"/>
            <a:ext cx="155448" cy="155448"/>
          </a:xfrm>
          <a:prstGeom prst="rect">
            <a:avLst/>
          </a:prstGeom>
        </p:spPr>
      </p:pic>
      <p:sp>
        <p:nvSpPr>
          <p:cNvPr id="90" name="Text 73"/>
          <p:cNvSpPr/>
          <p:nvPr/>
        </p:nvSpPr>
        <p:spPr>
          <a:xfrm>
            <a:off x="10780776" y="3858768"/>
            <a:ext cx="658368" cy="274320"/>
          </a:xfrm>
          <a:prstGeom prst="rect">
            <a:avLst/>
          </a:prstGeom>
          <a:noFill/>
          <a:ln/>
        </p:spPr>
        <p:txBody>
          <a:bodyPr wrap="square" lIns="0" tIns="0" rIns="0" bIns="0" rtlCol="0" anchor="ctr"/>
          <a:lstStyle/>
          <a:p>
            <a:pPr marL="0" indent="0" algn="r">
              <a:buNone/>
            </a:pPr>
            <a:r>
              <a:rPr lang="en-US" sz="950" b="1">
                <a:solidFill>
                  <a:srgbClr val="5B6472"/>
                </a:solidFill>
                <a:latin typeface="Arial" pitchFamily="34" charset="0"/>
                <a:ea typeface="Arial" pitchFamily="34" charset="-122"/>
                <a:cs typeface="Arial" pitchFamily="34" charset="-120"/>
              </a:rPr>
              <a:t>75 min</a:t>
            </a:r>
            <a:endParaRPr lang="en-US" sz="950"/>
          </a:p>
        </p:txBody>
      </p:sp>
      <p:sp>
        <p:nvSpPr>
          <p:cNvPr id="91" name="Text 74"/>
          <p:cNvSpPr/>
          <p:nvPr/>
        </p:nvSpPr>
        <p:spPr>
          <a:xfrm>
            <a:off x="9015984" y="4352544"/>
            <a:ext cx="2377440" cy="365760"/>
          </a:xfrm>
          <a:prstGeom prst="rect">
            <a:avLst/>
          </a:prstGeom>
          <a:noFill/>
          <a:ln/>
        </p:spPr>
        <p:txBody>
          <a:bodyPr wrap="square" lIns="0" tIns="0" rIns="0" bIns="0" rtlCol="0" anchor="t"/>
          <a:lstStyle/>
          <a:p>
            <a:pPr marL="0" indent="0">
              <a:buNone/>
            </a:pPr>
            <a:r>
              <a:rPr lang="en-US" sz="1250" b="1">
                <a:solidFill>
                  <a:srgbClr val="1A1A2E"/>
                </a:solidFill>
                <a:latin typeface="Arial" pitchFamily="34" charset="0"/>
                <a:ea typeface="Arial" pitchFamily="34" charset="-122"/>
                <a:cs typeface="Arial" pitchFamily="34" charset="-120"/>
              </a:rPr>
              <a:t>End-to-End Lab</a:t>
            </a:r>
            <a:endParaRPr lang="en-US" sz="1250"/>
          </a:p>
        </p:txBody>
      </p:sp>
      <p:sp>
        <p:nvSpPr>
          <p:cNvPr id="92" name="Text 75"/>
          <p:cNvSpPr/>
          <p:nvPr/>
        </p:nvSpPr>
        <p:spPr>
          <a:xfrm>
            <a:off x="9015984" y="4718304"/>
            <a:ext cx="2377440" cy="640080"/>
          </a:xfrm>
          <a:prstGeom prst="rect">
            <a:avLst/>
          </a:prstGeom>
          <a:noFill/>
          <a:ln/>
        </p:spPr>
        <p:txBody>
          <a:bodyPr wrap="square" lIns="0" tIns="0" rIns="0" bIns="0" rtlCol="0" anchor="t"/>
          <a:lstStyle/>
          <a:p>
            <a:pPr marL="0" indent="0">
              <a:lnSpc>
                <a:spcPct val="100000"/>
              </a:lnSpc>
              <a:buNone/>
            </a:pPr>
            <a:r>
              <a:rPr lang="en-US" sz="880">
                <a:solidFill>
                  <a:srgbClr val="5B6472"/>
                </a:solidFill>
                <a:latin typeface="Arial" pitchFamily="34" charset="0"/>
                <a:ea typeface="Arial" pitchFamily="34" charset="-122"/>
                <a:cs typeface="Arial" pitchFamily="34" charset="-120"/>
              </a:rPr>
              <a:t>Build a small solution: source → Fabric → app, in Disney's environment</a:t>
            </a:r>
            <a:endParaRPr lang="en-US" sz="880"/>
          </a:p>
        </p:txBody>
      </p:sp>
      <p:sp>
        <p:nvSpPr>
          <p:cNvPr id="93" name="Shape 76"/>
          <p:cNvSpPr/>
          <p:nvPr/>
        </p:nvSpPr>
        <p:spPr>
          <a:xfrm>
            <a:off x="9015984" y="5230368"/>
            <a:ext cx="764438" cy="201168"/>
          </a:xfrm>
          <a:prstGeom prst="roundRect">
            <a:avLst>
              <a:gd name="adj" fmla="val 50000"/>
            </a:avLst>
          </a:prstGeom>
          <a:solidFill>
            <a:srgbClr val="005EB8"/>
          </a:solidFill>
          <a:ln/>
        </p:spPr>
        <p:txBody>
          <a:bodyPr/>
          <a:lstStyle/>
          <a:p>
            <a:endParaRPr lang="en-US"/>
          </a:p>
        </p:txBody>
      </p:sp>
      <p:sp>
        <p:nvSpPr>
          <p:cNvPr id="94" name="Text 77"/>
          <p:cNvSpPr/>
          <p:nvPr/>
        </p:nvSpPr>
        <p:spPr>
          <a:xfrm>
            <a:off x="9015984" y="5230368"/>
            <a:ext cx="764438" cy="201168"/>
          </a:xfrm>
          <a:prstGeom prst="rect">
            <a:avLst/>
          </a:prstGeom>
          <a:noFill/>
          <a:ln/>
        </p:spPr>
        <p:txBody>
          <a:bodyPr wrap="square" lIns="0" tIns="0" rIns="0" bIns="0" rtlCol="0" anchor="ctr"/>
          <a:lstStyle/>
          <a:p>
            <a:pPr marL="0" indent="0" algn="ctr">
              <a:buNone/>
            </a:pPr>
            <a:r>
              <a:rPr lang="en-US" sz="700" b="1" kern="0" spc="100">
                <a:solidFill>
                  <a:srgbClr val="FFFFFF"/>
                </a:solidFill>
                <a:latin typeface="Arial" pitchFamily="34" charset="0"/>
                <a:ea typeface="Arial" pitchFamily="34" charset="-122"/>
                <a:cs typeface="Arial" pitchFamily="34" charset="-120"/>
              </a:rPr>
              <a:t>HANDS-ON</a:t>
            </a:r>
            <a:endParaRPr lang="en-US" sz="700"/>
          </a:p>
        </p:txBody>
      </p:sp>
      <p:pic>
        <p:nvPicPr>
          <p:cNvPr id="95" name="Image 15" descr="preencoded.png"/>
          <p:cNvPicPr>
            <a:picLocks noChangeAspect="1"/>
          </p:cNvPicPr>
          <p:nvPr/>
        </p:nvPicPr>
        <p:blipFill>
          <a:blip r:embed="rId11"/>
          <a:stretch>
            <a:fillRect/>
          </a:stretch>
        </p:blipFill>
        <p:spPr>
          <a:xfrm>
            <a:off x="11082528" y="5138928"/>
            <a:ext cx="292608" cy="292608"/>
          </a:xfrm>
          <a:prstGeom prst="rect">
            <a:avLst/>
          </a:prstGeom>
        </p:spPr>
      </p:pic>
      <p:sp>
        <p:nvSpPr>
          <p:cNvPr id="96" name="Shape 78"/>
          <p:cNvSpPr/>
          <p:nvPr/>
        </p:nvSpPr>
        <p:spPr>
          <a:xfrm>
            <a:off x="502920" y="5724144"/>
            <a:ext cx="9774141" cy="384048"/>
          </a:xfrm>
          <a:prstGeom prst="rect">
            <a:avLst/>
          </a:prstGeom>
          <a:solidFill>
            <a:srgbClr val="00A3A1"/>
          </a:solidFill>
          <a:ln/>
        </p:spPr>
        <p:txBody>
          <a:bodyPr/>
          <a:lstStyle/>
          <a:p>
            <a:endParaRPr lang="en-US"/>
          </a:p>
        </p:txBody>
      </p:sp>
      <p:pic>
        <p:nvPicPr>
          <p:cNvPr id="97" name="Image 16" descr="preencoded.png"/>
          <p:cNvPicPr>
            <a:picLocks noChangeAspect="1"/>
          </p:cNvPicPr>
          <p:nvPr/>
        </p:nvPicPr>
        <p:blipFill>
          <a:blip r:embed="rId12"/>
          <a:stretch>
            <a:fillRect/>
          </a:stretch>
        </p:blipFill>
        <p:spPr>
          <a:xfrm>
            <a:off x="630936" y="5806440"/>
            <a:ext cx="219456" cy="219456"/>
          </a:xfrm>
          <a:prstGeom prst="rect">
            <a:avLst/>
          </a:prstGeom>
        </p:spPr>
      </p:pic>
      <p:sp>
        <p:nvSpPr>
          <p:cNvPr id="98" name="Text 79"/>
          <p:cNvSpPr/>
          <p:nvPr/>
        </p:nvSpPr>
        <p:spPr>
          <a:xfrm>
            <a:off x="941832" y="5724144"/>
            <a:ext cx="1121531" cy="384048"/>
          </a:xfrm>
          <a:prstGeom prst="rect">
            <a:avLst/>
          </a:prstGeom>
          <a:noFill/>
          <a:ln/>
        </p:spPr>
        <p:txBody>
          <a:bodyPr wrap="square" lIns="0" tIns="0" rIns="0" bIns="0" rtlCol="0" anchor="ctr"/>
          <a:lstStyle/>
          <a:p>
            <a:pPr marL="0" indent="0">
              <a:buNone/>
            </a:pPr>
            <a:r>
              <a:rPr lang="en-US" sz="1000" b="1" kern="0" spc="100">
                <a:solidFill>
                  <a:srgbClr val="FFFFFF"/>
                </a:solidFill>
                <a:latin typeface="Arial" pitchFamily="34" charset="0"/>
                <a:ea typeface="Arial" pitchFamily="34" charset="-122"/>
                <a:cs typeface="Arial" pitchFamily="34" charset="-120"/>
              </a:rPr>
              <a:t>LUNCH </a:t>
            </a:r>
            <a:r>
              <a:rPr lang="en-US" sz="1000">
                <a:solidFill>
                  <a:srgbClr val="FFFFFF"/>
                </a:solidFill>
                <a:latin typeface="Arial" pitchFamily="34" charset="0"/>
                <a:ea typeface="Arial" pitchFamily="34" charset="-122"/>
                <a:cs typeface="Arial" pitchFamily="34" charset="-120"/>
              </a:rPr>
              <a:t>(45 min)</a:t>
            </a:r>
            <a:endParaRPr lang="en-US" sz="1000"/>
          </a:p>
        </p:txBody>
      </p:sp>
      <p:sp>
        <p:nvSpPr>
          <p:cNvPr id="99" name="Shape 80"/>
          <p:cNvSpPr/>
          <p:nvPr/>
        </p:nvSpPr>
        <p:spPr>
          <a:xfrm>
            <a:off x="8705088" y="5724144"/>
            <a:ext cx="2834640" cy="384048"/>
          </a:xfrm>
          <a:prstGeom prst="rect">
            <a:avLst/>
          </a:prstGeom>
          <a:solidFill>
            <a:srgbClr val="00338D"/>
          </a:solidFill>
          <a:ln/>
        </p:spPr>
        <p:txBody>
          <a:bodyPr/>
          <a:lstStyle/>
          <a:p>
            <a:endParaRPr lang="en-US"/>
          </a:p>
        </p:txBody>
      </p:sp>
      <p:pic>
        <p:nvPicPr>
          <p:cNvPr id="100" name="Image 17" descr="preencoded.png"/>
          <p:cNvPicPr>
            <a:picLocks noChangeAspect="1"/>
          </p:cNvPicPr>
          <p:nvPr/>
        </p:nvPicPr>
        <p:blipFill>
          <a:blip r:embed="rId13"/>
          <a:stretch>
            <a:fillRect/>
          </a:stretch>
        </p:blipFill>
        <p:spPr>
          <a:xfrm>
            <a:off x="8796528" y="5806440"/>
            <a:ext cx="219456" cy="219456"/>
          </a:xfrm>
          <a:prstGeom prst="rect">
            <a:avLst/>
          </a:prstGeom>
        </p:spPr>
      </p:pic>
      <p:sp>
        <p:nvSpPr>
          <p:cNvPr id="101" name="Text 81"/>
          <p:cNvSpPr/>
          <p:nvPr/>
        </p:nvSpPr>
        <p:spPr>
          <a:xfrm>
            <a:off x="9107424" y="5724144"/>
            <a:ext cx="2377440" cy="384048"/>
          </a:xfrm>
          <a:prstGeom prst="rect">
            <a:avLst/>
          </a:prstGeom>
          <a:noFill/>
          <a:ln/>
        </p:spPr>
        <p:txBody>
          <a:bodyPr wrap="square" lIns="0" tIns="0" rIns="0" bIns="0" rtlCol="0" anchor="ctr"/>
          <a:lstStyle/>
          <a:p>
            <a:pPr marL="0" indent="0">
              <a:buNone/>
            </a:pPr>
            <a:r>
              <a:rPr lang="en-US" sz="800" b="1">
                <a:solidFill>
                  <a:srgbClr val="FFFFFF"/>
                </a:solidFill>
                <a:latin typeface="Arial" pitchFamily="34" charset="0"/>
                <a:ea typeface="Arial" pitchFamily="34" charset="-122"/>
                <a:cs typeface="Arial" pitchFamily="34" charset="-120"/>
              </a:rPr>
              <a:t>WRAP-UP (15 min) — checklist · pitfalls · next steps</a:t>
            </a:r>
            <a:endParaRPr lang="en-US" sz="800"/>
          </a:p>
        </p:txBody>
      </p:sp>
      <p:sp>
        <p:nvSpPr>
          <p:cNvPr id="102" name="Rectangle 101">
            <a:extLst>
              <a:ext uri="{FF2B5EF4-FFF2-40B4-BE49-F238E27FC236}">
                <a16:creationId xmlns:a16="http://schemas.microsoft.com/office/drawing/2014/main" id="{113754C1-9BC2-2134-61BF-EE648C838B5D}"/>
              </a:ext>
            </a:extLst>
          </p:cNvPr>
          <p:cNvSpPr/>
          <p:nvPr/>
        </p:nvSpPr>
        <p:spPr>
          <a:xfrm>
            <a:off x="1828800" y="164592"/>
            <a:ext cx="7699248" cy="140817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Arial" panose="020B0604020202020204" pitchFamily="34" charset="0"/>
                <a:cs typeface="Arial" panose="020B0604020202020204" pitchFamily="34" charset="0"/>
              </a:rPr>
              <a:t>What KPMG presented to Jason initially on 8/26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999CE80F1B44445BB5E9DE12FCAFFBF" ma:contentTypeVersion="18" ma:contentTypeDescription="Create a new document." ma:contentTypeScope="" ma:versionID="774106159c7c134df5bfce6a643ad80a">
  <xsd:schema xmlns:xsd="http://www.w3.org/2001/XMLSchema" xmlns:xs="http://www.w3.org/2001/XMLSchema" xmlns:p="http://schemas.microsoft.com/office/2006/metadata/properties" xmlns:ns2="a1056aa5-6b4d-4c47-aaac-9426e9d9b737" xmlns:ns3="8e4cac8c-e99d-49dd-8c24-1d4caeb84b2c" targetNamespace="http://schemas.microsoft.com/office/2006/metadata/properties" ma:root="true" ma:fieldsID="a859a95caa7e12b5ac7f0eaaf76282f9" ns2:_="" ns3:_="">
    <xsd:import namespace="a1056aa5-6b4d-4c47-aaac-9426e9d9b737"/>
    <xsd:import namespace="8e4cac8c-e99d-49dd-8c24-1d4caeb84b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56aa5-6b4d-4c47-aaac-9426e9d9b7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4cac8c-e99d-49dd-8c24-1d4caeb84b2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052aedc-1507-4a22-9d47-87556314de20}" ma:internalName="TaxCatchAll" ma:showField="CatchAllData" ma:web="8e4cac8c-e99d-49dd-8c24-1d4caeb84b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1056aa5-6b4d-4c47-aaac-9426e9d9b737">
      <Terms xmlns="http://schemas.microsoft.com/office/infopath/2007/PartnerControls"/>
    </lcf76f155ced4ddcb4097134ff3c332f>
    <TaxCatchAll xmlns="8e4cac8c-e99d-49dd-8c24-1d4caeb84b2c" xsi:nil="true"/>
  </documentManagement>
</p:properties>
</file>

<file path=customXml/itemProps1.xml><?xml version="1.0" encoding="utf-8"?>
<ds:datastoreItem xmlns:ds="http://schemas.openxmlformats.org/officeDocument/2006/customXml" ds:itemID="{25D18434-E762-4264-BD0D-DB2B33CF2ED7}">
  <ds:schemaRefs>
    <ds:schemaRef ds:uri="http://schemas.microsoft.com/sharepoint/v3/contenttype/forms"/>
  </ds:schemaRefs>
</ds:datastoreItem>
</file>

<file path=customXml/itemProps2.xml><?xml version="1.0" encoding="utf-8"?>
<ds:datastoreItem xmlns:ds="http://schemas.openxmlformats.org/officeDocument/2006/customXml" ds:itemID="{28CC641E-F1AF-4CD6-994A-F9F84C6BA53B}">
  <ds:schemaRefs>
    <ds:schemaRef ds:uri="8e4cac8c-e99d-49dd-8c24-1d4caeb84b2c"/>
    <ds:schemaRef ds:uri="a1056aa5-6b4d-4c47-aaac-9426e9d9b7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372DAA4-64F0-4C47-8090-6F6B801D5261}">
  <ds:schemaRefs>
    <ds:schemaRef ds:uri="http://schemas.microsoft.com/office/2006/documentManagement/types"/>
    <ds:schemaRef ds:uri="http://purl.org/dc/terms/"/>
    <ds:schemaRef ds:uri="http://schemas.openxmlformats.org/package/2006/metadata/core-properties"/>
    <ds:schemaRef ds:uri="http://purl.org/dc/elements/1.1/"/>
    <ds:schemaRef ds:uri="http://purl.org/dc/dcmitype/"/>
    <ds:schemaRef ds:uri="8e4cac8c-e99d-49dd-8c24-1d4caeb84b2c"/>
    <ds:schemaRef ds:uri="http://schemas.microsoft.com/office/infopath/2007/PartnerControls"/>
    <ds:schemaRef ds:uri="a1056aa5-6b4d-4c47-aaac-9426e9d9b737"/>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otalTime>0</TotalTime>
  <Words>4059</Words>
  <Application>Microsoft Office PowerPoint</Application>
  <PresentationFormat>Widescreen</PresentationFormat>
  <Paragraphs>584</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KPMG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Disney Fabric Training Agenda</dc:title>
  <dc:subject>PptxGenJS Presentation</dc:subject>
  <dc:creator>Sheridan, Jack</dc:creator>
  <cp:lastModifiedBy>Sheridan, Jack</cp:lastModifiedBy>
  <cp:revision>1</cp:revision>
  <dcterms:created xsi:type="dcterms:W3CDTF">2026-08-24T18:13:58Z</dcterms:created>
  <dcterms:modified xsi:type="dcterms:W3CDTF">2026-10-05T17:54:47Z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0x010100C999CE80F1B44445BB5E9DE12FCAFFBF</vt:lpwstr>
  </property>
  <property fmtid="{D5CDD505-2E9C-101B-9397-08002B2CF9AE}" pid="3" name="MediaServiceImageTags">
    <vt:lpwstr/>
  </property>
</Properties>
</file>