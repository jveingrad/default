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comments/modernComment_238_4F8A4805.xml" ContentType="application/vnd.ms-powerpoint.comment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40"/>
  </p:notesMasterIdLst>
  <p:sldIdLst>
    <p:sldId id="563" r:id="rId5"/>
    <p:sldId id="564" r:id="rId6"/>
    <p:sldId id="2147483319" r:id="rId7"/>
    <p:sldId id="2147483296" r:id="rId8"/>
    <p:sldId id="2147483294" r:id="rId9"/>
    <p:sldId id="2147483281" r:id="rId10"/>
    <p:sldId id="2147483320" r:id="rId11"/>
    <p:sldId id="2147483292" r:id="rId12"/>
    <p:sldId id="2147483293" r:id="rId13"/>
    <p:sldId id="2147483323" r:id="rId14"/>
    <p:sldId id="2147483321" r:id="rId15"/>
    <p:sldId id="2147483322" r:id="rId16"/>
    <p:sldId id="2147483299" r:id="rId17"/>
    <p:sldId id="2147483300" r:id="rId18"/>
    <p:sldId id="566" r:id="rId19"/>
    <p:sldId id="2147483297" r:id="rId20"/>
    <p:sldId id="568" r:id="rId21"/>
    <p:sldId id="569" r:id="rId22"/>
    <p:sldId id="2147483298" r:id="rId23"/>
    <p:sldId id="2147483318" r:id="rId24"/>
    <p:sldId id="2147483308" r:id="rId25"/>
    <p:sldId id="2147483309" r:id="rId26"/>
    <p:sldId id="2147483312" r:id="rId27"/>
    <p:sldId id="2147483313" r:id="rId28"/>
    <p:sldId id="2147483306" r:id="rId29"/>
    <p:sldId id="2147483307" r:id="rId30"/>
    <p:sldId id="2147483314" r:id="rId31"/>
    <p:sldId id="2147483315" r:id="rId32"/>
    <p:sldId id="2147483316" r:id="rId33"/>
    <p:sldId id="2147483301" r:id="rId34"/>
    <p:sldId id="2147483302" r:id="rId35"/>
    <p:sldId id="2147483303" r:id="rId36"/>
    <p:sldId id="2147483304" r:id="rId37"/>
    <p:sldId id="2147483305" r:id="rId38"/>
    <p:sldId id="56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ckoff" id="{D088FEE6-4EE3-4D51-8732-05D8C757D652}">
          <p14:sldIdLst>
            <p14:sldId id="563"/>
            <p14:sldId id="564"/>
          </p14:sldIdLst>
        </p14:section>
        <p14:section name="Other slides" id="{4D0F3FA0-C635-4E89-9D91-A3B823918E88}">
          <p14:sldIdLst>
            <p14:sldId id="2147483319"/>
            <p14:sldId id="2147483296"/>
            <p14:sldId id="2147483294"/>
            <p14:sldId id="2147483281"/>
          </p14:sldIdLst>
        </p14:section>
        <p14:section name="Workstream A" id="{55D2631E-E1F7-419D-9544-4612E82D9467}">
          <p14:sldIdLst>
            <p14:sldId id="2147483320"/>
            <p14:sldId id="2147483292"/>
            <p14:sldId id="2147483293"/>
            <p14:sldId id="2147483323"/>
            <p14:sldId id="2147483321"/>
            <p14:sldId id="2147483322"/>
            <p14:sldId id="2147483299"/>
            <p14:sldId id="2147483300"/>
            <p14:sldId id="566"/>
            <p14:sldId id="2147483297"/>
            <p14:sldId id="568"/>
            <p14:sldId id="569"/>
            <p14:sldId id="2147483298"/>
            <p14:sldId id="2147483318"/>
            <p14:sldId id="2147483308"/>
            <p14:sldId id="2147483309"/>
            <p14:sldId id="2147483312"/>
            <p14:sldId id="2147483313"/>
            <p14:sldId id="2147483306"/>
            <p14:sldId id="2147483307"/>
            <p14:sldId id="2147483314"/>
            <p14:sldId id="2147483315"/>
            <p14:sldId id="2147483316"/>
            <p14:sldId id="2147483301"/>
            <p14:sldId id="2147483302"/>
            <p14:sldId id="2147483303"/>
            <p14:sldId id="2147483304"/>
            <p14:sldId id="2147483305"/>
            <p14:sldId id="5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541F01-489B-D8D9-05CB-DA7F02DD66DB}" name="Haslam, Thomas" initials="TH" userId="S::thomashaslam@kpmg.com::4839b5df-de47-414e-ac79-6dcade93eed1" providerId="AD"/>
  <p188:author id="{1A01CC23-5D9C-EB6B-9D27-C01F3D4B2AB9}" name="Crooks, Kyle T" initials="KC" userId="S::kcrooks@kpmg.com::46ac3cc3-d29e-4bb9-a44a-306e0801140d" providerId="AD"/>
  <p188:author id="{4A7E032E-F2AD-D7B7-BB46-6F7059D29A6A}" name="Muir, David" initials="DM" userId="S::drmuir@kpmg.com::a735b008-45f0-467d-838e-e56f16b1dc7b" providerId="AD"/>
  <p188:author id="{52904052-1643-7FCE-7A5F-6551545F3671}" name="Antone, Keith D" initials="" userId="S::kantone@kpmg.com::87c2b828-a04f-4d2d-859d-5445033f93e2" providerId="AD"/>
  <p188:author id="{D96A176C-B00A-E3C9-7CEB-2AE0E636E5E6}" name="Veingrad, Joseph" initials="JV" userId="S::jveingrad@kpmg.com::d8b68cd1-7862-48a0-9c72-8fbfd5f2a4a5" providerId="AD"/>
  <p188:author id="{91F693BB-7058-ECB4-8F1D-A1321A4D8D6F}" name="Hanson, Niels W" initials="" userId="S::nhanson@kpmg.com::d42b3242-5e35-4e84-b4d1-61c018cd566e" providerId="AD"/>
  <p188:author id="{A78FDBF2-AF5E-30B6-7AEE-083A6426561D}" name="Kalidindi, Naga Mahendra V" initials="NK" userId="S::nkalidindi@kpmg.com::498c76e8-dbe5-45f5-932b-5ad14c9040e2" providerId="AD"/>
  <p188:author id="{B01027F8-5D7A-225C-93B1-3204DC36D099}" name="Walsh, William" initials="WW" userId="S::williamwalsh1@kpmg.com::21366335-7b20-481e-9e5e-f413db4dabe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D8EC3"/>
    <a:srgbClr val="B8B8B8"/>
    <a:srgbClr val="1FA3E0"/>
    <a:srgbClr val="59B947"/>
    <a:srgbClr val="0A4B8C"/>
    <a:srgbClr val="00A7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A3467-39AA-4371-AC1D-717D924EAE09}" v="58" dt="2026-09-30T18:35:07.4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93" autoAdjust="0"/>
    <p:restoredTop sz="94758" autoAdjust="0"/>
  </p:normalViewPr>
  <p:slideViewPr>
    <p:cSldViewPr snapToGrid="0">
      <p:cViewPr varScale="1">
        <p:scale>
          <a:sx n="112" d="100"/>
          <a:sy n="112" d="100"/>
        </p:scale>
        <p:origin x="81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238_4F8A4805.xml><?xml version="1.0" encoding="utf-8"?>
<p188:cmLst xmlns:a="http://schemas.openxmlformats.org/drawingml/2006/main" xmlns:r="http://schemas.openxmlformats.org/officeDocument/2006/relationships" xmlns:p188="http://schemas.microsoft.com/office/powerpoint/2018/8/main">
  <p188:cm id="{62645E50-50D3-4010-BF82-79DAF9D4E15D}" authorId="{B01027F8-5D7A-225C-93B1-3204DC36D099}" created="2026-09-23T15:54:09.477">
    <ac:deMkLst xmlns:ac="http://schemas.microsoft.com/office/drawing/2013/main/command">
      <pc:docMk xmlns:pc="http://schemas.microsoft.com/office/powerpoint/2013/main/command"/>
      <pc:sldMk xmlns:pc="http://schemas.microsoft.com/office/powerpoint/2013/main/command" cId="1334462469" sldId="568"/>
      <ac:spMk id="4" creationId="{364B58F8-E584-ACAA-A2FF-52C80820AD24}"/>
    </ac:deMkLst>
    <p188:txBody>
      <a:bodyPr/>
      <a:lstStyle/>
      <a:p>
        <a:r>
          <a:rPr lang="en-US"/>
          <a:t>[@Haslam, Thomas] Please update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778B60-8965-4B89-955F-C10B25225CE2}"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663B33-C500-49BD-B04E-474E1B577D32}" type="slidenum">
              <a:rPr lang="en-US" smtClean="0"/>
              <a:t>‹#›</a:t>
            </a:fld>
            <a:endParaRPr lang="en-US"/>
          </a:p>
        </p:txBody>
      </p:sp>
    </p:spTree>
    <p:extLst>
      <p:ext uri="{BB962C8B-B14F-4D97-AF65-F5344CB8AC3E}">
        <p14:creationId xmlns:p14="http://schemas.microsoft.com/office/powerpoint/2010/main" val="543881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663B33-C500-49BD-B04E-474E1B577D3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3873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Talking Points: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Acknowledge Progress &amp; Momentum: "We have made significant operational progress with the Agile pods and preliminary architecture work. This 'at-risk' work has been essential to keep the project moving, but it is not sustainable."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Highlight the Immediate Risk: "The most significant risk to our shared success is the lack of a signed SOW. Without it, we face critical challenges with funding alignment, resource allocation, and team access. Most importantly, we risk missing the Dec 1 deadline for data ingestion, which is critical to productivity during the holiday change freeze."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Present the SOW as the Solution: "Signing the SOW this week is the single most important step to de-risk the project. It formalizes our partnership, secures the necessary resources, and unlocks the VDI access our teams need to be productive."</a:t>
            </a:r>
          </a:p>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4</a:t>
            </a:fld>
            <a:endParaRPr lang="en-US"/>
          </a:p>
        </p:txBody>
      </p:sp>
    </p:spTree>
    <p:extLst>
      <p:ext uri="{BB962C8B-B14F-4D97-AF65-F5344CB8AC3E}">
        <p14:creationId xmlns:p14="http://schemas.microsoft.com/office/powerpoint/2010/main" val="220120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Talking Points: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Critical Dependency: "As outlined on slide 9, our ability to work effectively during the November-January change freeze is entirely dependent on ingesting the five key telemetry datasets by Dec 1. This is not a 'nice to have'; it's a 'must-have'."</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Cost of Inaction: "If we miss this date, Workstream B (Ingestion) will be delayed by at least a quarter. This will have a cascading effect on all subsequent workstreams, delaying the entire project and postponing the delivery of value to CVS."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The Path to Success: "To prevent this, we need two things: formal ratification of the SOW this week, and authorization for provisional VDI access by mid-October. This gives us a clear, albeit narrow, window to succeed."</a:t>
            </a:r>
          </a:p>
        </p:txBody>
      </p:sp>
      <p:sp>
        <p:nvSpPr>
          <p:cNvPr id="4" name="Slide Number Placeholder 3"/>
          <p:cNvSpPr>
            <a:spLocks noGrp="1"/>
          </p:cNvSpPr>
          <p:nvPr>
            <p:ph type="sldNum" sz="quarter" idx="5"/>
          </p:nvPr>
        </p:nvSpPr>
        <p:spPr/>
        <p:txBody>
          <a:bodyPr/>
          <a:lstStyle/>
          <a:p>
            <a:fld id="{7D663B33-C500-49BD-B04E-474E1B577D32}" type="slidenum">
              <a:rPr lang="en-US" smtClean="0"/>
              <a:t>15</a:t>
            </a:fld>
            <a:endParaRPr lang="en-US"/>
          </a:p>
        </p:txBody>
      </p:sp>
    </p:spTree>
    <p:extLst>
      <p:ext uri="{BB962C8B-B14F-4D97-AF65-F5344CB8AC3E}">
        <p14:creationId xmlns:p14="http://schemas.microsoft.com/office/powerpoint/2010/main" val="1494148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17</a:t>
            </a:fld>
            <a:endParaRPr lang="en-US"/>
          </a:p>
        </p:txBody>
      </p:sp>
    </p:spTree>
    <p:extLst>
      <p:ext uri="{BB962C8B-B14F-4D97-AF65-F5344CB8AC3E}">
        <p14:creationId xmlns:p14="http://schemas.microsoft.com/office/powerpoint/2010/main" val="1915263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2950" lvl="1" indent="-285750">
              <a:buFont typeface="Arial" panose="020B0604020202020204" pitchFamily="34" charset="0"/>
              <a:buChar char="•"/>
            </a:pPr>
            <a:r>
              <a:rPr lang="en-US" sz="1200"/>
              <a:t>slide or table listing unresolved program questions (e.g., Microsoft ECIF funding alignment, target schedule dates, and when raw-to-curated data will be available in Azure Databricks).</a:t>
            </a:r>
          </a:p>
          <a:p>
            <a:pPr marL="742950" lvl="1" indent="-285750">
              <a:buFont typeface="Arial" panose="020B0604020202020204" pitchFamily="34" charset="0"/>
              <a:buChar char="•"/>
            </a:pPr>
            <a:r>
              <a:rPr lang="en-US" sz="1200"/>
              <a:t>A RAID-style summary (covering current Risks, Assumptions, Issues, and Dependencies), specifically calling out the expected 2-to-3-week VDI onboarding bottleneck.\</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Talking Points: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Acknowledge Collaboration: "This SOW (Version 6) incorporates feedback from all parties—KPMG, </a:t>
            </a:r>
            <a:r>
              <a:rPr lang="en-US" sz="1200" b="0" i="0" kern="1200" err="1">
                <a:solidFill>
                  <a:schemeClr val="tx1"/>
                </a:solidFill>
                <a:effectLst/>
                <a:latin typeface="+mn-lt"/>
                <a:ea typeface="+mn-ea"/>
                <a:cs typeface="+mn-cs"/>
              </a:rPr>
              <a:t>Scicom</a:t>
            </a:r>
            <a:r>
              <a:rPr lang="en-US" sz="1200" b="0" i="0" kern="1200">
                <a:solidFill>
                  <a:schemeClr val="tx1"/>
                </a:solidFill>
                <a:effectLst/>
                <a:latin typeface="+mn-lt"/>
                <a:ea typeface="+mn-ea"/>
                <a:cs typeface="+mn-cs"/>
              </a:rPr>
              <a:t>, and CVS. The timeline, roles, and responsibilities have been reconciled to create a single, unified plan."</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De-risk Funding Concerns: "We have a plan to maximize external funding through Microsoft's ECIF program and have earmarked a $10M buffer from the CVS Microsoft ESA to handle any immediate scope adjustments. This provides a safety net and ensures the project is not delayed by funding gaps."</a:t>
            </a:r>
          </a:p>
          <a:p>
            <a:pPr marL="171450" lvl="0" indent="-171450">
              <a:buFont typeface="Arial" panose="020B0604020202020204" pitchFamily="34" charset="0"/>
              <a:buChar char="•"/>
            </a:pPr>
            <a:r>
              <a:rPr lang="en-US" sz="1200" b="0" i="0" kern="1200">
                <a:solidFill>
                  <a:schemeClr val="tx1"/>
                </a:solidFill>
                <a:effectLst/>
                <a:latin typeface="+mn-lt"/>
                <a:ea typeface="+mn-ea"/>
                <a:cs typeface="+mn-cs"/>
              </a:rPr>
              <a:t>Show Clear Next Steps: "To move forward, we need three key decisions from CVS this week:</a:t>
            </a:r>
          </a:p>
          <a:p>
            <a:pPr marL="628650" lvl="1" indent="-171450">
              <a:buFont typeface="Arial" panose="020B0604020202020204" pitchFamily="34" charset="0"/>
              <a:buChar char="•"/>
            </a:pPr>
            <a:r>
              <a:rPr lang="en-US" sz="1200" b="0" i="0" kern="1200">
                <a:solidFill>
                  <a:schemeClr val="tx1"/>
                </a:solidFill>
                <a:effectLst/>
                <a:latin typeface="+mn-lt"/>
                <a:ea typeface="+mn-ea"/>
                <a:cs typeface="+mn-cs"/>
              </a:rPr>
              <a:t>Formal ratification of the SOW.</a:t>
            </a:r>
          </a:p>
          <a:p>
            <a:pPr marL="628650" lvl="1" indent="-171450">
              <a:buFont typeface="Arial" panose="020B0604020202020204" pitchFamily="34" charset="0"/>
              <a:buChar char="•"/>
            </a:pPr>
            <a:r>
              <a:rPr lang="en-US" sz="1200" b="0" i="0" kern="1200">
                <a:solidFill>
                  <a:schemeClr val="tx1"/>
                </a:solidFill>
                <a:effectLst/>
                <a:latin typeface="+mn-lt"/>
                <a:ea typeface="+mn-ea"/>
                <a:cs typeface="+mn-cs"/>
              </a:rPr>
              <a:t>Approval to use the $10M ESA buffer as a contingency.</a:t>
            </a:r>
          </a:p>
          <a:p>
            <a:pPr marL="628650" lvl="1" indent="-171450">
              <a:buFont typeface="Arial" panose="020B0604020202020204" pitchFamily="34" charset="0"/>
              <a:buChar char="•"/>
            </a:pPr>
            <a:r>
              <a:rPr lang="en-US" sz="1200" b="0" i="0" kern="1200">
                <a:solidFill>
                  <a:schemeClr val="tx1"/>
                </a:solidFill>
                <a:effectLst/>
                <a:latin typeface="+mn-lt"/>
                <a:ea typeface="+mn-ea"/>
                <a:cs typeface="+mn-cs"/>
              </a:rPr>
              <a:t>Authorization for provisional VDI access by mid-October."</a:t>
            </a:r>
          </a:p>
          <a:p>
            <a:endParaRPr lang="en-US"/>
          </a:p>
        </p:txBody>
      </p:sp>
      <p:sp>
        <p:nvSpPr>
          <p:cNvPr id="4" name="Slide Number Placeholder 3"/>
          <p:cNvSpPr>
            <a:spLocks noGrp="1"/>
          </p:cNvSpPr>
          <p:nvPr>
            <p:ph type="sldNum" sz="quarter" idx="5"/>
          </p:nvPr>
        </p:nvSpPr>
        <p:spPr/>
        <p:txBody>
          <a:bodyPr/>
          <a:lstStyle/>
          <a:p>
            <a:fld id="{7D663B33-C500-49BD-B04E-474E1B577D32}" type="slidenum">
              <a:rPr lang="en-US" smtClean="0"/>
              <a:t>35</a:t>
            </a:fld>
            <a:endParaRPr lang="en-US"/>
          </a:p>
        </p:txBody>
      </p:sp>
    </p:spTree>
    <p:extLst>
      <p:ext uri="{BB962C8B-B14F-4D97-AF65-F5344CB8AC3E}">
        <p14:creationId xmlns:p14="http://schemas.microsoft.com/office/powerpoint/2010/main" val="751257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8.jpeg"/><Relationship Id="rId4" Type="http://schemas.openxmlformats.org/officeDocument/2006/relationships/image" Target="../media/image11.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10E6DA-AE9B-72A4-31E5-389A7363F7D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a:fillRect/>
          </a:stretch>
        </p:blipFill>
        <p:spPr>
          <a:xfrm flipH="1">
            <a:off x="1804" y="0"/>
            <a:ext cx="12188388" cy="6858000"/>
          </a:xfrm>
          <a:prstGeom prst="rect">
            <a:avLst/>
          </a:prstGeom>
        </p:spPr>
      </p:pic>
      <p:sp>
        <p:nvSpPr>
          <p:cNvPr id="8" name="Rectangle 7">
            <a:extLst>
              <a:ext uri="{FF2B5EF4-FFF2-40B4-BE49-F238E27FC236}">
                <a16:creationId xmlns:a16="http://schemas.microsoft.com/office/drawing/2014/main" id="{73FB0C00-E9D5-34BA-1C5D-577B9C282E48}"/>
              </a:ext>
            </a:extLst>
          </p:cNvPr>
          <p:cNvSpPr>
            <a:spLocks/>
          </p:cNvSpPr>
          <p:nvPr userDrawn="1"/>
        </p:nvSpPr>
        <p:spPr bwMode="gray">
          <a:xfrm>
            <a:off x="0" y="-1"/>
            <a:ext cx="12191999" cy="6857999"/>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9" name="Rectangle: Rounded Corners 8">
            <a:extLst>
              <a:ext uri="{FF2B5EF4-FFF2-40B4-BE49-F238E27FC236}">
                <a16:creationId xmlns:a16="http://schemas.microsoft.com/office/drawing/2014/main" id="{D9F82715-F4A0-F960-33E4-E04C85406DE7}"/>
              </a:ext>
            </a:extLst>
          </p:cNvPr>
          <p:cNvSpPr/>
          <p:nvPr userDrawn="1"/>
        </p:nvSpPr>
        <p:spPr bwMode="gray">
          <a:xfrm>
            <a:off x="574676" y="795340"/>
            <a:ext cx="4436229" cy="5267325"/>
          </a:xfrm>
          <a:prstGeom prst="roundRect">
            <a:avLst>
              <a:gd name="adj" fmla="val 6826"/>
            </a:avLst>
          </a:prstGeom>
          <a:solidFill>
            <a:schemeClr val="bg1"/>
          </a:solidFill>
          <a:ln>
            <a:solidFill>
              <a:srgbClr val="267AC0"/>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itle 1">
            <a:extLst>
              <a:ext uri="{FF2B5EF4-FFF2-40B4-BE49-F238E27FC236}">
                <a16:creationId xmlns:a16="http://schemas.microsoft.com/office/drawing/2014/main" id="{1E3A5B1F-A8A6-5504-278D-A9836AB96809}"/>
              </a:ext>
            </a:extLst>
          </p:cNvPr>
          <p:cNvSpPr>
            <a:spLocks noGrp="1"/>
          </p:cNvSpPr>
          <p:nvPr>
            <p:ph type="ctrTitle" hasCustomPrompt="1"/>
          </p:nvPr>
        </p:nvSpPr>
        <p:spPr>
          <a:xfrm>
            <a:off x="908806" y="2524536"/>
            <a:ext cx="3865213" cy="1262324"/>
          </a:xfrm>
        </p:spPr>
        <p:txBody>
          <a:bodyPr rIns="0" anchor="t" anchorCtr="0"/>
          <a:lstStyle>
            <a:lvl1pPr>
              <a:lnSpc>
                <a:spcPct val="90000"/>
              </a:lnSpc>
              <a:defRPr sz="3600">
                <a:solidFill>
                  <a:srgbClr val="0B315E"/>
                </a:solidFill>
              </a:defRPr>
            </a:lvl1pPr>
          </a:lstStyle>
          <a:p>
            <a:r>
              <a:rPr lang="en-US"/>
              <a:t>Click to add title</a:t>
            </a:r>
          </a:p>
        </p:txBody>
      </p:sp>
      <p:pic>
        <p:nvPicPr>
          <p:cNvPr id="14" name="Graphic 13" descr="CVS Health logo.">
            <a:extLst>
              <a:ext uri="{FF2B5EF4-FFF2-40B4-BE49-F238E27FC236}">
                <a16:creationId xmlns:a16="http://schemas.microsoft.com/office/drawing/2014/main" id="{94AECE69-B9DB-9EB5-99A4-DC5844CA5E3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806" y="1257300"/>
            <a:ext cx="2079927" cy="253755"/>
          </a:xfrm>
          <a:prstGeom prst="rect">
            <a:avLst/>
          </a:prstGeom>
        </p:spPr>
      </p:pic>
      <p:sp>
        <p:nvSpPr>
          <p:cNvPr id="19" name="Graphic 8">
            <a:extLst>
              <a:ext uri="{FF2B5EF4-FFF2-40B4-BE49-F238E27FC236}">
                <a16:creationId xmlns:a16="http://schemas.microsoft.com/office/drawing/2014/main" id="{7F5589DF-3887-80B8-D1FC-69B898A14C38}"/>
              </a:ext>
            </a:extLst>
          </p:cNvPr>
          <p:cNvSpPr>
            <a:spLocks noChangeAspect="1"/>
          </p:cNvSpPr>
          <p:nvPr userDrawn="1"/>
        </p:nvSpPr>
        <p:spPr>
          <a:xfrm>
            <a:off x="908806" y="1836163"/>
            <a:ext cx="910769" cy="365760"/>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sp>
        <p:nvSpPr>
          <p:cNvPr id="2" name="TextBox 1">
            <a:extLst>
              <a:ext uri="{FF2B5EF4-FFF2-40B4-BE49-F238E27FC236}">
                <a16:creationId xmlns:a16="http://schemas.microsoft.com/office/drawing/2014/main" id="{67FA20E3-9233-30BA-01A1-4FCAE62F9F14}"/>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86270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1" y="9144"/>
            <a:ext cx="12192001"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1" y="-1"/>
            <a:ext cx="12192001" cy="6857999"/>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6" name="Graphic 5" descr="CVS Health logo.">
            <a:extLst>
              <a:ext uri="{FF2B5EF4-FFF2-40B4-BE49-F238E27FC236}">
                <a16:creationId xmlns:a16="http://schemas.microsoft.com/office/drawing/2014/main" id="{40D4FD5D-5BCE-846B-AA62-DC97ED0E38C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BB27EB5D-EED6-558C-B6BA-9356A89FC686}"/>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96882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4398746"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0" y="-1"/>
            <a:ext cx="4398746" cy="6857999"/>
          </a:xfrm>
          <a:prstGeom prst="rect">
            <a:avLst/>
          </a:prstGeom>
          <a:gradFill flip="none" rotWithShape="1">
            <a:gsLst>
              <a:gs pos="0">
                <a:srgbClr val="00B0F0">
                  <a:alpha val="1000"/>
                </a:srgbClr>
              </a:gs>
              <a:gs pos="100000">
                <a:srgbClr val="0A4B8C"/>
              </a:gs>
              <a:gs pos="58000">
                <a:srgbClr val="0A4B8C">
                  <a:alpha val="61000"/>
                </a:srgbClr>
              </a:gs>
            </a:gsLst>
            <a:lin ang="135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F0A5A034-04F6-A65E-BF7A-E737D972CB9E}"/>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287002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Agenda">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A7D85-A138-6ED3-1F3F-E151468284F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5270500" cy="6858000"/>
          </a:xfrm>
          <a:prstGeom prst="rect">
            <a:avLst/>
          </a:prstGeom>
        </p:spPr>
      </p:pic>
      <p:sp>
        <p:nvSpPr>
          <p:cNvPr id="4" name="Rectangle 3">
            <a:extLst>
              <a:ext uri="{FF2B5EF4-FFF2-40B4-BE49-F238E27FC236}">
                <a16:creationId xmlns:a16="http://schemas.microsoft.com/office/drawing/2014/main" id="{6135AA92-4232-99EC-B02E-003EFC8252EE}"/>
              </a:ext>
            </a:extLst>
          </p:cNvPr>
          <p:cNvSpPr>
            <a:spLocks/>
          </p:cNvSpPr>
          <p:nvPr userDrawn="1"/>
        </p:nvSpPr>
        <p:spPr bwMode="gray">
          <a:xfrm>
            <a:off x="0" y="-1"/>
            <a:ext cx="5270500" cy="6857999"/>
          </a:xfrm>
          <a:prstGeom prst="rect">
            <a:avLst/>
          </a:prstGeom>
          <a:gradFill flip="none" rotWithShape="1">
            <a:gsLst>
              <a:gs pos="0">
                <a:srgbClr val="00B0F0"/>
              </a:gs>
              <a:gs pos="100000">
                <a:srgbClr val="0A4B8C"/>
              </a:gs>
              <a:gs pos="58000">
                <a:srgbClr val="0A4B8C">
                  <a:alpha val="79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bg1"/>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sp>
        <p:nvSpPr>
          <p:cNvPr id="3" name="Title 1">
            <a:extLst>
              <a:ext uri="{FF2B5EF4-FFF2-40B4-BE49-F238E27FC236}">
                <a16:creationId xmlns:a16="http://schemas.microsoft.com/office/drawing/2014/main" id="{7CD1F70B-0561-EF7E-4389-953EEC3C930A}"/>
              </a:ext>
            </a:extLst>
          </p:cNvPr>
          <p:cNvSpPr>
            <a:spLocks noGrp="1"/>
          </p:cNvSpPr>
          <p:nvPr>
            <p:ph type="title" hasCustomPrompt="1"/>
          </p:nvPr>
        </p:nvSpPr>
        <p:spPr>
          <a:xfrm>
            <a:off x="557931" y="584200"/>
            <a:ext cx="2375771" cy="713232"/>
          </a:xfrm>
        </p:spPr>
        <p:txBody>
          <a:bodyPr/>
          <a:lstStyle>
            <a:lvl1pPr>
              <a:defRPr sz="4797">
                <a:solidFill>
                  <a:schemeClr val="bg1"/>
                </a:solidFill>
              </a:defRPr>
            </a:lvl1pPr>
          </a:lstStyle>
          <a:p>
            <a:r>
              <a:rPr lang="en-US"/>
              <a:t>Agenda</a:t>
            </a:r>
          </a:p>
        </p:txBody>
      </p:sp>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7" name="TextBox 6">
            <a:extLst>
              <a:ext uri="{FF2B5EF4-FFF2-40B4-BE49-F238E27FC236}">
                <a16:creationId xmlns:a16="http://schemas.microsoft.com/office/drawing/2014/main" id="{0867E97B-A074-0D03-4108-FD83C41FA99B}"/>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379428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064E0-3E43-2E86-9DC1-26A2B86D01B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12192000" cy="1473200"/>
          </a:xfrm>
          <a:prstGeom prst="rect">
            <a:avLst/>
          </a:prstGeom>
        </p:spPr>
      </p:pic>
      <p:sp>
        <p:nvSpPr>
          <p:cNvPr id="6" name="Rectangle 5">
            <a:extLst>
              <a:ext uri="{FF2B5EF4-FFF2-40B4-BE49-F238E27FC236}">
                <a16:creationId xmlns:a16="http://schemas.microsoft.com/office/drawing/2014/main" id="{75343733-C58B-D9A2-C6B7-4E1F4F053BEA}"/>
              </a:ext>
            </a:extLst>
          </p:cNvPr>
          <p:cNvSpPr>
            <a:spLocks/>
          </p:cNvSpPr>
          <p:nvPr userDrawn="1"/>
        </p:nvSpPr>
        <p:spPr bwMode="gray">
          <a:xfrm>
            <a:off x="0" y="1"/>
            <a:ext cx="12192000" cy="1473199"/>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mn-lt"/>
                <a:ea typeface="Open Sans" panose="020B0606030504020204" pitchFamily="34" charset="0"/>
                <a:cs typeface="Arial" panose="020B0604020202020204" pitchFamily="34" charset="0"/>
              </a:rPr>
              <a:pPr algn="l"/>
              <a:t>‹#›</a:t>
            </a:fld>
            <a:endParaRPr lang="en-US" sz="1000" b="0">
              <a:solidFill>
                <a:schemeClr val="tx2"/>
              </a:solidFill>
              <a:latin typeface="+mn-lt"/>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10" name="Text Placeholder 9">
            <a:extLst>
              <a:ext uri="{FF2B5EF4-FFF2-40B4-BE49-F238E27FC236}">
                <a16:creationId xmlns:a16="http://schemas.microsoft.com/office/drawing/2014/main" id="{0E717C28-0316-CCEA-82AD-7F3DFF8FD0A8}"/>
              </a:ext>
            </a:extLst>
          </p:cNvPr>
          <p:cNvSpPr>
            <a:spLocks noGrp="1"/>
          </p:cNvSpPr>
          <p:nvPr>
            <p:ph type="body" sz="quarter" idx="10"/>
          </p:nvPr>
        </p:nvSpPr>
        <p:spPr>
          <a:xfrm>
            <a:off x="531813" y="571500"/>
            <a:ext cx="11125200" cy="685800"/>
          </a:xfrm>
        </p:spPr>
        <p:txBody>
          <a:bodyPr/>
          <a:lstStyle>
            <a:lvl1pPr>
              <a:spcBef>
                <a:spcPts val="0"/>
              </a:spcBef>
              <a:defRPr lang="en-US" sz="2200" b="1" kern="1200" dirty="0">
                <a:solidFill>
                  <a:schemeClr val="bg1"/>
                </a:solidFill>
                <a:latin typeface="+mj-lt"/>
                <a:ea typeface="+mj-ea"/>
                <a:cs typeface="+mj-cs"/>
              </a:defRPr>
            </a:lvl1pPr>
          </a:lstStyle>
          <a:p>
            <a:pPr lvl="0"/>
            <a:r>
              <a:rPr lang="en-US"/>
              <a:t>Click to edit Master text styles</a:t>
            </a:r>
          </a:p>
        </p:txBody>
      </p:sp>
      <p:sp>
        <p:nvSpPr>
          <p:cNvPr id="3" name="TextBox 2">
            <a:extLst>
              <a:ext uri="{FF2B5EF4-FFF2-40B4-BE49-F238E27FC236}">
                <a16:creationId xmlns:a16="http://schemas.microsoft.com/office/drawing/2014/main" id="{E8731638-E774-C0FB-4E04-D658DAC09588}"/>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114049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4C064E0-3E43-2E86-9DC1-26A2B86D01B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a:off x="0" y="0"/>
            <a:ext cx="12192000" cy="2670890"/>
          </a:xfrm>
          <a:prstGeom prst="rect">
            <a:avLst/>
          </a:prstGeom>
        </p:spPr>
      </p:pic>
      <p:sp>
        <p:nvSpPr>
          <p:cNvPr id="6" name="Rectangle 5">
            <a:extLst>
              <a:ext uri="{FF2B5EF4-FFF2-40B4-BE49-F238E27FC236}">
                <a16:creationId xmlns:a16="http://schemas.microsoft.com/office/drawing/2014/main" id="{75343733-C58B-D9A2-C6B7-4E1F4F053BEA}"/>
              </a:ext>
            </a:extLst>
          </p:cNvPr>
          <p:cNvSpPr>
            <a:spLocks/>
          </p:cNvSpPr>
          <p:nvPr userDrawn="1"/>
        </p:nvSpPr>
        <p:spPr bwMode="gray">
          <a:xfrm>
            <a:off x="0" y="1"/>
            <a:ext cx="12192000" cy="2670888"/>
          </a:xfrm>
          <a:prstGeom prst="rect">
            <a:avLst/>
          </a:prstGeom>
          <a:gradFill flip="none" rotWithShape="1">
            <a:gsLst>
              <a:gs pos="0">
                <a:srgbClr val="00B0F0">
                  <a:alpha val="1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0" name="Content Placeholder 8"/>
          <p:cNvSpPr txBox="1">
            <a:spLocks/>
          </p:cNvSpPr>
          <p:nvPr userDrawn="1"/>
        </p:nvSpPr>
        <p:spPr>
          <a:xfrm>
            <a:off x="557932"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6"/>
            <a:ext cx="8048816"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53707" y="6373368"/>
            <a:ext cx="1274145" cy="155448"/>
          </a:xfrm>
          <a:prstGeom prst="rect">
            <a:avLst/>
          </a:prstGeom>
        </p:spPr>
      </p:pic>
      <p:pic>
        <p:nvPicPr>
          <p:cNvPr id="5" name="Graphic 4" descr="CVS Health logo.">
            <a:extLst>
              <a:ext uri="{FF2B5EF4-FFF2-40B4-BE49-F238E27FC236}">
                <a16:creationId xmlns:a16="http://schemas.microsoft.com/office/drawing/2014/main" id="{E19E38E8-8CE2-3594-0F60-E17D5DDCA81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83402" y="6393249"/>
            <a:ext cx="1274145" cy="155448"/>
          </a:xfrm>
          <a:prstGeom prst="rect">
            <a:avLst/>
          </a:prstGeom>
        </p:spPr>
      </p:pic>
      <p:sp>
        <p:nvSpPr>
          <p:cNvPr id="3" name="TextBox 2">
            <a:extLst>
              <a:ext uri="{FF2B5EF4-FFF2-40B4-BE49-F238E27FC236}">
                <a16:creationId xmlns:a16="http://schemas.microsoft.com/office/drawing/2014/main" id="{C941753D-406C-3BCB-14DB-4565EA754521}"/>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4058411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without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ECE1894-1D65-F7FC-3906-E3CE863A6F09}"/>
              </a:ext>
            </a:extLst>
          </p:cNvPr>
          <p:cNvCxnSpPr>
            <a:cxnSpLocks/>
            <a:endCxn id="40" idx="3"/>
          </p:cNvCxnSpPr>
          <p:nvPr userDrawn="1"/>
        </p:nvCxnSpPr>
        <p:spPr>
          <a:xfrm flipH="1">
            <a:off x="4217158" y="6472596"/>
            <a:ext cx="7082434" cy="0"/>
          </a:xfrm>
          <a:prstGeom prst="line">
            <a:avLst/>
          </a:prstGeom>
          <a:solidFill>
            <a:schemeClr val="bg1"/>
          </a:solidFill>
          <a:ln w="229" cap="flat">
            <a:solidFill>
              <a:schemeClr val="bg2"/>
            </a:solidFill>
            <a:prstDash val="solid"/>
            <a:miter/>
          </a:ln>
        </p:spPr>
      </p:cxnSp>
      <p:sp>
        <p:nvSpPr>
          <p:cNvPr id="2" name="Graphic 14">
            <a:extLst>
              <a:ext uri="{FF2B5EF4-FFF2-40B4-BE49-F238E27FC236}">
                <a16:creationId xmlns:a16="http://schemas.microsoft.com/office/drawing/2014/main" id="{9FCC35A8-B0EA-F08C-4213-D6DE42E8B749}"/>
              </a:ext>
            </a:extLst>
          </p:cNvPr>
          <p:cNvSpPr/>
          <p:nvPr userDrawn="1"/>
        </p:nvSpPr>
        <p:spPr>
          <a:xfrm>
            <a:off x="11234841" y="6332325"/>
            <a:ext cx="283884" cy="228602"/>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chemeClr val="bg2"/>
            </a:solidFill>
            <a:prstDash val="solid"/>
            <a:miter/>
          </a:ln>
        </p:spPr>
        <p:txBody>
          <a:bodyPr/>
          <a:lstStyle/>
          <a:p>
            <a:endParaRPr lang="en-US" sz="1500"/>
          </a:p>
        </p:txBody>
      </p:sp>
      <p:sp>
        <p:nvSpPr>
          <p:cNvPr id="38"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6" y="594870"/>
            <a:ext cx="10396058" cy="633431"/>
          </a:xfrm>
        </p:spPr>
        <p:txBody>
          <a:bodyPr/>
          <a:lstStyle>
            <a:lvl1pPr>
              <a:defRPr sz="2799">
                <a:solidFill>
                  <a:srgbClr val="0B315E"/>
                </a:solidFill>
              </a:defRPr>
            </a:lvl1pPr>
          </a:lstStyle>
          <a:p>
            <a:r>
              <a:rPr lang="en-US"/>
              <a:t>Title</a:t>
            </a:r>
          </a:p>
        </p:txBody>
      </p:sp>
      <p:sp>
        <p:nvSpPr>
          <p:cNvPr id="39"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6" y="1494292"/>
            <a:ext cx="10396058"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0" name="TextBox 39">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rgbClr val="646464"/>
                </a:solidFill>
                <a:latin typeface="+mn-lt"/>
              </a:rPr>
              <a:t>©2026 CVS Health and/or one of its affiliates. Confidential and proprietary.</a:t>
            </a:r>
          </a:p>
        </p:txBody>
      </p:sp>
      <p:grpSp>
        <p:nvGrpSpPr>
          <p:cNvPr id="43" name="Group 42">
            <a:extLst>
              <a:ext uri="{FF2B5EF4-FFF2-40B4-BE49-F238E27FC236}">
                <a16:creationId xmlns:a16="http://schemas.microsoft.com/office/drawing/2014/main" id="{99BB8A31-1E30-EEAC-DFB0-109EFF4EA290}"/>
              </a:ext>
            </a:extLst>
          </p:cNvPr>
          <p:cNvGrpSpPr/>
          <p:nvPr userDrawn="1"/>
        </p:nvGrpSpPr>
        <p:grpSpPr>
          <a:xfrm>
            <a:off x="219828" y="2"/>
            <a:ext cx="167558" cy="1228299"/>
            <a:chOff x="536850" y="5638963"/>
            <a:chExt cx="167558" cy="1228299"/>
          </a:xfrm>
        </p:grpSpPr>
        <p:pic>
          <p:nvPicPr>
            <p:cNvPr id="44" name="Graphic 43">
              <a:extLst>
                <a:ext uri="{FF2B5EF4-FFF2-40B4-BE49-F238E27FC236}">
                  <a16:creationId xmlns:a16="http://schemas.microsoft.com/office/drawing/2014/main" id="{6E9E99BC-9F14-9883-064F-B53361C1BD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6850" y="6728262"/>
              <a:ext cx="167558" cy="139000"/>
            </a:xfrm>
            <a:prstGeom prst="rect">
              <a:avLst/>
            </a:prstGeom>
          </p:spPr>
        </p:pic>
        <p:cxnSp>
          <p:nvCxnSpPr>
            <p:cNvPr id="45" name="Straight Connector 44">
              <a:extLst>
                <a:ext uri="{FF2B5EF4-FFF2-40B4-BE49-F238E27FC236}">
                  <a16:creationId xmlns:a16="http://schemas.microsoft.com/office/drawing/2014/main" id="{58DF05CE-98E7-C963-C785-DDC8A0269B21}"/>
                </a:ext>
              </a:extLst>
            </p:cNvPr>
            <p:cNvCxnSpPr>
              <a:cxnSpLocks/>
              <a:endCxn id="44" idx="0"/>
            </p:cNvCxnSpPr>
            <p:nvPr/>
          </p:nvCxnSpPr>
          <p:spPr>
            <a:xfrm>
              <a:off x="620629" y="5638963"/>
              <a:ext cx="0" cy="1089299"/>
            </a:xfrm>
            <a:prstGeom prst="line">
              <a:avLst/>
            </a:prstGeom>
            <a:ln w="12700" cmpd="sng">
              <a:solidFill>
                <a:srgbClr val="CC0000"/>
              </a:solidFill>
            </a:ln>
          </p:spPr>
          <p:style>
            <a:lnRef idx="1">
              <a:schemeClr val="accent1"/>
            </a:lnRef>
            <a:fillRef idx="0">
              <a:schemeClr val="accent1"/>
            </a:fillRef>
            <a:effectRef idx="0">
              <a:schemeClr val="accent1"/>
            </a:effectRef>
            <a:fontRef idx="minor">
              <a:schemeClr val="tx1"/>
            </a:fontRef>
          </p:style>
        </p:cxnSp>
      </p:grpSp>
      <p:sp>
        <p:nvSpPr>
          <p:cNvPr id="3" name="Content Placeholder 8">
            <a:extLst>
              <a:ext uri="{FF2B5EF4-FFF2-40B4-BE49-F238E27FC236}">
                <a16:creationId xmlns:a16="http://schemas.microsoft.com/office/drawing/2014/main" id="{5F505027-3A99-DEEE-B85F-71A3E0A39572}"/>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800" b="0" smtClean="0">
                <a:solidFill>
                  <a:srgbClr val="646464"/>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rgbClr val="646464"/>
              </a:solidFill>
              <a:latin typeface="CVS Health Sans Medium" panose="020B0504020202020204" pitchFamily="34" charset="0"/>
              <a:ea typeface="Open Sans" panose="020B0606030504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8431D0F-2E17-1439-350F-4724C8BA4E8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a:fillRect/>
          </a:stretch>
        </p:blipFill>
        <p:spPr>
          <a:xfrm>
            <a:off x="0" y="0"/>
            <a:ext cx="12192000" cy="1473200"/>
          </a:xfrm>
          <a:prstGeom prst="rect">
            <a:avLst/>
          </a:prstGeom>
        </p:spPr>
      </p:pic>
      <p:sp>
        <p:nvSpPr>
          <p:cNvPr id="8" name="Rectangle 7">
            <a:extLst>
              <a:ext uri="{FF2B5EF4-FFF2-40B4-BE49-F238E27FC236}">
                <a16:creationId xmlns:a16="http://schemas.microsoft.com/office/drawing/2014/main" id="{569A9860-D17F-1250-4A68-648408367AB9}"/>
              </a:ext>
            </a:extLst>
          </p:cNvPr>
          <p:cNvSpPr>
            <a:spLocks/>
          </p:cNvSpPr>
          <p:nvPr userDrawn="1"/>
        </p:nvSpPr>
        <p:spPr bwMode="gray">
          <a:xfrm>
            <a:off x="0" y="1"/>
            <a:ext cx="12192000" cy="1473199"/>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7" name="TextBox 6">
            <a:extLst>
              <a:ext uri="{FF2B5EF4-FFF2-40B4-BE49-F238E27FC236}">
                <a16:creationId xmlns:a16="http://schemas.microsoft.com/office/drawing/2014/main" id="{1F9FC096-04F2-0401-8246-9722B79957FB}"/>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560695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without Header">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4F8D3137-93BC-F30F-CD06-6320E48A1D83}"/>
              </a:ext>
            </a:extLst>
          </p:cNvPr>
          <p:cNvGraphicFramePr>
            <a:graphicFrameLocks/>
          </p:cNvGraphicFramePr>
          <p:nvPr userDrawn="1">
            <p:custDataLst>
              <p:tags r:id="rId1"/>
            </p:custDataLst>
            <p:extLst>
              <p:ext uri="{D42A27DB-BD31-4B8C-83A1-F6EECF244321}">
                <p14:modId xmlns:p14="http://schemas.microsoft.com/office/powerpoint/2010/main" val="1744442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17" name="thinkcell data - do not delete" hidden="1">
                        <a:extLst>
                          <a:ext uri="{FF2B5EF4-FFF2-40B4-BE49-F238E27FC236}">
                            <a16:creationId xmlns:a16="http://schemas.microsoft.com/office/drawing/2014/main" id="{4F8D3137-93BC-F30F-CD06-6320E48A1D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74AA67E-0D06-BA19-490B-5CBCCAF6B490}"/>
              </a:ext>
            </a:extLst>
          </p:cNvPr>
          <p:cNvPicPr preferRelativeResize="0">
            <a:picLocks/>
          </p:cNvPicPr>
          <p:nvPr userDrawn="1"/>
        </p:nvPicPr>
        <p:blipFill rotWithShape="1">
          <a:blip r:embed="rId5" cstate="print">
            <a:extLst>
              <a:ext uri="{28A0092B-C50C-407E-A947-70E740481C1C}">
                <a14:useLocalDpi xmlns:a14="http://schemas.microsoft.com/office/drawing/2010/main" val="0"/>
              </a:ext>
            </a:extLst>
          </a:blip>
          <a:srcRect/>
          <a:stretch>
            <a:fillRect/>
          </a:stretch>
        </p:blipFill>
        <p:spPr>
          <a:xfrm>
            <a:off x="0" y="0"/>
            <a:ext cx="12192000" cy="1335024"/>
          </a:xfrm>
          <a:prstGeom prst="rect">
            <a:avLst/>
          </a:prstGeom>
        </p:spPr>
      </p:pic>
      <p:sp>
        <p:nvSpPr>
          <p:cNvPr id="14" name="Rectangle 13">
            <a:extLst>
              <a:ext uri="{FF2B5EF4-FFF2-40B4-BE49-F238E27FC236}">
                <a16:creationId xmlns:a16="http://schemas.microsoft.com/office/drawing/2014/main" id="{A0047F93-FA9B-8FC1-6250-7CE5A58E6FF8}"/>
              </a:ext>
            </a:extLst>
          </p:cNvPr>
          <p:cNvSpPr>
            <a:spLocks/>
          </p:cNvSpPr>
          <p:nvPr userDrawn="1"/>
        </p:nvSpPr>
        <p:spPr bwMode="gray">
          <a:xfrm>
            <a:off x="0" y="1"/>
            <a:ext cx="12192000" cy="1335024"/>
          </a:xfrm>
          <a:prstGeom prst="rect">
            <a:avLst/>
          </a:prstGeom>
          <a:gradFill flip="none" rotWithShape="1">
            <a:gsLst>
              <a:gs pos="0">
                <a:srgbClr val="00B0F0">
                  <a:alpha val="83000"/>
                </a:srgbClr>
              </a:gs>
              <a:gs pos="100000">
                <a:srgbClr val="0A4B8C"/>
              </a:gs>
              <a:gs pos="58000">
                <a:srgbClr val="0A4B8C">
                  <a:alpha val="61000"/>
                </a:srgbClr>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1" name="Graphic 14">
            <a:extLst>
              <a:ext uri="{FF2B5EF4-FFF2-40B4-BE49-F238E27FC236}">
                <a16:creationId xmlns:a16="http://schemas.microsoft.com/office/drawing/2014/main" id="{7232F01C-EBE8-A726-2707-766CCEC38916}"/>
              </a:ext>
            </a:extLst>
          </p:cNvPr>
          <p:cNvSpPr/>
          <p:nvPr userDrawn="1"/>
        </p:nvSpPr>
        <p:spPr>
          <a:xfrm>
            <a:off x="11137828" y="6248365"/>
            <a:ext cx="477910" cy="396523"/>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rgbClr val="646464"/>
            </a:solidFill>
            <a:prstDash val="solid"/>
            <a:miter/>
          </a:ln>
        </p:spPr>
        <p:txBody>
          <a:bodyPr/>
          <a:lstStyle/>
          <a:p>
            <a:endParaRPr lang="en-US" sz="1500"/>
          </a:p>
        </p:txBody>
      </p:sp>
      <p:sp>
        <p:nvSpPr>
          <p:cNvPr id="7"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5" y="1494292"/>
            <a:ext cx="11028363"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16" name="TextBox 15">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rgbClr val="646464"/>
                </a:solidFill>
                <a:latin typeface="+mn-lt"/>
              </a:rPr>
              <a:t>©2026 CVS Health and/or one of its affiliates. Confidential and proprietary.</a:t>
            </a:r>
          </a:p>
        </p:txBody>
      </p:sp>
      <p:sp>
        <p:nvSpPr>
          <p:cNvPr id="15" name="Content Placeholder 8">
            <a:extLst>
              <a:ext uri="{FF2B5EF4-FFF2-40B4-BE49-F238E27FC236}">
                <a16:creationId xmlns:a16="http://schemas.microsoft.com/office/drawing/2014/main" id="{7B8E535F-0B34-19ED-1ECE-F571D6F1C0A3}"/>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rgbClr val="646464"/>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rgbClr val="646464"/>
              </a:solidFill>
              <a:latin typeface="CVS Health Sans Medium" panose="020B0504020202020204" pitchFamily="34" charset="0"/>
              <a:ea typeface="Open Sans" panose="020B0606030504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A51E17B0-20B0-8CCF-949F-B0BBB617646F}"/>
              </a:ext>
            </a:extLst>
          </p:cNvPr>
          <p:cNvCxnSpPr>
            <a:cxnSpLocks/>
            <a:stCxn id="15" idx="1"/>
            <a:endCxn id="16" idx="3"/>
          </p:cNvCxnSpPr>
          <p:nvPr userDrawn="1"/>
        </p:nvCxnSpPr>
        <p:spPr>
          <a:xfrm flipH="1">
            <a:off x="4217158" y="6446626"/>
            <a:ext cx="6949440" cy="25971"/>
          </a:xfrm>
          <a:prstGeom prst="line">
            <a:avLst/>
          </a:prstGeom>
          <a:solidFill>
            <a:schemeClr val="bg1"/>
          </a:solidFill>
          <a:ln w="229" cap="flat">
            <a:solidFill>
              <a:srgbClr val="646464"/>
            </a:solidFill>
            <a:prstDash val="solid"/>
            <a:miter/>
          </a:ln>
        </p:spPr>
      </p:cxnSp>
      <p:sp>
        <p:nvSpPr>
          <p:cNvPr id="6"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5" y="594870"/>
            <a:ext cx="10965638" cy="633431"/>
          </a:xfrm>
        </p:spPr>
        <p:txBody>
          <a:bodyPr vert="horz" rIns="0"/>
          <a:lstStyle>
            <a:lvl1pPr>
              <a:defRPr sz="2799">
                <a:solidFill>
                  <a:schemeClr val="bg1"/>
                </a:solidFill>
              </a:defRPr>
            </a:lvl1pPr>
          </a:lstStyle>
          <a:p>
            <a:r>
              <a:rPr lang="en-US"/>
              <a:t>Title</a:t>
            </a:r>
          </a:p>
        </p:txBody>
      </p:sp>
      <p:sp>
        <p:nvSpPr>
          <p:cNvPr id="3" name="TextBox 2">
            <a:extLst>
              <a:ext uri="{FF2B5EF4-FFF2-40B4-BE49-F238E27FC236}">
                <a16:creationId xmlns:a16="http://schemas.microsoft.com/office/drawing/2014/main" id="{75FBF624-F94D-901E-E963-8926EA75D228}"/>
              </a:ext>
            </a:extLst>
          </p:cNvPr>
          <p:cNvSpPr txBox="1"/>
          <p:nvPr userDrawn="1"/>
        </p:nvSpPr>
        <p:spPr>
          <a:xfrm>
            <a:off x="4107180" y="6501384"/>
            <a:ext cx="3977640" cy="323165"/>
          </a:xfrm>
          <a:prstGeom prst="rect">
            <a:avLst/>
          </a:prstGeom>
          <a:noFill/>
        </p:spPr>
        <p:txBody>
          <a:bodyPr wrap="square" rtlCol="0">
            <a:spAutoFit/>
          </a:bodyPr>
          <a:lstStyle/>
          <a:p>
            <a:pPr algn="l"/>
            <a:r>
              <a:rPr lang="en-US" sz="1500" b="1">
                <a:solidFill>
                  <a:schemeClr val="accent2"/>
                </a:solidFill>
              </a:rPr>
              <a:t>Draft Document - For Discussion Purposes Only</a:t>
            </a:r>
          </a:p>
        </p:txBody>
      </p:sp>
    </p:spTree>
    <p:extLst>
      <p:ext uri="{BB962C8B-B14F-4D97-AF65-F5344CB8AC3E}">
        <p14:creationId xmlns:p14="http://schemas.microsoft.com/office/powerpoint/2010/main" val="3097421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B74A4B3A-DB72-A065-FF30-24C85649223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rot="16200000" flipH="1" flipV="1">
            <a:off x="8235913" y="2901915"/>
            <a:ext cx="6858000" cy="1054172"/>
          </a:xfrm>
          <a:prstGeom prst="rect">
            <a:avLst/>
          </a:prstGeom>
        </p:spPr>
      </p:pic>
      <p:sp>
        <p:nvSpPr>
          <p:cNvPr id="38"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87376" y="594870"/>
            <a:ext cx="10396058" cy="633431"/>
          </a:xfrm>
        </p:spPr>
        <p:txBody>
          <a:bodyPr/>
          <a:lstStyle>
            <a:lvl1pPr>
              <a:defRPr sz="2799">
                <a:solidFill>
                  <a:srgbClr val="0B315E"/>
                </a:solidFill>
              </a:defRPr>
            </a:lvl1pPr>
          </a:lstStyle>
          <a:p>
            <a:r>
              <a:rPr lang="en-US"/>
              <a:t>Title</a:t>
            </a:r>
          </a:p>
        </p:txBody>
      </p:sp>
      <p:sp>
        <p:nvSpPr>
          <p:cNvPr id="39" name="Content Placeholder 2">
            <a:extLst>
              <a:ext uri="{FF2B5EF4-FFF2-40B4-BE49-F238E27FC236}">
                <a16:creationId xmlns:a16="http://schemas.microsoft.com/office/drawing/2014/main" id="{6B860B51-E631-5FCC-145D-3A2392DEE379}"/>
              </a:ext>
            </a:extLst>
          </p:cNvPr>
          <p:cNvSpPr>
            <a:spLocks noGrp="1"/>
          </p:cNvSpPr>
          <p:nvPr>
            <p:ph idx="1" hasCustomPrompt="1"/>
          </p:nvPr>
        </p:nvSpPr>
        <p:spPr bwMode="gray">
          <a:xfrm>
            <a:off x="587376" y="1494292"/>
            <a:ext cx="10396058" cy="4576307"/>
          </a:xfrm>
        </p:spPr>
        <p:txBody>
          <a:bodyPr/>
          <a:lstStyle>
            <a:lvl1pPr>
              <a:lnSpc>
                <a:spcPct val="100000"/>
              </a:lnSpc>
              <a:buClr>
                <a:schemeClr val="tx1"/>
              </a:buClr>
              <a:defRPr sz="1797" b="1" cap="none" baseline="0">
                <a:solidFill>
                  <a:schemeClr val="tx2"/>
                </a:solidFill>
                <a:latin typeface="+mn-lt"/>
              </a:defRPr>
            </a:lvl1pPr>
            <a:lvl2pPr marL="0" indent="0">
              <a:buClr>
                <a:schemeClr val="tx1"/>
              </a:buClr>
              <a:buNone/>
              <a:defRPr sz="1300" baseline="0">
                <a:solidFill>
                  <a:schemeClr val="tx2"/>
                </a:solidFill>
              </a:defRPr>
            </a:lvl2pPr>
            <a:lvl3pPr marL="171297" indent="-171297">
              <a:spcBef>
                <a:spcPts val="1200"/>
              </a:spcBef>
              <a:buClr>
                <a:schemeClr val="tx1"/>
              </a:buClr>
              <a:buFont typeface="Arial" panose="020B0604020202020204" pitchFamily="34" charset="0"/>
              <a:buChar char="•"/>
              <a:defRPr sz="1300" baseline="0">
                <a:solidFill>
                  <a:schemeClr val="tx2"/>
                </a:solidFill>
              </a:defRPr>
            </a:lvl3pPr>
            <a:lvl4pPr marL="342591" indent="-171297">
              <a:buClr>
                <a:schemeClr val="tx1"/>
              </a:buClr>
              <a:buFont typeface="Arial" panose="020B0604020202020204" pitchFamily="34" charset="0"/>
              <a:buChar char="–"/>
              <a:defRPr sz="1300" baseline="0">
                <a:solidFill>
                  <a:schemeClr val="tx2"/>
                </a:solidFill>
              </a:defRPr>
            </a:lvl4pPr>
            <a:lvl5pPr marL="515473" indent="-172882">
              <a:buClr>
                <a:schemeClr val="tx1"/>
              </a:buClr>
              <a:buFont typeface="Arial" panose="020B0604020202020204" pitchFamily="34" charset="0"/>
              <a:buChar char="•"/>
              <a:defRPr sz="1300">
                <a:solidFill>
                  <a:schemeClr val="tx2"/>
                </a:solidFill>
              </a:defRPr>
            </a:lvl5pPr>
            <a:lvl6pPr marL="686770" indent="-171297">
              <a:buClr>
                <a:schemeClr val="tx1"/>
              </a:buClr>
              <a:buFont typeface="Arial" panose="020B0604020202020204" pitchFamily="34" charset="0"/>
              <a:buChar char="–"/>
              <a:defRPr sz="1300" baseline="0">
                <a:solidFill>
                  <a:schemeClr val="tx2"/>
                </a:solidFill>
              </a:defRPr>
            </a:lvl6pPr>
            <a:lvl7pPr marL="859651" indent="-172882">
              <a:buFont typeface="Arial" panose="020B0604020202020204" pitchFamily="34" charset="0"/>
              <a:buChar char="•"/>
              <a:defRPr sz="1300"/>
            </a:lvl7pPr>
            <a:lvl8pPr marL="1030947" indent="-171297">
              <a:buFont typeface="Arial" panose="020B0604020202020204" pitchFamily="34" charset="0"/>
              <a:buChar char="–"/>
              <a:defRPr sz="1300"/>
            </a:lvl8pPr>
            <a:lvl9pPr marL="1202242" indent="-171297">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1" name="Rectangle 40">
            <a:extLst>
              <a:ext uri="{FF2B5EF4-FFF2-40B4-BE49-F238E27FC236}">
                <a16:creationId xmlns:a16="http://schemas.microsoft.com/office/drawing/2014/main" id="{EBB8EB98-800A-1DAB-D1FD-4B08E37A35D5}"/>
              </a:ext>
            </a:extLst>
          </p:cNvPr>
          <p:cNvSpPr>
            <a:spLocks/>
          </p:cNvSpPr>
          <p:nvPr userDrawn="1"/>
        </p:nvSpPr>
        <p:spPr bwMode="gray">
          <a:xfrm rot="5400000">
            <a:off x="8235912" y="2901916"/>
            <a:ext cx="6858002" cy="1054171"/>
          </a:xfrm>
          <a:prstGeom prst="rect">
            <a:avLst/>
          </a:prstGeom>
          <a:gradFill flip="none" rotWithShape="1">
            <a:gsLst>
              <a:gs pos="0">
                <a:srgbClr val="0A4B8C">
                  <a:alpha val="55000"/>
                </a:srgbClr>
              </a:gs>
              <a:gs pos="100000">
                <a:srgbClr val="0B315E"/>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42" name="Content Placeholder 8">
            <a:extLst>
              <a:ext uri="{FF2B5EF4-FFF2-40B4-BE49-F238E27FC236}">
                <a16:creationId xmlns:a16="http://schemas.microsoft.com/office/drawing/2014/main" id="{7B8E535F-0B34-19ED-1ECE-F571D6F1C0A3}"/>
              </a:ext>
            </a:extLst>
          </p:cNvPr>
          <p:cNvSpPr txBox="1">
            <a:spLocks/>
          </p:cNvSpPr>
          <p:nvPr userDrawn="1"/>
        </p:nvSpPr>
        <p:spPr>
          <a:xfrm>
            <a:off x="11220774" y="6330801"/>
            <a:ext cx="325860" cy="211348"/>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chemeClr val="bg1"/>
                </a:solidFill>
                <a:latin typeface="CVS Health Sans Medium" panose="020B0504020202020204" pitchFamily="34" charset="0"/>
                <a:ea typeface="Open Sans" panose="020B0606030504020204" pitchFamily="34" charset="0"/>
                <a:cs typeface="Arial" panose="020B0604020202020204" pitchFamily="34" charset="0"/>
              </a:rPr>
              <a:pPr algn="ctr"/>
              <a:t>‹#›</a:t>
            </a:fld>
            <a:endParaRPr lang="en-US" sz="1000" b="0">
              <a:solidFill>
                <a:schemeClr val="bg1"/>
              </a:solidFill>
              <a:latin typeface="CVS Health Sans Medium" panose="020B0504020202020204" pitchFamily="34" charset="0"/>
              <a:ea typeface="Open Sans" panose="020B0606030504020204" pitchFamily="34" charset="0"/>
              <a:cs typeface="Arial" panose="020B0604020202020204" pitchFamily="34" charset="0"/>
            </a:endParaRPr>
          </a:p>
        </p:txBody>
      </p:sp>
      <p:grpSp>
        <p:nvGrpSpPr>
          <p:cNvPr id="43" name="Group 42">
            <a:extLst>
              <a:ext uri="{FF2B5EF4-FFF2-40B4-BE49-F238E27FC236}">
                <a16:creationId xmlns:a16="http://schemas.microsoft.com/office/drawing/2014/main" id="{99BB8A31-1E30-EEAC-DFB0-109EFF4EA290}"/>
              </a:ext>
            </a:extLst>
          </p:cNvPr>
          <p:cNvGrpSpPr/>
          <p:nvPr userDrawn="1"/>
        </p:nvGrpSpPr>
        <p:grpSpPr>
          <a:xfrm>
            <a:off x="210302" y="2"/>
            <a:ext cx="167558" cy="1228299"/>
            <a:chOff x="536850" y="5638963"/>
            <a:chExt cx="167558" cy="1228299"/>
          </a:xfrm>
        </p:grpSpPr>
        <p:pic>
          <p:nvPicPr>
            <p:cNvPr id="44" name="Graphic 43">
              <a:extLst>
                <a:ext uri="{FF2B5EF4-FFF2-40B4-BE49-F238E27FC236}">
                  <a16:creationId xmlns:a16="http://schemas.microsoft.com/office/drawing/2014/main" id="{6E9E99BC-9F14-9883-064F-B53361C1BD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6850" y="6728262"/>
              <a:ext cx="167558" cy="139000"/>
            </a:xfrm>
            <a:prstGeom prst="rect">
              <a:avLst/>
            </a:prstGeom>
          </p:spPr>
        </p:pic>
        <p:cxnSp>
          <p:nvCxnSpPr>
            <p:cNvPr id="45" name="Straight Connector 44">
              <a:extLst>
                <a:ext uri="{FF2B5EF4-FFF2-40B4-BE49-F238E27FC236}">
                  <a16:creationId xmlns:a16="http://schemas.microsoft.com/office/drawing/2014/main" id="{58DF05CE-98E7-C963-C785-DDC8A0269B21}"/>
                </a:ext>
              </a:extLst>
            </p:cNvPr>
            <p:cNvCxnSpPr>
              <a:cxnSpLocks/>
              <a:endCxn id="44" idx="0"/>
            </p:cNvCxnSpPr>
            <p:nvPr/>
          </p:nvCxnSpPr>
          <p:spPr>
            <a:xfrm>
              <a:off x="620629" y="5638963"/>
              <a:ext cx="0" cy="1089299"/>
            </a:xfrm>
            <a:prstGeom prst="line">
              <a:avLst/>
            </a:prstGeom>
            <a:ln w="12700" cmpd="sng">
              <a:solidFill>
                <a:srgbClr val="CC0000"/>
              </a:solidFill>
            </a:ln>
          </p:spPr>
          <p:style>
            <a:lnRef idx="1">
              <a:schemeClr val="accent1"/>
            </a:lnRef>
            <a:fillRef idx="0">
              <a:schemeClr val="accent1"/>
            </a:fillRef>
            <a:effectRef idx="0">
              <a:schemeClr val="accent1"/>
            </a:effectRef>
            <a:fontRef idx="minor">
              <a:schemeClr val="tx1"/>
            </a:fontRef>
          </p:style>
        </p:cxnSp>
      </p:grpSp>
      <p:sp>
        <p:nvSpPr>
          <p:cNvPr id="2" name="Graphic 8">
            <a:extLst>
              <a:ext uri="{FF2B5EF4-FFF2-40B4-BE49-F238E27FC236}">
                <a16:creationId xmlns:a16="http://schemas.microsoft.com/office/drawing/2014/main" id="{8293975E-78AB-7C19-2DA9-FDB004C6213B}"/>
              </a:ext>
            </a:extLst>
          </p:cNvPr>
          <p:cNvSpPr/>
          <p:nvPr userDrawn="1"/>
        </p:nvSpPr>
        <p:spPr>
          <a:xfrm>
            <a:off x="9062819" y="6337753"/>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rgbClr val="00338D"/>
          </a:solidFill>
          <a:ln w="16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Arial"/>
            </a:endParaRPr>
          </a:p>
        </p:txBody>
      </p:sp>
      <p:pic>
        <p:nvPicPr>
          <p:cNvPr id="3" name="Graphic 2" descr="CVS Health logo.">
            <a:extLst>
              <a:ext uri="{FF2B5EF4-FFF2-40B4-BE49-F238E27FC236}">
                <a16:creationId xmlns:a16="http://schemas.microsoft.com/office/drawing/2014/main" id="{6AC210E5-5179-4DA4-8D49-F392D904549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30597" y="6343666"/>
            <a:ext cx="1498994" cy="182880"/>
          </a:xfrm>
          <a:prstGeom prst="rect">
            <a:avLst/>
          </a:prstGeom>
        </p:spPr>
      </p:pic>
    </p:spTree>
    <p:extLst>
      <p:ext uri="{BB962C8B-B14F-4D97-AF65-F5344CB8AC3E}">
        <p14:creationId xmlns:p14="http://schemas.microsoft.com/office/powerpoint/2010/main" val="4024648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Title and Content without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4A4B3A-DB72-A065-FF30-24C856492232}"/>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a:xfrm rot="10800000" flipH="1" flipV="1">
            <a:off x="1" y="2"/>
            <a:ext cx="12192000" cy="1333499"/>
          </a:xfrm>
          <a:prstGeom prst="rect">
            <a:avLst/>
          </a:prstGeom>
        </p:spPr>
      </p:pic>
      <p:sp>
        <p:nvSpPr>
          <p:cNvPr id="9" name="Rectangle 8">
            <a:extLst>
              <a:ext uri="{FF2B5EF4-FFF2-40B4-BE49-F238E27FC236}">
                <a16:creationId xmlns:a16="http://schemas.microsoft.com/office/drawing/2014/main" id="{EBB8EB98-800A-1DAB-D1FD-4B08E37A35D5}"/>
              </a:ext>
            </a:extLst>
          </p:cNvPr>
          <p:cNvSpPr>
            <a:spLocks/>
          </p:cNvSpPr>
          <p:nvPr userDrawn="1"/>
        </p:nvSpPr>
        <p:spPr bwMode="gray">
          <a:xfrm>
            <a:off x="1" y="0"/>
            <a:ext cx="12192000" cy="1333500"/>
          </a:xfrm>
          <a:prstGeom prst="rect">
            <a:avLst/>
          </a:prstGeom>
          <a:gradFill flip="none" rotWithShape="1">
            <a:gsLst>
              <a:gs pos="0">
                <a:srgbClr val="0A4B8C">
                  <a:alpha val="55000"/>
                </a:srgbClr>
              </a:gs>
              <a:gs pos="100000">
                <a:srgbClr val="0B315E"/>
              </a:gs>
            </a:gsLst>
            <a:lin ang="108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1" name="Graphic 14">
            <a:extLst>
              <a:ext uri="{FF2B5EF4-FFF2-40B4-BE49-F238E27FC236}">
                <a16:creationId xmlns:a16="http://schemas.microsoft.com/office/drawing/2014/main" id="{7232F01C-EBE8-A726-2707-766CCEC38916}"/>
              </a:ext>
            </a:extLst>
          </p:cNvPr>
          <p:cNvSpPr/>
          <p:nvPr userDrawn="1"/>
        </p:nvSpPr>
        <p:spPr>
          <a:xfrm>
            <a:off x="11137828" y="6248365"/>
            <a:ext cx="477910" cy="396523"/>
          </a:xfrm>
          <a:custGeom>
            <a:avLst/>
            <a:gdLst>
              <a:gd name="csX0" fmla="*/ 663690 w 687213"/>
              <a:gd name="csY0" fmla="*/ 136856 h 570182"/>
              <a:gd name="csX1" fmla="*/ 550341 w 687213"/>
              <a:gd name="csY1" fmla="*/ 23557 h 570182"/>
              <a:gd name="csX2" fmla="*/ 433152 w 687213"/>
              <a:gd name="csY2" fmla="*/ 27358 h 570182"/>
              <a:gd name="csX3" fmla="*/ 433152 w 687213"/>
              <a:gd name="csY3" fmla="*/ 27358 h 570182"/>
              <a:gd name="csX4" fmla="*/ 343633 w 687213"/>
              <a:gd name="csY4" fmla="*/ 116834 h 570182"/>
              <a:gd name="csX5" fmla="*/ 250298 w 687213"/>
              <a:gd name="csY5" fmla="*/ 23539 h 570182"/>
              <a:gd name="csX6" fmla="*/ 245886 w 687213"/>
              <a:gd name="csY6" fmla="*/ 19432 h 570182"/>
              <a:gd name="csX7" fmla="*/ 230321 w 687213"/>
              <a:gd name="csY7" fmla="*/ 8895 h 570182"/>
              <a:gd name="csX8" fmla="*/ 152789 w 687213"/>
              <a:gd name="csY8" fmla="*/ 11084 h 570182"/>
              <a:gd name="csX9" fmla="*/ 117090 w 687213"/>
              <a:gd name="csY9" fmla="*/ 43238 h 570182"/>
              <a:gd name="csX10" fmla="*/ 117090 w 687213"/>
              <a:gd name="csY10" fmla="*/ 43238 h 570182"/>
              <a:gd name="csX11" fmla="*/ 91982 w 687213"/>
              <a:gd name="csY11" fmla="*/ 68335 h 570182"/>
              <a:gd name="csX12" fmla="*/ 31101 w 687213"/>
              <a:gd name="csY12" fmla="*/ 129175 h 570182"/>
              <a:gd name="csX13" fmla="*/ 1970 w 687213"/>
              <a:gd name="csY13" fmla="*/ 175746 h 570182"/>
              <a:gd name="csX14" fmla="*/ 13715 w 687213"/>
              <a:gd name="csY14" fmla="*/ 238345 h 570182"/>
              <a:gd name="csX15" fmla="*/ 43780 w 687213"/>
              <a:gd name="csY15" fmla="*/ 270460 h 570182"/>
              <a:gd name="csX16" fmla="*/ 43780 w 687213"/>
              <a:gd name="csY16" fmla="*/ 270460 h 570182"/>
              <a:gd name="csX17" fmla="*/ 179574 w 687213"/>
              <a:gd name="csY17" fmla="*/ 406194 h 570182"/>
              <a:gd name="csX18" fmla="*/ 343636 w 687213"/>
              <a:gd name="csY18" fmla="*/ 570182 h 570182"/>
              <a:gd name="csX19" fmla="*/ 430733 w 687213"/>
              <a:gd name="csY19" fmla="*/ 483126 h 570182"/>
              <a:gd name="csX20" fmla="*/ 507603 w 687213"/>
              <a:gd name="csY20" fmla="*/ 406297 h 570182"/>
              <a:gd name="csX21" fmla="*/ 507603 w 687213"/>
              <a:gd name="csY21" fmla="*/ 406297 h 570182"/>
              <a:gd name="csX22" fmla="*/ 580249 w 687213"/>
              <a:gd name="csY22" fmla="*/ 333685 h 570182"/>
              <a:gd name="csX23" fmla="*/ 615606 w 687213"/>
              <a:gd name="csY23" fmla="*/ 298347 h 570182"/>
              <a:gd name="csX24" fmla="*/ 615606 w 687213"/>
              <a:gd name="csY24" fmla="*/ 298347 h 570182"/>
              <a:gd name="csX25" fmla="*/ 663759 w 687213"/>
              <a:gd name="csY25" fmla="*/ 250219 h 570182"/>
              <a:gd name="csX26" fmla="*/ 663690 w 687213"/>
              <a:gd name="csY26" fmla="*/ 136861 h 5701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687213" h="570182">
                <a:moveTo>
                  <a:pt x="663690" y="136856"/>
                </a:moveTo>
                <a:cubicBezTo>
                  <a:pt x="654507" y="127753"/>
                  <a:pt x="562141" y="35296"/>
                  <a:pt x="550341" y="23557"/>
                </a:cubicBezTo>
                <a:cubicBezTo>
                  <a:pt x="517607" y="-9533"/>
                  <a:pt x="463912" y="-7173"/>
                  <a:pt x="433152" y="27358"/>
                </a:cubicBezTo>
                <a:cubicBezTo>
                  <a:pt x="433152" y="27358"/>
                  <a:pt x="433152" y="27358"/>
                  <a:pt x="433152" y="27358"/>
                </a:cubicBezTo>
                <a:cubicBezTo>
                  <a:pt x="411391" y="49110"/>
                  <a:pt x="365104" y="95375"/>
                  <a:pt x="343633" y="116834"/>
                </a:cubicBezTo>
                <a:cubicBezTo>
                  <a:pt x="343629" y="116825"/>
                  <a:pt x="250303" y="23548"/>
                  <a:pt x="250298" y="23539"/>
                </a:cubicBezTo>
                <a:cubicBezTo>
                  <a:pt x="248875" y="22117"/>
                  <a:pt x="247407" y="20743"/>
                  <a:pt x="245886" y="19432"/>
                </a:cubicBezTo>
                <a:cubicBezTo>
                  <a:pt x="241137" y="15320"/>
                  <a:pt x="235899" y="11780"/>
                  <a:pt x="230321" y="8895"/>
                </a:cubicBezTo>
                <a:cubicBezTo>
                  <a:pt x="206245" y="-3697"/>
                  <a:pt x="176088" y="-2877"/>
                  <a:pt x="152789" y="11084"/>
                </a:cubicBezTo>
                <a:cubicBezTo>
                  <a:pt x="141255" y="17140"/>
                  <a:pt x="126544" y="34323"/>
                  <a:pt x="117090" y="43238"/>
                </a:cubicBezTo>
                <a:cubicBezTo>
                  <a:pt x="117090" y="43238"/>
                  <a:pt x="117090" y="43238"/>
                  <a:pt x="117090" y="43238"/>
                </a:cubicBezTo>
                <a:cubicBezTo>
                  <a:pt x="113860" y="46466"/>
                  <a:pt x="94660" y="65659"/>
                  <a:pt x="91982" y="68335"/>
                </a:cubicBezTo>
                <a:cubicBezTo>
                  <a:pt x="91982" y="68335"/>
                  <a:pt x="31101" y="129175"/>
                  <a:pt x="31101" y="129175"/>
                </a:cubicBezTo>
                <a:cubicBezTo>
                  <a:pt x="17219" y="141648"/>
                  <a:pt x="5443" y="157958"/>
                  <a:pt x="1970" y="175746"/>
                </a:cubicBezTo>
                <a:cubicBezTo>
                  <a:pt x="-2907" y="197075"/>
                  <a:pt x="1368" y="220242"/>
                  <a:pt x="13715" y="238345"/>
                </a:cubicBezTo>
                <a:cubicBezTo>
                  <a:pt x="21354" y="249626"/>
                  <a:pt x="34409" y="260558"/>
                  <a:pt x="43780" y="270460"/>
                </a:cubicBezTo>
                <a:lnTo>
                  <a:pt x="43780" y="270460"/>
                </a:lnTo>
                <a:cubicBezTo>
                  <a:pt x="73436" y="300103"/>
                  <a:pt x="149028" y="375661"/>
                  <a:pt x="179574" y="406194"/>
                </a:cubicBezTo>
                <a:cubicBezTo>
                  <a:pt x="225783" y="452380"/>
                  <a:pt x="297393" y="523959"/>
                  <a:pt x="343636" y="570182"/>
                </a:cubicBezTo>
                <a:cubicBezTo>
                  <a:pt x="363274" y="550557"/>
                  <a:pt x="410561" y="503290"/>
                  <a:pt x="430733" y="483126"/>
                </a:cubicBezTo>
                <a:cubicBezTo>
                  <a:pt x="445575" y="468292"/>
                  <a:pt x="493602" y="420290"/>
                  <a:pt x="507603" y="406297"/>
                </a:cubicBezTo>
                <a:cubicBezTo>
                  <a:pt x="507603" y="406297"/>
                  <a:pt x="507603" y="406297"/>
                  <a:pt x="507603" y="406297"/>
                </a:cubicBezTo>
                <a:cubicBezTo>
                  <a:pt x="527942" y="385971"/>
                  <a:pt x="559985" y="353950"/>
                  <a:pt x="580249" y="333685"/>
                </a:cubicBezTo>
                <a:cubicBezTo>
                  <a:pt x="581687" y="332247"/>
                  <a:pt x="615166" y="298786"/>
                  <a:pt x="615606" y="298347"/>
                </a:cubicBezTo>
                <a:cubicBezTo>
                  <a:pt x="615606" y="298347"/>
                  <a:pt x="615606" y="298347"/>
                  <a:pt x="615606" y="298347"/>
                </a:cubicBezTo>
                <a:cubicBezTo>
                  <a:pt x="624322" y="289697"/>
                  <a:pt x="654525" y="259402"/>
                  <a:pt x="663759" y="250219"/>
                </a:cubicBezTo>
                <a:cubicBezTo>
                  <a:pt x="695089" y="218914"/>
                  <a:pt x="694998" y="168154"/>
                  <a:pt x="663690" y="136861"/>
                </a:cubicBezTo>
                <a:close/>
              </a:path>
            </a:pathLst>
          </a:custGeom>
          <a:solidFill>
            <a:schemeClr val="bg1"/>
          </a:solidFill>
          <a:ln w="229" cap="flat">
            <a:solidFill>
              <a:srgbClr val="646464"/>
            </a:solidFill>
            <a:prstDash val="solid"/>
            <a:miter/>
          </a:ln>
        </p:spPr>
        <p:txBody>
          <a:bodyPr/>
          <a:lstStyle/>
          <a:p>
            <a:endParaRPr lang="en-US" sz="1500"/>
          </a:p>
        </p:txBody>
      </p:sp>
      <p:sp>
        <p:nvSpPr>
          <p:cNvPr id="16" name="TextBox 15">
            <a:extLst>
              <a:ext uri="{FF2B5EF4-FFF2-40B4-BE49-F238E27FC236}">
                <a16:creationId xmlns:a16="http://schemas.microsoft.com/office/drawing/2014/main" id="{20CAAC85-FE49-0686-4CD3-F9B4FBD6CDFE}"/>
              </a:ext>
            </a:extLst>
          </p:cNvPr>
          <p:cNvSpPr txBox="1"/>
          <p:nvPr userDrawn="1"/>
        </p:nvSpPr>
        <p:spPr>
          <a:xfrm>
            <a:off x="587375" y="6411041"/>
            <a:ext cx="3629783" cy="123111"/>
          </a:xfrm>
          <a:prstGeom prst="rect">
            <a:avLst/>
          </a:prstGeom>
          <a:noFill/>
        </p:spPr>
        <p:txBody>
          <a:bodyPr wrap="square" lIns="0" tIns="0" rIns="0" bIns="0" rtlCol="0" anchor="b">
            <a:spAutoFit/>
          </a:bodyPr>
          <a:lstStyle/>
          <a:p>
            <a:r>
              <a:rPr lang="en-US" sz="800">
                <a:solidFill>
                  <a:schemeClr val="tx2"/>
                </a:solidFill>
                <a:latin typeface="+mn-lt"/>
              </a:rPr>
              <a:t>©2026 CVS Health and/or one of its affiliates. Confidential and proprietary.</a:t>
            </a:r>
          </a:p>
        </p:txBody>
      </p:sp>
      <p:sp>
        <p:nvSpPr>
          <p:cNvPr id="15" name="Content Placeholder 8">
            <a:extLst>
              <a:ext uri="{FF2B5EF4-FFF2-40B4-BE49-F238E27FC236}">
                <a16:creationId xmlns:a16="http://schemas.microsoft.com/office/drawing/2014/main" id="{7B8E535F-0B34-19ED-1ECE-F571D6F1C0A3}"/>
              </a:ext>
            </a:extLst>
          </p:cNvPr>
          <p:cNvSpPr txBox="1">
            <a:spLocks/>
          </p:cNvSpPr>
          <p:nvPr userDrawn="1"/>
        </p:nvSpPr>
        <p:spPr>
          <a:xfrm>
            <a:off x="11200555" y="6332324"/>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CVS Health Sans"/>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fld id="{38743595-4496-5147-A886-7D133864DF76}" type="slidenum">
              <a:rPr lang="en-US" sz="1000" b="0" smtClean="0">
                <a:solidFill>
                  <a:schemeClr val="tx2"/>
                </a:solidFill>
                <a:latin typeface="+mn-lt"/>
                <a:ea typeface="Open Sans" panose="020B0606030504020204" pitchFamily="34" charset="0"/>
                <a:cs typeface="Arial" panose="020B0604020202020204" pitchFamily="34" charset="0"/>
              </a:rPr>
              <a:pPr algn="ctr"/>
              <a:t>‹#›</a:t>
            </a:fld>
            <a:endParaRPr lang="en-US" sz="1000" b="0">
              <a:solidFill>
                <a:schemeClr val="tx2"/>
              </a:solidFill>
              <a:latin typeface="+mn-lt"/>
              <a:ea typeface="Open Sans" panose="020B0606030504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A51E17B0-20B0-8CCF-949F-B0BBB617646F}"/>
              </a:ext>
            </a:extLst>
          </p:cNvPr>
          <p:cNvCxnSpPr>
            <a:cxnSpLocks/>
            <a:stCxn id="15" idx="1"/>
            <a:endCxn id="16" idx="3"/>
          </p:cNvCxnSpPr>
          <p:nvPr userDrawn="1"/>
        </p:nvCxnSpPr>
        <p:spPr>
          <a:xfrm flipH="1">
            <a:off x="4217158" y="6446626"/>
            <a:ext cx="6949440" cy="25971"/>
          </a:xfrm>
          <a:prstGeom prst="line">
            <a:avLst/>
          </a:prstGeom>
          <a:solidFill>
            <a:schemeClr val="bg1"/>
          </a:solidFill>
          <a:ln w="229" cap="flat">
            <a:solidFill>
              <a:srgbClr val="646464"/>
            </a:solidFill>
            <a:prstDash val="solid"/>
            <a:miter/>
          </a:ln>
        </p:spPr>
      </p:cxnSp>
      <p:sp>
        <p:nvSpPr>
          <p:cNvPr id="6" name="Title 1">
            <a:extLst>
              <a:ext uri="{FF2B5EF4-FFF2-40B4-BE49-F238E27FC236}">
                <a16:creationId xmlns:a16="http://schemas.microsoft.com/office/drawing/2014/main" id="{0C7CB2C1-D45A-553D-7C4D-8C6E6C18A8AB}"/>
              </a:ext>
            </a:extLst>
          </p:cNvPr>
          <p:cNvSpPr>
            <a:spLocks noGrp="1"/>
          </p:cNvSpPr>
          <p:nvPr>
            <p:ph type="title" hasCustomPrompt="1"/>
          </p:nvPr>
        </p:nvSpPr>
        <p:spPr>
          <a:xfrm>
            <a:off x="531813" y="594871"/>
            <a:ext cx="11021200" cy="340218"/>
          </a:xfrm>
        </p:spPr>
        <p:txBody>
          <a:bodyPr/>
          <a:lstStyle>
            <a:lvl1pPr>
              <a:defRPr sz="1800">
                <a:solidFill>
                  <a:schemeClr val="bg1"/>
                </a:solidFill>
              </a:defRPr>
            </a:lvl1pPr>
          </a:lstStyle>
          <a:p>
            <a:r>
              <a:rPr lang="en-US"/>
              <a:t>Title</a:t>
            </a:r>
          </a:p>
        </p:txBody>
      </p:sp>
      <p:sp>
        <p:nvSpPr>
          <p:cNvPr id="3" name="Text Placeholder 2">
            <a:extLst>
              <a:ext uri="{FF2B5EF4-FFF2-40B4-BE49-F238E27FC236}">
                <a16:creationId xmlns:a16="http://schemas.microsoft.com/office/drawing/2014/main" id="{04CFF245-631A-A227-5CA4-3AFEB183C843}"/>
              </a:ext>
            </a:extLst>
          </p:cNvPr>
          <p:cNvSpPr>
            <a:spLocks noGrp="1"/>
          </p:cNvSpPr>
          <p:nvPr>
            <p:ph type="body" sz="quarter" idx="10"/>
          </p:nvPr>
        </p:nvSpPr>
        <p:spPr>
          <a:xfrm>
            <a:off x="531648" y="935089"/>
            <a:ext cx="11053927" cy="255587"/>
          </a:xfrm>
        </p:spPr>
        <p:txBody>
          <a:bodyPr/>
          <a:lstStyle>
            <a:lvl1pPr>
              <a:defRPr lang="en-US" sz="1400" b="0" kern="1200" dirty="0">
                <a:solidFill>
                  <a:schemeClr val="bg1"/>
                </a:solidFill>
                <a:latin typeface="+mj-lt"/>
                <a:ea typeface="+mj-ea"/>
                <a:cs typeface="+mj-cs"/>
              </a:defRPr>
            </a:lvl1pPr>
          </a:lstStyle>
          <a:p>
            <a:pPr lvl="0"/>
            <a:r>
              <a:rPr lang="en-US"/>
              <a:t>Click to edit Master text styles</a:t>
            </a:r>
          </a:p>
        </p:txBody>
      </p:sp>
    </p:spTree>
    <p:extLst>
      <p:ext uri="{BB962C8B-B14F-4D97-AF65-F5344CB8AC3E}">
        <p14:creationId xmlns:p14="http://schemas.microsoft.com/office/powerpoint/2010/main" val="2377092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4878119-95AC-DFE5-2B25-2F9C1A9C1181}"/>
              </a:ext>
            </a:extLst>
          </p:cNvPr>
          <p:cNvGraphicFramePr>
            <a:graphicFrameLocks/>
          </p:cNvGraphicFramePr>
          <p:nvPr>
            <p:custDataLst>
              <p:tags r:id="rId1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10" imgH="409" progId="TCLayout.ActiveDocument.1">
                  <p:embed/>
                </p:oleObj>
              </mc:Choice>
              <mc:Fallback>
                <p:oleObj name="thinkcell Slide" r:id="rId13" imgW="410" imgH="409" progId="TCLayout.ActiveDocument.1">
                  <p:embed/>
                  <p:pic>
                    <p:nvPicPr>
                      <p:cNvPr id="5" name="think-cell data - do not delete" hidden="1">
                        <a:extLst>
                          <a:ext uri="{FF2B5EF4-FFF2-40B4-BE49-F238E27FC236}">
                            <a16:creationId xmlns:a16="http://schemas.microsoft.com/office/drawing/2014/main" id="{84878119-95AC-DFE5-2B25-2F9C1A9C118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83113814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4" r:id="rId9"/>
    <p:sldLayoutId id="2147483705" r:id="rId10"/>
  </p:sldLayoutIdLst>
  <p:txStyles>
    <p:titleStyle>
      <a:lvl1pPr algn="l" defTabSz="457063" rtl="0" eaLnBrk="1" latinLnBrk="0" hangingPunct="1">
        <a:lnSpc>
          <a:spcPct val="90000"/>
        </a:lnSpc>
        <a:spcBef>
          <a:spcPct val="0"/>
        </a:spcBef>
        <a:buNone/>
        <a:defRPr sz="2599" b="1" kern="1200">
          <a:solidFill>
            <a:schemeClr val="tx2"/>
          </a:solidFill>
          <a:latin typeface="+mj-lt"/>
          <a:ea typeface="+mj-ea"/>
          <a:cs typeface="+mj-cs"/>
        </a:defRPr>
      </a:lvl1pPr>
    </p:titleStyle>
    <p:bodyStyle>
      <a:lvl1pPr marL="0" indent="0" algn="l" defTabSz="457063" rtl="0" eaLnBrk="1" fontAlgn="ctr" latinLnBrk="0" hangingPunct="1">
        <a:lnSpc>
          <a:spcPct val="100000"/>
        </a:lnSpc>
        <a:spcBef>
          <a:spcPts val="1799"/>
        </a:spcBef>
        <a:buClrTx/>
        <a:buFont typeface="Arial"/>
        <a:buNone/>
        <a:defRPr sz="1300" b="0" kern="1200">
          <a:solidFill>
            <a:schemeClr val="tx2"/>
          </a:solidFill>
          <a:latin typeface="+mn-lt"/>
          <a:ea typeface="+mn-ea"/>
          <a:cs typeface="+mn-cs"/>
        </a:defRPr>
      </a:lvl1pPr>
      <a:lvl2pPr marL="171399" indent="-171399" algn="l" defTabSz="457063"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797" indent="-171399" algn="l" defTabSz="457063" rtl="0" eaLnBrk="1" fontAlgn="ctr" latinLnBrk="0" hangingPunct="1">
        <a:lnSpc>
          <a:spcPct val="100000"/>
        </a:lnSpc>
        <a:spcBef>
          <a:spcPts val="600"/>
        </a:spcBef>
        <a:buClrTx/>
        <a:buFont typeface="CVS Health Sans"/>
        <a:buChar char="–"/>
        <a:defRPr sz="1300" kern="1200" baseline="0">
          <a:solidFill>
            <a:schemeClr val="tx2"/>
          </a:solidFill>
          <a:latin typeface="+mn-lt"/>
          <a:ea typeface="+mn-ea"/>
          <a:cs typeface="+mn-cs"/>
        </a:defRPr>
      </a:lvl3pPr>
      <a:lvl4pPr marL="514196" indent="-171399" algn="l" defTabSz="457063"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594" indent="-171399" algn="l" defTabSz="457063"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6993" indent="-171399"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391" indent="-165050"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138" indent="-177747" algn="l" defTabSz="457063"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189" indent="-165050"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063" rtl="0" eaLnBrk="1" fontAlgn="ctr" latinLnBrk="0" hangingPunct="1">
        <a:defRPr sz="1500" kern="1500">
          <a:solidFill>
            <a:schemeClr val="tx1"/>
          </a:solidFill>
          <a:latin typeface="+mn-lt"/>
          <a:ea typeface="+mn-ea"/>
          <a:cs typeface="+mn-cs"/>
        </a:defRPr>
      </a:lvl1pPr>
      <a:lvl2pPr marL="0" algn="r" defTabSz="457063" rtl="0" eaLnBrk="1" fontAlgn="ctr" latinLnBrk="0" hangingPunct="1">
        <a:defRPr sz="1500" kern="1500">
          <a:solidFill>
            <a:schemeClr val="tx1"/>
          </a:solidFill>
          <a:latin typeface="+mn-lt"/>
          <a:ea typeface="+mn-ea"/>
          <a:cs typeface="+mn-cs"/>
        </a:defRPr>
      </a:lvl2pPr>
      <a:lvl3pPr marL="0" algn="ctr" defTabSz="457063" rtl="0" eaLnBrk="1" fontAlgn="ctr" latinLnBrk="0" hangingPunct="1">
        <a:defRPr sz="1500" kern="1500">
          <a:solidFill>
            <a:schemeClr val="tx1"/>
          </a:solidFill>
          <a:latin typeface="+mn-lt"/>
          <a:ea typeface="+mn-ea"/>
          <a:cs typeface="+mn-cs"/>
        </a:defRPr>
      </a:lvl3pPr>
      <a:lvl4pPr marL="0" algn="l" defTabSz="457063" rtl="0" eaLnBrk="1" fontAlgn="ctr" latinLnBrk="0" hangingPunct="1">
        <a:defRPr sz="1500" kern="1500">
          <a:solidFill>
            <a:schemeClr val="tx1"/>
          </a:solidFill>
          <a:latin typeface="+mn-lt"/>
          <a:ea typeface="+mn-ea"/>
          <a:cs typeface="+mn-cs"/>
        </a:defRPr>
      </a:lvl4pPr>
      <a:lvl5pPr marL="0" algn="r" defTabSz="457063" rtl="0" eaLnBrk="1" fontAlgn="ctr" latinLnBrk="0" hangingPunct="1">
        <a:defRPr sz="1500" kern="1500">
          <a:solidFill>
            <a:schemeClr val="tx1"/>
          </a:solidFill>
          <a:latin typeface="+mn-lt"/>
          <a:ea typeface="+mn-ea"/>
          <a:cs typeface="+mn-cs"/>
        </a:defRPr>
      </a:lvl5pPr>
      <a:lvl6pPr marL="0" algn="ctr" defTabSz="457063" rtl="0" eaLnBrk="1" fontAlgn="ctr" latinLnBrk="0" hangingPunct="1">
        <a:defRPr sz="1500" kern="1500">
          <a:solidFill>
            <a:schemeClr val="tx1"/>
          </a:solidFill>
          <a:latin typeface="+mn-lt"/>
          <a:ea typeface="+mn-ea"/>
          <a:cs typeface="+mn-cs"/>
        </a:defRPr>
      </a:lvl6pPr>
      <a:lvl7pPr marL="0" algn="l" defTabSz="457063" rtl="0" eaLnBrk="1" fontAlgn="ctr" latinLnBrk="0" hangingPunct="1">
        <a:defRPr sz="1500" kern="1500">
          <a:solidFill>
            <a:schemeClr val="tx1"/>
          </a:solidFill>
          <a:latin typeface="+mn-lt"/>
          <a:ea typeface="+mn-ea"/>
          <a:cs typeface="+mn-cs"/>
        </a:defRPr>
      </a:lvl7pPr>
      <a:lvl8pPr marL="0" algn="r" defTabSz="457063" rtl="0" eaLnBrk="1" fontAlgn="ctr" latinLnBrk="0" hangingPunct="1">
        <a:defRPr sz="1500" kern="1500">
          <a:solidFill>
            <a:schemeClr val="tx1"/>
          </a:solidFill>
          <a:latin typeface="+mn-lt"/>
          <a:ea typeface="+mn-ea"/>
          <a:cs typeface="+mn-cs"/>
        </a:defRPr>
      </a:lvl8pPr>
      <a:lvl9pPr marL="0" algn="ctr" defTabSz="457063"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2">
          <p15:clr>
            <a:srgbClr val="F26B43"/>
          </p15:clr>
        </p15:guide>
        <p15:guide id="2" pos="191">
          <p15:clr>
            <a:srgbClr val="F26B43"/>
          </p15:clr>
        </p15:guide>
        <p15:guide id="3" pos="7487">
          <p15:clr>
            <a:srgbClr val="F26B43"/>
          </p15:clr>
        </p15:guide>
        <p15:guide id="4" orient="horz" pos="360">
          <p15:clr>
            <a:srgbClr val="F26B43"/>
          </p15:clr>
        </p15:guide>
        <p15:guide id="5" orient="horz" pos="3984">
          <p15:clr>
            <a:srgbClr val="F26B43"/>
          </p15:clr>
        </p15:guide>
        <p15:guide id="6" orient="horz" pos="4116">
          <p15:clr>
            <a:srgbClr val="F26B43"/>
          </p15:clr>
        </p15:guide>
        <p15:guide id="7" orient="horz" pos="3824">
          <p15:clr>
            <a:srgbClr val="F26B43"/>
          </p15:clr>
        </p15:guide>
        <p15:guide id="8" orient="horz" pos="928">
          <p15:clr>
            <a:srgbClr val="F26B43"/>
          </p15:clr>
        </p15:guide>
        <p15:guide id="9" pos="335">
          <p15:clr>
            <a:srgbClr val="F26B43"/>
          </p15:clr>
        </p15:guide>
        <p15:guide id="10" pos="734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5.x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15.xml"/><Relationship Id="rId5" Type="http://schemas.openxmlformats.org/officeDocument/2006/relationships/image" Target="../media/image11.emf"/><Relationship Id="rId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1.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17.xml"/><Relationship Id="rId6" Type="http://schemas.openxmlformats.org/officeDocument/2006/relationships/image" Target="../media/image11.emf"/><Relationship Id="rId5" Type="http://schemas.openxmlformats.org/officeDocument/2006/relationships/oleObject" Target="../embeddings/oleObject15.bin"/><Relationship Id="rId4" Type="http://schemas.microsoft.com/office/2018/10/relationships/comments" Target="../comments/modernComment_238_4F8A480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8.xml"/><Relationship Id="rId1" Type="http://schemas.openxmlformats.org/officeDocument/2006/relationships/tags" Target="../tags/tag18.x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11.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1.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1.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2.xml"/><Relationship Id="rId4" Type="http://schemas.openxmlformats.org/officeDocument/2006/relationships/image" Target="../media/image11.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8.xml"/><Relationship Id="rId1" Type="http://schemas.openxmlformats.org/officeDocument/2006/relationships/tags" Target="../tags/tag23.xml"/><Relationship Id="rId4" Type="http://schemas.openxmlformats.org/officeDocument/2006/relationships/image" Target="../media/image11.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24.xml"/><Relationship Id="rId4" Type="http://schemas.openxmlformats.org/officeDocument/2006/relationships/image" Target="../media/image11.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26.xml"/><Relationship Id="rId4" Type="http://schemas.openxmlformats.org/officeDocument/2006/relationships/image" Target="../media/image1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7.xml"/><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28.xml"/><Relationship Id="rId4" Type="http://schemas.openxmlformats.org/officeDocument/2006/relationships/image" Target="../media/image11.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29.xml"/><Relationship Id="rId4" Type="http://schemas.openxmlformats.org/officeDocument/2006/relationships/image" Target="../media/image1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30.xml"/><Relationship Id="rId4" Type="http://schemas.openxmlformats.org/officeDocument/2006/relationships/image" Target="../media/image11.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1.xml"/><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32.xml"/><Relationship Id="rId4" Type="http://schemas.openxmlformats.org/officeDocument/2006/relationships/image" Target="../media/image11.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8.xml"/><Relationship Id="rId1" Type="http://schemas.openxmlformats.org/officeDocument/2006/relationships/tags" Target="../tags/tag33.xml"/><Relationship Id="rId4" Type="http://schemas.openxmlformats.org/officeDocument/2006/relationships/image" Target="../media/image11.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tags" Target="../tags/tag34.xml"/><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35.xml"/><Relationship Id="rId5" Type="http://schemas.openxmlformats.org/officeDocument/2006/relationships/image" Target="../media/image11.emf"/><Relationship Id="rId4" Type="http://schemas.openxmlformats.org/officeDocument/2006/relationships/oleObject" Target="../embeddings/oleObject1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C32EB-0EC8-8FE0-DA9A-59C219572522}"/>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8FBD4C2-C13A-7C23-DB96-3E345EDF8A68}"/>
              </a:ext>
            </a:extLst>
          </p:cNvPr>
          <p:cNvGraphicFramePr>
            <a:graphicFrameLocks/>
          </p:cNvGraphicFramePr>
          <p:nvPr>
            <p:custDataLst>
              <p:tags r:id="rId1"/>
            </p:custDataLst>
            <p:extLst>
              <p:ext uri="{D42A27DB-BD31-4B8C-83A1-F6EECF244321}">
                <p14:modId xmlns:p14="http://schemas.microsoft.com/office/powerpoint/2010/main" val="16059501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2" name="thinkcell data - do not delete" hidden="1">
                        <a:extLst>
                          <a:ext uri="{FF2B5EF4-FFF2-40B4-BE49-F238E27FC236}">
                            <a16:creationId xmlns:a16="http://schemas.microsoft.com/office/drawing/2014/main" id="{58FBD4C2-C13A-7C23-DB96-3E345EDF8A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5" name="Title 224">
            <a:extLst>
              <a:ext uri="{FF2B5EF4-FFF2-40B4-BE49-F238E27FC236}">
                <a16:creationId xmlns:a16="http://schemas.microsoft.com/office/drawing/2014/main" id="{275C80C0-02F5-9D12-1F88-DF6B58400377}"/>
              </a:ext>
            </a:extLst>
          </p:cNvPr>
          <p:cNvSpPr>
            <a:spLocks noGrp="1"/>
          </p:cNvSpPr>
          <p:nvPr>
            <p:ph type="ctrTitle"/>
          </p:nvPr>
        </p:nvSpPr>
        <p:spPr>
          <a:xfrm>
            <a:off x="908806" y="2524536"/>
            <a:ext cx="3865213" cy="1262324"/>
          </a:xfrm>
        </p:spPr>
        <p:txBody>
          <a:bodyPr vert="horz" rIns="0"/>
          <a:lstStyle/>
          <a:p>
            <a:r>
              <a:rPr lang="en-US"/>
              <a:t>Discuss Databricks SOW &amp; Key Project Topics</a:t>
            </a:r>
            <a:br>
              <a:rPr lang="en-US"/>
            </a:br>
            <a:br>
              <a:rPr lang="en-US"/>
            </a:br>
            <a:r>
              <a:rPr lang="en-US" sz="2000" b="0"/>
              <a:t>September 24, 2026</a:t>
            </a:r>
          </a:p>
        </p:txBody>
      </p:sp>
    </p:spTree>
    <p:extLst>
      <p:ext uri="{BB962C8B-B14F-4D97-AF65-F5344CB8AC3E}">
        <p14:creationId xmlns:p14="http://schemas.microsoft.com/office/powerpoint/2010/main" val="3267068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D1F9125-A9BE-AC7E-CB87-E48BEE578D46}"/>
              </a:ext>
            </a:extLst>
          </p:cNvPr>
          <p:cNvGraphicFramePr>
            <a:graphicFrameLocks/>
          </p:cNvGraphicFramePr>
          <p:nvPr>
            <p:custDataLst>
              <p:tags r:id="rId1"/>
            </p:custDataLst>
            <p:extLst>
              <p:ext uri="{D42A27DB-BD31-4B8C-83A1-F6EECF244321}">
                <p14:modId xmlns:p14="http://schemas.microsoft.com/office/powerpoint/2010/main" val="2196017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D1F9125-A9BE-AC7E-CB87-E48BEE578D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5F102A2-F126-6672-2697-5FD1DFF338E3}"/>
              </a:ext>
            </a:extLst>
          </p:cNvPr>
          <p:cNvSpPr>
            <a:spLocks noGrp="1"/>
          </p:cNvSpPr>
          <p:nvPr>
            <p:ph type="title"/>
          </p:nvPr>
        </p:nvSpPr>
        <p:spPr/>
        <p:txBody>
          <a:bodyPr vert="horz" rIns="0"/>
          <a:lstStyle/>
          <a:p>
            <a:r>
              <a:rPr lang="en-US"/>
              <a:t>Agenda</a:t>
            </a:r>
          </a:p>
        </p:txBody>
      </p:sp>
      <p:graphicFrame>
        <p:nvGraphicFramePr>
          <p:cNvPr id="5" name="Table 4">
            <a:extLst>
              <a:ext uri="{FF2B5EF4-FFF2-40B4-BE49-F238E27FC236}">
                <a16:creationId xmlns:a16="http://schemas.microsoft.com/office/drawing/2014/main" id="{29D7B417-F2A9-E41F-D90A-F3E4D3C46BAC}"/>
              </a:ext>
            </a:extLst>
          </p:cNvPr>
          <p:cNvGraphicFramePr>
            <a:graphicFrameLocks noGrp="1"/>
          </p:cNvGraphicFramePr>
          <p:nvPr>
            <p:extLst>
              <p:ext uri="{D42A27DB-BD31-4B8C-83A1-F6EECF244321}">
                <p14:modId xmlns:p14="http://schemas.microsoft.com/office/powerpoint/2010/main" val="1726850371"/>
              </p:ext>
            </p:extLst>
          </p:nvPr>
        </p:nvGraphicFramePr>
        <p:xfrm>
          <a:off x="4495801" y="1082537"/>
          <a:ext cx="7305674" cy="4670149"/>
        </p:xfrm>
        <a:graphic>
          <a:graphicData uri="http://schemas.openxmlformats.org/drawingml/2006/table">
            <a:tbl>
              <a:tblPr firstRow="1" bandRow="1">
                <a:tableStyleId>{2D5ABB26-0587-4C30-8999-92F81FD0307C}</a:tableStyleId>
              </a:tblPr>
              <a:tblGrid>
                <a:gridCol w="1227214">
                  <a:extLst>
                    <a:ext uri="{9D8B030D-6E8A-4147-A177-3AD203B41FA5}">
                      <a16:colId xmlns:a16="http://schemas.microsoft.com/office/drawing/2014/main" val="1039915488"/>
                    </a:ext>
                  </a:extLst>
                </a:gridCol>
                <a:gridCol w="6078460">
                  <a:extLst>
                    <a:ext uri="{9D8B030D-6E8A-4147-A177-3AD203B41FA5}">
                      <a16:colId xmlns:a16="http://schemas.microsoft.com/office/drawing/2014/main" val="819655411"/>
                    </a:ext>
                  </a:extLst>
                </a:gridCol>
              </a:tblGrid>
              <a:tr h="555349">
                <a:tc gridSpan="2">
                  <a:txBody>
                    <a:bodyPr/>
                    <a:lstStyle/>
                    <a:p>
                      <a:r>
                        <a:rPr lang="en-US" sz="1200" b="1" dirty="0">
                          <a:solidFill>
                            <a:srgbClr val="0B315E"/>
                          </a:solidFill>
                        </a:rPr>
                        <a:t>Section</a:t>
                      </a:r>
                      <a:endParaRPr lang="en-US" sz="1200" dirty="0">
                        <a:solidFill>
                          <a:srgbClr val="0B315E"/>
                        </a:solidFill>
                      </a:endParaRPr>
                    </a:p>
                  </a:txBody>
                  <a:tcPr>
                    <a:lnB w="12700" cap="flat" cmpd="sng" algn="ctr">
                      <a:solidFill>
                        <a:srgbClr val="0B315E"/>
                      </a:solidFill>
                      <a:prstDash val="solid"/>
                      <a:round/>
                      <a:headEnd type="none" w="med" len="med"/>
                      <a:tailEnd type="none" w="med" len="med"/>
                    </a:lnB>
                  </a:tcPr>
                </a:tc>
                <a:tc hMerge="1">
                  <a:txBody>
                    <a:bodyPr/>
                    <a:lstStyle/>
                    <a:p>
                      <a:endParaRPr lang="en-US" sz="2400" b="1">
                        <a:solidFill>
                          <a:srgbClr val="0B315E"/>
                        </a:solidFill>
                      </a:endParaRPr>
                    </a:p>
                  </a:txBody>
                  <a:tcPr>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4214550267"/>
                  </a:ext>
                </a:extLst>
              </a:tr>
              <a:tr h="365760">
                <a:tc>
                  <a:txBody>
                    <a:bodyPr/>
                    <a:lstStyle/>
                    <a:p>
                      <a:r>
                        <a:rPr lang="en-US" sz="1200" b="1" dirty="0">
                          <a:solidFill>
                            <a:srgbClr val="0B315E"/>
                          </a:solidFill>
                        </a:rPr>
                        <a:t>1</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b="0" kern="1500" dirty="0">
                          <a:solidFill>
                            <a:srgbClr val="0B315E"/>
                          </a:solidFill>
                          <a:effectLst/>
                          <a:latin typeface="+mn-lt"/>
                          <a:ea typeface="+mn-ea"/>
                          <a:cs typeface="+mn-cs"/>
                        </a:rPr>
                        <a:t>Executive Vision &amp; Business Mandate</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Partnership alignment</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Strategic Drivers &amp; Program Mission</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Current State vs Target Lakehouse Architecture</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3300388409"/>
                  </a:ext>
                </a:extLst>
              </a:tr>
              <a:tr h="365760">
                <a:tc>
                  <a:txBody>
                    <a:bodyPr/>
                    <a:lstStyle/>
                    <a:p>
                      <a:r>
                        <a:rPr lang="en-US" sz="1200" b="1" dirty="0">
                          <a:solidFill>
                            <a:srgbClr val="0B315E"/>
                          </a:solidFill>
                        </a:rPr>
                        <a:t>2</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dirty="0">
                          <a:solidFill>
                            <a:srgbClr val="0B315E"/>
                          </a:solidFill>
                        </a:rPr>
                        <a:t>Scope, Metrics &amp; Architectural Foundation</a:t>
                      </a:r>
                    </a:p>
                    <a:p>
                      <a:pPr marL="342900" indent="-342900">
                        <a:buFont typeface="Arial" panose="020B0604020202020204" pitchFamily="34" charset="0"/>
                        <a:buChar char="•"/>
                      </a:pPr>
                      <a:r>
                        <a:rPr lang="en-US" sz="1200" dirty="0">
                          <a:solidFill>
                            <a:srgbClr val="0B315E"/>
                          </a:solidFill>
                        </a:rPr>
                        <a:t>Enterprise Ingestion Sizing &amp; Telemetry Scope</a:t>
                      </a:r>
                    </a:p>
                    <a:p>
                      <a:pPr marL="342900" indent="-342900">
                        <a:buFont typeface="Arial" panose="020B0604020202020204" pitchFamily="34" charset="0"/>
                        <a:buChar char="•"/>
                      </a:pPr>
                      <a:r>
                        <a:rPr lang="en-US" sz="1200" dirty="0">
                          <a:solidFill>
                            <a:srgbClr val="0B315E"/>
                          </a:solidFill>
                        </a:rPr>
                        <a:t>Data Contract Standardization &amp; The Medallion Architecture</a:t>
                      </a:r>
                    </a:p>
                    <a:p>
                      <a:pPr marL="342900" indent="-342900">
                        <a:buFont typeface="Arial" panose="020B0604020202020204" pitchFamily="34" charset="0"/>
                        <a:buChar char="•"/>
                      </a:pPr>
                      <a:r>
                        <a:rPr lang="en-US" sz="1200" dirty="0">
                          <a:solidFill>
                            <a:srgbClr val="0B315E"/>
                          </a:solidFill>
                        </a:rPr>
                        <a:t>Observability &amp; Security Analytics Rationalization</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1588845903"/>
                  </a:ext>
                </a:extLst>
              </a:tr>
              <a:tr h="365760">
                <a:tc>
                  <a:txBody>
                    <a:bodyPr/>
                    <a:lstStyle/>
                    <a:p>
                      <a:r>
                        <a:rPr lang="en-US" sz="1200" b="1" dirty="0">
                          <a:solidFill>
                            <a:srgbClr val="0B315E"/>
                          </a:solidFill>
                        </a:rPr>
                        <a:t>3</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r>
                        <a:rPr lang="en-US" sz="1200" b="0" kern="1500" dirty="0">
                          <a:solidFill>
                            <a:srgbClr val="0B315E"/>
                          </a:solidFill>
                          <a:effectLst/>
                          <a:latin typeface="+mn-lt"/>
                          <a:ea typeface="+mn-ea"/>
                          <a:cs typeface="+mn-cs"/>
                        </a:rPr>
                        <a:t>Agile Delivery Model &amp; Factory Execution</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Moving Beyond Waterfall: The Persona-Based Agile Pod Model</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End-to-End Modernization Factory Lifecycle (Bronze -&gt; Silver -&gt; Gold)</a:t>
                      </a:r>
                    </a:p>
                    <a:p>
                      <a:pPr marL="342900" indent="-342900">
                        <a:buFont typeface="Arial" panose="020B0604020202020204" pitchFamily="34" charset="0"/>
                        <a:buChar char="•"/>
                      </a:pPr>
                      <a:r>
                        <a:rPr lang="it-IT" sz="1200" b="0" kern="1500" dirty="0">
                          <a:solidFill>
                            <a:srgbClr val="0B315E"/>
                          </a:solidFill>
                          <a:effectLst/>
                          <a:latin typeface="+mn-lt"/>
                          <a:ea typeface="+mn-ea"/>
                          <a:cs typeface="+mn-cs"/>
                        </a:rPr>
                        <a:t>AI Accelerators &amp; Automation Leverage (KPMG Blaze &amp; Claude)</a:t>
                      </a:r>
                      <a:endParaRPr lang="en-US" sz="1200" b="0" kern="1500" dirty="0">
                        <a:solidFill>
                          <a:srgbClr val="0B315E"/>
                        </a:solidFill>
                        <a:effectLst/>
                        <a:latin typeface="+mn-lt"/>
                        <a:ea typeface="+mn-ea"/>
                        <a:cs typeface="+mn-cs"/>
                      </a:endParaRP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1676775229"/>
                  </a:ext>
                </a:extLst>
              </a:tr>
              <a:tr h="365760">
                <a:tc>
                  <a:txBody>
                    <a:bodyPr/>
                    <a:lstStyle/>
                    <a:p>
                      <a:r>
                        <a:rPr lang="en-US" sz="1200" b="1" dirty="0">
                          <a:solidFill>
                            <a:srgbClr val="0B315E"/>
                          </a:solidFill>
                        </a:rPr>
                        <a:t>4</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tc>
                  <a:txBody>
                    <a:bodyPr/>
                    <a:lstStyle/>
                    <a:p>
                      <a:pPr marL="0" indent="0">
                        <a:buFont typeface="Arial" panose="020B0604020202020204" pitchFamily="34" charset="0"/>
                        <a:buNone/>
                      </a:pPr>
                      <a:r>
                        <a:rPr lang="en-US" sz="1200" b="0" kern="1500" dirty="0">
                          <a:solidFill>
                            <a:srgbClr val="0B315E"/>
                          </a:solidFill>
                          <a:effectLst/>
                          <a:latin typeface="+mn-lt"/>
                          <a:ea typeface="+mn-ea"/>
                          <a:cs typeface="+mn-cs"/>
                        </a:rPr>
                        <a:t>Governance, Commercials &amp; Stakeholders</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Multi-Party Alliance &amp; Hybrid Commercial Model</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Program Governance, Cadences &amp; Tracking</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Integrated Joint Stakeholder Organization &amp; RACI</a:t>
                      </a:r>
                    </a:p>
                  </a:txBody>
                  <a:tcPr>
                    <a:lnT w="12700" cap="flat" cmpd="sng" algn="ctr">
                      <a:solidFill>
                        <a:srgbClr val="0B315E"/>
                      </a:solidFill>
                      <a:prstDash val="solid"/>
                      <a:round/>
                      <a:headEnd type="none" w="med" len="med"/>
                      <a:tailEnd type="none" w="med" len="med"/>
                    </a:lnT>
                    <a:lnB w="12700" cap="flat" cmpd="sng" algn="ctr">
                      <a:solidFill>
                        <a:srgbClr val="0B315E"/>
                      </a:solidFill>
                      <a:prstDash val="solid"/>
                      <a:round/>
                      <a:headEnd type="none" w="med" len="med"/>
                      <a:tailEnd type="none" w="med" len="med"/>
                    </a:lnB>
                  </a:tcPr>
                </a:tc>
                <a:extLst>
                  <a:ext uri="{0D108BD9-81ED-4DB2-BD59-A6C34878D82A}">
                    <a16:rowId xmlns:a16="http://schemas.microsoft.com/office/drawing/2014/main" val="374517190"/>
                  </a:ext>
                </a:extLst>
              </a:tr>
              <a:tr h="365760">
                <a:tc>
                  <a:txBody>
                    <a:bodyPr/>
                    <a:lstStyle/>
                    <a:p>
                      <a:r>
                        <a:rPr lang="en-US" sz="1200" b="1" dirty="0">
                          <a:solidFill>
                            <a:srgbClr val="0B315E"/>
                          </a:solidFill>
                        </a:rPr>
                        <a:t>5</a:t>
                      </a:r>
                    </a:p>
                  </a:txBody>
                  <a:tcPr>
                    <a:lnT w="12700" cap="flat" cmpd="sng" algn="ctr">
                      <a:solidFill>
                        <a:srgbClr val="0B315E"/>
                      </a:solidFill>
                      <a:prstDash val="solid"/>
                      <a:round/>
                      <a:headEnd type="none" w="med" len="med"/>
                      <a:tailEnd type="none" w="med" len="med"/>
                    </a:lnT>
                  </a:tcPr>
                </a:tc>
                <a:tc>
                  <a:txBody>
                    <a:bodyPr/>
                    <a:lstStyle/>
                    <a:p>
                      <a:pPr marL="0" indent="0">
                        <a:buFont typeface="Arial" panose="020B0604020202020204" pitchFamily="34" charset="0"/>
                        <a:buNone/>
                      </a:pPr>
                      <a:r>
                        <a:rPr lang="en-US" sz="1200" b="0" kern="1500" dirty="0">
                          <a:solidFill>
                            <a:srgbClr val="0B315E"/>
                          </a:solidFill>
                          <a:effectLst/>
                          <a:latin typeface="+mn-lt"/>
                          <a:ea typeface="+mn-ea"/>
                          <a:cs typeface="+mn-cs"/>
                        </a:rPr>
                        <a:t>Integrated Roadmap, Change Freeze &amp; Next Steps</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Milestone Delivery Roadmap &amp; The 4–6 Week Scope Lock</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Critical Path &amp; "Welcome Season" Change Freeze Mitigation</a:t>
                      </a:r>
                    </a:p>
                    <a:p>
                      <a:pPr marL="342900" indent="-342900">
                        <a:buFont typeface="Arial" panose="020B0604020202020204" pitchFamily="34" charset="0"/>
                        <a:buChar char="•"/>
                      </a:pPr>
                      <a:r>
                        <a:rPr lang="en-US" sz="1200" b="0" kern="1500" dirty="0">
                          <a:solidFill>
                            <a:srgbClr val="0B315E"/>
                          </a:solidFill>
                          <a:effectLst/>
                          <a:latin typeface="+mn-lt"/>
                          <a:ea typeface="+mn-ea"/>
                          <a:cs typeface="+mn-cs"/>
                        </a:rPr>
                        <a:t>Day 1 Immediate Priorities &amp; Action Items</a:t>
                      </a:r>
                    </a:p>
                  </a:txBody>
                  <a:tcPr>
                    <a:lnT w="12700" cap="flat" cmpd="sng" algn="ctr">
                      <a:solidFill>
                        <a:srgbClr val="0B315E"/>
                      </a:solidFill>
                      <a:prstDash val="solid"/>
                      <a:round/>
                      <a:headEnd type="none" w="med" len="med"/>
                      <a:tailEnd type="none" w="med" len="med"/>
                    </a:lnT>
                  </a:tcPr>
                </a:tc>
                <a:extLst>
                  <a:ext uri="{0D108BD9-81ED-4DB2-BD59-A6C34878D82A}">
                    <a16:rowId xmlns:a16="http://schemas.microsoft.com/office/drawing/2014/main" val="215897530"/>
                  </a:ext>
                </a:extLst>
              </a:tr>
            </a:tbl>
          </a:graphicData>
        </a:graphic>
      </p:graphicFrame>
      <p:sp>
        <p:nvSpPr>
          <p:cNvPr id="6" name="Rectangle 5">
            <a:extLst>
              <a:ext uri="{FF2B5EF4-FFF2-40B4-BE49-F238E27FC236}">
                <a16:creationId xmlns:a16="http://schemas.microsoft.com/office/drawing/2014/main" id="{BC4E9553-5930-5C7C-6778-9878D957F12A}"/>
              </a:ext>
            </a:extLst>
          </p:cNvPr>
          <p:cNvSpPr/>
          <p:nvPr/>
        </p:nvSpPr>
        <p:spPr bwMode="gray">
          <a:xfrm>
            <a:off x="10363200" y="0"/>
            <a:ext cx="1828800" cy="914400"/>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Draft – to discuss with Josie</a:t>
            </a:r>
          </a:p>
        </p:txBody>
      </p:sp>
      <p:sp>
        <p:nvSpPr>
          <p:cNvPr id="8" name="Rectangle 7">
            <a:extLst>
              <a:ext uri="{FF2B5EF4-FFF2-40B4-BE49-F238E27FC236}">
                <a16:creationId xmlns:a16="http://schemas.microsoft.com/office/drawing/2014/main" id="{021F93E1-0245-A1B8-3D87-D01070204DFE}"/>
              </a:ext>
            </a:extLst>
          </p:cNvPr>
          <p:cNvSpPr/>
          <p:nvPr/>
        </p:nvSpPr>
        <p:spPr bwMode="gray">
          <a:xfrm>
            <a:off x="1343025" y="4152900"/>
            <a:ext cx="1828800" cy="914400"/>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dirty="0">
                <a:solidFill>
                  <a:schemeClr val="bg1"/>
                </a:solidFill>
              </a:rPr>
              <a:t>Ensure incorporation of:</a:t>
            </a:r>
          </a:p>
          <a:p>
            <a:pPr marL="171450" indent="-171450">
              <a:buFont typeface="Arial" panose="020B0604020202020204" pitchFamily="34" charset="0"/>
              <a:buChar char="•"/>
            </a:pPr>
            <a:r>
              <a:rPr lang="en-US" sz="1000" dirty="0">
                <a:solidFill>
                  <a:schemeClr val="bg1"/>
                </a:solidFill>
              </a:rPr>
              <a:t>Deliverables</a:t>
            </a:r>
          </a:p>
        </p:txBody>
      </p:sp>
    </p:spTree>
    <p:extLst>
      <p:ext uri="{BB962C8B-B14F-4D97-AF65-F5344CB8AC3E}">
        <p14:creationId xmlns:p14="http://schemas.microsoft.com/office/powerpoint/2010/main" val="3652795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76BF9-8BDB-26A0-FC07-62FF63573812}"/>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15CFCB14-49B0-1931-9731-F11E1E1C4C2C}"/>
              </a:ext>
            </a:extLst>
          </p:cNvPr>
          <p:cNvSpPr>
            <a:spLocks noGrp="1"/>
          </p:cNvSpPr>
          <p:nvPr>
            <p:ph type="body" sz="quarter" idx="10"/>
          </p:nvPr>
        </p:nvSpPr>
        <p:spPr/>
        <p:txBody>
          <a:bodyPr/>
          <a:lstStyle/>
          <a:p>
            <a:r>
              <a:rPr lang="en-US" kern="0">
                <a:solidFill>
                  <a:srgbClr val="FFFFFF"/>
                </a:solidFill>
                <a:cs typeface="CVS Health Sans"/>
              </a:rPr>
              <a:t>Each</a:t>
            </a:r>
            <a:r>
              <a:rPr lang="en-US" kern="0" spc="-55">
                <a:solidFill>
                  <a:srgbClr val="FFFFFF"/>
                </a:solidFill>
                <a:cs typeface="CVS Health Sans"/>
              </a:rPr>
              <a:t> </a:t>
            </a:r>
            <a:r>
              <a:rPr lang="en-US" kern="0" spc="-10">
                <a:solidFill>
                  <a:srgbClr val="FFFFFF"/>
                </a:solidFill>
                <a:cs typeface="CVS Health Sans"/>
              </a:rPr>
              <a:t>workstream</a:t>
            </a:r>
            <a:r>
              <a:rPr lang="en-US" kern="0" spc="-45">
                <a:solidFill>
                  <a:srgbClr val="FFFFFF"/>
                </a:solidFill>
                <a:cs typeface="CVS Health Sans"/>
              </a:rPr>
              <a:t> </a:t>
            </a:r>
            <a:r>
              <a:rPr lang="en-US" kern="0">
                <a:solidFill>
                  <a:srgbClr val="FFFFFF"/>
                </a:solidFill>
                <a:cs typeface="CVS Health Sans"/>
              </a:rPr>
              <a:t>will</a:t>
            </a:r>
            <a:r>
              <a:rPr lang="en-US" kern="0" spc="-55">
                <a:solidFill>
                  <a:srgbClr val="FFFFFF"/>
                </a:solidFill>
                <a:cs typeface="CVS Health Sans"/>
              </a:rPr>
              <a:t> </a:t>
            </a:r>
            <a:r>
              <a:rPr lang="en-US" kern="0">
                <a:solidFill>
                  <a:srgbClr val="FFFFFF"/>
                </a:solidFill>
                <a:cs typeface="CVS Health Sans"/>
              </a:rPr>
              <a:t>require</a:t>
            </a:r>
            <a:r>
              <a:rPr lang="en-US" kern="0" spc="-35">
                <a:solidFill>
                  <a:srgbClr val="FFFFFF"/>
                </a:solidFill>
                <a:cs typeface="CVS Health Sans"/>
              </a:rPr>
              <a:t> </a:t>
            </a:r>
            <a:r>
              <a:rPr lang="en-US" kern="0">
                <a:solidFill>
                  <a:srgbClr val="FFFFFF"/>
                </a:solidFill>
                <a:cs typeface="CVS Health Sans"/>
              </a:rPr>
              <a:t>a</a:t>
            </a:r>
            <a:r>
              <a:rPr lang="en-US" kern="0" spc="-55">
                <a:solidFill>
                  <a:srgbClr val="FFFFFF"/>
                </a:solidFill>
                <a:cs typeface="CVS Health Sans"/>
              </a:rPr>
              <a:t> </a:t>
            </a:r>
            <a:r>
              <a:rPr lang="en-US" kern="0">
                <a:solidFill>
                  <a:srgbClr val="FFFFFF"/>
                </a:solidFill>
                <a:cs typeface="CVS Health Sans"/>
              </a:rPr>
              <a:t>unique</a:t>
            </a:r>
            <a:r>
              <a:rPr lang="en-US" kern="0" spc="-40">
                <a:solidFill>
                  <a:srgbClr val="FFFFFF"/>
                </a:solidFill>
                <a:cs typeface="CVS Health Sans"/>
              </a:rPr>
              <a:t> </a:t>
            </a:r>
            <a:r>
              <a:rPr lang="en-US" kern="0">
                <a:solidFill>
                  <a:srgbClr val="FFFFFF"/>
                </a:solidFill>
                <a:cs typeface="CVS Health Sans"/>
              </a:rPr>
              <a:t>staffing</a:t>
            </a:r>
            <a:r>
              <a:rPr lang="en-US" kern="0" spc="-60">
                <a:solidFill>
                  <a:srgbClr val="FFFFFF"/>
                </a:solidFill>
                <a:cs typeface="CVS Health Sans"/>
              </a:rPr>
              <a:t> </a:t>
            </a:r>
            <a:r>
              <a:rPr lang="en-US" kern="0">
                <a:solidFill>
                  <a:srgbClr val="FFFFFF"/>
                </a:solidFill>
                <a:cs typeface="CVS Health Sans"/>
              </a:rPr>
              <a:t>structures</a:t>
            </a:r>
            <a:r>
              <a:rPr lang="en-US" kern="0" spc="-40">
                <a:solidFill>
                  <a:srgbClr val="FFFFFF"/>
                </a:solidFill>
                <a:cs typeface="CVS Health Sans"/>
              </a:rPr>
              <a:t> </a:t>
            </a:r>
            <a:r>
              <a:rPr lang="en-US" kern="0">
                <a:solidFill>
                  <a:srgbClr val="FFFFFF"/>
                </a:solidFill>
                <a:cs typeface="CVS Health Sans"/>
              </a:rPr>
              <a:t>to</a:t>
            </a:r>
            <a:r>
              <a:rPr lang="en-US" kern="0" spc="-70">
                <a:solidFill>
                  <a:srgbClr val="FFFFFF"/>
                </a:solidFill>
                <a:cs typeface="CVS Health Sans"/>
              </a:rPr>
              <a:t> </a:t>
            </a:r>
            <a:r>
              <a:rPr lang="en-US" kern="0">
                <a:solidFill>
                  <a:srgbClr val="FFFFFF"/>
                </a:solidFill>
                <a:cs typeface="CVS Health Sans"/>
              </a:rPr>
              <a:t>realize</a:t>
            </a:r>
            <a:r>
              <a:rPr lang="en-US" kern="0" spc="-40">
                <a:solidFill>
                  <a:srgbClr val="FFFFFF"/>
                </a:solidFill>
                <a:cs typeface="CVS Health Sans"/>
              </a:rPr>
              <a:t> </a:t>
            </a:r>
            <a:r>
              <a:rPr lang="en-US" kern="0">
                <a:solidFill>
                  <a:srgbClr val="FFFFFF"/>
                </a:solidFill>
                <a:cs typeface="CVS Health Sans"/>
              </a:rPr>
              <a:t>our</a:t>
            </a:r>
            <a:r>
              <a:rPr lang="en-US" kern="0" spc="-50">
                <a:solidFill>
                  <a:srgbClr val="FFFFFF"/>
                </a:solidFill>
                <a:cs typeface="CVS Health Sans"/>
              </a:rPr>
              <a:t> </a:t>
            </a:r>
            <a:br>
              <a:rPr lang="en-US" kern="0" spc="-50">
                <a:solidFill>
                  <a:srgbClr val="FFFFFF"/>
                </a:solidFill>
                <a:cs typeface="CVS Health Sans"/>
              </a:rPr>
            </a:br>
            <a:r>
              <a:rPr lang="en-US" kern="0" spc="-10">
                <a:solidFill>
                  <a:srgbClr val="FFFFFF"/>
                </a:solidFill>
                <a:cs typeface="CVS Health Sans"/>
              </a:rPr>
              <a:t>expected outcomes</a:t>
            </a:r>
            <a:endParaRPr lang="en-US" b="0" kern="0">
              <a:solidFill>
                <a:sysClr val="windowText" lastClr="000000"/>
              </a:solidFill>
              <a:cs typeface="CVS Health Sans"/>
            </a:endParaRPr>
          </a:p>
        </p:txBody>
      </p:sp>
      <p:grpSp>
        <p:nvGrpSpPr>
          <p:cNvPr id="20" name="object 20">
            <a:extLst>
              <a:ext uri="{FF2B5EF4-FFF2-40B4-BE49-F238E27FC236}">
                <a16:creationId xmlns:a16="http://schemas.microsoft.com/office/drawing/2014/main" id="{35D479A5-D97A-7856-C842-10B8DFD593E5}"/>
              </a:ext>
            </a:extLst>
          </p:cNvPr>
          <p:cNvGrpSpPr/>
          <p:nvPr/>
        </p:nvGrpSpPr>
        <p:grpSpPr>
          <a:xfrm>
            <a:off x="531813" y="2651026"/>
            <a:ext cx="9748520" cy="251460"/>
            <a:chOff x="531813" y="2502407"/>
            <a:chExt cx="9748520" cy="251460"/>
          </a:xfrm>
        </p:grpSpPr>
        <p:sp>
          <p:nvSpPr>
            <p:cNvPr id="21" name="object 21">
              <a:extLst>
                <a:ext uri="{FF2B5EF4-FFF2-40B4-BE49-F238E27FC236}">
                  <a16:creationId xmlns:a16="http://schemas.microsoft.com/office/drawing/2014/main" id="{6522BDCB-BD4B-0E22-FF67-AD0491D1BED7}"/>
                </a:ext>
              </a:extLst>
            </p:cNvPr>
            <p:cNvSpPr/>
            <p:nvPr/>
          </p:nvSpPr>
          <p:spPr>
            <a:xfrm>
              <a:off x="531813" y="2581782"/>
              <a:ext cx="9748520" cy="92710"/>
            </a:xfrm>
            <a:custGeom>
              <a:avLst/>
              <a:gdLst/>
              <a:ahLst/>
              <a:cxnLst/>
              <a:rect l="l" t="t" r="r" b="b"/>
              <a:pathLst>
                <a:path w="9748520" h="92710">
                  <a:moveTo>
                    <a:pt x="887158" y="34925"/>
                  </a:moveTo>
                  <a:lnTo>
                    <a:pt x="76200" y="34925"/>
                  </a:lnTo>
                  <a:lnTo>
                    <a:pt x="76200" y="0"/>
                  </a:lnTo>
                  <a:lnTo>
                    <a:pt x="0" y="38100"/>
                  </a:lnTo>
                  <a:lnTo>
                    <a:pt x="76200" y="76200"/>
                  </a:lnTo>
                  <a:lnTo>
                    <a:pt x="76200" y="41275"/>
                  </a:lnTo>
                  <a:lnTo>
                    <a:pt x="887158" y="41275"/>
                  </a:lnTo>
                  <a:lnTo>
                    <a:pt x="887158" y="34925"/>
                  </a:lnTo>
                  <a:close/>
                </a:path>
                <a:path w="9748520" h="92710">
                  <a:moveTo>
                    <a:pt x="9747948" y="54610"/>
                  </a:moveTo>
                  <a:lnTo>
                    <a:pt x="9741598" y="51435"/>
                  </a:lnTo>
                  <a:lnTo>
                    <a:pt x="9671748" y="16510"/>
                  </a:lnTo>
                  <a:lnTo>
                    <a:pt x="9671748" y="51435"/>
                  </a:lnTo>
                  <a:lnTo>
                    <a:pt x="8774747" y="51435"/>
                  </a:lnTo>
                  <a:lnTo>
                    <a:pt x="8774747" y="57785"/>
                  </a:lnTo>
                  <a:lnTo>
                    <a:pt x="9671748" y="57785"/>
                  </a:lnTo>
                  <a:lnTo>
                    <a:pt x="9671748" y="92710"/>
                  </a:lnTo>
                  <a:lnTo>
                    <a:pt x="9741598" y="57785"/>
                  </a:lnTo>
                  <a:lnTo>
                    <a:pt x="9747948" y="54610"/>
                  </a:lnTo>
                  <a:close/>
                </a:path>
              </a:pathLst>
            </a:custGeom>
            <a:solidFill>
              <a:srgbClr val="858585"/>
            </a:solidFill>
            <a:ln>
              <a:solidFill>
                <a:srgbClr val="86868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 name="object 22">
              <a:extLst>
                <a:ext uri="{FF2B5EF4-FFF2-40B4-BE49-F238E27FC236}">
                  <a16:creationId xmlns:a16="http://schemas.microsoft.com/office/drawing/2014/main" id="{3BB9EA5D-3AD5-20D5-76A2-E23A908851FC}"/>
                </a:ext>
              </a:extLst>
            </p:cNvPr>
            <p:cNvSpPr/>
            <p:nvPr/>
          </p:nvSpPr>
          <p:spPr>
            <a:xfrm>
              <a:off x="860209" y="2502407"/>
              <a:ext cx="9062720" cy="251460"/>
            </a:xfrm>
            <a:custGeom>
              <a:avLst/>
              <a:gdLst/>
              <a:ahLst/>
              <a:cxnLst/>
              <a:rect l="l" t="t" r="r" b="b"/>
              <a:pathLst>
                <a:path w="9062720" h="251460">
                  <a:moveTo>
                    <a:pt x="9020898" y="0"/>
                  </a:moveTo>
                  <a:lnTo>
                    <a:pt x="41833" y="0"/>
                  </a:lnTo>
                  <a:lnTo>
                    <a:pt x="25551" y="3278"/>
                  </a:lnTo>
                  <a:lnTo>
                    <a:pt x="12253" y="12223"/>
                  </a:lnTo>
                  <a:lnTo>
                    <a:pt x="3287" y="25503"/>
                  </a:lnTo>
                  <a:lnTo>
                    <a:pt x="0" y="41782"/>
                  </a:lnTo>
                  <a:lnTo>
                    <a:pt x="0" y="209168"/>
                  </a:lnTo>
                  <a:lnTo>
                    <a:pt x="3287" y="225395"/>
                  </a:lnTo>
                  <a:lnTo>
                    <a:pt x="12253" y="238680"/>
                  </a:lnTo>
                  <a:lnTo>
                    <a:pt x="25551" y="247655"/>
                  </a:lnTo>
                  <a:lnTo>
                    <a:pt x="41833" y="250951"/>
                  </a:lnTo>
                  <a:lnTo>
                    <a:pt x="9020898" y="250951"/>
                  </a:lnTo>
                  <a:lnTo>
                    <a:pt x="9037178" y="247655"/>
                  </a:lnTo>
                  <a:lnTo>
                    <a:pt x="9050458" y="238680"/>
                  </a:lnTo>
                  <a:lnTo>
                    <a:pt x="9059403" y="225395"/>
                  </a:lnTo>
                  <a:lnTo>
                    <a:pt x="9062681" y="209168"/>
                  </a:lnTo>
                  <a:lnTo>
                    <a:pt x="9062681" y="41782"/>
                  </a:lnTo>
                  <a:lnTo>
                    <a:pt x="9059403" y="25503"/>
                  </a:lnTo>
                  <a:lnTo>
                    <a:pt x="9050458" y="12223"/>
                  </a:lnTo>
                  <a:lnTo>
                    <a:pt x="9037178" y="3278"/>
                  </a:lnTo>
                  <a:lnTo>
                    <a:pt x="9020898" y="0"/>
                  </a:lnTo>
                  <a:close/>
                </a:path>
              </a:pathLst>
            </a:cu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25" name="object 25">
            <a:extLst>
              <a:ext uri="{FF2B5EF4-FFF2-40B4-BE49-F238E27FC236}">
                <a16:creationId xmlns:a16="http://schemas.microsoft.com/office/drawing/2014/main" id="{D8412ABC-D569-4BFC-C2BA-9F4ACB00DC83}"/>
              </a:ext>
            </a:extLst>
          </p:cNvPr>
          <p:cNvSpPr/>
          <p:nvPr/>
        </p:nvSpPr>
        <p:spPr>
          <a:xfrm>
            <a:off x="527278" y="2961923"/>
            <a:ext cx="2341880" cy="2640965"/>
          </a:xfrm>
          <a:prstGeom prst="roundRect">
            <a:avLst>
              <a:gd name="adj" fmla="val 2838"/>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6" name="object 26">
            <a:extLst>
              <a:ext uri="{FF2B5EF4-FFF2-40B4-BE49-F238E27FC236}">
                <a16:creationId xmlns:a16="http://schemas.microsoft.com/office/drawing/2014/main" id="{40FEEC50-EA6D-3B14-ED60-284E69EF0F3F}"/>
              </a:ext>
            </a:extLst>
          </p:cNvPr>
          <p:cNvSpPr txBox="1"/>
          <p:nvPr/>
        </p:nvSpPr>
        <p:spPr>
          <a:xfrm>
            <a:off x="1035202" y="3008658"/>
            <a:ext cx="1488440" cy="427681"/>
          </a:xfrm>
          <a:prstGeom prst="rect">
            <a:avLst/>
          </a:prstGeom>
        </p:spPr>
        <p:txBody>
          <a:bodyPr vert="horz" wrap="square" lIns="0" tIns="12065" rIns="0" bIns="0" rtlCol="0">
            <a:spAutoFit/>
          </a:bodyPr>
          <a:lstStyle/>
          <a:p>
            <a:pPr marL="12700" marR="5080" lvl="0" indent="0" algn="l" defTabSz="914400" rtl="0" eaLnBrk="1" fontAlgn="auto" latinLnBrk="0" hangingPunct="1">
              <a:lnSpc>
                <a:spcPct val="100000"/>
              </a:lnSpc>
              <a:spcBef>
                <a:spcPts val="95"/>
              </a:spcBef>
              <a:spcAft>
                <a:spcPts val="0"/>
              </a:spcAft>
              <a:buClrTx/>
              <a:buSzTx/>
              <a:buFontTx/>
              <a:buNone/>
              <a:tabLst/>
              <a:defRPr/>
            </a:pPr>
            <a:r>
              <a:rPr kumimoji="0" lang="en-US" sz="900" b="1" i="0" u="none" strike="noStrike" kern="0" cap="none" spc="0" normalizeH="0" baseline="0" noProof="0">
                <a:ln>
                  <a:noFill/>
                </a:ln>
                <a:solidFill>
                  <a:srgbClr val="0A4B8C"/>
                </a:solidFill>
                <a:effectLst/>
                <a:uLnTx/>
                <a:uFillTx/>
                <a:latin typeface="CVS Health Sans"/>
                <a:ea typeface="+mn-ea"/>
                <a:cs typeface="CVS Health Sans"/>
              </a:rPr>
              <a:t>A</a:t>
            </a:r>
            <a:r>
              <a:rPr kumimoji="0" sz="900" b="1" i="0" u="none" strike="noStrike" kern="0" cap="none" spc="0" normalizeH="0" baseline="0" noProof="0">
                <a:ln>
                  <a:noFill/>
                </a:ln>
                <a:solidFill>
                  <a:srgbClr val="0A4B8C"/>
                </a:solidFill>
                <a:effectLst/>
                <a:uLnTx/>
                <a:uFillTx/>
                <a:latin typeface="CVS Health Sans"/>
                <a:ea typeface="+mn-ea"/>
                <a:cs typeface="CVS Health Sans"/>
              </a:rPr>
              <a:t>:</a:t>
            </a:r>
            <a:r>
              <a:rPr kumimoji="0" sz="900" b="1" i="0" u="none" strike="noStrike" kern="0" cap="none" spc="-40" normalizeH="0" baseline="0" noProof="0">
                <a:ln>
                  <a:noFill/>
                </a:ln>
                <a:solidFill>
                  <a:srgbClr val="0A4B8C"/>
                </a:solidFill>
                <a:effectLst/>
                <a:uLnTx/>
                <a:uFillTx/>
                <a:latin typeface="CVS Health Sans"/>
                <a:ea typeface="+mn-ea"/>
                <a:cs typeface="CVS Health Sans"/>
              </a:rPr>
              <a:t> </a:t>
            </a:r>
            <a:r>
              <a:rPr kumimoji="0" lang="en-US" sz="900" b="1" i="0" u="none" strike="noStrike" kern="0" cap="none" spc="-40" normalizeH="0" baseline="0" noProof="0">
                <a:ln>
                  <a:noFill/>
                </a:ln>
                <a:solidFill>
                  <a:srgbClr val="0A4B8C"/>
                </a:solidFill>
                <a:effectLst/>
                <a:uLnTx/>
                <a:uFillTx/>
                <a:latin typeface="CVS Health Sans"/>
                <a:ea typeface="+mn-ea"/>
                <a:cs typeface="CVS Health Sans"/>
              </a:rPr>
              <a:t>Architecture </a:t>
            </a:r>
            <a:r>
              <a:rPr kumimoji="0" lang="en-US" sz="900" b="1" i="0" u="none" strike="noStrike" kern="0" cap="none" spc="-10" normalizeH="0" baseline="0" noProof="0">
                <a:ln>
                  <a:noFill/>
                </a:ln>
                <a:solidFill>
                  <a:srgbClr val="0A4B8C"/>
                </a:solidFill>
                <a:effectLst/>
                <a:uLnTx/>
                <a:uFillTx/>
                <a:latin typeface="CVS Health Sans"/>
                <a:ea typeface="+mn-ea"/>
                <a:cs typeface="CVS Health Sans"/>
              </a:rPr>
              <a:t>Review &amp; Remediation</a:t>
            </a:r>
            <a:r>
              <a:rPr kumimoji="0" sz="900" b="1" i="0" u="none" strike="noStrike" kern="0" cap="none" spc="5"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endParaRPr kumimoji="0" lang="en-US" sz="900" b="1" i="0" u="none" strike="noStrike" kern="0" cap="none" spc="-10" normalizeH="0" baseline="0" noProof="0">
              <a:ln>
                <a:noFill/>
              </a:ln>
              <a:solidFill>
                <a:srgbClr val="0A4B8C"/>
              </a:solidFill>
              <a:effectLst/>
              <a:uLnTx/>
              <a:uFillTx/>
              <a:latin typeface="CVS Health Sans"/>
              <a:ea typeface="+mn-ea"/>
              <a:cs typeface="CVS Health Sans"/>
            </a:endParaRPr>
          </a:p>
          <a:p>
            <a:pPr marL="12700" marR="99695"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’26-Oct ’26</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27" name="object 27">
            <a:extLst>
              <a:ext uri="{FF2B5EF4-FFF2-40B4-BE49-F238E27FC236}">
                <a16:creationId xmlns:a16="http://schemas.microsoft.com/office/drawing/2014/main" id="{3EBA5412-6AB3-953B-9E25-DDF34A210EEA}"/>
              </a:ext>
            </a:extLst>
          </p:cNvPr>
          <p:cNvSpPr/>
          <p:nvPr/>
        </p:nvSpPr>
        <p:spPr>
          <a:xfrm>
            <a:off x="527278" y="1546635"/>
            <a:ext cx="9748520" cy="471170"/>
          </a:xfrm>
          <a:custGeom>
            <a:avLst/>
            <a:gdLst/>
            <a:ahLst/>
            <a:cxnLst/>
            <a:rect l="l" t="t" r="r" b="b"/>
            <a:pathLst>
              <a:path w="9748520" h="471169">
                <a:moveTo>
                  <a:pt x="0" y="40767"/>
                </a:moveTo>
                <a:lnTo>
                  <a:pt x="3205" y="24913"/>
                </a:lnTo>
                <a:lnTo>
                  <a:pt x="11945" y="11953"/>
                </a:lnTo>
                <a:lnTo>
                  <a:pt x="24908" y="3208"/>
                </a:lnTo>
                <a:lnTo>
                  <a:pt x="40779" y="0"/>
                </a:lnTo>
                <a:lnTo>
                  <a:pt x="9707587" y="0"/>
                </a:lnTo>
                <a:lnTo>
                  <a:pt x="9723441" y="3208"/>
                </a:lnTo>
                <a:lnTo>
                  <a:pt x="9736401" y="11953"/>
                </a:lnTo>
                <a:lnTo>
                  <a:pt x="9745146" y="24913"/>
                </a:lnTo>
                <a:lnTo>
                  <a:pt x="9748354" y="40767"/>
                </a:lnTo>
                <a:lnTo>
                  <a:pt x="9748354" y="430022"/>
                </a:lnTo>
                <a:lnTo>
                  <a:pt x="9745146" y="445875"/>
                </a:lnTo>
                <a:lnTo>
                  <a:pt x="9736401" y="458835"/>
                </a:lnTo>
                <a:lnTo>
                  <a:pt x="9723441" y="467580"/>
                </a:lnTo>
                <a:lnTo>
                  <a:pt x="9707587" y="470788"/>
                </a:lnTo>
                <a:lnTo>
                  <a:pt x="40779" y="470788"/>
                </a:lnTo>
                <a:lnTo>
                  <a:pt x="24908" y="467580"/>
                </a:lnTo>
                <a:lnTo>
                  <a:pt x="11945" y="458835"/>
                </a:lnTo>
                <a:lnTo>
                  <a:pt x="3205" y="445875"/>
                </a:lnTo>
                <a:lnTo>
                  <a:pt x="0" y="430022"/>
                </a:lnTo>
                <a:lnTo>
                  <a:pt x="0" y="4076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8" name="object 28">
            <a:extLst>
              <a:ext uri="{FF2B5EF4-FFF2-40B4-BE49-F238E27FC236}">
                <a16:creationId xmlns:a16="http://schemas.microsoft.com/office/drawing/2014/main" id="{4EBF6D4D-130C-2F5E-2CEE-CB5BFF16FFDE}"/>
              </a:ext>
            </a:extLst>
          </p:cNvPr>
          <p:cNvSpPr txBox="1"/>
          <p:nvPr/>
        </p:nvSpPr>
        <p:spPr>
          <a:xfrm>
            <a:off x="1010107" y="1607848"/>
            <a:ext cx="3719195" cy="33909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0</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Project</a:t>
            </a:r>
            <a:r>
              <a:rPr kumimoji="0" sz="1050" b="1" i="0" u="none" strike="noStrike" kern="0" cap="none" spc="-15" normalizeH="0" baseline="0" noProof="0">
                <a:ln>
                  <a:noFill/>
                </a:ln>
                <a:solidFill>
                  <a:srgbClr val="0A4B8C"/>
                </a:solidFill>
                <a:effectLst/>
                <a:uLnTx/>
                <a:uFillTx/>
                <a:latin typeface="CVS Health Sans"/>
                <a:ea typeface="+mn-ea"/>
                <a:cs typeface="CVS Health Sans"/>
              </a:rPr>
              <a:t> </a:t>
            </a:r>
            <a:r>
              <a:rPr kumimoji="0" sz="1050" b="1" i="0" u="none" strike="noStrike" kern="0" cap="none" spc="-10" normalizeH="0" baseline="0" noProof="0">
                <a:ln>
                  <a:noFill/>
                </a:ln>
                <a:solidFill>
                  <a:srgbClr val="0A4B8C"/>
                </a:solidFill>
                <a:effectLst/>
                <a:uLnTx/>
                <a:uFillTx/>
                <a:latin typeface="CVS Health Sans"/>
                <a:ea typeface="+mn-ea"/>
                <a:cs typeface="CVS Health Sans"/>
              </a:rPr>
              <a:t>Management</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Office</a:t>
            </a:r>
            <a:r>
              <a:rPr kumimoji="0" sz="1050" b="1" i="0" u="none" strike="noStrike" kern="0" cap="none" spc="-2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(PMO)</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0" normalizeH="0" baseline="0" noProof="0">
                <a:ln>
                  <a:noFill/>
                </a:ln>
                <a:solidFill>
                  <a:srgbClr val="0A4B8C"/>
                </a:solidFill>
                <a:effectLst/>
                <a:uLnTx/>
                <a:uFillTx/>
                <a:latin typeface="CVS Health Sans"/>
                <a:ea typeface="+mn-ea"/>
                <a:cs typeface="CVS Health Sans"/>
              </a:rPr>
              <a:t>Sept</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 </a:t>
            </a:r>
            <a:r>
              <a:rPr kumimoji="0" sz="1000" b="0" i="0" u="none" strike="noStrike" kern="0" cap="none" spc="0" normalizeH="0" baseline="0" noProof="0">
                <a:ln>
                  <a:noFill/>
                </a:ln>
                <a:solidFill>
                  <a:srgbClr val="0A4B8C"/>
                </a:solidFill>
                <a:effectLst/>
                <a:uLnTx/>
                <a:uFillTx/>
                <a:latin typeface="CVS Health Sans"/>
                <a:ea typeface="+mn-ea"/>
                <a:cs typeface="CVS Health Sans"/>
              </a:rPr>
              <a:t>‘26</a:t>
            </a:r>
            <a:r>
              <a:rPr kumimoji="0" sz="1000" b="0" i="0" u="none" strike="noStrike" kern="0" cap="none" spc="-5" normalizeH="0" baseline="0" noProof="0">
                <a:ln>
                  <a:noFill/>
                </a:ln>
                <a:solidFill>
                  <a:srgbClr val="0A4B8C"/>
                </a:solidFill>
                <a:effectLst/>
                <a:uLnTx/>
                <a:uFillTx/>
                <a:latin typeface="CVS Health Sans"/>
                <a:ea typeface="+mn-ea"/>
                <a:cs typeface="CVS Health Sans"/>
              </a:rPr>
              <a:t> </a:t>
            </a:r>
            <a:r>
              <a:rPr kumimoji="0" sz="1000" b="0" i="0" u="none" strike="noStrike" kern="0" cap="none" spc="0" normalizeH="0" baseline="0" noProof="0">
                <a:ln>
                  <a:noFill/>
                </a:ln>
                <a:solidFill>
                  <a:srgbClr val="0A4B8C"/>
                </a:solidFill>
                <a:effectLst/>
                <a:uLnTx/>
                <a:uFillTx/>
                <a:latin typeface="CVS Health Sans"/>
                <a:ea typeface="+mn-ea"/>
                <a:cs typeface="CVS Health Sans"/>
              </a:rPr>
              <a:t>–</a:t>
            </a:r>
            <a:r>
              <a:rPr kumimoji="0" sz="1000" b="0" i="0" u="none" strike="noStrike" kern="0" cap="none" spc="5"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0" normalizeH="0" baseline="0" noProof="0">
                <a:ln>
                  <a:noFill/>
                </a:ln>
                <a:solidFill>
                  <a:srgbClr val="0A4B8C"/>
                </a:solidFill>
                <a:effectLst/>
                <a:uLnTx/>
                <a:uFillTx/>
                <a:latin typeface="CVS Health Sans"/>
                <a:ea typeface="+mn-ea"/>
                <a:cs typeface="CVS Health Sans"/>
              </a:rPr>
              <a:t>Aug</a:t>
            </a:r>
            <a:r>
              <a:rPr kumimoji="0" sz="1000" b="0" i="0" u="none" strike="noStrike" kern="0" cap="none" spc="15" normalizeH="0" baseline="0" noProof="0">
                <a:ln>
                  <a:noFill/>
                </a:ln>
                <a:solidFill>
                  <a:srgbClr val="0A4B8C"/>
                </a:solidFill>
                <a:effectLst/>
                <a:uLnTx/>
                <a:uFillTx/>
                <a:latin typeface="CVS Health Sans"/>
                <a:ea typeface="+mn-ea"/>
                <a:cs typeface="CVS Health Sans"/>
              </a:rPr>
              <a:t> </a:t>
            </a:r>
            <a:r>
              <a:rPr kumimoji="0" sz="1000" b="0" i="0" u="none" strike="noStrike" kern="0" cap="none" spc="-25" normalizeH="0" baseline="0" noProof="0">
                <a:ln>
                  <a:noFill/>
                </a:ln>
                <a:solidFill>
                  <a:srgbClr val="0A4B8C"/>
                </a:solidFill>
                <a:effectLst/>
                <a:uLnTx/>
                <a:uFillTx/>
                <a:latin typeface="CVS Health Sans"/>
                <a:ea typeface="+mn-ea"/>
                <a:cs typeface="CVS Health Sans"/>
              </a:rPr>
              <a:t>‘27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Coordinates</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delivery, </a:t>
            </a:r>
            <a:r>
              <a:rPr kumimoji="0" sz="1000" b="0" i="0" u="none" strike="noStrike" kern="0" cap="none" spc="-10" normalizeH="0" baseline="0" noProof="0">
                <a:ln>
                  <a:noFill/>
                </a:ln>
                <a:solidFill>
                  <a:srgbClr val="3F3F3F"/>
                </a:solidFill>
                <a:effectLst/>
                <a:uLnTx/>
                <a:uFillTx/>
                <a:latin typeface="CVS Health Sans"/>
                <a:ea typeface="+mn-ea"/>
                <a:cs typeface="CVS Health Sans"/>
              </a:rPr>
              <a:t>dependencies,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risks,</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governance</a:t>
            </a:r>
            <a:r>
              <a:rPr kumimoji="0" lang="en-US" sz="1000" b="0" i="0" u="none" strike="noStrike" kern="0" cap="none" spc="-10" normalizeH="0" baseline="0" noProof="0">
                <a:ln>
                  <a:noFill/>
                </a:ln>
                <a:solidFill>
                  <a:srgbClr val="3F3F3F"/>
                </a:solidFill>
                <a:effectLst/>
                <a:uLnTx/>
                <a:uFillTx/>
                <a:latin typeface="CVS Health Sans"/>
                <a:ea typeface="+mn-ea"/>
                <a:cs typeface="CVS Health Sans"/>
              </a:rPr>
              <a:t>.</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29" name="object 29">
            <a:extLst>
              <a:ext uri="{FF2B5EF4-FFF2-40B4-BE49-F238E27FC236}">
                <a16:creationId xmlns:a16="http://schemas.microsoft.com/office/drawing/2014/main" id="{C5123769-5147-91D0-4B7D-E88185F32DB8}"/>
              </a:ext>
            </a:extLst>
          </p:cNvPr>
          <p:cNvSpPr/>
          <p:nvPr/>
        </p:nvSpPr>
        <p:spPr>
          <a:xfrm>
            <a:off x="8104505" y="1626518"/>
            <a:ext cx="1000125" cy="311150"/>
          </a:xfrm>
          <a:custGeom>
            <a:avLst/>
            <a:gdLst/>
            <a:ahLst/>
            <a:cxnLst/>
            <a:rect l="l" t="t" r="r" b="b"/>
            <a:pathLst>
              <a:path w="1000125" h="311150">
                <a:moveTo>
                  <a:pt x="948181" y="0"/>
                </a:moveTo>
                <a:lnTo>
                  <a:pt x="51816" y="0"/>
                </a:lnTo>
                <a:lnTo>
                  <a:pt x="31611" y="4077"/>
                </a:lnTo>
                <a:lnTo>
                  <a:pt x="15144" y="15192"/>
                </a:lnTo>
                <a:lnTo>
                  <a:pt x="4060" y="31664"/>
                </a:lnTo>
                <a:lnTo>
                  <a:pt x="0" y="51815"/>
                </a:lnTo>
                <a:lnTo>
                  <a:pt x="0" y="259206"/>
                </a:lnTo>
                <a:lnTo>
                  <a:pt x="4060" y="279358"/>
                </a:lnTo>
                <a:lnTo>
                  <a:pt x="15144" y="295830"/>
                </a:lnTo>
                <a:lnTo>
                  <a:pt x="31611" y="306945"/>
                </a:lnTo>
                <a:lnTo>
                  <a:pt x="51816" y="311023"/>
                </a:lnTo>
                <a:lnTo>
                  <a:pt x="948181" y="311023"/>
                </a:lnTo>
                <a:lnTo>
                  <a:pt x="968333" y="306945"/>
                </a:lnTo>
                <a:lnTo>
                  <a:pt x="984805" y="295830"/>
                </a:lnTo>
                <a:lnTo>
                  <a:pt x="995920" y="279358"/>
                </a:lnTo>
                <a:lnTo>
                  <a:pt x="999998" y="259206"/>
                </a:lnTo>
                <a:lnTo>
                  <a:pt x="999998" y="51815"/>
                </a:lnTo>
                <a:lnTo>
                  <a:pt x="995920" y="31664"/>
                </a:lnTo>
                <a:lnTo>
                  <a:pt x="984805" y="15192"/>
                </a:lnTo>
                <a:lnTo>
                  <a:pt x="968333" y="4077"/>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0" name="object 30">
            <a:extLst>
              <a:ext uri="{FF2B5EF4-FFF2-40B4-BE49-F238E27FC236}">
                <a16:creationId xmlns:a16="http://schemas.microsoft.com/office/drawing/2014/main" id="{37F7FEE6-D40B-CB5B-B290-2578BB64CC91}"/>
              </a:ext>
            </a:extLst>
          </p:cNvPr>
          <p:cNvSpPr txBox="1"/>
          <p:nvPr/>
        </p:nvSpPr>
        <p:spPr>
          <a:xfrm>
            <a:off x="8207974" y="1713259"/>
            <a:ext cx="805380"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 </a:t>
            </a:r>
            <a:r>
              <a:rPr kumimoji="0" sz="800" b="0" i="0" u="none" strike="noStrike" kern="0" cap="none" spc="-10" normalizeH="0" baseline="0" noProof="0">
                <a:ln>
                  <a:noFill/>
                </a:ln>
                <a:solidFill>
                  <a:srgbClr val="FFFFFF"/>
                </a:solidFill>
                <a:effectLst/>
                <a:uLnTx/>
                <a:uFillTx/>
                <a:latin typeface="CVS Health Sans"/>
                <a:ea typeface="+mn-ea"/>
                <a:cs typeface="CVS Health Sans"/>
              </a:rPr>
              <a:t>Technical</a:t>
            </a:r>
            <a:r>
              <a:rPr kumimoji="0" sz="800" b="0" i="0" u="none" strike="noStrike" kern="0" cap="none" spc="45" normalizeH="0" baseline="0" noProof="0">
                <a:ln>
                  <a:noFill/>
                </a:ln>
                <a:solidFill>
                  <a:srgbClr val="FFFFFF"/>
                </a:solidFill>
                <a:effectLst/>
                <a:uLnTx/>
                <a:uFillTx/>
                <a:latin typeface="CVS Health Sans"/>
                <a:ea typeface="+mn-ea"/>
                <a:cs typeface="CVS Health Sans"/>
              </a:rPr>
              <a:t> </a:t>
            </a:r>
            <a:r>
              <a:rPr kumimoji="0" sz="800" b="0" i="0" u="none" strike="noStrike" kern="0" cap="none" spc="-25" normalizeH="0" baseline="0" noProof="0">
                <a:ln>
                  <a:noFill/>
                </a:ln>
                <a:solidFill>
                  <a:srgbClr val="FFFFFF"/>
                </a:solidFill>
                <a:effectLst/>
                <a:uLnTx/>
                <a:uFillTx/>
                <a:latin typeface="CVS Health Sans"/>
                <a:ea typeface="+mn-ea"/>
                <a:cs typeface="CVS Health Sans"/>
              </a:rPr>
              <a:t>PM</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1" name="object 31">
            <a:extLst>
              <a:ext uri="{FF2B5EF4-FFF2-40B4-BE49-F238E27FC236}">
                <a16:creationId xmlns:a16="http://schemas.microsoft.com/office/drawing/2014/main" id="{EB157149-BAE3-78D7-F4FD-B08DECB7C78A}"/>
              </a:ext>
            </a:extLst>
          </p:cNvPr>
          <p:cNvSpPr/>
          <p:nvPr/>
        </p:nvSpPr>
        <p:spPr>
          <a:xfrm>
            <a:off x="9175368" y="1626518"/>
            <a:ext cx="1000125" cy="311150"/>
          </a:xfrm>
          <a:custGeom>
            <a:avLst/>
            <a:gdLst/>
            <a:ahLst/>
            <a:cxnLst/>
            <a:rect l="l" t="t" r="r" b="b"/>
            <a:pathLst>
              <a:path w="1000125" h="311150">
                <a:moveTo>
                  <a:pt x="948181" y="0"/>
                </a:moveTo>
                <a:lnTo>
                  <a:pt x="51815" y="0"/>
                </a:lnTo>
                <a:lnTo>
                  <a:pt x="31664" y="4077"/>
                </a:lnTo>
                <a:lnTo>
                  <a:pt x="15192" y="15192"/>
                </a:lnTo>
                <a:lnTo>
                  <a:pt x="4077" y="31664"/>
                </a:lnTo>
                <a:lnTo>
                  <a:pt x="0" y="51815"/>
                </a:lnTo>
                <a:lnTo>
                  <a:pt x="0" y="259206"/>
                </a:lnTo>
                <a:lnTo>
                  <a:pt x="4077" y="279358"/>
                </a:lnTo>
                <a:lnTo>
                  <a:pt x="15192" y="295830"/>
                </a:lnTo>
                <a:lnTo>
                  <a:pt x="31664" y="306945"/>
                </a:lnTo>
                <a:lnTo>
                  <a:pt x="51815" y="311023"/>
                </a:lnTo>
                <a:lnTo>
                  <a:pt x="948181" y="311023"/>
                </a:lnTo>
                <a:lnTo>
                  <a:pt x="968386" y="306945"/>
                </a:lnTo>
                <a:lnTo>
                  <a:pt x="984853" y="295830"/>
                </a:lnTo>
                <a:lnTo>
                  <a:pt x="995937" y="279358"/>
                </a:lnTo>
                <a:lnTo>
                  <a:pt x="999998" y="259206"/>
                </a:lnTo>
                <a:lnTo>
                  <a:pt x="999998" y="51815"/>
                </a:lnTo>
                <a:lnTo>
                  <a:pt x="995937" y="31664"/>
                </a:lnTo>
                <a:lnTo>
                  <a:pt x="984853" y="15192"/>
                </a:lnTo>
                <a:lnTo>
                  <a:pt x="968386" y="4077"/>
                </a:lnTo>
                <a:lnTo>
                  <a:pt x="948181"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2" name="object 32">
            <a:extLst>
              <a:ext uri="{FF2B5EF4-FFF2-40B4-BE49-F238E27FC236}">
                <a16:creationId xmlns:a16="http://schemas.microsoft.com/office/drawing/2014/main" id="{A260D1C1-DE90-78AD-80EB-475630E0F830}"/>
              </a:ext>
            </a:extLst>
          </p:cNvPr>
          <p:cNvSpPr txBox="1"/>
          <p:nvPr/>
        </p:nvSpPr>
        <p:spPr>
          <a:xfrm>
            <a:off x="9341310" y="1713259"/>
            <a:ext cx="683230"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PM </a:t>
            </a:r>
            <a:r>
              <a:rPr kumimoji="0" sz="800" b="0" i="0" u="none" strike="noStrike" kern="0" cap="none" spc="-10" normalizeH="0" baseline="0" noProof="0">
                <a:ln>
                  <a:noFill/>
                </a:ln>
                <a:solidFill>
                  <a:srgbClr val="FFFFFF"/>
                </a:solidFill>
                <a:effectLst/>
                <a:uLnTx/>
                <a:uFillTx/>
                <a:latin typeface="CVS Health Sans"/>
                <a:ea typeface="+mn-ea"/>
                <a:cs typeface="CVS Health Sans"/>
              </a:rPr>
              <a:t>Analyst</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3" name="object 33">
            <a:extLst>
              <a:ext uri="{FF2B5EF4-FFF2-40B4-BE49-F238E27FC236}">
                <a16:creationId xmlns:a16="http://schemas.microsoft.com/office/drawing/2014/main" id="{62AF7413-8BE6-E524-C1EE-A015AAB11876}"/>
              </a:ext>
            </a:extLst>
          </p:cNvPr>
          <p:cNvSpPr/>
          <p:nvPr/>
        </p:nvSpPr>
        <p:spPr>
          <a:xfrm>
            <a:off x="531406" y="2114324"/>
            <a:ext cx="9748520" cy="471170"/>
          </a:xfrm>
          <a:custGeom>
            <a:avLst/>
            <a:gdLst/>
            <a:ahLst/>
            <a:cxnLst/>
            <a:rect l="l" t="t" r="r" b="b"/>
            <a:pathLst>
              <a:path w="9748520" h="471169">
                <a:moveTo>
                  <a:pt x="0" y="40767"/>
                </a:moveTo>
                <a:lnTo>
                  <a:pt x="3205" y="24913"/>
                </a:lnTo>
                <a:lnTo>
                  <a:pt x="11945" y="11953"/>
                </a:lnTo>
                <a:lnTo>
                  <a:pt x="24908" y="3208"/>
                </a:lnTo>
                <a:lnTo>
                  <a:pt x="40779" y="0"/>
                </a:lnTo>
                <a:lnTo>
                  <a:pt x="9707587" y="0"/>
                </a:lnTo>
                <a:lnTo>
                  <a:pt x="9723441" y="3208"/>
                </a:lnTo>
                <a:lnTo>
                  <a:pt x="9736401" y="11953"/>
                </a:lnTo>
                <a:lnTo>
                  <a:pt x="9745146" y="24913"/>
                </a:lnTo>
                <a:lnTo>
                  <a:pt x="9748354" y="40767"/>
                </a:lnTo>
                <a:lnTo>
                  <a:pt x="9748354" y="429895"/>
                </a:lnTo>
                <a:lnTo>
                  <a:pt x="9745146" y="445748"/>
                </a:lnTo>
                <a:lnTo>
                  <a:pt x="9736401" y="458708"/>
                </a:lnTo>
                <a:lnTo>
                  <a:pt x="9723441" y="467453"/>
                </a:lnTo>
                <a:lnTo>
                  <a:pt x="9707587" y="470662"/>
                </a:lnTo>
                <a:lnTo>
                  <a:pt x="40779" y="470662"/>
                </a:lnTo>
                <a:lnTo>
                  <a:pt x="24908" y="467453"/>
                </a:lnTo>
                <a:lnTo>
                  <a:pt x="11945" y="458708"/>
                </a:lnTo>
                <a:lnTo>
                  <a:pt x="3205" y="445748"/>
                </a:lnTo>
                <a:lnTo>
                  <a:pt x="0" y="429895"/>
                </a:lnTo>
                <a:lnTo>
                  <a:pt x="0" y="4076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4" name="object 34">
            <a:extLst>
              <a:ext uri="{FF2B5EF4-FFF2-40B4-BE49-F238E27FC236}">
                <a16:creationId xmlns:a16="http://schemas.microsoft.com/office/drawing/2014/main" id="{22A665B3-682C-CA51-BB77-2080AF961B7A}"/>
              </a:ext>
            </a:extLst>
          </p:cNvPr>
          <p:cNvSpPr txBox="1"/>
          <p:nvPr/>
        </p:nvSpPr>
        <p:spPr>
          <a:xfrm>
            <a:off x="1010107" y="2170459"/>
            <a:ext cx="3764279" cy="339090"/>
          </a:xfrm>
          <a:prstGeom prst="rect">
            <a:avLst/>
          </a:prstGeom>
        </p:spPr>
        <p:txBody>
          <a:bodyPr vert="horz" wrap="square" lIns="0" tIns="13335" rIns="0" bIns="0" rtlCol="0">
            <a:spAutoFit/>
          </a:bodyPr>
          <a:lstStyle/>
          <a:p>
            <a:pPr marL="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E</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10" normalizeH="0" baseline="0" noProof="0">
                <a:ln>
                  <a:noFill/>
                </a:ln>
                <a:solidFill>
                  <a:srgbClr val="0A4B8C"/>
                </a:solidFill>
                <a:effectLst/>
                <a:uLnTx/>
                <a:uFillTx/>
                <a:latin typeface="CVS Health Sans"/>
                <a:ea typeface="+mn-ea"/>
                <a:cs typeface="CVS Health Sans"/>
              </a:rPr>
              <a:t>Organizational</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Change</a:t>
            </a:r>
            <a:r>
              <a:rPr kumimoji="0" sz="1050" b="1" i="0" u="none" strike="noStrike" kern="0" cap="none" spc="-2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and</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Adoption</a:t>
            </a:r>
            <a:r>
              <a:rPr kumimoji="0" sz="1050" b="1" i="0" u="none" strike="noStrike" kern="0" cap="none" spc="5"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lang="en-US" sz="1000" kern="0" spc="-10">
                <a:solidFill>
                  <a:srgbClr val="0A4B8C"/>
                </a:solidFill>
                <a:latin typeface="CVS Health Sans"/>
                <a:cs typeface="CVS Health Sans"/>
              </a:rPr>
              <a:t>Sep</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t ’26 - Jul ’27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Drives</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stakeholder</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readiness,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adoption,</a:t>
            </a:r>
            <a:r>
              <a:rPr kumimoji="0" sz="1000" b="0" i="0" u="none" strike="noStrike" kern="0" cap="none" spc="-3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5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migration</a:t>
            </a:r>
            <a:r>
              <a:rPr kumimoji="0" sz="1000" b="0" i="0" u="none" strike="noStrike" kern="0" cap="none" spc="-40"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planning.</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35" name="object 35">
            <a:extLst>
              <a:ext uri="{FF2B5EF4-FFF2-40B4-BE49-F238E27FC236}">
                <a16:creationId xmlns:a16="http://schemas.microsoft.com/office/drawing/2014/main" id="{0AAE0E7E-CC6A-832D-85D0-DCD5C83B3C3C}"/>
              </a:ext>
            </a:extLst>
          </p:cNvPr>
          <p:cNvSpPr/>
          <p:nvPr/>
        </p:nvSpPr>
        <p:spPr>
          <a:xfrm>
            <a:off x="7040498" y="2194208"/>
            <a:ext cx="1000125" cy="311150"/>
          </a:xfrm>
          <a:custGeom>
            <a:avLst/>
            <a:gdLst/>
            <a:ahLst/>
            <a:cxnLst/>
            <a:rect l="l" t="t" r="r" b="b"/>
            <a:pathLst>
              <a:path w="1000125" h="311150">
                <a:moveTo>
                  <a:pt x="948181" y="0"/>
                </a:moveTo>
                <a:lnTo>
                  <a:pt x="51816" y="0"/>
                </a:lnTo>
                <a:lnTo>
                  <a:pt x="31664" y="4060"/>
                </a:lnTo>
                <a:lnTo>
                  <a:pt x="15192" y="15144"/>
                </a:lnTo>
                <a:lnTo>
                  <a:pt x="4077" y="31611"/>
                </a:lnTo>
                <a:lnTo>
                  <a:pt x="0" y="51815"/>
                </a:lnTo>
                <a:lnTo>
                  <a:pt x="0" y="259080"/>
                </a:lnTo>
                <a:lnTo>
                  <a:pt x="4077" y="279231"/>
                </a:lnTo>
                <a:lnTo>
                  <a:pt x="15192" y="295703"/>
                </a:lnTo>
                <a:lnTo>
                  <a:pt x="31664" y="306818"/>
                </a:lnTo>
                <a:lnTo>
                  <a:pt x="51816" y="310896"/>
                </a:lnTo>
                <a:lnTo>
                  <a:pt x="948181" y="310896"/>
                </a:lnTo>
                <a:lnTo>
                  <a:pt x="968333" y="306818"/>
                </a:lnTo>
                <a:lnTo>
                  <a:pt x="984805" y="295703"/>
                </a:lnTo>
                <a:lnTo>
                  <a:pt x="995920" y="279231"/>
                </a:lnTo>
                <a:lnTo>
                  <a:pt x="999998" y="259080"/>
                </a:lnTo>
                <a:lnTo>
                  <a:pt x="999998" y="51815"/>
                </a:lnTo>
                <a:lnTo>
                  <a:pt x="995920" y="31611"/>
                </a:lnTo>
                <a:lnTo>
                  <a:pt x="984805" y="15144"/>
                </a:lnTo>
                <a:lnTo>
                  <a:pt x="968333"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6" name="object 36">
            <a:extLst>
              <a:ext uri="{FF2B5EF4-FFF2-40B4-BE49-F238E27FC236}">
                <a16:creationId xmlns:a16="http://schemas.microsoft.com/office/drawing/2014/main" id="{F6FE8791-7AEF-8556-AF67-2E6F5980A54B}"/>
              </a:ext>
            </a:extLst>
          </p:cNvPr>
          <p:cNvSpPr txBox="1"/>
          <p:nvPr/>
        </p:nvSpPr>
        <p:spPr>
          <a:xfrm>
            <a:off x="7221874" y="2215295"/>
            <a:ext cx="651470" cy="271228"/>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20" normalizeH="0" baseline="0" noProof="0">
                <a:ln>
                  <a:noFill/>
                </a:ln>
                <a:solidFill>
                  <a:srgbClr val="FFFFFF"/>
                </a:solidFill>
                <a:effectLst/>
                <a:uLnTx/>
                <a:uFillTx/>
                <a:latin typeface="CVS Health Sans"/>
                <a:ea typeface="+mn-ea"/>
                <a:cs typeface="CVS Health Sans"/>
              </a:rPr>
              <a:t>Lead</a:t>
            </a:r>
            <a:endParaRPr kumimoji="0" lang="en-US" sz="800" b="0" i="0" u="none" strike="noStrike" kern="0" cap="none" spc="-20" normalizeH="0" baseline="0" noProof="0">
              <a:ln>
                <a:noFill/>
              </a:ln>
              <a:solidFill>
                <a:srgbClr val="FFFFF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chemeClr val="bg1"/>
                </a:solidFill>
                <a:effectLst/>
                <a:uLnTx/>
                <a:uFillTx/>
                <a:latin typeface="CVS Health Sans"/>
                <a:ea typeface="+mn-ea"/>
                <a:cs typeface="CVS Health Sans"/>
              </a:rPr>
              <a:t>Josie Brucker</a:t>
            </a:r>
          </a:p>
        </p:txBody>
      </p:sp>
      <p:sp>
        <p:nvSpPr>
          <p:cNvPr id="37" name="object 37">
            <a:extLst>
              <a:ext uri="{FF2B5EF4-FFF2-40B4-BE49-F238E27FC236}">
                <a16:creationId xmlns:a16="http://schemas.microsoft.com/office/drawing/2014/main" id="{FF04AE27-A65F-2624-661C-04E100C76374}"/>
              </a:ext>
            </a:extLst>
          </p:cNvPr>
          <p:cNvSpPr/>
          <p:nvPr/>
        </p:nvSpPr>
        <p:spPr>
          <a:xfrm>
            <a:off x="8104505" y="2194208"/>
            <a:ext cx="1000125" cy="311150"/>
          </a:xfrm>
          <a:custGeom>
            <a:avLst/>
            <a:gdLst/>
            <a:ahLst/>
            <a:cxnLst/>
            <a:rect l="l" t="t" r="r" b="b"/>
            <a:pathLst>
              <a:path w="1000125" h="311150">
                <a:moveTo>
                  <a:pt x="948181" y="0"/>
                </a:moveTo>
                <a:lnTo>
                  <a:pt x="51816" y="0"/>
                </a:lnTo>
                <a:lnTo>
                  <a:pt x="31611" y="4060"/>
                </a:lnTo>
                <a:lnTo>
                  <a:pt x="15144" y="15144"/>
                </a:lnTo>
                <a:lnTo>
                  <a:pt x="4060" y="31611"/>
                </a:lnTo>
                <a:lnTo>
                  <a:pt x="0" y="51815"/>
                </a:lnTo>
                <a:lnTo>
                  <a:pt x="0" y="259080"/>
                </a:lnTo>
                <a:lnTo>
                  <a:pt x="4060" y="279231"/>
                </a:lnTo>
                <a:lnTo>
                  <a:pt x="15144" y="295703"/>
                </a:lnTo>
                <a:lnTo>
                  <a:pt x="31611" y="306818"/>
                </a:lnTo>
                <a:lnTo>
                  <a:pt x="51816" y="310896"/>
                </a:lnTo>
                <a:lnTo>
                  <a:pt x="948181" y="310896"/>
                </a:lnTo>
                <a:lnTo>
                  <a:pt x="968333" y="306818"/>
                </a:lnTo>
                <a:lnTo>
                  <a:pt x="984805" y="295703"/>
                </a:lnTo>
                <a:lnTo>
                  <a:pt x="995920" y="279231"/>
                </a:lnTo>
                <a:lnTo>
                  <a:pt x="999998" y="259080"/>
                </a:lnTo>
                <a:lnTo>
                  <a:pt x="999998" y="51815"/>
                </a:lnTo>
                <a:lnTo>
                  <a:pt x="995920" y="31611"/>
                </a:lnTo>
                <a:lnTo>
                  <a:pt x="984805" y="15144"/>
                </a:lnTo>
                <a:lnTo>
                  <a:pt x="968333"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38" name="object 38">
            <a:extLst>
              <a:ext uri="{FF2B5EF4-FFF2-40B4-BE49-F238E27FC236}">
                <a16:creationId xmlns:a16="http://schemas.microsoft.com/office/drawing/2014/main" id="{D5C0E9A8-B7DB-B46C-8F52-9033B22BE402}"/>
              </a:ext>
            </a:extLst>
          </p:cNvPr>
          <p:cNvSpPr txBox="1"/>
          <p:nvPr/>
        </p:nvSpPr>
        <p:spPr>
          <a:xfrm>
            <a:off x="8180450" y="2281075"/>
            <a:ext cx="861568"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Manager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39" name="object 39">
            <a:extLst>
              <a:ext uri="{FF2B5EF4-FFF2-40B4-BE49-F238E27FC236}">
                <a16:creationId xmlns:a16="http://schemas.microsoft.com/office/drawing/2014/main" id="{5A1A747F-76D6-CDEE-D282-FFAB28C20216}"/>
              </a:ext>
            </a:extLst>
          </p:cNvPr>
          <p:cNvSpPr/>
          <p:nvPr/>
        </p:nvSpPr>
        <p:spPr>
          <a:xfrm>
            <a:off x="9175368" y="2194208"/>
            <a:ext cx="1000125" cy="311150"/>
          </a:xfrm>
          <a:custGeom>
            <a:avLst/>
            <a:gdLst/>
            <a:ahLst/>
            <a:cxnLst/>
            <a:rect l="l" t="t" r="r" b="b"/>
            <a:pathLst>
              <a:path w="1000125" h="311150">
                <a:moveTo>
                  <a:pt x="948181" y="0"/>
                </a:moveTo>
                <a:lnTo>
                  <a:pt x="51815" y="0"/>
                </a:lnTo>
                <a:lnTo>
                  <a:pt x="31664" y="4060"/>
                </a:lnTo>
                <a:lnTo>
                  <a:pt x="15192" y="15144"/>
                </a:lnTo>
                <a:lnTo>
                  <a:pt x="4077" y="31611"/>
                </a:lnTo>
                <a:lnTo>
                  <a:pt x="0" y="51815"/>
                </a:lnTo>
                <a:lnTo>
                  <a:pt x="0" y="259080"/>
                </a:lnTo>
                <a:lnTo>
                  <a:pt x="4077" y="279231"/>
                </a:lnTo>
                <a:lnTo>
                  <a:pt x="15192" y="295703"/>
                </a:lnTo>
                <a:lnTo>
                  <a:pt x="31664" y="306818"/>
                </a:lnTo>
                <a:lnTo>
                  <a:pt x="51815" y="310896"/>
                </a:lnTo>
                <a:lnTo>
                  <a:pt x="948181" y="310896"/>
                </a:lnTo>
                <a:lnTo>
                  <a:pt x="968386" y="306818"/>
                </a:lnTo>
                <a:lnTo>
                  <a:pt x="984853" y="295703"/>
                </a:lnTo>
                <a:lnTo>
                  <a:pt x="995937" y="279231"/>
                </a:lnTo>
                <a:lnTo>
                  <a:pt x="999998" y="259080"/>
                </a:lnTo>
                <a:lnTo>
                  <a:pt x="999998" y="51815"/>
                </a:lnTo>
                <a:lnTo>
                  <a:pt x="995937" y="31611"/>
                </a:lnTo>
                <a:lnTo>
                  <a:pt x="984853" y="15144"/>
                </a:lnTo>
                <a:lnTo>
                  <a:pt x="968386" y="4060"/>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0" name="object 40">
            <a:extLst>
              <a:ext uri="{FF2B5EF4-FFF2-40B4-BE49-F238E27FC236}">
                <a16:creationId xmlns:a16="http://schemas.microsoft.com/office/drawing/2014/main" id="{C3518D6E-9F77-9AF8-7C33-D35228C16862}"/>
              </a:ext>
            </a:extLst>
          </p:cNvPr>
          <p:cNvSpPr txBox="1"/>
          <p:nvPr/>
        </p:nvSpPr>
        <p:spPr>
          <a:xfrm>
            <a:off x="9292629" y="2281075"/>
            <a:ext cx="779322" cy="135293"/>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OCM</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Analyst</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47" name="object 47">
            <a:extLst>
              <a:ext uri="{FF2B5EF4-FFF2-40B4-BE49-F238E27FC236}">
                <a16:creationId xmlns:a16="http://schemas.microsoft.com/office/drawing/2014/main" id="{46DC4859-92D6-8C43-7361-622121FB5491}"/>
              </a:ext>
            </a:extLst>
          </p:cNvPr>
          <p:cNvSpPr txBox="1"/>
          <p:nvPr/>
        </p:nvSpPr>
        <p:spPr>
          <a:xfrm>
            <a:off x="3206623" y="3355305"/>
            <a:ext cx="1019175" cy="1854200"/>
          </a:xfrm>
          <a:prstGeom prst="rect">
            <a:avLst/>
          </a:prstGeom>
        </p:spPr>
        <p:txBody>
          <a:bodyPr vert="horz" wrap="square" lIns="0" tIns="12065" rIns="0" bIns="0" rtlCol="0">
            <a:spAutoFit/>
          </a:bodyPr>
          <a:lstStyle/>
          <a:p>
            <a:pPr marL="80645" marR="74295" lvl="0" indent="0" algn="ctr" defTabSz="914400" rtl="0" eaLnBrk="1" fontAlgn="auto" latinLnBrk="0" hangingPunct="1">
              <a:lnSpc>
                <a:spcPct val="100000"/>
              </a:lnSpc>
              <a:spcBef>
                <a:spcPts val="95"/>
              </a:spcBef>
              <a:spcAft>
                <a:spcPts val="0"/>
              </a:spcAft>
              <a:buClrTx/>
              <a:buSzTx/>
              <a:buFontTx/>
              <a:buNone/>
              <a:tabLst/>
              <a:defRPr/>
            </a:pPr>
            <a:r>
              <a:rPr kumimoji="0" sz="1000" b="0" i="0" u="none" strike="noStrike" kern="0" cap="none" spc="-10" normalizeH="0" baseline="0" noProof="0">
                <a:ln>
                  <a:noFill/>
                </a:ln>
                <a:solidFill>
                  <a:srgbClr val="3F3F3F"/>
                </a:solidFill>
                <a:effectLst/>
                <a:uLnTx/>
                <a:uFillTx/>
                <a:latin typeface="CVS Health Sans"/>
                <a:ea typeface="+mn-ea"/>
                <a:cs typeface="CVS Health Sans"/>
              </a:rPr>
              <a:t>Architecture assessment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pilot outcomes </a:t>
            </a:r>
            <a:r>
              <a:rPr kumimoji="0" sz="1000" b="0" i="0" u="none" strike="noStrike" kern="0" cap="none" spc="0" normalizeH="0" baseline="0" noProof="0">
                <a:ln>
                  <a:noFill/>
                </a:ln>
                <a:solidFill>
                  <a:srgbClr val="3F3F3F"/>
                </a:solidFill>
                <a:effectLst/>
                <a:uLnTx/>
                <a:uFillTx/>
                <a:latin typeface="CVS Health Sans"/>
                <a:ea typeface="+mn-ea"/>
                <a:cs typeface="CVS Health Sans"/>
              </a:rPr>
              <a:t>provide</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the </a:t>
            </a:r>
            <a:r>
              <a:rPr kumimoji="0" sz="1000" b="0" i="0" u="none" strike="noStrike" kern="0" cap="none" spc="0" normalizeH="0" baseline="0" noProof="0">
                <a:ln>
                  <a:noFill/>
                </a:ln>
                <a:solidFill>
                  <a:srgbClr val="3F3F3F"/>
                </a:solidFill>
                <a:effectLst/>
                <a:uLnTx/>
                <a:uFillTx/>
                <a:latin typeface="CVS Health Sans"/>
                <a:ea typeface="+mn-ea"/>
                <a:cs typeface="CVS Health Sans"/>
              </a:rPr>
              <a:t>foundation</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for </a:t>
            </a:r>
            <a:r>
              <a:rPr kumimoji="0" sz="1000" b="0" i="0" u="none" strike="noStrike" kern="0" cap="none" spc="-10" normalizeH="0" baseline="0" noProof="0">
                <a:ln>
                  <a:noFill/>
                </a:ln>
                <a:solidFill>
                  <a:srgbClr val="3F3F3F"/>
                </a:solidFill>
                <a:effectLst/>
                <a:uLnTx/>
                <a:uFillTx/>
                <a:latin typeface="CVS Health Sans"/>
                <a:ea typeface="+mn-ea"/>
                <a:cs typeface="CVS Health Sans"/>
              </a:rPr>
              <a:t>source rationalization, pipeline</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enablement,</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25" normalizeH="0" baseline="0" noProof="0">
                <a:ln>
                  <a:noFill/>
                </a:ln>
                <a:solidFill>
                  <a:srgbClr val="3F3F3F"/>
                </a:solidFill>
                <a:effectLst/>
                <a:uLnTx/>
                <a:uFillTx/>
                <a:latin typeface="CVS Health Sans"/>
                <a:ea typeface="+mn-ea"/>
                <a:cs typeface="CVS Health Sans"/>
              </a:rPr>
              <a:t>and </a:t>
            </a:r>
            <a:r>
              <a:rPr kumimoji="0" sz="1000" b="0" i="0" u="none" strike="noStrike" kern="0" cap="none" spc="-10" normalizeH="0" baseline="0" noProof="0">
                <a:ln>
                  <a:noFill/>
                </a:ln>
                <a:solidFill>
                  <a:srgbClr val="3F3F3F"/>
                </a:solidFill>
                <a:effectLst/>
                <a:uLnTx/>
                <a:uFillTx/>
                <a:latin typeface="CVS Health Sans"/>
                <a:ea typeface="+mn-ea"/>
                <a:cs typeface="CVS Health Sans"/>
              </a:rPr>
              <a:t>analytics modernization.</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49" name="object 49">
            <a:extLst>
              <a:ext uri="{FF2B5EF4-FFF2-40B4-BE49-F238E27FC236}">
                <a16:creationId xmlns:a16="http://schemas.microsoft.com/office/drawing/2014/main" id="{932A21A3-6BDB-6829-4719-A0613E91633A}"/>
              </a:ext>
            </a:extLst>
          </p:cNvPr>
          <p:cNvSpPr txBox="1"/>
          <p:nvPr/>
        </p:nvSpPr>
        <p:spPr>
          <a:xfrm>
            <a:off x="988263" y="5747896"/>
            <a:ext cx="5184140" cy="339725"/>
          </a:xfrm>
          <a:prstGeom prst="rect">
            <a:avLst/>
          </a:prstGeom>
        </p:spPr>
        <p:txBody>
          <a:bodyPr vert="horz" wrap="square" lIns="0" tIns="13335" rIns="0" bIns="0" rtlCol="0">
            <a:spAutoFit/>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sz="1050" b="1" i="0" u="none" strike="noStrike" kern="0" cap="none" spc="0" normalizeH="0" baseline="0" noProof="0">
                <a:ln>
                  <a:noFill/>
                </a:ln>
                <a:solidFill>
                  <a:srgbClr val="0A4B8C"/>
                </a:solidFill>
                <a:effectLst/>
                <a:uLnTx/>
                <a:uFillTx/>
                <a:latin typeface="CVS Health Sans"/>
                <a:ea typeface="+mn-ea"/>
                <a:cs typeface="CVS Health Sans"/>
              </a:rPr>
              <a:t>F: Hypercare</a:t>
            </a:r>
            <a:r>
              <a:rPr kumimoji="0" sz="1050" b="1" i="0" u="none" strike="noStrike" kern="0" cap="none" spc="-10" normalizeH="0" baseline="0" noProof="0">
                <a:ln>
                  <a:noFill/>
                </a:ln>
                <a:solidFill>
                  <a:srgbClr val="0A4B8C"/>
                </a:solidFill>
                <a:effectLst/>
                <a:uLnTx/>
                <a:uFillTx/>
                <a:latin typeface="CVS Health Sans"/>
                <a:ea typeface="+mn-ea"/>
                <a:cs typeface="CVS Health Sans"/>
              </a:rPr>
              <a:t> </a:t>
            </a:r>
            <a:r>
              <a:rPr kumimoji="0" sz="1050" b="1" i="0" u="none" strike="noStrike" kern="0" cap="none" spc="0" normalizeH="0" baseline="0" noProof="0">
                <a:ln>
                  <a:noFill/>
                </a:ln>
                <a:solidFill>
                  <a:srgbClr val="0A4B8C"/>
                </a:solidFill>
                <a:effectLst/>
                <a:uLnTx/>
                <a:uFillTx/>
                <a:latin typeface="CVS Health Sans"/>
                <a:ea typeface="+mn-ea"/>
                <a:cs typeface="CVS Health Sans"/>
              </a:rPr>
              <a:t>|</a:t>
            </a:r>
            <a:r>
              <a:rPr kumimoji="0" sz="1050" b="1" i="0" u="none" strike="noStrike" kern="0" cap="none" spc="-20" normalizeH="0" baseline="0" noProof="0">
                <a:ln>
                  <a:noFill/>
                </a:ln>
                <a:solidFill>
                  <a:srgbClr val="0A4B8C"/>
                </a:solidFill>
                <a:effectLst/>
                <a:uLnTx/>
                <a:uFillTx/>
                <a:latin typeface="CVS Health Sans"/>
                <a:ea typeface="+mn-ea"/>
                <a:cs typeface="CVS Health Sans"/>
              </a:rPr>
              <a:t> </a:t>
            </a:r>
            <a:r>
              <a:rPr kumimoji="0" lang="en-US" sz="1000" b="0" i="0" u="none" strike="noStrike" kern="0" cap="none" spc="-10" normalizeH="0" baseline="0" noProof="0">
                <a:ln>
                  <a:noFill/>
                </a:ln>
                <a:solidFill>
                  <a:srgbClr val="0A4B8C"/>
                </a:solidFill>
                <a:effectLst/>
                <a:uLnTx/>
                <a:uFillTx/>
                <a:latin typeface="CVS Health Sans"/>
                <a:ea typeface="+mn-ea"/>
                <a:cs typeface="CVS Health Sans"/>
              </a:rPr>
              <a:t>Jul ’27 - Aug ’27</a:t>
            </a:r>
            <a:endParaRPr kumimoji="0" sz="1000" b="0" i="0" u="none" strike="noStrike" kern="0" cap="none" spc="0" normalizeH="0" baseline="0" noProof="0">
              <a:ln>
                <a:noFill/>
              </a:ln>
              <a:solidFill>
                <a:srgbClr val="0A4B8C"/>
              </a:solidFill>
              <a:effectLst/>
              <a:uLnTx/>
              <a:uFillTx/>
              <a:latin typeface="CVS Health Sans"/>
              <a:ea typeface="+mn-ea"/>
              <a:cs typeface="CVS Health Sans"/>
            </a:endParaRPr>
          </a:p>
          <a:p>
            <a:pPr marL="12700" marR="0" lvl="0" indent="0" algn="l" defTabSz="914400" rtl="0" eaLnBrk="1" fontAlgn="auto" latinLnBrk="0" hangingPunct="1">
              <a:lnSpc>
                <a:spcPct val="100000"/>
              </a:lnSpc>
              <a:spcBef>
                <a:spcPts val="5"/>
              </a:spcBef>
              <a:spcAft>
                <a:spcPts val="0"/>
              </a:spcAft>
              <a:buClrTx/>
              <a:buSzTx/>
              <a:buFontTx/>
              <a:buNone/>
              <a:tabLst/>
              <a:defRPr/>
            </a:pPr>
            <a:r>
              <a:rPr kumimoji="0" sz="1000" b="0" i="0" u="none" strike="noStrike" kern="0" cap="none" spc="0" normalizeH="0" baseline="0" noProof="0">
                <a:ln>
                  <a:noFill/>
                </a:ln>
                <a:solidFill>
                  <a:srgbClr val="3F3F3F"/>
                </a:solidFill>
                <a:effectLst/>
                <a:uLnTx/>
                <a:uFillTx/>
                <a:latin typeface="CVS Health Sans"/>
                <a:ea typeface="+mn-ea"/>
                <a:cs typeface="CVS Health Sans"/>
              </a:rPr>
              <a:t>Provides</a:t>
            </a:r>
            <a:r>
              <a:rPr kumimoji="0" sz="1000" b="0" i="0" u="none" strike="noStrike" kern="0" cap="none" spc="-1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post-</a:t>
            </a:r>
            <a:r>
              <a:rPr kumimoji="0" sz="1000" b="0" i="0" u="none" strike="noStrike" kern="0" cap="none" spc="0" normalizeH="0" baseline="0" noProof="0">
                <a:ln>
                  <a:noFill/>
                </a:ln>
                <a:solidFill>
                  <a:srgbClr val="3F3F3F"/>
                </a:solidFill>
                <a:effectLst/>
                <a:uLnTx/>
                <a:uFillTx/>
                <a:latin typeface="CVS Health Sans"/>
                <a:ea typeface="+mn-ea"/>
                <a:cs typeface="CVS Health Sans"/>
              </a:rPr>
              <a:t>deployment</a:t>
            </a:r>
            <a:r>
              <a:rPr kumimoji="0" sz="1000" b="0" i="0" u="none" strike="noStrike" kern="0" cap="none" spc="-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support</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to</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stabilize</a:t>
            </a:r>
            <a:r>
              <a:rPr kumimoji="0" sz="1000" b="0" i="0" u="none" strike="noStrike" kern="0" cap="none" spc="-3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operations</a:t>
            </a:r>
            <a:r>
              <a:rPr kumimoji="0" sz="1000" b="0" i="0" u="none" strike="noStrike" kern="0" cap="none" spc="-1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and</a:t>
            </a:r>
            <a:r>
              <a:rPr kumimoji="0" sz="1000" b="0" i="0" u="none" strike="noStrike" kern="0" cap="none" spc="-45"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accelerate</a:t>
            </a:r>
            <a:r>
              <a:rPr kumimoji="0" sz="1000" b="0" i="0" u="none" strike="noStrike" kern="0" cap="none" spc="-20" normalizeH="0" baseline="0" noProof="0">
                <a:ln>
                  <a:noFill/>
                </a:ln>
                <a:solidFill>
                  <a:srgbClr val="3F3F3F"/>
                </a:solidFill>
                <a:effectLst/>
                <a:uLnTx/>
                <a:uFillTx/>
                <a:latin typeface="CVS Health Sans"/>
                <a:ea typeface="+mn-ea"/>
                <a:cs typeface="CVS Health Sans"/>
              </a:rPr>
              <a:t> </a:t>
            </a:r>
            <a:r>
              <a:rPr kumimoji="0" sz="1000" b="0" i="0" u="none" strike="noStrike" kern="0" cap="none" spc="0" normalizeH="0" baseline="0" noProof="0">
                <a:ln>
                  <a:noFill/>
                </a:ln>
                <a:solidFill>
                  <a:srgbClr val="3F3F3F"/>
                </a:solidFill>
                <a:effectLst/>
                <a:uLnTx/>
                <a:uFillTx/>
                <a:latin typeface="CVS Health Sans"/>
                <a:ea typeface="+mn-ea"/>
                <a:cs typeface="CVS Health Sans"/>
              </a:rPr>
              <a:t>user</a:t>
            </a:r>
            <a:r>
              <a:rPr kumimoji="0" sz="1000" b="0" i="0" u="none" strike="noStrike" kern="0" cap="none" spc="-25" normalizeH="0" baseline="0" noProof="0">
                <a:ln>
                  <a:noFill/>
                </a:ln>
                <a:solidFill>
                  <a:srgbClr val="3F3F3F"/>
                </a:solidFill>
                <a:effectLst/>
                <a:uLnTx/>
                <a:uFillTx/>
                <a:latin typeface="CVS Health Sans"/>
                <a:ea typeface="+mn-ea"/>
                <a:cs typeface="CVS Health Sans"/>
              </a:rPr>
              <a:t> </a:t>
            </a:r>
            <a:r>
              <a:rPr kumimoji="0" sz="1000" b="0" i="0" u="none" strike="noStrike" kern="0" cap="none" spc="-10" normalizeH="0" baseline="0" noProof="0">
                <a:ln>
                  <a:noFill/>
                </a:ln>
                <a:solidFill>
                  <a:srgbClr val="3F3F3F"/>
                </a:solidFill>
                <a:effectLst/>
                <a:uLnTx/>
                <a:uFillTx/>
                <a:latin typeface="CVS Health Sans"/>
                <a:ea typeface="+mn-ea"/>
                <a:cs typeface="CVS Health Sans"/>
              </a:rPr>
              <a:t>adoption.</a:t>
            </a:r>
            <a:endParaRPr kumimoji="0" sz="10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48" name="object 48">
            <a:extLst>
              <a:ext uri="{FF2B5EF4-FFF2-40B4-BE49-F238E27FC236}">
                <a16:creationId xmlns:a16="http://schemas.microsoft.com/office/drawing/2014/main" id="{014012ED-55C7-FD6E-843E-B4DBB1280B01}"/>
              </a:ext>
            </a:extLst>
          </p:cNvPr>
          <p:cNvSpPr/>
          <p:nvPr/>
        </p:nvSpPr>
        <p:spPr>
          <a:xfrm>
            <a:off x="531406" y="5683914"/>
            <a:ext cx="9748520" cy="471170"/>
          </a:xfrm>
          <a:prstGeom prst="roundRect">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269" name="Group 268">
            <a:extLst>
              <a:ext uri="{FF2B5EF4-FFF2-40B4-BE49-F238E27FC236}">
                <a16:creationId xmlns:a16="http://schemas.microsoft.com/office/drawing/2014/main" id="{922123B9-C586-A60F-632A-6980DD8F098C}"/>
              </a:ext>
            </a:extLst>
          </p:cNvPr>
          <p:cNvGrpSpPr/>
          <p:nvPr/>
        </p:nvGrpSpPr>
        <p:grpSpPr>
          <a:xfrm>
            <a:off x="7963627" y="5762183"/>
            <a:ext cx="2247711" cy="311150"/>
            <a:chOff x="8003857" y="5771264"/>
            <a:chExt cx="2071941" cy="311150"/>
          </a:xfrm>
        </p:grpSpPr>
        <p:grpSp>
          <p:nvGrpSpPr>
            <p:cNvPr id="267" name="Group 266">
              <a:extLst>
                <a:ext uri="{FF2B5EF4-FFF2-40B4-BE49-F238E27FC236}">
                  <a16:creationId xmlns:a16="http://schemas.microsoft.com/office/drawing/2014/main" id="{1D137A70-9F7D-46CB-79BC-B4ACCFD0A668}"/>
                </a:ext>
              </a:extLst>
            </p:cNvPr>
            <p:cNvGrpSpPr/>
            <p:nvPr/>
          </p:nvGrpSpPr>
          <p:grpSpPr>
            <a:xfrm>
              <a:off x="8003857" y="5771264"/>
              <a:ext cx="1000125" cy="311150"/>
              <a:chOff x="8003857" y="5771264"/>
              <a:chExt cx="1000125" cy="311150"/>
            </a:xfrm>
          </p:grpSpPr>
          <p:sp>
            <p:nvSpPr>
              <p:cNvPr id="50" name="object 50">
                <a:extLst>
                  <a:ext uri="{FF2B5EF4-FFF2-40B4-BE49-F238E27FC236}">
                    <a16:creationId xmlns:a16="http://schemas.microsoft.com/office/drawing/2014/main" id="{833D531C-097F-4569-F386-8D74CC195208}"/>
                  </a:ext>
                </a:extLst>
              </p:cNvPr>
              <p:cNvSpPr/>
              <p:nvPr/>
            </p:nvSpPr>
            <p:spPr>
              <a:xfrm>
                <a:off x="8003857" y="5771264"/>
                <a:ext cx="1000125" cy="311150"/>
              </a:xfrm>
              <a:custGeom>
                <a:avLst/>
                <a:gdLst/>
                <a:ahLst/>
                <a:cxnLst/>
                <a:rect l="l" t="t" r="r" b="b"/>
                <a:pathLst>
                  <a:path w="1000125" h="311150">
                    <a:moveTo>
                      <a:pt x="948181" y="0"/>
                    </a:moveTo>
                    <a:lnTo>
                      <a:pt x="51816" y="0"/>
                    </a:lnTo>
                    <a:lnTo>
                      <a:pt x="31664" y="4072"/>
                    </a:lnTo>
                    <a:lnTo>
                      <a:pt x="15192" y="15179"/>
                    </a:lnTo>
                    <a:lnTo>
                      <a:pt x="4077" y="31653"/>
                    </a:lnTo>
                    <a:lnTo>
                      <a:pt x="0" y="51828"/>
                    </a:lnTo>
                    <a:lnTo>
                      <a:pt x="0" y="259130"/>
                    </a:lnTo>
                    <a:lnTo>
                      <a:pt x="4077" y="279305"/>
                    </a:lnTo>
                    <a:lnTo>
                      <a:pt x="15192" y="295779"/>
                    </a:lnTo>
                    <a:lnTo>
                      <a:pt x="31664" y="306886"/>
                    </a:lnTo>
                    <a:lnTo>
                      <a:pt x="51816" y="310959"/>
                    </a:lnTo>
                    <a:lnTo>
                      <a:pt x="948181" y="310959"/>
                    </a:lnTo>
                    <a:lnTo>
                      <a:pt x="968406" y="306886"/>
                    </a:lnTo>
                    <a:lnTo>
                      <a:pt x="984916" y="295779"/>
                    </a:lnTo>
                    <a:lnTo>
                      <a:pt x="996045" y="279305"/>
                    </a:lnTo>
                    <a:lnTo>
                      <a:pt x="1000125" y="259130"/>
                    </a:lnTo>
                    <a:lnTo>
                      <a:pt x="1000125" y="51828"/>
                    </a:lnTo>
                    <a:lnTo>
                      <a:pt x="996045" y="31653"/>
                    </a:lnTo>
                    <a:lnTo>
                      <a:pt x="984916" y="15179"/>
                    </a:lnTo>
                    <a:lnTo>
                      <a:pt x="968406" y="4072"/>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1" name="object 51">
                <a:extLst>
                  <a:ext uri="{FF2B5EF4-FFF2-40B4-BE49-F238E27FC236}">
                    <a16:creationId xmlns:a16="http://schemas.microsoft.com/office/drawing/2014/main" id="{A09C3FD8-805B-8C59-7A43-B5CAEDBE76EF}"/>
                  </a:ext>
                </a:extLst>
              </p:cNvPr>
              <p:cNvSpPr txBox="1"/>
              <p:nvPr/>
            </p:nvSpPr>
            <p:spPr>
              <a:xfrm>
                <a:off x="8003857" y="5859193"/>
                <a:ext cx="1000124"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3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Lead</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10" normalizeH="0" baseline="0" noProof="0">
                    <a:ln>
                      <a:noFill/>
                    </a:ln>
                    <a:solidFill>
                      <a:srgbClr val="FFFFFF"/>
                    </a:solidFill>
                    <a:effectLst/>
                    <a:uLnTx/>
                    <a:uFillTx/>
                    <a:latin typeface="CVS Health Sans"/>
                    <a:ea typeface="+mn-ea"/>
                    <a:cs typeface="CVS Health Sans"/>
                  </a:rPr>
                  <a:t> Engineer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8" name="Group 267">
              <a:extLst>
                <a:ext uri="{FF2B5EF4-FFF2-40B4-BE49-F238E27FC236}">
                  <a16:creationId xmlns:a16="http://schemas.microsoft.com/office/drawing/2014/main" id="{B1449779-E8C3-5E28-30A5-83DDF8F4FEB6}"/>
                </a:ext>
              </a:extLst>
            </p:cNvPr>
            <p:cNvGrpSpPr/>
            <p:nvPr/>
          </p:nvGrpSpPr>
          <p:grpSpPr>
            <a:xfrm>
              <a:off x="9075673" y="5771264"/>
              <a:ext cx="1000125" cy="311150"/>
              <a:chOff x="9075673" y="5771264"/>
              <a:chExt cx="1000125" cy="311150"/>
            </a:xfrm>
          </p:grpSpPr>
          <p:sp>
            <p:nvSpPr>
              <p:cNvPr id="52" name="object 52">
                <a:extLst>
                  <a:ext uri="{FF2B5EF4-FFF2-40B4-BE49-F238E27FC236}">
                    <a16:creationId xmlns:a16="http://schemas.microsoft.com/office/drawing/2014/main" id="{83CC1376-F071-24DE-0F7D-F2474DF58AFF}"/>
                  </a:ext>
                </a:extLst>
              </p:cNvPr>
              <p:cNvSpPr/>
              <p:nvPr/>
            </p:nvSpPr>
            <p:spPr>
              <a:xfrm>
                <a:off x="9075673" y="5771264"/>
                <a:ext cx="1000125" cy="311150"/>
              </a:xfrm>
              <a:custGeom>
                <a:avLst/>
                <a:gdLst/>
                <a:ahLst/>
                <a:cxnLst/>
                <a:rect l="l" t="t" r="r" b="b"/>
                <a:pathLst>
                  <a:path w="1000125" h="311150">
                    <a:moveTo>
                      <a:pt x="948181" y="0"/>
                    </a:moveTo>
                    <a:lnTo>
                      <a:pt x="51816" y="0"/>
                    </a:lnTo>
                    <a:lnTo>
                      <a:pt x="31664" y="4072"/>
                    </a:lnTo>
                    <a:lnTo>
                      <a:pt x="15192" y="15179"/>
                    </a:lnTo>
                    <a:lnTo>
                      <a:pt x="4077" y="31653"/>
                    </a:lnTo>
                    <a:lnTo>
                      <a:pt x="0" y="51828"/>
                    </a:lnTo>
                    <a:lnTo>
                      <a:pt x="0" y="259130"/>
                    </a:lnTo>
                    <a:lnTo>
                      <a:pt x="4077" y="279305"/>
                    </a:lnTo>
                    <a:lnTo>
                      <a:pt x="15192" y="295779"/>
                    </a:lnTo>
                    <a:lnTo>
                      <a:pt x="31664" y="306886"/>
                    </a:lnTo>
                    <a:lnTo>
                      <a:pt x="51816" y="310959"/>
                    </a:lnTo>
                    <a:lnTo>
                      <a:pt x="948181" y="310959"/>
                    </a:lnTo>
                    <a:lnTo>
                      <a:pt x="968406" y="306886"/>
                    </a:lnTo>
                    <a:lnTo>
                      <a:pt x="984916" y="295779"/>
                    </a:lnTo>
                    <a:lnTo>
                      <a:pt x="996045" y="279305"/>
                    </a:lnTo>
                    <a:lnTo>
                      <a:pt x="1000125" y="259130"/>
                    </a:lnTo>
                    <a:lnTo>
                      <a:pt x="1000125" y="51828"/>
                    </a:lnTo>
                    <a:lnTo>
                      <a:pt x="996045" y="31653"/>
                    </a:lnTo>
                    <a:lnTo>
                      <a:pt x="984916" y="15179"/>
                    </a:lnTo>
                    <a:lnTo>
                      <a:pt x="968406" y="4072"/>
                    </a:lnTo>
                    <a:lnTo>
                      <a:pt x="948181"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3" name="object 53">
                <a:extLst>
                  <a:ext uri="{FF2B5EF4-FFF2-40B4-BE49-F238E27FC236}">
                    <a16:creationId xmlns:a16="http://schemas.microsoft.com/office/drawing/2014/main" id="{70498509-CD26-2CA2-FDE9-2B63507E38A0}"/>
                  </a:ext>
                </a:extLst>
              </p:cNvPr>
              <p:cNvSpPr txBox="1"/>
              <p:nvPr/>
            </p:nvSpPr>
            <p:spPr>
              <a:xfrm>
                <a:off x="9075673" y="5859193"/>
                <a:ext cx="100012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2</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Engineers</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sp>
        <p:nvSpPr>
          <p:cNvPr id="58" name="object 58">
            <a:extLst>
              <a:ext uri="{FF2B5EF4-FFF2-40B4-BE49-F238E27FC236}">
                <a16:creationId xmlns:a16="http://schemas.microsoft.com/office/drawing/2014/main" id="{F248CBC0-91E8-01C0-7959-FD9DB4957702}"/>
              </a:ext>
            </a:extLst>
          </p:cNvPr>
          <p:cNvSpPr/>
          <p:nvPr/>
        </p:nvSpPr>
        <p:spPr>
          <a:xfrm>
            <a:off x="2919476" y="4142388"/>
            <a:ext cx="262890" cy="280035"/>
          </a:xfrm>
          <a:custGeom>
            <a:avLst/>
            <a:gdLst/>
            <a:ahLst/>
            <a:cxnLst/>
            <a:rect l="l" t="t" r="r" b="b"/>
            <a:pathLst>
              <a:path w="262889" h="280035">
                <a:moveTo>
                  <a:pt x="131191" y="0"/>
                </a:moveTo>
                <a:lnTo>
                  <a:pt x="0" y="0"/>
                </a:lnTo>
                <a:lnTo>
                  <a:pt x="131191" y="139827"/>
                </a:lnTo>
                <a:lnTo>
                  <a:pt x="0" y="279654"/>
                </a:lnTo>
                <a:lnTo>
                  <a:pt x="131191" y="279654"/>
                </a:lnTo>
                <a:lnTo>
                  <a:pt x="262381" y="139827"/>
                </a:lnTo>
                <a:lnTo>
                  <a:pt x="131191" y="0"/>
                </a:lnTo>
                <a:close/>
              </a:path>
            </a:pathLst>
          </a:custGeom>
          <a:solidFill>
            <a:srgbClr val="0A4B8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59" name="object 59">
            <a:extLst>
              <a:ext uri="{FF2B5EF4-FFF2-40B4-BE49-F238E27FC236}">
                <a16:creationId xmlns:a16="http://schemas.microsoft.com/office/drawing/2014/main" id="{AE6E7321-181B-C769-1B97-9A0153E1A69D}"/>
              </a:ext>
            </a:extLst>
          </p:cNvPr>
          <p:cNvSpPr/>
          <p:nvPr/>
        </p:nvSpPr>
        <p:spPr>
          <a:xfrm>
            <a:off x="7040498" y="1626518"/>
            <a:ext cx="1000125" cy="311150"/>
          </a:xfrm>
          <a:custGeom>
            <a:avLst/>
            <a:gdLst/>
            <a:ahLst/>
            <a:cxnLst/>
            <a:rect l="l" t="t" r="r" b="b"/>
            <a:pathLst>
              <a:path w="1000125" h="311150">
                <a:moveTo>
                  <a:pt x="948181" y="0"/>
                </a:moveTo>
                <a:lnTo>
                  <a:pt x="51816" y="0"/>
                </a:lnTo>
                <a:lnTo>
                  <a:pt x="31664" y="4077"/>
                </a:lnTo>
                <a:lnTo>
                  <a:pt x="15192" y="15192"/>
                </a:lnTo>
                <a:lnTo>
                  <a:pt x="4077" y="31664"/>
                </a:lnTo>
                <a:lnTo>
                  <a:pt x="0" y="51815"/>
                </a:lnTo>
                <a:lnTo>
                  <a:pt x="0" y="259206"/>
                </a:lnTo>
                <a:lnTo>
                  <a:pt x="4077" y="279358"/>
                </a:lnTo>
                <a:lnTo>
                  <a:pt x="15192" y="295830"/>
                </a:lnTo>
                <a:lnTo>
                  <a:pt x="31664" y="306945"/>
                </a:lnTo>
                <a:lnTo>
                  <a:pt x="51816" y="311023"/>
                </a:lnTo>
                <a:lnTo>
                  <a:pt x="948181" y="311023"/>
                </a:lnTo>
                <a:lnTo>
                  <a:pt x="968333" y="306945"/>
                </a:lnTo>
                <a:lnTo>
                  <a:pt x="984805" y="295830"/>
                </a:lnTo>
                <a:lnTo>
                  <a:pt x="995920" y="279358"/>
                </a:lnTo>
                <a:lnTo>
                  <a:pt x="999998" y="259206"/>
                </a:lnTo>
                <a:lnTo>
                  <a:pt x="999998" y="51815"/>
                </a:lnTo>
                <a:lnTo>
                  <a:pt x="995920" y="31664"/>
                </a:lnTo>
                <a:lnTo>
                  <a:pt x="984805" y="15192"/>
                </a:lnTo>
                <a:lnTo>
                  <a:pt x="968333" y="4077"/>
                </a:lnTo>
                <a:lnTo>
                  <a:pt x="948181"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0" name="object 60">
            <a:extLst>
              <a:ext uri="{FF2B5EF4-FFF2-40B4-BE49-F238E27FC236}">
                <a16:creationId xmlns:a16="http://schemas.microsoft.com/office/drawing/2014/main" id="{7F3AC42C-3A8A-8F54-4DB3-4EEA47B920EA}"/>
              </a:ext>
            </a:extLst>
          </p:cNvPr>
          <p:cNvSpPr txBox="1"/>
          <p:nvPr/>
        </p:nvSpPr>
        <p:spPr>
          <a:xfrm>
            <a:off x="7147732" y="1659918"/>
            <a:ext cx="798866"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FFFFFF"/>
                </a:solidFill>
                <a:effectLst/>
                <a:uLnTx/>
                <a:uFillTx/>
                <a:latin typeface="CVS Health Sans"/>
                <a:ea typeface="+mn-ea"/>
                <a:cs typeface="CVS Health Sans"/>
              </a:rPr>
              <a:t>Program</a:t>
            </a:r>
            <a:r>
              <a:rPr kumimoji="0" sz="800" b="1" i="0" u="none" strike="noStrike" kern="0" cap="none" spc="-15" normalizeH="0" baseline="0" noProof="0">
                <a:ln>
                  <a:noFill/>
                </a:ln>
                <a:solidFill>
                  <a:srgbClr val="FFFFFF"/>
                </a:solidFill>
                <a:effectLst/>
                <a:uLnTx/>
                <a:uFillTx/>
                <a:latin typeface="CVS Health Sans"/>
                <a:ea typeface="+mn-ea"/>
                <a:cs typeface="CVS Health Sans"/>
              </a:rPr>
              <a:t> </a:t>
            </a:r>
            <a:r>
              <a:rPr kumimoji="0" sz="800" b="1" i="0" u="none" strike="noStrike" kern="0" cap="none" spc="-20" normalizeH="0" baseline="0" noProof="0">
                <a:ln>
                  <a:noFill/>
                </a:ln>
                <a:solidFill>
                  <a:srgbClr val="FFFFFF"/>
                </a:solidFill>
                <a:effectLst/>
                <a:uLnTx/>
                <a:uFillTx/>
                <a:latin typeface="CVS Health Sans"/>
                <a:ea typeface="+mn-ea"/>
                <a:cs typeface="CVS Health Sans"/>
              </a:rPr>
              <a:t>Lead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4572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Tom</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Haslam</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61" name="object 61">
            <a:extLst>
              <a:ext uri="{FF2B5EF4-FFF2-40B4-BE49-F238E27FC236}">
                <a16:creationId xmlns:a16="http://schemas.microsoft.com/office/drawing/2014/main" id="{020A19C2-DB54-058D-7000-C78A4193C85E}"/>
              </a:ext>
            </a:extLst>
          </p:cNvPr>
          <p:cNvSpPr/>
          <p:nvPr/>
        </p:nvSpPr>
        <p:spPr>
          <a:xfrm>
            <a:off x="10397997" y="3755755"/>
            <a:ext cx="1266825" cy="2398821"/>
          </a:xfrm>
          <a:custGeom>
            <a:avLst/>
            <a:gdLst/>
            <a:ahLst/>
            <a:cxnLst/>
            <a:rect l="l" t="t" r="r" b="b"/>
            <a:pathLst>
              <a:path w="1266825" h="2775585">
                <a:moveTo>
                  <a:pt x="0" y="71627"/>
                </a:moveTo>
                <a:lnTo>
                  <a:pt x="5637" y="43719"/>
                </a:lnTo>
                <a:lnTo>
                  <a:pt x="21002" y="20954"/>
                </a:lnTo>
                <a:lnTo>
                  <a:pt x="43773" y="5619"/>
                </a:lnTo>
                <a:lnTo>
                  <a:pt x="71627" y="0"/>
                </a:lnTo>
                <a:lnTo>
                  <a:pt x="1195070" y="0"/>
                </a:lnTo>
                <a:lnTo>
                  <a:pt x="1222978" y="5619"/>
                </a:lnTo>
                <a:lnTo>
                  <a:pt x="1245743" y="20954"/>
                </a:lnTo>
                <a:lnTo>
                  <a:pt x="1261078" y="43719"/>
                </a:lnTo>
                <a:lnTo>
                  <a:pt x="1266698" y="71627"/>
                </a:lnTo>
                <a:lnTo>
                  <a:pt x="1266698" y="2703931"/>
                </a:lnTo>
                <a:lnTo>
                  <a:pt x="1261078" y="2731820"/>
                </a:lnTo>
                <a:lnTo>
                  <a:pt x="1245743" y="2754591"/>
                </a:lnTo>
                <a:lnTo>
                  <a:pt x="1222978" y="2769943"/>
                </a:lnTo>
                <a:lnTo>
                  <a:pt x="1195070" y="2775572"/>
                </a:lnTo>
                <a:lnTo>
                  <a:pt x="71627" y="2775572"/>
                </a:lnTo>
                <a:lnTo>
                  <a:pt x="43773" y="2769943"/>
                </a:lnTo>
                <a:lnTo>
                  <a:pt x="21002" y="2754591"/>
                </a:lnTo>
                <a:lnTo>
                  <a:pt x="5637" y="2731820"/>
                </a:lnTo>
                <a:lnTo>
                  <a:pt x="0" y="2703931"/>
                </a:lnTo>
                <a:lnTo>
                  <a:pt x="0" y="71627"/>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2" name="object 62">
            <a:extLst>
              <a:ext uri="{FF2B5EF4-FFF2-40B4-BE49-F238E27FC236}">
                <a16:creationId xmlns:a16="http://schemas.microsoft.com/office/drawing/2014/main" id="{70F283DA-D078-E124-8D4D-6D4BD614F3CD}"/>
              </a:ext>
            </a:extLst>
          </p:cNvPr>
          <p:cNvSpPr txBox="1"/>
          <p:nvPr/>
        </p:nvSpPr>
        <p:spPr>
          <a:xfrm>
            <a:off x="10534204" y="3837079"/>
            <a:ext cx="994410" cy="321242"/>
          </a:xfrm>
          <a:prstGeom prst="rect">
            <a:avLst/>
          </a:prstGeom>
        </p:spPr>
        <p:txBody>
          <a:bodyPr vert="horz" wrap="square" lIns="0" tIns="13335" rIns="0" bIns="0" rtlCol="0">
            <a:spAutoFit/>
          </a:bodyPr>
          <a:lstStyle/>
          <a:p>
            <a:pPr marL="245745" marR="5080" lvl="0" indent="-233679" algn="l"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0" normalizeH="0" baseline="0" noProof="0">
                <a:ln>
                  <a:noFill/>
                </a:ln>
                <a:solidFill>
                  <a:srgbClr val="0A305E"/>
                </a:solidFill>
                <a:effectLst/>
                <a:uLnTx/>
                <a:uFillTx/>
                <a:latin typeface="CVS Health Sans"/>
                <a:ea typeface="+mn-ea"/>
                <a:cs typeface="CVS Health Sans"/>
              </a:rPr>
              <a:t>Subject</a:t>
            </a:r>
            <a:r>
              <a:rPr kumimoji="0" sz="1000" b="1" i="0" u="none" strike="noStrike" kern="0" cap="none" spc="-25" normalizeH="0" baseline="0" noProof="0">
                <a:ln>
                  <a:noFill/>
                </a:ln>
                <a:solidFill>
                  <a:srgbClr val="0A305E"/>
                </a:solidFill>
                <a:effectLst/>
                <a:uLnTx/>
                <a:uFillTx/>
                <a:latin typeface="CVS Health Sans"/>
                <a:ea typeface="+mn-ea"/>
                <a:cs typeface="CVS Health Sans"/>
              </a:rPr>
              <a:t> </a:t>
            </a:r>
            <a:r>
              <a:rPr kumimoji="0" sz="1000" b="1" i="0" u="none" strike="noStrike" kern="0" cap="none" spc="-10" normalizeH="0" baseline="0" noProof="0">
                <a:ln>
                  <a:noFill/>
                </a:ln>
                <a:solidFill>
                  <a:srgbClr val="0A305E"/>
                </a:solidFill>
                <a:effectLst/>
                <a:uLnTx/>
                <a:uFillTx/>
                <a:latin typeface="CVS Health Sans"/>
                <a:ea typeface="+mn-ea"/>
                <a:cs typeface="CVS Health Sans"/>
              </a:rPr>
              <a:t>Matter Experts</a:t>
            </a:r>
            <a:endParaRPr kumimoji="0" sz="10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nvGrpSpPr>
          <p:cNvPr id="6" name="Group 5">
            <a:extLst>
              <a:ext uri="{FF2B5EF4-FFF2-40B4-BE49-F238E27FC236}">
                <a16:creationId xmlns:a16="http://schemas.microsoft.com/office/drawing/2014/main" id="{1017660E-16E6-474F-B68A-2EA141D0266B}"/>
              </a:ext>
            </a:extLst>
          </p:cNvPr>
          <p:cNvGrpSpPr/>
          <p:nvPr/>
        </p:nvGrpSpPr>
        <p:grpSpPr>
          <a:xfrm>
            <a:off x="10470893" y="4187853"/>
            <a:ext cx="1121032" cy="311150"/>
            <a:chOff x="10470893" y="3892578"/>
            <a:chExt cx="1121032" cy="311150"/>
          </a:xfrm>
        </p:grpSpPr>
        <p:sp>
          <p:nvSpPr>
            <p:cNvPr id="63" name="object 63">
              <a:extLst>
                <a:ext uri="{FF2B5EF4-FFF2-40B4-BE49-F238E27FC236}">
                  <a16:creationId xmlns:a16="http://schemas.microsoft.com/office/drawing/2014/main" id="{49F8CFA5-16E3-49C0-4F63-61131659A800}"/>
                </a:ext>
              </a:extLst>
            </p:cNvPr>
            <p:cNvSpPr/>
            <p:nvPr/>
          </p:nvSpPr>
          <p:spPr>
            <a:xfrm>
              <a:off x="10470893" y="3892578"/>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4" name="object 64">
              <a:extLst>
                <a:ext uri="{FF2B5EF4-FFF2-40B4-BE49-F238E27FC236}">
                  <a16:creationId xmlns:a16="http://schemas.microsoft.com/office/drawing/2014/main" id="{1E3E9B57-3F1C-90A2-8AAC-170865E0D3CB}"/>
                </a:ext>
              </a:extLst>
            </p:cNvPr>
            <p:cNvSpPr txBox="1"/>
            <p:nvPr/>
          </p:nvSpPr>
          <p:spPr>
            <a:xfrm>
              <a:off x="10513028" y="3926360"/>
              <a:ext cx="1038416"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Architecture</a:t>
              </a:r>
              <a:r>
                <a:rPr kumimoji="0" sz="800" b="1" i="0" u="none" strike="noStrike" kern="0" cap="none" spc="7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Niels</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Hanson</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5" name="Group 4">
            <a:extLst>
              <a:ext uri="{FF2B5EF4-FFF2-40B4-BE49-F238E27FC236}">
                <a16:creationId xmlns:a16="http://schemas.microsoft.com/office/drawing/2014/main" id="{54196C8C-DD22-E37C-E0C8-3D6EB31F6538}"/>
              </a:ext>
            </a:extLst>
          </p:cNvPr>
          <p:cNvGrpSpPr/>
          <p:nvPr/>
        </p:nvGrpSpPr>
        <p:grpSpPr>
          <a:xfrm>
            <a:off x="10470893" y="4581080"/>
            <a:ext cx="1121032" cy="311150"/>
            <a:chOff x="10470893" y="4359558"/>
            <a:chExt cx="1121032" cy="311150"/>
          </a:xfrm>
        </p:grpSpPr>
        <p:sp>
          <p:nvSpPr>
            <p:cNvPr id="65" name="object 65">
              <a:extLst>
                <a:ext uri="{FF2B5EF4-FFF2-40B4-BE49-F238E27FC236}">
                  <a16:creationId xmlns:a16="http://schemas.microsoft.com/office/drawing/2014/main" id="{BA2820BF-F2CA-7898-5652-57CDDA710C98}"/>
                </a:ext>
              </a:extLst>
            </p:cNvPr>
            <p:cNvSpPr/>
            <p:nvPr/>
          </p:nvSpPr>
          <p:spPr>
            <a:xfrm>
              <a:off x="10470893" y="4359558"/>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6" name="object 66">
              <a:extLst>
                <a:ext uri="{FF2B5EF4-FFF2-40B4-BE49-F238E27FC236}">
                  <a16:creationId xmlns:a16="http://schemas.microsoft.com/office/drawing/2014/main" id="{0104EEE2-FE05-AEB6-E3C0-53198E3923F9}"/>
                </a:ext>
              </a:extLst>
            </p:cNvPr>
            <p:cNvSpPr txBox="1"/>
            <p:nvPr/>
          </p:nvSpPr>
          <p:spPr>
            <a:xfrm>
              <a:off x="10513028" y="4393721"/>
              <a:ext cx="1038416"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Architecture</a:t>
              </a:r>
              <a:r>
                <a:rPr kumimoji="0" sz="800" b="1" i="0" u="none" strike="noStrike" kern="0" cap="none" spc="7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32384"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Deepak</a:t>
              </a:r>
              <a:r>
                <a:rPr kumimoji="0" sz="800" b="0" i="0" u="none" strike="noStrike" kern="0" cap="none" spc="-30"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Benjamin</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4" name="Group 3">
            <a:extLst>
              <a:ext uri="{FF2B5EF4-FFF2-40B4-BE49-F238E27FC236}">
                <a16:creationId xmlns:a16="http://schemas.microsoft.com/office/drawing/2014/main" id="{DA44A20A-A8E3-1A83-1E26-0D1751321ED7}"/>
              </a:ext>
            </a:extLst>
          </p:cNvPr>
          <p:cNvGrpSpPr/>
          <p:nvPr/>
        </p:nvGrpSpPr>
        <p:grpSpPr>
          <a:xfrm>
            <a:off x="10470893" y="4974307"/>
            <a:ext cx="1121032" cy="311150"/>
            <a:chOff x="10470893" y="4826664"/>
            <a:chExt cx="1121032" cy="311150"/>
          </a:xfrm>
        </p:grpSpPr>
        <p:sp>
          <p:nvSpPr>
            <p:cNvPr id="67" name="object 67">
              <a:extLst>
                <a:ext uri="{FF2B5EF4-FFF2-40B4-BE49-F238E27FC236}">
                  <a16:creationId xmlns:a16="http://schemas.microsoft.com/office/drawing/2014/main" id="{92424406-F6E2-499A-4F68-A6FDDCBD994F}"/>
                </a:ext>
              </a:extLst>
            </p:cNvPr>
            <p:cNvSpPr/>
            <p:nvPr/>
          </p:nvSpPr>
          <p:spPr>
            <a:xfrm>
              <a:off x="10470893" y="4826664"/>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68" name="object 68">
              <a:extLst>
                <a:ext uri="{FF2B5EF4-FFF2-40B4-BE49-F238E27FC236}">
                  <a16:creationId xmlns:a16="http://schemas.microsoft.com/office/drawing/2014/main" id="{1ABED1BE-3518-F3CC-CEC7-19F749499CDB}"/>
                </a:ext>
              </a:extLst>
            </p:cNvPr>
            <p:cNvSpPr txBox="1"/>
            <p:nvPr/>
          </p:nvSpPr>
          <p:spPr>
            <a:xfrm>
              <a:off x="10721794" y="4860572"/>
              <a:ext cx="620374" cy="258404"/>
            </a:xfrm>
            <a:prstGeom prst="rect">
              <a:avLst/>
            </a:prstGeom>
          </p:spPr>
          <p:txBody>
            <a:bodyPr vert="horz" wrap="square" lIns="0" tIns="12065" rIns="0" bIns="0" rtlCol="0">
              <a:spAutoFit/>
            </a:bodyPr>
            <a:lstStyle/>
            <a:p>
              <a:pPr marL="3048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FFFFFF"/>
                  </a:solidFill>
                  <a:effectLst/>
                  <a:uLnTx/>
                  <a:uFillTx/>
                  <a:latin typeface="CVS Health Sans"/>
                  <a:ea typeface="+mn-ea"/>
                  <a:cs typeface="CVS Health Sans"/>
                </a:rPr>
                <a:t>ISTS</a:t>
              </a:r>
              <a:r>
                <a:rPr kumimoji="0" sz="800" b="1" i="0" u="none" strike="noStrike" kern="0" cap="none" spc="-20"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1270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David</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20" normalizeH="0" baseline="0" noProof="0">
                  <a:ln>
                    <a:noFill/>
                  </a:ln>
                  <a:solidFill>
                    <a:srgbClr val="FFFFFF"/>
                  </a:solidFill>
                  <a:effectLst/>
                  <a:uLnTx/>
                  <a:uFillTx/>
                  <a:latin typeface="CVS Health Sans"/>
                  <a:ea typeface="+mn-ea"/>
                  <a:cs typeface="CVS Health Sans"/>
                </a:rPr>
                <a:t>Muir</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 name="Group 1">
            <a:extLst>
              <a:ext uri="{FF2B5EF4-FFF2-40B4-BE49-F238E27FC236}">
                <a16:creationId xmlns:a16="http://schemas.microsoft.com/office/drawing/2014/main" id="{42545424-8FB8-D7C3-FA78-271CD3DD2567}"/>
              </a:ext>
            </a:extLst>
          </p:cNvPr>
          <p:cNvGrpSpPr/>
          <p:nvPr/>
        </p:nvGrpSpPr>
        <p:grpSpPr>
          <a:xfrm>
            <a:off x="10470893" y="5367534"/>
            <a:ext cx="1121032" cy="311150"/>
            <a:chOff x="10470893" y="5293770"/>
            <a:chExt cx="1121032" cy="311150"/>
          </a:xfrm>
        </p:grpSpPr>
        <p:sp>
          <p:nvSpPr>
            <p:cNvPr id="69" name="object 69">
              <a:extLst>
                <a:ext uri="{FF2B5EF4-FFF2-40B4-BE49-F238E27FC236}">
                  <a16:creationId xmlns:a16="http://schemas.microsoft.com/office/drawing/2014/main" id="{79CF8B03-815A-FD5D-35F5-DDA68FFC505C}"/>
                </a:ext>
              </a:extLst>
            </p:cNvPr>
            <p:cNvSpPr/>
            <p:nvPr/>
          </p:nvSpPr>
          <p:spPr>
            <a:xfrm>
              <a:off x="10470893" y="5293770"/>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0" name="object 70">
              <a:extLst>
                <a:ext uri="{FF2B5EF4-FFF2-40B4-BE49-F238E27FC236}">
                  <a16:creationId xmlns:a16="http://schemas.microsoft.com/office/drawing/2014/main" id="{795EAA4F-2AB9-CFEE-2B66-101EF8355463}"/>
                </a:ext>
              </a:extLst>
            </p:cNvPr>
            <p:cNvSpPr txBox="1"/>
            <p:nvPr/>
          </p:nvSpPr>
          <p:spPr>
            <a:xfrm>
              <a:off x="10532363" y="5327933"/>
              <a:ext cx="997840"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FFFFFF"/>
                  </a:solidFill>
                  <a:effectLst/>
                  <a:uLnTx/>
                  <a:uFillTx/>
                  <a:latin typeface="CVS Health Sans"/>
                  <a:ea typeface="+mn-ea"/>
                  <a:cs typeface="CVS Health Sans"/>
                </a:rPr>
                <a:t>Infrastructure</a:t>
              </a:r>
              <a:r>
                <a:rPr kumimoji="0" sz="800" b="1" i="0" u="none" strike="noStrike" kern="0" cap="none" spc="85" normalizeH="0" baseline="0" noProof="0">
                  <a:ln>
                    <a:noFill/>
                  </a:ln>
                  <a:solidFill>
                    <a:srgbClr val="FFFFFF"/>
                  </a:solidFill>
                  <a:effectLst/>
                  <a:uLnTx/>
                  <a:uFillTx/>
                  <a:latin typeface="CVS Health Sans"/>
                  <a:ea typeface="+mn-ea"/>
                  <a:cs typeface="CVS Health Sans"/>
                </a:rPr>
                <a:t>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24765"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Marcus</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Brakewood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3" name="Group 2">
            <a:extLst>
              <a:ext uri="{FF2B5EF4-FFF2-40B4-BE49-F238E27FC236}">
                <a16:creationId xmlns:a16="http://schemas.microsoft.com/office/drawing/2014/main" id="{57E185FB-B131-67F5-17AA-82AA045645DA}"/>
              </a:ext>
            </a:extLst>
          </p:cNvPr>
          <p:cNvGrpSpPr/>
          <p:nvPr/>
        </p:nvGrpSpPr>
        <p:grpSpPr>
          <a:xfrm>
            <a:off x="10470893" y="5760761"/>
            <a:ext cx="1121032" cy="311150"/>
            <a:chOff x="10470893" y="5760761"/>
            <a:chExt cx="1121032" cy="311150"/>
          </a:xfrm>
        </p:grpSpPr>
        <p:sp>
          <p:nvSpPr>
            <p:cNvPr id="71" name="object 71">
              <a:extLst>
                <a:ext uri="{FF2B5EF4-FFF2-40B4-BE49-F238E27FC236}">
                  <a16:creationId xmlns:a16="http://schemas.microsoft.com/office/drawing/2014/main" id="{A092FD29-B66A-1BCA-7660-A10AAB25F1EE}"/>
                </a:ext>
              </a:extLst>
            </p:cNvPr>
            <p:cNvSpPr/>
            <p:nvPr/>
          </p:nvSpPr>
          <p:spPr>
            <a:xfrm>
              <a:off x="10470893" y="5760761"/>
              <a:ext cx="1121032" cy="311150"/>
            </a:xfrm>
            <a:prstGeom prst="roundRect">
              <a:avLst/>
            </a:prstGeom>
            <a:solidFill>
              <a:srgbClr val="2579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2" name="object 72">
              <a:extLst>
                <a:ext uri="{FF2B5EF4-FFF2-40B4-BE49-F238E27FC236}">
                  <a16:creationId xmlns:a16="http://schemas.microsoft.com/office/drawing/2014/main" id="{A9979936-D58C-FB56-C60A-66EEFECF7EA2}"/>
                </a:ext>
              </a:extLst>
            </p:cNvPr>
            <p:cNvSpPr txBox="1"/>
            <p:nvPr/>
          </p:nvSpPr>
          <p:spPr>
            <a:xfrm>
              <a:off x="10532235" y="5794835"/>
              <a:ext cx="997968"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lang="en-US" sz="800" b="1" i="0" u="none" strike="noStrike" kern="0" cap="none" spc="-25" normalizeH="0" baseline="0" noProof="0">
                  <a:ln>
                    <a:noFill/>
                  </a:ln>
                  <a:solidFill>
                    <a:srgbClr val="FFFFFF"/>
                  </a:solidFill>
                  <a:effectLst/>
                  <a:uLnTx/>
                  <a:uFillTx/>
                  <a:latin typeface="CVS Health Sans"/>
                  <a:ea typeface="+mn-ea"/>
                  <a:cs typeface="CVS Health Sans"/>
                </a:rPr>
                <a:t>AI </a:t>
              </a:r>
              <a:r>
                <a:rPr kumimoji="0" sz="800" b="1" i="0" u="none" strike="noStrike" kern="0" cap="none" spc="-25" normalizeH="0" baseline="0" noProof="0">
                  <a:ln>
                    <a:noFill/>
                  </a:ln>
                  <a:solidFill>
                    <a:srgbClr val="FFFFFF"/>
                  </a:solidFill>
                  <a:effectLst/>
                  <a:uLnTx/>
                  <a:uFillTx/>
                  <a:latin typeface="CVS Health Sans"/>
                  <a:ea typeface="+mn-ea"/>
                  <a:cs typeface="CVS Health Sans"/>
                </a:rPr>
                <a:t>SME</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Danish</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Markatia</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97" name="object 97">
            <a:extLst>
              <a:ext uri="{FF2B5EF4-FFF2-40B4-BE49-F238E27FC236}">
                <a16:creationId xmlns:a16="http://schemas.microsoft.com/office/drawing/2014/main" id="{7FFB3542-3FD4-8821-6333-0342340EEAF2}"/>
              </a:ext>
            </a:extLst>
          </p:cNvPr>
          <p:cNvGrpSpPr/>
          <p:nvPr/>
        </p:nvGrpSpPr>
        <p:grpSpPr>
          <a:xfrm>
            <a:off x="601218" y="5786593"/>
            <a:ext cx="313055" cy="255904"/>
            <a:chOff x="601218" y="5637974"/>
            <a:chExt cx="313055" cy="255904"/>
          </a:xfrm>
        </p:grpSpPr>
        <p:pic>
          <p:nvPicPr>
            <p:cNvPr id="98" name="object 98">
              <a:extLst>
                <a:ext uri="{FF2B5EF4-FFF2-40B4-BE49-F238E27FC236}">
                  <a16:creationId xmlns:a16="http://schemas.microsoft.com/office/drawing/2014/main" id="{5D8DB8F2-DF85-816F-0830-E7FA7DB00BDF}"/>
                </a:ext>
              </a:extLst>
            </p:cNvPr>
            <p:cNvPicPr/>
            <p:nvPr/>
          </p:nvPicPr>
          <p:blipFill>
            <a:blip r:embed="rId3" cstate="print"/>
            <a:stretch>
              <a:fillRect/>
            </a:stretch>
          </p:blipFill>
          <p:spPr>
            <a:xfrm>
              <a:off x="641565" y="5637974"/>
              <a:ext cx="217385" cy="191122"/>
            </a:xfrm>
            <a:prstGeom prst="rect">
              <a:avLst/>
            </a:prstGeom>
          </p:spPr>
        </p:pic>
        <p:sp>
          <p:nvSpPr>
            <p:cNvPr id="99" name="object 99">
              <a:extLst>
                <a:ext uri="{FF2B5EF4-FFF2-40B4-BE49-F238E27FC236}">
                  <a16:creationId xmlns:a16="http://schemas.microsoft.com/office/drawing/2014/main" id="{7D88576E-4A60-6ABA-C5C6-04A43AFC511F}"/>
                </a:ext>
              </a:extLst>
            </p:cNvPr>
            <p:cNvSpPr/>
            <p:nvPr/>
          </p:nvSpPr>
          <p:spPr>
            <a:xfrm>
              <a:off x="604393" y="5770295"/>
              <a:ext cx="306705" cy="120650"/>
            </a:xfrm>
            <a:custGeom>
              <a:avLst/>
              <a:gdLst/>
              <a:ahLst/>
              <a:cxnLst/>
              <a:rect l="l" t="t" r="r" b="b"/>
              <a:pathLst>
                <a:path w="306705" h="120650">
                  <a:moveTo>
                    <a:pt x="187070" y="47891"/>
                  </a:moveTo>
                  <a:lnTo>
                    <a:pt x="206146" y="39354"/>
                  </a:lnTo>
                  <a:lnTo>
                    <a:pt x="227857" y="29981"/>
                  </a:lnTo>
                  <a:lnTo>
                    <a:pt x="249568" y="20613"/>
                  </a:lnTo>
                  <a:lnTo>
                    <a:pt x="268643" y="12090"/>
                  </a:lnTo>
                  <a:lnTo>
                    <a:pt x="275209" y="9869"/>
                  </a:lnTo>
                  <a:lnTo>
                    <a:pt x="281730" y="9299"/>
                  </a:lnTo>
                  <a:lnTo>
                    <a:pt x="288156" y="10372"/>
                  </a:lnTo>
                  <a:lnTo>
                    <a:pt x="294436" y="13081"/>
                  </a:lnTo>
                  <a:lnTo>
                    <a:pt x="302374" y="17602"/>
                  </a:lnTo>
                  <a:lnTo>
                    <a:pt x="306158" y="24244"/>
                  </a:lnTo>
                  <a:lnTo>
                    <a:pt x="305562" y="32486"/>
                  </a:lnTo>
                  <a:lnTo>
                    <a:pt x="305015" y="40132"/>
                  </a:lnTo>
                  <a:lnTo>
                    <a:pt x="300469" y="45758"/>
                  </a:lnTo>
                  <a:lnTo>
                    <a:pt x="293179" y="49936"/>
                  </a:lnTo>
                  <a:lnTo>
                    <a:pt x="274490" y="60653"/>
                  </a:lnTo>
                  <a:lnTo>
                    <a:pt x="237151" y="82129"/>
                  </a:lnTo>
                  <a:lnTo>
                    <a:pt x="197177" y="105223"/>
                  </a:lnTo>
                  <a:lnTo>
                    <a:pt x="190093" y="109359"/>
                  </a:lnTo>
                  <a:lnTo>
                    <a:pt x="175521" y="116093"/>
                  </a:lnTo>
                  <a:lnTo>
                    <a:pt x="160378" y="119660"/>
                  </a:lnTo>
                  <a:lnTo>
                    <a:pt x="144716" y="120144"/>
                  </a:lnTo>
                  <a:lnTo>
                    <a:pt x="128587" y="117627"/>
                  </a:lnTo>
                  <a:lnTo>
                    <a:pt x="115074" y="114226"/>
                  </a:lnTo>
                  <a:lnTo>
                    <a:pt x="101615" y="110659"/>
                  </a:lnTo>
                  <a:lnTo>
                    <a:pt x="88200" y="106967"/>
                  </a:lnTo>
                  <a:lnTo>
                    <a:pt x="74815" y="103187"/>
                  </a:lnTo>
                  <a:lnTo>
                    <a:pt x="67524" y="102172"/>
                  </a:lnTo>
                  <a:lnTo>
                    <a:pt x="57586" y="101811"/>
                  </a:lnTo>
                  <a:lnTo>
                    <a:pt x="47646" y="101814"/>
                  </a:lnTo>
                  <a:lnTo>
                    <a:pt x="40347" y="101892"/>
                  </a:lnTo>
                </a:path>
                <a:path w="306705" h="120650">
                  <a:moveTo>
                    <a:pt x="63" y="55600"/>
                  </a:moveTo>
                  <a:lnTo>
                    <a:pt x="69" y="42398"/>
                  </a:lnTo>
                  <a:lnTo>
                    <a:pt x="76" y="29197"/>
                  </a:lnTo>
                  <a:lnTo>
                    <a:pt x="63" y="15995"/>
                  </a:lnTo>
                  <a:lnTo>
                    <a:pt x="12" y="2794"/>
                  </a:lnTo>
                  <a:lnTo>
                    <a:pt x="0" y="711"/>
                  </a:lnTo>
                  <a:lnTo>
                    <a:pt x="419" y="0"/>
                  </a:lnTo>
                  <a:lnTo>
                    <a:pt x="3009" y="88"/>
                  </a:lnTo>
                  <a:lnTo>
                    <a:pt x="8637" y="179"/>
                  </a:lnTo>
                  <a:lnTo>
                    <a:pt x="15749" y="184"/>
                  </a:lnTo>
                  <a:lnTo>
                    <a:pt x="22864" y="160"/>
                  </a:lnTo>
                  <a:lnTo>
                    <a:pt x="28498" y="165"/>
                  </a:lnTo>
                  <a:lnTo>
                    <a:pt x="39862" y="55575"/>
                  </a:lnTo>
                  <a:lnTo>
                    <a:pt x="39859" y="78301"/>
                  </a:lnTo>
                  <a:lnTo>
                    <a:pt x="39852" y="101028"/>
                  </a:lnTo>
                  <a:lnTo>
                    <a:pt x="39852" y="107149"/>
                  </a:lnTo>
                  <a:lnTo>
                    <a:pt x="35483" y="110972"/>
                  </a:lnTo>
                  <a:lnTo>
                    <a:pt x="28536" y="111023"/>
                  </a:lnTo>
                  <a:lnTo>
                    <a:pt x="22818" y="111027"/>
                  </a:lnTo>
                  <a:lnTo>
                    <a:pt x="15622" y="111010"/>
                  </a:lnTo>
                  <a:lnTo>
                    <a:pt x="8429" y="111012"/>
                  </a:lnTo>
                  <a:lnTo>
                    <a:pt x="2717" y="111074"/>
                  </a:lnTo>
                  <a:lnTo>
                    <a:pt x="507" y="111125"/>
                  </a:lnTo>
                  <a:lnTo>
                    <a:pt x="12" y="110553"/>
                  </a:lnTo>
                  <a:lnTo>
                    <a:pt x="25" y="108699"/>
                  </a:lnTo>
                  <a:lnTo>
                    <a:pt x="65" y="95423"/>
                  </a:lnTo>
                  <a:lnTo>
                    <a:pt x="79" y="82149"/>
                  </a:lnTo>
                  <a:lnTo>
                    <a:pt x="78" y="68876"/>
                  </a:lnTo>
                  <a:lnTo>
                    <a:pt x="76" y="55600"/>
                  </a:lnTo>
                  <a:close/>
                </a:path>
              </a:pathLst>
            </a:custGeom>
            <a:ln w="6350">
              <a:solidFill>
                <a:srgbClr val="0A305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107" name="object 107">
            <a:extLst>
              <a:ext uri="{FF2B5EF4-FFF2-40B4-BE49-F238E27FC236}">
                <a16:creationId xmlns:a16="http://schemas.microsoft.com/office/drawing/2014/main" id="{A772088A-0790-BE8B-69FD-224C95F3070F}"/>
              </a:ext>
            </a:extLst>
          </p:cNvPr>
          <p:cNvSpPr txBox="1"/>
          <p:nvPr/>
        </p:nvSpPr>
        <p:spPr>
          <a:xfrm>
            <a:off x="3672850" y="2701415"/>
            <a:ext cx="3466444" cy="150682"/>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900" b="1" i="0" u="none" strike="noStrike" kern="0" cap="none" spc="0" normalizeH="0" baseline="0" noProof="0">
                <a:ln>
                  <a:noFill/>
                </a:ln>
                <a:solidFill>
                  <a:srgbClr val="FFFFFF"/>
                </a:solidFill>
                <a:effectLst/>
                <a:uLnTx/>
                <a:uFillTx/>
                <a:latin typeface="CVS Health Sans"/>
                <a:ea typeface="+mn-ea"/>
                <a:cs typeface="CVS Health Sans"/>
              </a:rPr>
              <a:t>1</a:t>
            </a:r>
            <a:r>
              <a:rPr kumimoji="0" sz="900" b="1" i="0" u="none" strike="noStrike" kern="0" cap="none" spc="-25" normalizeH="0" baseline="0" noProof="0">
                <a:ln>
                  <a:noFill/>
                </a:ln>
                <a:solidFill>
                  <a:srgbClr val="FFFFFF"/>
                </a:solidFill>
                <a:effectLst/>
                <a:uLnTx/>
                <a:uFillTx/>
                <a:latin typeface="CVS Health Sans"/>
                <a:ea typeface="+mn-ea"/>
                <a:cs typeface="CVS Health Sans"/>
              </a:rPr>
              <a:t> </a:t>
            </a:r>
            <a:r>
              <a:rPr kumimoji="0" sz="900" b="1" i="0" u="none" strike="noStrike" kern="0" cap="none" spc="0" normalizeH="0" baseline="0" noProof="0">
                <a:ln>
                  <a:noFill/>
                </a:ln>
                <a:solidFill>
                  <a:srgbClr val="FFFFFF"/>
                </a:solidFill>
                <a:effectLst/>
                <a:uLnTx/>
                <a:uFillTx/>
                <a:latin typeface="CVS Health Sans"/>
                <a:ea typeface="+mn-ea"/>
                <a:cs typeface="CVS Health Sans"/>
              </a:rPr>
              <a:t>Lead</a:t>
            </a:r>
            <a:r>
              <a:rPr kumimoji="0" sz="900" b="1" i="0" u="none" strike="noStrike" kern="0" cap="none" spc="-10" normalizeH="0" baseline="0" noProof="0">
                <a:ln>
                  <a:noFill/>
                </a:ln>
                <a:solidFill>
                  <a:srgbClr val="FFFFFF"/>
                </a:solidFill>
                <a:effectLst/>
                <a:uLnTx/>
                <a:uFillTx/>
                <a:latin typeface="CVS Health Sans"/>
                <a:ea typeface="+mn-ea"/>
                <a:cs typeface="CVS Health Sans"/>
              </a:rPr>
              <a:t> Architect</a:t>
            </a:r>
            <a:r>
              <a:rPr kumimoji="0" lang="en-US" sz="900" b="1" i="0" u="none" strike="noStrike" kern="0" cap="none" spc="-1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Contributes</a:t>
            </a:r>
            <a:r>
              <a:rPr kumimoji="0" sz="800" b="0" i="0" u="none" strike="noStrike" kern="0" cap="none" spc="-1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across </a:t>
            </a:r>
            <a:r>
              <a:rPr kumimoji="0" sz="800" b="0" i="0" u="none" strike="noStrike" kern="0" cap="none" spc="-10" normalizeH="0" baseline="0" noProof="0">
                <a:ln>
                  <a:noFill/>
                </a:ln>
                <a:solidFill>
                  <a:srgbClr val="FFFFFF"/>
                </a:solidFill>
                <a:effectLst/>
                <a:uLnTx/>
                <a:uFillTx/>
                <a:latin typeface="CVS Health Sans"/>
                <a:ea typeface="+mn-ea"/>
                <a:cs typeface="CVS Health Sans"/>
              </a:rPr>
              <a:t>workstreams</a:t>
            </a:r>
            <a:r>
              <a:rPr kumimoji="0" sz="800" b="0" i="0" u="none" strike="noStrike" kern="0" cap="none" spc="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A-</a:t>
            </a:r>
            <a:r>
              <a:rPr kumimoji="0" sz="800" b="0" i="0" u="none" strike="noStrike" kern="0" cap="none" spc="-50" normalizeH="0" baseline="0" noProof="0">
                <a:ln>
                  <a:noFill/>
                </a:ln>
                <a:solidFill>
                  <a:srgbClr val="FFFFFF"/>
                </a:solidFill>
                <a:effectLst/>
                <a:uLnTx/>
                <a:uFillTx/>
                <a:latin typeface="CVS Health Sans"/>
                <a:ea typeface="+mn-ea"/>
                <a:cs typeface="CVS Health Sans"/>
              </a:rPr>
              <a:t>D</a:t>
            </a:r>
            <a:endParaRPr kumimoji="0"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114" name="object 114">
            <a:extLst>
              <a:ext uri="{FF2B5EF4-FFF2-40B4-BE49-F238E27FC236}">
                <a16:creationId xmlns:a16="http://schemas.microsoft.com/office/drawing/2014/main" id="{48C1C602-CE2E-70D9-61D5-9AF06303FE83}"/>
              </a:ext>
            </a:extLst>
          </p:cNvPr>
          <p:cNvSpPr/>
          <p:nvPr/>
        </p:nvSpPr>
        <p:spPr>
          <a:xfrm>
            <a:off x="10397997" y="1546635"/>
            <a:ext cx="1266825" cy="2143854"/>
          </a:xfrm>
          <a:custGeom>
            <a:avLst/>
            <a:gdLst/>
            <a:ahLst/>
            <a:cxnLst/>
            <a:rect l="l" t="t" r="r" b="b"/>
            <a:pathLst>
              <a:path w="1266825" h="1714500">
                <a:moveTo>
                  <a:pt x="0" y="46228"/>
                </a:moveTo>
                <a:lnTo>
                  <a:pt x="3633" y="28235"/>
                </a:lnTo>
                <a:lnTo>
                  <a:pt x="13541" y="13541"/>
                </a:lnTo>
                <a:lnTo>
                  <a:pt x="28235" y="3633"/>
                </a:lnTo>
                <a:lnTo>
                  <a:pt x="46227" y="0"/>
                </a:lnTo>
                <a:lnTo>
                  <a:pt x="1220470" y="0"/>
                </a:lnTo>
                <a:lnTo>
                  <a:pt x="1238462" y="3633"/>
                </a:lnTo>
                <a:lnTo>
                  <a:pt x="1253156" y="13541"/>
                </a:lnTo>
                <a:lnTo>
                  <a:pt x="1263064" y="28235"/>
                </a:lnTo>
                <a:lnTo>
                  <a:pt x="1266698" y="46228"/>
                </a:lnTo>
                <a:lnTo>
                  <a:pt x="1266698" y="1667764"/>
                </a:lnTo>
                <a:lnTo>
                  <a:pt x="1263064" y="1685829"/>
                </a:lnTo>
                <a:lnTo>
                  <a:pt x="1253156" y="1700561"/>
                </a:lnTo>
                <a:lnTo>
                  <a:pt x="1238462" y="1710483"/>
                </a:lnTo>
                <a:lnTo>
                  <a:pt x="1220470" y="1714119"/>
                </a:lnTo>
                <a:lnTo>
                  <a:pt x="46227" y="1714119"/>
                </a:lnTo>
                <a:lnTo>
                  <a:pt x="28235" y="1710483"/>
                </a:lnTo>
                <a:lnTo>
                  <a:pt x="13541" y="1700561"/>
                </a:lnTo>
                <a:lnTo>
                  <a:pt x="3633" y="1685829"/>
                </a:lnTo>
                <a:lnTo>
                  <a:pt x="0" y="1667764"/>
                </a:lnTo>
                <a:lnTo>
                  <a:pt x="0" y="46228"/>
                </a:lnTo>
                <a:close/>
              </a:path>
            </a:pathLst>
          </a:cu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2" name="Group 11">
            <a:extLst>
              <a:ext uri="{FF2B5EF4-FFF2-40B4-BE49-F238E27FC236}">
                <a16:creationId xmlns:a16="http://schemas.microsoft.com/office/drawing/2014/main" id="{388F54A1-668C-76E6-983C-9C13FD578987}"/>
              </a:ext>
            </a:extLst>
          </p:cNvPr>
          <p:cNvGrpSpPr/>
          <p:nvPr/>
        </p:nvGrpSpPr>
        <p:grpSpPr>
          <a:xfrm>
            <a:off x="10512363" y="2446091"/>
            <a:ext cx="1038092" cy="311150"/>
            <a:chOff x="10512237" y="2153949"/>
            <a:chExt cx="1038092" cy="311150"/>
          </a:xfrm>
        </p:grpSpPr>
        <p:sp>
          <p:nvSpPr>
            <p:cNvPr id="115" name="object 115">
              <a:extLst>
                <a:ext uri="{FF2B5EF4-FFF2-40B4-BE49-F238E27FC236}">
                  <a16:creationId xmlns:a16="http://schemas.microsoft.com/office/drawing/2014/main" id="{7476F61C-4304-C06D-D41E-4FD5D24B2CE4}"/>
                </a:ext>
              </a:extLst>
            </p:cNvPr>
            <p:cNvSpPr/>
            <p:nvPr/>
          </p:nvSpPr>
          <p:spPr>
            <a:xfrm>
              <a:off x="10531347" y="2153949"/>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16" name="object 116">
              <a:extLst>
                <a:ext uri="{FF2B5EF4-FFF2-40B4-BE49-F238E27FC236}">
                  <a16:creationId xmlns:a16="http://schemas.microsoft.com/office/drawing/2014/main" id="{CAD65090-32E9-C69E-AFB0-6B6ADD414D52}"/>
                </a:ext>
              </a:extLst>
            </p:cNvPr>
            <p:cNvSpPr txBox="1"/>
            <p:nvPr/>
          </p:nvSpPr>
          <p:spPr>
            <a:xfrm>
              <a:off x="10512237" y="2180322"/>
              <a:ext cx="1038092"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0" normalizeH="0" baseline="0" noProof="0">
                  <a:ln>
                    <a:noFill/>
                  </a:ln>
                  <a:solidFill>
                    <a:srgbClr val="3F3F3F"/>
                  </a:solidFill>
                  <a:effectLst/>
                  <a:uLnTx/>
                  <a:uFillTx/>
                  <a:latin typeface="CVS Health Sans"/>
                  <a:ea typeface="+mn-ea"/>
                  <a:cs typeface="CVS Health Sans"/>
                </a:rPr>
                <a:t>Cyber</a:t>
              </a:r>
              <a:r>
                <a:rPr kumimoji="0" sz="800" b="1" i="0" u="none" strike="noStrike" kern="0" cap="none" spc="-30" normalizeH="0" baseline="0" noProof="0">
                  <a:ln>
                    <a:noFill/>
                  </a:ln>
                  <a:solidFill>
                    <a:srgbClr val="3F3F3F"/>
                  </a:solidFill>
                  <a:effectLst/>
                  <a:uLnTx/>
                  <a:uFillTx/>
                  <a:latin typeface="CVS Health Sans"/>
                  <a:ea typeface="+mn-ea"/>
                  <a:cs typeface="CVS Health Sans"/>
                </a:rPr>
                <a:t> </a:t>
              </a:r>
              <a:r>
                <a:rPr kumimoji="0" sz="800" b="1" i="0" u="none" strike="noStrike" kern="0" cap="none" spc="-10" normalizeH="0" baseline="0" noProof="0">
                  <a:ln>
                    <a:noFill/>
                  </a:ln>
                  <a:solidFill>
                    <a:srgbClr val="3F3F3F"/>
                  </a:solidFill>
                  <a:effectLst/>
                  <a:uLnTx/>
                  <a:uFillTx/>
                  <a:latin typeface="CVS Health Sans"/>
                  <a:ea typeface="+mn-ea"/>
                  <a:cs typeface="CVS Health Sans"/>
                </a:rPr>
                <a:t>Defense</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John Haley</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9" name="Group 8">
            <a:extLst>
              <a:ext uri="{FF2B5EF4-FFF2-40B4-BE49-F238E27FC236}">
                <a16:creationId xmlns:a16="http://schemas.microsoft.com/office/drawing/2014/main" id="{3E6EDCFA-11FD-5540-7D47-E8BFD3926D0D}"/>
              </a:ext>
            </a:extLst>
          </p:cNvPr>
          <p:cNvGrpSpPr/>
          <p:nvPr/>
        </p:nvGrpSpPr>
        <p:grpSpPr>
          <a:xfrm>
            <a:off x="10500465" y="2865868"/>
            <a:ext cx="1061888" cy="311150"/>
            <a:chOff x="10500340" y="2519836"/>
            <a:chExt cx="1061888" cy="311150"/>
          </a:xfrm>
        </p:grpSpPr>
        <p:sp>
          <p:nvSpPr>
            <p:cNvPr id="117" name="object 117">
              <a:extLst>
                <a:ext uri="{FF2B5EF4-FFF2-40B4-BE49-F238E27FC236}">
                  <a16:creationId xmlns:a16="http://schemas.microsoft.com/office/drawing/2014/main" id="{9FA0D53B-A8CE-C435-D3D9-4151B2CB4DA4}"/>
                </a:ext>
              </a:extLst>
            </p:cNvPr>
            <p:cNvSpPr/>
            <p:nvPr/>
          </p:nvSpPr>
          <p:spPr>
            <a:xfrm>
              <a:off x="10531347" y="2519836"/>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18" name="object 118">
              <a:extLst>
                <a:ext uri="{FF2B5EF4-FFF2-40B4-BE49-F238E27FC236}">
                  <a16:creationId xmlns:a16="http://schemas.microsoft.com/office/drawing/2014/main" id="{D6955159-40CA-AF48-3010-CBC55E7924A3}"/>
                </a:ext>
              </a:extLst>
            </p:cNvPr>
            <p:cNvSpPr txBox="1"/>
            <p:nvPr/>
          </p:nvSpPr>
          <p:spPr>
            <a:xfrm>
              <a:off x="10500340" y="2546209"/>
              <a:ext cx="1061888" cy="258404"/>
            </a:xfrm>
            <a:prstGeom prst="rect">
              <a:avLst/>
            </a:prstGeom>
          </p:spPr>
          <p:txBody>
            <a:bodyPr vert="horz" wrap="square" lIns="0" tIns="12065" rIns="0" bIns="0" rtlCol="0">
              <a:spAutoFit/>
            </a:bodyPr>
            <a:lstStyle/>
            <a:p>
              <a:pPr marL="1905"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Network</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3F3F3F"/>
                  </a:solidFill>
                  <a:effectLst/>
                  <a:uLnTx/>
                  <a:uFillTx/>
                  <a:latin typeface="CVS Health Sans"/>
                  <a:ea typeface="+mn-ea"/>
                  <a:cs typeface="CVS Health Sans"/>
                </a:rPr>
                <a:t>Lenny</a:t>
              </a:r>
              <a:r>
                <a:rPr kumimoji="0" sz="800" b="0" i="0" u="none" strike="noStrike" kern="0" cap="none" spc="-3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Guardino</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7" name="Group 6">
            <a:extLst>
              <a:ext uri="{FF2B5EF4-FFF2-40B4-BE49-F238E27FC236}">
                <a16:creationId xmlns:a16="http://schemas.microsoft.com/office/drawing/2014/main" id="{EC25F2F4-5F02-2BBB-02D9-7886BCBF838F}"/>
              </a:ext>
            </a:extLst>
          </p:cNvPr>
          <p:cNvGrpSpPr/>
          <p:nvPr/>
        </p:nvGrpSpPr>
        <p:grpSpPr>
          <a:xfrm>
            <a:off x="10531347" y="3285645"/>
            <a:ext cx="1000125" cy="311150"/>
            <a:chOff x="10531347" y="2885595"/>
            <a:chExt cx="1000125" cy="311150"/>
          </a:xfrm>
        </p:grpSpPr>
        <p:sp>
          <p:nvSpPr>
            <p:cNvPr id="119" name="object 119">
              <a:extLst>
                <a:ext uri="{FF2B5EF4-FFF2-40B4-BE49-F238E27FC236}">
                  <a16:creationId xmlns:a16="http://schemas.microsoft.com/office/drawing/2014/main" id="{CF4B5CCE-9C33-779E-5667-CB12D7233915}"/>
                </a:ext>
              </a:extLst>
            </p:cNvPr>
            <p:cNvSpPr/>
            <p:nvPr/>
          </p:nvSpPr>
          <p:spPr>
            <a:xfrm>
              <a:off x="10531347" y="2885595"/>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0" name="object 120">
              <a:extLst>
                <a:ext uri="{FF2B5EF4-FFF2-40B4-BE49-F238E27FC236}">
                  <a16:creationId xmlns:a16="http://schemas.microsoft.com/office/drawing/2014/main" id="{10DB2336-3783-6488-FA66-2824E1E35603}"/>
                </a:ext>
              </a:extLst>
            </p:cNvPr>
            <p:cNvSpPr txBox="1"/>
            <p:nvPr/>
          </p:nvSpPr>
          <p:spPr>
            <a:xfrm>
              <a:off x="10538271" y="2911968"/>
              <a:ext cx="986534" cy="258404"/>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Infrastructure</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5334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0" normalizeH="0" baseline="0" noProof="0">
                  <a:ln>
                    <a:noFill/>
                  </a:ln>
                  <a:solidFill>
                    <a:srgbClr val="3F3F3F"/>
                  </a:solidFill>
                  <a:effectLst/>
                  <a:uLnTx/>
                  <a:uFillTx/>
                  <a:latin typeface="CVS Health Sans"/>
                  <a:ea typeface="+mn-ea"/>
                  <a:cs typeface="CVS Health Sans"/>
                </a:rPr>
                <a:t>Saul</a:t>
              </a:r>
              <a:r>
                <a:rPr kumimoji="0" sz="800" b="0" i="0" u="none" strike="noStrike" kern="0" cap="none" spc="-3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Menkes</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sp>
        <p:nvSpPr>
          <p:cNvPr id="122" name="object 122">
            <a:extLst>
              <a:ext uri="{FF2B5EF4-FFF2-40B4-BE49-F238E27FC236}">
                <a16:creationId xmlns:a16="http://schemas.microsoft.com/office/drawing/2014/main" id="{975E90A2-EB15-18D3-4B74-1F46258D312D}"/>
              </a:ext>
            </a:extLst>
          </p:cNvPr>
          <p:cNvSpPr txBox="1"/>
          <p:nvPr/>
        </p:nvSpPr>
        <p:spPr>
          <a:xfrm>
            <a:off x="10601514" y="1587402"/>
            <a:ext cx="859790" cy="334066"/>
          </a:xfrm>
          <a:prstGeom prst="rect">
            <a:avLst/>
          </a:prstGeom>
        </p:spPr>
        <p:txBody>
          <a:bodyPr vert="horz" wrap="square" lIns="0" tIns="13335" rIns="0" bIns="0" rtlCol="0">
            <a:spAutoFit/>
          </a:bodyPr>
          <a:lstStyle/>
          <a:p>
            <a:pPr marL="0" marR="0" lvl="0" indent="0" algn="ctr"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0" normalizeH="0" baseline="0" noProof="0">
                <a:ln>
                  <a:noFill/>
                </a:ln>
                <a:solidFill>
                  <a:srgbClr val="0A305E"/>
                </a:solidFill>
                <a:effectLst/>
                <a:uLnTx/>
                <a:uFillTx/>
                <a:latin typeface="CVS Health Sans"/>
                <a:ea typeface="+mn-ea"/>
                <a:cs typeface="CVS Health Sans"/>
              </a:rPr>
              <a:t>CVS</a:t>
            </a:r>
            <a:endParaRPr lang="en-US" sz="1000" b="1" kern="0" spc="-10">
              <a:solidFill>
                <a:srgbClr val="0A305E"/>
              </a:solidFill>
              <a:latin typeface="CVS Health Sans"/>
              <a:cs typeface="CVS Health Sans"/>
            </a:endParaRPr>
          </a:p>
          <a:p>
            <a:pPr marL="0" marR="0" lvl="0" indent="0" algn="ctr" defTabSz="914400" rtl="0" eaLnBrk="1" fontAlgn="auto" latinLnBrk="0" hangingPunct="1">
              <a:lnSpc>
                <a:spcPct val="100000"/>
              </a:lnSpc>
              <a:spcBef>
                <a:spcPts val="105"/>
              </a:spcBef>
              <a:spcAft>
                <a:spcPts val="0"/>
              </a:spcAft>
              <a:buClrTx/>
              <a:buSzTx/>
              <a:buFontTx/>
              <a:buNone/>
              <a:tabLst/>
              <a:defRPr/>
            </a:pPr>
            <a:r>
              <a:rPr kumimoji="0" sz="1000" b="1" i="0" u="none" strike="noStrike" kern="0" cap="none" spc="-10" normalizeH="0" baseline="0" noProof="0">
                <a:ln>
                  <a:noFill/>
                </a:ln>
                <a:solidFill>
                  <a:srgbClr val="0A305E"/>
                </a:solidFill>
                <a:effectLst/>
                <a:uLnTx/>
                <a:uFillTx/>
                <a:latin typeface="CVS Health Sans"/>
                <a:ea typeface="+mn-ea"/>
                <a:cs typeface="CVS Health Sans"/>
              </a:rPr>
              <a:t>Leaders</a:t>
            </a:r>
            <a:endParaRPr kumimoji="0" lang="en-US" sz="10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nvGrpSpPr>
          <p:cNvPr id="265" name="Group 264">
            <a:extLst>
              <a:ext uri="{FF2B5EF4-FFF2-40B4-BE49-F238E27FC236}">
                <a16:creationId xmlns:a16="http://schemas.microsoft.com/office/drawing/2014/main" id="{2624E80D-3CD3-96F0-C46F-BD9BBF6DC347}"/>
              </a:ext>
            </a:extLst>
          </p:cNvPr>
          <p:cNvGrpSpPr/>
          <p:nvPr/>
        </p:nvGrpSpPr>
        <p:grpSpPr>
          <a:xfrm>
            <a:off x="671424" y="3798852"/>
            <a:ext cx="2053589" cy="1721003"/>
            <a:chOff x="663661" y="3798852"/>
            <a:chExt cx="2053589" cy="1721003"/>
          </a:xfrm>
        </p:grpSpPr>
        <p:grpSp>
          <p:nvGrpSpPr>
            <p:cNvPr id="261" name="Group 260">
              <a:extLst>
                <a:ext uri="{FF2B5EF4-FFF2-40B4-BE49-F238E27FC236}">
                  <a16:creationId xmlns:a16="http://schemas.microsoft.com/office/drawing/2014/main" id="{8388FF3E-91CA-F7C1-8BAB-0E79D440B1C7}"/>
                </a:ext>
              </a:extLst>
            </p:cNvPr>
            <p:cNvGrpSpPr/>
            <p:nvPr/>
          </p:nvGrpSpPr>
          <p:grpSpPr>
            <a:xfrm>
              <a:off x="663661" y="4380193"/>
              <a:ext cx="2053589" cy="262890"/>
              <a:chOff x="663661" y="4446378"/>
              <a:chExt cx="2053589" cy="262890"/>
            </a:xfrm>
          </p:grpSpPr>
          <p:sp>
            <p:nvSpPr>
              <p:cNvPr id="41" name="object 41">
                <a:extLst>
                  <a:ext uri="{FF2B5EF4-FFF2-40B4-BE49-F238E27FC236}">
                    <a16:creationId xmlns:a16="http://schemas.microsoft.com/office/drawing/2014/main" id="{9C9A1CD8-2FF7-69F7-3063-74D76E836862}"/>
                  </a:ext>
                </a:extLst>
              </p:cNvPr>
              <p:cNvSpPr/>
              <p:nvPr/>
            </p:nvSpPr>
            <p:spPr>
              <a:xfrm>
                <a:off x="663661" y="4446378"/>
                <a:ext cx="2053589" cy="262890"/>
              </a:xfrm>
              <a:custGeom>
                <a:avLst/>
                <a:gdLst/>
                <a:ahLst/>
                <a:cxnLst/>
                <a:rect l="l" t="t" r="r" b="b"/>
                <a:pathLst>
                  <a:path w="2053589" h="262889">
                    <a:moveTo>
                      <a:pt x="2009584" y="0"/>
                    </a:moveTo>
                    <a:lnTo>
                      <a:pt x="43713" y="0"/>
                    </a:lnTo>
                    <a:lnTo>
                      <a:pt x="26697" y="3452"/>
                    </a:lnTo>
                    <a:lnTo>
                      <a:pt x="12803" y="12858"/>
                    </a:lnTo>
                    <a:lnTo>
                      <a:pt x="3435" y="26789"/>
                    </a:lnTo>
                    <a:lnTo>
                      <a:pt x="0" y="43814"/>
                    </a:lnTo>
                    <a:lnTo>
                      <a:pt x="0" y="218694"/>
                    </a:lnTo>
                    <a:lnTo>
                      <a:pt x="3435" y="235700"/>
                    </a:lnTo>
                    <a:lnTo>
                      <a:pt x="12803" y="249586"/>
                    </a:lnTo>
                    <a:lnTo>
                      <a:pt x="26697" y="258949"/>
                    </a:lnTo>
                    <a:lnTo>
                      <a:pt x="43713" y="262381"/>
                    </a:lnTo>
                    <a:lnTo>
                      <a:pt x="2009584" y="262381"/>
                    </a:lnTo>
                    <a:lnTo>
                      <a:pt x="2026610" y="258949"/>
                    </a:lnTo>
                    <a:lnTo>
                      <a:pt x="2040540" y="249586"/>
                    </a:lnTo>
                    <a:lnTo>
                      <a:pt x="2049946" y="235700"/>
                    </a:lnTo>
                    <a:lnTo>
                      <a:pt x="2053399" y="218694"/>
                    </a:lnTo>
                    <a:lnTo>
                      <a:pt x="2053399" y="43814"/>
                    </a:lnTo>
                    <a:lnTo>
                      <a:pt x="2049946" y="26789"/>
                    </a:lnTo>
                    <a:lnTo>
                      <a:pt x="2040540" y="12858"/>
                    </a:lnTo>
                    <a:lnTo>
                      <a:pt x="2026610" y="3452"/>
                    </a:lnTo>
                    <a:lnTo>
                      <a:pt x="2009584"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2" name="object 42">
                <a:extLst>
                  <a:ext uri="{FF2B5EF4-FFF2-40B4-BE49-F238E27FC236}">
                    <a16:creationId xmlns:a16="http://schemas.microsoft.com/office/drawing/2014/main" id="{076EEA8B-7307-4330-2607-8F3B41081C29}"/>
                  </a:ext>
                </a:extLst>
              </p:cNvPr>
              <p:cNvSpPr txBox="1"/>
              <p:nvPr/>
            </p:nvSpPr>
            <p:spPr>
              <a:xfrm>
                <a:off x="1048470" y="4518480"/>
                <a:ext cx="128397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3" name="Group 262">
              <a:extLst>
                <a:ext uri="{FF2B5EF4-FFF2-40B4-BE49-F238E27FC236}">
                  <a16:creationId xmlns:a16="http://schemas.microsoft.com/office/drawing/2014/main" id="{53F671BC-3FE9-6E17-9CA8-7F182E454AA1}"/>
                </a:ext>
              </a:extLst>
            </p:cNvPr>
            <p:cNvGrpSpPr/>
            <p:nvPr/>
          </p:nvGrpSpPr>
          <p:grpSpPr>
            <a:xfrm>
              <a:off x="663661" y="4089840"/>
              <a:ext cx="2053589" cy="262255"/>
              <a:chOff x="663661" y="4156025"/>
              <a:chExt cx="2053589" cy="262255"/>
            </a:xfrm>
          </p:grpSpPr>
          <p:sp>
            <p:nvSpPr>
              <p:cNvPr id="43" name="object 43">
                <a:extLst>
                  <a:ext uri="{FF2B5EF4-FFF2-40B4-BE49-F238E27FC236}">
                    <a16:creationId xmlns:a16="http://schemas.microsoft.com/office/drawing/2014/main" id="{0EA04BA9-087E-0021-4AAD-83AEBA29FF69}"/>
                  </a:ext>
                </a:extLst>
              </p:cNvPr>
              <p:cNvSpPr/>
              <p:nvPr/>
            </p:nvSpPr>
            <p:spPr>
              <a:xfrm>
                <a:off x="663661" y="4156025"/>
                <a:ext cx="2053589" cy="262255"/>
              </a:xfrm>
              <a:custGeom>
                <a:avLst/>
                <a:gdLst/>
                <a:ahLst/>
                <a:cxnLst/>
                <a:rect l="l" t="t" r="r" b="b"/>
                <a:pathLst>
                  <a:path w="2053589" h="262254">
                    <a:moveTo>
                      <a:pt x="2009584" y="0"/>
                    </a:moveTo>
                    <a:lnTo>
                      <a:pt x="43713" y="0"/>
                    </a:lnTo>
                    <a:lnTo>
                      <a:pt x="26697" y="3432"/>
                    </a:lnTo>
                    <a:lnTo>
                      <a:pt x="12803" y="12795"/>
                    </a:lnTo>
                    <a:lnTo>
                      <a:pt x="3435" y="26681"/>
                    </a:lnTo>
                    <a:lnTo>
                      <a:pt x="0" y="43687"/>
                    </a:lnTo>
                    <a:lnTo>
                      <a:pt x="0" y="218566"/>
                    </a:lnTo>
                    <a:lnTo>
                      <a:pt x="3435" y="235573"/>
                    </a:lnTo>
                    <a:lnTo>
                      <a:pt x="12803" y="249459"/>
                    </a:lnTo>
                    <a:lnTo>
                      <a:pt x="26697" y="258822"/>
                    </a:lnTo>
                    <a:lnTo>
                      <a:pt x="43713" y="262254"/>
                    </a:lnTo>
                    <a:lnTo>
                      <a:pt x="2009584" y="262254"/>
                    </a:lnTo>
                    <a:lnTo>
                      <a:pt x="2026610" y="258822"/>
                    </a:lnTo>
                    <a:lnTo>
                      <a:pt x="2040540" y="249459"/>
                    </a:lnTo>
                    <a:lnTo>
                      <a:pt x="2049946" y="235573"/>
                    </a:lnTo>
                    <a:lnTo>
                      <a:pt x="2053399" y="218566"/>
                    </a:lnTo>
                    <a:lnTo>
                      <a:pt x="2053399" y="43687"/>
                    </a:lnTo>
                    <a:lnTo>
                      <a:pt x="2049946" y="26681"/>
                    </a:lnTo>
                    <a:lnTo>
                      <a:pt x="2040540" y="12795"/>
                    </a:lnTo>
                    <a:lnTo>
                      <a:pt x="2026610" y="3432"/>
                    </a:lnTo>
                    <a:lnTo>
                      <a:pt x="2009584"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4" name="object 44">
                <a:extLst>
                  <a:ext uri="{FF2B5EF4-FFF2-40B4-BE49-F238E27FC236}">
                    <a16:creationId xmlns:a16="http://schemas.microsoft.com/office/drawing/2014/main" id="{D6D37DD9-BC3E-6340-0423-B3E31D4993F6}"/>
                  </a:ext>
                </a:extLst>
              </p:cNvPr>
              <p:cNvSpPr txBox="1"/>
              <p:nvPr/>
            </p:nvSpPr>
            <p:spPr>
              <a:xfrm>
                <a:off x="1048470" y="4223657"/>
                <a:ext cx="128397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Platform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4" name="Group 263">
              <a:extLst>
                <a:ext uri="{FF2B5EF4-FFF2-40B4-BE49-F238E27FC236}">
                  <a16:creationId xmlns:a16="http://schemas.microsoft.com/office/drawing/2014/main" id="{AB77D923-F938-882E-7954-BF7678BBED97}"/>
                </a:ext>
              </a:extLst>
            </p:cNvPr>
            <p:cNvGrpSpPr/>
            <p:nvPr/>
          </p:nvGrpSpPr>
          <p:grpSpPr>
            <a:xfrm>
              <a:off x="663661" y="3798852"/>
              <a:ext cx="2053589" cy="262890"/>
              <a:chOff x="663661" y="3865037"/>
              <a:chExt cx="2053589" cy="262890"/>
            </a:xfrm>
          </p:grpSpPr>
          <p:sp>
            <p:nvSpPr>
              <p:cNvPr id="45" name="object 45">
                <a:extLst>
                  <a:ext uri="{FF2B5EF4-FFF2-40B4-BE49-F238E27FC236}">
                    <a16:creationId xmlns:a16="http://schemas.microsoft.com/office/drawing/2014/main" id="{0352388C-45A3-29B2-F163-458671C11434}"/>
                  </a:ext>
                </a:extLst>
              </p:cNvPr>
              <p:cNvSpPr/>
              <p:nvPr/>
            </p:nvSpPr>
            <p:spPr>
              <a:xfrm>
                <a:off x="663661" y="3865037"/>
                <a:ext cx="2053589" cy="262890"/>
              </a:xfrm>
              <a:custGeom>
                <a:avLst/>
                <a:gdLst/>
                <a:ahLst/>
                <a:cxnLst/>
                <a:rect l="l" t="t" r="r" b="b"/>
                <a:pathLst>
                  <a:path w="2053589" h="262889">
                    <a:moveTo>
                      <a:pt x="2009597" y="0"/>
                    </a:moveTo>
                    <a:lnTo>
                      <a:pt x="43713" y="0"/>
                    </a:lnTo>
                    <a:lnTo>
                      <a:pt x="26697" y="3452"/>
                    </a:lnTo>
                    <a:lnTo>
                      <a:pt x="12803" y="12858"/>
                    </a:lnTo>
                    <a:lnTo>
                      <a:pt x="3435" y="26789"/>
                    </a:lnTo>
                    <a:lnTo>
                      <a:pt x="0" y="43814"/>
                    </a:lnTo>
                    <a:lnTo>
                      <a:pt x="0" y="218694"/>
                    </a:lnTo>
                    <a:lnTo>
                      <a:pt x="3435" y="235700"/>
                    </a:lnTo>
                    <a:lnTo>
                      <a:pt x="12803" y="249586"/>
                    </a:lnTo>
                    <a:lnTo>
                      <a:pt x="26697" y="258949"/>
                    </a:lnTo>
                    <a:lnTo>
                      <a:pt x="43713" y="262381"/>
                    </a:lnTo>
                    <a:lnTo>
                      <a:pt x="2009597" y="262381"/>
                    </a:lnTo>
                    <a:lnTo>
                      <a:pt x="2026603" y="258949"/>
                    </a:lnTo>
                    <a:lnTo>
                      <a:pt x="2040489" y="249586"/>
                    </a:lnTo>
                    <a:lnTo>
                      <a:pt x="2049852" y="235700"/>
                    </a:lnTo>
                    <a:lnTo>
                      <a:pt x="2053285" y="218694"/>
                    </a:lnTo>
                    <a:lnTo>
                      <a:pt x="2053285" y="43814"/>
                    </a:lnTo>
                    <a:lnTo>
                      <a:pt x="2049852" y="26789"/>
                    </a:lnTo>
                    <a:lnTo>
                      <a:pt x="2040489" y="12858"/>
                    </a:lnTo>
                    <a:lnTo>
                      <a:pt x="2026603" y="3452"/>
                    </a:lnTo>
                    <a:lnTo>
                      <a:pt x="2009597"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46" name="object 46">
                <a:extLst>
                  <a:ext uri="{FF2B5EF4-FFF2-40B4-BE49-F238E27FC236}">
                    <a16:creationId xmlns:a16="http://schemas.microsoft.com/office/drawing/2014/main" id="{6D1D1DEF-E5ED-61C3-C7BB-6376D04BC7CE}"/>
                  </a:ext>
                </a:extLst>
              </p:cNvPr>
              <p:cNvSpPr txBox="1"/>
              <p:nvPr/>
            </p:nvSpPr>
            <p:spPr>
              <a:xfrm>
                <a:off x="1179630" y="3928836"/>
                <a:ext cx="102165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Lead Architect</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59" name="Group 258">
              <a:extLst>
                <a:ext uri="{FF2B5EF4-FFF2-40B4-BE49-F238E27FC236}">
                  <a16:creationId xmlns:a16="http://schemas.microsoft.com/office/drawing/2014/main" id="{AFF9CE0A-1429-A604-821D-DFD3CE34F5FB}"/>
                </a:ext>
              </a:extLst>
            </p:cNvPr>
            <p:cNvGrpSpPr/>
            <p:nvPr/>
          </p:nvGrpSpPr>
          <p:grpSpPr>
            <a:xfrm>
              <a:off x="663661" y="5253155"/>
              <a:ext cx="2053589" cy="266700"/>
              <a:chOff x="663661" y="5319340"/>
              <a:chExt cx="2053589" cy="266700"/>
            </a:xfrm>
          </p:grpSpPr>
          <p:sp>
            <p:nvSpPr>
              <p:cNvPr id="96" name="object 96">
                <a:extLst>
                  <a:ext uri="{FF2B5EF4-FFF2-40B4-BE49-F238E27FC236}">
                    <a16:creationId xmlns:a16="http://schemas.microsoft.com/office/drawing/2014/main" id="{E0943121-3BE3-5AA6-CF9C-883DF8D0C79C}"/>
                  </a:ext>
                </a:extLst>
              </p:cNvPr>
              <p:cNvSpPr/>
              <p:nvPr/>
            </p:nvSpPr>
            <p:spPr>
              <a:xfrm>
                <a:off x="663661" y="5319340"/>
                <a:ext cx="2053589" cy="266700"/>
              </a:xfrm>
              <a:custGeom>
                <a:avLst/>
                <a:gdLst/>
                <a:ahLst/>
                <a:cxnLst/>
                <a:rect l="l" t="t" r="r" b="b"/>
                <a:pathLst>
                  <a:path w="2053589" h="266700">
                    <a:moveTo>
                      <a:pt x="2008949" y="0"/>
                    </a:moveTo>
                    <a:lnTo>
                      <a:pt x="44424" y="0"/>
                    </a:lnTo>
                    <a:lnTo>
                      <a:pt x="27131" y="3478"/>
                    </a:lnTo>
                    <a:lnTo>
                      <a:pt x="13011" y="12969"/>
                    </a:lnTo>
                    <a:lnTo>
                      <a:pt x="3490" y="27056"/>
                    </a:lnTo>
                    <a:lnTo>
                      <a:pt x="0" y="44323"/>
                    </a:lnTo>
                    <a:lnTo>
                      <a:pt x="0" y="222122"/>
                    </a:lnTo>
                    <a:lnTo>
                      <a:pt x="3490" y="239389"/>
                    </a:lnTo>
                    <a:lnTo>
                      <a:pt x="13011" y="253476"/>
                    </a:lnTo>
                    <a:lnTo>
                      <a:pt x="27131" y="262967"/>
                    </a:lnTo>
                    <a:lnTo>
                      <a:pt x="44424" y="266446"/>
                    </a:lnTo>
                    <a:lnTo>
                      <a:pt x="2008949" y="266446"/>
                    </a:lnTo>
                    <a:lnTo>
                      <a:pt x="2026235" y="262967"/>
                    </a:lnTo>
                    <a:lnTo>
                      <a:pt x="2040366" y="253476"/>
                    </a:lnTo>
                    <a:lnTo>
                      <a:pt x="2049901" y="239389"/>
                    </a:lnTo>
                    <a:lnTo>
                      <a:pt x="2053399" y="222122"/>
                    </a:lnTo>
                    <a:lnTo>
                      <a:pt x="2053399" y="44323"/>
                    </a:lnTo>
                    <a:lnTo>
                      <a:pt x="2049901" y="27056"/>
                    </a:lnTo>
                    <a:lnTo>
                      <a:pt x="2040366" y="12969"/>
                    </a:lnTo>
                    <a:lnTo>
                      <a:pt x="2026235" y="3478"/>
                    </a:lnTo>
                    <a:lnTo>
                      <a:pt x="2008949"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9" name="object 109">
                <a:extLst>
                  <a:ext uri="{FF2B5EF4-FFF2-40B4-BE49-F238E27FC236}">
                    <a16:creationId xmlns:a16="http://schemas.microsoft.com/office/drawing/2014/main" id="{94CFDAD4-BAC6-38AD-2707-7EA81242DDCF}"/>
                  </a:ext>
                </a:extLst>
              </p:cNvPr>
              <p:cNvSpPr txBox="1"/>
              <p:nvPr/>
            </p:nvSpPr>
            <p:spPr>
              <a:xfrm>
                <a:off x="1052565" y="5323488"/>
                <a:ext cx="1275780"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95"/>
                  </a:spcBef>
                  <a:spcAft>
                    <a:spcPts val="0"/>
                  </a:spcAft>
                  <a:buClrTx/>
                  <a:buSzTx/>
                  <a:buFontTx/>
                  <a:buNone/>
                  <a:tabLst/>
                  <a:defRPr/>
                </a:pPr>
                <a:r>
                  <a:rPr kumimoji="0" sz="800" b="1" i="0" u="none" strike="noStrike" kern="0" cap="none" spc="-10" normalizeH="0" baseline="0" noProof="0">
                    <a:ln>
                      <a:noFill/>
                    </a:ln>
                    <a:solidFill>
                      <a:srgbClr val="3F3F3F"/>
                    </a:solidFill>
                    <a:effectLst/>
                    <a:uLnTx/>
                    <a:uFillTx/>
                    <a:latin typeface="CVS Health Sans"/>
                    <a:ea typeface="+mn-ea"/>
                    <a:cs typeface="CVS Health Sans"/>
                  </a:rPr>
                  <a:t>Architect</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800" b="0" i="0" u="none" strike="noStrike" kern="0" cap="none" spc="-10" normalizeH="0" baseline="0" noProof="0" err="1">
                    <a:ln>
                      <a:noFill/>
                    </a:ln>
                    <a:solidFill>
                      <a:srgbClr val="3F3F3F"/>
                    </a:solidFill>
                    <a:effectLst/>
                    <a:uLnTx/>
                    <a:uFillTx/>
                    <a:latin typeface="CVS Health Sans"/>
                    <a:ea typeface="+mn-ea"/>
                    <a:cs typeface="CVS Health Sans"/>
                  </a:rPr>
                  <a:t>Shivpratap</a:t>
                </a:r>
                <a:r>
                  <a:rPr kumimoji="0" sz="800" b="0" i="0" u="none" strike="noStrike" kern="0" cap="none" spc="40" normalizeH="0" baseline="0" noProof="0">
                    <a:ln>
                      <a:noFill/>
                    </a:ln>
                    <a:solidFill>
                      <a:srgbClr val="3F3F3F"/>
                    </a:solidFill>
                    <a:effectLst/>
                    <a:uLnTx/>
                    <a:uFillTx/>
                    <a:latin typeface="CVS Health Sans"/>
                    <a:ea typeface="+mn-ea"/>
                    <a:cs typeface="CVS Health Sans"/>
                  </a:rPr>
                  <a:t> </a:t>
                </a:r>
                <a:r>
                  <a:rPr kumimoji="0" sz="800" b="0" i="0" u="none" strike="noStrike" kern="0" cap="none" spc="-10" normalizeH="0" baseline="0" noProof="0">
                    <a:ln>
                      <a:noFill/>
                    </a:ln>
                    <a:solidFill>
                      <a:srgbClr val="3F3F3F"/>
                    </a:solidFill>
                    <a:effectLst/>
                    <a:uLnTx/>
                    <a:uFillTx/>
                    <a:latin typeface="CVS Health Sans"/>
                    <a:ea typeface="+mn-ea"/>
                    <a:cs typeface="CVS Health Sans"/>
                  </a:rPr>
                  <a:t>Singh</a:t>
                </a:r>
                <a:endParaRPr kumimoji="0"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260" name="Group 259">
              <a:extLst>
                <a:ext uri="{FF2B5EF4-FFF2-40B4-BE49-F238E27FC236}">
                  <a16:creationId xmlns:a16="http://schemas.microsoft.com/office/drawing/2014/main" id="{CCEA0F5F-8B0F-46DD-84EC-9DC0AB9D7B86}"/>
                </a:ext>
              </a:extLst>
            </p:cNvPr>
            <p:cNvGrpSpPr/>
            <p:nvPr/>
          </p:nvGrpSpPr>
          <p:grpSpPr>
            <a:xfrm>
              <a:off x="663661" y="4962169"/>
              <a:ext cx="2053589" cy="262890"/>
              <a:chOff x="663661" y="5028354"/>
              <a:chExt cx="2053589" cy="262890"/>
            </a:xfrm>
          </p:grpSpPr>
          <p:sp>
            <p:nvSpPr>
              <p:cNvPr id="123" name="object 123">
                <a:extLst>
                  <a:ext uri="{FF2B5EF4-FFF2-40B4-BE49-F238E27FC236}">
                    <a16:creationId xmlns:a16="http://schemas.microsoft.com/office/drawing/2014/main" id="{94365005-86A1-408C-AA55-72CAEA5C7274}"/>
                  </a:ext>
                </a:extLst>
              </p:cNvPr>
              <p:cNvSpPr/>
              <p:nvPr/>
            </p:nvSpPr>
            <p:spPr>
              <a:xfrm>
                <a:off x="663661" y="5028354"/>
                <a:ext cx="2053589" cy="262890"/>
              </a:xfrm>
              <a:custGeom>
                <a:avLst/>
                <a:gdLst/>
                <a:ahLst/>
                <a:cxnLst/>
                <a:rect l="l" t="t" r="r" b="b"/>
                <a:pathLst>
                  <a:path w="2053589" h="262889">
                    <a:moveTo>
                      <a:pt x="2009584" y="0"/>
                    </a:moveTo>
                    <a:lnTo>
                      <a:pt x="43713" y="0"/>
                    </a:lnTo>
                    <a:lnTo>
                      <a:pt x="26697" y="3434"/>
                    </a:lnTo>
                    <a:lnTo>
                      <a:pt x="12803" y="12811"/>
                    </a:lnTo>
                    <a:lnTo>
                      <a:pt x="3435" y="26735"/>
                    </a:lnTo>
                    <a:lnTo>
                      <a:pt x="0" y="43815"/>
                    </a:lnTo>
                    <a:lnTo>
                      <a:pt x="0" y="218567"/>
                    </a:lnTo>
                    <a:lnTo>
                      <a:pt x="3435" y="235646"/>
                    </a:lnTo>
                    <a:lnTo>
                      <a:pt x="12803" y="249570"/>
                    </a:lnTo>
                    <a:lnTo>
                      <a:pt x="26697" y="258947"/>
                    </a:lnTo>
                    <a:lnTo>
                      <a:pt x="43713" y="262382"/>
                    </a:lnTo>
                    <a:lnTo>
                      <a:pt x="2009584" y="262382"/>
                    </a:lnTo>
                    <a:lnTo>
                      <a:pt x="2026610" y="258947"/>
                    </a:lnTo>
                    <a:lnTo>
                      <a:pt x="2040540" y="249570"/>
                    </a:lnTo>
                    <a:lnTo>
                      <a:pt x="2049946" y="235646"/>
                    </a:lnTo>
                    <a:lnTo>
                      <a:pt x="2053399" y="218567"/>
                    </a:lnTo>
                    <a:lnTo>
                      <a:pt x="2053399" y="43815"/>
                    </a:lnTo>
                    <a:lnTo>
                      <a:pt x="2049946" y="26735"/>
                    </a:lnTo>
                    <a:lnTo>
                      <a:pt x="2040540" y="12811"/>
                    </a:lnTo>
                    <a:lnTo>
                      <a:pt x="2026610" y="3434"/>
                    </a:lnTo>
                    <a:lnTo>
                      <a:pt x="2009584"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4" name="object 124">
                <a:extLst>
                  <a:ext uri="{FF2B5EF4-FFF2-40B4-BE49-F238E27FC236}">
                    <a16:creationId xmlns:a16="http://schemas.microsoft.com/office/drawing/2014/main" id="{A9D2350E-5455-A95B-F9DC-3283B35BABD5}"/>
                  </a:ext>
                </a:extLst>
              </p:cNvPr>
              <p:cNvSpPr txBox="1"/>
              <p:nvPr/>
            </p:nvSpPr>
            <p:spPr>
              <a:xfrm>
                <a:off x="1179630" y="5090693"/>
                <a:ext cx="1021650"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Team</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Member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62" name="Group 261">
              <a:extLst>
                <a:ext uri="{FF2B5EF4-FFF2-40B4-BE49-F238E27FC236}">
                  <a16:creationId xmlns:a16="http://schemas.microsoft.com/office/drawing/2014/main" id="{EEC931D5-F4B8-24FC-7828-4E78DC8708F0}"/>
                </a:ext>
              </a:extLst>
            </p:cNvPr>
            <p:cNvGrpSpPr/>
            <p:nvPr/>
          </p:nvGrpSpPr>
          <p:grpSpPr>
            <a:xfrm>
              <a:off x="663661" y="4671181"/>
              <a:ext cx="2053589" cy="262890"/>
              <a:chOff x="663661" y="4737366"/>
              <a:chExt cx="2053589" cy="262890"/>
            </a:xfrm>
          </p:grpSpPr>
          <p:sp>
            <p:nvSpPr>
              <p:cNvPr id="8" name="object 123">
                <a:extLst>
                  <a:ext uri="{FF2B5EF4-FFF2-40B4-BE49-F238E27FC236}">
                    <a16:creationId xmlns:a16="http://schemas.microsoft.com/office/drawing/2014/main" id="{BAB5B4C7-0328-CDD6-7BA4-12AF0C4A035C}"/>
                  </a:ext>
                </a:extLst>
              </p:cNvPr>
              <p:cNvSpPr/>
              <p:nvPr/>
            </p:nvSpPr>
            <p:spPr>
              <a:xfrm>
                <a:off x="663661" y="4737366"/>
                <a:ext cx="2053589" cy="262890"/>
              </a:xfrm>
              <a:custGeom>
                <a:avLst/>
                <a:gdLst/>
                <a:ahLst/>
                <a:cxnLst/>
                <a:rect l="l" t="t" r="r" b="b"/>
                <a:pathLst>
                  <a:path w="2053589" h="262889">
                    <a:moveTo>
                      <a:pt x="2009584" y="0"/>
                    </a:moveTo>
                    <a:lnTo>
                      <a:pt x="43713" y="0"/>
                    </a:lnTo>
                    <a:lnTo>
                      <a:pt x="26697" y="3434"/>
                    </a:lnTo>
                    <a:lnTo>
                      <a:pt x="12803" y="12811"/>
                    </a:lnTo>
                    <a:lnTo>
                      <a:pt x="3435" y="26735"/>
                    </a:lnTo>
                    <a:lnTo>
                      <a:pt x="0" y="43815"/>
                    </a:lnTo>
                    <a:lnTo>
                      <a:pt x="0" y="218567"/>
                    </a:lnTo>
                    <a:lnTo>
                      <a:pt x="3435" y="235646"/>
                    </a:lnTo>
                    <a:lnTo>
                      <a:pt x="12803" y="249570"/>
                    </a:lnTo>
                    <a:lnTo>
                      <a:pt x="26697" y="258947"/>
                    </a:lnTo>
                    <a:lnTo>
                      <a:pt x="43713" y="262382"/>
                    </a:lnTo>
                    <a:lnTo>
                      <a:pt x="2009584" y="262382"/>
                    </a:lnTo>
                    <a:lnTo>
                      <a:pt x="2026610" y="258947"/>
                    </a:lnTo>
                    <a:lnTo>
                      <a:pt x="2040540" y="249570"/>
                    </a:lnTo>
                    <a:lnTo>
                      <a:pt x="2049946" y="235646"/>
                    </a:lnTo>
                    <a:lnTo>
                      <a:pt x="2053399" y="218567"/>
                    </a:lnTo>
                    <a:lnTo>
                      <a:pt x="2053399" y="43815"/>
                    </a:lnTo>
                    <a:lnTo>
                      <a:pt x="2049946" y="26735"/>
                    </a:lnTo>
                    <a:lnTo>
                      <a:pt x="2040540" y="12811"/>
                    </a:lnTo>
                    <a:lnTo>
                      <a:pt x="2026610" y="3434"/>
                    </a:lnTo>
                    <a:lnTo>
                      <a:pt x="2009584"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 name="object 124">
                <a:extLst>
                  <a:ext uri="{FF2B5EF4-FFF2-40B4-BE49-F238E27FC236}">
                    <a16:creationId xmlns:a16="http://schemas.microsoft.com/office/drawing/2014/main" id="{9684F13A-603A-6D0D-D0C8-A3031295DC73}"/>
                  </a:ext>
                </a:extLst>
              </p:cNvPr>
              <p:cNvSpPr txBox="1"/>
              <p:nvPr/>
            </p:nvSpPr>
            <p:spPr>
              <a:xfrm>
                <a:off x="1316758" y="4800374"/>
                <a:ext cx="74739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Security SME</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grpSp>
        <p:nvGrpSpPr>
          <p:cNvPr id="13" name="Group 12">
            <a:extLst>
              <a:ext uri="{FF2B5EF4-FFF2-40B4-BE49-F238E27FC236}">
                <a16:creationId xmlns:a16="http://schemas.microsoft.com/office/drawing/2014/main" id="{F7151364-E95E-5904-9F80-FE506BDF7B36}"/>
              </a:ext>
            </a:extLst>
          </p:cNvPr>
          <p:cNvGrpSpPr/>
          <p:nvPr/>
        </p:nvGrpSpPr>
        <p:grpSpPr>
          <a:xfrm>
            <a:off x="10512363" y="2026314"/>
            <a:ext cx="1038092" cy="311150"/>
            <a:chOff x="10512364" y="1788189"/>
            <a:chExt cx="1038092" cy="311150"/>
          </a:xfrm>
        </p:grpSpPr>
        <p:sp>
          <p:nvSpPr>
            <p:cNvPr id="121" name="object 121">
              <a:extLst>
                <a:ext uri="{FF2B5EF4-FFF2-40B4-BE49-F238E27FC236}">
                  <a16:creationId xmlns:a16="http://schemas.microsoft.com/office/drawing/2014/main" id="{3B87E282-AA42-2FA7-C977-ACC530C44678}"/>
                </a:ext>
              </a:extLst>
            </p:cNvPr>
            <p:cNvSpPr/>
            <p:nvPr/>
          </p:nvSpPr>
          <p:spPr>
            <a:xfrm>
              <a:off x="10531347" y="1788189"/>
              <a:ext cx="1000125" cy="311150"/>
            </a:xfrm>
            <a:prstGeom prst="roundRect">
              <a:avLst/>
            </a:pr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45" name="object 116">
              <a:extLst>
                <a:ext uri="{FF2B5EF4-FFF2-40B4-BE49-F238E27FC236}">
                  <a16:creationId xmlns:a16="http://schemas.microsoft.com/office/drawing/2014/main" id="{8022F3C9-1039-186F-7EBE-6D7361F3BA65}"/>
                </a:ext>
              </a:extLst>
            </p:cNvPr>
            <p:cNvSpPr txBox="1"/>
            <p:nvPr/>
          </p:nvSpPr>
          <p:spPr>
            <a:xfrm>
              <a:off x="10512364" y="1814562"/>
              <a:ext cx="1038092" cy="258404"/>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570"/>
                </a:spcBef>
                <a:spcAft>
                  <a:spcPts val="0"/>
                </a:spcAft>
                <a:buClrTx/>
                <a:buSzTx/>
                <a:buFontTx/>
                <a:buNone/>
                <a:tabLst/>
                <a:defRPr/>
              </a:pPr>
              <a:r>
                <a:rPr kumimoji="0" lang="en-US" sz="800" b="1" i="0" u="none" strike="noStrike" kern="0" cap="none" spc="-10" normalizeH="0" baseline="0" noProof="0">
                  <a:ln>
                    <a:noFill/>
                  </a:ln>
                  <a:solidFill>
                    <a:srgbClr val="3F3F3F"/>
                  </a:solidFill>
                  <a:effectLst/>
                  <a:uLnTx/>
                  <a:uFillTx/>
                  <a:latin typeface="CVS Health Sans"/>
                  <a:ea typeface="+mn-ea"/>
                  <a:cs typeface="CVS Health Sans"/>
                </a:rPr>
                <a:t>Platforms</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Ken</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 O’Connor</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417" name="Group 416">
            <a:extLst>
              <a:ext uri="{FF2B5EF4-FFF2-40B4-BE49-F238E27FC236}">
                <a16:creationId xmlns:a16="http://schemas.microsoft.com/office/drawing/2014/main" id="{08B90D3D-8BCC-A14D-982F-74B150727FB1}"/>
              </a:ext>
            </a:extLst>
          </p:cNvPr>
          <p:cNvGrpSpPr/>
          <p:nvPr/>
        </p:nvGrpSpPr>
        <p:grpSpPr>
          <a:xfrm>
            <a:off x="4681538" y="1621438"/>
            <a:ext cx="2335131" cy="304054"/>
            <a:chOff x="4866258" y="1621438"/>
            <a:chExt cx="2150411" cy="304054"/>
          </a:xfrm>
        </p:grpSpPr>
        <p:grpSp>
          <p:nvGrpSpPr>
            <p:cNvPr id="153" name="Group 152">
              <a:extLst>
                <a:ext uri="{FF2B5EF4-FFF2-40B4-BE49-F238E27FC236}">
                  <a16:creationId xmlns:a16="http://schemas.microsoft.com/office/drawing/2014/main" id="{861A9039-7627-87DD-1C71-7DFD16DC8C49}"/>
                </a:ext>
              </a:extLst>
            </p:cNvPr>
            <p:cNvGrpSpPr/>
            <p:nvPr/>
          </p:nvGrpSpPr>
          <p:grpSpPr>
            <a:xfrm>
              <a:off x="4866258" y="1621438"/>
              <a:ext cx="1030478" cy="304054"/>
              <a:chOff x="4866258" y="1621438"/>
              <a:chExt cx="1030478" cy="304054"/>
            </a:xfrm>
          </p:grpSpPr>
          <p:sp>
            <p:nvSpPr>
              <p:cNvPr id="150" name="Rectangle: Rounded Corners 149">
                <a:extLst>
                  <a:ext uri="{FF2B5EF4-FFF2-40B4-BE49-F238E27FC236}">
                    <a16:creationId xmlns:a16="http://schemas.microsoft.com/office/drawing/2014/main" id="{97F43EBA-9AF3-AE59-C005-CBBB7A54476B}"/>
                  </a:ext>
                </a:extLst>
              </p:cNvPr>
              <p:cNvSpPr/>
              <p:nvPr/>
            </p:nvSpPr>
            <p:spPr bwMode="gray">
              <a:xfrm>
                <a:off x="4866258" y="1621438"/>
                <a:ext cx="1030478" cy="304054"/>
              </a:xfrm>
              <a:prstGeom prst="roundRect">
                <a:avLst/>
              </a:prstGeom>
              <a:solidFill>
                <a:srgbClr val="E9E9E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8" name="TextBox 147">
                <a:extLst>
                  <a:ext uri="{FF2B5EF4-FFF2-40B4-BE49-F238E27FC236}">
                    <a16:creationId xmlns:a16="http://schemas.microsoft.com/office/drawing/2014/main" id="{175CC08D-DB44-A018-C796-DD9296F847C0}"/>
                  </a:ext>
                </a:extLst>
              </p:cNvPr>
              <p:cNvSpPr txBox="1"/>
              <p:nvPr/>
            </p:nvSpPr>
            <p:spPr>
              <a:xfrm>
                <a:off x="4890427" y="1647519"/>
                <a:ext cx="982140" cy="251892"/>
              </a:xfrm>
              <a:prstGeom prst="rect">
                <a:avLst/>
              </a:prstGeom>
              <a:noFill/>
            </p:spPr>
            <p:txBody>
              <a:bodyPr wrap="square" lIns="0" tIns="0" rIns="0" bIns="0" rtlCol="0">
                <a:noAutofit/>
              </a:bodyPr>
              <a:lstStyle/>
              <a:p>
                <a:pPr marL="0" marR="5080" lvl="0" indent="0" algn="ctr" defTabSz="914400" rtl="0" eaLnBrk="1" fontAlgn="auto" latinLnBrk="0" hangingPunct="1">
                  <a:lnSpc>
                    <a:spcPct val="100000"/>
                  </a:lnSpc>
                  <a:spcBef>
                    <a:spcPts val="95"/>
                  </a:spcBef>
                  <a:spcAft>
                    <a:spcPts val="0"/>
                  </a:spcAft>
                  <a:buClrTx/>
                  <a:buSzTx/>
                  <a:buFontTx/>
                  <a:buNone/>
                  <a:tabLst>
                    <a:tab pos="1032510" algn="l"/>
                  </a:tabLst>
                  <a:defRPr/>
                </a:pPr>
                <a:r>
                  <a:rPr kumimoji="0" lang="en-US" sz="800" b="1" i="0" u="none" strike="noStrike" kern="0" cap="none" spc="-10" normalizeH="0" baseline="0" noProof="0">
                    <a:ln>
                      <a:noFill/>
                    </a:ln>
                    <a:solidFill>
                      <a:srgbClr val="3F3F3F"/>
                    </a:solidFill>
                    <a:effectLst/>
                    <a:uLnTx/>
                    <a:uFillTx/>
                    <a:latin typeface="CVS Health Sans"/>
                    <a:ea typeface="+mn-ea"/>
                    <a:cs typeface="CVS Health Sans"/>
                  </a:rPr>
                  <a:t>Observability</a:t>
                </a:r>
                <a:r>
                  <a:rPr kumimoji="0" lang="en-US" sz="800" b="1" i="0" u="none" strike="noStrike" kern="0" cap="none" spc="70" normalizeH="0" baseline="0" noProof="0">
                    <a:ln>
                      <a:noFill/>
                    </a:ln>
                    <a:solidFill>
                      <a:srgbClr val="3F3F3F"/>
                    </a:solidFill>
                    <a:effectLst/>
                    <a:uLnTx/>
                    <a:uFillTx/>
                    <a:latin typeface="CVS Health Sans"/>
                    <a:ea typeface="+mn-ea"/>
                    <a:cs typeface="CVS Health Sans"/>
                  </a:rPr>
                  <a:t> </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Lead</a:t>
                </a:r>
              </a:p>
              <a:p>
                <a:pPr marL="0" marR="5080" lvl="0" indent="0" algn="ctr" defTabSz="914400" rtl="0" eaLnBrk="1" fontAlgn="auto" latinLnBrk="0" hangingPunct="1">
                  <a:lnSpc>
                    <a:spcPct val="100000"/>
                  </a:lnSpc>
                  <a:spcBef>
                    <a:spcPts val="95"/>
                  </a:spcBef>
                  <a:spcAft>
                    <a:spcPts val="0"/>
                  </a:spcAft>
                  <a:buClrTx/>
                  <a:buSzTx/>
                  <a:buFontTx/>
                  <a:buNone/>
                  <a:tabLst>
                    <a:tab pos="1032510" algn="l"/>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Josh</a:t>
                </a:r>
                <a:r>
                  <a:rPr kumimoji="0" lang="en-US" sz="800" b="0" i="0" u="none" strike="noStrike" kern="0" cap="none" spc="-15" normalizeH="0" baseline="0" noProof="0">
                    <a:ln>
                      <a:noFill/>
                    </a:ln>
                    <a:solidFill>
                      <a:srgbClr val="3F3F3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Sparaga</a:t>
                </a:r>
                <a:endParaRPr kumimoji="0" lang="en-US" sz="800" b="0" i="0" u="none" strike="noStrike" kern="0" cap="none" spc="0" normalizeH="0" baseline="0" noProof="0">
                  <a:ln>
                    <a:noFill/>
                  </a:ln>
                  <a:solidFill>
                    <a:srgbClr val="3F3F3F"/>
                  </a:solidFill>
                  <a:effectLst/>
                  <a:uLnTx/>
                  <a:uFillTx/>
                  <a:latin typeface="CVS Health Sans"/>
                  <a:ea typeface="+mn-ea"/>
                  <a:cs typeface="CVS Health Sans"/>
                </a:endParaRPr>
              </a:p>
            </p:txBody>
          </p:sp>
        </p:grpSp>
        <p:grpSp>
          <p:nvGrpSpPr>
            <p:cNvPr id="152" name="Group 151">
              <a:extLst>
                <a:ext uri="{FF2B5EF4-FFF2-40B4-BE49-F238E27FC236}">
                  <a16:creationId xmlns:a16="http://schemas.microsoft.com/office/drawing/2014/main" id="{30C89F3D-7D0B-55C0-5E1D-54EBF9CFE2C8}"/>
                </a:ext>
              </a:extLst>
            </p:cNvPr>
            <p:cNvGrpSpPr/>
            <p:nvPr/>
          </p:nvGrpSpPr>
          <p:grpSpPr>
            <a:xfrm>
              <a:off x="5922169" y="1621438"/>
              <a:ext cx="1094500" cy="304054"/>
              <a:chOff x="5922169" y="1621438"/>
              <a:chExt cx="1094500" cy="304054"/>
            </a:xfrm>
          </p:grpSpPr>
          <p:sp>
            <p:nvSpPr>
              <p:cNvPr id="151" name="Rectangle: Rounded Corners 150">
                <a:extLst>
                  <a:ext uri="{FF2B5EF4-FFF2-40B4-BE49-F238E27FC236}">
                    <a16:creationId xmlns:a16="http://schemas.microsoft.com/office/drawing/2014/main" id="{057E8CD0-3FB6-CCFA-36CE-F683140A813D}"/>
                  </a:ext>
                </a:extLst>
              </p:cNvPr>
              <p:cNvSpPr/>
              <p:nvPr/>
            </p:nvSpPr>
            <p:spPr bwMode="gray">
              <a:xfrm>
                <a:off x="5954180" y="1621438"/>
                <a:ext cx="1030478" cy="304054"/>
              </a:xfrm>
              <a:prstGeom prst="roundRect">
                <a:avLst/>
              </a:prstGeom>
              <a:solidFill>
                <a:srgbClr val="E9E9E9"/>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9" name="TextBox 148">
                <a:extLst>
                  <a:ext uri="{FF2B5EF4-FFF2-40B4-BE49-F238E27FC236}">
                    <a16:creationId xmlns:a16="http://schemas.microsoft.com/office/drawing/2014/main" id="{E57B9F57-5FE4-D217-8FA6-77F3F83E88A5}"/>
                  </a:ext>
                </a:extLst>
              </p:cNvPr>
              <p:cNvSpPr txBox="1"/>
              <p:nvPr/>
            </p:nvSpPr>
            <p:spPr>
              <a:xfrm>
                <a:off x="5922169" y="1647519"/>
                <a:ext cx="1094500" cy="25189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3F3F3F"/>
                    </a:solidFill>
                    <a:effectLst/>
                    <a:uLnTx/>
                    <a:uFillTx/>
                    <a:latin typeface="CVS Health Sans"/>
                    <a:ea typeface="+mn-ea"/>
                    <a:cs typeface="CVS Health Sans"/>
                  </a:rPr>
                  <a:t>Data</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 </a:t>
                </a:r>
                <a:r>
                  <a:rPr kumimoji="0" lang="en-US" sz="800" b="1" i="0" u="none" strike="noStrike" kern="0" cap="none" spc="0" normalizeH="0" baseline="0" noProof="0">
                    <a:ln>
                      <a:noFill/>
                    </a:ln>
                    <a:solidFill>
                      <a:srgbClr val="3F3F3F"/>
                    </a:solidFill>
                    <a:effectLst/>
                    <a:uLnTx/>
                    <a:uFillTx/>
                    <a:latin typeface="CVS Health Sans"/>
                    <a:ea typeface="+mn-ea"/>
                    <a:cs typeface="CVS Health Sans"/>
                  </a:rPr>
                  <a:t>Platforms</a:t>
                </a:r>
                <a:r>
                  <a:rPr kumimoji="0" lang="en-US" sz="800" b="1" i="0" u="none" strike="noStrike" kern="0" cap="none" spc="-20" normalizeH="0" baseline="0" noProof="0">
                    <a:ln>
                      <a:noFill/>
                    </a:ln>
                    <a:solidFill>
                      <a:srgbClr val="3F3F3F"/>
                    </a:solidFill>
                    <a:effectLst/>
                    <a:uLnTx/>
                    <a:uFillTx/>
                    <a:latin typeface="CVS Health Sans"/>
                    <a:ea typeface="+mn-ea"/>
                    <a:cs typeface="CVS Health Sans"/>
                  </a:rPr>
                  <a:t> Lead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Chris</a:t>
                </a:r>
                <a:r>
                  <a:rPr kumimoji="0" lang="en-US" sz="800" b="0" i="0" u="none" strike="noStrike" kern="0" cap="none" spc="-30" normalizeH="0" baseline="0" noProof="0">
                    <a:ln>
                      <a:noFill/>
                    </a:ln>
                    <a:solidFill>
                      <a:srgbClr val="3F3F3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F3F3F"/>
                    </a:solidFill>
                    <a:effectLst/>
                    <a:uLnTx/>
                    <a:uFillTx/>
                    <a:latin typeface="CVS Health Sans"/>
                    <a:ea typeface="+mn-ea"/>
                    <a:cs typeface="CVS Health Sans"/>
                  </a:rPr>
                  <a:t>Robinson</a:t>
                </a:r>
                <a:endParaRPr kumimoji="0" lang="en-US" sz="1500" b="0" i="0" u="none" strike="noStrike" kern="1200" cap="none" spc="0" normalizeH="0" baseline="0" noProof="0">
                  <a:ln>
                    <a:noFill/>
                  </a:ln>
                  <a:solidFill>
                    <a:srgbClr val="3F3F3F"/>
                  </a:solidFill>
                  <a:effectLst/>
                  <a:uLnTx/>
                  <a:uFillTx/>
                  <a:latin typeface="CVS Health Sans"/>
                  <a:ea typeface="+mn-ea"/>
                  <a:cs typeface="+mn-cs"/>
                </a:endParaRPr>
              </a:p>
            </p:txBody>
          </p:sp>
        </p:grpSp>
      </p:grpSp>
      <p:grpSp>
        <p:nvGrpSpPr>
          <p:cNvPr id="201" name="Group 200">
            <a:extLst>
              <a:ext uri="{FF2B5EF4-FFF2-40B4-BE49-F238E27FC236}">
                <a16:creationId xmlns:a16="http://schemas.microsoft.com/office/drawing/2014/main" id="{BFA0FCA5-116D-C421-9C88-BA3B697575E2}"/>
              </a:ext>
            </a:extLst>
          </p:cNvPr>
          <p:cNvGrpSpPr/>
          <p:nvPr/>
        </p:nvGrpSpPr>
        <p:grpSpPr>
          <a:xfrm>
            <a:off x="8477463" y="4456232"/>
            <a:ext cx="1721382" cy="776605"/>
            <a:chOff x="8550227" y="4374134"/>
            <a:chExt cx="1651889" cy="776605"/>
          </a:xfrm>
        </p:grpSpPr>
        <p:sp>
          <p:nvSpPr>
            <p:cNvPr id="202" name="object 77">
              <a:extLst>
                <a:ext uri="{FF2B5EF4-FFF2-40B4-BE49-F238E27FC236}">
                  <a16:creationId xmlns:a16="http://schemas.microsoft.com/office/drawing/2014/main" id="{BFF4D909-5C2B-BACC-801A-EA5AEFE53D7F}"/>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3" name="object 79">
              <a:extLst>
                <a:ext uri="{FF2B5EF4-FFF2-40B4-BE49-F238E27FC236}">
                  <a16:creationId xmlns:a16="http://schemas.microsoft.com/office/drawing/2014/main" id="{F65DB889-BB8B-D5D1-6F6F-394094D5C65F}"/>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4" name="object 80">
              <a:extLst>
                <a:ext uri="{FF2B5EF4-FFF2-40B4-BE49-F238E27FC236}">
                  <a16:creationId xmlns:a16="http://schemas.microsoft.com/office/drawing/2014/main" id="{0572C22B-4069-207D-83B9-AD00F11697F6}"/>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5" name="object 81">
              <a:extLst>
                <a:ext uri="{FF2B5EF4-FFF2-40B4-BE49-F238E27FC236}">
                  <a16:creationId xmlns:a16="http://schemas.microsoft.com/office/drawing/2014/main" id="{6A9E12D2-24A6-064C-74EA-90E084BAA271}"/>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sp>
        <p:nvSpPr>
          <p:cNvPr id="85" name="object 85">
            <a:extLst>
              <a:ext uri="{FF2B5EF4-FFF2-40B4-BE49-F238E27FC236}">
                <a16:creationId xmlns:a16="http://schemas.microsoft.com/office/drawing/2014/main" id="{593D4430-5728-2D30-C0AF-9830AD900ED2}"/>
              </a:ext>
            </a:extLst>
          </p:cNvPr>
          <p:cNvSpPr/>
          <p:nvPr/>
        </p:nvSpPr>
        <p:spPr>
          <a:xfrm>
            <a:off x="8579550" y="5292119"/>
            <a:ext cx="1475622"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75" name="object 75">
            <a:extLst>
              <a:ext uri="{FF2B5EF4-FFF2-40B4-BE49-F238E27FC236}">
                <a16:creationId xmlns:a16="http://schemas.microsoft.com/office/drawing/2014/main" id="{486D4AC6-337B-A969-AF0D-99690A3B2F90}"/>
              </a:ext>
            </a:extLst>
          </p:cNvPr>
          <p:cNvSpPr/>
          <p:nvPr/>
        </p:nvSpPr>
        <p:spPr>
          <a:xfrm>
            <a:off x="8386726" y="2961923"/>
            <a:ext cx="1893163" cy="2642235"/>
          </a:xfrm>
          <a:prstGeom prst="roundRect">
            <a:avLst>
              <a:gd name="adj" fmla="val 3334"/>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39" name="Group 138">
            <a:extLst>
              <a:ext uri="{FF2B5EF4-FFF2-40B4-BE49-F238E27FC236}">
                <a16:creationId xmlns:a16="http://schemas.microsoft.com/office/drawing/2014/main" id="{A3439C3F-F6EB-98CF-99FD-5F7F8198CD9F}"/>
              </a:ext>
            </a:extLst>
          </p:cNvPr>
          <p:cNvGrpSpPr/>
          <p:nvPr/>
        </p:nvGrpSpPr>
        <p:grpSpPr>
          <a:xfrm>
            <a:off x="8471007" y="3917271"/>
            <a:ext cx="1679818" cy="215582"/>
            <a:chOff x="8544031" y="3935672"/>
            <a:chExt cx="1612003" cy="215582"/>
          </a:xfrm>
        </p:grpSpPr>
        <p:sp>
          <p:nvSpPr>
            <p:cNvPr id="132" name="object 50">
              <a:extLst>
                <a:ext uri="{FF2B5EF4-FFF2-40B4-BE49-F238E27FC236}">
                  <a16:creationId xmlns:a16="http://schemas.microsoft.com/office/drawing/2014/main" id="{CA026B85-8B79-2B93-4447-6F7094D91F11}"/>
                </a:ext>
              </a:extLst>
            </p:cNvPr>
            <p:cNvSpPr/>
            <p:nvPr/>
          </p:nvSpPr>
          <p:spPr>
            <a:xfrm>
              <a:off x="8544031" y="3935672"/>
              <a:ext cx="1612003"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29" name="TextBox 128">
              <a:extLst>
                <a:ext uri="{FF2B5EF4-FFF2-40B4-BE49-F238E27FC236}">
                  <a16:creationId xmlns:a16="http://schemas.microsoft.com/office/drawing/2014/main" id="{53450848-15BD-0F24-BC30-63AB38052130}"/>
                </a:ext>
              </a:extLst>
            </p:cNvPr>
            <p:cNvSpPr txBox="1"/>
            <p:nvPr/>
          </p:nvSpPr>
          <p:spPr>
            <a:xfrm>
              <a:off x="8684687" y="3981457"/>
              <a:ext cx="1337998"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CVS Health Sans"/>
                  <a:ea typeface="+mn-ea"/>
                  <a:cs typeface="CVS Health Sans"/>
                </a:rPr>
                <a:t>1 Splunk</a:t>
              </a:r>
              <a:r>
                <a:rPr kumimoji="0" lang="en-US" sz="800" b="1"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1" i="0" u="none" strike="noStrike" kern="0" cap="none" spc="-20" normalizeH="0" baseline="0" noProof="0">
                  <a:ln>
                    <a:noFill/>
                  </a:ln>
                  <a:solidFill>
                    <a:srgbClr val="FFFFFF"/>
                  </a:solidFill>
                  <a:effectLst/>
                  <a:uLnTx/>
                  <a:uFillTx/>
                  <a:latin typeface="CVS Health Sans"/>
                  <a:ea typeface="+mn-ea"/>
                  <a:cs typeface="CVS Health Sans"/>
                </a:rPr>
                <a:t>Lead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Ryan</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Budnik</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140" name="Group 139">
            <a:extLst>
              <a:ext uri="{FF2B5EF4-FFF2-40B4-BE49-F238E27FC236}">
                <a16:creationId xmlns:a16="http://schemas.microsoft.com/office/drawing/2014/main" id="{D730F854-E8E2-D9C6-D18E-5F5E1FCAB823}"/>
              </a:ext>
            </a:extLst>
          </p:cNvPr>
          <p:cNvGrpSpPr/>
          <p:nvPr/>
        </p:nvGrpSpPr>
        <p:grpSpPr>
          <a:xfrm>
            <a:off x="8470900" y="4178139"/>
            <a:ext cx="1683829" cy="215582"/>
            <a:chOff x="8543929" y="4178139"/>
            <a:chExt cx="1615852" cy="215582"/>
          </a:xfrm>
        </p:grpSpPr>
        <p:sp>
          <p:nvSpPr>
            <p:cNvPr id="134" name="object 50">
              <a:extLst>
                <a:ext uri="{FF2B5EF4-FFF2-40B4-BE49-F238E27FC236}">
                  <a16:creationId xmlns:a16="http://schemas.microsoft.com/office/drawing/2014/main" id="{447DB264-C2F8-CFB0-C850-8F78407B58F1}"/>
                </a:ext>
              </a:extLst>
            </p:cNvPr>
            <p:cNvSpPr/>
            <p:nvPr/>
          </p:nvSpPr>
          <p:spPr>
            <a:xfrm>
              <a:off x="8543929" y="4178139"/>
              <a:ext cx="1615852"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1" name="TextBox 130">
              <a:extLst>
                <a:ext uri="{FF2B5EF4-FFF2-40B4-BE49-F238E27FC236}">
                  <a16:creationId xmlns:a16="http://schemas.microsoft.com/office/drawing/2014/main" id="{D5B6B8AE-BA94-2E66-B8E2-CD3A1279E506}"/>
                </a:ext>
              </a:extLst>
            </p:cNvPr>
            <p:cNvSpPr txBox="1"/>
            <p:nvPr/>
          </p:nvSpPr>
          <p:spPr>
            <a:xfrm>
              <a:off x="8644703" y="4238718"/>
              <a:ext cx="1419540" cy="94424"/>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 Lead Databricks Engineer </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143" name="Group 142">
            <a:extLst>
              <a:ext uri="{FF2B5EF4-FFF2-40B4-BE49-F238E27FC236}">
                <a16:creationId xmlns:a16="http://schemas.microsoft.com/office/drawing/2014/main" id="{7112C656-989C-93F8-D6B7-0D8E25238C14}"/>
              </a:ext>
            </a:extLst>
          </p:cNvPr>
          <p:cNvGrpSpPr/>
          <p:nvPr/>
        </p:nvGrpSpPr>
        <p:grpSpPr>
          <a:xfrm>
            <a:off x="8589541" y="4673355"/>
            <a:ext cx="1476945" cy="232410"/>
            <a:chOff x="8657780" y="4617268"/>
            <a:chExt cx="1417320" cy="232410"/>
          </a:xfrm>
        </p:grpSpPr>
        <p:sp>
          <p:nvSpPr>
            <p:cNvPr id="82" name="object 82">
              <a:extLst>
                <a:ext uri="{FF2B5EF4-FFF2-40B4-BE49-F238E27FC236}">
                  <a16:creationId xmlns:a16="http://schemas.microsoft.com/office/drawing/2014/main" id="{BC4BECDA-893D-7377-7BD4-D39D434F92F5}"/>
                </a:ext>
              </a:extLst>
            </p:cNvPr>
            <p:cNvSpPr/>
            <p:nvPr/>
          </p:nvSpPr>
          <p:spPr>
            <a:xfrm>
              <a:off x="8657780" y="4617268"/>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3" name="TextBox 132">
              <a:extLst>
                <a:ext uri="{FF2B5EF4-FFF2-40B4-BE49-F238E27FC236}">
                  <a16:creationId xmlns:a16="http://schemas.microsoft.com/office/drawing/2014/main" id="{59C35185-4C0D-846D-BDF3-F426DE501F48}"/>
                </a:ext>
              </a:extLst>
            </p:cNvPr>
            <p:cNvSpPr txBox="1"/>
            <p:nvPr/>
          </p:nvSpPr>
          <p:spPr>
            <a:xfrm>
              <a:off x="8715279" y="4671467"/>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7 Data Engineers (1/Pod)</a:t>
              </a:r>
            </a:p>
          </p:txBody>
        </p:sp>
      </p:grpSp>
      <p:grpSp>
        <p:nvGrpSpPr>
          <p:cNvPr id="144" name="Group 143">
            <a:extLst>
              <a:ext uri="{FF2B5EF4-FFF2-40B4-BE49-F238E27FC236}">
                <a16:creationId xmlns:a16="http://schemas.microsoft.com/office/drawing/2014/main" id="{C55095C3-5306-E5AC-76E4-9A1777BDF097}"/>
              </a:ext>
            </a:extLst>
          </p:cNvPr>
          <p:cNvGrpSpPr/>
          <p:nvPr/>
        </p:nvGrpSpPr>
        <p:grpSpPr>
          <a:xfrm>
            <a:off x="8589541" y="4928573"/>
            <a:ext cx="1476945" cy="232410"/>
            <a:chOff x="8657780" y="4899969"/>
            <a:chExt cx="1417320" cy="232410"/>
          </a:xfrm>
        </p:grpSpPr>
        <p:sp>
          <p:nvSpPr>
            <p:cNvPr id="83" name="object 83">
              <a:extLst>
                <a:ext uri="{FF2B5EF4-FFF2-40B4-BE49-F238E27FC236}">
                  <a16:creationId xmlns:a16="http://schemas.microsoft.com/office/drawing/2014/main" id="{DE3D6AA1-5D35-3FFB-742C-491069672BA0}"/>
                </a:ext>
              </a:extLst>
            </p:cNvPr>
            <p:cNvSpPr/>
            <p:nvPr/>
          </p:nvSpPr>
          <p:spPr>
            <a:xfrm>
              <a:off x="8657780" y="4899969"/>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35" name="TextBox 134">
              <a:extLst>
                <a:ext uri="{FF2B5EF4-FFF2-40B4-BE49-F238E27FC236}">
                  <a16:creationId xmlns:a16="http://schemas.microsoft.com/office/drawing/2014/main" id="{3DF5A0B0-69FF-FA71-C336-C35EE01FAF14}"/>
                </a:ext>
              </a:extLst>
            </p:cNvPr>
            <p:cNvSpPr txBox="1"/>
            <p:nvPr/>
          </p:nvSpPr>
          <p:spPr>
            <a:xfrm>
              <a:off x="8715279" y="4954168"/>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14 Data Engineers (2/Pod)</a:t>
              </a:r>
            </a:p>
          </p:txBody>
        </p:sp>
      </p:grpSp>
      <p:sp>
        <p:nvSpPr>
          <p:cNvPr id="136" name="TextBox 135">
            <a:extLst>
              <a:ext uri="{FF2B5EF4-FFF2-40B4-BE49-F238E27FC236}">
                <a16:creationId xmlns:a16="http://schemas.microsoft.com/office/drawing/2014/main" id="{8C86625B-94DB-62EB-FF02-0851DEACF231}"/>
              </a:ext>
            </a:extLst>
          </p:cNvPr>
          <p:cNvSpPr txBox="1"/>
          <p:nvPr/>
        </p:nvSpPr>
        <p:spPr>
          <a:xfrm>
            <a:off x="8638806" y="5363463"/>
            <a:ext cx="1357109"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3F3F3F"/>
                </a:solidFill>
                <a:effectLst/>
                <a:uLnTx/>
                <a:uFillTx/>
                <a:latin typeface="CVS Health Sans"/>
                <a:ea typeface="+mn-ea"/>
                <a:cs typeface="CVS Health Sans"/>
              </a:rPr>
              <a:t>Splunk Enterprise</a:t>
            </a:r>
          </a:p>
        </p:txBody>
      </p:sp>
      <p:sp>
        <p:nvSpPr>
          <p:cNvPr id="164" name="object 75">
            <a:extLst>
              <a:ext uri="{FF2B5EF4-FFF2-40B4-BE49-F238E27FC236}">
                <a16:creationId xmlns:a16="http://schemas.microsoft.com/office/drawing/2014/main" id="{60BDBC83-F1BE-8E66-80F3-9293B4CA38F1}"/>
              </a:ext>
            </a:extLst>
          </p:cNvPr>
          <p:cNvSpPr/>
          <p:nvPr/>
        </p:nvSpPr>
        <p:spPr>
          <a:xfrm>
            <a:off x="6372938" y="2961923"/>
            <a:ext cx="1893163" cy="2642235"/>
          </a:xfrm>
          <a:prstGeom prst="roundRect">
            <a:avLst>
              <a:gd name="adj" fmla="val 3585"/>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167" name="Group 166">
            <a:extLst>
              <a:ext uri="{FF2B5EF4-FFF2-40B4-BE49-F238E27FC236}">
                <a16:creationId xmlns:a16="http://schemas.microsoft.com/office/drawing/2014/main" id="{823E23CD-AADE-03FC-442E-F8BF25DC553D}"/>
              </a:ext>
            </a:extLst>
          </p:cNvPr>
          <p:cNvGrpSpPr/>
          <p:nvPr/>
        </p:nvGrpSpPr>
        <p:grpSpPr>
          <a:xfrm>
            <a:off x="6575752" y="4911720"/>
            <a:ext cx="1476945" cy="232410"/>
            <a:chOff x="8657780" y="4617268"/>
            <a:chExt cx="1417320" cy="232410"/>
          </a:xfrm>
        </p:grpSpPr>
        <p:sp>
          <p:nvSpPr>
            <p:cNvPr id="171" name="object 82">
              <a:extLst>
                <a:ext uri="{FF2B5EF4-FFF2-40B4-BE49-F238E27FC236}">
                  <a16:creationId xmlns:a16="http://schemas.microsoft.com/office/drawing/2014/main" id="{67C84D53-18A8-CB97-2340-879B52CDF42A}"/>
                </a:ext>
              </a:extLst>
            </p:cNvPr>
            <p:cNvSpPr/>
            <p:nvPr/>
          </p:nvSpPr>
          <p:spPr>
            <a:xfrm>
              <a:off x="8657780" y="4617268"/>
              <a:ext cx="1417320" cy="232410"/>
            </a:xfrm>
            <a:custGeom>
              <a:avLst/>
              <a:gdLst/>
              <a:ahLst/>
              <a:cxnLst/>
              <a:rect l="l" t="t" r="r" b="b"/>
              <a:pathLst>
                <a:path w="1417320" h="232410">
                  <a:moveTo>
                    <a:pt x="1378712" y="0"/>
                  </a:moveTo>
                  <a:lnTo>
                    <a:pt x="38735" y="0"/>
                  </a:lnTo>
                  <a:lnTo>
                    <a:pt x="23627" y="3051"/>
                  </a:lnTo>
                  <a:lnTo>
                    <a:pt x="11318" y="11366"/>
                  </a:lnTo>
                  <a:lnTo>
                    <a:pt x="3034" y="23681"/>
                  </a:lnTo>
                  <a:lnTo>
                    <a:pt x="0" y="38735"/>
                  </a:lnTo>
                  <a:lnTo>
                    <a:pt x="0" y="193421"/>
                  </a:lnTo>
                  <a:lnTo>
                    <a:pt x="3034" y="208474"/>
                  </a:lnTo>
                  <a:lnTo>
                    <a:pt x="11318" y="220789"/>
                  </a:lnTo>
                  <a:lnTo>
                    <a:pt x="23627" y="229104"/>
                  </a:lnTo>
                  <a:lnTo>
                    <a:pt x="38735" y="232156"/>
                  </a:lnTo>
                  <a:lnTo>
                    <a:pt x="1378712" y="232156"/>
                  </a:lnTo>
                  <a:lnTo>
                    <a:pt x="1393745" y="229104"/>
                  </a:lnTo>
                  <a:lnTo>
                    <a:pt x="1406017" y="220789"/>
                  </a:lnTo>
                  <a:lnTo>
                    <a:pt x="1414287" y="208474"/>
                  </a:lnTo>
                  <a:lnTo>
                    <a:pt x="1417320" y="193421"/>
                  </a:lnTo>
                  <a:lnTo>
                    <a:pt x="1417320" y="38735"/>
                  </a:lnTo>
                  <a:lnTo>
                    <a:pt x="1414287" y="23681"/>
                  </a:lnTo>
                  <a:lnTo>
                    <a:pt x="1406016" y="11366"/>
                  </a:lnTo>
                  <a:lnTo>
                    <a:pt x="1393745" y="3051"/>
                  </a:lnTo>
                  <a:lnTo>
                    <a:pt x="1378712" y="0"/>
                  </a:lnTo>
                  <a:close/>
                </a:path>
              </a:pathLst>
            </a:cu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2" name="TextBox 171">
              <a:extLst>
                <a:ext uri="{FF2B5EF4-FFF2-40B4-BE49-F238E27FC236}">
                  <a16:creationId xmlns:a16="http://schemas.microsoft.com/office/drawing/2014/main" id="{403768F6-2D01-7C6E-BAAD-35D5A306C424}"/>
                </a:ext>
              </a:extLst>
            </p:cNvPr>
            <p:cNvSpPr txBox="1"/>
            <p:nvPr/>
          </p:nvSpPr>
          <p:spPr>
            <a:xfrm>
              <a:off x="8715279" y="4671467"/>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1</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Lead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 Engineer</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12" name="Group 211">
            <a:extLst>
              <a:ext uri="{FF2B5EF4-FFF2-40B4-BE49-F238E27FC236}">
                <a16:creationId xmlns:a16="http://schemas.microsoft.com/office/drawing/2014/main" id="{394F33BF-440C-DD0E-BFF9-09E0BAFEF028}"/>
              </a:ext>
            </a:extLst>
          </p:cNvPr>
          <p:cNvGrpSpPr/>
          <p:nvPr/>
        </p:nvGrpSpPr>
        <p:grpSpPr>
          <a:xfrm>
            <a:off x="6565761" y="5292119"/>
            <a:ext cx="1475622" cy="266700"/>
            <a:chOff x="6715701" y="5292119"/>
            <a:chExt cx="1416050" cy="266700"/>
          </a:xfrm>
        </p:grpSpPr>
        <p:sp>
          <p:nvSpPr>
            <p:cNvPr id="158" name="object 85">
              <a:extLst>
                <a:ext uri="{FF2B5EF4-FFF2-40B4-BE49-F238E27FC236}">
                  <a16:creationId xmlns:a16="http://schemas.microsoft.com/office/drawing/2014/main" id="{BDAE45F5-5F4A-7F98-C43B-4E2FD01BE22C}"/>
                </a:ext>
              </a:extLst>
            </p:cNvPr>
            <p:cNvSpPr/>
            <p:nvPr/>
          </p:nvSpPr>
          <p:spPr>
            <a:xfrm>
              <a:off x="6715701" y="5292119"/>
              <a:ext cx="1416050"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60" name="TextBox 159">
              <a:extLst>
                <a:ext uri="{FF2B5EF4-FFF2-40B4-BE49-F238E27FC236}">
                  <a16:creationId xmlns:a16="http://schemas.microsoft.com/office/drawing/2014/main" id="{1E984F7E-B635-7CF2-6293-2D58677F0E21}"/>
                </a:ext>
              </a:extLst>
            </p:cNvPr>
            <p:cNvSpPr txBox="1"/>
            <p:nvPr/>
          </p:nvSpPr>
          <p:spPr>
            <a:xfrm>
              <a:off x="6772565" y="5363463"/>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3E3E3E"/>
                  </a:solidFill>
                  <a:effectLst/>
                  <a:uLnTx/>
                  <a:uFillTx/>
                  <a:latin typeface="CVS Health Sans"/>
                  <a:ea typeface="+mn-ea"/>
                  <a:cs typeface="CVS Health Sans"/>
                </a:rPr>
                <a:t>Data</a:t>
              </a:r>
              <a:r>
                <a:rPr kumimoji="0" lang="en-US" sz="800" b="0" i="0" u="none" strike="noStrike" kern="0" cap="none" spc="-25" normalizeH="0" baseline="0" noProof="0">
                  <a:ln>
                    <a:noFill/>
                  </a:ln>
                  <a:solidFill>
                    <a:srgbClr val="3E3E3E"/>
                  </a:solidFill>
                  <a:effectLst/>
                  <a:uLnTx/>
                  <a:uFillTx/>
                  <a:latin typeface="CVS Health Sans"/>
                  <a:ea typeface="+mn-ea"/>
                  <a:cs typeface="CVS Health Sans"/>
                </a:rPr>
                <a:t> </a:t>
              </a:r>
              <a:r>
                <a:rPr kumimoji="0" lang="en-US" sz="800" b="0" i="0" u="none" strike="noStrike" kern="0" cap="none" spc="-10" normalizeH="0" baseline="0" noProof="0">
                  <a:ln>
                    <a:noFill/>
                  </a:ln>
                  <a:solidFill>
                    <a:srgbClr val="3E3E3E"/>
                  </a:solidFill>
                  <a:effectLst/>
                  <a:uLnTx/>
                  <a:uFillTx/>
                  <a:latin typeface="CVS Health Sans"/>
                  <a:ea typeface="+mn-ea"/>
                  <a:cs typeface="CVS Health Sans"/>
                </a:rPr>
                <a:t>Engineers</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86" name="object 86">
            <a:extLst>
              <a:ext uri="{FF2B5EF4-FFF2-40B4-BE49-F238E27FC236}">
                <a16:creationId xmlns:a16="http://schemas.microsoft.com/office/drawing/2014/main" id="{A86759D9-BDF4-42C1-AADD-36591884C802}"/>
              </a:ext>
            </a:extLst>
          </p:cNvPr>
          <p:cNvSpPr txBox="1"/>
          <p:nvPr/>
        </p:nvSpPr>
        <p:spPr>
          <a:xfrm>
            <a:off x="8835740" y="3006499"/>
            <a:ext cx="1677287" cy="704680"/>
          </a:xfrm>
          <a:prstGeom prst="rect">
            <a:avLst/>
          </a:prstGeom>
          <a:ln>
            <a:noFill/>
          </a:ln>
        </p:spPr>
        <p:txBody>
          <a:bodyPr vert="horz" wrap="square" lIns="0" tIns="12065" rIns="0" bIns="0" rtlCol="0">
            <a:spAutoFit/>
          </a:bodyPr>
          <a:lstStyle/>
          <a:p>
            <a:pPr marL="0" marR="26797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D:</a:t>
            </a:r>
            <a:r>
              <a:rPr kumimoji="0" sz="900" b="1" i="0" u="none" strike="noStrike" kern="0" cap="none" spc="-10" normalizeH="0" baseline="0" noProof="0">
                <a:ln>
                  <a:noFill/>
                </a:ln>
                <a:solidFill>
                  <a:srgbClr val="0A4B8C"/>
                </a:solidFill>
                <a:effectLst/>
                <a:uLnTx/>
                <a:uFillTx/>
                <a:latin typeface="CVS Health Sans"/>
                <a:ea typeface="+mn-ea"/>
                <a:cs typeface="CVS Health Sans"/>
              </a:rPr>
              <a:t> Observability, Availability,</a:t>
            </a:r>
            <a:r>
              <a:rPr kumimoji="0" sz="900" b="1" i="0" u="none" strike="noStrike" kern="0" cap="none" spc="80" normalizeH="0" baseline="0" noProof="0">
                <a:ln>
                  <a:noFill/>
                </a:ln>
                <a:solidFill>
                  <a:srgbClr val="0A4B8C"/>
                </a:solidFill>
                <a:effectLst/>
                <a:uLnTx/>
                <a:uFillTx/>
                <a:latin typeface="CVS Health Sans"/>
                <a:ea typeface="+mn-ea"/>
                <a:cs typeface="CVS Health Sans"/>
              </a:rPr>
              <a:t> </a:t>
            </a:r>
            <a:r>
              <a:rPr kumimoji="0" sz="900" b="1" i="0" u="none" strike="noStrike" kern="0" cap="none" spc="-25" normalizeH="0" baseline="0" noProof="0">
                <a:ln>
                  <a:noFill/>
                </a:ln>
                <a:solidFill>
                  <a:srgbClr val="0A4B8C"/>
                </a:solidFill>
                <a:effectLst/>
                <a:uLnTx/>
                <a:uFillTx/>
                <a:latin typeface="CVS Health Sans"/>
                <a:ea typeface="+mn-ea"/>
                <a:cs typeface="CVS Health Sans"/>
              </a:rPr>
              <a:t>and</a:t>
            </a:r>
            <a:r>
              <a:rPr kumimoji="0" sz="900" b="1" i="0" u="none" strike="noStrike" kern="0" cap="none" spc="-10" normalizeH="0" baseline="0" noProof="0">
                <a:ln>
                  <a:noFill/>
                </a:ln>
                <a:solidFill>
                  <a:srgbClr val="0A4B8C"/>
                </a:solidFill>
                <a:effectLst/>
                <a:uLnTx/>
                <a:uFillTx/>
                <a:latin typeface="CVS Health Sans"/>
                <a:ea typeface="+mn-ea"/>
                <a:cs typeface="CVS Health Sans"/>
              </a:rPr>
              <a:t> Performance</a:t>
            </a:r>
            <a:r>
              <a:rPr kumimoji="0" lang="en-US" sz="900" b="1" i="0" u="none" strike="noStrike" kern="0" cap="none" spc="-10"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Monitoring Rationalization</a:t>
            </a:r>
            <a:r>
              <a:rPr kumimoji="0" sz="900" b="1" i="0" u="none" strike="noStrike" kern="0" cap="none" spc="9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br>
              <a:rPr kumimoji="0" lang="en-US" sz="900" b="1" i="0" u="none" strike="noStrike" kern="0" cap="none" spc="-50" normalizeH="0" baseline="0" noProof="0">
                <a:ln>
                  <a:noFill/>
                </a:ln>
                <a:solidFill>
                  <a:srgbClr val="0A4B8C"/>
                </a:solidFill>
                <a:effectLst/>
                <a:uLnTx/>
                <a:uFillTx/>
                <a:latin typeface="CVS Health Sans"/>
                <a:ea typeface="+mn-ea"/>
                <a:cs typeface="CVS Health Sans"/>
              </a:rPr>
            </a:b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lang="en-US" sz="900" kern="0" spc="-10">
                <a:solidFill>
                  <a:srgbClr val="0A4B8C"/>
                </a:solidFill>
                <a:latin typeface="CVS Health Sans"/>
                <a:cs typeface="CVS Health Sans"/>
              </a:rPr>
              <a:t>Sept</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 ’26 - May ’27</a:t>
            </a:r>
            <a:endParaRPr kumimoji="0" lang="en-US" sz="600" b="0" i="0" u="none" strike="noStrike" kern="0" cap="none" spc="-10" normalizeH="0" baseline="0" noProof="0">
              <a:ln>
                <a:noFill/>
              </a:ln>
              <a:solidFill>
                <a:srgbClr val="0A4B8C"/>
              </a:solidFill>
              <a:effectLst/>
              <a:uLnTx/>
              <a:uFillTx/>
              <a:latin typeface="CVS Health Sans"/>
              <a:ea typeface="+mn-ea"/>
              <a:cs typeface="CVS Health Sans"/>
            </a:endParaRPr>
          </a:p>
        </p:txBody>
      </p:sp>
      <p:sp>
        <p:nvSpPr>
          <p:cNvPr id="55" name="object 55">
            <a:extLst>
              <a:ext uri="{FF2B5EF4-FFF2-40B4-BE49-F238E27FC236}">
                <a16:creationId xmlns:a16="http://schemas.microsoft.com/office/drawing/2014/main" id="{A091818B-9EB0-2B95-8DD0-494907BAFA51}"/>
              </a:ext>
            </a:extLst>
          </p:cNvPr>
          <p:cNvSpPr txBox="1"/>
          <p:nvPr/>
        </p:nvSpPr>
        <p:spPr>
          <a:xfrm>
            <a:off x="4607943" y="4325395"/>
            <a:ext cx="1104400" cy="119905"/>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700" b="0" i="0" u="none" strike="noStrike" kern="0" cap="none" spc="0" normalizeH="0" baseline="0" noProof="0">
                <a:ln>
                  <a:noFill/>
                </a:ln>
                <a:solidFill>
                  <a:srgbClr val="FFFFFF"/>
                </a:solidFill>
                <a:effectLst/>
                <a:uLnTx/>
                <a:uFillTx/>
                <a:latin typeface="CVS Health Sans"/>
                <a:ea typeface="+mn-ea"/>
                <a:cs typeface="CVS Health Sans"/>
              </a:rPr>
              <a:t>4</a:t>
            </a:r>
            <a:r>
              <a:rPr kumimoji="0" sz="700" b="0" i="0" u="none" strike="noStrike" kern="0" cap="none" spc="-40" normalizeH="0" baseline="0" noProof="0">
                <a:ln>
                  <a:noFill/>
                </a:ln>
                <a:solidFill>
                  <a:srgbClr val="FFFFFF"/>
                </a:solidFill>
                <a:effectLst/>
                <a:uLnTx/>
                <a:uFillTx/>
                <a:latin typeface="CVS Health Sans"/>
                <a:ea typeface="+mn-ea"/>
                <a:cs typeface="CVS Health Sans"/>
              </a:rPr>
              <a:t> </a:t>
            </a:r>
            <a:r>
              <a:rPr kumimoji="0" sz="700" b="0" i="0" u="none" strike="noStrike" kern="0" cap="none" spc="0" normalizeH="0" baseline="0" noProof="0">
                <a:ln>
                  <a:noFill/>
                </a:ln>
                <a:solidFill>
                  <a:srgbClr val="FFFFFF"/>
                </a:solidFill>
                <a:effectLst/>
                <a:uLnTx/>
                <a:uFillTx/>
                <a:latin typeface="CVS Health Sans"/>
                <a:ea typeface="+mn-ea"/>
                <a:cs typeface="CVS Health Sans"/>
              </a:rPr>
              <a:t>Data</a:t>
            </a:r>
            <a:r>
              <a:rPr kumimoji="0" sz="700" b="0" i="0" u="none" strike="noStrike" kern="0" cap="none" spc="-15" normalizeH="0" baseline="0" noProof="0">
                <a:ln>
                  <a:noFill/>
                </a:ln>
                <a:solidFill>
                  <a:srgbClr val="FFFFFF"/>
                </a:solidFill>
                <a:effectLst/>
                <a:uLnTx/>
                <a:uFillTx/>
                <a:latin typeface="CVS Health Sans"/>
                <a:ea typeface="+mn-ea"/>
                <a:cs typeface="CVS Health Sans"/>
              </a:rPr>
              <a:t> </a:t>
            </a:r>
            <a:r>
              <a:rPr kumimoji="0" sz="7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sz="700" b="0" i="0" u="none" strike="noStrike" kern="0" cap="none" spc="-20" normalizeH="0" baseline="0" noProof="0">
                <a:ln>
                  <a:noFill/>
                </a:ln>
                <a:solidFill>
                  <a:srgbClr val="FFFFFF"/>
                </a:solidFill>
                <a:effectLst/>
                <a:uLnTx/>
                <a:uFillTx/>
                <a:latin typeface="CVS Health Sans"/>
                <a:ea typeface="+mn-ea"/>
                <a:cs typeface="CVS Health Sans"/>
              </a:rPr>
              <a:t> </a:t>
            </a:r>
            <a:r>
              <a:rPr kumimoji="0" sz="7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7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56" name="object 56">
            <a:extLst>
              <a:ext uri="{FF2B5EF4-FFF2-40B4-BE49-F238E27FC236}">
                <a16:creationId xmlns:a16="http://schemas.microsoft.com/office/drawing/2014/main" id="{05107DF3-F05C-6161-6186-58C2935FFBFE}"/>
              </a:ext>
            </a:extLst>
          </p:cNvPr>
          <p:cNvSpPr txBox="1"/>
          <p:nvPr/>
        </p:nvSpPr>
        <p:spPr>
          <a:xfrm>
            <a:off x="4412234" y="4130288"/>
            <a:ext cx="106908" cy="123189"/>
          </a:xfrm>
          <a:prstGeom prst="rect">
            <a:avLst/>
          </a:prstGeom>
        </p:spPr>
        <p:txBody>
          <a:bodyPr vert="vert270" wrap="square" lIns="0" tIns="0" rIns="0" bIns="0" rtlCol="0">
            <a:spAutoFit/>
          </a:bodyPr>
          <a:lstStyle/>
          <a:p>
            <a:pPr marL="12700" marR="0" lvl="0" indent="0" algn="l" defTabSz="914400" rtl="0" eaLnBrk="1" fontAlgn="auto" latinLnBrk="0" hangingPunct="1">
              <a:lnSpc>
                <a:spcPts val="755"/>
              </a:lnSpc>
              <a:spcBef>
                <a:spcPts val="0"/>
              </a:spcBef>
              <a:spcAft>
                <a:spcPts val="0"/>
              </a:spcAft>
              <a:buClrTx/>
              <a:buSzTx/>
              <a:buFontTx/>
              <a:buNone/>
              <a:tabLst/>
              <a:defRPr/>
            </a:pPr>
            <a:r>
              <a:rPr kumimoji="0" sz="700" b="1" i="0" u="none" strike="noStrike" kern="0" cap="none" spc="-25" normalizeH="0" baseline="0" noProof="0">
                <a:ln>
                  <a:noFill/>
                </a:ln>
                <a:solidFill>
                  <a:srgbClr val="3F3F3F"/>
                </a:solidFill>
                <a:effectLst/>
                <a:uLnTx/>
                <a:uFillTx/>
                <a:latin typeface="CVS Health Sans"/>
                <a:ea typeface="+mn-ea"/>
                <a:cs typeface="CVS Health Sans"/>
              </a:rPr>
              <a:t>B1</a:t>
            </a:r>
            <a:endParaRPr kumimoji="0" sz="7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57" name="object 57">
            <a:extLst>
              <a:ext uri="{FF2B5EF4-FFF2-40B4-BE49-F238E27FC236}">
                <a16:creationId xmlns:a16="http://schemas.microsoft.com/office/drawing/2014/main" id="{8638CB54-F22C-4DE1-DBBC-243C82C54C54}"/>
              </a:ext>
            </a:extLst>
          </p:cNvPr>
          <p:cNvSpPr txBox="1"/>
          <p:nvPr/>
        </p:nvSpPr>
        <p:spPr>
          <a:xfrm>
            <a:off x="4412234" y="4837185"/>
            <a:ext cx="106908" cy="137160"/>
          </a:xfrm>
          <a:prstGeom prst="rect">
            <a:avLst/>
          </a:prstGeom>
        </p:spPr>
        <p:txBody>
          <a:bodyPr vert="vert270" wrap="square" lIns="0" tIns="0" rIns="0" bIns="0" rtlCol="0">
            <a:spAutoFit/>
          </a:bodyPr>
          <a:lstStyle/>
          <a:p>
            <a:pPr marL="12700" marR="0" lvl="0" indent="0" algn="l" defTabSz="914400" rtl="0" eaLnBrk="1" fontAlgn="auto" latinLnBrk="0" hangingPunct="1">
              <a:lnSpc>
                <a:spcPts val="755"/>
              </a:lnSpc>
              <a:spcBef>
                <a:spcPts val="0"/>
              </a:spcBef>
              <a:spcAft>
                <a:spcPts val="0"/>
              </a:spcAft>
              <a:buClrTx/>
              <a:buSzTx/>
              <a:buFontTx/>
              <a:buNone/>
              <a:tabLst/>
              <a:defRPr/>
            </a:pPr>
            <a:r>
              <a:rPr kumimoji="0" sz="700" b="1" i="0" u="none" strike="noStrike" kern="0" cap="none" spc="-25" normalizeH="0" baseline="0" noProof="0">
                <a:ln>
                  <a:noFill/>
                </a:ln>
                <a:solidFill>
                  <a:srgbClr val="3F3F3F"/>
                </a:solidFill>
                <a:effectLst/>
                <a:uLnTx/>
                <a:uFillTx/>
                <a:latin typeface="CVS Health Sans"/>
                <a:ea typeface="+mn-ea"/>
                <a:cs typeface="CVS Health Sans"/>
              </a:rPr>
              <a:t>B2</a:t>
            </a:r>
            <a:endParaRPr kumimoji="0" sz="700" b="0" i="0" u="none" strike="noStrike" kern="0" cap="none" spc="0" normalizeH="0" baseline="0" noProof="0">
              <a:ln>
                <a:noFill/>
              </a:ln>
              <a:solidFill>
                <a:srgbClr val="3F3F3F"/>
              </a:solidFill>
              <a:effectLst/>
              <a:uLnTx/>
              <a:uFillTx/>
              <a:latin typeface="CVS Health Sans"/>
              <a:ea typeface="+mn-ea"/>
              <a:cs typeface="CVS Health Sans"/>
            </a:endParaRPr>
          </a:p>
        </p:txBody>
      </p:sp>
      <p:sp>
        <p:nvSpPr>
          <p:cNvPr id="73" name="object 73">
            <a:extLst>
              <a:ext uri="{FF2B5EF4-FFF2-40B4-BE49-F238E27FC236}">
                <a16:creationId xmlns:a16="http://schemas.microsoft.com/office/drawing/2014/main" id="{9C86DAC6-709D-7402-2BE4-FD4D11167343}"/>
              </a:ext>
            </a:extLst>
          </p:cNvPr>
          <p:cNvSpPr txBox="1"/>
          <p:nvPr/>
        </p:nvSpPr>
        <p:spPr>
          <a:xfrm>
            <a:off x="6883850" y="3006499"/>
            <a:ext cx="1318854" cy="415498"/>
          </a:xfrm>
          <a:prstGeom prst="rect">
            <a:avLst/>
          </a:prstGeom>
        </p:spPr>
        <p:txBody>
          <a:bodyPr vert="horz" wrap="square" lIns="0" tIns="0" rIns="0" bIns="0" rtlCol="0">
            <a:spAutoFit/>
          </a:bodyPr>
          <a:lstStyle/>
          <a:p>
            <a:pPr marL="12700" marR="5080"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C:</a:t>
            </a: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Architecture</a:t>
            </a:r>
            <a:r>
              <a:rPr kumimoji="0" sz="900" b="1" i="0" u="none" strike="noStrike" kern="0" cap="none" spc="55"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&amp;</a:t>
            </a:r>
            <a:r>
              <a:rPr kumimoji="0" sz="900" b="1" i="0" u="none" strike="noStrike" kern="0" cap="none" spc="-10" normalizeH="0" baseline="0" noProof="0">
                <a:ln>
                  <a:noFill/>
                </a:ln>
                <a:solidFill>
                  <a:srgbClr val="0A4B8C"/>
                </a:solidFill>
                <a:effectLst/>
                <a:uLnTx/>
                <a:uFillTx/>
                <a:latin typeface="CVS Health Sans"/>
                <a:ea typeface="+mn-ea"/>
                <a:cs typeface="CVS Health Sans"/>
              </a:rPr>
              <a:t> Pipeline </a:t>
            </a:r>
            <a:r>
              <a:rPr kumimoji="0" sz="900" b="1" i="0" u="none" strike="noStrike" kern="0" cap="none" spc="0" normalizeH="0" baseline="0" noProof="0">
                <a:ln>
                  <a:noFill/>
                </a:ln>
                <a:solidFill>
                  <a:srgbClr val="0A4B8C"/>
                </a:solidFill>
                <a:effectLst/>
                <a:uLnTx/>
                <a:uFillTx/>
                <a:latin typeface="CVS Health Sans"/>
                <a:ea typeface="+mn-ea"/>
                <a:cs typeface="CVS Health Sans"/>
              </a:rPr>
              <a:t>Enablement</a:t>
            </a:r>
            <a:r>
              <a:rPr kumimoji="0" sz="900" b="1" i="0" u="none" strike="noStrike" kern="0" cap="none" spc="-40" normalizeH="0" baseline="0" noProof="0">
                <a:ln>
                  <a:noFill/>
                </a:ln>
                <a:solidFill>
                  <a:srgbClr val="0A4B8C"/>
                </a:solidFill>
                <a:effectLst/>
                <a:uLnTx/>
                <a:uFillTx/>
                <a:latin typeface="CVS Health Sans"/>
                <a:ea typeface="+mn-ea"/>
                <a:cs typeface="CVS Health Sans"/>
              </a:rPr>
              <a:t> </a:t>
            </a:r>
            <a:r>
              <a:rPr kumimoji="0" lang="en-US" sz="900" b="1" i="0" u="none" strike="noStrike" kern="0" cap="none" spc="-50" normalizeH="0" baseline="0" noProof="0">
                <a:ln>
                  <a:noFill/>
                </a:ln>
                <a:solidFill>
                  <a:srgbClr val="0A4B8C"/>
                </a:solidFill>
                <a:effectLst/>
                <a:uLnTx/>
                <a:uFillTx/>
                <a:latin typeface="CVS Health Sans"/>
                <a:ea typeface="+mn-ea"/>
                <a:cs typeface="CVS Health Sans"/>
              </a:rPr>
              <a:t>| </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’26 - May ’27</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84" name="object 84">
            <a:extLst>
              <a:ext uri="{FF2B5EF4-FFF2-40B4-BE49-F238E27FC236}">
                <a16:creationId xmlns:a16="http://schemas.microsoft.com/office/drawing/2014/main" id="{0B47A5DC-D333-D057-70B2-B665C5537373}"/>
              </a:ext>
            </a:extLst>
          </p:cNvPr>
          <p:cNvSpPr/>
          <p:nvPr/>
        </p:nvSpPr>
        <p:spPr>
          <a:xfrm>
            <a:off x="8458357" y="3042441"/>
            <a:ext cx="305753" cy="302895"/>
          </a:xfrm>
          <a:custGeom>
            <a:avLst/>
            <a:gdLst/>
            <a:ahLst/>
            <a:cxnLst/>
            <a:rect l="l" t="t" r="r" b="b"/>
            <a:pathLst>
              <a:path w="311784" h="302894">
                <a:moveTo>
                  <a:pt x="309117" y="178942"/>
                </a:moveTo>
                <a:lnTo>
                  <a:pt x="310284" y="172227"/>
                </a:lnTo>
                <a:lnTo>
                  <a:pt x="311118" y="165417"/>
                </a:lnTo>
                <a:lnTo>
                  <a:pt x="311618" y="158511"/>
                </a:lnTo>
                <a:lnTo>
                  <a:pt x="311784" y="151511"/>
                </a:lnTo>
                <a:lnTo>
                  <a:pt x="311618" y="144508"/>
                </a:lnTo>
                <a:lnTo>
                  <a:pt x="311118" y="137588"/>
                </a:lnTo>
                <a:lnTo>
                  <a:pt x="310284" y="130740"/>
                </a:lnTo>
                <a:lnTo>
                  <a:pt x="309117" y="123951"/>
                </a:lnTo>
                <a:lnTo>
                  <a:pt x="278129" y="116331"/>
                </a:lnTo>
                <a:lnTo>
                  <a:pt x="276058" y="110116"/>
                </a:lnTo>
                <a:lnTo>
                  <a:pt x="273653" y="104044"/>
                </a:lnTo>
                <a:lnTo>
                  <a:pt x="270914" y="98115"/>
                </a:lnTo>
                <a:lnTo>
                  <a:pt x="267842" y="92328"/>
                </a:lnTo>
                <a:lnTo>
                  <a:pt x="284352" y="65531"/>
                </a:lnTo>
                <a:lnTo>
                  <a:pt x="275744" y="54566"/>
                </a:lnTo>
                <a:lnTo>
                  <a:pt x="266160" y="44386"/>
                </a:lnTo>
                <a:lnTo>
                  <a:pt x="255670" y="35063"/>
                </a:lnTo>
                <a:lnTo>
                  <a:pt x="244348" y="26669"/>
                </a:lnTo>
                <a:lnTo>
                  <a:pt x="216788" y="42672"/>
                </a:lnTo>
                <a:lnTo>
                  <a:pt x="210883" y="39695"/>
                </a:lnTo>
                <a:lnTo>
                  <a:pt x="204787" y="37052"/>
                </a:lnTo>
                <a:lnTo>
                  <a:pt x="198500" y="34742"/>
                </a:lnTo>
                <a:lnTo>
                  <a:pt x="192024" y="32765"/>
                </a:lnTo>
                <a:lnTo>
                  <a:pt x="184150" y="2539"/>
                </a:lnTo>
                <a:lnTo>
                  <a:pt x="177244" y="1446"/>
                </a:lnTo>
                <a:lnTo>
                  <a:pt x="170243" y="650"/>
                </a:lnTo>
                <a:lnTo>
                  <a:pt x="163147" y="164"/>
                </a:lnTo>
                <a:lnTo>
                  <a:pt x="155955" y="0"/>
                </a:lnTo>
                <a:lnTo>
                  <a:pt x="148691" y="164"/>
                </a:lnTo>
                <a:lnTo>
                  <a:pt x="141557" y="650"/>
                </a:lnTo>
                <a:lnTo>
                  <a:pt x="134542" y="1446"/>
                </a:lnTo>
                <a:lnTo>
                  <a:pt x="127634" y="2539"/>
                </a:lnTo>
                <a:lnTo>
                  <a:pt x="119760" y="32765"/>
                </a:lnTo>
                <a:lnTo>
                  <a:pt x="113355" y="34742"/>
                </a:lnTo>
                <a:lnTo>
                  <a:pt x="107092" y="37052"/>
                </a:lnTo>
                <a:lnTo>
                  <a:pt x="100972" y="39695"/>
                </a:lnTo>
                <a:lnTo>
                  <a:pt x="94995" y="42672"/>
                </a:lnTo>
                <a:lnTo>
                  <a:pt x="67436" y="26669"/>
                </a:lnTo>
                <a:lnTo>
                  <a:pt x="56116" y="35063"/>
                </a:lnTo>
                <a:lnTo>
                  <a:pt x="45640" y="44386"/>
                </a:lnTo>
                <a:lnTo>
                  <a:pt x="36093" y="54566"/>
                </a:lnTo>
                <a:lnTo>
                  <a:pt x="27558" y="65531"/>
                </a:lnTo>
                <a:lnTo>
                  <a:pt x="43941" y="92328"/>
                </a:lnTo>
                <a:lnTo>
                  <a:pt x="40870" y="98061"/>
                </a:lnTo>
                <a:lnTo>
                  <a:pt x="38131" y="103997"/>
                </a:lnTo>
                <a:lnTo>
                  <a:pt x="35726" y="110099"/>
                </a:lnTo>
                <a:lnTo>
                  <a:pt x="33654" y="116331"/>
                </a:lnTo>
                <a:lnTo>
                  <a:pt x="2666" y="123951"/>
                </a:lnTo>
                <a:lnTo>
                  <a:pt x="1500" y="130740"/>
                </a:lnTo>
                <a:lnTo>
                  <a:pt x="666" y="137588"/>
                </a:lnTo>
                <a:lnTo>
                  <a:pt x="166" y="144508"/>
                </a:lnTo>
                <a:lnTo>
                  <a:pt x="0" y="151511"/>
                </a:lnTo>
                <a:lnTo>
                  <a:pt x="166" y="158511"/>
                </a:lnTo>
                <a:lnTo>
                  <a:pt x="666" y="165417"/>
                </a:lnTo>
                <a:lnTo>
                  <a:pt x="1500" y="172227"/>
                </a:lnTo>
                <a:lnTo>
                  <a:pt x="2666" y="178942"/>
                </a:lnTo>
                <a:lnTo>
                  <a:pt x="33654" y="186562"/>
                </a:lnTo>
                <a:lnTo>
                  <a:pt x="35726" y="192795"/>
                </a:lnTo>
                <a:lnTo>
                  <a:pt x="38131" y="198897"/>
                </a:lnTo>
                <a:lnTo>
                  <a:pt x="40870" y="204833"/>
                </a:lnTo>
                <a:lnTo>
                  <a:pt x="43941" y="210565"/>
                </a:lnTo>
                <a:lnTo>
                  <a:pt x="27558" y="237362"/>
                </a:lnTo>
                <a:lnTo>
                  <a:pt x="36093" y="248382"/>
                </a:lnTo>
                <a:lnTo>
                  <a:pt x="45640" y="258556"/>
                </a:lnTo>
                <a:lnTo>
                  <a:pt x="56116" y="267848"/>
                </a:lnTo>
                <a:lnTo>
                  <a:pt x="67436" y="276225"/>
                </a:lnTo>
                <a:lnTo>
                  <a:pt x="94995" y="260223"/>
                </a:lnTo>
                <a:lnTo>
                  <a:pt x="100919" y="263201"/>
                </a:lnTo>
                <a:lnTo>
                  <a:pt x="107045" y="265858"/>
                </a:lnTo>
                <a:lnTo>
                  <a:pt x="113337" y="268206"/>
                </a:lnTo>
                <a:lnTo>
                  <a:pt x="119760" y="270255"/>
                </a:lnTo>
                <a:lnTo>
                  <a:pt x="127634" y="300354"/>
                </a:lnTo>
                <a:lnTo>
                  <a:pt x="134542" y="301448"/>
                </a:lnTo>
                <a:lnTo>
                  <a:pt x="141557" y="302244"/>
                </a:lnTo>
                <a:lnTo>
                  <a:pt x="148691" y="302730"/>
                </a:lnTo>
                <a:lnTo>
                  <a:pt x="155955" y="302894"/>
                </a:lnTo>
                <a:lnTo>
                  <a:pt x="163147" y="302730"/>
                </a:lnTo>
                <a:lnTo>
                  <a:pt x="170243" y="302244"/>
                </a:lnTo>
                <a:lnTo>
                  <a:pt x="177244" y="301448"/>
                </a:lnTo>
                <a:lnTo>
                  <a:pt x="184150" y="300354"/>
                </a:lnTo>
                <a:lnTo>
                  <a:pt x="192024" y="270255"/>
                </a:lnTo>
                <a:lnTo>
                  <a:pt x="198447" y="268206"/>
                </a:lnTo>
                <a:lnTo>
                  <a:pt x="204739" y="265858"/>
                </a:lnTo>
                <a:lnTo>
                  <a:pt x="210865" y="263201"/>
                </a:lnTo>
                <a:lnTo>
                  <a:pt x="216788" y="260223"/>
                </a:lnTo>
                <a:lnTo>
                  <a:pt x="244348" y="276225"/>
                </a:lnTo>
                <a:lnTo>
                  <a:pt x="255670" y="267848"/>
                </a:lnTo>
                <a:lnTo>
                  <a:pt x="266160" y="258556"/>
                </a:lnTo>
                <a:lnTo>
                  <a:pt x="275744" y="248382"/>
                </a:lnTo>
                <a:lnTo>
                  <a:pt x="284352" y="237362"/>
                </a:lnTo>
                <a:lnTo>
                  <a:pt x="267842" y="210565"/>
                </a:lnTo>
                <a:lnTo>
                  <a:pt x="270914" y="204850"/>
                </a:lnTo>
                <a:lnTo>
                  <a:pt x="273653" y="198945"/>
                </a:lnTo>
                <a:lnTo>
                  <a:pt x="276058" y="192849"/>
                </a:lnTo>
                <a:lnTo>
                  <a:pt x="278129" y="186562"/>
                </a:lnTo>
                <a:lnTo>
                  <a:pt x="309117" y="178942"/>
                </a:lnTo>
                <a:close/>
              </a:path>
              <a:path w="311784" h="302894">
                <a:moveTo>
                  <a:pt x="116966" y="180466"/>
                </a:moveTo>
                <a:lnTo>
                  <a:pt x="61086" y="151256"/>
                </a:lnTo>
                <a:lnTo>
                  <a:pt x="116966" y="122047"/>
                </a:lnTo>
              </a:path>
              <a:path w="311784" h="302894">
                <a:moveTo>
                  <a:pt x="194817" y="180466"/>
                </a:moveTo>
                <a:lnTo>
                  <a:pt x="250698" y="151256"/>
                </a:lnTo>
                <a:lnTo>
                  <a:pt x="194817" y="122047"/>
                </a:lnTo>
              </a:path>
              <a:path w="311784" h="302894">
                <a:moveTo>
                  <a:pt x="169163" y="108076"/>
                </a:moveTo>
                <a:lnTo>
                  <a:pt x="144399" y="194437"/>
                </a:lnTo>
              </a:path>
            </a:pathLst>
          </a:custGeom>
          <a:ln w="6350">
            <a:solidFill>
              <a:srgbClr val="0A305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02" name="object 102">
            <a:extLst>
              <a:ext uri="{FF2B5EF4-FFF2-40B4-BE49-F238E27FC236}">
                <a16:creationId xmlns:a16="http://schemas.microsoft.com/office/drawing/2014/main" id="{380E153F-7B24-C7C8-E7FE-18F5CAA215F8}"/>
              </a:ext>
            </a:extLst>
          </p:cNvPr>
          <p:cNvSpPr txBox="1"/>
          <p:nvPr/>
        </p:nvSpPr>
        <p:spPr>
          <a:xfrm>
            <a:off x="4481636" y="5005734"/>
            <a:ext cx="1355165" cy="135293"/>
          </a:xfrm>
          <a:prstGeom prst="rect">
            <a:avLst/>
          </a:prstGeom>
        </p:spPr>
        <p:txBody>
          <a:bodyPr vert="horz" wrap="square" lIns="0" tIns="12065" rIns="0" bIns="0" rtlCol="0">
            <a:sp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sz="800" b="0" i="0" u="none" strike="noStrike" kern="0" cap="none" spc="0" normalizeH="0" baseline="0" noProof="0">
                <a:ln>
                  <a:noFill/>
                </a:ln>
                <a:solidFill>
                  <a:srgbClr val="FFFFFF"/>
                </a:solidFill>
                <a:effectLst/>
                <a:uLnTx/>
                <a:uFillTx/>
                <a:latin typeface="CVS Health Sans"/>
                <a:ea typeface="+mn-ea"/>
                <a:cs typeface="CVS Health Sans"/>
              </a:rPr>
              <a:t>6</a:t>
            </a:r>
            <a:r>
              <a:rPr kumimoji="0" sz="800" b="0" i="0" u="none" strike="noStrike" kern="0" cap="none" spc="-35"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Data</a:t>
            </a:r>
            <a:r>
              <a:rPr kumimoji="0" sz="800" b="0" i="0" u="none" strike="noStrike" kern="0" cap="none" spc="-20" normalizeH="0" baseline="0" noProof="0">
                <a:ln>
                  <a:noFill/>
                </a:ln>
                <a:solidFill>
                  <a:srgbClr val="FFFFFF"/>
                </a:solidFill>
                <a:effectLst/>
                <a:uLnTx/>
                <a:uFillTx/>
                <a:latin typeface="CVS Health Sans"/>
                <a:ea typeface="+mn-ea"/>
                <a:cs typeface="CVS Health Sans"/>
              </a:rPr>
              <a:t> </a:t>
            </a:r>
            <a:r>
              <a:rPr kumimoji="0"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sz="800" b="0" i="0" u="none" strike="noStrike" kern="0" cap="none" spc="-15" normalizeH="0" baseline="0" noProof="0">
                <a:ln>
                  <a:noFill/>
                </a:ln>
                <a:solidFill>
                  <a:srgbClr val="FFFFFF"/>
                </a:solidFill>
                <a:effectLst/>
                <a:uLnTx/>
                <a:uFillTx/>
                <a:latin typeface="CVS Health Sans"/>
                <a:ea typeface="+mn-ea"/>
                <a:cs typeface="CVS Health Sans"/>
              </a:rPr>
              <a:t> </a:t>
            </a:r>
            <a:r>
              <a:rPr kumimoji="0" sz="8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sp>
        <p:nvSpPr>
          <p:cNvPr id="106" name="object 106">
            <a:extLst>
              <a:ext uri="{FF2B5EF4-FFF2-40B4-BE49-F238E27FC236}">
                <a16:creationId xmlns:a16="http://schemas.microsoft.com/office/drawing/2014/main" id="{3D086F2A-B628-7D88-8D01-90F762E626E7}"/>
              </a:ext>
            </a:extLst>
          </p:cNvPr>
          <p:cNvSpPr txBox="1"/>
          <p:nvPr/>
        </p:nvSpPr>
        <p:spPr>
          <a:xfrm>
            <a:off x="4843072" y="3006499"/>
            <a:ext cx="1760158" cy="553998"/>
          </a:xfrm>
          <a:prstGeom prst="rect">
            <a:avLst/>
          </a:prstGeom>
        </p:spPr>
        <p:txBody>
          <a:bodyPr vert="horz" wrap="square" lIns="0" tIns="0" rIns="0" bIns="0" rtlCol="0">
            <a:spAutoFit/>
          </a:bodyPr>
          <a:lstStyle/>
          <a:p>
            <a:pPr marL="0" marR="617855" lvl="0" indent="0" algn="l" defTabSz="914400" rtl="0" eaLnBrk="1" fontAlgn="auto" latinLnBrk="0" hangingPunct="1">
              <a:lnSpc>
                <a:spcPct val="100000"/>
              </a:lnSpc>
              <a:spcBef>
                <a:spcPts val="0"/>
              </a:spcBef>
              <a:spcAft>
                <a:spcPts val="0"/>
              </a:spcAft>
              <a:buClrTx/>
              <a:buSzTx/>
              <a:buFontTx/>
              <a:buNone/>
              <a:tabLst/>
              <a:defRPr/>
            </a:pPr>
            <a:r>
              <a:rPr kumimoji="0" sz="900" b="1" i="0" u="none" strike="noStrike" kern="0" cap="none" spc="0" normalizeH="0" baseline="0" noProof="0">
                <a:ln>
                  <a:noFill/>
                </a:ln>
                <a:solidFill>
                  <a:srgbClr val="0A4B8C"/>
                </a:solidFill>
                <a:effectLst/>
                <a:uLnTx/>
                <a:uFillTx/>
                <a:latin typeface="CVS Health Sans"/>
                <a:ea typeface="+mn-ea"/>
                <a:cs typeface="CVS Health Sans"/>
              </a:rPr>
              <a:t>B1</a:t>
            </a:r>
            <a:r>
              <a:rPr kumimoji="0" sz="900" b="1" i="0" u="none" strike="noStrike" kern="0" cap="none" spc="-15" normalizeH="0" baseline="0" noProof="0">
                <a:ln>
                  <a:noFill/>
                </a:ln>
                <a:solidFill>
                  <a:srgbClr val="0A4B8C"/>
                </a:solidFill>
                <a:effectLst/>
                <a:uLnTx/>
                <a:uFillTx/>
                <a:latin typeface="CVS Health Sans"/>
                <a:ea typeface="+mn-ea"/>
                <a:cs typeface="CVS Health Sans"/>
              </a:rPr>
              <a:t> </a:t>
            </a:r>
            <a:r>
              <a:rPr kumimoji="0" sz="900" b="1" i="0" u="none" strike="noStrike" kern="0" cap="none" spc="0" normalizeH="0" baseline="0" noProof="0">
                <a:ln>
                  <a:noFill/>
                </a:ln>
                <a:solidFill>
                  <a:srgbClr val="0A4B8C"/>
                </a:solidFill>
                <a:effectLst/>
                <a:uLnTx/>
                <a:uFillTx/>
                <a:latin typeface="CVS Health Sans"/>
                <a:ea typeface="+mn-ea"/>
                <a:cs typeface="CVS Health Sans"/>
              </a:rPr>
              <a:t>/ B2:</a:t>
            </a:r>
            <a:r>
              <a:rPr kumimoji="0" sz="900" b="1" i="0" u="none" strike="noStrike" kern="0" cap="none" spc="-5" normalizeH="0" baseline="0" noProof="0">
                <a:ln>
                  <a:noFill/>
                </a:ln>
                <a:solidFill>
                  <a:srgbClr val="0A4B8C"/>
                </a:solidFill>
                <a:effectLst/>
                <a:uLnTx/>
                <a:uFillTx/>
                <a:latin typeface="CVS Health Sans"/>
                <a:ea typeface="+mn-ea"/>
                <a:cs typeface="CVS Health Sans"/>
              </a:rPr>
              <a:t> </a:t>
            </a:r>
            <a:r>
              <a:rPr kumimoji="0" sz="900" b="1" i="0" u="none" strike="noStrike" kern="0" cap="none" spc="-10" normalizeH="0" baseline="0" noProof="0">
                <a:ln>
                  <a:noFill/>
                </a:ln>
                <a:solidFill>
                  <a:srgbClr val="0A4B8C"/>
                </a:solidFill>
                <a:effectLst/>
                <a:uLnTx/>
                <a:uFillTx/>
                <a:latin typeface="CVS Health Sans"/>
                <a:ea typeface="+mn-ea"/>
                <a:cs typeface="CVS Health Sans"/>
              </a:rPr>
              <a:t>Source Rationalization</a:t>
            </a:r>
            <a:r>
              <a:rPr kumimoji="0" sz="900" b="1" i="0" u="none" strike="noStrike" kern="0" cap="none" spc="9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&amp;</a:t>
            </a:r>
            <a:r>
              <a:rPr kumimoji="0" sz="900" b="1" i="0" u="none" strike="noStrike" kern="0" cap="none" spc="0" normalizeH="0" baseline="0" noProof="0">
                <a:ln>
                  <a:noFill/>
                </a:ln>
                <a:solidFill>
                  <a:srgbClr val="0A4B8C"/>
                </a:solidFill>
                <a:effectLst/>
                <a:uLnTx/>
                <a:uFillTx/>
                <a:latin typeface="CVS Health Sans"/>
                <a:ea typeface="+mn-ea"/>
                <a:cs typeface="CVS Health Sans"/>
              </a:rPr>
              <a:t> Data</a:t>
            </a:r>
            <a:r>
              <a:rPr kumimoji="0" sz="900" b="1" i="0" u="none" strike="noStrike" kern="0" cap="none" spc="-35" normalizeH="0" baseline="0" noProof="0">
                <a:ln>
                  <a:noFill/>
                </a:ln>
                <a:solidFill>
                  <a:srgbClr val="0A4B8C"/>
                </a:solidFill>
                <a:effectLst/>
                <a:uLnTx/>
                <a:uFillTx/>
                <a:latin typeface="CVS Health Sans"/>
                <a:ea typeface="+mn-ea"/>
                <a:cs typeface="CVS Health Sans"/>
              </a:rPr>
              <a:t> </a:t>
            </a:r>
            <a:r>
              <a:rPr kumimoji="0" sz="900" b="1" i="0" u="none" strike="noStrike" kern="0" cap="none" spc="0" normalizeH="0" baseline="0" noProof="0">
                <a:ln>
                  <a:noFill/>
                </a:ln>
                <a:solidFill>
                  <a:srgbClr val="0A4B8C"/>
                </a:solidFill>
                <a:effectLst/>
                <a:uLnTx/>
                <a:uFillTx/>
                <a:latin typeface="CVS Health Sans"/>
                <a:ea typeface="+mn-ea"/>
                <a:cs typeface="CVS Health Sans"/>
              </a:rPr>
              <a:t>Contracts</a:t>
            </a:r>
            <a:r>
              <a:rPr kumimoji="0" sz="900" b="1" i="0" u="none" strike="noStrike" kern="0" cap="none" spc="-20" normalizeH="0" baseline="0" noProof="0">
                <a:ln>
                  <a:noFill/>
                </a:ln>
                <a:solidFill>
                  <a:srgbClr val="0A4B8C"/>
                </a:solidFill>
                <a:effectLst/>
                <a:uLnTx/>
                <a:uFillTx/>
                <a:latin typeface="CVS Health Sans"/>
                <a:ea typeface="+mn-ea"/>
                <a:cs typeface="CVS Health Sans"/>
              </a:rPr>
              <a:t> </a:t>
            </a:r>
            <a:r>
              <a:rPr kumimoji="0" sz="900" b="1" i="0" u="none" strike="noStrike" kern="0" cap="none" spc="-50" normalizeH="0" baseline="0" noProof="0">
                <a:ln>
                  <a:noFill/>
                </a:ln>
                <a:solidFill>
                  <a:srgbClr val="0A4B8C"/>
                </a:solidFill>
                <a:effectLst/>
                <a:uLnTx/>
                <a:uFillTx/>
                <a:latin typeface="CVS Health Sans"/>
                <a:ea typeface="+mn-ea"/>
                <a:cs typeface="CVS Health Sans"/>
              </a:rPr>
              <a:t>|</a:t>
            </a:r>
            <a:r>
              <a:rPr kumimoji="0" sz="900" b="1" i="0" u="none" strike="noStrike" kern="0" cap="none" spc="-10" normalizeH="0" baseline="0" noProof="0">
                <a:ln>
                  <a:noFill/>
                </a:ln>
                <a:solidFill>
                  <a:srgbClr val="0A4B8C"/>
                </a:solidFill>
                <a:effectLst/>
                <a:uLnTx/>
                <a:uFillTx/>
                <a:latin typeface="CVS Health Sans"/>
                <a:ea typeface="+mn-ea"/>
                <a:cs typeface="CVS Health Sans"/>
              </a:rPr>
              <a:t> </a:t>
            </a:r>
            <a:r>
              <a:rPr kumimoji="0" lang="en-US" sz="900" b="0" i="0" u="none" strike="noStrike" kern="0" cap="none" spc="-10" normalizeH="0" baseline="0" noProof="0">
                <a:ln>
                  <a:noFill/>
                </a:ln>
                <a:solidFill>
                  <a:srgbClr val="0A4B8C"/>
                </a:solidFill>
                <a:effectLst/>
                <a:uLnTx/>
                <a:uFillTx/>
                <a:latin typeface="CVS Health Sans"/>
                <a:ea typeface="+mn-ea"/>
                <a:cs typeface="CVS Health Sans"/>
              </a:rPr>
              <a:t>Sept ’26 - Feb ’27</a:t>
            </a:r>
            <a:endParaRPr kumimoji="0" sz="900" b="0" i="0" u="none" strike="noStrike" kern="0" cap="none" spc="0" normalizeH="0" baseline="0" noProof="0">
              <a:ln>
                <a:noFill/>
              </a:ln>
              <a:solidFill>
                <a:srgbClr val="0A4B8C"/>
              </a:solidFill>
              <a:effectLst/>
              <a:uLnTx/>
              <a:uFillTx/>
              <a:latin typeface="CVS Health Sans"/>
              <a:ea typeface="+mn-ea"/>
              <a:cs typeface="CVS Health Sans"/>
            </a:endParaRPr>
          </a:p>
        </p:txBody>
      </p:sp>
      <p:sp>
        <p:nvSpPr>
          <p:cNvPr id="142" name="TextBox 141">
            <a:extLst>
              <a:ext uri="{FF2B5EF4-FFF2-40B4-BE49-F238E27FC236}">
                <a16:creationId xmlns:a16="http://schemas.microsoft.com/office/drawing/2014/main" id="{25FC2E97-78AF-88D8-53A7-C8F0BE9856C2}"/>
              </a:ext>
            </a:extLst>
          </p:cNvPr>
          <p:cNvSpPr txBox="1"/>
          <p:nvPr/>
        </p:nvSpPr>
        <p:spPr>
          <a:xfrm>
            <a:off x="8594440" y="4497382"/>
            <a:ext cx="766595" cy="184666"/>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a:t>
            </a:r>
            <a:r>
              <a:rPr kumimoji="0" lang="en-US" sz="700" b="1" i="0" u="none" strike="noStrike" kern="0" cap="none" spc="-25" normalizeH="0" baseline="0" noProof="0">
                <a:ln>
                  <a:noFill/>
                </a:ln>
                <a:solidFill>
                  <a:srgbClr val="3F3F3F"/>
                </a:solidFill>
                <a:effectLst/>
                <a:uLnTx/>
                <a:uFillTx/>
                <a:latin typeface="CVS Health Sans"/>
                <a:ea typeface="+mn-ea"/>
                <a:cs typeface="CVS Health Sans"/>
              </a:rPr>
              <a:t> </a:t>
            </a:r>
            <a:r>
              <a:rPr kumimoji="0" lang="en-US" sz="700" b="1" i="0" u="none" strike="noStrike" kern="0" cap="none" spc="-20" normalizeH="0" baseline="0" noProof="0">
                <a:ln>
                  <a:noFill/>
                </a:ln>
                <a:solidFill>
                  <a:srgbClr val="3F3F3F"/>
                </a:solidFill>
                <a:effectLst/>
                <a:uLnTx/>
                <a:uFillTx/>
                <a:latin typeface="CVS Health Sans"/>
                <a:ea typeface="+mn-ea"/>
                <a:cs typeface="CVS Health Sans"/>
              </a:rPr>
              <a:t>(x7)</a:t>
            </a:r>
            <a:endParaRPr kumimoji="0" lang="en-US" sz="700" b="0" i="0" u="none" strike="noStrike" kern="0" cap="none" spc="0" normalizeH="0" baseline="0" noProof="0">
              <a:ln>
                <a:noFill/>
              </a:ln>
              <a:solidFill>
                <a:srgbClr val="3F3F3F"/>
              </a:solidFill>
              <a:effectLst/>
              <a:uLnTx/>
              <a:uFillTx/>
              <a:latin typeface="CVS Health Sans"/>
              <a:ea typeface="+mn-ea"/>
              <a:cs typeface="CVS Health Sans"/>
            </a:endParaRPr>
          </a:p>
        </p:txBody>
      </p:sp>
      <p:grpSp>
        <p:nvGrpSpPr>
          <p:cNvPr id="213" name="Group 212">
            <a:extLst>
              <a:ext uri="{FF2B5EF4-FFF2-40B4-BE49-F238E27FC236}">
                <a16:creationId xmlns:a16="http://schemas.microsoft.com/office/drawing/2014/main" id="{E752F432-A783-FA87-C4D1-ED2386FC118B}"/>
              </a:ext>
            </a:extLst>
          </p:cNvPr>
          <p:cNvGrpSpPr/>
          <p:nvPr/>
        </p:nvGrpSpPr>
        <p:grpSpPr>
          <a:xfrm>
            <a:off x="6479035" y="3856262"/>
            <a:ext cx="1721382" cy="895640"/>
            <a:chOff x="6632476" y="3705331"/>
            <a:chExt cx="1651889" cy="895640"/>
          </a:xfrm>
        </p:grpSpPr>
        <p:grpSp>
          <p:nvGrpSpPr>
            <p:cNvPr id="206" name="Group 205">
              <a:extLst>
                <a:ext uri="{FF2B5EF4-FFF2-40B4-BE49-F238E27FC236}">
                  <a16:creationId xmlns:a16="http://schemas.microsoft.com/office/drawing/2014/main" id="{8C6B3845-B347-3EA1-BB53-39F0107151F5}"/>
                </a:ext>
              </a:extLst>
            </p:cNvPr>
            <p:cNvGrpSpPr/>
            <p:nvPr/>
          </p:nvGrpSpPr>
          <p:grpSpPr>
            <a:xfrm>
              <a:off x="6632476" y="3705331"/>
              <a:ext cx="1651889" cy="895640"/>
              <a:chOff x="8550227" y="4374134"/>
              <a:chExt cx="1651889" cy="776605"/>
            </a:xfrm>
          </p:grpSpPr>
          <p:sp>
            <p:nvSpPr>
              <p:cNvPr id="207" name="object 77">
                <a:extLst>
                  <a:ext uri="{FF2B5EF4-FFF2-40B4-BE49-F238E27FC236}">
                    <a16:creationId xmlns:a16="http://schemas.microsoft.com/office/drawing/2014/main" id="{7E262271-95F9-A6EE-6737-2B2543F6198A}"/>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8" name="object 79">
                <a:extLst>
                  <a:ext uri="{FF2B5EF4-FFF2-40B4-BE49-F238E27FC236}">
                    <a16:creationId xmlns:a16="http://schemas.microsoft.com/office/drawing/2014/main" id="{2765CDB6-5513-960E-944D-3CFCDD0D35B6}"/>
                  </a:ext>
                </a:extLst>
              </p:cNvPr>
              <p:cNvSpPr/>
              <p:nvPr/>
            </p:nvSpPr>
            <p:spPr>
              <a:xfrm>
                <a:off x="8571865" y="4403662"/>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09" name="object 80">
                <a:extLst>
                  <a:ext uri="{FF2B5EF4-FFF2-40B4-BE49-F238E27FC236}">
                    <a16:creationId xmlns:a16="http://schemas.microsoft.com/office/drawing/2014/main" id="{6FA64E38-D036-7D8D-9CCB-294005FFF2F5}"/>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10" name="object 81">
                <a:extLst>
                  <a:ext uri="{FF2B5EF4-FFF2-40B4-BE49-F238E27FC236}">
                    <a16:creationId xmlns:a16="http://schemas.microsoft.com/office/drawing/2014/main" id="{E67E200B-E093-BDD0-35FC-6CCB2932C3DE}"/>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165" name="Group 164">
              <a:extLst>
                <a:ext uri="{FF2B5EF4-FFF2-40B4-BE49-F238E27FC236}">
                  <a16:creationId xmlns:a16="http://schemas.microsoft.com/office/drawing/2014/main" id="{F5657A25-CC0E-D32A-CF29-F7C1CCCAA02C}"/>
                </a:ext>
              </a:extLst>
            </p:cNvPr>
            <p:cNvGrpSpPr/>
            <p:nvPr/>
          </p:nvGrpSpPr>
          <p:grpSpPr>
            <a:xfrm>
              <a:off x="6680151" y="4027967"/>
              <a:ext cx="1517764" cy="215582"/>
              <a:chOff x="8587013" y="3935672"/>
              <a:chExt cx="1569021" cy="215582"/>
            </a:xfrm>
          </p:grpSpPr>
          <p:sp>
            <p:nvSpPr>
              <p:cNvPr id="175" name="object 50">
                <a:extLst>
                  <a:ext uri="{FF2B5EF4-FFF2-40B4-BE49-F238E27FC236}">
                    <a16:creationId xmlns:a16="http://schemas.microsoft.com/office/drawing/2014/main" id="{46DEDC74-EAD3-DCAE-60C9-C8F7D0B158D6}"/>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6" name="TextBox 175">
                <a:extLst>
                  <a:ext uri="{FF2B5EF4-FFF2-40B4-BE49-F238E27FC236}">
                    <a16:creationId xmlns:a16="http://schemas.microsoft.com/office/drawing/2014/main" id="{F12B9981-7E3B-B34C-B341-99AC3E52C706}"/>
                  </a:ext>
                </a:extLst>
              </p:cNvPr>
              <p:cNvSpPr txBox="1"/>
              <p:nvPr/>
            </p:nvSpPr>
            <p:spPr>
              <a:xfrm>
                <a:off x="8720362" y="3981457"/>
                <a:ext cx="130232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4 Data Engineers (1/Pod)</a:t>
                </a:r>
              </a:p>
            </p:txBody>
          </p:sp>
        </p:grpSp>
        <p:grpSp>
          <p:nvGrpSpPr>
            <p:cNvPr id="166" name="Group 165">
              <a:extLst>
                <a:ext uri="{FF2B5EF4-FFF2-40B4-BE49-F238E27FC236}">
                  <a16:creationId xmlns:a16="http://schemas.microsoft.com/office/drawing/2014/main" id="{398DD005-0A8C-6464-749A-CBE810FBAF5B}"/>
                </a:ext>
              </a:extLst>
            </p:cNvPr>
            <p:cNvGrpSpPr/>
            <p:nvPr/>
          </p:nvGrpSpPr>
          <p:grpSpPr>
            <a:xfrm>
              <a:off x="6680212" y="4288835"/>
              <a:ext cx="1521388" cy="215582"/>
              <a:chOff x="8587013" y="4178139"/>
              <a:chExt cx="1572768" cy="215582"/>
            </a:xfrm>
          </p:grpSpPr>
          <p:sp>
            <p:nvSpPr>
              <p:cNvPr id="173" name="object 50">
                <a:extLst>
                  <a:ext uri="{FF2B5EF4-FFF2-40B4-BE49-F238E27FC236}">
                    <a16:creationId xmlns:a16="http://schemas.microsoft.com/office/drawing/2014/main" id="{67FF41A9-2FB6-C847-ACC3-9E54CC3529B8}"/>
                  </a:ext>
                </a:extLst>
              </p:cNvPr>
              <p:cNvSpPr/>
              <p:nvPr/>
            </p:nvSpPr>
            <p:spPr>
              <a:xfrm>
                <a:off x="8587013"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174" name="TextBox 173">
                <a:extLst>
                  <a:ext uri="{FF2B5EF4-FFF2-40B4-BE49-F238E27FC236}">
                    <a16:creationId xmlns:a16="http://schemas.microsoft.com/office/drawing/2014/main" id="{A4B3483A-7528-4BC8-F068-029814D4D005}"/>
                  </a:ext>
                </a:extLst>
              </p:cNvPr>
              <p:cNvSpPr txBox="1"/>
              <p:nvPr/>
            </p:nvSpPr>
            <p:spPr>
              <a:xfrm>
                <a:off x="8682552" y="4238718"/>
                <a:ext cx="1381690" cy="94424"/>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8 Data Engineers (2/Pod)</a:t>
                </a:r>
              </a:p>
            </p:txBody>
          </p:sp>
        </p:grpSp>
        <p:sp>
          <p:nvSpPr>
            <p:cNvPr id="211" name="TextBox 210">
              <a:extLst>
                <a:ext uri="{FF2B5EF4-FFF2-40B4-BE49-F238E27FC236}">
                  <a16:creationId xmlns:a16="http://schemas.microsoft.com/office/drawing/2014/main" id="{220C153D-5D48-80F0-178F-0487EBEDEB88}"/>
                </a:ext>
              </a:extLst>
            </p:cNvPr>
            <p:cNvSpPr txBox="1"/>
            <p:nvPr/>
          </p:nvSpPr>
          <p:spPr>
            <a:xfrm>
              <a:off x="6717944" y="3807735"/>
              <a:ext cx="735647" cy="184666"/>
            </a:xfrm>
            <a:prstGeom prst="rect">
              <a:avLst/>
            </a:prstGeom>
            <a:noFill/>
          </p:spPr>
          <p:txBody>
            <a:bodyPr wrap="square" lIns="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US" sz="700" b="1" i="0" u="none" strike="noStrike" kern="0" cap="none" spc="0" normalizeH="0" baseline="0" noProof="0">
                  <a:ln>
                    <a:noFill/>
                  </a:ln>
                  <a:solidFill>
                    <a:srgbClr val="3E3E3E"/>
                  </a:solidFill>
                  <a:effectLst/>
                  <a:uLnTx/>
                  <a:uFillTx/>
                  <a:latin typeface="CVS Health Sans"/>
                  <a:ea typeface="+mn-ea"/>
                  <a:cs typeface="CVS Health Sans"/>
                </a:rPr>
                <a:t>Pod</a:t>
              </a:r>
              <a:r>
                <a:rPr kumimoji="0" lang="en-US" sz="700" b="1" i="0" u="none" strike="noStrike" kern="0" cap="none" spc="-25" normalizeH="0" baseline="0" noProof="0">
                  <a:ln>
                    <a:noFill/>
                  </a:ln>
                  <a:solidFill>
                    <a:srgbClr val="3E3E3E"/>
                  </a:solidFill>
                  <a:effectLst/>
                  <a:uLnTx/>
                  <a:uFillTx/>
                  <a:latin typeface="CVS Health Sans"/>
                  <a:ea typeface="+mn-ea"/>
                  <a:cs typeface="CVS Health Sans"/>
                </a:rPr>
                <a:t> </a:t>
              </a:r>
              <a:r>
                <a:rPr kumimoji="0" lang="en-US" sz="700" b="1" i="0" u="none" strike="noStrike" kern="0" cap="none" spc="-20" normalizeH="0" baseline="0" noProof="0">
                  <a:ln>
                    <a:noFill/>
                  </a:ln>
                  <a:solidFill>
                    <a:srgbClr val="3E3E3E"/>
                  </a:solidFill>
                  <a:effectLst/>
                  <a:uLnTx/>
                  <a:uFillTx/>
                  <a:latin typeface="CVS Health Sans"/>
                  <a:ea typeface="+mn-ea"/>
                  <a:cs typeface="CVS Health Sans"/>
                </a:rPr>
                <a:t>(x4)</a:t>
              </a:r>
              <a:endParaRPr kumimoji="0" lang="en-US" sz="7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214" name="object 75">
            <a:extLst>
              <a:ext uri="{FF2B5EF4-FFF2-40B4-BE49-F238E27FC236}">
                <a16:creationId xmlns:a16="http://schemas.microsoft.com/office/drawing/2014/main" id="{A577C513-16B9-2234-A316-0B0BA08F424E}"/>
              </a:ext>
            </a:extLst>
          </p:cNvPr>
          <p:cNvSpPr/>
          <p:nvPr/>
        </p:nvSpPr>
        <p:spPr>
          <a:xfrm>
            <a:off x="4359149" y="2961923"/>
            <a:ext cx="1893163" cy="2642235"/>
          </a:xfrm>
          <a:prstGeom prst="roundRect">
            <a:avLst>
              <a:gd name="adj" fmla="val 3083"/>
            </a:avLst>
          </a:prstGeom>
          <a:ln w="9525">
            <a:solidFill>
              <a:srgbClr val="0A4B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nvGrpSpPr>
          <p:cNvPr id="257" name="Group 256">
            <a:extLst>
              <a:ext uri="{FF2B5EF4-FFF2-40B4-BE49-F238E27FC236}">
                <a16:creationId xmlns:a16="http://schemas.microsoft.com/office/drawing/2014/main" id="{25663473-576D-3846-F826-1A9C310EF51B}"/>
              </a:ext>
            </a:extLst>
          </p:cNvPr>
          <p:cNvGrpSpPr/>
          <p:nvPr/>
        </p:nvGrpSpPr>
        <p:grpSpPr>
          <a:xfrm>
            <a:off x="4542777" y="3830070"/>
            <a:ext cx="1611987" cy="1337696"/>
            <a:chOff x="4669407" y="3830070"/>
            <a:chExt cx="1651889" cy="1337696"/>
          </a:xfrm>
        </p:grpSpPr>
        <p:grpSp>
          <p:nvGrpSpPr>
            <p:cNvPr id="240" name="Group 239">
              <a:extLst>
                <a:ext uri="{FF2B5EF4-FFF2-40B4-BE49-F238E27FC236}">
                  <a16:creationId xmlns:a16="http://schemas.microsoft.com/office/drawing/2014/main" id="{54554785-81D8-B85B-384F-2AB78149FA01}"/>
                </a:ext>
              </a:extLst>
            </p:cNvPr>
            <p:cNvGrpSpPr/>
            <p:nvPr/>
          </p:nvGrpSpPr>
          <p:grpSpPr>
            <a:xfrm>
              <a:off x="4669407" y="3830070"/>
              <a:ext cx="1651889" cy="632777"/>
              <a:chOff x="4669407" y="3830070"/>
              <a:chExt cx="1651889" cy="736599"/>
            </a:xfrm>
          </p:grpSpPr>
          <p:grpSp>
            <p:nvGrpSpPr>
              <p:cNvPr id="216" name="Group 215">
                <a:extLst>
                  <a:ext uri="{FF2B5EF4-FFF2-40B4-BE49-F238E27FC236}">
                    <a16:creationId xmlns:a16="http://schemas.microsoft.com/office/drawing/2014/main" id="{7F64D0BF-8C3D-1E04-A5E8-12B4AEB26C1A}"/>
                  </a:ext>
                </a:extLst>
              </p:cNvPr>
              <p:cNvGrpSpPr/>
              <p:nvPr/>
            </p:nvGrpSpPr>
            <p:grpSpPr>
              <a:xfrm>
                <a:off x="4669407" y="3830070"/>
                <a:ext cx="1651889" cy="736599"/>
                <a:chOff x="8550227" y="4374134"/>
                <a:chExt cx="1651889" cy="776605"/>
              </a:xfrm>
            </p:grpSpPr>
            <p:sp>
              <p:nvSpPr>
                <p:cNvPr id="224" name="object 77">
                  <a:extLst>
                    <a:ext uri="{FF2B5EF4-FFF2-40B4-BE49-F238E27FC236}">
                      <a16:creationId xmlns:a16="http://schemas.microsoft.com/office/drawing/2014/main" id="{D73BA63C-0A42-AC6C-E72F-7F399FE7CCBA}"/>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5" name="object 79">
                  <a:extLst>
                    <a:ext uri="{FF2B5EF4-FFF2-40B4-BE49-F238E27FC236}">
                      <a16:creationId xmlns:a16="http://schemas.microsoft.com/office/drawing/2014/main" id="{0AC059F0-A3C8-A513-0677-04945B297FD3}"/>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6" name="object 80">
                  <a:extLst>
                    <a:ext uri="{FF2B5EF4-FFF2-40B4-BE49-F238E27FC236}">
                      <a16:creationId xmlns:a16="http://schemas.microsoft.com/office/drawing/2014/main" id="{564A4E05-5F3F-9786-D084-E77264958860}"/>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7" name="object 81">
                  <a:extLst>
                    <a:ext uri="{FF2B5EF4-FFF2-40B4-BE49-F238E27FC236}">
                      <a16:creationId xmlns:a16="http://schemas.microsoft.com/office/drawing/2014/main" id="{6669FECA-42B7-C3A8-40BE-601A30BC926D}"/>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217" name="Group 216">
                <a:extLst>
                  <a:ext uri="{FF2B5EF4-FFF2-40B4-BE49-F238E27FC236}">
                    <a16:creationId xmlns:a16="http://schemas.microsoft.com/office/drawing/2014/main" id="{F249EF27-76DB-AE18-7844-B375DABC788F}"/>
                  </a:ext>
                </a:extLst>
              </p:cNvPr>
              <p:cNvGrpSpPr/>
              <p:nvPr/>
            </p:nvGrpSpPr>
            <p:grpSpPr>
              <a:xfrm>
                <a:off x="4717082" y="4095415"/>
                <a:ext cx="1517764" cy="177301"/>
                <a:chOff x="8587013" y="3935672"/>
                <a:chExt cx="1569021" cy="215582"/>
              </a:xfrm>
            </p:grpSpPr>
            <p:sp>
              <p:nvSpPr>
                <p:cNvPr id="222" name="object 50">
                  <a:extLst>
                    <a:ext uri="{FF2B5EF4-FFF2-40B4-BE49-F238E27FC236}">
                      <a16:creationId xmlns:a16="http://schemas.microsoft.com/office/drawing/2014/main" id="{1F37DB78-41C9-4B4F-A94B-ACF41F79E6D2}"/>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3" name="TextBox 222">
                  <a:extLst>
                    <a:ext uri="{FF2B5EF4-FFF2-40B4-BE49-F238E27FC236}">
                      <a16:creationId xmlns:a16="http://schemas.microsoft.com/office/drawing/2014/main" id="{7936B6A8-3B0E-E0BC-696F-D25208FB97A4}"/>
                    </a:ext>
                  </a:extLst>
                </p:cNvPr>
                <p:cNvSpPr txBox="1"/>
                <p:nvPr/>
              </p:nvSpPr>
              <p:spPr>
                <a:xfrm>
                  <a:off x="8670132" y="3981458"/>
                  <a:ext cx="1402782" cy="124012"/>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2 Data Engineers (1/Pod)</a:t>
                  </a:r>
                </a:p>
              </p:txBody>
            </p:sp>
          </p:grpSp>
          <p:grpSp>
            <p:nvGrpSpPr>
              <p:cNvPr id="218" name="Group 217">
                <a:extLst>
                  <a:ext uri="{FF2B5EF4-FFF2-40B4-BE49-F238E27FC236}">
                    <a16:creationId xmlns:a16="http://schemas.microsoft.com/office/drawing/2014/main" id="{8F92EB06-2558-D80B-FACA-E07098974CC3}"/>
                  </a:ext>
                </a:extLst>
              </p:cNvPr>
              <p:cNvGrpSpPr/>
              <p:nvPr/>
            </p:nvGrpSpPr>
            <p:grpSpPr>
              <a:xfrm>
                <a:off x="4717081" y="4309960"/>
                <a:ext cx="1521388" cy="177301"/>
                <a:chOff x="8586949" y="4178139"/>
                <a:chExt cx="1572768" cy="215582"/>
              </a:xfrm>
            </p:grpSpPr>
            <p:sp>
              <p:nvSpPr>
                <p:cNvPr id="220" name="object 50">
                  <a:extLst>
                    <a:ext uri="{FF2B5EF4-FFF2-40B4-BE49-F238E27FC236}">
                      <a16:creationId xmlns:a16="http://schemas.microsoft.com/office/drawing/2014/main" id="{B17C36DA-F1F8-D6D7-1426-C19D39A443AA}"/>
                    </a:ext>
                  </a:extLst>
                </p:cNvPr>
                <p:cNvSpPr/>
                <p:nvPr/>
              </p:nvSpPr>
              <p:spPr>
                <a:xfrm>
                  <a:off x="8586949"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21" name="TextBox 220">
                  <a:extLst>
                    <a:ext uri="{FF2B5EF4-FFF2-40B4-BE49-F238E27FC236}">
                      <a16:creationId xmlns:a16="http://schemas.microsoft.com/office/drawing/2014/main" id="{00D90871-0B58-B147-DF8A-7AB17ECCA9C0}"/>
                    </a:ext>
                  </a:extLst>
                </p:cNvPr>
                <p:cNvSpPr txBox="1"/>
                <p:nvPr/>
              </p:nvSpPr>
              <p:spPr>
                <a:xfrm>
                  <a:off x="8639169" y="4238717"/>
                  <a:ext cx="1468329" cy="94425"/>
                </a:xfrm>
                <a:prstGeom prst="rect">
                  <a:avLst/>
                </a:prstGeom>
                <a:noFill/>
              </p:spPr>
              <p:txBody>
                <a:bodyPr wrap="square" lIns="0" tIns="0" rIns="0" bIns="0" anchor="ctr">
                  <a:noAutofit/>
                </a:bodyPr>
                <a:lstStyle/>
                <a:p>
                  <a:pPr marL="0" marR="20955" lvl="0" indent="0" algn="ctr" defTabSz="914400" rtl="0" eaLnBrk="1" fontAlgn="auto" latinLnBrk="0" hangingPunct="1">
                    <a:lnSpc>
                      <a:spcPts val="840"/>
                    </a:lnSpc>
                    <a:spcBef>
                      <a:spcPts val="0"/>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4 Data Engineers (2/Pod)</a:t>
                  </a:r>
                </a:p>
              </p:txBody>
            </p:sp>
          </p:grpSp>
          <p:sp>
            <p:nvSpPr>
              <p:cNvPr id="219" name="TextBox 218">
                <a:extLst>
                  <a:ext uri="{FF2B5EF4-FFF2-40B4-BE49-F238E27FC236}">
                    <a16:creationId xmlns:a16="http://schemas.microsoft.com/office/drawing/2014/main" id="{50DE13DB-FDFB-B5EF-12B3-EF976899A524}"/>
                  </a:ext>
                </a:extLst>
              </p:cNvPr>
              <p:cNvSpPr txBox="1"/>
              <p:nvPr/>
            </p:nvSpPr>
            <p:spPr>
              <a:xfrm>
                <a:off x="4754875" y="3905024"/>
                <a:ext cx="735647" cy="151874"/>
              </a:xfrm>
              <a:prstGeom prst="rect">
                <a:avLst/>
              </a:prstGeom>
              <a:noFill/>
            </p:spPr>
            <p:txBody>
              <a:bodyPr wrap="square" l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 (x2)</a:t>
                </a:r>
              </a:p>
            </p:txBody>
          </p:sp>
        </p:grpSp>
        <p:grpSp>
          <p:nvGrpSpPr>
            <p:cNvPr id="241" name="Group 240">
              <a:extLst>
                <a:ext uri="{FF2B5EF4-FFF2-40B4-BE49-F238E27FC236}">
                  <a16:creationId xmlns:a16="http://schemas.microsoft.com/office/drawing/2014/main" id="{237D808A-9D7A-CFE5-3934-C0DA319488D9}"/>
                </a:ext>
              </a:extLst>
            </p:cNvPr>
            <p:cNvGrpSpPr/>
            <p:nvPr/>
          </p:nvGrpSpPr>
          <p:grpSpPr>
            <a:xfrm>
              <a:off x="4669407" y="4534989"/>
              <a:ext cx="1651889" cy="632777"/>
              <a:chOff x="4669407" y="3830070"/>
              <a:chExt cx="1651889" cy="736599"/>
            </a:xfrm>
          </p:grpSpPr>
          <p:grpSp>
            <p:nvGrpSpPr>
              <p:cNvPr id="242" name="Group 241">
                <a:extLst>
                  <a:ext uri="{FF2B5EF4-FFF2-40B4-BE49-F238E27FC236}">
                    <a16:creationId xmlns:a16="http://schemas.microsoft.com/office/drawing/2014/main" id="{09E92024-2BC8-2F05-3FA0-E1BD21E4E363}"/>
                  </a:ext>
                </a:extLst>
              </p:cNvPr>
              <p:cNvGrpSpPr/>
              <p:nvPr/>
            </p:nvGrpSpPr>
            <p:grpSpPr>
              <a:xfrm>
                <a:off x="4669407" y="3830070"/>
                <a:ext cx="1651889" cy="736599"/>
                <a:chOff x="8550227" y="4374134"/>
                <a:chExt cx="1651889" cy="776605"/>
              </a:xfrm>
            </p:grpSpPr>
            <p:sp>
              <p:nvSpPr>
                <p:cNvPr id="250" name="object 77">
                  <a:extLst>
                    <a:ext uri="{FF2B5EF4-FFF2-40B4-BE49-F238E27FC236}">
                      <a16:creationId xmlns:a16="http://schemas.microsoft.com/office/drawing/2014/main" id="{0C0A70F6-4579-C6B4-54EB-3EB59A246B7F}"/>
                    </a:ext>
                  </a:extLst>
                </p:cNvPr>
                <p:cNvSpPr/>
                <p:nvPr/>
              </p:nvSpPr>
              <p:spPr>
                <a:xfrm>
                  <a:off x="8612446" y="4374134"/>
                  <a:ext cx="1589670" cy="717550"/>
                </a:xfrm>
                <a:custGeom>
                  <a:avLst/>
                  <a:gdLst/>
                  <a:ahLst/>
                  <a:cxnLst/>
                  <a:rect l="l" t="t" r="r" b="b"/>
                  <a:pathLst>
                    <a:path w="1609090" h="717550">
                      <a:moveTo>
                        <a:pt x="0" y="65024"/>
                      </a:moveTo>
                      <a:lnTo>
                        <a:pt x="5105" y="39701"/>
                      </a:lnTo>
                      <a:lnTo>
                        <a:pt x="19034" y="19034"/>
                      </a:lnTo>
                      <a:lnTo>
                        <a:pt x="39701" y="5105"/>
                      </a:lnTo>
                      <a:lnTo>
                        <a:pt x="65024" y="0"/>
                      </a:lnTo>
                      <a:lnTo>
                        <a:pt x="1543811" y="0"/>
                      </a:lnTo>
                      <a:lnTo>
                        <a:pt x="1569134" y="5105"/>
                      </a:lnTo>
                      <a:lnTo>
                        <a:pt x="1589801" y="19034"/>
                      </a:lnTo>
                      <a:lnTo>
                        <a:pt x="1603730" y="39701"/>
                      </a:lnTo>
                      <a:lnTo>
                        <a:pt x="1608835" y="65024"/>
                      </a:lnTo>
                      <a:lnTo>
                        <a:pt x="1608835" y="652399"/>
                      </a:lnTo>
                      <a:lnTo>
                        <a:pt x="1603730" y="677648"/>
                      </a:lnTo>
                      <a:lnTo>
                        <a:pt x="1589801" y="698277"/>
                      </a:lnTo>
                      <a:lnTo>
                        <a:pt x="1569134" y="712192"/>
                      </a:lnTo>
                      <a:lnTo>
                        <a:pt x="1543811" y="717296"/>
                      </a:lnTo>
                      <a:lnTo>
                        <a:pt x="65024" y="717296"/>
                      </a:lnTo>
                      <a:lnTo>
                        <a:pt x="39701" y="712192"/>
                      </a:lnTo>
                      <a:lnTo>
                        <a:pt x="19034" y="698277"/>
                      </a:lnTo>
                      <a:lnTo>
                        <a:pt x="5105" y="677648"/>
                      </a:lnTo>
                      <a:lnTo>
                        <a:pt x="0" y="652399"/>
                      </a:lnTo>
                      <a:lnTo>
                        <a:pt x="0" y="65024"/>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1" name="object 79">
                  <a:extLst>
                    <a:ext uri="{FF2B5EF4-FFF2-40B4-BE49-F238E27FC236}">
                      <a16:creationId xmlns:a16="http://schemas.microsoft.com/office/drawing/2014/main" id="{102C59B9-7B95-559B-E329-05F925382FD8}"/>
                    </a:ext>
                  </a:extLst>
                </p:cNvPr>
                <p:cNvSpPr/>
                <p:nvPr/>
              </p:nvSpPr>
              <p:spPr>
                <a:xfrm>
                  <a:off x="8571865" y="4403661"/>
                  <a:ext cx="1606098" cy="717550"/>
                </a:xfrm>
                <a:custGeom>
                  <a:avLst/>
                  <a:gdLst/>
                  <a:ahLst/>
                  <a:cxnLst/>
                  <a:rect l="l" t="t" r="r" b="b"/>
                  <a:pathLst>
                    <a:path w="1609090" h="717550">
                      <a:moveTo>
                        <a:pt x="0" y="65024"/>
                      </a:moveTo>
                      <a:lnTo>
                        <a:pt x="5123" y="39701"/>
                      </a:lnTo>
                      <a:lnTo>
                        <a:pt x="19081" y="19034"/>
                      </a:lnTo>
                      <a:lnTo>
                        <a:pt x="39754" y="5105"/>
                      </a:lnTo>
                      <a:lnTo>
                        <a:pt x="65024" y="0"/>
                      </a:lnTo>
                      <a:lnTo>
                        <a:pt x="1543939" y="0"/>
                      </a:lnTo>
                      <a:lnTo>
                        <a:pt x="1569208" y="5105"/>
                      </a:lnTo>
                      <a:lnTo>
                        <a:pt x="1589881" y="19034"/>
                      </a:lnTo>
                      <a:lnTo>
                        <a:pt x="1603839" y="39701"/>
                      </a:lnTo>
                      <a:lnTo>
                        <a:pt x="1608963" y="65024"/>
                      </a:lnTo>
                      <a:lnTo>
                        <a:pt x="1608963" y="652399"/>
                      </a:lnTo>
                      <a:lnTo>
                        <a:pt x="1603839" y="677648"/>
                      </a:lnTo>
                      <a:lnTo>
                        <a:pt x="1589881" y="698277"/>
                      </a:lnTo>
                      <a:lnTo>
                        <a:pt x="1569208" y="712192"/>
                      </a:lnTo>
                      <a:lnTo>
                        <a:pt x="1543939" y="717296"/>
                      </a:lnTo>
                      <a:lnTo>
                        <a:pt x="65024" y="717296"/>
                      </a:lnTo>
                      <a:lnTo>
                        <a:pt x="39754" y="712192"/>
                      </a:lnTo>
                      <a:lnTo>
                        <a:pt x="19081" y="698277"/>
                      </a:lnTo>
                      <a:lnTo>
                        <a:pt x="5123" y="677648"/>
                      </a:lnTo>
                      <a:lnTo>
                        <a:pt x="0" y="652399"/>
                      </a:lnTo>
                      <a:lnTo>
                        <a:pt x="0" y="65024"/>
                      </a:lnTo>
                      <a:close/>
                    </a:path>
                  </a:pathLst>
                </a:custGeom>
                <a:solidFill>
                  <a:schemeClr val="bg1"/>
                </a:solidFill>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2" name="object 80">
                  <a:extLst>
                    <a:ext uri="{FF2B5EF4-FFF2-40B4-BE49-F238E27FC236}">
                      <a16:creationId xmlns:a16="http://schemas.microsoft.com/office/drawing/2014/main" id="{68EBCCB8-A904-C267-DBB8-E55F44DAF74A}"/>
                    </a:ext>
                  </a:extLst>
                </p:cNvPr>
                <p:cNvSpPr/>
                <p:nvPr/>
              </p:nvSpPr>
              <p:spPr>
                <a:xfrm>
                  <a:off x="8550227" y="4433189"/>
                  <a:ext cx="1609090" cy="717550"/>
                </a:xfrm>
                <a:custGeom>
                  <a:avLst/>
                  <a:gdLst/>
                  <a:ahLst/>
                  <a:cxnLst/>
                  <a:rect l="l" t="t" r="r" b="b"/>
                  <a:pathLst>
                    <a:path w="1609090" h="717550">
                      <a:moveTo>
                        <a:pt x="1549273" y="0"/>
                      </a:moveTo>
                      <a:lnTo>
                        <a:pt x="59562" y="0"/>
                      </a:lnTo>
                      <a:lnTo>
                        <a:pt x="36379" y="4681"/>
                      </a:lnTo>
                      <a:lnTo>
                        <a:pt x="17446" y="17446"/>
                      </a:lnTo>
                      <a:lnTo>
                        <a:pt x="4681" y="36379"/>
                      </a:lnTo>
                      <a:lnTo>
                        <a:pt x="0" y="59563"/>
                      </a:lnTo>
                      <a:lnTo>
                        <a:pt x="0" y="657733"/>
                      </a:lnTo>
                      <a:lnTo>
                        <a:pt x="4681" y="680916"/>
                      </a:lnTo>
                      <a:lnTo>
                        <a:pt x="17446" y="699849"/>
                      </a:lnTo>
                      <a:lnTo>
                        <a:pt x="36379" y="712614"/>
                      </a:lnTo>
                      <a:lnTo>
                        <a:pt x="59562" y="717296"/>
                      </a:lnTo>
                      <a:lnTo>
                        <a:pt x="1549273" y="717296"/>
                      </a:lnTo>
                      <a:lnTo>
                        <a:pt x="1572456" y="712614"/>
                      </a:lnTo>
                      <a:lnTo>
                        <a:pt x="1591389" y="699849"/>
                      </a:lnTo>
                      <a:lnTo>
                        <a:pt x="1604154" y="680916"/>
                      </a:lnTo>
                      <a:lnTo>
                        <a:pt x="1608835" y="657733"/>
                      </a:lnTo>
                      <a:lnTo>
                        <a:pt x="1608835" y="59563"/>
                      </a:lnTo>
                      <a:lnTo>
                        <a:pt x="1604154" y="36379"/>
                      </a:lnTo>
                      <a:lnTo>
                        <a:pt x="1591389" y="17446"/>
                      </a:lnTo>
                      <a:lnTo>
                        <a:pt x="1572456" y="4681"/>
                      </a:lnTo>
                      <a:lnTo>
                        <a:pt x="1549273"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3" name="object 81">
                  <a:extLst>
                    <a:ext uri="{FF2B5EF4-FFF2-40B4-BE49-F238E27FC236}">
                      <a16:creationId xmlns:a16="http://schemas.microsoft.com/office/drawing/2014/main" id="{E9CEAF8B-A373-EFFE-DB49-7AF99239F0BA}"/>
                    </a:ext>
                  </a:extLst>
                </p:cNvPr>
                <p:cNvSpPr/>
                <p:nvPr/>
              </p:nvSpPr>
              <p:spPr>
                <a:xfrm>
                  <a:off x="8550227" y="4433189"/>
                  <a:ext cx="1609090" cy="717550"/>
                </a:xfrm>
                <a:custGeom>
                  <a:avLst/>
                  <a:gdLst/>
                  <a:ahLst/>
                  <a:cxnLst/>
                  <a:rect l="l" t="t" r="r" b="b"/>
                  <a:pathLst>
                    <a:path w="1609090" h="717550">
                      <a:moveTo>
                        <a:pt x="0" y="59563"/>
                      </a:moveTo>
                      <a:lnTo>
                        <a:pt x="4681" y="36379"/>
                      </a:lnTo>
                      <a:lnTo>
                        <a:pt x="17446" y="17446"/>
                      </a:lnTo>
                      <a:lnTo>
                        <a:pt x="36379" y="4681"/>
                      </a:lnTo>
                      <a:lnTo>
                        <a:pt x="59562" y="0"/>
                      </a:lnTo>
                      <a:lnTo>
                        <a:pt x="1549273" y="0"/>
                      </a:lnTo>
                      <a:lnTo>
                        <a:pt x="1572456" y="4681"/>
                      </a:lnTo>
                      <a:lnTo>
                        <a:pt x="1591389" y="17446"/>
                      </a:lnTo>
                      <a:lnTo>
                        <a:pt x="1604154" y="36379"/>
                      </a:lnTo>
                      <a:lnTo>
                        <a:pt x="1608835" y="59563"/>
                      </a:lnTo>
                      <a:lnTo>
                        <a:pt x="1608835" y="657733"/>
                      </a:lnTo>
                      <a:lnTo>
                        <a:pt x="1604154" y="680916"/>
                      </a:lnTo>
                      <a:lnTo>
                        <a:pt x="1591389" y="699849"/>
                      </a:lnTo>
                      <a:lnTo>
                        <a:pt x="1572456" y="712614"/>
                      </a:lnTo>
                      <a:lnTo>
                        <a:pt x="1549273" y="717296"/>
                      </a:lnTo>
                      <a:lnTo>
                        <a:pt x="59562" y="717296"/>
                      </a:lnTo>
                      <a:lnTo>
                        <a:pt x="36379" y="712614"/>
                      </a:lnTo>
                      <a:lnTo>
                        <a:pt x="17446" y="699849"/>
                      </a:lnTo>
                      <a:lnTo>
                        <a:pt x="4681" y="680916"/>
                      </a:lnTo>
                      <a:lnTo>
                        <a:pt x="0" y="657733"/>
                      </a:lnTo>
                      <a:lnTo>
                        <a:pt x="0" y="59563"/>
                      </a:lnTo>
                      <a:close/>
                    </a:path>
                  </a:pathLst>
                </a:custGeom>
                <a:ln w="3175">
                  <a:solidFill>
                    <a:srgbClr val="868686"/>
                  </a:solidFill>
                  <a:prstDash val="lg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grpSp>
          <p:grpSp>
            <p:nvGrpSpPr>
              <p:cNvPr id="243" name="Group 242">
                <a:extLst>
                  <a:ext uri="{FF2B5EF4-FFF2-40B4-BE49-F238E27FC236}">
                    <a16:creationId xmlns:a16="http://schemas.microsoft.com/office/drawing/2014/main" id="{3CE877F0-2B8E-3467-92A5-34FC838BB778}"/>
                  </a:ext>
                </a:extLst>
              </p:cNvPr>
              <p:cNvGrpSpPr/>
              <p:nvPr/>
            </p:nvGrpSpPr>
            <p:grpSpPr>
              <a:xfrm>
                <a:off x="4717082" y="4095415"/>
                <a:ext cx="1517764" cy="177301"/>
                <a:chOff x="8587013" y="3935672"/>
                <a:chExt cx="1569021" cy="215582"/>
              </a:xfrm>
            </p:grpSpPr>
            <p:sp>
              <p:nvSpPr>
                <p:cNvPr id="248" name="object 50">
                  <a:extLst>
                    <a:ext uri="{FF2B5EF4-FFF2-40B4-BE49-F238E27FC236}">
                      <a16:creationId xmlns:a16="http://schemas.microsoft.com/office/drawing/2014/main" id="{65F0337A-7AB0-2522-5A0C-228C8994BE98}"/>
                    </a:ext>
                  </a:extLst>
                </p:cNvPr>
                <p:cNvSpPr/>
                <p:nvPr/>
              </p:nvSpPr>
              <p:spPr>
                <a:xfrm>
                  <a:off x="8587013" y="3935672"/>
                  <a:ext cx="1569021" cy="215582"/>
                </a:xfrm>
                <a:prstGeom prst="roundRect">
                  <a:avLst/>
                </a:prstGeom>
                <a:solidFill>
                  <a:srgbClr val="267AC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49" name="TextBox 248">
                  <a:extLst>
                    <a:ext uri="{FF2B5EF4-FFF2-40B4-BE49-F238E27FC236}">
                      <a16:creationId xmlns:a16="http://schemas.microsoft.com/office/drawing/2014/main" id="{B911E357-AEF6-1411-5D55-699EBE11F78D}"/>
                    </a:ext>
                  </a:extLst>
                </p:cNvPr>
                <p:cNvSpPr txBox="1"/>
                <p:nvPr/>
              </p:nvSpPr>
              <p:spPr>
                <a:xfrm>
                  <a:off x="8671731" y="3981458"/>
                  <a:ext cx="1399586"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3</a:t>
                  </a:r>
                  <a:r>
                    <a:rPr kumimoji="0" lang="en-US" sz="800" b="0"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lang="en-US"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(1/Pod)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grpSp>
            <p:nvGrpSpPr>
              <p:cNvPr id="244" name="Group 243">
                <a:extLst>
                  <a:ext uri="{FF2B5EF4-FFF2-40B4-BE49-F238E27FC236}">
                    <a16:creationId xmlns:a16="http://schemas.microsoft.com/office/drawing/2014/main" id="{9EE32C6C-8A6B-4C03-6CA2-6A53C549808E}"/>
                  </a:ext>
                </a:extLst>
              </p:cNvPr>
              <p:cNvGrpSpPr/>
              <p:nvPr/>
            </p:nvGrpSpPr>
            <p:grpSpPr>
              <a:xfrm>
                <a:off x="4717143" y="4309960"/>
                <a:ext cx="1521388" cy="177301"/>
                <a:chOff x="8587013" y="4178139"/>
                <a:chExt cx="1572768" cy="215582"/>
              </a:xfrm>
            </p:grpSpPr>
            <p:sp>
              <p:nvSpPr>
                <p:cNvPr id="246" name="object 50">
                  <a:extLst>
                    <a:ext uri="{FF2B5EF4-FFF2-40B4-BE49-F238E27FC236}">
                      <a16:creationId xmlns:a16="http://schemas.microsoft.com/office/drawing/2014/main" id="{074D21F4-556E-EB30-7D7A-79042375FD9D}"/>
                    </a:ext>
                  </a:extLst>
                </p:cNvPr>
                <p:cNvSpPr/>
                <p:nvPr/>
              </p:nvSpPr>
              <p:spPr>
                <a:xfrm>
                  <a:off x="8587013" y="4178139"/>
                  <a:ext cx="1572768" cy="215582"/>
                </a:xfrm>
                <a:prstGeom prst="roundRect">
                  <a:avLst/>
                </a:prstGeom>
                <a:solidFill>
                  <a:srgbClr val="00A78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47" name="TextBox 246">
                  <a:extLst>
                    <a:ext uri="{FF2B5EF4-FFF2-40B4-BE49-F238E27FC236}">
                      <a16:creationId xmlns:a16="http://schemas.microsoft.com/office/drawing/2014/main" id="{B502BDFD-2C55-34F4-3E87-FC6C4703AEBB}"/>
                    </a:ext>
                  </a:extLst>
                </p:cNvPr>
                <p:cNvSpPr txBox="1"/>
                <p:nvPr/>
              </p:nvSpPr>
              <p:spPr>
                <a:xfrm>
                  <a:off x="8651670" y="4238718"/>
                  <a:ext cx="1443454" cy="94425"/>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FFFFFF"/>
                      </a:solidFill>
                      <a:effectLst/>
                      <a:uLnTx/>
                      <a:uFillTx/>
                      <a:latin typeface="CVS Health Sans"/>
                      <a:ea typeface="+mn-ea"/>
                      <a:cs typeface="CVS Health Sans"/>
                    </a:rPr>
                    <a:t>6</a:t>
                  </a:r>
                  <a:r>
                    <a:rPr kumimoji="0" lang="en-US" sz="800" b="0" i="0" u="none" strike="noStrike" kern="0" cap="none" spc="-3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Data</a:t>
                  </a:r>
                  <a:r>
                    <a:rPr kumimoji="0" lang="en-US" sz="800" b="0" i="0" u="none" strike="noStrike" kern="0" cap="none" spc="-20"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0" normalizeH="0" baseline="0" noProof="0">
                      <a:ln>
                        <a:noFill/>
                      </a:ln>
                      <a:solidFill>
                        <a:srgbClr val="FFFFFF"/>
                      </a:solidFill>
                      <a:effectLst/>
                      <a:uLnTx/>
                      <a:uFillTx/>
                      <a:latin typeface="CVS Health Sans"/>
                      <a:ea typeface="+mn-ea"/>
                      <a:cs typeface="CVS Health Sans"/>
                    </a:rPr>
                    <a:t>Engineers</a:t>
                  </a:r>
                  <a:r>
                    <a:rPr kumimoji="0" lang="en-US" sz="800" b="0" i="0" u="none" strike="noStrike" kern="0" cap="none" spc="-15" normalizeH="0" baseline="0" noProof="0">
                      <a:ln>
                        <a:noFill/>
                      </a:ln>
                      <a:solidFill>
                        <a:srgbClr val="FFFFFF"/>
                      </a:solidFill>
                      <a:effectLst/>
                      <a:uLnTx/>
                      <a:uFillTx/>
                      <a:latin typeface="CVS Health Sans"/>
                      <a:ea typeface="+mn-ea"/>
                      <a:cs typeface="CVS Health Sans"/>
                    </a:rPr>
                    <a:t> </a:t>
                  </a:r>
                  <a:r>
                    <a:rPr kumimoji="0" lang="en-US" sz="800" b="0" i="0" u="none" strike="noStrike" kern="0" cap="none" spc="-10" normalizeH="0" baseline="0" noProof="0">
                      <a:ln>
                        <a:noFill/>
                      </a:ln>
                      <a:solidFill>
                        <a:srgbClr val="FFFFFF"/>
                      </a:solidFill>
                      <a:effectLst/>
                      <a:uLnTx/>
                      <a:uFillTx/>
                      <a:latin typeface="CVS Health Sans"/>
                      <a:ea typeface="+mn-ea"/>
                      <a:cs typeface="CVS Health Sans"/>
                    </a:rPr>
                    <a:t>(2/Pod)</a:t>
                  </a:r>
                  <a:endParaRPr kumimoji="0" lang="en-US" sz="800" b="0" i="0" u="none" strike="noStrike" kern="0" cap="none" spc="0" normalizeH="0" baseline="0" noProof="0">
                    <a:ln>
                      <a:noFill/>
                    </a:ln>
                    <a:solidFill>
                      <a:sysClr val="windowText" lastClr="000000"/>
                    </a:solidFill>
                    <a:effectLst/>
                    <a:uLnTx/>
                    <a:uFillTx/>
                    <a:latin typeface="CVS Health Sans"/>
                    <a:ea typeface="+mn-ea"/>
                    <a:cs typeface="CVS Health Sans"/>
                  </a:endParaRPr>
                </a:p>
              </p:txBody>
            </p:sp>
          </p:grpSp>
          <p:sp>
            <p:nvSpPr>
              <p:cNvPr id="245" name="TextBox 244">
                <a:extLst>
                  <a:ext uri="{FF2B5EF4-FFF2-40B4-BE49-F238E27FC236}">
                    <a16:creationId xmlns:a16="http://schemas.microsoft.com/office/drawing/2014/main" id="{D7103021-F568-BFAE-4D51-4F8F1496764A}"/>
                  </a:ext>
                </a:extLst>
              </p:cNvPr>
              <p:cNvSpPr txBox="1"/>
              <p:nvPr/>
            </p:nvSpPr>
            <p:spPr>
              <a:xfrm>
                <a:off x="4754875" y="3914290"/>
                <a:ext cx="735647" cy="151874"/>
              </a:xfrm>
              <a:prstGeom prst="rect">
                <a:avLst/>
              </a:prstGeom>
              <a:noFill/>
            </p:spPr>
            <p:txBody>
              <a:bodyPr wrap="square" l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a:ln>
                      <a:noFill/>
                    </a:ln>
                    <a:solidFill>
                      <a:srgbClr val="3F3F3F"/>
                    </a:solidFill>
                    <a:effectLst/>
                    <a:uLnTx/>
                    <a:uFillTx/>
                    <a:latin typeface="CVS Health Sans"/>
                    <a:ea typeface="+mn-ea"/>
                    <a:cs typeface="CVS Health Sans"/>
                  </a:rPr>
                  <a:t>Pod (x3)</a:t>
                </a:r>
              </a:p>
            </p:txBody>
          </p:sp>
        </p:grpSp>
      </p:grpSp>
      <p:grpSp>
        <p:nvGrpSpPr>
          <p:cNvPr id="254" name="Group 253">
            <a:extLst>
              <a:ext uri="{FF2B5EF4-FFF2-40B4-BE49-F238E27FC236}">
                <a16:creationId xmlns:a16="http://schemas.microsoft.com/office/drawing/2014/main" id="{4E72E670-8F20-C058-88DA-994C9202D359}"/>
              </a:ext>
            </a:extLst>
          </p:cNvPr>
          <p:cNvGrpSpPr/>
          <p:nvPr/>
        </p:nvGrpSpPr>
        <p:grpSpPr>
          <a:xfrm>
            <a:off x="4567919" y="5292119"/>
            <a:ext cx="1475622" cy="266700"/>
            <a:chOff x="6715701" y="5292119"/>
            <a:chExt cx="1416050" cy="266700"/>
          </a:xfrm>
        </p:grpSpPr>
        <p:sp>
          <p:nvSpPr>
            <p:cNvPr id="255" name="object 85">
              <a:extLst>
                <a:ext uri="{FF2B5EF4-FFF2-40B4-BE49-F238E27FC236}">
                  <a16:creationId xmlns:a16="http://schemas.microsoft.com/office/drawing/2014/main" id="{49708CE5-DF7B-93AF-5B76-51631EAA65A9}"/>
                </a:ext>
              </a:extLst>
            </p:cNvPr>
            <p:cNvSpPr/>
            <p:nvPr/>
          </p:nvSpPr>
          <p:spPr>
            <a:xfrm>
              <a:off x="6715701" y="5292119"/>
              <a:ext cx="1416050" cy="266700"/>
            </a:xfrm>
            <a:custGeom>
              <a:avLst/>
              <a:gdLst/>
              <a:ahLst/>
              <a:cxnLst/>
              <a:rect l="l" t="t" r="r" b="b"/>
              <a:pathLst>
                <a:path w="1416050" h="266700">
                  <a:moveTo>
                    <a:pt x="1371600" y="0"/>
                  </a:moveTo>
                  <a:lnTo>
                    <a:pt x="44450" y="0"/>
                  </a:lnTo>
                  <a:lnTo>
                    <a:pt x="27164" y="3478"/>
                  </a:lnTo>
                  <a:lnTo>
                    <a:pt x="13033" y="12969"/>
                  </a:lnTo>
                  <a:lnTo>
                    <a:pt x="3498" y="27056"/>
                  </a:lnTo>
                  <a:lnTo>
                    <a:pt x="0" y="44323"/>
                  </a:lnTo>
                  <a:lnTo>
                    <a:pt x="0" y="222122"/>
                  </a:lnTo>
                  <a:lnTo>
                    <a:pt x="3498" y="239389"/>
                  </a:lnTo>
                  <a:lnTo>
                    <a:pt x="13033" y="253476"/>
                  </a:lnTo>
                  <a:lnTo>
                    <a:pt x="27164" y="262967"/>
                  </a:lnTo>
                  <a:lnTo>
                    <a:pt x="44450" y="266446"/>
                  </a:lnTo>
                  <a:lnTo>
                    <a:pt x="1371600" y="266446"/>
                  </a:lnTo>
                  <a:lnTo>
                    <a:pt x="1388885" y="262967"/>
                  </a:lnTo>
                  <a:lnTo>
                    <a:pt x="1403016" y="253476"/>
                  </a:lnTo>
                  <a:lnTo>
                    <a:pt x="1412551" y="239389"/>
                  </a:lnTo>
                  <a:lnTo>
                    <a:pt x="1416050" y="222122"/>
                  </a:lnTo>
                  <a:lnTo>
                    <a:pt x="1416050" y="44323"/>
                  </a:lnTo>
                  <a:lnTo>
                    <a:pt x="1412551" y="27056"/>
                  </a:lnTo>
                  <a:lnTo>
                    <a:pt x="1403016" y="12969"/>
                  </a:lnTo>
                  <a:lnTo>
                    <a:pt x="1388885" y="3478"/>
                  </a:lnTo>
                  <a:lnTo>
                    <a:pt x="1371600" y="0"/>
                  </a:lnTo>
                  <a:close/>
                </a:path>
              </a:pathLst>
            </a:custGeom>
            <a:solidFill>
              <a:srgbClr val="E9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VS Health Sans"/>
                <a:ea typeface="+mn-ea"/>
                <a:cs typeface="+mn-cs"/>
              </a:endParaRPr>
            </a:p>
          </p:txBody>
        </p:sp>
        <p:sp>
          <p:nvSpPr>
            <p:cNvPr id="256" name="TextBox 255">
              <a:extLst>
                <a:ext uri="{FF2B5EF4-FFF2-40B4-BE49-F238E27FC236}">
                  <a16:creationId xmlns:a16="http://schemas.microsoft.com/office/drawing/2014/main" id="{A4753231-B7A7-F81C-897F-E270376C5BC1}"/>
                </a:ext>
              </a:extLst>
            </p:cNvPr>
            <p:cNvSpPr txBox="1"/>
            <p:nvPr/>
          </p:nvSpPr>
          <p:spPr>
            <a:xfrm>
              <a:off x="6772565" y="5363463"/>
              <a:ext cx="1302322" cy="124012"/>
            </a:xfrm>
            <a:prstGeom prst="rect">
              <a:avLst/>
            </a:prstGeom>
            <a:noFill/>
          </p:spPr>
          <p:txBody>
            <a:bodyPr wrap="square" lIns="0" tIns="0" rIns="0" bIns="0" anchor="ctr">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US" sz="800" b="0" i="0" u="none" strike="noStrike" kern="0" cap="none" spc="0" normalizeH="0" baseline="0" noProof="0">
                  <a:ln>
                    <a:noFill/>
                  </a:ln>
                  <a:solidFill>
                    <a:srgbClr val="3E3E3E"/>
                  </a:solidFill>
                  <a:effectLst/>
                  <a:uLnTx/>
                  <a:uFillTx/>
                  <a:latin typeface="CVS Health Sans"/>
                  <a:ea typeface="+mn-ea"/>
                  <a:cs typeface="CVS Health Sans"/>
                </a:rPr>
                <a:t>Data Owners</a:t>
              </a:r>
            </a:p>
          </p:txBody>
        </p:sp>
      </p:grpSp>
      <p:cxnSp>
        <p:nvCxnSpPr>
          <p:cNvPr id="278" name="Straight Connector 277">
            <a:extLst>
              <a:ext uri="{FF2B5EF4-FFF2-40B4-BE49-F238E27FC236}">
                <a16:creationId xmlns:a16="http://schemas.microsoft.com/office/drawing/2014/main" id="{D0D3E416-3C04-0FDF-2E59-AE4307AB8520}"/>
              </a:ext>
            </a:extLst>
          </p:cNvPr>
          <p:cNvCxnSpPr>
            <a:cxnSpLocks/>
          </p:cNvCxnSpPr>
          <p:nvPr/>
        </p:nvCxnSpPr>
        <p:spPr>
          <a:xfrm>
            <a:off x="4983480" y="3690489"/>
            <a:ext cx="2563685" cy="0"/>
          </a:xfrm>
          <a:prstGeom prst="line">
            <a:avLst/>
          </a:prstGeom>
          <a:ln w="6350" cmpd="sng">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76" name="Group 275">
            <a:extLst>
              <a:ext uri="{FF2B5EF4-FFF2-40B4-BE49-F238E27FC236}">
                <a16:creationId xmlns:a16="http://schemas.microsoft.com/office/drawing/2014/main" id="{E1309EC9-4905-0E05-24FE-40880A2F1357}"/>
              </a:ext>
            </a:extLst>
          </p:cNvPr>
          <p:cNvGrpSpPr/>
          <p:nvPr/>
        </p:nvGrpSpPr>
        <p:grpSpPr>
          <a:xfrm>
            <a:off x="5530707" y="3590927"/>
            <a:ext cx="1469231" cy="199124"/>
            <a:chOff x="5419725" y="3576638"/>
            <a:chExt cx="1469231" cy="199124"/>
          </a:xfrm>
        </p:grpSpPr>
        <p:sp>
          <p:nvSpPr>
            <p:cNvPr id="274" name="Rectangle: Rounded Corners 273">
              <a:extLst>
                <a:ext uri="{FF2B5EF4-FFF2-40B4-BE49-F238E27FC236}">
                  <a16:creationId xmlns:a16="http://schemas.microsoft.com/office/drawing/2014/main" id="{E615AA81-7354-5015-278F-74661414B20D}"/>
                </a:ext>
              </a:extLst>
            </p:cNvPr>
            <p:cNvSpPr/>
            <p:nvPr/>
          </p:nvSpPr>
          <p:spPr bwMode="gray">
            <a:xfrm>
              <a:off x="5419725" y="3576638"/>
              <a:ext cx="1469231" cy="199124"/>
            </a:xfrm>
            <a:prstGeom prst="roundRect">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75" name="Group 274">
              <a:extLst>
                <a:ext uri="{FF2B5EF4-FFF2-40B4-BE49-F238E27FC236}">
                  <a16:creationId xmlns:a16="http://schemas.microsoft.com/office/drawing/2014/main" id="{16E68409-AF35-6C35-2E89-CF66DAB08668}"/>
                </a:ext>
              </a:extLst>
            </p:cNvPr>
            <p:cNvGrpSpPr/>
            <p:nvPr/>
          </p:nvGrpSpPr>
          <p:grpSpPr>
            <a:xfrm>
              <a:off x="5457887" y="3581561"/>
              <a:ext cx="1392907" cy="189278"/>
              <a:chOff x="5457885" y="3576638"/>
              <a:chExt cx="1392907" cy="189278"/>
            </a:xfrm>
          </p:grpSpPr>
          <p:sp>
            <p:nvSpPr>
              <p:cNvPr id="146" name="object 108">
                <a:extLst>
                  <a:ext uri="{FF2B5EF4-FFF2-40B4-BE49-F238E27FC236}">
                    <a16:creationId xmlns:a16="http://schemas.microsoft.com/office/drawing/2014/main" id="{C1603655-82FC-207A-0ED5-352D76058787}"/>
                  </a:ext>
                </a:extLst>
              </p:cNvPr>
              <p:cNvSpPr txBox="1"/>
              <p:nvPr/>
            </p:nvSpPr>
            <p:spPr>
              <a:xfrm>
                <a:off x="5457885" y="3660759"/>
                <a:ext cx="1392907" cy="105157"/>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600" b="0" i="0" u="none" strike="noStrike" kern="0" cap="none" spc="0" normalizeH="0" baseline="0" noProof="0">
                    <a:ln>
                      <a:noFill/>
                    </a:ln>
                    <a:solidFill>
                      <a:prstClr val="white"/>
                    </a:solidFill>
                    <a:effectLst/>
                    <a:uLnTx/>
                    <a:uFillTx/>
                    <a:latin typeface="CVS Health Sans"/>
                    <a:ea typeface="+mn-ea"/>
                    <a:cs typeface="CVS Health Sans"/>
                  </a:rPr>
                  <a:t>Contributes across workstreams B&amp;C</a:t>
                </a:r>
              </a:p>
            </p:txBody>
          </p:sp>
          <p:sp>
            <p:nvSpPr>
              <p:cNvPr id="273" name="object 108">
                <a:extLst>
                  <a:ext uri="{FF2B5EF4-FFF2-40B4-BE49-F238E27FC236}">
                    <a16:creationId xmlns:a16="http://schemas.microsoft.com/office/drawing/2014/main" id="{EECDD4C7-B671-1E06-9B15-00BED7F4DD67}"/>
                  </a:ext>
                </a:extLst>
              </p:cNvPr>
              <p:cNvSpPr txBox="1"/>
              <p:nvPr/>
            </p:nvSpPr>
            <p:spPr>
              <a:xfrm>
                <a:off x="5803322" y="3576638"/>
                <a:ext cx="702032" cy="120546"/>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700" b="0" i="0" u="none" strike="noStrike" kern="0" cap="none" spc="0" normalizeH="0" baseline="0" noProof="0">
                    <a:ln>
                      <a:noFill/>
                    </a:ln>
                    <a:solidFill>
                      <a:prstClr val="white"/>
                    </a:solidFill>
                    <a:effectLst/>
                    <a:uLnTx/>
                    <a:uFillTx/>
                    <a:latin typeface="CVS Health Sans"/>
                    <a:ea typeface="+mn-ea"/>
                    <a:cs typeface="CVS Health Sans"/>
                  </a:rPr>
                  <a:t>1 Data Architect</a:t>
                </a:r>
              </a:p>
            </p:txBody>
          </p:sp>
        </p:grpSp>
      </p:grpSp>
      <p:grpSp>
        <p:nvGrpSpPr>
          <p:cNvPr id="300" name="Graphic 2">
            <a:extLst>
              <a:ext uri="{FF2B5EF4-FFF2-40B4-BE49-F238E27FC236}">
                <a16:creationId xmlns:a16="http://schemas.microsoft.com/office/drawing/2014/main" id="{055F9BA3-271E-DA76-7F77-CF3504D79A10}"/>
              </a:ext>
            </a:extLst>
          </p:cNvPr>
          <p:cNvGrpSpPr/>
          <p:nvPr/>
        </p:nvGrpSpPr>
        <p:grpSpPr bwMode="gray">
          <a:xfrm>
            <a:off x="6525544" y="3041717"/>
            <a:ext cx="304995" cy="313588"/>
            <a:chOff x="3657307" y="2247660"/>
            <a:chExt cx="445731" cy="459564"/>
          </a:xfrm>
          <a:noFill/>
        </p:grpSpPr>
        <p:grpSp>
          <p:nvGrpSpPr>
            <p:cNvPr id="301" name="Graphic 2">
              <a:extLst>
                <a:ext uri="{FF2B5EF4-FFF2-40B4-BE49-F238E27FC236}">
                  <a16:creationId xmlns:a16="http://schemas.microsoft.com/office/drawing/2014/main" id="{4D9D5246-1CA8-356E-7E1D-F337A65B9455}"/>
                </a:ext>
              </a:extLst>
            </p:cNvPr>
            <p:cNvGrpSpPr/>
            <p:nvPr/>
          </p:nvGrpSpPr>
          <p:grpSpPr bwMode="gray">
            <a:xfrm>
              <a:off x="3657307" y="2247660"/>
              <a:ext cx="365514" cy="438887"/>
              <a:chOff x="3657307" y="2247660"/>
              <a:chExt cx="365514" cy="438887"/>
            </a:xfrm>
            <a:grpFill/>
          </p:grpSpPr>
          <p:grpSp>
            <p:nvGrpSpPr>
              <p:cNvPr id="305" name="Graphic 2">
                <a:extLst>
                  <a:ext uri="{FF2B5EF4-FFF2-40B4-BE49-F238E27FC236}">
                    <a16:creationId xmlns:a16="http://schemas.microsoft.com/office/drawing/2014/main" id="{6D8A0A75-0390-7F24-EDBF-BE891AF51EF9}"/>
                  </a:ext>
                </a:extLst>
              </p:cNvPr>
              <p:cNvGrpSpPr/>
              <p:nvPr/>
            </p:nvGrpSpPr>
            <p:grpSpPr bwMode="gray">
              <a:xfrm>
                <a:off x="3657307" y="2247660"/>
                <a:ext cx="365514" cy="438887"/>
                <a:chOff x="3657307" y="2247660"/>
                <a:chExt cx="365514" cy="438887"/>
              </a:xfrm>
              <a:grpFill/>
            </p:grpSpPr>
            <p:sp>
              <p:nvSpPr>
                <p:cNvPr id="315" name="Freeform: Shape 314">
                  <a:extLst>
                    <a:ext uri="{FF2B5EF4-FFF2-40B4-BE49-F238E27FC236}">
                      <a16:creationId xmlns:a16="http://schemas.microsoft.com/office/drawing/2014/main" id="{20E45DCA-655B-855E-712A-0B085AC83436}"/>
                    </a:ext>
                  </a:extLst>
                </p:cNvPr>
                <p:cNvSpPr/>
                <p:nvPr/>
              </p:nvSpPr>
              <p:spPr bwMode="gray">
                <a:xfrm>
                  <a:off x="3657307" y="2247660"/>
                  <a:ext cx="365514" cy="168777"/>
                </a:xfrm>
                <a:custGeom>
                  <a:avLst/>
                  <a:gdLst>
                    <a:gd name="connsiteX0" fmla="*/ 365514 w 365514"/>
                    <a:gd name="connsiteY0" fmla="*/ 84389 h 168777"/>
                    <a:gd name="connsiteX1" fmla="*/ 182757 w 365514"/>
                    <a:gd name="connsiteY1" fmla="*/ 168778 h 168777"/>
                    <a:gd name="connsiteX2" fmla="*/ 0 w 365514"/>
                    <a:gd name="connsiteY2" fmla="*/ 84389 h 168777"/>
                    <a:gd name="connsiteX3" fmla="*/ 182757 w 365514"/>
                    <a:gd name="connsiteY3" fmla="*/ 0 h 168777"/>
                    <a:gd name="connsiteX4" fmla="*/ 365514 w 365514"/>
                    <a:gd name="connsiteY4" fmla="*/ 84389 h 168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14" h="168777">
                      <a:moveTo>
                        <a:pt x="365514" y="84389"/>
                      </a:moveTo>
                      <a:cubicBezTo>
                        <a:pt x="365514" y="130996"/>
                        <a:pt x="283691" y="168778"/>
                        <a:pt x="182757" y="168778"/>
                      </a:cubicBezTo>
                      <a:cubicBezTo>
                        <a:pt x="81823" y="168778"/>
                        <a:pt x="0" y="130996"/>
                        <a:pt x="0" y="84389"/>
                      </a:cubicBezTo>
                      <a:cubicBezTo>
                        <a:pt x="0" y="37782"/>
                        <a:pt x="81823" y="0"/>
                        <a:pt x="182757" y="0"/>
                      </a:cubicBezTo>
                      <a:cubicBezTo>
                        <a:pt x="283691" y="0"/>
                        <a:pt x="365514" y="37782"/>
                        <a:pt x="365514" y="84389"/>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6" name="Freeform: Shape 315">
                  <a:extLst>
                    <a:ext uri="{FF2B5EF4-FFF2-40B4-BE49-F238E27FC236}">
                      <a16:creationId xmlns:a16="http://schemas.microsoft.com/office/drawing/2014/main" id="{A4F449AE-F05E-C392-4054-9BF4132B412A}"/>
                    </a:ext>
                  </a:extLst>
                </p:cNvPr>
                <p:cNvSpPr/>
                <p:nvPr/>
              </p:nvSpPr>
              <p:spPr bwMode="gray">
                <a:xfrm>
                  <a:off x="3657307" y="2517770"/>
                  <a:ext cx="272744" cy="84388"/>
                </a:xfrm>
                <a:custGeom>
                  <a:avLst/>
                  <a:gdLst>
                    <a:gd name="connsiteX0" fmla="*/ 0 w 272744"/>
                    <a:gd name="connsiteY0" fmla="*/ 0 h 84388"/>
                    <a:gd name="connsiteX1" fmla="*/ 182757 w 272744"/>
                    <a:gd name="connsiteY1" fmla="*/ 84389 h 84388"/>
                    <a:gd name="connsiteX2" fmla="*/ 272745 w 272744"/>
                    <a:gd name="connsiteY2" fmla="*/ 73447 h 84388"/>
                  </a:gdLst>
                  <a:ahLst/>
                  <a:cxnLst>
                    <a:cxn ang="0">
                      <a:pos x="connsiteX0" y="connsiteY0"/>
                    </a:cxn>
                    <a:cxn ang="0">
                      <a:pos x="connsiteX1" y="connsiteY1"/>
                    </a:cxn>
                    <a:cxn ang="0">
                      <a:pos x="connsiteX2" y="connsiteY2"/>
                    </a:cxn>
                  </a:cxnLst>
                  <a:rect l="l" t="t" r="r" b="b"/>
                  <a:pathLst>
                    <a:path w="272744" h="84388">
                      <a:moveTo>
                        <a:pt x="0" y="0"/>
                      </a:moveTo>
                      <a:cubicBezTo>
                        <a:pt x="0" y="46622"/>
                        <a:pt x="81827" y="84389"/>
                        <a:pt x="182757" y="84389"/>
                      </a:cubicBezTo>
                      <a:cubicBezTo>
                        <a:pt x="215473" y="84389"/>
                        <a:pt x="246177" y="80400"/>
                        <a:pt x="272745" y="73447"/>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7" name="Freeform: Shape 316">
                  <a:extLst>
                    <a:ext uri="{FF2B5EF4-FFF2-40B4-BE49-F238E27FC236}">
                      <a16:creationId xmlns:a16="http://schemas.microsoft.com/office/drawing/2014/main" id="{D8B150AD-E17C-23B5-7459-7E939F67370A}"/>
                    </a:ext>
                  </a:extLst>
                </p:cNvPr>
                <p:cNvSpPr/>
                <p:nvPr/>
              </p:nvSpPr>
              <p:spPr bwMode="gray">
                <a:xfrm>
                  <a:off x="3657307" y="2602159"/>
                  <a:ext cx="268536" cy="84388"/>
                </a:xfrm>
                <a:custGeom>
                  <a:avLst/>
                  <a:gdLst>
                    <a:gd name="connsiteX0" fmla="*/ 0 w 268536"/>
                    <a:gd name="connsiteY0" fmla="*/ 0 h 84388"/>
                    <a:gd name="connsiteX1" fmla="*/ 182757 w 268536"/>
                    <a:gd name="connsiteY1" fmla="*/ 84389 h 84388"/>
                    <a:gd name="connsiteX2" fmla="*/ 268537 w 268536"/>
                    <a:gd name="connsiteY2" fmla="*/ 74545 h 84388"/>
                  </a:gdLst>
                  <a:ahLst/>
                  <a:cxnLst>
                    <a:cxn ang="0">
                      <a:pos x="connsiteX0" y="connsiteY0"/>
                    </a:cxn>
                    <a:cxn ang="0">
                      <a:pos x="connsiteX1" y="connsiteY1"/>
                    </a:cxn>
                    <a:cxn ang="0">
                      <a:pos x="connsiteX2" y="connsiteY2"/>
                    </a:cxn>
                  </a:cxnLst>
                  <a:rect l="l" t="t" r="r" b="b"/>
                  <a:pathLst>
                    <a:path w="268536" h="84388">
                      <a:moveTo>
                        <a:pt x="0" y="0"/>
                      </a:moveTo>
                      <a:cubicBezTo>
                        <a:pt x="0" y="46622"/>
                        <a:pt x="81827" y="84389"/>
                        <a:pt x="182757" y="84389"/>
                      </a:cubicBezTo>
                      <a:cubicBezTo>
                        <a:pt x="213753" y="84389"/>
                        <a:pt x="242956" y="80839"/>
                        <a:pt x="268537" y="74545"/>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8" name="Freeform: Shape 317">
                  <a:extLst>
                    <a:ext uri="{FF2B5EF4-FFF2-40B4-BE49-F238E27FC236}">
                      <a16:creationId xmlns:a16="http://schemas.microsoft.com/office/drawing/2014/main" id="{45066AFC-ED6F-0ADF-10CA-6AF9A5B82F2E}"/>
                    </a:ext>
                  </a:extLst>
                </p:cNvPr>
                <p:cNvSpPr/>
                <p:nvPr/>
              </p:nvSpPr>
              <p:spPr bwMode="gray">
                <a:xfrm>
                  <a:off x="3657307" y="2424891"/>
                  <a:ext cx="365514" cy="84388"/>
                </a:xfrm>
                <a:custGeom>
                  <a:avLst/>
                  <a:gdLst>
                    <a:gd name="connsiteX0" fmla="*/ 0 w 365514"/>
                    <a:gd name="connsiteY0" fmla="*/ 0 h 84388"/>
                    <a:gd name="connsiteX1" fmla="*/ 182757 w 365514"/>
                    <a:gd name="connsiteY1" fmla="*/ 84389 h 84388"/>
                    <a:gd name="connsiteX2" fmla="*/ 365514 w 365514"/>
                    <a:gd name="connsiteY2" fmla="*/ 0 h 84388"/>
                  </a:gdLst>
                  <a:ahLst/>
                  <a:cxnLst>
                    <a:cxn ang="0">
                      <a:pos x="connsiteX0" y="connsiteY0"/>
                    </a:cxn>
                    <a:cxn ang="0">
                      <a:pos x="connsiteX1" y="connsiteY1"/>
                    </a:cxn>
                    <a:cxn ang="0">
                      <a:pos x="connsiteX2" y="connsiteY2"/>
                    </a:cxn>
                  </a:cxnLst>
                  <a:rect l="l" t="t" r="r" b="b"/>
                  <a:pathLst>
                    <a:path w="365514" h="84388">
                      <a:moveTo>
                        <a:pt x="0" y="0"/>
                      </a:moveTo>
                      <a:cubicBezTo>
                        <a:pt x="0" y="46622"/>
                        <a:pt x="81827" y="84389"/>
                        <a:pt x="182757" y="84389"/>
                      </a:cubicBezTo>
                      <a:cubicBezTo>
                        <a:pt x="283687" y="84389"/>
                        <a:pt x="365514" y="46586"/>
                        <a:pt x="365514" y="0"/>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9" name="Freeform: Shape 318">
                  <a:extLst>
                    <a:ext uri="{FF2B5EF4-FFF2-40B4-BE49-F238E27FC236}">
                      <a16:creationId xmlns:a16="http://schemas.microsoft.com/office/drawing/2014/main" id="{5371249B-FC40-1984-E5F1-70C642EAF474}"/>
                    </a:ext>
                  </a:extLst>
                </p:cNvPr>
                <p:cNvSpPr/>
                <p:nvPr/>
              </p:nvSpPr>
              <p:spPr bwMode="gray">
                <a:xfrm>
                  <a:off x="3657307" y="2332049"/>
                  <a:ext cx="3659" cy="270110"/>
                </a:xfrm>
                <a:custGeom>
                  <a:avLst/>
                  <a:gdLst>
                    <a:gd name="connsiteX0" fmla="*/ 0 w 3659"/>
                    <a:gd name="connsiteY0" fmla="*/ 0 h 270110"/>
                    <a:gd name="connsiteX1" fmla="*/ 0 w 3659"/>
                    <a:gd name="connsiteY1" fmla="*/ 270110 h 270110"/>
                  </a:gdLst>
                  <a:ahLst/>
                  <a:cxnLst>
                    <a:cxn ang="0">
                      <a:pos x="connsiteX0" y="connsiteY0"/>
                    </a:cxn>
                    <a:cxn ang="0">
                      <a:pos x="connsiteX1" y="connsiteY1"/>
                    </a:cxn>
                  </a:cxnLst>
                  <a:rect l="l" t="t" r="r" b="b"/>
                  <a:pathLst>
                    <a:path w="3659" h="270110">
                      <a:moveTo>
                        <a:pt x="0" y="0"/>
                      </a:moveTo>
                      <a:lnTo>
                        <a:pt x="0" y="27011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20" name="Freeform: Shape 319">
                  <a:extLst>
                    <a:ext uri="{FF2B5EF4-FFF2-40B4-BE49-F238E27FC236}">
                      <a16:creationId xmlns:a16="http://schemas.microsoft.com/office/drawing/2014/main" id="{E8FA16F4-4BEE-E150-B089-7F76A9407262}"/>
                    </a:ext>
                  </a:extLst>
                </p:cNvPr>
                <p:cNvSpPr/>
                <p:nvPr/>
              </p:nvSpPr>
              <p:spPr bwMode="gray">
                <a:xfrm>
                  <a:off x="4022822" y="2332049"/>
                  <a:ext cx="3659" cy="190991"/>
                </a:xfrm>
                <a:custGeom>
                  <a:avLst/>
                  <a:gdLst>
                    <a:gd name="connsiteX0" fmla="*/ 0 w 3659"/>
                    <a:gd name="connsiteY0" fmla="*/ 0 h 190991"/>
                    <a:gd name="connsiteX1" fmla="*/ 0 w 3659"/>
                    <a:gd name="connsiteY1" fmla="*/ 190991 h 190991"/>
                    <a:gd name="connsiteX2" fmla="*/ 0 w 3659"/>
                    <a:gd name="connsiteY2" fmla="*/ 0 h 190991"/>
                  </a:gdLst>
                  <a:ahLst/>
                  <a:cxnLst>
                    <a:cxn ang="0">
                      <a:pos x="connsiteX0" y="connsiteY0"/>
                    </a:cxn>
                    <a:cxn ang="0">
                      <a:pos x="connsiteX1" y="connsiteY1"/>
                    </a:cxn>
                    <a:cxn ang="0">
                      <a:pos x="connsiteX2" y="connsiteY2"/>
                    </a:cxn>
                  </a:cxnLst>
                  <a:rect l="l" t="t" r="r" b="b"/>
                  <a:pathLst>
                    <a:path w="3659" h="190991">
                      <a:moveTo>
                        <a:pt x="0" y="0"/>
                      </a:moveTo>
                      <a:lnTo>
                        <a:pt x="0" y="190991"/>
                      </a:lnTo>
                      <a:cubicBezTo>
                        <a:pt x="0" y="190991"/>
                        <a:pt x="0" y="0"/>
                        <a:pt x="0" y="0"/>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sp>
            <p:nvSpPr>
              <p:cNvPr id="306" name="Freeform: Shape 305">
                <a:extLst>
                  <a:ext uri="{FF2B5EF4-FFF2-40B4-BE49-F238E27FC236}">
                    <a16:creationId xmlns:a16="http://schemas.microsoft.com/office/drawing/2014/main" id="{06BD5BE4-E6B0-9E84-C8B1-309771D21528}"/>
                  </a:ext>
                </a:extLst>
              </p:cNvPr>
              <p:cNvSpPr/>
              <p:nvPr/>
            </p:nvSpPr>
            <p:spPr bwMode="gray">
              <a:xfrm>
                <a:off x="3770643" y="2454387"/>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7" name="Freeform: Shape 306">
                <a:extLst>
                  <a:ext uri="{FF2B5EF4-FFF2-40B4-BE49-F238E27FC236}">
                    <a16:creationId xmlns:a16="http://schemas.microsoft.com/office/drawing/2014/main" id="{4D4A28EE-132A-3CD7-7425-09E419524949}"/>
                  </a:ext>
                </a:extLst>
              </p:cNvPr>
              <p:cNvSpPr/>
              <p:nvPr/>
            </p:nvSpPr>
            <p:spPr bwMode="gray">
              <a:xfrm>
                <a:off x="3728375" y="2443445"/>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8" name="Freeform: Shape 307">
                <a:extLst>
                  <a:ext uri="{FF2B5EF4-FFF2-40B4-BE49-F238E27FC236}">
                    <a16:creationId xmlns:a16="http://schemas.microsoft.com/office/drawing/2014/main" id="{60F706FE-40B7-4B9F-CD84-78ADAF04E85D}"/>
                  </a:ext>
                </a:extLst>
              </p:cNvPr>
              <p:cNvSpPr/>
              <p:nvPr/>
            </p:nvSpPr>
            <p:spPr bwMode="gray">
              <a:xfrm>
                <a:off x="3691597" y="2426757"/>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9" name="Freeform: Shape 308">
                <a:extLst>
                  <a:ext uri="{FF2B5EF4-FFF2-40B4-BE49-F238E27FC236}">
                    <a16:creationId xmlns:a16="http://schemas.microsoft.com/office/drawing/2014/main" id="{C5AE2081-D055-0995-2980-7C0CB7117A69}"/>
                  </a:ext>
                </a:extLst>
              </p:cNvPr>
              <p:cNvSpPr/>
              <p:nvPr/>
            </p:nvSpPr>
            <p:spPr bwMode="gray">
              <a:xfrm>
                <a:off x="3770643" y="254664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0" name="Freeform: Shape 309">
                <a:extLst>
                  <a:ext uri="{FF2B5EF4-FFF2-40B4-BE49-F238E27FC236}">
                    <a16:creationId xmlns:a16="http://schemas.microsoft.com/office/drawing/2014/main" id="{EE827131-6BA6-C9D2-3B05-BB86559ECBC4}"/>
                  </a:ext>
                </a:extLst>
              </p:cNvPr>
              <p:cNvSpPr/>
              <p:nvPr/>
            </p:nvSpPr>
            <p:spPr bwMode="gray">
              <a:xfrm>
                <a:off x="3728375" y="2535702"/>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1" name="Freeform: Shape 310">
                <a:extLst>
                  <a:ext uri="{FF2B5EF4-FFF2-40B4-BE49-F238E27FC236}">
                    <a16:creationId xmlns:a16="http://schemas.microsoft.com/office/drawing/2014/main" id="{3C94A4B3-E8BB-1ED9-D65E-F089D2F9DF22}"/>
                  </a:ext>
                </a:extLst>
              </p:cNvPr>
              <p:cNvSpPr/>
              <p:nvPr/>
            </p:nvSpPr>
            <p:spPr bwMode="gray">
              <a:xfrm>
                <a:off x="3691597" y="251901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2" name="Freeform: Shape 311">
                <a:extLst>
                  <a:ext uri="{FF2B5EF4-FFF2-40B4-BE49-F238E27FC236}">
                    <a16:creationId xmlns:a16="http://schemas.microsoft.com/office/drawing/2014/main" id="{3B468BB6-CB18-3C69-2D22-F610C52BA172}"/>
                  </a:ext>
                </a:extLst>
              </p:cNvPr>
              <p:cNvSpPr/>
              <p:nvPr/>
            </p:nvSpPr>
            <p:spPr bwMode="gray">
              <a:xfrm>
                <a:off x="3770643" y="263886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1"/>
                      <a:pt x="4260" y="5489"/>
                      <a:pt x="2745" y="5489"/>
                    </a:cubicBezTo>
                    <a:cubicBezTo>
                      <a:pt x="1229" y="5489"/>
                      <a:pt x="0" y="4261"/>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3" name="Freeform: Shape 312">
                <a:extLst>
                  <a:ext uri="{FF2B5EF4-FFF2-40B4-BE49-F238E27FC236}">
                    <a16:creationId xmlns:a16="http://schemas.microsoft.com/office/drawing/2014/main" id="{74977B61-FF32-24AD-B310-003FDD99073F}"/>
                  </a:ext>
                </a:extLst>
              </p:cNvPr>
              <p:cNvSpPr/>
              <p:nvPr/>
            </p:nvSpPr>
            <p:spPr bwMode="gray">
              <a:xfrm>
                <a:off x="3728375" y="2627959"/>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14" name="Freeform: Shape 313">
                <a:extLst>
                  <a:ext uri="{FF2B5EF4-FFF2-40B4-BE49-F238E27FC236}">
                    <a16:creationId xmlns:a16="http://schemas.microsoft.com/office/drawing/2014/main" id="{706B37DF-535D-336C-C208-D77459B3FE82}"/>
                  </a:ext>
                </a:extLst>
              </p:cNvPr>
              <p:cNvSpPr/>
              <p:nvPr/>
            </p:nvSpPr>
            <p:spPr bwMode="gray">
              <a:xfrm>
                <a:off x="3691597" y="2611234"/>
                <a:ext cx="5489" cy="5489"/>
              </a:xfrm>
              <a:custGeom>
                <a:avLst/>
                <a:gdLst>
                  <a:gd name="connsiteX0" fmla="*/ 5489 w 5489"/>
                  <a:gd name="connsiteY0" fmla="*/ 2745 h 5489"/>
                  <a:gd name="connsiteX1" fmla="*/ 2745 w 5489"/>
                  <a:gd name="connsiteY1" fmla="*/ 5489 h 5489"/>
                  <a:gd name="connsiteX2" fmla="*/ 0 w 5489"/>
                  <a:gd name="connsiteY2" fmla="*/ 2745 h 5489"/>
                  <a:gd name="connsiteX3" fmla="*/ 2745 w 5489"/>
                  <a:gd name="connsiteY3" fmla="*/ 0 h 5489"/>
                  <a:gd name="connsiteX4" fmla="*/ 5489 w 5489"/>
                  <a:gd name="connsiteY4" fmla="*/ 2745 h 54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9" h="5489">
                    <a:moveTo>
                      <a:pt x="5489" y="2745"/>
                    </a:moveTo>
                    <a:cubicBezTo>
                      <a:pt x="5489" y="4260"/>
                      <a:pt x="4260" y="5489"/>
                      <a:pt x="2745" y="5489"/>
                    </a:cubicBezTo>
                    <a:cubicBezTo>
                      <a:pt x="1229" y="5489"/>
                      <a:pt x="0" y="4260"/>
                      <a:pt x="0" y="2745"/>
                    </a:cubicBezTo>
                    <a:cubicBezTo>
                      <a:pt x="0" y="1229"/>
                      <a:pt x="1229" y="0"/>
                      <a:pt x="2745" y="0"/>
                    </a:cubicBezTo>
                    <a:cubicBezTo>
                      <a:pt x="4260" y="0"/>
                      <a:pt x="5489" y="1229"/>
                      <a:pt x="5489" y="274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302" name="Graphic 2">
              <a:extLst>
                <a:ext uri="{FF2B5EF4-FFF2-40B4-BE49-F238E27FC236}">
                  <a16:creationId xmlns:a16="http://schemas.microsoft.com/office/drawing/2014/main" id="{60C4928D-0BDB-2AED-EC16-1B7A6191D88B}"/>
                </a:ext>
              </a:extLst>
            </p:cNvPr>
            <p:cNvGrpSpPr/>
            <p:nvPr/>
          </p:nvGrpSpPr>
          <p:grpSpPr bwMode="gray">
            <a:xfrm>
              <a:off x="3950802" y="2542362"/>
              <a:ext cx="152236" cy="164861"/>
              <a:chOff x="3950802" y="2542362"/>
              <a:chExt cx="152236" cy="164861"/>
            </a:xfrm>
            <a:grpFill/>
          </p:grpSpPr>
          <p:sp>
            <p:nvSpPr>
              <p:cNvPr id="303" name="Freeform: Shape 302">
                <a:extLst>
                  <a:ext uri="{FF2B5EF4-FFF2-40B4-BE49-F238E27FC236}">
                    <a16:creationId xmlns:a16="http://schemas.microsoft.com/office/drawing/2014/main" id="{F7D37528-2739-7628-C1AB-7111787D09B1}"/>
                  </a:ext>
                </a:extLst>
              </p:cNvPr>
              <p:cNvSpPr/>
              <p:nvPr/>
            </p:nvSpPr>
            <p:spPr bwMode="gray">
              <a:xfrm>
                <a:off x="3950802" y="2557073"/>
                <a:ext cx="152236" cy="150150"/>
              </a:xfrm>
              <a:custGeom>
                <a:avLst/>
                <a:gdLst>
                  <a:gd name="connsiteX0" fmla="*/ 93830 w 152236"/>
                  <a:gd name="connsiteY0" fmla="*/ 0 h 150150"/>
                  <a:gd name="connsiteX1" fmla="*/ 152237 w 152236"/>
                  <a:gd name="connsiteY1" fmla="*/ 74032 h 150150"/>
                  <a:gd name="connsiteX2" fmla="*/ 76118 w 152236"/>
                  <a:gd name="connsiteY2" fmla="*/ 150151 h 150150"/>
                  <a:gd name="connsiteX3" fmla="*/ 0 w 152236"/>
                  <a:gd name="connsiteY3" fmla="*/ 74032 h 150150"/>
                  <a:gd name="connsiteX4" fmla="*/ 20603 w 152236"/>
                  <a:gd name="connsiteY4" fmla="*/ 21957 h 150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6" h="150150">
                    <a:moveTo>
                      <a:pt x="93830" y="0"/>
                    </a:moveTo>
                    <a:cubicBezTo>
                      <a:pt x="127315" y="7978"/>
                      <a:pt x="152237" y="38096"/>
                      <a:pt x="152237" y="74032"/>
                    </a:cubicBezTo>
                    <a:cubicBezTo>
                      <a:pt x="152237" y="116080"/>
                      <a:pt x="118166" y="150151"/>
                      <a:pt x="76118" y="150151"/>
                    </a:cubicBezTo>
                    <a:cubicBezTo>
                      <a:pt x="34070" y="150151"/>
                      <a:pt x="0" y="116080"/>
                      <a:pt x="0" y="74032"/>
                    </a:cubicBezTo>
                    <a:cubicBezTo>
                      <a:pt x="0" y="53905"/>
                      <a:pt x="7831" y="35571"/>
                      <a:pt x="20603" y="21957"/>
                    </a:cubicBez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04" name="Freeform: Shape 303">
                <a:extLst>
                  <a:ext uri="{FF2B5EF4-FFF2-40B4-BE49-F238E27FC236}">
                    <a16:creationId xmlns:a16="http://schemas.microsoft.com/office/drawing/2014/main" id="{EC0E14C3-7C71-B4BE-2E6D-87929533C4B0}"/>
                  </a:ext>
                </a:extLst>
              </p:cNvPr>
              <p:cNvSpPr/>
              <p:nvPr/>
            </p:nvSpPr>
            <p:spPr bwMode="gray">
              <a:xfrm>
                <a:off x="4044669" y="2542362"/>
                <a:ext cx="48562" cy="63163"/>
              </a:xfrm>
              <a:custGeom>
                <a:avLst/>
                <a:gdLst>
                  <a:gd name="connsiteX0" fmla="*/ 14565 w 48562"/>
                  <a:gd name="connsiteY0" fmla="*/ 63163 h 63163"/>
                  <a:gd name="connsiteX1" fmla="*/ 0 w 48562"/>
                  <a:gd name="connsiteY1" fmla="*/ 14565 h 63163"/>
                  <a:gd name="connsiteX2" fmla="*/ 48562 w 48562"/>
                  <a:gd name="connsiteY2" fmla="*/ 0 h 63163"/>
                </a:gdLst>
                <a:ahLst/>
                <a:cxnLst>
                  <a:cxn ang="0">
                    <a:pos x="connsiteX0" y="connsiteY0"/>
                  </a:cxn>
                  <a:cxn ang="0">
                    <a:pos x="connsiteX1" y="connsiteY1"/>
                  </a:cxn>
                  <a:cxn ang="0">
                    <a:pos x="connsiteX2" y="connsiteY2"/>
                  </a:cxn>
                </a:cxnLst>
                <a:rect l="l" t="t" r="r" b="b"/>
                <a:pathLst>
                  <a:path w="48562" h="63163">
                    <a:moveTo>
                      <a:pt x="14565" y="63163"/>
                    </a:moveTo>
                    <a:lnTo>
                      <a:pt x="0" y="14565"/>
                    </a:lnTo>
                    <a:lnTo>
                      <a:pt x="48562"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grpSp>
        <p:nvGrpSpPr>
          <p:cNvPr id="342" name="Item_318">
            <a:extLst>
              <a:ext uri="{FF2B5EF4-FFF2-40B4-BE49-F238E27FC236}">
                <a16:creationId xmlns:a16="http://schemas.microsoft.com/office/drawing/2014/main" id="{65B6C0C6-C1D6-FF7E-A130-E17146CF967C}"/>
              </a:ext>
            </a:extLst>
          </p:cNvPr>
          <p:cNvGrpSpPr/>
          <p:nvPr/>
        </p:nvGrpSpPr>
        <p:grpSpPr bwMode="gray">
          <a:xfrm>
            <a:off x="4451286" y="3034542"/>
            <a:ext cx="328389" cy="328389"/>
            <a:chOff x="8693335" y="2501693"/>
            <a:chExt cx="560574" cy="560574"/>
          </a:xfrm>
          <a:noFill/>
        </p:grpSpPr>
        <p:sp>
          <p:nvSpPr>
            <p:cNvPr id="343" name="Oval 328">
              <a:extLst>
                <a:ext uri="{FF2B5EF4-FFF2-40B4-BE49-F238E27FC236}">
                  <a16:creationId xmlns:a16="http://schemas.microsoft.com/office/drawing/2014/main" id="{4C3C998E-46FD-51E6-D202-296106F4B936}"/>
                </a:ext>
              </a:extLst>
            </p:cNvPr>
            <p:cNvSpPr>
              <a:spLocks noChangeArrowheads="1"/>
            </p:cNvSpPr>
            <p:nvPr/>
          </p:nvSpPr>
          <p:spPr bwMode="gray">
            <a:xfrm>
              <a:off x="8946356" y="2501693"/>
              <a:ext cx="54531" cy="52349"/>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4" name="Oval 329">
              <a:extLst>
                <a:ext uri="{FF2B5EF4-FFF2-40B4-BE49-F238E27FC236}">
                  <a16:creationId xmlns:a16="http://schemas.microsoft.com/office/drawing/2014/main" id="{3C922FAD-5042-4370-71EC-6EAB90D1E3DF}"/>
                </a:ext>
              </a:extLst>
            </p:cNvPr>
            <p:cNvSpPr>
              <a:spLocks noChangeArrowheads="1"/>
            </p:cNvSpPr>
            <p:nvPr/>
          </p:nvSpPr>
          <p:spPr bwMode="gray">
            <a:xfrm>
              <a:off x="8946356" y="3007736"/>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5" name="Line 330">
              <a:extLst>
                <a:ext uri="{FF2B5EF4-FFF2-40B4-BE49-F238E27FC236}">
                  <a16:creationId xmlns:a16="http://schemas.microsoft.com/office/drawing/2014/main" id="{C27CD602-4D92-4005-69B8-5D4138477145}"/>
                </a:ext>
              </a:extLst>
            </p:cNvPr>
            <p:cNvSpPr>
              <a:spLocks noChangeShapeType="1"/>
            </p:cNvSpPr>
            <p:nvPr/>
          </p:nvSpPr>
          <p:spPr bwMode="gray">
            <a:xfrm flipV="1">
              <a:off x="8974713" y="2554043"/>
              <a:ext cx="0" cy="8288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6" name="Line 331">
              <a:extLst>
                <a:ext uri="{FF2B5EF4-FFF2-40B4-BE49-F238E27FC236}">
                  <a16:creationId xmlns:a16="http://schemas.microsoft.com/office/drawing/2014/main" id="{68DA30E5-FF5C-0330-7A0F-31E7DF968DA9}"/>
                </a:ext>
              </a:extLst>
            </p:cNvPr>
            <p:cNvSpPr>
              <a:spLocks noChangeShapeType="1"/>
            </p:cNvSpPr>
            <p:nvPr/>
          </p:nvSpPr>
          <p:spPr bwMode="gray">
            <a:xfrm>
              <a:off x="8974713" y="2927032"/>
              <a:ext cx="0" cy="8070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7" name="Oval 332">
              <a:extLst>
                <a:ext uri="{FF2B5EF4-FFF2-40B4-BE49-F238E27FC236}">
                  <a16:creationId xmlns:a16="http://schemas.microsoft.com/office/drawing/2014/main" id="{7CBDB7AF-7965-8F37-BB45-FB3D89CEAC24}"/>
                </a:ext>
              </a:extLst>
            </p:cNvPr>
            <p:cNvSpPr>
              <a:spLocks noChangeArrowheads="1"/>
            </p:cNvSpPr>
            <p:nvPr/>
          </p:nvSpPr>
          <p:spPr bwMode="gray">
            <a:xfrm>
              <a:off x="9199378" y="2754715"/>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8" name="Oval 333">
              <a:extLst>
                <a:ext uri="{FF2B5EF4-FFF2-40B4-BE49-F238E27FC236}">
                  <a16:creationId xmlns:a16="http://schemas.microsoft.com/office/drawing/2014/main" id="{CDF9795C-5AE0-1B04-8E91-6644335A9C05}"/>
                </a:ext>
              </a:extLst>
            </p:cNvPr>
            <p:cNvSpPr>
              <a:spLocks noChangeArrowheads="1"/>
            </p:cNvSpPr>
            <p:nvPr/>
          </p:nvSpPr>
          <p:spPr bwMode="gray">
            <a:xfrm>
              <a:off x="8693335" y="2754715"/>
              <a:ext cx="54531" cy="5453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49" name="Line 334">
              <a:extLst>
                <a:ext uri="{FF2B5EF4-FFF2-40B4-BE49-F238E27FC236}">
                  <a16:creationId xmlns:a16="http://schemas.microsoft.com/office/drawing/2014/main" id="{5B152AFC-B48E-DBCB-21D7-5428803E3146}"/>
                </a:ext>
              </a:extLst>
            </p:cNvPr>
            <p:cNvSpPr>
              <a:spLocks noChangeShapeType="1"/>
            </p:cNvSpPr>
            <p:nvPr/>
          </p:nvSpPr>
          <p:spPr bwMode="gray">
            <a:xfrm>
              <a:off x="9118673" y="2780889"/>
              <a:ext cx="80706" cy="0"/>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0" name="Line 335">
              <a:extLst>
                <a:ext uri="{FF2B5EF4-FFF2-40B4-BE49-F238E27FC236}">
                  <a16:creationId xmlns:a16="http://schemas.microsoft.com/office/drawing/2014/main" id="{14156C72-CA81-C548-5C72-4C8DFD9BA5F1}"/>
                </a:ext>
              </a:extLst>
            </p:cNvPr>
            <p:cNvSpPr>
              <a:spLocks noChangeShapeType="1"/>
            </p:cNvSpPr>
            <p:nvPr/>
          </p:nvSpPr>
          <p:spPr bwMode="gray">
            <a:xfrm flipH="1">
              <a:off x="8747866" y="2780889"/>
              <a:ext cx="80706" cy="0"/>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1" name="Oval 336">
              <a:extLst>
                <a:ext uri="{FF2B5EF4-FFF2-40B4-BE49-F238E27FC236}">
                  <a16:creationId xmlns:a16="http://schemas.microsoft.com/office/drawing/2014/main" id="{64571908-FCD2-E7D8-3093-4A0A56E86F59}"/>
                </a:ext>
              </a:extLst>
            </p:cNvPr>
            <p:cNvSpPr>
              <a:spLocks noChangeArrowheads="1"/>
            </p:cNvSpPr>
            <p:nvPr/>
          </p:nvSpPr>
          <p:spPr bwMode="gray">
            <a:xfrm>
              <a:off x="8782766" y="2591124"/>
              <a:ext cx="381714" cy="37953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2" name="Freeform 337">
              <a:extLst>
                <a:ext uri="{FF2B5EF4-FFF2-40B4-BE49-F238E27FC236}">
                  <a16:creationId xmlns:a16="http://schemas.microsoft.com/office/drawing/2014/main" id="{03C03130-ABE0-F436-B738-935E281E66BB}"/>
                </a:ext>
              </a:extLst>
            </p:cNvPr>
            <p:cNvSpPr>
              <a:spLocks/>
            </p:cNvSpPr>
            <p:nvPr/>
          </p:nvSpPr>
          <p:spPr bwMode="gray">
            <a:xfrm>
              <a:off x="9037968" y="2844145"/>
              <a:ext cx="181042" cy="181042"/>
            </a:xfrm>
            <a:custGeom>
              <a:avLst/>
              <a:gdLst>
                <a:gd name="T0" fmla="*/ 80 w 80"/>
                <a:gd name="T1" fmla="*/ 0 h 80"/>
                <a:gd name="T2" fmla="*/ 0 w 80"/>
                <a:gd name="T3" fmla="*/ 80 h 80"/>
              </a:gdLst>
              <a:ahLst/>
              <a:cxnLst>
                <a:cxn ang="0">
                  <a:pos x="T0" y="T1"/>
                </a:cxn>
                <a:cxn ang="0">
                  <a:pos x="T2" y="T3"/>
                </a:cxn>
              </a:cxnLst>
              <a:rect l="0" t="0" r="r" b="b"/>
              <a:pathLst>
                <a:path w="80" h="80">
                  <a:moveTo>
                    <a:pt x="80" y="0"/>
                  </a:moveTo>
                  <a:cubicBezTo>
                    <a:pt x="70" y="39"/>
                    <a:pt x="39" y="70"/>
                    <a:pt x="0" y="8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3" name="Freeform 338">
              <a:extLst>
                <a:ext uri="{FF2B5EF4-FFF2-40B4-BE49-F238E27FC236}">
                  <a16:creationId xmlns:a16="http://schemas.microsoft.com/office/drawing/2014/main" id="{0A03A905-285E-5ADA-B72E-0D20BDC7A0F1}"/>
                </a:ext>
              </a:extLst>
            </p:cNvPr>
            <p:cNvSpPr>
              <a:spLocks/>
            </p:cNvSpPr>
            <p:nvPr/>
          </p:nvSpPr>
          <p:spPr bwMode="gray">
            <a:xfrm>
              <a:off x="9037968" y="2536593"/>
              <a:ext cx="181042" cy="181042"/>
            </a:xfrm>
            <a:custGeom>
              <a:avLst/>
              <a:gdLst>
                <a:gd name="T0" fmla="*/ 0 w 80"/>
                <a:gd name="T1" fmla="*/ 0 h 80"/>
                <a:gd name="T2" fmla="*/ 80 w 80"/>
                <a:gd name="T3" fmla="*/ 80 h 80"/>
              </a:gdLst>
              <a:ahLst/>
              <a:cxnLst>
                <a:cxn ang="0">
                  <a:pos x="T0" y="T1"/>
                </a:cxn>
                <a:cxn ang="0">
                  <a:pos x="T2" y="T3"/>
                </a:cxn>
              </a:cxnLst>
              <a:rect l="0" t="0" r="r" b="b"/>
              <a:pathLst>
                <a:path w="80" h="80">
                  <a:moveTo>
                    <a:pt x="0" y="0"/>
                  </a:moveTo>
                  <a:cubicBezTo>
                    <a:pt x="39" y="10"/>
                    <a:pt x="70" y="41"/>
                    <a:pt x="80" y="8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4" name="Freeform 339">
              <a:extLst>
                <a:ext uri="{FF2B5EF4-FFF2-40B4-BE49-F238E27FC236}">
                  <a16:creationId xmlns:a16="http://schemas.microsoft.com/office/drawing/2014/main" id="{23ECD3B5-7F10-E1A9-CD9B-E8EB854301CF}"/>
                </a:ext>
              </a:extLst>
            </p:cNvPr>
            <p:cNvSpPr>
              <a:spLocks/>
            </p:cNvSpPr>
            <p:nvPr/>
          </p:nvSpPr>
          <p:spPr bwMode="gray">
            <a:xfrm>
              <a:off x="8730416" y="2538775"/>
              <a:ext cx="170135" cy="178860"/>
            </a:xfrm>
            <a:custGeom>
              <a:avLst/>
              <a:gdLst>
                <a:gd name="T0" fmla="*/ 0 w 76"/>
                <a:gd name="T1" fmla="*/ 79 h 79"/>
                <a:gd name="T2" fmla="*/ 76 w 76"/>
                <a:gd name="T3" fmla="*/ 0 h 79"/>
              </a:gdLst>
              <a:ahLst/>
              <a:cxnLst>
                <a:cxn ang="0">
                  <a:pos x="T0" y="T1"/>
                </a:cxn>
                <a:cxn ang="0">
                  <a:pos x="T2" y="T3"/>
                </a:cxn>
              </a:cxnLst>
              <a:rect l="0" t="0" r="r" b="b"/>
              <a:pathLst>
                <a:path w="76" h="79">
                  <a:moveTo>
                    <a:pt x="0" y="79"/>
                  </a:moveTo>
                  <a:cubicBezTo>
                    <a:pt x="9" y="41"/>
                    <a:pt x="39" y="11"/>
                    <a:pt x="76" y="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5" name="Freeform 340">
              <a:extLst>
                <a:ext uri="{FF2B5EF4-FFF2-40B4-BE49-F238E27FC236}">
                  <a16:creationId xmlns:a16="http://schemas.microsoft.com/office/drawing/2014/main" id="{371A7766-56DF-023A-C5CA-409E6CC85C29}"/>
                </a:ext>
              </a:extLst>
            </p:cNvPr>
            <p:cNvSpPr>
              <a:spLocks/>
            </p:cNvSpPr>
            <p:nvPr/>
          </p:nvSpPr>
          <p:spPr bwMode="gray">
            <a:xfrm>
              <a:off x="8730416" y="2844145"/>
              <a:ext cx="178860" cy="181042"/>
            </a:xfrm>
            <a:custGeom>
              <a:avLst/>
              <a:gdLst>
                <a:gd name="T0" fmla="*/ 80 w 80"/>
                <a:gd name="T1" fmla="*/ 80 h 80"/>
                <a:gd name="T2" fmla="*/ 0 w 80"/>
                <a:gd name="T3" fmla="*/ 0 h 80"/>
              </a:gdLst>
              <a:ahLst/>
              <a:cxnLst>
                <a:cxn ang="0">
                  <a:pos x="T0" y="T1"/>
                </a:cxn>
                <a:cxn ang="0">
                  <a:pos x="T2" y="T3"/>
                </a:cxn>
              </a:cxnLst>
              <a:rect l="0" t="0" r="r" b="b"/>
              <a:pathLst>
                <a:path w="80" h="80">
                  <a:moveTo>
                    <a:pt x="80" y="80"/>
                  </a:moveTo>
                  <a:cubicBezTo>
                    <a:pt x="41" y="70"/>
                    <a:pt x="10" y="39"/>
                    <a:pt x="0" y="0"/>
                  </a:cubicBezTo>
                </a:path>
              </a:pathLst>
            </a:cu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6" name="Oval 341">
              <a:extLst>
                <a:ext uri="{FF2B5EF4-FFF2-40B4-BE49-F238E27FC236}">
                  <a16:creationId xmlns:a16="http://schemas.microsoft.com/office/drawing/2014/main" id="{5C57879C-73A0-3EB9-805A-4CAA4BD6AC07}"/>
                </a:ext>
              </a:extLst>
            </p:cNvPr>
            <p:cNvSpPr>
              <a:spLocks noChangeArrowheads="1"/>
            </p:cNvSpPr>
            <p:nvPr/>
          </p:nvSpPr>
          <p:spPr bwMode="gray">
            <a:xfrm>
              <a:off x="8856927" y="2663104"/>
              <a:ext cx="233391" cy="23557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7" name="Line 342">
              <a:extLst>
                <a:ext uri="{FF2B5EF4-FFF2-40B4-BE49-F238E27FC236}">
                  <a16:creationId xmlns:a16="http://schemas.microsoft.com/office/drawing/2014/main" id="{5B4F0A50-E41E-E2F8-4B08-6C1157D40C8E}"/>
                </a:ext>
              </a:extLst>
            </p:cNvPr>
            <p:cNvSpPr>
              <a:spLocks noChangeShapeType="1"/>
            </p:cNvSpPr>
            <p:nvPr/>
          </p:nvSpPr>
          <p:spPr bwMode="gray">
            <a:xfrm>
              <a:off x="9081592" y="2889950"/>
              <a:ext cx="100336" cy="10033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8" name="Line 343">
              <a:extLst>
                <a:ext uri="{FF2B5EF4-FFF2-40B4-BE49-F238E27FC236}">
                  <a16:creationId xmlns:a16="http://schemas.microsoft.com/office/drawing/2014/main" id="{AD0B9BEB-136F-C4DE-E167-1B4BE0153DFC}"/>
                </a:ext>
              </a:extLst>
            </p:cNvPr>
            <p:cNvSpPr>
              <a:spLocks noChangeShapeType="1"/>
            </p:cNvSpPr>
            <p:nvPr/>
          </p:nvSpPr>
          <p:spPr bwMode="gray">
            <a:xfrm>
              <a:off x="8765316" y="2573674"/>
              <a:ext cx="100336" cy="98155"/>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59" name="Line 344">
              <a:extLst>
                <a:ext uri="{FF2B5EF4-FFF2-40B4-BE49-F238E27FC236}">
                  <a16:creationId xmlns:a16="http://schemas.microsoft.com/office/drawing/2014/main" id="{0EB13E63-8501-A137-4FAB-4B8AD8E190B6}"/>
                </a:ext>
              </a:extLst>
            </p:cNvPr>
            <p:cNvSpPr>
              <a:spLocks noChangeShapeType="1"/>
            </p:cNvSpPr>
            <p:nvPr/>
          </p:nvSpPr>
          <p:spPr bwMode="gray">
            <a:xfrm flipV="1">
              <a:off x="9081592" y="2573674"/>
              <a:ext cx="100336" cy="98155"/>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0" name="Line 345">
              <a:extLst>
                <a:ext uri="{FF2B5EF4-FFF2-40B4-BE49-F238E27FC236}">
                  <a16:creationId xmlns:a16="http://schemas.microsoft.com/office/drawing/2014/main" id="{01F406B0-EB4A-6CE2-B591-C1E01283238F}"/>
                </a:ext>
              </a:extLst>
            </p:cNvPr>
            <p:cNvSpPr>
              <a:spLocks noChangeShapeType="1"/>
            </p:cNvSpPr>
            <p:nvPr/>
          </p:nvSpPr>
          <p:spPr bwMode="gray">
            <a:xfrm flipV="1">
              <a:off x="8765316" y="2889950"/>
              <a:ext cx="100336" cy="100336"/>
            </a:xfrm>
            <a:prstGeom prst="lin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1" name="Oval 346">
              <a:extLst>
                <a:ext uri="{FF2B5EF4-FFF2-40B4-BE49-F238E27FC236}">
                  <a16:creationId xmlns:a16="http://schemas.microsoft.com/office/drawing/2014/main" id="{AFCB1F38-D801-1B5C-3348-727E745014B2}"/>
                </a:ext>
              </a:extLst>
            </p:cNvPr>
            <p:cNvSpPr>
              <a:spLocks noChangeArrowheads="1"/>
            </p:cNvSpPr>
            <p:nvPr/>
          </p:nvSpPr>
          <p:spPr bwMode="gray">
            <a:xfrm>
              <a:off x="8928907" y="2663104"/>
              <a:ext cx="89431" cy="235572"/>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62" name="Oval 347">
              <a:extLst>
                <a:ext uri="{FF2B5EF4-FFF2-40B4-BE49-F238E27FC236}">
                  <a16:creationId xmlns:a16="http://schemas.microsoft.com/office/drawing/2014/main" id="{1012CFAD-18C4-E080-7928-A43A19DDDF06}"/>
                </a:ext>
              </a:extLst>
            </p:cNvPr>
            <p:cNvSpPr>
              <a:spLocks noChangeArrowheads="1"/>
            </p:cNvSpPr>
            <p:nvPr/>
          </p:nvSpPr>
          <p:spPr bwMode="gray">
            <a:xfrm>
              <a:off x="8856927" y="2735084"/>
              <a:ext cx="233391" cy="91611"/>
            </a:xfrm>
            <a:prstGeom prst="ellipse">
              <a:avLst/>
            </a:prstGeom>
            <a:grpFill/>
            <a:ln w="6350" cap="flat">
              <a:solidFill>
                <a:srgbClr val="0A4B8C"/>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376" name="Group 375">
            <a:extLst>
              <a:ext uri="{FF2B5EF4-FFF2-40B4-BE49-F238E27FC236}">
                <a16:creationId xmlns:a16="http://schemas.microsoft.com/office/drawing/2014/main" id="{D74DD46C-89E7-2755-6BC5-7D0FD0734B38}"/>
              </a:ext>
            </a:extLst>
          </p:cNvPr>
          <p:cNvGrpSpPr/>
          <p:nvPr/>
        </p:nvGrpSpPr>
        <p:grpSpPr bwMode="gray">
          <a:xfrm>
            <a:off x="638716" y="3073599"/>
            <a:ext cx="285048" cy="281706"/>
            <a:chOff x="6946107" y="1454943"/>
            <a:chExt cx="552450" cy="545973"/>
          </a:xfrm>
        </p:grpSpPr>
        <p:sp>
          <p:nvSpPr>
            <p:cNvPr id="377" name="Freeform: Shape 376">
              <a:extLst>
                <a:ext uri="{FF2B5EF4-FFF2-40B4-BE49-F238E27FC236}">
                  <a16:creationId xmlns:a16="http://schemas.microsoft.com/office/drawing/2014/main" id="{9C1642D8-D10A-DC39-19DF-7FACBBDEA986}"/>
                </a:ext>
              </a:extLst>
            </p:cNvPr>
            <p:cNvSpPr/>
            <p:nvPr/>
          </p:nvSpPr>
          <p:spPr bwMode="gray">
            <a:xfrm>
              <a:off x="6977444" y="1454943"/>
              <a:ext cx="489775" cy="162972"/>
            </a:xfrm>
            <a:custGeom>
              <a:avLst/>
              <a:gdLst>
                <a:gd name="connsiteX0" fmla="*/ 489776 w 489775"/>
                <a:gd name="connsiteY0" fmla="*/ 104108 h 162972"/>
                <a:gd name="connsiteX1" fmla="*/ 244888 w 489775"/>
                <a:gd name="connsiteY1" fmla="*/ 0 h 162972"/>
                <a:gd name="connsiteX2" fmla="*/ 0 w 489775"/>
                <a:gd name="connsiteY2" fmla="*/ 104108 h 162972"/>
                <a:gd name="connsiteX3" fmla="*/ 0 w 489775"/>
                <a:gd name="connsiteY3" fmla="*/ 162973 h 162972"/>
                <a:gd name="connsiteX4" fmla="*/ 489776 w 489775"/>
                <a:gd name="connsiteY4" fmla="*/ 162973 h 162972"/>
                <a:gd name="connsiteX5" fmla="*/ 489776 w 489775"/>
                <a:gd name="connsiteY5" fmla="*/ 104108 h 162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775" h="162972">
                  <a:moveTo>
                    <a:pt x="489776" y="104108"/>
                  </a:moveTo>
                  <a:lnTo>
                    <a:pt x="244888" y="0"/>
                  </a:lnTo>
                  <a:lnTo>
                    <a:pt x="0" y="104108"/>
                  </a:lnTo>
                  <a:lnTo>
                    <a:pt x="0" y="162973"/>
                  </a:lnTo>
                  <a:lnTo>
                    <a:pt x="489776" y="162973"/>
                  </a:lnTo>
                  <a:lnTo>
                    <a:pt x="489776" y="104108"/>
                  </a:lnTo>
                  <a:close/>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78" name="Freeform: Shape 377">
              <a:extLst>
                <a:ext uri="{FF2B5EF4-FFF2-40B4-BE49-F238E27FC236}">
                  <a16:creationId xmlns:a16="http://schemas.microsoft.com/office/drawing/2014/main" id="{6C2CEEE9-8375-0926-3B72-1CA2CBC94864}"/>
                </a:ext>
              </a:extLst>
            </p:cNvPr>
            <p:cNvSpPr/>
            <p:nvPr/>
          </p:nvSpPr>
          <p:spPr bwMode="gray">
            <a:xfrm>
              <a:off x="6946107" y="1946719"/>
              <a:ext cx="552450" cy="54197"/>
            </a:xfrm>
            <a:custGeom>
              <a:avLst/>
              <a:gdLst>
                <a:gd name="connsiteX0" fmla="*/ 0 w 552450"/>
                <a:gd name="connsiteY0" fmla="*/ 0 h 54197"/>
                <a:gd name="connsiteX1" fmla="*/ 552450 w 552450"/>
                <a:gd name="connsiteY1" fmla="*/ 0 h 54197"/>
                <a:gd name="connsiteX2" fmla="*/ 552450 w 552450"/>
                <a:gd name="connsiteY2" fmla="*/ 54197 h 54197"/>
                <a:gd name="connsiteX3" fmla="*/ 0 w 552450"/>
                <a:gd name="connsiteY3" fmla="*/ 54197 h 54197"/>
              </a:gdLst>
              <a:ahLst/>
              <a:cxnLst>
                <a:cxn ang="0">
                  <a:pos x="connsiteX0" y="connsiteY0"/>
                </a:cxn>
                <a:cxn ang="0">
                  <a:pos x="connsiteX1" y="connsiteY1"/>
                </a:cxn>
                <a:cxn ang="0">
                  <a:pos x="connsiteX2" y="connsiteY2"/>
                </a:cxn>
                <a:cxn ang="0">
                  <a:pos x="connsiteX3" y="connsiteY3"/>
                </a:cxn>
              </a:cxnLst>
              <a:rect l="l" t="t" r="r" b="b"/>
              <a:pathLst>
                <a:path w="552450" h="54197">
                  <a:moveTo>
                    <a:pt x="0" y="0"/>
                  </a:moveTo>
                  <a:lnTo>
                    <a:pt x="552450" y="0"/>
                  </a:lnTo>
                  <a:lnTo>
                    <a:pt x="552450" y="54197"/>
                  </a:lnTo>
                  <a:lnTo>
                    <a:pt x="0" y="54197"/>
                  </a:lnTo>
                  <a:close/>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79" name="Freeform: Shape 378">
              <a:extLst>
                <a:ext uri="{FF2B5EF4-FFF2-40B4-BE49-F238E27FC236}">
                  <a16:creationId xmlns:a16="http://schemas.microsoft.com/office/drawing/2014/main" id="{B8609F47-AC63-ED7A-66A1-F605866B0E1D}"/>
                </a:ext>
              </a:extLst>
            </p:cNvPr>
            <p:cNvSpPr/>
            <p:nvPr/>
          </p:nvSpPr>
          <p:spPr bwMode="gray">
            <a:xfrm>
              <a:off x="6987160" y="1895379"/>
              <a:ext cx="470344" cy="51339"/>
            </a:xfrm>
            <a:custGeom>
              <a:avLst/>
              <a:gdLst>
                <a:gd name="connsiteX0" fmla="*/ 470345 w 470344"/>
                <a:gd name="connsiteY0" fmla="*/ 51340 h 51339"/>
                <a:gd name="connsiteX1" fmla="*/ 470345 w 470344"/>
                <a:gd name="connsiteY1" fmla="*/ 0 h 51339"/>
                <a:gd name="connsiteX2" fmla="*/ 0 w 470344"/>
                <a:gd name="connsiteY2" fmla="*/ 0 h 51339"/>
                <a:gd name="connsiteX3" fmla="*/ 0 w 470344"/>
                <a:gd name="connsiteY3" fmla="*/ 51340 h 51339"/>
              </a:gdLst>
              <a:ahLst/>
              <a:cxnLst>
                <a:cxn ang="0">
                  <a:pos x="connsiteX0" y="connsiteY0"/>
                </a:cxn>
                <a:cxn ang="0">
                  <a:pos x="connsiteX1" y="connsiteY1"/>
                </a:cxn>
                <a:cxn ang="0">
                  <a:pos x="connsiteX2" y="connsiteY2"/>
                </a:cxn>
                <a:cxn ang="0">
                  <a:pos x="connsiteX3" y="connsiteY3"/>
                </a:cxn>
              </a:cxnLst>
              <a:rect l="l" t="t" r="r" b="b"/>
              <a:pathLst>
                <a:path w="470344" h="51339">
                  <a:moveTo>
                    <a:pt x="470345" y="51340"/>
                  </a:moveTo>
                  <a:lnTo>
                    <a:pt x="470345" y="0"/>
                  </a:lnTo>
                  <a:lnTo>
                    <a:pt x="0" y="0"/>
                  </a:lnTo>
                  <a:lnTo>
                    <a:pt x="0" y="5134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0" name="Freeform: Shape 379">
              <a:extLst>
                <a:ext uri="{FF2B5EF4-FFF2-40B4-BE49-F238E27FC236}">
                  <a16:creationId xmlns:a16="http://schemas.microsoft.com/office/drawing/2014/main" id="{842FE68B-7001-B9B3-9FC4-349C413F5ABF}"/>
                </a:ext>
              </a:extLst>
            </p:cNvPr>
            <p:cNvSpPr/>
            <p:nvPr/>
          </p:nvSpPr>
          <p:spPr bwMode="gray">
            <a:xfrm>
              <a:off x="7016497"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1" name="Freeform: Shape 380">
              <a:extLst>
                <a:ext uri="{FF2B5EF4-FFF2-40B4-BE49-F238E27FC236}">
                  <a16:creationId xmlns:a16="http://schemas.microsoft.com/office/drawing/2014/main" id="{3383C462-C548-CEFA-B1CD-F7806A4DD940}"/>
                </a:ext>
              </a:extLst>
            </p:cNvPr>
            <p:cNvSpPr/>
            <p:nvPr/>
          </p:nvSpPr>
          <p:spPr bwMode="gray">
            <a:xfrm>
              <a:off x="7087268"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2" name="Freeform: Shape 381">
              <a:extLst>
                <a:ext uri="{FF2B5EF4-FFF2-40B4-BE49-F238E27FC236}">
                  <a16:creationId xmlns:a16="http://schemas.microsoft.com/office/drawing/2014/main" id="{1E50CE15-AA4C-C6AB-A677-48E38A72BF38}"/>
                </a:ext>
              </a:extLst>
            </p:cNvPr>
            <p:cNvSpPr/>
            <p:nvPr/>
          </p:nvSpPr>
          <p:spPr bwMode="gray">
            <a:xfrm>
              <a:off x="7011735"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3" name="Freeform: Shape 382">
              <a:extLst>
                <a:ext uri="{FF2B5EF4-FFF2-40B4-BE49-F238E27FC236}">
                  <a16:creationId xmlns:a16="http://schemas.microsoft.com/office/drawing/2014/main" id="{7CD94FCB-70F9-BE2F-2DB2-5059596AD814}"/>
                </a:ext>
              </a:extLst>
            </p:cNvPr>
            <p:cNvSpPr/>
            <p:nvPr/>
          </p:nvSpPr>
          <p:spPr bwMode="gray">
            <a:xfrm>
              <a:off x="7180803"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4" name="Freeform: Shape 383">
              <a:extLst>
                <a:ext uri="{FF2B5EF4-FFF2-40B4-BE49-F238E27FC236}">
                  <a16:creationId xmlns:a16="http://schemas.microsoft.com/office/drawing/2014/main" id="{A6AE8B6E-38A1-32F6-E527-883D405B3288}"/>
                </a:ext>
              </a:extLst>
            </p:cNvPr>
            <p:cNvSpPr/>
            <p:nvPr/>
          </p:nvSpPr>
          <p:spPr bwMode="gray">
            <a:xfrm>
              <a:off x="7251574"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5" name="Freeform: Shape 384">
              <a:extLst>
                <a:ext uri="{FF2B5EF4-FFF2-40B4-BE49-F238E27FC236}">
                  <a16:creationId xmlns:a16="http://schemas.microsoft.com/office/drawing/2014/main" id="{8B3C1633-708A-6031-DD1C-E85445C11118}"/>
                </a:ext>
              </a:extLst>
            </p:cNvPr>
            <p:cNvSpPr/>
            <p:nvPr/>
          </p:nvSpPr>
          <p:spPr bwMode="gray">
            <a:xfrm>
              <a:off x="7175946"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6" name="Freeform: Shape 385">
              <a:extLst>
                <a:ext uri="{FF2B5EF4-FFF2-40B4-BE49-F238E27FC236}">
                  <a16:creationId xmlns:a16="http://schemas.microsoft.com/office/drawing/2014/main" id="{39480B36-8F20-7B3C-12D0-221CBC647523}"/>
                </a:ext>
              </a:extLst>
            </p:cNvPr>
            <p:cNvSpPr/>
            <p:nvPr/>
          </p:nvSpPr>
          <p:spPr bwMode="gray">
            <a:xfrm>
              <a:off x="7345110" y="1671447"/>
              <a:ext cx="12382" cy="223932"/>
            </a:xfrm>
            <a:custGeom>
              <a:avLst/>
              <a:gdLst>
                <a:gd name="connsiteX0" fmla="*/ 12383 w 12382"/>
                <a:gd name="connsiteY0" fmla="*/ 0 h 223932"/>
                <a:gd name="connsiteX1" fmla="*/ 0 w 12382"/>
                <a:gd name="connsiteY1" fmla="*/ 223933 h 223932"/>
              </a:gdLst>
              <a:ahLst/>
              <a:cxnLst>
                <a:cxn ang="0">
                  <a:pos x="connsiteX0" y="connsiteY0"/>
                </a:cxn>
                <a:cxn ang="0">
                  <a:pos x="connsiteX1" y="connsiteY1"/>
                </a:cxn>
              </a:cxnLst>
              <a:rect l="l" t="t" r="r" b="b"/>
              <a:pathLst>
                <a:path w="12382" h="223932">
                  <a:moveTo>
                    <a:pt x="12383" y="0"/>
                  </a:moveTo>
                  <a:lnTo>
                    <a:pt x="0"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7" name="Freeform: Shape 386">
              <a:extLst>
                <a:ext uri="{FF2B5EF4-FFF2-40B4-BE49-F238E27FC236}">
                  <a16:creationId xmlns:a16="http://schemas.microsoft.com/office/drawing/2014/main" id="{FF1D33E2-C0C4-CD73-EEFB-83EDAEA128D4}"/>
                </a:ext>
              </a:extLst>
            </p:cNvPr>
            <p:cNvSpPr/>
            <p:nvPr/>
          </p:nvSpPr>
          <p:spPr bwMode="gray">
            <a:xfrm>
              <a:off x="7415880" y="1671447"/>
              <a:ext cx="12382" cy="223932"/>
            </a:xfrm>
            <a:custGeom>
              <a:avLst/>
              <a:gdLst>
                <a:gd name="connsiteX0" fmla="*/ 0 w 12382"/>
                <a:gd name="connsiteY0" fmla="*/ 0 h 223932"/>
                <a:gd name="connsiteX1" fmla="*/ 12382 w 12382"/>
                <a:gd name="connsiteY1" fmla="*/ 223933 h 223932"/>
              </a:gdLst>
              <a:ahLst/>
              <a:cxnLst>
                <a:cxn ang="0">
                  <a:pos x="connsiteX0" y="connsiteY0"/>
                </a:cxn>
                <a:cxn ang="0">
                  <a:pos x="connsiteX1" y="connsiteY1"/>
                </a:cxn>
              </a:cxnLst>
              <a:rect l="l" t="t" r="r" b="b"/>
              <a:pathLst>
                <a:path w="12382" h="223932">
                  <a:moveTo>
                    <a:pt x="0" y="0"/>
                  </a:moveTo>
                  <a:lnTo>
                    <a:pt x="12382" y="223933"/>
                  </a:lnTo>
                </a:path>
              </a:pathLst>
            </a:custGeom>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8" name="Freeform: Shape 387">
              <a:extLst>
                <a:ext uri="{FF2B5EF4-FFF2-40B4-BE49-F238E27FC236}">
                  <a16:creationId xmlns:a16="http://schemas.microsoft.com/office/drawing/2014/main" id="{1FEDC201-4BEA-3119-2203-9E10F6755977}"/>
                </a:ext>
              </a:extLst>
            </p:cNvPr>
            <p:cNvSpPr/>
            <p:nvPr/>
          </p:nvSpPr>
          <p:spPr bwMode="gray">
            <a:xfrm>
              <a:off x="7340252" y="1617916"/>
              <a:ext cx="92678" cy="53625"/>
            </a:xfrm>
            <a:custGeom>
              <a:avLst/>
              <a:gdLst>
                <a:gd name="connsiteX0" fmla="*/ 0 w 92678"/>
                <a:gd name="connsiteY0" fmla="*/ 0 h 53625"/>
                <a:gd name="connsiteX1" fmla="*/ 0 w 92678"/>
                <a:gd name="connsiteY1" fmla="*/ 43339 h 53625"/>
                <a:gd name="connsiteX2" fmla="*/ 10287 w 92678"/>
                <a:gd name="connsiteY2" fmla="*/ 53626 h 53625"/>
                <a:gd name="connsiteX3" fmla="*/ 82391 w 92678"/>
                <a:gd name="connsiteY3" fmla="*/ 53626 h 53625"/>
                <a:gd name="connsiteX4" fmla="*/ 92678 w 92678"/>
                <a:gd name="connsiteY4" fmla="*/ 43339 h 53625"/>
                <a:gd name="connsiteX5" fmla="*/ 92678 w 92678"/>
                <a:gd name="connsiteY5" fmla="*/ 0 h 53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78" h="53625">
                  <a:moveTo>
                    <a:pt x="0" y="0"/>
                  </a:moveTo>
                  <a:lnTo>
                    <a:pt x="0" y="43339"/>
                  </a:lnTo>
                  <a:cubicBezTo>
                    <a:pt x="0" y="49054"/>
                    <a:pt x="4572" y="53626"/>
                    <a:pt x="10287" y="53626"/>
                  </a:cubicBezTo>
                  <a:lnTo>
                    <a:pt x="82391" y="53626"/>
                  </a:lnTo>
                  <a:cubicBezTo>
                    <a:pt x="88106" y="53626"/>
                    <a:pt x="92678" y="49054"/>
                    <a:pt x="92678" y="43339"/>
                  </a:cubicBezTo>
                  <a:lnTo>
                    <a:pt x="92678" y="0"/>
                  </a:lnTo>
                </a:path>
              </a:pathLst>
            </a:custGeom>
            <a:no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389" name="Group 388">
            <a:extLst>
              <a:ext uri="{FF2B5EF4-FFF2-40B4-BE49-F238E27FC236}">
                <a16:creationId xmlns:a16="http://schemas.microsoft.com/office/drawing/2014/main" id="{E586B4CD-7D2C-2FC8-0DDE-3D3BDB6E4EB4}"/>
              </a:ext>
            </a:extLst>
          </p:cNvPr>
          <p:cNvGrpSpPr/>
          <p:nvPr/>
        </p:nvGrpSpPr>
        <p:grpSpPr bwMode="gray">
          <a:xfrm>
            <a:off x="604733" y="2183219"/>
            <a:ext cx="341492" cy="325322"/>
            <a:chOff x="4753633" y="3632185"/>
            <a:chExt cx="552187" cy="525435"/>
          </a:xfrm>
          <a:noFill/>
        </p:grpSpPr>
        <p:sp>
          <p:nvSpPr>
            <p:cNvPr id="390" name="Freeform: Shape 389">
              <a:extLst>
                <a:ext uri="{FF2B5EF4-FFF2-40B4-BE49-F238E27FC236}">
                  <a16:creationId xmlns:a16="http://schemas.microsoft.com/office/drawing/2014/main" id="{9CF1DCF4-BE73-3158-3494-00E30B61BACC}"/>
                </a:ext>
              </a:extLst>
            </p:cNvPr>
            <p:cNvSpPr/>
            <p:nvPr/>
          </p:nvSpPr>
          <p:spPr bwMode="gray">
            <a:xfrm>
              <a:off x="4917194" y="3632185"/>
              <a:ext cx="237726" cy="237726"/>
            </a:xfrm>
            <a:custGeom>
              <a:avLst/>
              <a:gdLst>
                <a:gd name="connsiteX0" fmla="*/ 237726 w 237726"/>
                <a:gd name="connsiteY0" fmla="*/ 137857 h 237726"/>
                <a:gd name="connsiteX1" fmla="*/ 237726 w 237726"/>
                <a:gd name="connsiteY1" fmla="*/ 99870 h 237726"/>
                <a:gd name="connsiteX2" fmla="*/ 208308 w 237726"/>
                <a:gd name="connsiteY2" fmla="*/ 95776 h 237726"/>
                <a:gd name="connsiteX3" fmla="*/ 198407 w 237726"/>
                <a:gd name="connsiteY3" fmla="*/ 71880 h 237726"/>
                <a:gd name="connsiteX4" fmla="*/ 216305 w 237726"/>
                <a:gd name="connsiteY4" fmla="*/ 48269 h 237726"/>
                <a:gd name="connsiteX5" fmla="*/ 189458 w 237726"/>
                <a:gd name="connsiteY5" fmla="*/ 21421 h 237726"/>
                <a:gd name="connsiteX6" fmla="*/ 165847 w 237726"/>
                <a:gd name="connsiteY6" fmla="*/ 39320 h 237726"/>
                <a:gd name="connsiteX7" fmla="*/ 141950 w 237726"/>
                <a:gd name="connsiteY7" fmla="*/ 29418 h 237726"/>
                <a:gd name="connsiteX8" fmla="*/ 137857 w 237726"/>
                <a:gd name="connsiteY8" fmla="*/ 0 h 237726"/>
                <a:gd name="connsiteX9" fmla="*/ 99870 w 237726"/>
                <a:gd name="connsiteY9" fmla="*/ 0 h 237726"/>
                <a:gd name="connsiteX10" fmla="*/ 95776 w 237726"/>
                <a:gd name="connsiteY10" fmla="*/ 29418 h 237726"/>
                <a:gd name="connsiteX11" fmla="*/ 71880 w 237726"/>
                <a:gd name="connsiteY11" fmla="*/ 39320 h 237726"/>
                <a:gd name="connsiteX12" fmla="*/ 48269 w 237726"/>
                <a:gd name="connsiteY12" fmla="*/ 21421 h 237726"/>
                <a:gd name="connsiteX13" fmla="*/ 21421 w 237726"/>
                <a:gd name="connsiteY13" fmla="*/ 48269 h 237726"/>
                <a:gd name="connsiteX14" fmla="*/ 39320 w 237726"/>
                <a:gd name="connsiteY14" fmla="*/ 71880 h 237726"/>
                <a:gd name="connsiteX15" fmla="*/ 29418 w 237726"/>
                <a:gd name="connsiteY15" fmla="*/ 95776 h 237726"/>
                <a:gd name="connsiteX16" fmla="*/ 0 w 237726"/>
                <a:gd name="connsiteY16" fmla="*/ 99870 h 237726"/>
                <a:gd name="connsiteX17" fmla="*/ 0 w 237726"/>
                <a:gd name="connsiteY17" fmla="*/ 137857 h 237726"/>
                <a:gd name="connsiteX18" fmla="*/ 29418 w 237726"/>
                <a:gd name="connsiteY18" fmla="*/ 141950 h 237726"/>
                <a:gd name="connsiteX19" fmla="*/ 39320 w 237726"/>
                <a:gd name="connsiteY19" fmla="*/ 165847 h 237726"/>
                <a:gd name="connsiteX20" fmla="*/ 21421 w 237726"/>
                <a:gd name="connsiteY20" fmla="*/ 189458 h 237726"/>
                <a:gd name="connsiteX21" fmla="*/ 48269 w 237726"/>
                <a:gd name="connsiteY21" fmla="*/ 216305 h 237726"/>
                <a:gd name="connsiteX22" fmla="*/ 71880 w 237726"/>
                <a:gd name="connsiteY22" fmla="*/ 198407 h 237726"/>
                <a:gd name="connsiteX23" fmla="*/ 95776 w 237726"/>
                <a:gd name="connsiteY23" fmla="*/ 208308 h 237726"/>
                <a:gd name="connsiteX24" fmla="*/ 99870 w 237726"/>
                <a:gd name="connsiteY24" fmla="*/ 237726 h 237726"/>
                <a:gd name="connsiteX25" fmla="*/ 137857 w 237726"/>
                <a:gd name="connsiteY25" fmla="*/ 237726 h 237726"/>
                <a:gd name="connsiteX26" fmla="*/ 141950 w 237726"/>
                <a:gd name="connsiteY26" fmla="*/ 208308 h 237726"/>
                <a:gd name="connsiteX27" fmla="*/ 165847 w 237726"/>
                <a:gd name="connsiteY27" fmla="*/ 198407 h 237726"/>
                <a:gd name="connsiteX28" fmla="*/ 189458 w 237726"/>
                <a:gd name="connsiteY28" fmla="*/ 216305 h 237726"/>
                <a:gd name="connsiteX29" fmla="*/ 216305 w 237726"/>
                <a:gd name="connsiteY29" fmla="*/ 189458 h 237726"/>
                <a:gd name="connsiteX30" fmla="*/ 198407 w 237726"/>
                <a:gd name="connsiteY30" fmla="*/ 165847 h 237726"/>
                <a:gd name="connsiteX31" fmla="*/ 208308 w 237726"/>
                <a:gd name="connsiteY31" fmla="*/ 141950 h 237726"/>
                <a:gd name="connsiteX32" fmla="*/ 237726 w 237726"/>
                <a:gd name="connsiteY32" fmla="*/ 137857 h 23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726" h="237726">
                  <a:moveTo>
                    <a:pt x="237726" y="137857"/>
                  </a:moveTo>
                  <a:lnTo>
                    <a:pt x="237726" y="99870"/>
                  </a:lnTo>
                  <a:lnTo>
                    <a:pt x="208308" y="95776"/>
                  </a:lnTo>
                  <a:cubicBezTo>
                    <a:pt x="206118" y="87303"/>
                    <a:pt x="202786" y="79210"/>
                    <a:pt x="198407" y="71880"/>
                  </a:cubicBezTo>
                  <a:lnTo>
                    <a:pt x="216305" y="48269"/>
                  </a:lnTo>
                  <a:lnTo>
                    <a:pt x="189458" y="21421"/>
                  </a:lnTo>
                  <a:lnTo>
                    <a:pt x="165847" y="39320"/>
                  </a:lnTo>
                  <a:cubicBezTo>
                    <a:pt x="158421" y="34940"/>
                    <a:pt x="150424" y="31608"/>
                    <a:pt x="141950" y="29418"/>
                  </a:cubicBezTo>
                  <a:lnTo>
                    <a:pt x="137857" y="0"/>
                  </a:lnTo>
                  <a:lnTo>
                    <a:pt x="99870" y="0"/>
                  </a:lnTo>
                  <a:lnTo>
                    <a:pt x="95776" y="29418"/>
                  </a:lnTo>
                  <a:cubicBezTo>
                    <a:pt x="87303" y="31608"/>
                    <a:pt x="79210" y="34940"/>
                    <a:pt x="71880" y="39320"/>
                  </a:cubicBezTo>
                  <a:lnTo>
                    <a:pt x="48269" y="21421"/>
                  </a:lnTo>
                  <a:lnTo>
                    <a:pt x="21421" y="48269"/>
                  </a:lnTo>
                  <a:lnTo>
                    <a:pt x="39320" y="71880"/>
                  </a:lnTo>
                  <a:cubicBezTo>
                    <a:pt x="34940" y="79306"/>
                    <a:pt x="31608" y="87303"/>
                    <a:pt x="29418" y="95776"/>
                  </a:cubicBezTo>
                  <a:lnTo>
                    <a:pt x="0" y="99870"/>
                  </a:lnTo>
                  <a:lnTo>
                    <a:pt x="0" y="137857"/>
                  </a:lnTo>
                  <a:lnTo>
                    <a:pt x="29418" y="141950"/>
                  </a:lnTo>
                  <a:cubicBezTo>
                    <a:pt x="31608" y="150424"/>
                    <a:pt x="34940" y="158516"/>
                    <a:pt x="39320" y="165847"/>
                  </a:cubicBezTo>
                  <a:lnTo>
                    <a:pt x="21421" y="189458"/>
                  </a:lnTo>
                  <a:lnTo>
                    <a:pt x="48269" y="216305"/>
                  </a:lnTo>
                  <a:lnTo>
                    <a:pt x="71880" y="198407"/>
                  </a:lnTo>
                  <a:cubicBezTo>
                    <a:pt x="79306" y="202786"/>
                    <a:pt x="87303" y="206118"/>
                    <a:pt x="95776" y="208308"/>
                  </a:cubicBezTo>
                  <a:lnTo>
                    <a:pt x="99870" y="237726"/>
                  </a:lnTo>
                  <a:lnTo>
                    <a:pt x="137857" y="237726"/>
                  </a:lnTo>
                  <a:lnTo>
                    <a:pt x="141950" y="208308"/>
                  </a:lnTo>
                  <a:cubicBezTo>
                    <a:pt x="150424" y="206118"/>
                    <a:pt x="158516" y="202786"/>
                    <a:pt x="165847" y="198407"/>
                  </a:cubicBezTo>
                  <a:lnTo>
                    <a:pt x="189458" y="216305"/>
                  </a:lnTo>
                  <a:lnTo>
                    <a:pt x="216305" y="189458"/>
                  </a:lnTo>
                  <a:lnTo>
                    <a:pt x="198407" y="165847"/>
                  </a:lnTo>
                  <a:cubicBezTo>
                    <a:pt x="202786" y="158421"/>
                    <a:pt x="206118" y="150424"/>
                    <a:pt x="208308" y="141950"/>
                  </a:cubicBezTo>
                  <a:lnTo>
                    <a:pt x="237726" y="137857"/>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1" name="Freeform: Shape 390">
              <a:extLst>
                <a:ext uri="{FF2B5EF4-FFF2-40B4-BE49-F238E27FC236}">
                  <a16:creationId xmlns:a16="http://schemas.microsoft.com/office/drawing/2014/main" id="{C6B45185-82D3-48B1-1ACE-A5255334D80E}"/>
                </a:ext>
              </a:extLst>
            </p:cNvPr>
            <p:cNvSpPr/>
            <p:nvPr/>
          </p:nvSpPr>
          <p:spPr bwMode="gray">
            <a:xfrm>
              <a:off x="4988408" y="3703398"/>
              <a:ext cx="95395" cy="95395"/>
            </a:xfrm>
            <a:custGeom>
              <a:avLst/>
              <a:gdLst>
                <a:gd name="connsiteX0" fmla="*/ 95395 w 95395"/>
                <a:gd name="connsiteY0" fmla="*/ 47698 h 95395"/>
                <a:gd name="connsiteX1" fmla="*/ 47697 w 95395"/>
                <a:gd name="connsiteY1" fmla="*/ 95395 h 95395"/>
                <a:gd name="connsiteX2" fmla="*/ 0 w 95395"/>
                <a:gd name="connsiteY2" fmla="*/ 47698 h 95395"/>
                <a:gd name="connsiteX3" fmla="*/ 47697 w 95395"/>
                <a:gd name="connsiteY3" fmla="*/ 0 h 95395"/>
                <a:gd name="connsiteX4" fmla="*/ 95395 w 95395"/>
                <a:gd name="connsiteY4" fmla="*/ 47698 h 95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95" h="95395">
                  <a:moveTo>
                    <a:pt x="95395" y="47698"/>
                  </a:moveTo>
                  <a:cubicBezTo>
                    <a:pt x="95395" y="74040"/>
                    <a:pt x="74040" y="95395"/>
                    <a:pt x="47697" y="95395"/>
                  </a:cubicBezTo>
                  <a:cubicBezTo>
                    <a:pt x="21355" y="95395"/>
                    <a:pt x="0" y="74040"/>
                    <a:pt x="0" y="47698"/>
                  </a:cubicBezTo>
                  <a:cubicBezTo>
                    <a:pt x="0" y="21355"/>
                    <a:pt x="21355" y="0"/>
                    <a:pt x="47697" y="0"/>
                  </a:cubicBezTo>
                  <a:cubicBezTo>
                    <a:pt x="74040" y="0"/>
                    <a:pt x="95395" y="21355"/>
                    <a:pt x="95395" y="47698"/>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2" name="Freeform: Shape 391">
              <a:extLst>
                <a:ext uri="{FF2B5EF4-FFF2-40B4-BE49-F238E27FC236}">
                  <a16:creationId xmlns:a16="http://schemas.microsoft.com/office/drawing/2014/main" id="{653CAB97-13E2-FBB9-3B15-337B1D3F142E}"/>
                </a:ext>
              </a:extLst>
            </p:cNvPr>
            <p:cNvSpPr/>
            <p:nvPr/>
          </p:nvSpPr>
          <p:spPr bwMode="gray">
            <a:xfrm>
              <a:off x="4753633" y="3859629"/>
              <a:ext cx="297990" cy="297991"/>
            </a:xfrm>
            <a:custGeom>
              <a:avLst/>
              <a:gdLst>
                <a:gd name="connsiteX0" fmla="*/ 297991 w 297990"/>
                <a:gd name="connsiteY0" fmla="*/ 172797 h 297991"/>
                <a:gd name="connsiteX1" fmla="*/ 297991 w 297990"/>
                <a:gd name="connsiteY1" fmla="*/ 125194 h 297991"/>
                <a:gd name="connsiteX2" fmla="*/ 261147 w 297990"/>
                <a:gd name="connsiteY2" fmla="*/ 120053 h 297991"/>
                <a:gd name="connsiteX3" fmla="*/ 248770 w 297990"/>
                <a:gd name="connsiteY3" fmla="*/ 90064 h 297991"/>
                <a:gd name="connsiteX4" fmla="*/ 271238 w 297990"/>
                <a:gd name="connsiteY4" fmla="*/ 60455 h 297991"/>
                <a:gd name="connsiteX5" fmla="*/ 237536 w 297990"/>
                <a:gd name="connsiteY5" fmla="*/ 26753 h 297991"/>
                <a:gd name="connsiteX6" fmla="*/ 207927 w 297990"/>
                <a:gd name="connsiteY6" fmla="*/ 49221 h 297991"/>
                <a:gd name="connsiteX7" fmla="*/ 177938 w 297990"/>
                <a:gd name="connsiteY7" fmla="*/ 36844 h 297991"/>
                <a:gd name="connsiteX8" fmla="*/ 172797 w 297990"/>
                <a:gd name="connsiteY8" fmla="*/ 0 h 297991"/>
                <a:gd name="connsiteX9" fmla="*/ 125194 w 297990"/>
                <a:gd name="connsiteY9" fmla="*/ 0 h 297991"/>
                <a:gd name="connsiteX10" fmla="*/ 120053 w 297990"/>
                <a:gd name="connsiteY10" fmla="*/ 36844 h 297991"/>
                <a:gd name="connsiteX11" fmla="*/ 90064 w 297990"/>
                <a:gd name="connsiteY11" fmla="*/ 49221 h 297991"/>
                <a:gd name="connsiteX12" fmla="*/ 60455 w 297990"/>
                <a:gd name="connsiteY12" fmla="*/ 26753 h 297991"/>
                <a:gd name="connsiteX13" fmla="*/ 26753 w 297990"/>
                <a:gd name="connsiteY13" fmla="*/ 60455 h 297991"/>
                <a:gd name="connsiteX14" fmla="*/ 49221 w 297990"/>
                <a:gd name="connsiteY14" fmla="*/ 90064 h 297991"/>
                <a:gd name="connsiteX15" fmla="*/ 36844 w 297990"/>
                <a:gd name="connsiteY15" fmla="*/ 120053 h 297991"/>
                <a:gd name="connsiteX16" fmla="*/ 0 w 297990"/>
                <a:gd name="connsiteY16" fmla="*/ 125194 h 297991"/>
                <a:gd name="connsiteX17" fmla="*/ 0 w 297990"/>
                <a:gd name="connsiteY17" fmla="*/ 172797 h 297991"/>
                <a:gd name="connsiteX18" fmla="*/ 36844 w 297990"/>
                <a:gd name="connsiteY18" fmla="*/ 177938 h 297991"/>
                <a:gd name="connsiteX19" fmla="*/ 49221 w 297990"/>
                <a:gd name="connsiteY19" fmla="*/ 207927 h 297991"/>
                <a:gd name="connsiteX20" fmla="*/ 26753 w 297990"/>
                <a:gd name="connsiteY20" fmla="*/ 237536 h 297991"/>
                <a:gd name="connsiteX21" fmla="*/ 60455 w 297990"/>
                <a:gd name="connsiteY21" fmla="*/ 271239 h 297991"/>
                <a:gd name="connsiteX22" fmla="*/ 90064 w 297990"/>
                <a:gd name="connsiteY22" fmla="*/ 248770 h 297991"/>
                <a:gd name="connsiteX23" fmla="*/ 120053 w 297990"/>
                <a:gd name="connsiteY23" fmla="*/ 261147 h 297991"/>
                <a:gd name="connsiteX24" fmla="*/ 125194 w 297990"/>
                <a:gd name="connsiteY24" fmla="*/ 297991 h 297991"/>
                <a:gd name="connsiteX25" fmla="*/ 172797 w 297990"/>
                <a:gd name="connsiteY25" fmla="*/ 297991 h 297991"/>
                <a:gd name="connsiteX26" fmla="*/ 177938 w 297990"/>
                <a:gd name="connsiteY26" fmla="*/ 261147 h 297991"/>
                <a:gd name="connsiteX27" fmla="*/ 207927 w 297990"/>
                <a:gd name="connsiteY27" fmla="*/ 248770 h 297991"/>
                <a:gd name="connsiteX28" fmla="*/ 237536 w 297990"/>
                <a:gd name="connsiteY28" fmla="*/ 271239 h 297991"/>
                <a:gd name="connsiteX29" fmla="*/ 271238 w 297990"/>
                <a:gd name="connsiteY29" fmla="*/ 237536 h 297991"/>
                <a:gd name="connsiteX30" fmla="*/ 248770 w 297990"/>
                <a:gd name="connsiteY30" fmla="*/ 207927 h 297991"/>
                <a:gd name="connsiteX31" fmla="*/ 261147 w 297990"/>
                <a:gd name="connsiteY31" fmla="*/ 177938 h 297991"/>
                <a:gd name="connsiteX32" fmla="*/ 297991 w 297990"/>
                <a:gd name="connsiteY32" fmla="*/ 172797 h 29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97990" h="297991">
                  <a:moveTo>
                    <a:pt x="297991" y="172797"/>
                  </a:moveTo>
                  <a:lnTo>
                    <a:pt x="297991" y="125194"/>
                  </a:lnTo>
                  <a:lnTo>
                    <a:pt x="261147" y="120053"/>
                  </a:lnTo>
                  <a:cubicBezTo>
                    <a:pt x="258386" y="109390"/>
                    <a:pt x="254197" y="99299"/>
                    <a:pt x="248770" y="90064"/>
                  </a:cubicBezTo>
                  <a:lnTo>
                    <a:pt x="271238" y="60455"/>
                  </a:lnTo>
                  <a:lnTo>
                    <a:pt x="237536" y="26753"/>
                  </a:lnTo>
                  <a:lnTo>
                    <a:pt x="207927" y="49221"/>
                  </a:lnTo>
                  <a:cubicBezTo>
                    <a:pt x="198692" y="43794"/>
                    <a:pt x="188601" y="39510"/>
                    <a:pt x="177938" y="36844"/>
                  </a:cubicBezTo>
                  <a:lnTo>
                    <a:pt x="172797" y="0"/>
                  </a:lnTo>
                  <a:lnTo>
                    <a:pt x="125194" y="0"/>
                  </a:lnTo>
                  <a:lnTo>
                    <a:pt x="120053" y="36844"/>
                  </a:lnTo>
                  <a:cubicBezTo>
                    <a:pt x="109390" y="39605"/>
                    <a:pt x="99299" y="43794"/>
                    <a:pt x="90064" y="49221"/>
                  </a:cubicBezTo>
                  <a:lnTo>
                    <a:pt x="60455" y="26753"/>
                  </a:lnTo>
                  <a:lnTo>
                    <a:pt x="26753" y="60455"/>
                  </a:lnTo>
                  <a:lnTo>
                    <a:pt x="49221" y="90064"/>
                  </a:lnTo>
                  <a:cubicBezTo>
                    <a:pt x="43699" y="99299"/>
                    <a:pt x="39510" y="109390"/>
                    <a:pt x="36844" y="120053"/>
                  </a:cubicBezTo>
                  <a:lnTo>
                    <a:pt x="0" y="125194"/>
                  </a:lnTo>
                  <a:lnTo>
                    <a:pt x="0" y="172797"/>
                  </a:lnTo>
                  <a:lnTo>
                    <a:pt x="36844" y="177938"/>
                  </a:lnTo>
                  <a:cubicBezTo>
                    <a:pt x="39605" y="188601"/>
                    <a:pt x="43794" y="198692"/>
                    <a:pt x="49221" y="207927"/>
                  </a:cubicBezTo>
                  <a:lnTo>
                    <a:pt x="26753" y="237536"/>
                  </a:lnTo>
                  <a:lnTo>
                    <a:pt x="60455" y="271239"/>
                  </a:lnTo>
                  <a:lnTo>
                    <a:pt x="90064" y="248770"/>
                  </a:lnTo>
                  <a:cubicBezTo>
                    <a:pt x="99299" y="254292"/>
                    <a:pt x="109390" y="258481"/>
                    <a:pt x="120053" y="261147"/>
                  </a:cubicBezTo>
                  <a:lnTo>
                    <a:pt x="125194" y="297991"/>
                  </a:lnTo>
                  <a:lnTo>
                    <a:pt x="172797" y="297991"/>
                  </a:lnTo>
                  <a:lnTo>
                    <a:pt x="177938" y="261147"/>
                  </a:lnTo>
                  <a:cubicBezTo>
                    <a:pt x="188601" y="258386"/>
                    <a:pt x="198692" y="254197"/>
                    <a:pt x="207927" y="248770"/>
                  </a:cubicBezTo>
                  <a:lnTo>
                    <a:pt x="237536" y="271239"/>
                  </a:lnTo>
                  <a:lnTo>
                    <a:pt x="271238" y="237536"/>
                  </a:lnTo>
                  <a:lnTo>
                    <a:pt x="248770" y="207927"/>
                  </a:lnTo>
                  <a:cubicBezTo>
                    <a:pt x="254292" y="198692"/>
                    <a:pt x="258481" y="188601"/>
                    <a:pt x="261147" y="177938"/>
                  </a:cubicBezTo>
                  <a:lnTo>
                    <a:pt x="297991" y="172797"/>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3" name="Freeform: Shape 392">
              <a:extLst>
                <a:ext uri="{FF2B5EF4-FFF2-40B4-BE49-F238E27FC236}">
                  <a16:creationId xmlns:a16="http://schemas.microsoft.com/office/drawing/2014/main" id="{3D3799E4-A935-3159-CA68-32137286CDF7}"/>
                </a:ext>
              </a:extLst>
            </p:cNvPr>
            <p:cNvSpPr/>
            <p:nvPr/>
          </p:nvSpPr>
          <p:spPr bwMode="gray">
            <a:xfrm>
              <a:off x="4842839" y="3948836"/>
              <a:ext cx="119577" cy="119577"/>
            </a:xfrm>
            <a:custGeom>
              <a:avLst/>
              <a:gdLst>
                <a:gd name="connsiteX0" fmla="*/ 119577 w 119577"/>
                <a:gd name="connsiteY0" fmla="*/ 59789 h 119577"/>
                <a:gd name="connsiteX1" fmla="*/ 59789 w 119577"/>
                <a:gd name="connsiteY1" fmla="*/ 119577 h 119577"/>
                <a:gd name="connsiteX2" fmla="*/ 0 w 119577"/>
                <a:gd name="connsiteY2" fmla="*/ 59789 h 119577"/>
                <a:gd name="connsiteX3" fmla="*/ 59789 w 119577"/>
                <a:gd name="connsiteY3" fmla="*/ 0 h 119577"/>
                <a:gd name="connsiteX4" fmla="*/ 119577 w 119577"/>
                <a:gd name="connsiteY4" fmla="*/ 59789 h 119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77" h="119577">
                  <a:moveTo>
                    <a:pt x="119577" y="59789"/>
                  </a:moveTo>
                  <a:cubicBezTo>
                    <a:pt x="119577" y="92825"/>
                    <a:pt x="92825" y="119577"/>
                    <a:pt x="59789" y="119577"/>
                  </a:cubicBezTo>
                  <a:cubicBezTo>
                    <a:pt x="26753" y="119577"/>
                    <a:pt x="0" y="92825"/>
                    <a:pt x="0" y="59789"/>
                  </a:cubicBezTo>
                  <a:cubicBezTo>
                    <a:pt x="0" y="26753"/>
                    <a:pt x="26753" y="0"/>
                    <a:pt x="59789" y="0"/>
                  </a:cubicBezTo>
                  <a:cubicBezTo>
                    <a:pt x="92825" y="0"/>
                    <a:pt x="119577" y="26753"/>
                    <a:pt x="119577" y="59789"/>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4" name="Freeform: Shape 393">
              <a:extLst>
                <a:ext uri="{FF2B5EF4-FFF2-40B4-BE49-F238E27FC236}">
                  <a16:creationId xmlns:a16="http://schemas.microsoft.com/office/drawing/2014/main" id="{9A0E7011-49BF-AA94-1B13-8EC48E668B43}"/>
                </a:ext>
              </a:extLst>
            </p:cNvPr>
            <p:cNvSpPr/>
            <p:nvPr/>
          </p:nvSpPr>
          <p:spPr bwMode="gray">
            <a:xfrm>
              <a:off x="5073140" y="3846491"/>
              <a:ext cx="232680" cy="232680"/>
            </a:xfrm>
            <a:custGeom>
              <a:avLst/>
              <a:gdLst>
                <a:gd name="connsiteX0" fmla="*/ 232681 w 232680"/>
                <a:gd name="connsiteY0" fmla="*/ 134905 h 232680"/>
                <a:gd name="connsiteX1" fmla="*/ 232681 w 232680"/>
                <a:gd name="connsiteY1" fmla="*/ 97775 h 232680"/>
                <a:gd name="connsiteX2" fmla="*/ 203929 w 232680"/>
                <a:gd name="connsiteY2" fmla="*/ 93777 h 232680"/>
                <a:gd name="connsiteX3" fmla="*/ 194218 w 232680"/>
                <a:gd name="connsiteY3" fmla="*/ 70356 h 232680"/>
                <a:gd name="connsiteX4" fmla="*/ 211735 w 232680"/>
                <a:gd name="connsiteY4" fmla="*/ 47222 h 232680"/>
                <a:gd name="connsiteX5" fmla="*/ 185459 w 232680"/>
                <a:gd name="connsiteY5" fmla="*/ 20945 h 232680"/>
                <a:gd name="connsiteX6" fmla="*/ 162324 w 232680"/>
                <a:gd name="connsiteY6" fmla="*/ 38463 h 232680"/>
                <a:gd name="connsiteX7" fmla="*/ 138904 w 232680"/>
                <a:gd name="connsiteY7" fmla="*/ 28752 h 232680"/>
                <a:gd name="connsiteX8" fmla="*/ 134905 w 232680"/>
                <a:gd name="connsiteY8" fmla="*/ 0 h 232680"/>
                <a:gd name="connsiteX9" fmla="*/ 97775 w 232680"/>
                <a:gd name="connsiteY9" fmla="*/ 0 h 232680"/>
                <a:gd name="connsiteX10" fmla="*/ 93777 w 232680"/>
                <a:gd name="connsiteY10" fmla="*/ 28752 h 232680"/>
                <a:gd name="connsiteX11" fmla="*/ 70357 w 232680"/>
                <a:gd name="connsiteY11" fmla="*/ 38463 h 232680"/>
                <a:gd name="connsiteX12" fmla="*/ 47222 w 232680"/>
                <a:gd name="connsiteY12" fmla="*/ 20945 h 232680"/>
                <a:gd name="connsiteX13" fmla="*/ 20945 w 232680"/>
                <a:gd name="connsiteY13" fmla="*/ 47222 h 232680"/>
                <a:gd name="connsiteX14" fmla="*/ 38463 w 232680"/>
                <a:gd name="connsiteY14" fmla="*/ 70356 h 232680"/>
                <a:gd name="connsiteX15" fmla="*/ 28752 w 232680"/>
                <a:gd name="connsiteY15" fmla="*/ 93777 h 232680"/>
                <a:gd name="connsiteX16" fmla="*/ 0 w 232680"/>
                <a:gd name="connsiteY16" fmla="*/ 97775 h 232680"/>
                <a:gd name="connsiteX17" fmla="*/ 0 w 232680"/>
                <a:gd name="connsiteY17" fmla="*/ 134905 h 232680"/>
                <a:gd name="connsiteX18" fmla="*/ 28752 w 232680"/>
                <a:gd name="connsiteY18" fmla="*/ 138904 h 232680"/>
                <a:gd name="connsiteX19" fmla="*/ 38463 w 232680"/>
                <a:gd name="connsiteY19" fmla="*/ 162324 h 232680"/>
                <a:gd name="connsiteX20" fmla="*/ 20945 w 232680"/>
                <a:gd name="connsiteY20" fmla="*/ 185459 h 232680"/>
                <a:gd name="connsiteX21" fmla="*/ 47222 w 232680"/>
                <a:gd name="connsiteY21" fmla="*/ 211736 h 232680"/>
                <a:gd name="connsiteX22" fmla="*/ 70357 w 232680"/>
                <a:gd name="connsiteY22" fmla="*/ 194218 h 232680"/>
                <a:gd name="connsiteX23" fmla="*/ 93777 w 232680"/>
                <a:gd name="connsiteY23" fmla="*/ 203929 h 232680"/>
                <a:gd name="connsiteX24" fmla="*/ 97775 w 232680"/>
                <a:gd name="connsiteY24" fmla="*/ 232681 h 232680"/>
                <a:gd name="connsiteX25" fmla="*/ 134905 w 232680"/>
                <a:gd name="connsiteY25" fmla="*/ 232681 h 232680"/>
                <a:gd name="connsiteX26" fmla="*/ 138904 w 232680"/>
                <a:gd name="connsiteY26" fmla="*/ 203929 h 232680"/>
                <a:gd name="connsiteX27" fmla="*/ 162324 w 232680"/>
                <a:gd name="connsiteY27" fmla="*/ 194218 h 232680"/>
                <a:gd name="connsiteX28" fmla="*/ 185459 w 232680"/>
                <a:gd name="connsiteY28" fmla="*/ 211736 h 232680"/>
                <a:gd name="connsiteX29" fmla="*/ 211735 w 232680"/>
                <a:gd name="connsiteY29" fmla="*/ 185459 h 232680"/>
                <a:gd name="connsiteX30" fmla="*/ 194218 w 232680"/>
                <a:gd name="connsiteY30" fmla="*/ 162324 h 232680"/>
                <a:gd name="connsiteX31" fmla="*/ 203929 w 232680"/>
                <a:gd name="connsiteY31" fmla="*/ 138904 h 232680"/>
                <a:gd name="connsiteX32" fmla="*/ 232681 w 232680"/>
                <a:gd name="connsiteY32" fmla="*/ 134905 h 23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2680" h="232680">
                  <a:moveTo>
                    <a:pt x="232681" y="134905"/>
                  </a:moveTo>
                  <a:lnTo>
                    <a:pt x="232681" y="97775"/>
                  </a:lnTo>
                  <a:lnTo>
                    <a:pt x="203929" y="93777"/>
                  </a:lnTo>
                  <a:cubicBezTo>
                    <a:pt x="201739" y="85399"/>
                    <a:pt x="198502" y="77592"/>
                    <a:pt x="194218" y="70356"/>
                  </a:cubicBezTo>
                  <a:lnTo>
                    <a:pt x="211735" y="47222"/>
                  </a:lnTo>
                  <a:lnTo>
                    <a:pt x="185459" y="20945"/>
                  </a:lnTo>
                  <a:lnTo>
                    <a:pt x="162324" y="38463"/>
                  </a:lnTo>
                  <a:cubicBezTo>
                    <a:pt x="155089" y="34179"/>
                    <a:pt x="147282" y="30942"/>
                    <a:pt x="138904" y="28752"/>
                  </a:cubicBezTo>
                  <a:lnTo>
                    <a:pt x="134905" y="0"/>
                  </a:lnTo>
                  <a:lnTo>
                    <a:pt x="97775" y="0"/>
                  </a:lnTo>
                  <a:lnTo>
                    <a:pt x="93777" y="28752"/>
                  </a:lnTo>
                  <a:cubicBezTo>
                    <a:pt x="85399" y="30942"/>
                    <a:pt x="77592" y="34179"/>
                    <a:pt x="70357" y="38463"/>
                  </a:cubicBezTo>
                  <a:lnTo>
                    <a:pt x="47222" y="20945"/>
                  </a:lnTo>
                  <a:lnTo>
                    <a:pt x="20945" y="47222"/>
                  </a:lnTo>
                  <a:lnTo>
                    <a:pt x="38463" y="70356"/>
                  </a:lnTo>
                  <a:cubicBezTo>
                    <a:pt x="34179" y="77592"/>
                    <a:pt x="30942" y="85399"/>
                    <a:pt x="28752" y="93777"/>
                  </a:cubicBezTo>
                  <a:lnTo>
                    <a:pt x="0" y="97775"/>
                  </a:lnTo>
                  <a:lnTo>
                    <a:pt x="0" y="134905"/>
                  </a:lnTo>
                  <a:lnTo>
                    <a:pt x="28752" y="138904"/>
                  </a:lnTo>
                  <a:cubicBezTo>
                    <a:pt x="30942" y="147282"/>
                    <a:pt x="34179" y="155089"/>
                    <a:pt x="38463" y="162324"/>
                  </a:cubicBezTo>
                  <a:lnTo>
                    <a:pt x="20945" y="185459"/>
                  </a:lnTo>
                  <a:lnTo>
                    <a:pt x="47222" y="211736"/>
                  </a:lnTo>
                  <a:lnTo>
                    <a:pt x="70357" y="194218"/>
                  </a:lnTo>
                  <a:cubicBezTo>
                    <a:pt x="77592" y="198502"/>
                    <a:pt x="85399" y="201739"/>
                    <a:pt x="93777" y="203929"/>
                  </a:cubicBezTo>
                  <a:lnTo>
                    <a:pt x="97775" y="232681"/>
                  </a:lnTo>
                  <a:lnTo>
                    <a:pt x="134905" y="232681"/>
                  </a:lnTo>
                  <a:lnTo>
                    <a:pt x="138904" y="203929"/>
                  </a:lnTo>
                  <a:cubicBezTo>
                    <a:pt x="147282" y="201739"/>
                    <a:pt x="155089" y="198502"/>
                    <a:pt x="162324" y="194218"/>
                  </a:cubicBezTo>
                  <a:lnTo>
                    <a:pt x="185459" y="211736"/>
                  </a:lnTo>
                  <a:lnTo>
                    <a:pt x="211735" y="185459"/>
                  </a:lnTo>
                  <a:lnTo>
                    <a:pt x="194218" y="162324"/>
                  </a:lnTo>
                  <a:cubicBezTo>
                    <a:pt x="198502" y="155089"/>
                    <a:pt x="201739" y="147282"/>
                    <a:pt x="203929" y="138904"/>
                  </a:cubicBezTo>
                  <a:lnTo>
                    <a:pt x="232681" y="134905"/>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395" name="Freeform: Shape 394">
              <a:extLst>
                <a:ext uri="{FF2B5EF4-FFF2-40B4-BE49-F238E27FC236}">
                  <a16:creationId xmlns:a16="http://schemas.microsoft.com/office/drawing/2014/main" id="{4B54FC7A-A118-E19B-103F-926F494CAE62}"/>
                </a:ext>
              </a:extLst>
            </p:cNvPr>
            <p:cNvSpPr/>
            <p:nvPr/>
          </p:nvSpPr>
          <p:spPr bwMode="gray">
            <a:xfrm>
              <a:off x="5142830" y="3916086"/>
              <a:ext cx="93300" cy="93300"/>
            </a:xfrm>
            <a:custGeom>
              <a:avLst/>
              <a:gdLst>
                <a:gd name="connsiteX0" fmla="*/ 93301 w 93300"/>
                <a:gd name="connsiteY0" fmla="*/ 46650 h 93300"/>
                <a:gd name="connsiteX1" fmla="*/ 46650 w 93300"/>
                <a:gd name="connsiteY1" fmla="*/ 93301 h 93300"/>
                <a:gd name="connsiteX2" fmla="*/ 0 w 93300"/>
                <a:gd name="connsiteY2" fmla="*/ 46650 h 93300"/>
                <a:gd name="connsiteX3" fmla="*/ 46650 w 93300"/>
                <a:gd name="connsiteY3" fmla="*/ 0 h 93300"/>
                <a:gd name="connsiteX4" fmla="*/ 93301 w 93300"/>
                <a:gd name="connsiteY4" fmla="*/ 46650 h 93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00" h="93300">
                  <a:moveTo>
                    <a:pt x="93301" y="46650"/>
                  </a:moveTo>
                  <a:cubicBezTo>
                    <a:pt x="93301" y="72451"/>
                    <a:pt x="72356" y="93301"/>
                    <a:pt x="46650" y="93301"/>
                  </a:cubicBezTo>
                  <a:cubicBezTo>
                    <a:pt x="20945" y="93301"/>
                    <a:pt x="0" y="72356"/>
                    <a:pt x="0" y="46650"/>
                  </a:cubicBezTo>
                  <a:cubicBezTo>
                    <a:pt x="0" y="20945"/>
                    <a:pt x="20945" y="0"/>
                    <a:pt x="46650" y="0"/>
                  </a:cubicBezTo>
                  <a:cubicBezTo>
                    <a:pt x="72356" y="0"/>
                    <a:pt x="93301" y="20945"/>
                    <a:pt x="93301" y="46650"/>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407" name="Graphic 2">
            <a:extLst>
              <a:ext uri="{FF2B5EF4-FFF2-40B4-BE49-F238E27FC236}">
                <a16:creationId xmlns:a16="http://schemas.microsoft.com/office/drawing/2014/main" id="{82273D45-921D-6FA7-ED58-88DB4EDF62BE}"/>
              </a:ext>
            </a:extLst>
          </p:cNvPr>
          <p:cNvGrpSpPr/>
          <p:nvPr/>
        </p:nvGrpSpPr>
        <p:grpSpPr bwMode="gray">
          <a:xfrm>
            <a:off x="621885" y="1624212"/>
            <a:ext cx="242766" cy="313456"/>
            <a:chOff x="9409" y="4217481"/>
            <a:chExt cx="552503" cy="715405"/>
          </a:xfrm>
          <a:noFill/>
        </p:grpSpPr>
        <p:sp>
          <p:nvSpPr>
            <p:cNvPr id="408" name="Freeform: Shape 407">
              <a:extLst>
                <a:ext uri="{FF2B5EF4-FFF2-40B4-BE49-F238E27FC236}">
                  <a16:creationId xmlns:a16="http://schemas.microsoft.com/office/drawing/2014/main" id="{3BBBE3E2-CC6B-BA99-4B40-5626B85C03D0}"/>
                </a:ext>
              </a:extLst>
            </p:cNvPr>
            <p:cNvSpPr/>
            <p:nvPr/>
          </p:nvSpPr>
          <p:spPr bwMode="gray">
            <a:xfrm>
              <a:off x="184915" y="4396181"/>
              <a:ext cx="202613" cy="162125"/>
            </a:xfrm>
            <a:custGeom>
              <a:avLst/>
              <a:gdLst>
                <a:gd name="connsiteX0" fmla="*/ 202613 w 202613"/>
                <a:gd name="connsiteY0" fmla="*/ 36776 h 162125"/>
                <a:gd name="connsiteX1" fmla="*/ 165837 w 202613"/>
                <a:gd name="connsiteY1" fmla="*/ 0 h 162125"/>
                <a:gd name="connsiteX2" fmla="*/ 76919 w 202613"/>
                <a:gd name="connsiteY2" fmla="*/ 88918 h 162125"/>
                <a:gd name="connsiteX3" fmla="*/ 36690 w 202613"/>
                <a:gd name="connsiteY3" fmla="*/ 48689 h 162125"/>
                <a:gd name="connsiteX4" fmla="*/ 0 w 202613"/>
                <a:gd name="connsiteY4" fmla="*/ 85465 h 162125"/>
                <a:gd name="connsiteX5" fmla="*/ 69667 w 202613"/>
                <a:gd name="connsiteY5" fmla="*/ 155133 h 162125"/>
                <a:gd name="connsiteX6" fmla="*/ 69926 w 202613"/>
                <a:gd name="connsiteY6" fmla="*/ 154960 h 162125"/>
                <a:gd name="connsiteX7" fmla="*/ 77178 w 202613"/>
                <a:gd name="connsiteY7" fmla="*/ 162125 h 162125"/>
                <a:gd name="connsiteX8" fmla="*/ 202613 w 202613"/>
                <a:gd name="connsiteY8" fmla="*/ 36776 h 162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13" h="162125">
                  <a:moveTo>
                    <a:pt x="202613" y="36776"/>
                  </a:moveTo>
                  <a:lnTo>
                    <a:pt x="165837" y="0"/>
                  </a:lnTo>
                  <a:lnTo>
                    <a:pt x="76919" y="88918"/>
                  </a:lnTo>
                  <a:lnTo>
                    <a:pt x="36690" y="48689"/>
                  </a:lnTo>
                  <a:lnTo>
                    <a:pt x="0" y="85465"/>
                  </a:lnTo>
                  <a:lnTo>
                    <a:pt x="69667" y="155133"/>
                  </a:lnTo>
                  <a:lnTo>
                    <a:pt x="69926" y="154960"/>
                  </a:lnTo>
                  <a:lnTo>
                    <a:pt x="77178" y="162125"/>
                  </a:lnTo>
                  <a:lnTo>
                    <a:pt x="202613" y="36776"/>
                  </a:ln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nvGrpSpPr>
            <p:cNvPr id="409" name="Graphic 2">
              <a:extLst>
                <a:ext uri="{FF2B5EF4-FFF2-40B4-BE49-F238E27FC236}">
                  <a16:creationId xmlns:a16="http://schemas.microsoft.com/office/drawing/2014/main" id="{4D7D7885-ABAD-BCE0-7A01-9F96E43C1B96}"/>
                </a:ext>
              </a:extLst>
            </p:cNvPr>
            <p:cNvGrpSpPr/>
            <p:nvPr/>
          </p:nvGrpSpPr>
          <p:grpSpPr bwMode="gray">
            <a:xfrm>
              <a:off x="9409" y="4217481"/>
              <a:ext cx="552503" cy="715405"/>
              <a:chOff x="9409" y="4217481"/>
              <a:chExt cx="552503" cy="715405"/>
            </a:xfrm>
            <a:grpFill/>
          </p:grpSpPr>
          <p:grpSp>
            <p:nvGrpSpPr>
              <p:cNvPr id="410" name="Graphic 2">
                <a:extLst>
                  <a:ext uri="{FF2B5EF4-FFF2-40B4-BE49-F238E27FC236}">
                    <a16:creationId xmlns:a16="http://schemas.microsoft.com/office/drawing/2014/main" id="{AFAEE843-65E3-3F8F-F920-7AF3D7FB1BBF}"/>
                  </a:ext>
                </a:extLst>
              </p:cNvPr>
              <p:cNvGrpSpPr/>
              <p:nvPr/>
            </p:nvGrpSpPr>
            <p:grpSpPr bwMode="gray">
              <a:xfrm>
                <a:off x="9409" y="4217481"/>
                <a:ext cx="552503" cy="715405"/>
                <a:chOff x="9409" y="4217481"/>
                <a:chExt cx="552503" cy="715405"/>
              </a:xfrm>
              <a:grpFill/>
            </p:grpSpPr>
            <p:sp>
              <p:nvSpPr>
                <p:cNvPr id="415" name="Freeform: Shape 414">
                  <a:extLst>
                    <a:ext uri="{FF2B5EF4-FFF2-40B4-BE49-F238E27FC236}">
                      <a16:creationId xmlns:a16="http://schemas.microsoft.com/office/drawing/2014/main" id="{E06F36D7-46F6-8251-DF29-7A73E04D4294}"/>
                    </a:ext>
                  </a:extLst>
                </p:cNvPr>
                <p:cNvSpPr/>
                <p:nvPr/>
              </p:nvSpPr>
              <p:spPr bwMode="gray">
                <a:xfrm>
                  <a:off x="9409" y="4217481"/>
                  <a:ext cx="552503" cy="715405"/>
                </a:xfrm>
                <a:custGeom>
                  <a:avLst/>
                  <a:gdLst>
                    <a:gd name="connsiteX0" fmla="*/ 520648 w 552503"/>
                    <a:gd name="connsiteY0" fmla="*/ 715405 h 715405"/>
                    <a:gd name="connsiteX1" fmla="*/ 31855 w 552503"/>
                    <a:gd name="connsiteY1" fmla="*/ 715405 h 715405"/>
                    <a:gd name="connsiteX2" fmla="*/ 0 w 552503"/>
                    <a:gd name="connsiteY2" fmla="*/ 683550 h 715405"/>
                    <a:gd name="connsiteX3" fmla="*/ 0 w 552503"/>
                    <a:gd name="connsiteY3" fmla="*/ 31855 h 715405"/>
                    <a:gd name="connsiteX4" fmla="*/ 31855 w 552503"/>
                    <a:gd name="connsiteY4" fmla="*/ 0 h 715405"/>
                    <a:gd name="connsiteX5" fmla="*/ 435614 w 552503"/>
                    <a:gd name="connsiteY5" fmla="*/ 0 h 715405"/>
                    <a:gd name="connsiteX6" fmla="*/ 552503 w 552503"/>
                    <a:gd name="connsiteY6" fmla="*/ 127508 h 715405"/>
                    <a:gd name="connsiteX7" fmla="*/ 552503 w 552503"/>
                    <a:gd name="connsiteY7" fmla="*/ 683550 h 715405"/>
                    <a:gd name="connsiteX8" fmla="*/ 520648 w 552503"/>
                    <a:gd name="connsiteY8" fmla="*/ 715405 h 71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503" h="715405">
                      <a:moveTo>
                        <a:pt x="520648" y="715405"/>
                      </a:moveTo>
                      <a:lnTo>
                        <a:pt x="31855" y="715405"/>
                      </a:lnTo>
                      <a:cubicBezTo>
                        <a:pt x="14331" y="715405"/>
                        <a:pt x="0" y="701075"/>
                        <a:pt x="0" y="683550"/>
                      </a:cubicBezTo>
                      <a:lnTo>
                        <a:pt x="0" y="31855"/>
                      </a:lnTo>
                      <a:cubicBezTo>
                        <a:pt x="0" y="14331"/>
                        <a:pt x="14331" y="0"/>
                        <a:pt x="31855" y="0"/>
                      </a:cubicBezTo>
                      <a:lnTo>
                        <a:pt x="435614" y="0"/>
                      </a:lnTo>
                      <a:lnTo>
                        <a:pt x="552503" y="127508"/>
                      </a:lnTo>
                      <a:lnTo>
                        <a:pt x="552503" y="683550"/>
                      </a:lnTo>
                      <a:cubicBezTo>
                        <a:pt x="552503" y="701075"/>
                        <a:pt x="538173" y="715405"/>
                        <a:pt x="520648" y="715405"/>
                      </a:cubicBezTo>
                      <a:close/>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6" name="Freeform: Shape 415">
                  <a:extLst>
                    <a:ext uri="{FF2B5EF4-FFF2-40B4-BE49-F238E27FC236}">
                      <a16:creationId xmlns:a16="http://schemas.microsoft.com/office/drawing/2014/main" id="{B172F9A8-9630-4C8A-711F-2EABE1F868C6}"/>
                    </a:ext>
                  </a:extLst>
                </p:cNvPr>
                <p:cNvSpPr/>
                <p:nvPr/>
              </p:nvSpPr>
              <p:spPr bwMode="gray">
                <a:xfrm>
                  <a:off x="422578" y="4273768"/>
                  <a:ext cx="127075" cy="81407"/>
                </a:xfrm>
                <a:custGeom>
                  <a:avLst/>
                  <a:gdLst>
                    <a:gd name="connsiteX0" fmla="*/ 0 w 127075"/>
                    <a:gd name="connsiteY0" fmla="*/ 0 h 81407"/>
                    <a:gd name="connsiteX1" fmla="*/ 0 w 127075"/>
                    <a:gd name="connsiteY1" fmla="*/ 49553 h 81407"/>
                    <a:gd name="connsiteX2" fmla="*/ 31855 w 127075"/>
                    <a:gd name="connsiteY2" fmla="*/ 81408 h 81407"/>
                    <a:gd name="connsiteX3" fmla="*/ 127076 w 127075"/>
                    <a:gd name="connsiteY3" fmla="*/ 81408 h 81407"/>
                  </a:gdLst>
                  <a:ahLst/>
                  <a:cxnLst>
                    <a:cxn ang="0">
                      <a:pos x="connsiteX0" y="connsiteY0"/>
                    </a:cxn>
                    <a:cxn ang="0">
                      <a:pos x="connsiteX1" y="connsiteY1"/>
                    </a:cxn>
                    <a:cxn ang="0">
                      <a:pos x="connsiteX2" y="connsiteY2"/>
                    </a:cxn>
                    <a:cxn ang="0">
                      <a:pos x="connsiteX3" y="connsiteY3"/>
                    </a:cxn>
                  </a:cxnLst>
                  <a:rect l="l" t="t" r="r" b="b"/>
                  <a:pathLst>
                    <a:path w="127075" h="81407">
                      <a:moveTo>
                        <a:pt x="0" y="0"/>
                      </a:moveTo>
                      <a:lnTo>
                        <a:pt x="0" y="49553"/>
                      </a:lnTo>
                      <a:cubicBezTo>
                        <a:pt x="0" y="67077"/>
                        <a:pt x="14331" y="81408"/>
                        <a:pt x="31855" y="81408"/>
                      </a:cubicBezTo>
                      <a:lnTo>
                        <a:pt x="127076" y="81408"/>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nvGrpSpPr>
              <p:cNvPr id="411" name="Graphic 2">
                <a:extLst>
                  <a:ext uri="{FF2B5EF4-FFF2-40B4-BE49-F238E27FC236}">
                    <a16:creationId xmlns:a16="http://schemas.microsoft.com/office/drawing/2014/main" id="{8096FB03-46F6-9147-0CE4-86E9F42FCA3C}"/>
                  </a:ext>
                </a:extLst>
              </p:cNvPr>
              <p:cNvGrpSpPr/>
              <p:nvPr/>
            </p:nvGrpSpPr>
            <p:grpSpPr bwMode="gray">
              <a:xfrm>
                <a:off x="112917" y="4659915"/>
                <a:ext cx="345400" cy="143305"/>
                <a:chOff x="112917" y="4659915"/>
                <a:chExt cx="345400" cy="143305"/>
              </a:xfrm>
              <a:grpFill/>
            </p:grpSpPr>
            <p:sp>
              <p:nvSpPr>
                <p:cNvPr id="412" name="Freeform: Shape 411">
                  <a:extLst>
                    <a:ext uri="{FF2B5EF4-FFF2-40B4-BE49-F238E27FC236}">
                      <a16:creationId xmlns:a16="http://schemas.microsoft.com/office/drawing/2014/main" id="{1A2576E4-9DDB-3453-3A67-B62F2EB5B954}"/>
                    </a:ext>
                  </a:extLst>
                </p:cNvPr>
                <p:cNvSpPr/>
                <p:nvPr/>
              </p:nvSpPr>
              <p:spPr bwMode="gray">
                <a:xfrm>
                  <a:off x="112917" y="4659915"/>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3" name="Freeform: Shape 412">
                  <a:extLst>
                    <a:ext uri="{FF2B5EF4-FFF2-40B4-BE49-F238E27FC236}">
                      <a16:creationId xmlns:a16="http://schemas.microsoft.com/office/drawing/2014/main" id="{EC8FAEC9-6F51-68A5-4A99-AF87859D8E09}"/>
                    </a:ext>
                  </a:extLst>
                </p:cNvPr>
                <p:cNvSpPr/>
                <p:nvPr/>
              </p:nvSpPr>
              <p:spPr bwMode="gray">
                <a:xfrm>
                  <a:off x="112917" y="4730705"/>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sp>
              <p:nvSpPr>
                <p:cNvPr id="414" name="Freeform: Shape 413">
                  <a:extLst>
                    <a:ext uri="{FF2B5EF4-FFF2-40B4-BE49-F238E27FC236}">
                      <a16:creationId xmlns:a16="http://schemas.microsoft.com/office/drawing/2014/main" id="{EA1BC2F4-DC2E-57D0-C0C5-8B0D6AFEC1F3}"/>
                    </a:ext>
                  </a:extLst>
                </p:cNvPr>
                <p:cNvSpPr/>
                <p:nvPr/>
              </p:nvSpPr>
              <p:spPr bwMode="gray">
                <a:xfrm>
                  <a:off x="112917" y="4803221"/>
                  <a:ext cx="345400" cy="8632"/>
                </a:xfrm>
                <a:custGeom>
                  <a:avLst/>
                  <a:gdLst>
                    <a:gd name="connsiteX0" fmla="*/ 0 w 345400"/>
                    <a:gd name="connsiteY0" fmla="*/ 0 h 8632"/>
                    <a:gd name="connsiteX1" fmla="*/ 345401 w 345400"/>
                    <a:gd name="connsiteY1" fmla="*/ 0 h 8632"/>
                  </a:gdLst>
                  <a:ahLst/>
                  <a:cxnLst>
                    <a:cxn ang="0">
                      <a:pos x="connsiteX0" y="connsiteY0"/>
                    </a:cxn>
                    <a:cxn ang="0">
                      <a:pos x="connsiteX1" y="connsiteY1"/>
                    </a:cxn>
                  </a:cxnLst>
                  <a:rect l="l" t="t" r="r" b="b"/>
                  <a:pathLst>
                    <a:path w="345400" h="8632">
                      <a:moveTo>
                        <a:pt x="0" y="0"/>
                      </a:moveTo>
                      <a:lnTo>
                        <a:pt x="345401" y="0"/>
                      </a:lnTo>
                    </a:path>
                  </a:pathLst>
                </a:custGeom>
                <a:grpFill/>
                <a:ln w="6350" cap="rnd">
                  <a:solidFill>
                    <a:srgbClr val="0A4B8C"/>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a:ea typeface="+mn-ea"/>
                    <a:cs typeface="+mn-cs"/>
                  </a:endParaRPr>
                </a:p>
              </p:txBody>
            </p:sp>
          </p:grpSp>
        </p:grpSp>
      </p:grpSp>
      <p:sp>
        <p:nvSpPr>
          <p:cNvPr id="15" name="Rectangle: Rounded Corners 14">
            <a:extLst>
              <a:ext uri="{FF2B5EF4-FFF2-40B4-BE49-F238E27FC236}">
                <a16:creationId xmlns:a16="http://schemas.microsoft.com/office/drawing/2014/main" id="{779A5E24-86E4-1C19-742E-3DFD86907A75}"/>
              </a:ext>
            </a:extLst>
          </p:cNvPr>
          <p:cNvSpPr/>
          <p:nvPr/>
        </p:nvSpPr>
        <p:spPr bwMode="gray">
          <a:xfrm>
            <a:off x="2396793" y="2965978"/>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20%</a:t>
            </a:r>
          </a:p>
        </p:txBody>
      </p:sp>
      <p:sp>
        <p:nvSpPr>
          <p:cNvPr id="17" name="Rectangle: Rounded Corners 16">
            <a:extLst>
              <a:ext uri="{FF2B5EF4-FFF2-40B4-BE49-F238E27FC236}">
                <a16:creationId xmlns:a16="http://schemas.microsoft.com/office/drawing/2014/main" id="{92BF0B1E-FBFC-C305-A900-F8E43C56B59E}"/>
              </a:ext>
            </a:extLst>
          </p:cNvPr>
          <p:cNvSpPr/>
          <p:nvPr/>
        </p:nvSpPr>
        <p:spPr bwMode="gray">
          <a:xfrm>
            <a:off x="5811099" y="2949961"/>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60%</a:t>
            </a:r>
          </a:p>
        </p:txBody>
      </p:sp>
      <p:sp>
        <p:nvSpPr>
          <p:cNvPr id="19" name="Rectangle: Rounded Corners 18">
            <a:extLst>
              <a:ext uri="{FF2B5EF4-FFF2-40B4-BE49-F238E27FC236}">
                <a16:creationId xmlns:a16="http://schemas.microsoft.com/office/drawing/2014/main" id="{B1B1AB4F-D9EA-45A1-C267-DE73EAB06EDB}"/>
              </a:ext>
            </a:extLst>
          </p:cNvPr>
          <p:cNvSpPr/>
          <p:nvPr/>
        </p:nvSpPr>
        <p:spPr bwMode="gray">
          <a:xfrm>
            <a:off x="7917132" y="2895923"/>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57%</a:t>
            </a:r>
          </a:p>
        </p:txBody>
      </p:sp>
      <p:sp>
        <p:nvSpPr>
          <p:cNvPr id="24" name="Rectangle: Rounded Corners 23">
            <a:extLst>
              <a:ext uri="{FF2B5EF4-FFF2-40B4-BE49-F238E27FC236}">
                <a16:creationId xmlns:a16="http://schemas.microsoft.com/office/drawing/2014/main" id="{8549BA29-8237-EBB8-EDAD-CA3F994FF51A}"/>
              </a:ext>
            </a:extLst>
          </p:cNvPr>
          <p:cNvSpPr/>
          <p:nvPr/>
        </p:nvSpPr>
        <p:spPr bwMode="gray">
          <a:xfrm>
            <a:off x="9875292" y="2920803"/>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70%</a:t>
            </a:r>
          </a:p>
        </p:txBody>
      </p:sp>
      <p:sp>
        <p:nvSpPr>
          <p:cNvPr id="74" name="Rectangle: Rounded Corners 73">
            <a:extLst>
              <a:ext uri="{FF2B5EF4-FFF2-40B4-BE49-F238E27FC236}">
                <a16:creationId xmlns:a16="http://schemas.microsoft.com/office/drawing/2014/main" id="{C24D52AF-428F-6B49-7665-298A7B1EB373}"/>
              </a:ext>
            </a:extLst>
          </p:cNvPr>
          <p:cNvSpPr/>
          <p:nvPr/>
        </p:nvSpPr>
        <p:spPr bwMode="gray">
          <a:xfrm>
            <a:off x="294950" y="5596058"/>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67%</a:t>
            </a:r>
          </a:p>
        </p:txBody>
      </p:sp>
      <p:sp>
        <p:nvSpPr>
          <p:cNvPr id="79" name="Rectangle: Rounded Corners 78">
            <a:extLst>
              <a:ext uri="{FF2B5EF4-FFF2-40B4-BE49-F238E27FC236}">
                <a16:creationId xmlns:a16="http://schemas.microsoft.com/office/drawing/2014/main" id="{FE1CC92F-F237-4606-F54E-8E8C63FC515B}"/>
              </a:ext>
            </a:extLst>
          </p:cNvPr>
          <p:cNvSpPr/>
          <p:nvPr/>
        </p:nvSpPr>
        <p:spPr bwMode="gray">
          <a:xfrm>
            <a:off x="265926" y="1414295"/>
            <a:ext cx="472911" cy="227910"/>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33%</a:t>
            </a:r>
          </a:p>
        </p:txBody>
      </p:sp>
      <p:sp>
        <p:nvSpPr>
          <p:cNvPr id="81" name="Rectangle: Rounded Corners 80">
            <a:extLst>
              <a:ext uri="{FF2B5EF4-FFF2-40B4-BE49-F238E27FC236}">
                <a16:creationId xmlns:a16="http://schemas.microsoft.com/office/drawing/2014/main" id="{1079FD15-9B28-CE38-BA8B-ECE34887C693}"/>
              </a:ext>
            </a:extLst>
          </p:cNvPr>
          <p:cNvSpPr/>
          <p:nvPr/>
        </p:nvSpPr>
        <p:spPr bwMode="gray">
          <a:xfrm>
            <a:off x="9190385" y="6240766"/>
            <a:ext cx="1096245" cy="299189"/>
          </a:xfrm>
          <a:prstGeom prst="round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rPr>
              <a:t>Offshore Penetration</a:t>
            </a:r>
          </a:p>
        </p:txBody>
      </p:sp>
    </p:spTree>
    <p:extLst>
      <p:ext uri="{BB962C8B-B14F-4D97-AF65-F5344CB8AC3E}">
        <p14:creationId xmlns:p14="http://schemas.microsoft.com/office/powerpoint/2010/main" val="70911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532D662-A1E2-3A0A-4421-28FCBC7FB226}"/>
              </a:ext>
            </a:extLst>
          </p:cNvPr>
          <p:cNvGraphicFramePr>
            <a:graphicFrameLocks/>
          </p:cNvGraphicFramePr>
          <p:nvPr>
            <p:custDataLst>
              <p:tags r:id="rId1"/>
            </p:custDataLst>
            <p:extLst>
              <p:ext uri="{D42A27DB-BD31-4B8C-83A1-F6EECF244321}">
                <p14:modId xmlns:p14="http://schemas.microsoft.com/office/powerpoint/2010/main" val="406134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6" name="thinkcell data - do not delete" hidden="1">
                        <a:extLst>
                          <a:ext uri="{FF2B5EF4-FFF2-40B4-BE49-F238E27FC236}">
                            <a16:creationId xmlns:a16="http://schemas.microsoft.com/office/drawing/2014/main" id="{D532D662-A1E2-3A0A-4421-28FCBC7FB22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788E5B6-3EAA-E7D2-D30A-1F9566DC4EDF}"/>
              </a:ext>
            </a:extLst>
          </p:cNvPr>
          <p:cNvSpPr>
            <a:spLocks noGrp="1"/>
          </p:cNvSpPr>
          <p:nvPr>
            <p:ph type="title"/>
          </p:nvPr>
        </p:nvSpPr>
        <p:spPr/>
        <p:txBody>
          <a:bodyPr vert="horz" rIns="0"/>
          <a:lstStyle/>
          <a:p>
            <a:r>
              <a:rPr lang="en-US"/>
              <a:t>Executive Summary</a:t>
            </a:r>
            <a:br>
              <a:rPr lang="en-US"/>
            </a:br>
            <a:r>
              <a:rPr lang="en-US" sz="1600" b="0"/>
              <a:t>Path to finalizing contracts and kicking-off project</a:t>
            </a:r>
            <a:br>
              <a:rPr lang="en-US"/>
            </a:br>
            <a:endParaRPr lang="en-US"/>
          </a:p>
        </p:txBody>
      </p:sp>
      <p:sp>
        <p:nvSpPr>
          <p:cNvPr id="7" name="Rectangle 6">
            <a:extLst>
              <a:ext uri="{FF2B5EF4-FFF2-40B4-BE49-F238E27FC236}">
                <a16:creationId xmlns:a16="http://schemas.microsoft.com/office/drawing/2014/main" id="{10B42F0B-C167-1007-0366-E346FB0AC97E}"/>
              </a:ext>
            </a:extLst>
          </p:cNvPr>
          <p:cNvSpPr/>
          <p:nvPr/>
        </p:nvSpPr>
        <p:spPr bwMode="gray">
          <a:xfrm>
            <a:off x="587375" y="1457348"/>
            <a:ext cx="3474720" cy="4768838"/>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spcBef>
                <a:spcPts val="300"/>
              </a:spcBef>
            </a:pPr>
            <a:r>
              <a:rPr lang="en-US" sz="1600" b="1">
                <a:solidFill>
                  <a:schemeClr val="tx2"/>
                </a:solidFill>
              </a:rPr>
              <a:t>Situation: Progress &amp; Considerations</a:t>
            </a:r>
          </a:p>
          <a:p>
            <a:pPr>
              <a:spcBef>
                <a:spcPts val="300"/>
              </a:spcBef>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Operational Progress: </a:t>
            </a:r>
            <a:r>
              <a:rPr lang="en-US" sz="1400">
                <a:solidFill>
                  <a:schemeClr val="tx2"/>
                </a:solidFill>
              </a:rPr>
              <a:t>Planning is continuing to progress, preliminary discussions on Databricks observability/ security schema architecture work and </a:t>
            </a:r>
            <a:r>
              <a:rPr lang="en-US" sz="1400" err="1">
                <a:solidFill>
                  <a:schemeClr val="tx2"/>
                </a:solidFill>
              </a:rPr>
              <a:t>Lovelytics</a:t>
            </a:r>
            <a:r>
              <a:rPr lang="en-US" sz="1400">
                <a:solidFill>
                  <a:schemeClr val="tx2"/>
                </a:solidFill>
              </a:rPr>
              <a:t> Unity Catalog assessment in progress</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Opportunity for Alignment: </a:t>
            </a:r>
            <a:r>
              <a:rPr lang="en-US" sz="1400">
                <a:solidFill>
                  <a:schemeClr val="tx2"/>
                </a:solidFill>
              </a:rPr>
              <a:t>Signing the agreement will solidify funding alignment, resource allocation, and access, ensuring a smooth project progression</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Timeline Pressure: </a:t>
            </a:r>
            <a:r>
              <a:rPr lang="en-US" sz="1400">
                <a:solidFill>
                  <a:schemeClr val="tx2"/>
                </a:solidFill>
              </a:rPr>
              <a:t> Welcome Season Change Freeze expected to begin ~12/1, presenting a key timeline for landing data sources in Azure</a:t>
            </a:r>
            <a:endParaRPr lang="en-US" sz="1400" b="1">
              <a:solidFill>
                <a:schemeClr val="tx2"/>
              </a:solidFill>
            </a:endParaRPr>
          </a:p>
        </p:txBody>
      </p:sp>
      <p:sp>
        <p:nvSpPr>
          <p:cNvPr id="9" name="Rectangle 8">
            <a:extLst>
              <a:ext uri="{FF2B5EF4-FFF2-40B4-BE49-F238E27FC236}">
                <a16:creationId xmlns:a16="http://schemas.microsoft.com/office/drawing/2014/main" id="{1E07E018-B1FA-3C6D-263B-C71C86F6C48F}"/>
              </a:ext>
            </a:extLst>
          </p:cNvPr>
          <p:cNvSpPr/>
          <p:nvPr/>
        </p:nvSpPr>
        <p:spPr bwMode="gray">
          <a:xfrm>
            <a:off x="4364197" y="1457348"/>
            <a:ext cx="3474720" cy="4768838"/>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91440" rIns="91440" bIns="91440" rtlCol="0" anchor="t"/>
          <a:lstStyle/>
          <a:p>
            <a:pPr algn="ctr">
              <a:spcBef>
                <a:spcPts val="300"/>
              </a:spcBef>
            </a:pPr>
            <a:r>
              <a:rPr lang="en-US" sz="1600" b="1">
                <a:solidFill>
                  <a:schemeClr val="tx2"/>
                </a:solidFill>
              </a:rPr>
              <a:t>Solution: Alignment</a:t>
            </a:r>
          </a:p>
          <a:p>
            <a:pPr>
              <a:spcBef>
                <a:spcPts val="300"/>
              </a:spcBef>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Integrating Timelines: </a:t>
            </a:r>
            <a:r>
              <a:rPr lang="en-US" sz="1400">
                <a:solidFill>
                  <a:schemeClr val="tx2"/>
                </a:solidFill>
              </a:rPr>
              <a:t>Master schedule has been updated to incorporate feedback from KPMG, CVS, and </a:t>
            </a:r>
            <a:r>
              <a:rPr lang="en-US" sz="1400" err="1">
                <a:solidFill>
                  <a:schemeClr val="tx2"/>
                </a:solidFill>
              </a:rPr>
              <a:t>Scicom</a:t>
            </a:r>
            <a:r>
              <a:rPr lang="en-US" sz="1400">
                <a:solidFill>
                  <a:schemeClr val="tx2"/>
                </a:solidFill>
              </a:rPr>
              <a:t> and unify milestones</a:t>
            </a:r>
          </a:p>
          <a:p>
            <a:pPr marL="285750" indent="-285750">
              <a:spcBef>
                <a:spcPts val="300"/>
              </a:spcBef>
              <a:buFont typeface="Arial" panose="020B0604020202020204" pitchFamily="34" charset="0"/>
              <a:buChar char="•"/>
            </a:pPr>
            <a:endParaRPr lang="en-US" sz="1400" b="1">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Staffing &amp; Execution: </a:t>
            </a:r>
            <a:r>
              <a:rPr lang="en-US" sz="1400">
                <a:solidFill>
                  <a:schemeClr val="tx2"/>
                </a:solidFill>
              </a:rPr>
              <a:t>Define delivery roles and workstreams to be ready for kick-off once contracts are finalized</a:t>
            </a:r>
          </a:p>
          <a:p>
            <a:pPr marL="285750" indent="-285750">
              <a:spcBef>
                <a:spcPts val="300"/>
              </a:spcBef>
              <a:buFont typeface="Arial" panose="020B0604020202020204" pitchFamily="34" charset="0"/>
              <a:buChar char="•"/>
            </a:pPr>
            <a:endParaRPr lang="en-US" sz="1400">
              <a:solidFill>
                <a:schemeClr val="tx2"/>
              </a:solidFill>
            </a:endParaRPr>
          </a:p>
          <a:p>
            <a:pPr marL="285750" indent="-285750">
              <a:spcBef>
                <a:spcPts val="300"/>
              </a:spcBef>
              <a:buFont typeface="Arial" panose="020B0604020202020204" pitchFamily="34" charset="0"/>
              <a:buChar char="•"/>
            </a:pPr>
            <a:r>
              <a:rPr lang="en-US" sz="1400" b="1">
                <a:solidFill>
                  <a:schemeClr val="tx2"/>
                </a:solidFill>
              </a:rPr>
              <a:t>Structured Change Process: </a:t>
            </a:r>
            <a:r>
              <a:rPr lang="en-US" sz="1400">
                <a:solidFill>
                  <a:schemeClr val="tx2"/>
                </a:solidFill>
              </a:rPr>
              <a:t>Share clear mechanisms in place to handle potential future scope expansions or dataset priority changes</a:t>
            </a:r>
          </a:p>
          <a:p>
            <a:pPr>
              <a:spcBef>
                <a:spcPts val="300"/>
              </a:spcBef>
            </a:pPr>
            <a:endParaRPr lang="en-US" sz="1400" b="1">
              <a:solidFill>
                <a:schemeClr val="tx2"/>
              </a:solidFill>
            </a:endParaRPr>
          </a:p>
        </p:txBody>
      </p:sp>
      <p:sp>
        <p:nvSpPr>
          <p:cNvPr id="11" name="Rectangle 10">
            <a:extLst>
              <a:ext uri="{FF2B5EF4-FFF2-40B4-BE49-F238E27FC236}">
                <a16:creationId xmlns:a16="http://schemas.microsoft.com/office/drawing/2014/main" id="{B61992B4-812D-A26F-FB25-9B2C4194D483}"/>
              </a:ext>
            </a:extLst>
          </p:cNvPr>
          <p:cNvSpPr/>
          <p:nvPr/>
        </p:nvSpPr>
        <p:spPr bwMode="gray">
          <a:xfrm>
            <a:off x="8141018" y="1457348"/>
            <a:ext cx="3474720" cy="4768838"/>
          </a:xfrm>
          <a:prstGeom prst="rect">
            <a:avLst/>
          </a:prstGeom>
          <a:solidFill>
            <a:srgbClr val="00A78E">
              <a:alpha val="25000"/>
            </a:srgb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spcBef>
                <a:spcPts val="300"/>
              </a:spcBef>
            </a:pPr>
            <a:r>
              <a:rPr lang="en-US" sz="1600" b="1">
                <a:solidFill>
                  <a:schemeClr val="tx2"/>
                </a:solidFill>
              </a:rPr>
              <a:t>Next Steps: Finalize &amp; Kick-Off</a:t>
            </a:r>
          </a:p>
          <a:p>
            <a:pPr algn="ctr">
              <a:spcBef>
                <a:spcPts val="300"/>
              </a:spcBef>
            </a:pP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Finalize SOW: </a:t>
            </a:r>
            <a:r>
              <a:rPr lang="en-US" sz="1400">
                <a:solidFill>
                  <a:schemeClr val="tx2"/>
                </a:solidFill>
              </a:rPr>
              <a:t>Execute signatures to launch project, then schedule kick-off meeting</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Secure Funding Buffer: </a:t>
            </a:r>
            <a:r>
              <a:rPr lang="en-US" sz="1400">
                <a:solidFill>
                  <a:schemeClr val="tx2"/>
                </a:solidFill>
              </a:rPr>
              <a:t>Confirm $9.81M base (w/ 7% expenses) and approve 10% contingency request (to be discussed)</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Define Workstream A: </a:t>
            </a:r>
            <a:r>
              <a:rPr lang="en-US" sz="1400">
                <a:solidFill>
                  <a:schemeClr val="tx2"/>
                </a:solidFill>
              </a:rPr>
              <a:t>Clarify if scope includes automated templates or manual remediation of 200+ existing workspaces</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Azure Data Landing Plan: </a:t>
            </a:r>
            <a:r>
              <a:rPr lang="en-US" sz="1400">
                <a:solidFill>
                  <a:schemeClr val="tx2"/>
                </a:solidFill>
              </a:rPr>
              <a:t>Confirm target for which data sources land in Azure before Welcome Season change freeze</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Clarify Workstream B/C/D details: </a:t>
            </a:r>
            <a:r>
              <a:rPr lang="en-US" sz="1400">
                <a:solidFill>
                  <a:schemeClr val="tx2"/>
                </a:solidFill>
              </a:rPr>
              <a:t>Discuss schema, analytics scope, etc.</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Authorize VDI Access: </a:t>
            </a:r>
            <a:r>
              <a:rPr lang="en-US" sz="1400">
                <a:solidFill>
                  <a:schemeClr val="tx2"/>
                </a:solidFill>
              </a:rPr>
              <a:t>Approve provisional VDI access by mid-Oct. to avoid delays</a:t>
            </a:r>
            <a:endParaRPr lang="en-US" sz="1400" b="1">
              <a:solidFill>
                <a:schemeClr val="tx2"/>
              </a:solidFill>
            </a:endParaRPr>
          </a:p>
          <a:p>
            <a:pPr marL="171450" indent="-171450">
              <a:spcBef>
                <a:spcPts val="300"/>
              </a:spcBef>
              <a:buFont typeface="Arial" panose="020B0604020202020204" pitchFamily="34" charset="0"/>
              <a:buChar char="•"/>
            </a:pPr>
            <a:r>
              <a:rPr lang="en-US" sz="1400" b="1">
                <a:solidFill>
                  <a:schemeClr val="tx2"/>
                </a:solidFill>
              </a:rPr>
              <a:t>Confirm Workspaces: </a:t>
            </a:r>
            <a:r>
              <a:rPr lang="en-US" sz="1400">
                <a:solidFill>
                  <a:schemeClr val="tx2"/>
                </a:solidFill>
              </a:rPr>
              <a:t>Align stakeholder reports on active workspace readiness</a:t>
            </a:r>
          </a:p>
          <a:p>
            <a:pPr>
              <a:spcBef>
                <a:spcPts val="300"/>
              </a:spcBef>
            </a:pPr>
            <a:endParaRPr lang="en-US" sz="1050">
              <a:solidFill>
                <a:schemeClr val="tx2"/>
              </a:solidFill>
            </a:endParaRPr>
          </a:p>
        </p:txBody>
      </p:sp>
      <p:cxnSp>
        <p:nvCxnSpPr>
          <p:cNvPr id="13" name="Straight Connector 12">
            <a:extLst>
              <a:ext uri="{FF2B5EF4-FFF2-40B4-BE49-F238E27FC236}">
                <a16:creationId xmlns:a16="http://schemas.microsoft.com/office/drawing/2014/main" id="{5D2DD644-9E99-7B7C-6E88-F8F603A03488}"/>
              </a:ext>
            </a:extLst>
          </p:cNvPr>
          <p:cNvCxnSpPr>
            <a:cxnSpLocks/>
          </p:cNvCxnSpPr>
          <p:nvPr/>
        </p:nvCxnSpPr>
        <p:spPr>
          <a:xfrm>
            <a:off x="4204890" y="1773184"/>
            <a:ext cx="0" cy="4023360"/>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Arrow: Chevron 13">
            <a:extLst>
              <a:ext uri="{FF2B5EF4-FFF2-40B4-BE49-F238E27FC236}">
                <a16:creationId xmlns:a16="http://schemas.microsoft.com/office/drawing/2014/main" id="{FDF77F73-7021-22FF-2F54-5E28A14CC279}"/>
              </a:ext>
            </a:extLst>
          </p:cNvPr>
          <p:cNvSpPr/>
          <p:nvPr/>
        </p:nvSpPr>
        <p:spPr bwMode="gray">
          <a:xfrm>
            <a:off x="4075986" y="3876039"/>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nvGrpSpPr>
          <p:cNvPr id="16" name="Group 15">
            <a:extLst>
              <a:ext uri="{FF2B5EF4-FFF2-40B4-BE49-F238E27FC236}">
                <a16:creationId xmlns:a16="http://schemas.microsoft.com/office/drawing/2014/main" id="{3CFECF36-6EB4-EFE5-DB32-D0DBE0B8999B}"/>
              </a:ext>
            </a:extLst>
          </p:cNvPr>
          <p:cNvGrpSpPr/>
          <p:nvPr/>
        </p:nvGrpSpPr>
        <p:grpSpPr>
          <a:xfrm>
            <a:off x="7852808" y="1773184"/>
            <a:ext cx="274320" cy="4023360"/>
            <a:chOff x="4062096" y="2124074"/>
            <a:chExt cx="274320" cy="4023360"/>
          </a:xfrm>
        </p:grpSpPr>
        <p:cxnSp>
          <p:nvCxnSpPr>
            <p:cNvPr id="17" name="Straight Connector 16">
              <a:extLst>
                <a:ext uri="{FF2B5EF4-FFF2-40B4-BE49-F238E27FC236}">
                  <a16:creationId xmlns:a16="http://schemas.microsoft.com/office/drawing/2014/main" id="{8437B8D2-FC78-239C-2DE0-0F3934D053F7}"/>
                </a:ext>
              </a:extLst>
            </p:cNvPr>
            <p:cNvCxnSpPr>
              <a:cxnSpLocks/>
            </p:cNvCxnSpPr>
            <p:nvPr/>
          </p:nvCxnSpPr>
          <p:spPr>
            <a:xfrm>
              <a:off x="4191000" y="2124074"/>
              <a:ext cx="0" cy="4023360"/>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row: Chevron 17">
              <a:extLst>
                <a:ext uri="{FF2B5EF4-FFF2-40B4-BE49-F238E27FC236}">
                  <a16:creationId xmlns:a16="http://schemas.microsoft.com/office/drawing/2014/main" id="{8985D994-5BF4-F040-C1A3-3F8002569D4F}"/>
                </a:ext>
              </a:extLst>
            </p:cNvPr>
            <p:cNvSpPr/>
            <p:nvPr/>
          </p:nvSpPr>
          <p:spPr bwMode="gray">
            <a:xfrm>
              <a:off x="4062096" y="3952874"/>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spTree>
    <p:extLst>
      <p:ext uri="{BB962C8B-B14F-4D97-AF65-F5344CB8AC3E}">
        <p14:creationId xmlns:p14="http://schemas.microsoft.com/office/powerpoint/2010/main" val="61118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DBDED85-F93A-5CE3-5BE9-08F68D224712}"/>
              </a:ext>
            </a:extLst>
          </p:cNvPr>
          <p:cNvGraphicFramePr>
            <a:graphicFrameLocks/>
          </p:cNvGraphicFramePr>
          <p:nvPr>
            <p:custDataLst>
              <p:tags r:id="rId1"/>
            </p:custDataLst>
            <p:extLst>
              <p:ext uri="{D42A27DB-BD31-4B8C-83A1-F6EECF244321}">
                <p14:modId xmlns:p14="http://schemas.microsoft.com/office/powerpoint/2010/main" val="1405234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3DBDED85-F93A-5CE3-5BE9-08F68D2247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7A45DE79-7622-52E9-F380-7B62CC2E8C10}"/>
              </a:ext>
            </a:extLst>
          </p:cNvPr>
          <p:cNvSpPr>
            <a:spLocks noGrp="1"/>
          </p:cNvSpPr>
          <p:nvPr>
            <p:ph type="title"/>
          </p:nvPr>
        </p:nvSpPr>
        <p:spPr>
          <a:xfrm>
            <a:off x="557931" y="584200"/>
            <a:ext cx="6449044" cy="713232"/>
          </a:xfrm>
        </p:spPr>
        <p:txBody>
          <a:bodyPr vert="horz" rIns="0"/>
          <a:lstStyle/>
          <a:p>
            <a:r>
              <a:rPr lang="en-US"/>
              <a:t>1. Technical Approach &amp; Master Timeline</a:t>
            </a:r>
          </a:p>
        </p:txBody>
      </p:sp>
    </p:spTree>
    <p:extLst>
      <p:ext uri="{BB962C8B-B14F-4D97-AF65-F5344CB8AC3E}">
        <p14:creationId xmlns:p14="http://schemas.microsoft.com/office/powerpoint/2010/main" val="3884867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1AE503-273A-FC8B-FDD1-1C80397E539D}"/>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EF2D0947-2C18-B8F9-12B2-E6DE11C1AB2A}"/>
              </a:ext>
            </a:extLst>
          </p:cNvPr>
          <p:cNvGrpSpPr/>
          <p:nvPr/>
        </p:nvGrpSpPr>
        <p:grpSpPr>
          <a:xfrm>
            <a:off x="1697037" y="1689100"/>
            <a:ext cx="9959975" cy="449940"/>
            <a:chOff x="1682749" y="1689100"/>
            <a:chExt cx="9940764" cy="449940"/>
          </a:xfrm>
        </p:grpSpPr>
        <p:sp>
          <p:nvSpPr>
            <p:cNvPr id="25" name="Rectangle: Top Corners Rounded 24">
              <a:extLst>
                <a:ext uri="{FF2B5EF4-FFF2-40B4-BE49-F238E27FC236}">
                  <a16:creationId xmlns:a16="http://schemas.microsoft.com/office/drawing/2014/main" id="{96D42E92-8CFC-21CE-E60B-5A586406DEF2}"/>
                </a:ext>
              </a:extLst>
            </p:cNvPr>
            <p:cNvSpPr/>
            <p:nvPr/>
          </p:nvSpPr>
          <p:spPr bwMode="gray">
            <a:xfrm>
              <a:off x="1682749"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6" name="Rectangle: Top Corners Rounded 25">
              <a:extLst>
                <a:ext uri="{FF2B5EF4-FFF2-40B4-BE49-F238E27FC236}">
                  <a16:creationId xmlns:a16="http://schemas.microsoft.com/office/drawing/2014/main" id="{322DEDD7-42A4-F3BA-6546-874DB07D0F86}"/>
                </a:ext>
              </a:extLst>
            </p:cNvPr>
            <p:cNvSpPr/>
            <p:nvPr/>
          </p:nvSpPr>
          <p:spPr bwMode="gray">
            <a:xfrm>
              <a:off x="2512472"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7" name="Rectangle: Top Corners Rounded 26">
              <a:extLst>
                <a:ext uri="{FF2B5EF4-FFF2-40B4-BE49-F238E27FC236}">
                  <a16:creationId xmlns:a16="http://schemas.microsoft.com/office/drawing/2014/main" id="{743A34B7-489D-2CF5-2599-D5B04E79BDE2}"/>
                </a:ext>
              </a:extLst>
            </p:cNvPr>
            <p:cNvSpPr/>
            <p:nvPr/>
          </p:nvSpPr>
          <p:spPr bwMode="gray">
            <a:xfrm>
              <a:off x="3342195"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8" name="Rectangle: Top Corners Rounded 27">
              <a:extLst>
                <a:ext uri="{FF2B5EF4-FFF2-40B4-BE49-F238E27FC236}">
                  <a16:creationId xmlns:a16="http://schemas.microsoft.com/office/drawing/2014/main" id="{350108F2-3A06-4B9B-74A0-31358F58E893}"/>
                </a:ext>
              </a:extLst>
            </p:cNvPr>
            <p:cNvSpPr/>
            <p:nvPr/>
          </p:nvSpPr>
          <p:spPr bwMode="gray">
            <a:xfrm>
              <a:off x="4171918"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9" name="Rectangle: Top Corners Rounded 28">
              <a:extLst>
                <a:ext uri="{FF2B5EF4-FFF2-40B4-BE49-F238E27FC236}">
                  <a16:creationId xmlns:a16="http://schemas.microsoft.com/office/drawing/2014/main" id="{FE785209-EBB7-AF4E-2E23-D0ED7A68F93E}"/>
                </a:ext>
              </a:extLst>
            </p:cNvPr>
            <p:cNvSpPr/>
            <p:nvPr/>
          </p:nvSpPr>
          <p:spPr bwMode="gray">
            <a:xfrm>
              <a:off x="5001641"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0" name="Rectangle: Top Corners Rounded 29">
              <a:extLst>
                <a:ext uri="{FF2B5EF4-FFF2-40B4-BE49-F238E27FC236}">
                  <a16:creationId xmlns:a16="http://schemas.microsoft.com/office/drawing/2014/main" id="{79A5D139-5AF5-FA2E-A062-D4186F230B0C}"/>
                </a:ext>
              </a:extLst>
            </p:cNvPr>
            <p:cNvSpPr/>
            <p:nvPr/>
          </p:nvSpPr>
          <p:spPr bwMode="gray">
            <a:xfrm>
              <a:off x="5831364"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1" name="Rectangle: Top Corners Rounded 30">
              <a:extLst>
                <a:ext uri="{FF2B5EF4-FFF2-40B4-BE49-F238E27FC236}">
                  <a16:creationId xmlns:a16="http://schemas.microsoft.com/office/drawing/2014/main" id="{BADA6B7B-B376-E3E0-8B89-14CE3A300B75}"/>
                </a:ext>
              </a:extLst>
            </p:cNvPr>
            <p:cNvSpPr/>
            <p:nvPr/>
          </p:nvSpPr>
          <p:spPr bwMode="gray">
            <a:xfrm>
              <a:off x="6661087"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2" name="Rectangle: Top Corners Rounded 31">
              <a:extLst>
                <a:ext uri="{FF2B5EF4-FFF2-40B4-BE49-F238E27FC236}">
                  <a16:creationId xmlns:a16="http://schemas.microsoft.com/office/drawing/2014/main" id="{DB0FD91C-1559-42D5-F813-96FC82A5E66E}"/>
                </a:ext>
              </a:extLst>
            </p:cNvPr>
            <p:cNvSpPr/>
            <p:nvPr/>
          </p:nvSpPr>
          <p:spPr bwMode="gray">
            <a:xfrm>
              <a:off x="7490810"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3" name="Rectangle: Top Corners Rounded 32">
              <a:extLst>
                <a:ext uri="{FF2B5EF4-FFF2-40B4-BE49-F238E27FC236}">
                  <a16:creationId xmlns:a16="http://schemas.microsoft.com/office/drawing/2014/main" id="{8B59048C-87F8-C9BF-29F4-5DABEE789594}"/>
                </a:ext>
              </a:extLst>
            </p:cNvPr>
            <p:cNvSpPr/>
            <p:nvPr/>
          </p:nvSpPr>
          <p:spPr bwMode="gray">
            <a:xfrm>
              <a:off x="8320533"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4" name="Rectangle: Top Corners Rounded 33">
              <a:extLst>
                <a:ext uri="{FF2B5EF4-FFF2-40B4-BE49-F238E27FC236}">
                  <a16:creationId xmlns:a16="http://schemas.microsoft.com/office/drawing/2014/main" id="{A04EF954-F78E-7006-4B6D-09F83652A9B9}"/>
                </a:ext>
              </a:extLst>
            </p:cNvPr>
            <p:cNvSpPr/>
            <p:nvPr/>
          </p:nvSpPr>
          <p:spPr bwMode="gray">
            <a:xfrm>
              <a:off x="9150256"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5" name="Rectangle: Top Corners Rounded 34">
              <a:extLst>
                <a:ext uri="{FF2B5EF4-FFF2-40B4-BE49-F238E27FC236}">
                  <a16:creationId xmlns:a16="http://schemas.microsoft.com/office/drawing/2014/main" id="{5F33286F-43F2-F689-A392-EFCCEAD57422}"/>
                </a:ext>
              </a:extLst>
            </p:cNvPr>
            <p:cNvSpPr/>
            <p:nvPr/>
          </p:nvSpPr>
          <p:spPr bwMode="gray">
            <a:xfrm>
              <a:off x="9979979"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36" name="Rectangle: Top Corners Rounded 35">
              <a:extLst>
                <a:ext uri="{FF2B5EF4-FFF2-40B4-BE49-F238E27FC236}">
                  <a16:creationId xmlns:a16="http://schemas.microsoft.com/office/drawing/2014/main" id="{38658892-1818-E1A6-27E8-A04BD5031C6D}"/>
                </a:ext>
              </a:extLst>
            </p:cNvPr>
            <p:cNvSpPr/>
            <p:nvPr/>
          </p:nvSpPr>
          <p:spPr bwMode="gray">
            <a:xfrm>
              <a:off x="10809697" y="1689100"/>
              <a:ext cx="813816" cy="449940"/>
            </a:xfrm>
            <a:prstGeom prst="round2SameRect">
              <a:avLst/>
            </a:prstGeom>
            <a:gradFill>
              <a:gsLst>
                <a:gs pos="0">
                  <a:srgbClr val="0A4B8C"/>
                </a:gs>
                <a:gs pos="100000">
                  <a:srgbClr val="0B315E"/>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aphicFrame>
        <p:nvGraphicFramePr>
          <p:cNvPr id="12" name="Table 11">
            <a:extLst>
              <a:ext uri="{FF2B5EF4-FFF2-40B4-BE49-F238E27FC236}">
                <a16:creationId xmlns:a16="http://schemas.microsoft.com/office/drawing/2014/main" id="{5D1D4545-EDB5-83C9-3404-6CDB1303EB42}"/>
              </a:ext>
            </a:extLst>
          </p:cNvPr>
          <p:cNvGraphicFramePr>
            <a:graphicFrameLocks noGrp="1"/>
          </p:cNvGraphicFramePr>
          <p:nvPr>
            <p:extLst>
              <p:ext uri="{D42A27DB-BD31-4B8C-83A1-F6EECF244321}">
                <p14:modId xmlns:p14="http://schemas.microsoft.com/office/powerpoint/2010/main" val="2750625123"/>
              </p:ext>
            </p:extLst>
          </p:nvPr>
        </p:nvGraphicFramePr>
        <p:xfrm>
          <a:off x="520698" y="1689100"/>
          <a:ext cx="11125202" cy="4374238"/>
        </p:xfrm>
        <a:graphic>
          <a:graphicData uri="http://schemas.openxmlformats.org/drawingml/2006/table">
            <a:tbl>
              <a:tblPr firstRow="1" bandRow="1">
                <a:tableStyleId>{5C22544A-7EE6-4342-B048-85BDC9FD1C3A}</a:tableStyleId>
              </a:tblPr>
              <a:tblGrid>
                <a:gridCol w="1164770">
                  <a:extLst>
                    <a:ext uri="{9D8B030D-6E8A-4147-A177-3AD203B41FA5}">
                      <a16:colId xmlns:a16="http://schemas.microsoft.com/office/drawing/2014/main" val="3286543752"/>
                    </a:ext>
                  </a:extLst>
                </a:gridCol>
                <a:gridCol w="819604">
                  <a:extLst>
                    <a:ext uri="{9D8B030D-6E8A-4147-A177-3AD203B41FA5}">
                      <a16:colId xmlns:a16="http://schemas.microsoft.com/office/drawing/2014/main" val="957957534"/>
                    </a:ext>
                  </a:extLst>
                </a:gridCol>
                <a:gridCol w="831850">
                  <a:extLst>
                    <a:ext uri="{9D8B030D-6E8A-4147-A177-3AD203B41FA5}">
                      <a16:colId xmlns:a16="http://schemas.microsoft.com/office/drawing/2014/main" val="2788516395"/>
                    </a:ext>
                  </a:extLst>
                </a:gridCol>
                <a:gridCol w="831850">
                  <a:extLst>
                    <a:ext uri="{9D8B030D-6E8A-4147-A177-3AD203B41FA5}">
                      <a16:colId xmlns:a16="http://schemas.microsoft.com/office/drawing/2014/main" val="3494450614"/>
                    </a:ext>
                  </a:extLst>
                </a:gridCol>
                <a:gridCol w="831850">
                  <a:extLst>
                    <a:ext uri="{9D8B030D-6E8A-4147-A177-3AD203B41FA5}">
                      <a16:colId xmlns:a16="http://schemas.microsoft.com/office/drawing/2014/main" val="271569658"/>
                    </a:ext>
                  </a:extLst>
                </a:gridCol>
                <a:gridCol w="831850">
                  <a:extLst>
                    <a:ext uri="{9D8B030D-6E8A-4147-A177-3AD203B41FA5}">
                      <a16:colId xmlns:a16="http://schemas.microsoft.com/office/drawing/2014/main" val="1191384392"/>
                    </a:ext>
                  </a:extLst>
                </a:gridCol>
                <a:gridCol w="831850">
                  <a:extLst>
                    <a:ext uri="{9D8B030D-6E8A-4147-A177-3AD203B41FA5}">
                      <a16:colId xmlns:a16="http://schemas.microsoft.com/office/drawing/2014/main" val="2765716329"/>
                    </a:ext>
                  </a:extLst>
                </a:gridCol>
                <a:gridCol w="828675">
                  <a:extLst>
                    <a:ext uri="{9D8B030D-6E8A-4147-A177-3AD203B41FA5}">
                      <a16:colId xmlns:a16="http://schemas.microsoft.com/office/drawing/2014/main" val="3777387760"/>
                    </a:ext>
                  </a:extLst>
                </a:gridCol>
                <a:gridCol w="835025">
                  <a:extLst>
                    <a:ext uri="{9D8B030D-6E8A-4147-A177-3AD203B41FA5}">
                      <a16:colId xmlns:a16="http://schemas.microsoft.com/office/drawing/2014/main" val="2634850530"/>
                    </a:ext>
                  </a:extLst>
                </a:gridCol>
                <a:gridCol w="828675">
                  <a:extLst>
                    <a:ext uri="{9D8B030D-6E8A-4147-A177-3AD203B41FA5}">
                      <a16:colId xmlns:a16="http://schemas.microsoft.com/office/drawing/2014/main" val="548469210"/>
                    </a:ext>
                  </a:extLst>
                </a:gridCol>
                <a:gridCol w="831850">
                  <a:extLst>
                    <a:ext uri="{9D8B030D-6E8A-4147-A177-3AD203B41FA5}">
                      <a16:colId xmlns:a16="http://schemas.microsoft.com/office/drawing/2014/main" val="1067487075"/>
                    </a:ext>
                  </a:extLst>
                </a:gridCol>
                <a:gridCol w="831850">
                  <a:extLst>
                    <a:ext uri="{9D8B030D-6E8A-4147-A177-3AD203B41FA5}">
                      <a16:colId xmlns:a16="http://schemas.microsoft.com/office/drawing/2014/main" val="1880836460"/>
                    </a:ext>
                  </a:extLst>
                </a:gridCol>
                <a:gridCol w="825503">
                  <a:extLst>
                    <a:ext uri="{9D8B030D-6E8A-4147-A177-3AD203B41FA5}">
                      <a16:colId xmlns:a16="http://schemas.microsoft.com/office/drawing/2014/main" val="2065207213"/>
                    </a:ext>
                  </a:extLst>
                </a:gridCol>
              </a:tblGrid>
              <a:tr h="459467">
                <a:tc>
                  <a:txBody>
                    <a:bodyPr/>
                    <a:lstStyle/>
                    <a:p>
                      <a:r>
                        <a:rPr lang="en-US" sz="1200" b="1">
                          <a:solidFill>
                            <a:schemeClr val="tx1"/>
                          </a:solidFill>
                        </a:rPr>
                        <a:t>Workstreams</a:t>
                      </a:r>
                    </a:p>
                  </a:txBody>
                  <a:tcPr marR="0" anchor="ctr">
                    <a:lnR w="12700" cmpd="sng">
                      <a:noFill/>
                    </a:lnR>
                    <a:lnB w="9525" cap="flat" cmpd="sng" algn="ctr">
                      <a:noFill/>
                      <a:prstDash val="sysDash"/>
                      <a:round/>
                      <a:headEnd type="none" w="med" len="med"/>
                      <a:tailEnd type="none" w="med" len="med"/>
                    </a:lnB>
                    <a:solidFill>
                      <a:schemeClr val="bg1"/>
                    </a:solidFill>
                  </a:tcPr>
                </a:tc>
                <a:tc>
                  <a:txBody>
                    <a:bodyPr/>
                    <a:lstStyle/>
                    <a:p>
                      <a:pPr algn="ctr"/>
                      <a:r>
                        <a:rPr lang="en-US" sz="1100">
                          <a:solidFill>
                            <a:schemeClr val="bg1"/>
                          </a:solidFill>
                        </a:rPr>
                        <a:t>Oct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Nov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Dec ‘26</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Jan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Feb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Mar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Apr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May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Jun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Jul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Aug ‘27</a:t>
                      </a:r>
                    </a:p>
                  </a:txBody>
                  <a:tcPr anchor="ctr">
                    <a:lnL w="12700" cmpd="sng">
                      <a:noFill/>
                    </a:lnL>
                    <a:lnR w="12700" cmpd="sng">
                      <a:noFill/>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a:solidFill>
                            <a:schemeClr val="bg1"/>
                          </a:solidFill>
                        </a:rPr>
                        <a:t>Sep‘27</a:t>
                      </a:r>
                    </a:p>
                  </a:txBody>
                  <a:tcPr anchor="ctr">
                    <a:lnL w="12700" cmpd="sng">
                      <a:noFill/>
                    </a:lnL>
                    <a:lnR w="6350" cap="flat" cmpd="sng" algn="ctr">
                      <a:noFill/>
                      <a:prstDash val="sysDash"/>
                      <a:round/>
                      <a:headEnd type="none" w="med" len="med"/>
                      <a:tailEnd type="none" w="med" len="med"/>
                    </a:lnR>
                    <a:lnT w="12700" cmpd="sng">
                      <a:noFill/>
                    </a:lnT>
                    <a:lnB w="9525"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0541297"/>
                  </a:ext>
                </a:extLst>
              </a:tr>
              <a:tr h="559253">
                <a:tc>
                  <a:txBody>
                    <a:bodyPr/>
                    <a:lstStyle/>
                    <a:p>
                      <a:pPr algn="ctr"/>
                      <a:r>
                        <a:rPr lang="en-US" sz="1200" b="1">
                          <a:solidFill>
                            <a:schemeClr val="bg1"/>
                          </a:solidFill>
                        </a:rPr>
                        <a:t>0</a:t>
                      </a:r>
                    </a:p>
                  </a:txBody>
                  <a:tcPr anchor="ctr">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solidFill>
                      <a:srgbClr val="0A4B8C"/>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9525" cap="flat" cmpd="sng" algn="ctr">
                      <a:no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extLst>
                  <a:ext uri="{0D108BD9-81ED-4DB2-BD59-A6C34878D82A}">
                    <a16:rowId xmlns:a16="http://schemas.microsoft.com/office/drawing/2014/main" val="403347737"/>
                  </a:ext>
                </a:extLst>
              </a:tr>
              <a:tr h="559253">
                <a:tc>
                  <a:txBody>
                    <a:bodyPr/>
                    <a:lstStyle/>
                    <a:p>
                      <a:pPr algn="ctr"/>
                      <a:r>
                        <a:rPr lang="en-US" sz="1200" b="1" dirty="0">
                          <a:solidFill>
                            <a:schemeClr val="bg1"/>
                          </a:solidFill>
                        </a:rPr>
                        <a:t>A</a:t>
                      </a:r>
                    </a:p>
                  </a:txBody>
                  <a:tcPr anchor="ctr">
                    <a:lnR w="9525" cap="flat" cmpd="sng" algn="ctr">
                      <a:solidFill>
                        <a:srgbClr val="868686"/>
                      </a:solidFill>
                      <a:prstDash val="sysDash"/>
                      <a:round/>
                      <a:headEnd type="none" w="med" len="med"/>
                      <a:tailEnd type="none" w="med" len="med"/>
                    </a:lnR>
                    <a:solidFill>
                      <a:srgbClr val="267AC0"/>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extLst>
                  <a:ext uri="{0D108BD9-81ED-4DB2-BD59-A6C34878D82A}">
                    <a16:rowId xmlns:a16="http://schemas.microsoft.com/office/drawing/2014/main" val="2459435062"/>
                  </a:ext>
                </a:extLst>
              </a:tr>
              <a:tr h="559253">
                <a:tc>
                  <a:txBody>
                    <a:bodyPr/>
                    <a:lstStyle/>
                    <a:p>
                      <a:pPr algn="ctr"/>
                      <a:r>
                        <a:rPr lang="en-US" sz="1200" b="1">
                          <a:solidFill>
                            <a:schemeClr val="bg1"/>
                          </a:solidFill>
                        </a:rPr>
                        <a:t>B</a:t>
                      </a:r>
                    </a:p>
                  </a:txBody>
                  <a:tcPr anchor="ctr">
                    <a:lnR w="9525" cap="flat" cmpd="sng" algn="ctr">
                      <a:solidFill>
                        <a:srgbClr val="868686"/>
                      </a:solidFill>
                      <a:prstDash val="sysDash"/>
                      <a:round/>
                      <a:headEnd type="none" w="med" len="med"/>
                      <a:tailEnd type="none" w="med" len="med"/>
                    </a:lnR>
                    <a:solidFill>
                      <a:srgbClr val="0B315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267AC0"/>
                      </a:solidFill>
                      <a:prstDash val="sysDash"/>
                      <a:round/>
                      <a:headEnd type="none" w="med" len="med"/>
                      <a:tailEnd type="none" w="med" len="med"/>
                    </a:lnT>
                    <a:lnB w="6350" cap="flat" cmpd="sng" algn="ctr">
                      <a:solidFill>
                        <a:srgbClr val="0B315E"/>
                      </a:solidFill>
                      <a:prstDash val="sysDash"/>
                      <a:round/>
                      <a:headEnd type="none" w="med" len="med"/>
                      <a:tailEnd type="none" w="med" len="med"/>
                    </a:lnB>
                    <a:solidFill>
                      <a:schemeClr val="bg1"/>
                    </a:solidFill>
                  </a:tcPr>
                </a:tc>
                <a:extLst>
                  <a:ext uri="{0D108BD9-81ED-4DB2-BD59-A6C34878D82A}">
                    <a16:rowId xmlns:a16="http://schemas.microsoft.com/office/drawing/2014/main" val="3818805527"/>
                  </a:ext>
                </a:extLst>
              </a:tr>
              <a:tr h="559253">
                <a:tc>
                  <a:txBody>
                    <a:bodyPr/>
                    <a:lstStyle/>
                    <a:p>
                      <a:pPr algn="ctr"/>
                      <a:r>
                        <a:rPr lang="en-US" sz="1200" b="1">
                          <a:solidFill>
                            <a:schemeClr val="bg1"/>
                          </a:solidFill>
                        </a:rPr>
                        <a:t>C</a:t>
                      </a:r>
                    </a:p>
                  </a:txBody>
                  <a:tcPr anchor="ctr">
                    <a:lnR w="9525" cap="flat" cmpd="sng" algn="ctr">
                      <a:solidFill>
                        <a:srgbClr val="868686"/>
                      </a:solidFill>
                      <a:prstDash val="sysDash"/>
                      <a:round/>
                      <a:headEnd type="none" w="med" len="med"/>
                      <a:tailEnd type="none" w="med" len="med"/>
                    </a:lnR>
                    <a:solidFill>
                      <a:srgbClr val="00787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B315E"/>
                      </a:solidFill>
                      <a:prstDash val="sysDash"/>
                      <a:round/>
                      <a:headEnd type="none" w="med" len="med"/>
                      <a:tailEnd type="none" w="med" len="med"/>
                    </a:lnT>
                    <a:lnB w="6350" cap="flat" cmpd="sng" algn="ctr">
                      <a:solidFill>
                        <a:srgbClr val="00787E"/>
                      </a:solidFill>
                      <a:prstDash val="sysDash"/>
                      <a:round/>
                      <a:headEnd type="none" w="med" len="med"/>
                      <a:tailEnd type="none" w="med" len="med"/>
                    </a:lnB>
                    <a:solidFill>
                      <a:schemeClr val="bg1"/>
                    </a:solidFill>
                  </a:tcPr>
                </a:tc>
                <a:extLst>
                  <a:ext uri="{0D108BD9-81ED-4DB2-BD59-A6C34878D82A}">
                    <a16:rowId xmlns:a16="http://schemas.microsoft.com/office/drawing/2014/main" val="4061676027"/>
                  </a:ext>
                </a:extLst>
              </a:tr>
              <a:tr h="559253">
                <a:tc>
                  <a:txBody>
                    <a:bodyPr/>
                    <a:lstStyle/>
                    <a:p>
                      <a:pPr algn="ctr"/>
                      <a:r>
                        <a:rPr lang="en-US" sz="1200" b="1">
                          <a:solidFill>
                            <a:schemeClr val="bg1"/>
                          </a:solidFill>
                        </a:rPr>
                        <a:t>D</a:t>
                      </a:r>
                    </a:p>
                  </a:txBody>
                  <a:tcPr anchor="ctr">
                    <a:lnR w="9525" cap="flat" cmpd="sng" algn="ctr">
                      <a:solidFill>
                        <a:srgbClr val="868686"/>
                      </a:solidFill>
                      <a:prstDash val="sysDash"/>
                      <a:round/>
                      <a:headEnd type="none" w="med" len="med"/>
                      <a:tailEnd type="none" w="med" len="med"/>
                    </a:lnR>
                    <a:solidFill>
                      <a:srgbClr val="00A78E"/>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787E"/>
                      </a:solidFill>
                      <a:prstDash val="sysDash"/>
                      <a:round/>
                      <a:headEnd type="none" w="med" len="med"/>
                      <a:tailEnd type="none" w="med" len="med"/>
                    </a:lnT>
                    <a:lnB w="6350" cap="flat" cmpd="sng" algn="ctr">
                      <a:solidFill>
                        <a:srgbClr val="00A78E"/>
                      </a:solidFill>
                      <a:prstDash val="sysDash"/>
                      <a:round/>
                      <a:headEnd type="none" w="med" len="med"/>
                      <a:tailEnd type="none" w="med" len="med"/>
                    </a:lnB>
                    <a:solidFill>
                      <a:schemeClr val="bg1"/>
                    </a:solidFill>
                  </a:tcPr>
                </a:tc>
                <a:extLst>
                  <a:ext uri="{0D108BD9-81ED-4DB2-BD59-A6C34878D82A}">
                    <a16:rowId xmlns:a16="http://schemas.microsoft.com/office/drawing/2014/main" val="842420145"/>
                  </a:ext>
                </a:extLst>
              </a:tr>
              <a:tr h="559253">
                <a:tc>
                  <a:txBody>
                    <a:bodyPr/>
                    <a:lstStyle/>
                    <a:p>
                      <a:pPr algn="ctr"/>
                      <a:r>
                        <a:rPr lang="en-US" sz="1200" b="1">
                          <a:solidFill>
                            <a:schemeClr val="bg1"/>
                          </a:solidFill>
                        </a:rPr>
                        <a:t>E</a:t>
                      </a:r>
                    </a:p>
                  </a:txBody>
                  <a:tcPr anchor="ctr">
                    <a:lnR w="9525" cap="flat" cmpd="sng" algn="ctr">
                      <a:solidFill>
                        <a:srgbClr val="868686"/>
                      </a:solidFill>
                      <a:prstDash val="sysDash"/>
                      <a:round/>
                      <a:headEnd type="none" w="med" len="med"/>
                      <a:tailEnd type="none" w="med" len="med"/>
                    </a:lnR>
                    <a:solidFill>
                      <a:srgbClr val="0A4B8C"/>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0A78E"/>
                      </a:solidFill>
                      <a:prstDash val="sysDash"/>
                      <a:round/>
                      <a:headEnd type="none" w="med" len="med"/>
                      <a:tailEnd type="none" w="med" len="med"/>
                    </a:lnT>
                    <a:lnB w="6350" cap="flat" cmpd="sng" algn="ctr">
                      <a:solidFill>
                        <a:srgbClr val="0A4B8C"/>
                      </a:solidFill>
                      <a:prstDash val="sysDash"/>
                      <a:round/>
                      <a:headEnd type="none" w="med" len="med"/>
                      <a:tailEnd type="none" w="med" len="med"/>
                    </a:lnB>
                    <a:solidFill>
                      <a:schemeClr val="bg1"/>
                    </a:solidFill>
                  </a:tcPr>
                </a:tc>
                <a:extLst>
                  <a:ext uri="{0D108BD9-81ED-4DB2-BD59-A6C34878D82A}">
                    <a16:rowId xmlns:a16="http://schemas.microsoft.com/office/drawing/2014/main" val="2116123144"/>
                  </a:ext>
                </a:extLst>
              </a:tr>
              <a:tr h="559253">
                <a:tc>
                  <a:txBody>
                    <a:bodyPr/>
                    <a:lstStyle/>
                    <a:p>
                      <a:pPr algn="ctr"/>
                      <a:r>
                        <a:rPr lang="en-US" sz="1200" b="1">
                          <a:solidFill>
                            <a:schemeClr val="bg1"/>
                          </a:solidFill>
                        </a:rPr>
                        <a:t>F</a:t>
                      </a:r>
                    </a:p>
                  </a:txBody>
                  <a:tcPr anchor="ctr">
                    <a:lnR w="9525" cap="flat" cmpd="sng" algn="ctr">
                      <a:solidFill>
                        <a:srgbClr val="868686"/>
                      </a:solidFill>
                      <a:prstDash val="sysDash"/>
                      <a:round/>
                      <a:headEnd type="none" w="med" len="med"/>
                      <a:tailEnd type="none" w="med" len="med"/>
                    </a:lnR>
                    <a:solidFill>
                      <a:srgbClr val="267AC0"/>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rgbClr val="E9E9E9"/>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tc>
                  <a:txBody>
                    <a:bodyPr/>
                    <a:lstStyle/>
                    <a:p>
                      <a:endParaRPr lang="en-US" sz="1000" dirty="0"/>
                    </a:p>
                  </a:txBody>
                  <a:tcPr>
                    <a:lnL w="9525" cap="flat" cmpd="sng" algn="ctr">
                      <a:solidFill>
                        <a:srgbClr val="868686"/>
                      </a:solidFill>
                      <a:prstDash val="sysDash"/>
                      <a:round/>
                      <a:headEnd type="none" w="med" len="med"/>
                      <a:tailEnd type="none" w="med" len="med"/>
                    </a:lnL>
                    <a:lnR w="9525" cap="flat" cmpd="sng" algn="ctr">
                      <a:solidFill>
                        <a:srgbClr val="868686"/>
                      </a:solidFill>
                      <a:prstDash val="sysDash"/>
                      <a:round/>
                      <a:headEnd type="none" w="med" len="med"/>
                      <a:tailEnd type="none" w="med" len="med"/>
                    </a:lnR>
                    <a:lnT w="6350" cap="flat" cmpd="sng" algn="ctr">
                      <a:solidFill>
                        <a:srgbClr val="0A4B8C"/>
                      </a:solidFill>
                      <a:prstDash val="sysDash"/>
                      <a:round/>
                      <a:headEnd type="none" w="med" len="med"/>
                      <a:tailEnd type="none" w="med" len="med"/>
                    </a:lnT>
                    <a:lnB w="6350" cap="flat" cmpd="sng" algn="ctr">
                      <a:solidFill>
                        <a:srgbClr val="267AC0"/>
                      </a:solidFill>
                      <a:prstDash val="sysDash"/>
                      <a:round/>
                      <a:headEnd type="none" w="med" len="med"/>
                      <a:tailEnd type="none" w="med" len="med"/>
                    </a:lnB>
                    <a:solidFill>
                      <a:schemeClr val="bg1"/>
                    </a:solidFill>
                  </a:tcPr>
                </a:tc>
                <a:extLst>
                  <a:ext uri="{0D108BD9-81ED-4DB2-BD59-A6C34878D82A}">
                    <a16:rowId xmlns:a16="http://schemas.microsoft.com/office/drawing/2014/main" val="3676472609"/>
                  </a:ext>
                </a:extLst>
              </a:tr>
            </a:tbl>
          </a:graphicData>
        </a:graphic>
      </p:graphicFrame>
      <p:sp>
        <p:nvSpPr>
          <p:cNvPr id="6" name="Text Placeholder 5">
            <a:extLst>
              <a:ext uri="{FF2B5EF4-FFF2-40B4-BE49-F238E27FC236}">
                <a16:creationId xmlns:a16="http://schemas.microsoft.com/office/drawing/2014/main" id="{712F5BCE-80D2-04A2-A54F-659E0E1F9F6A}"/>
              </a:ext>
            </a:extLst>
          </p:cNvPr>
          <p:cNvSpPr>
            <a:spLocks noGrp="1"/>
          </p:cNvSpPr>
          <p:nvPr>
            <p:ph type="body" sz="quarter" idx="10"/>
          </p:nvPr>
        </p:nvSpPr>
        <p:spPr/>
        <p:txBody>
          <a:bodyPr/>
          <a:lstStyle/>
          <a:p>
            <a:r>
              <a:rPr lang="en-US" sz="2800" kern="0">
                <a:solidFill>
                  <a:srgbClr val="FFFFFF"/>
                </a:solidFill>
                <a:cs typeface="CVS Health Sans"/>
              </a:rPr>
              <a:t>Revised Timeline</a:t>
            </a:r>
            <a:endParaRPr lang="en-US" sz="1600" b="0" kern="0">
              <a:solidFill>
                <a:srgbClr val="FF0000"/>
              </a:solidFill>
              <a:highlight>
                <a:srgbClr val="FFFF00"/>
              </a:highlight>
              <a:cs typeface="CVS Health Sans"/>
            </a:endParaRPr>
          </a:p>
        </p:txBody>
      </p:sp>
      <p:cxnSp>
        <p:nvCxnSpPr>
          <p:cNvPr id="16" name="Straight Connector 15">
            <a:extLst>
              <a:ext uri="{FF2B5EF4-FFF2-40B4-BE49-F238E27FC236}">
                <a16:creationId xmlns:a16="http://schemas.microsoft.com/office/drawing/2014/main" id="{BA5548CF-7676-3FEB-F1E9-120CF36652BA}"/>
              </a:ext>
            </a:extLst>
          </p:cNvPr>
          <p:cNvCxnSpPr>
            <a:cxnSpLocks/>
          </p:cNvCxnSpPr>
          <p:nvPr/>
        </p:nvCxnSpPr>
        <p:spPr>
          <a:xfrm>
            <a:off x="531813" y="27105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226225-1EA8-2685-2AEF-F44F5D6DE7F9}"/>
              </a:ext>
            </a:extLst>
          </p:cNvPr>
          <p:cNvCxnSpPr>
            <a:cxnSpLocks/>
          </p:cNvCxnSpPr>
          <p:nvPr/>
        </p:nvCxnSpPr>
        <p:spPr>
          <a:xfrm>
            <a:off x="531813" y="32756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DB3170-D707-8021-33CE-2A21ABDD8B4C}"/>
              </a:ext>
            </a:extLst>
          </p:cNvPr>
          <p:cNvCxnSpPr>
            <a:cxnSpLocks/>
          </p:cNvCxnSpPr>
          <p:nvPr/>
        </p:nvCxnSpPr>
        <p:spPr>
          <a:xfrm>
            <a:off x="531813" y="38344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90C3101-2C90-B0A3-E0E7-EF5875F625EE}"/>
              </a:ext>
            </a:extLst>
          </p:cNvPr>
          <p:cNvCxnSpPr>
            <a:cxnSpLocks/>
          </p:cNvCxnSpPr>
          <p:nvPr/>
        </p:nvCxnSpPr>
        <p:spPr>
          <a:xfrm>
            <a:off x="531813" y="439329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B58FA4C-52B4-830D-0C10-F5FAAA017460}"/>
              </a:ext>
            </a:extLst>
          </p:cNvPr>
          <p:cNvCxnSpPr>
            <a:cxnSpLocks/>
          </p:cNvCxnSpPr>
          <p:nvPr/>
        </p:nvCxnSpPr>
        <p:spPr>
          <a:xfrm>
            <a:off x="531813" y="49457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18B00AC-2357-935E-54AB-61D7778AE2A8}"/>
              </a:ext>
            </a:extLst>
          </p:cNvPr>
          <p:cNvCxnSpPr>
            <a:cxnSpLocks/>
          </p:cNvCxnSpPr>
          <p:nvPr/>
        </p:nvCxnSpPr>
        <p:spPr>
          <a:xfrm>
            <a:off x="531813" y="5517243"/>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2D9D631-5E8A-1872-6EE0-35C9F223E7D9}"/>
              </a:ext>
            </a:extLst>
          </p:cNvPr>
          <p:cNvCxnSpPr>
            <a:cxnSpLocks/>
          </p:cNvCxnSpPr>
          <p:nvPr/>
        </p:nvCxnSpPr>
        <p:spPr>
          <a:xfrm>
            <a:off x="531813" y="6063338"/>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A3E610-AB06-1368-2299-85B26164DE88}"/>
              </a:ext>
            </a:extLst>
          </p:cNvPr>
          <p:cNvCxnSpPr>
            <a:cxnSpLocks/>
          </p:cNvCxnSpPr>
          <p:nvPr/>
        </p:nvCxnSpPr>
        <p:spPr>
          <a:xfrm>
            <a:off x="531813" y="2139040"/>
            <a:ext cx="1150937" cy="0"/>
          </a:xfrm>
          <a:prstGeom prst="line">
            <a:avLst/>
          </a:prstGeom>
          <a:ln w="12700" cmpd="sng">
            <a:solidFill>
              <a:schemeClr val="bg1"/>
            </a:solidFill>
            <a:headEnd type="ova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04252ECE-0653-F274-F250-817F940EACB6}"/>
              </a:ext>
            </a:extLst>
          </p:cNvPr>
          <p:cNvGrpSpPr/>
          <p:nvPr/>
        </p:nvGrpSpPr>
        <p:grpSpPr>
          <a:xfrm>
            <a:off x="2230243" y="2200470"/>
            <a:ext cx="1398784" cy="296252"/>
            <a:chOff x="1851474" y="2200470"/>
            <a:chExt cx="1424651" cy="296252"/>
          </a:xfrm>
        </p:grpSpPr>
        <p:sp>
          <p:nvSpPr>
            <p:cNvPr id="56" name="TextBox 55">
              <a:extLst>
                <a:ext uri="{FF2B5EF4-FFF2-40B4-BE49-F238E27FC236}">
                  <a16:creationId xmlns:a16="http://schemas.microsoft.com/office/drawing/2014/main" id="{F250E746-BBA9-E38D-2037-D2317FC46306}"/>
                </a:ext>
              </a:extLst>
            </p:cNvPr>
            <p:cNvSpPr txBox="1"/>
            <p:nvPr/>
          </p:nvSpPr>
          <p:spPr>
            <a:xfrm>
              <a:off x="2047959" y="2200470"/>
              <a:ext cx="1228166" cy="153888"/>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Pattern Framework Ready</a:t>
              </a:r>
            </a:p>
          </p:txBody>
        </p:sp>
        <p:pic>
          <p:nvPicPr>
            <p:cNvPr id="52" name="Graphic 51" descr="CVS Health logo.">
              <a:extLst>
                <a:ext uri="{FF2B5EF4-FFF2-40B4-BE49-F238E27FC236}">
                  <a16:creationId xmlns:a16="http://schemas.microsoft.com/office/drawing/2014/main" id="{D78E3531-BC4E-6E01-6E33-B9A5653038E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851474" y="2220345"/>
              <a:ext cx="202370" cy="276377"/>
            </a:xfrm>
            <a:prstGeom prst="rect">
              <a:avLst/>
            </a:prstGeom>
          </p:spPr>
        </p:pic>
      </p:grpSp>
      <p:sp>
        <p:nvSpPr>
          <p:cNvPr id="59" name="TextBox 58">
            <a:extLst>
              <a:ext uri="{FF2B5EF4-FFF2-40B4-BE49-F238E27FC236}">
                <a16:creationId xmlns:a16="http://schemas.microsoft.com/office/drawing/2014/main" id="{E916BB8D-F52F-53B0-F389-2AA0E014AD26}"/>
              </a:ext>
            </a:extLst>
          </p:cNvPr>
          <p:cNvSpPr txBox="1"/>
          <p:nvPr/>
        </p:nvSpPr>
        <p:spPr>
          <a:xfrm>
            <a:off x="3521331" y="2193537"/>
            <a:ext cx="2154757" cy="184406"/>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3F3F3F"/>
                </a:solidFill>
                <a:effectLst/>
                <a:uLnTx/>
                <a:uFillTx/>
                <a:latin typeface="CVS Health Sans"/>
                <a:ea typeface="+mn-ea"/>
                <a:cs typeface="+mn-cs"/>
              </a:rPr>
              <a:t>Welcome Season Change Freeze</a:t>
            </a:r>
          </a:p>
        </p:txBody>
      </p:sp>
      <p:grpSp>
        <p:nvGrpSpPr>
          <p:cNvPr id="207" name="Group 206">
            <a:extLst>
              <a:ext uri="{FF2B5EF4-FFF2-40B4-BE49-F238E27FC236}">
                <a16:creationId xmlns:a16="http://schemas.microsoft.com/office/drawing/2014/main" id="{12FA913E-F6AA-E1A4-CA8D-812CF34AEA27}"/>
              </a:ext>
            </a:extLst>
          </p:cNvPr>
          <p:cNvGrpSpPr/>
          <p:nvPr/>
        </p:nvGrpSpPr>
        <p:grpSpPr>
          <a:xfrm>
            <a:off x="1697038" y="2400838"/>
            <a:ext cx="9948862" cy="219456"/>
            <a:chOff x="1697038" y="2400838"/>
            <a:chExt cx="9948862" cy="219456"/>
          </a:xfrm>
        </p:grpSpPr>
        <p:sp>
          <p:nvSpPr>
            <p:cNvPr id="40" name="Rectangle: Rounded Corners 39">
              <a:extLst>
                <a:ext uri="{FF2B5EF4-FFF2-40B4-BE49-F238E27FC236}">
                  <a16:creationId xmlns:a16="http://schemas.microsoft.com/office/drawing/2014/main" id="{A951C21E-C18D-E5C6-01E5-428515B638C5}"/>
                </a:ext>
              </a:extLst>
            </p:cNvPr>
            <p:cNvSpPr/>
            <p:nvPr/>
          </p:nvSpPr>
          <p:spPr bwMode="gray">
            <a:xfrm>
              <a:off x="1697038" y="2400838"/>
              <a:ext cx="9948862" cy="219456"/>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61" name="TextBox 60">
              <a:extLst>
                <a:ext uri="{FF2B5EF4-FFF2-40B4-BE49-F238E27FC236}">
                  <a16:creationId xmlns:a16="http://schemas.microsoft.com/office/drawing/2014/main" id="{66DFEA7D-9CDB-352E-AE62-5D6D9A3241C2}"/>
                </a:ext>
              </a:extLst>
            </p:cNvPr>
            <p:cNvSpPr txBox="1"/>
            <p:nvPr/>
          </p:nvSpPr>
          <p:spPr>
            <a:xfrm>
              <a:off x="6172935" y="2449011"/>
              <a:ext cx="997068"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Project Management</a:t>
              </a:r>
            </a:p>
          </p:txBody>
        </p:sp>
      </p:grpSp>
      <p:sp>
        <p:nvSpPr>
          <p:cNvPr id="47" name="Rectangle: Rounded Corners 46">
            <a:extLst>
              <a:ext uri="{FF2B5EF4-FFF2-40B4-BE49-F238E27FC236}">
                <a16:creationId xmlns:a16="http://schemas.microsoft.com/office/drawing/2014/main" id="{FC15F6EA-D72F-4797-4B6F-F950D740CD68}"/>
              </a:ext>
            </a:extLst>
          </p:cNvPr>
          <p:cNvSpPr/>
          <p:nvPr/>
        </p:nvSpPr>
        <p:spPr bwMode="gray">
          <a:xfrm>
            <a:off x="1697037" y="2736890"/>
            <a:ext cx="2468880" cy="146304"/>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defRPr/>
            </a:pPr>
            <a:r>
              <a:rPr lang="en-US" sz="800" kern="0" dirty="0">
                <a:solidFill>
                  <a:prstClr val="white"/>
                </a:solidFill>
              </a:rPr>
              <a:t>Architecture Assessment</a:t>
            </a:r>
          </a:p>
        </p:txBody>
      </p:sp>
      <p:grpSp>
        <p:nvGrpSpPr>
          <p:cNvPr id="48" name="Group 47">
            <a:extLst>
              <a:ext uri="{FF2B5EF4-FFF2-40B4-BE49-F238E27FC236}">
                <a16:creationId xmlns:a16="http://schemas.microsoft.com/office/drawing/2014/main" id="{713FB0AC-E21C-54B3-AA40-85F34D7A3FDC}"/>
              </a:ext>
            </a:extLst>
          </p:cNvPr>
          <p:cNvGrpSpPr/>
          <p:nvPr/>
        </p:nvGrpSpPr>
        <p:grpSpPr>
          <a:xfrm>
            <a:off x="4031805" y="2742536"/>
            <a:ext cx="118872" cy="118872"/>
            <a:chOff x="11523849" y="2329537"/>
            <a:chExt cx="118872" cy="178308"/>
          </a:xfrm>
        </p:grpSpPr>
        <p:sp>
          <p:nvSpPr>
            <p:cNvPr id="49" name="Oval 48">
              <a:extLst>
                <a:ext uri="{FF2B5EF4-FFF2-40B4-BE49-F238E27FC236}">
                  <a16:creationId xmlns:a16="http://schemas.microsoft.com/office/drawing/2014/main" id="{D79A03FD-E062-5CE0-FEA1-5F2F9F2B3AEC}"/>
                </a:ext>
              </a:extLst>
            </p:cNvPr>
            <p:cNvSpPr/>
            <p:nvPr/>
          </p:nvSpPr>
          <p:spPr bwMode="gray">
            <a:xfrm>
              <a:off x="11523849" y="2329537"/>
              <a:ext cx="118872" cy="178308"/>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50" name="Arrow: Chevron 49">
              <a:extLst>
                <a:ext uri="{FF2B5EF4-FFF2-40B4-BE49-F238E27FC236}">
                  <a16:creationId xmlns:a16="http://schemas.microsoft.com/office/drawing/2014/main" id="{BFE8E72B-B90F-9E91-B6CF-7AF9BBE3BB8A}"/>
                </a:ext>
              </a:extLst>
            </p:cNvPr>
            <p:cNvSpPr/>
            <p:nvPr/>
          </p:nvSpPr>
          <p:spPr bwMode="gray">
            <a:xfrm>
              <a:off x="11555853" y="2370686"/>
              <a:ext cx="54864" cy="96012"/>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63" name="Group 62">
            <a:extLst>
              <a:ext uri="{FF2B5EF4-FFF2-40B4-BE49-F238E27FC236}">
                <a16:creationId xmlns:a16="http://schemas.microsoft.com/office/drawing/2014/main" id="{770DC2D5-4319-30A4-3E77-37303B223C2C}"/>
              </a:ext>
            </a:extLst>
          </p:cNvPr>
          <p:cNvGrpSpPr/>
          <p:nvPr/>
        </p:nvGrpSpPr>
        <p:grpSpPr>
          <a:xfrm>
            <a:off x="1974051" y="3095185"/>
            <a:ext cx="1317027" cy="276377"/>
            <a:chOff x="1817993" y="2220345"/>
            <a:chExt cx="1317027" cy="276377"/>
          </a:xfrm>
        </p:grpSpPr>
        <p:sp>
          <p:nvSpPr>
            <p:cNvPr id="64" name="TextBox 63">
              <a:extLst>
                <a:ext uri="{FF2B5EF4-FFF2-40B4-BE49-F238E27FC236}">
                  <a16:creationId xmlns:a16="http://schemas.microsoft.com/office/drawing/2014/main" id="{86931139-BA06-BDA4-25E1-2BBC4BD9AD40}"/>
                </a:ext>
              </a:extLst>
            </p:cNvPr>
            <p:cNvSpPr txBox="1"/>
            <p:nvPr/>
          </p:nvSpPr>
          <p:spPr>
            <a:xfrm>
              <a:off x="1817993" y="2224525"/>
              <a:ext cx="1317027" cy="143593"/>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Multi-cloud platform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Ready</a:t>
              </a:r>
            </a:p>
          </p:txBody>
        </p:sp>
        <p:pic>
          <p:nvPicPr>
            <p:cNvPr id="66" name="Graphic 65" descr="CVS Health logo.">
              <a:extLst>
                <a:ext uri="{FF2B5EF4-FFF2-40B4-BE49-F238E27FC236}">
                  <a16:creationId xmlns:a16="http://schemas.microsoft.com/office/drawing/2014/main" id="{7990CA1E-A6A4-3AA3-0239-316A0F1E9CC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832268" y="2220345"/>
              <a:ext cx="202370" cy="276377"/>
            </a:xfrm>
            <a:prstGeom prst="rect">
              <a:avLst/>
            </a:prstGeom>
          </p:spPr>
        </p:pic>
      </p:grpSp>
      <p:grpSp>
        <p:nvGrpSpPr>
          <p:cNvPr id="68" name="Group 67">
            <a:extLst>
              <a:ext uri="{FF2B5EF4-FFF2-40B4-BE49-F238E27FC236}">
                <a16:creationId xmlns:a16="http://schemas.microsoft.com/office/drawing/2014/main" id="{3D1F9664-DA13-FCC0-24E4-85D10A557F90}"/>
              </a:ext>
            </a:extLst>
          </p:cNvPr>
          <p:cNvGrpSpPr/>
          <p:nvPr/>
        </p:nvGrpSpPr>
        <p:grpSpPr>
          <a:xfrm>
            <a:off x="3111319" y="3075835"/>
            <a:ext cx="1426366" cy="295727"/>
            <a:chOff x="1609640" y="2200995"/>
            <a:chExt cx="1426366" cy="295727"/>
          </a:xfrm>
        </p:grpSpPr>
        <p:sp>
          <p:nvSpPr>
            <p:cNvPr id="70" name="TextBox 69">
              <a:extLst>
                <a:ext uri="{FF2B5EF4-FFF2-40B4-BE49-F238E27FC236}">
                  <a16:creationId xmlns:a16="http://schemas.microsoft.com/office/drawing/2014/main" id="{7ABBC7ED-613C-679E-390C-32928C0A57B2}"/>
                </a:ext>
              </a:extLst>
            </p:cNvPr>
            <p:cNvSpPr txBox="1"/>
            <p:nvPr/>
          </p:nvSpPr>
          <p:spPr>
            <a:xfrm>
              <a:off x="1624495" y="2200995"/>
              <a:ext cx="1411511" cy="199858"/>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HF Migration Complete</a:t>
              </a:r>
            </a:p>
          </p:txBody>
        </p:sp>
        <p:pic>
          <p:nvPicPr>
            <p:cNvPr id="71" name="Graphic 70" descr="CVS Health logo.">
              <a:extLst>
                <a:ext uri="{FF2B5EF4-FFF2-40B4-BE49-F238E27FC236}">
                  <a16:creationId xmlns:a16="http://schemas.microsoft.com/office/drawing/2014/main" id="{653F6843-1E5F-516E-9E96-D6EF74750B6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609640" y="2220345"/>
              <a:ext cx="202370" cy="276377"/>
            </a:xfrm>
            <a:prstGeom prst="rect">
              <a:avLst/>
            </a:prstGeom>
          </p:spPr>
        </p:pic>
      </p:grpSp>
      <p:sp>
        <p:nvSpPr>
          <p:cNvPr id="87" name="Rectangle: Rounded Corners 86">
            <a:extLst>
              <a:ext uri="{FF2B5EF4-FFF2-40B4-BE49-F238E27FC236}">
                <a16:creationId xmlns:a16="http://schemas.microsoft.com/office/drawing/2014/main" id="{9C0AC2F9-9980-3164-36E6-05816CEBFF55}"/>
              </a:ext>
            </a:extLst>
          </p:cNvPr>
          <p:cNvSpPr/>
          <p:nvPr/>
        </p:nvSpPr>
        <p:spPr bwMode="gray">
          <a:xfrm>
            <a:off x="1697037" y="3626691"/>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4" name="Rectangle: Rounded Corners 73">
            <a:extLst>
              <a:ext uri="{FF2B5EF4-FFF2-40B4-BE49-F238E27FC236}">
                <a16:creationId xmlns:a16="http://schemas.microsoft.com/office/drawing/2014/main" id="{02BEA2B1-72C1-07CB-3AD0-89323B1085FB}"/>
              </a:ext>
            </a:extLst>
          </p:cNvPr>
          <p:cNvSpPr/>
          <p:nvPr/>
        </p:nvSpPr>
        <p:spPr bwMode="gray">
          <a:xfrm>
            <a:off x="1697037" y="3303637"/>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75" name="Group 74">
            <a:extLst>
              <a:ext uri="{FF2B5EF4-FFF2-40B4-BE49-F238E27FC236}">
                <a16:creationId xmlns:a16="http://schemas.microsoft.com/office/drawing/2014/main" id="{24093622-92C1-4060-C9DE-CAF68F498567}"/>
              </a:ext>
            </a:extLst>
          </p:cNvPr>
          <p:cNvGrpSpPr/>
          <p:nvPr/>
        </p:nvGrpSpPr>
        <p:grpSpPr>
          <a:xfrm>
            <a:off x="3192754" y="3317352"/>
            <a:ext cx="118872" cy="118872"/>
            <a:chOff x="11459934" y="2346516"/>
            <a:chExt cx="152400" cy="152400"/>
          </a:xfrm>
        </p:grpSpPr>
        <p:sp>
          <p:nvSpPr>
            <p:cNvPr id="76" name="Oval 75">
              <a:extLst>
                <a:ext uri="{FF2B5EF4-FFF2-40B4-BE49-F238E27FC236}">
                  <a16:creationId xmlns:a16="http://schemas.microsoft.com/office/drawing/2014/main" id="{0FB35730-1A9A-B29B-8340-92C399D8D289}"/>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7" name="Arrow: Chevron 76">
              <a:extLst>
                <a:ext uri="{FF2B5EF4-FFF2-40B4-BE49-F238E27FC236}">
                  <a16:creationId xmlns:a16="http://schemas.microsoft.com/office/drawing/2014/main" id="{343D11D8-81B3-783D-B1FE-1ACCF9862E22}"/>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84" name="TextBox 83">
            <a:extLst>
              <a:ext uri="{FF2B5EF4-FFF2-40B4-BE49-F238E27FC236}">
                <a16:creationId xmlns:a16="http://schemas.microsoft.com/office/drawing/2014/main" id="{2248C6CA-CB52-D0E3-534B-897F0DABCC93}"/>
              </a:ext>
            </a:extLst>
          </p:cNvPr>
          <p:cNvSpPr txBox="1"/>
          <p:nvPr/>
        </p:nvSpPr>
        <p:spPr>
          <a:xfrm>
            <a:off x="1762395" y="3303636"/>
            <a:ext cx="1411511"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Inventory, Routing, Tier 1 Data Landing</a:t>
            </a:r>
          </a:p>
        </p:txBody>
      </p:sp>
      <p:sp>
        <p:nvSpPr>
          <p:cNvPr id="85" name="TextBox 84">
            <a:extLst>
              <a:ext uri="{FF2B5EF4-FFF2-40B4-BE49-F238E27FC236}">
                <a16:creationId xmlns:a16="http://schemas.microsoft.com/office/drawing/2014/main" id="{F09E011B-EAC4-7BF2-AA0B-E7C162BC7698}"/>
              </a:ext>
            </a:extLst>
          </p:cNvPr>
          <p:cNvSpPr txBox="1"/>
          <p:nvPr/>
        </p:nvSpPr>
        <p:spPr>
          <a:xfrm>
            <a:off x="1762395" y="3638808"/>
            <a:ext cx="1394002" cy="122071"/>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Bronze design &amp; validation</a:t>
            </a:r>
          </a:p>
        </p:txBody>
      </p:sp>
      <p:grpSp>
        <p:nvGrpSpPr>
          <p:cNvPr id="88" name="Group 87">
            <a:extLst>
              <a:ext uri="{FF2B5EF4-FFF2-40B4-BE49-F238E27FC236}">
                <a16:creationId xmlns:a16="http://schemas.microsoft.com/office/drawing/2014/main" id="{16DED92C-92DE-0C01-25A1-2E81CA25DB10}"/>
              </a:ext>
            </a:extLst>
          </p:cNvPr>
          <p:cNvGrpSpPr/>
          <p:nvPr/>
        </p:nvGrpSpPr>
        <p:grpSpPr>
          <a:xfrm>
            <a:off x="3196647" y="3635401"/>
            <a:ext cx="118872" cy="118872"/>
            <a:chOff x="11478469" y="2343150"/>
            <a:chExt cx="152400" cy="152400"/>
          </a:xfrm>
        </p:grpSpPr>
        <p:sp>
          <p:nvSpPr>
            <p:cNvPr id="89" name="Oval 88">
              <a:extLst>
                <a:ext uri="{FF2B5EF4-FFF2-40B4-BE49-F238E27FC236}">
                  <a16:creationId xmlns:a16="http://schemas.microsoft.com/office/drawing/2014/main" id="{2FAE38C7-1FB8-F773-1BB2-44C31B9EA764}"/>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0" name="Arrow: Chevron 89">
              <a:extLst>
                <a:ext uri="{FF2B5EF4-FFF2-40B4-BE49-F238E27FC236}">
                  <a16:creationId xmlns:a16="http://schemas.microsoft.com/office/drawing/2014/main" id="{D3304AF6-1DAE-E4D6-41D7-80175692C391}"/>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4" name="Rectangle: Rounded Corners 93">
            <a:extLst>
              <a:ext uri="{FF2B5EF4-FFF2-40B4-BE49-F238E27FC236}">
                <a16:creationId xmlns:a16="http://schemas.microsoft.com/office/drawing/2014/main" id="{2D5978A8-5B18-7F55-8CD9-AD71C660C415}"/>
              </a:ext>
            </a:extLst>
          </p:cNvPr>
          <p:cNvSpPr/>
          <p:nvPr/>
        </p:nvSpPr>
        <p:spPr bwMode="gray">
          <a:xfrm>
            <a:off x="3343752" y="3621434"/>
            <a:ext cx="2481180"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5" name="Rectangle: Rounded Corners 94">
            <a:extLst>
              <a:ext uri="{FF2B5EF4-FFF2-40B4-BE49-F238E27FC236}">
                <a16:creationId xmlns:a16="http://schemas.microsoft.com/office/drawing/2014/main" id="{00281B1C-523F-D52A-ABF6-C1EF2FA91424}"/>
              </a:ext>
            </a:extLst>
          </p:cNvPr>
          <p:cNvSpPr/>
          <p:nvPr/>
        </p:nvSpPr>
        <p:spPr bwMode="gray">
          <a:xfrm>
            <a:off x="4167772" y="3303637"/>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96" name="Group 95">
            <a:extLst>
              <a:ext uri="{FF2B5EF4-FFF2-40B4-BE49-F238E27FC236}">
                <a16:creationId xmlns:a16="http://schemas.microsoft.com/office/drawing/2014/main" id="{58B49B90-1BEB-0EEA-B94D-82D9422B5AD5}"/>
              </a:ext>
            </a:extLst>
          </p:cNvPr>
          <p:cNvGrpSpPr/>
          <p:nvPr/>
        </p:nvGrpSpPr>
        <p:grpSpPr>
          <a:xfrm>
            <a:off x="5661729" y="3314307"/>
            <a:ext cx="118872" cy="118872"/>
            <a:chOff x="11478469" y="2343150"/>
            <a:chExt cx="152400" cy="152400"/>
          </a:xfrm>
        </p:grpSpPr>
        <p:sp>
          <p:nvSpPr>
            <p:cNvPr id="102" name="Oval 101">
              <a:extLst>
                <a:ext uri="{FF2B5EF4-FFF2-40B4-BE49-F238E27FC236}">
                  <a16:creationId xmlns:a16="http://schemas.microsoft.com/office/drawing/2014/main" id="{0DDDFA64-5AC9-0726-EF76-483BC0573A26}"/>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3" name="Arrow: Chevron 102">
              <a:extLst>
                <a:ext uri="{FF2B5EF4-FFF2-40B4-BE49-F238E27FC236}">
                  <a16:creationId xmlns:a16="http://schemas.microsoft.com/office/drawing/2014/main" id="{AE414E95-6E9F-5B68-8205-2A1E1ECDABA2}"/>
                </a:ext>
              </a:extLst>
            </p:cNvPr>
            <p:cNvSpPr/>
            <p:nvPr/>
          </p:nvSpPr>
          <p:spPr bwMode="gray">
            <a:xfrm>
              <a:off x="11526567" y="2379338"/>
              <a:ext cx="54864"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7" name="TextBox 96">
            <a:extLst>
              <a:ext uri="{FF2B5EF4-FFF2-40B4-BE49-F238E27FC236}">
                <a16:creationId xmlns:a16="http://schemas.microsoft.com/office/drawing/2014/main" id="{F8B0E263-50CF-1B9D-1EDB-21A95AEE66EC}"/>
              </a:ext>
            </a:extLst>
          </p:cNvPr>
          <p:cNvSpPr txBox="1"/>
          <p:nvPr/>
        </p:nvSpPr>
        <p:spPr>
          <a:xfrm>
            <a:off x="4142674" y="3304207"/>
            <a:ext cx="1494840"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Contracts, Templates &amp; Security</a:t>
            </a:r>
          </a:p>
        </p:txBody>
      </p:sp>
      <p:sp>
        <p:nvSpPr>
          <p:cNvPr id="98" name="TextBox 97">
            <a:extLst>
              <a:ext uri="{FF2B5EF4-FFF2-40B4-BE49-F238E27FC236}">
                <a16:creationId xmlns:a16="http://schemas.microsoft.com/office/drawing/2014/main" id="{4C5791C3-DF3E-F35E-3E2A-B9269578EE74}"/>
              </a:ext>
            </a:extLst>
          </p:cNvPr>
          <p:cNvSpPr txBox="1"/>
          <p:nvPr/>
        </p:nvSpPr>
        <p:spPr>
          <a:xfrm>
            <a:off x="3356593" y="3623720"/>
            <a:ext cx="2280921"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Tier 1 rollout &amp; SLA</a:t>
            </a:r>
          </a:p>
        </p:txBody>
      </p:sp>
      <p:grpSp>
        <p:nvGrpSpPr>
          <p:cNvPr id="99" name="Group 98">
            <a:extLst>
              <a:ext uri="{FF2B5EF4-FFF2-40B4-BE49-F238E27FC236}">
                <a16:creationId xmlns:a16="http://schemas.microsoft.com/office/drawing/2014/main" id="{F757368B-C027-111E-7A45-BF8EAEF2DF73}"/>
              </a:ext>
            </a:extLst>
          </p:cNvPr>
          <p:cNvGrpSpPr/>
          <p:nvPr/>
        </p:nvGrpSpPr>
        <p:grpSpPr>
          <a:xfrm>
            <a:off x="5657659" y="3635150"/>
            <a:ext cx="118872" cy="118872"/>
            <a:chOff x="11478469" y="2343150"/>
            <a:chExt cx="152400" cy="152400"/>
          </a:xfrm>
        </p:grpSpPr>
        <p:sp>
          <p:nvSpPr>
            <p:cNvPr id="100" name="Oval 99">
              <a:extLst>
                <a:ext uri="{FF2B5EF4-FFF2-40B4-BE49-F238E27FC236}">
                  <a16:creationId xmlns:a16="http://schemas.microsoft.com/office/drawing/2014/main" id="{E47B4E30-2E2A-49F8-02D9-829070416AD6}"/>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1" name="Arrow: Chevron 100">
              <a:extLst>
                <a:ext uri="{FF2B5EF4-FFF2-40B4-BE49-F238E27FC236}">
                  <a16:creationId xmlns:a16="http://schemas.microsoft.com/office/drawing/2014/main" id="{3E875749-9E54-7A17-2FC9-D838C3E56A9B}"/>
                </a:ext>
              </a:extLst>
            </p:cNvPr>
            <p:cNvSpPr/>
            <p:nvPr/>
          </p:nvSpPr>
          <p:spPr bwMode="gray">
            <a:xfrm>
              <a:off x="11526567" y="2379338"/>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05" name="Rectangle: Rounded Corners 104">
            <a:extLst>
              <a:ext uri="{FF2B5EF4-FFF2-40B4-BE49-F238E27FC236}">
                <a16:creationId xmlns:a16="http://schemas.microsoft.com/office/drawing/2014/main" id="{2C8E0E39-AAE6-FE2C-3810-3611AEAB44C9}"/>
              </a:ext>
            </a:extLst>
          </p:cNvPr>
          <p:cNvSpPr/>
          <p:nvPr/>
        </p:nvSpPr>
        <p:spPr bwMode="gray">
          <a:xfrm>
            <a:off x="5824932" y="3626565"/>
            <a:ext cx="2489482"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6" name="Rectangle: Rounded Corners 105">
            <a:extLst>
              <a:ext uri="{FF2B5EF4-FFF2-40B4-BE49-F238E27FC236}">
                <a16:creationId xmlns:a16="http://schemas.microsoft.com/office/drawing/2014/main" id="{0D1BD7CE-1BAD-3F9D-08BB-40912C17415E}"/>
              </a:ext>
            </a:extLst>
          </p:cNvPr>
          <p:cNvSpPr/>
          <p:nvPr/>
        </p:nvSpPr>
        <p:spPr bwMode="gray">
          <a:xfrm>
            <a:off x="5003308" y="3463418"/>
            <a:ext cx="1646778"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07" name="Group 106">
            <a:extLst>
              <a:ext uri="{FF2B5EF4-FFF2-40B4-BE49-F238E27FC236}">
                <a16:creationId xmlns:a16="http://schemas.microsoft.com/office/drawing/2014/main" id="{4155CF0D-7C13-51E1-A807-E54172CA6C9A}"/>
              </a:ext>
            </a:extLst>
          </p:cNvPr>
          <p:cNvGrpSpPr/>
          <p:nvPr/>
        </p:nvGrpSpPr>
        <p:grpSpPr>
          <a:xfrm>
            <a:off x="6494858" y="3473386"/>
            <a:ext cx="118872" cy="118872"/>
            <a:chOff x="11478469" y="2343150"/>
            <a:chExt cx="152400" cy="152400"/>
          </a:xfrm>
        </p:grpSpPr>
        <p:sp>
          <p:nvSpPr>
            <p:cNvPr id="114" name="Oval 113">
              <a:extLst>
                <a:ext uri="{FF2B5EF4-FFF2-40B4-BE49-F238E27FC236}">
                  <a16:creationId xmlns:a16="http://schemas.microsoft.com/office/drawing/2014/main" id="{071E0E22-BC15-D616-F059-39C309FC8124}"/>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6" name="Arrow: Chevron 115">
              <a:extLst>
                <a:ext uri="{FF2B5EF4-FFF2-40B4-BE49-F238E27FC236}">
                  <a16:creationId xmlns:a16="http://schemas.microsoft.com/office/drawing/2014/main" id="{502F0E9D-431E-04D7-0D63-350DC9A4BCBD}"/>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08" name="TextBox 107">
            <a:extLst>
              <a:ext uri="{FF2B5EF4-FFF2-40B4-BE49-F238E27FC236}">
                <a16:creationId xmlns:a16="http://schemas.microsoft.com/office/drawing/2014/main" id="{1095769C-60A8-C0E6-0893-ACEA2DD9E22C}"/>
              </a:ext>
            </a:extLst>
          </p:cNvPr>
          <p:cNvSpPr txBox="1"/>
          <p:nvPr/>
        </p:nvSpPr>
        <p:spPr>
          <a:xfrm>
            <a:off x="5045646" y="3463418"/>
            <a:ext cx="1409974"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AI-assisted onboarding &amp; handoff</a:t>
            </a:r>
          </a:p>
        </p:txBody>
      </p:sp>
      <p:sp>
        <p:nvSpPr>
          <p:cNvPr id="109" name="TextBox 108">
            <a:extLst>
              <a:ext uri="{FF2B5EF4-FFF2-40B4-BE49-F238E27FC236}">
                <a16:creationId xmlns:a16="http://schemas.microsoft.com/office/drawing/2014/main" id="{CFB7CF4B-10AE-8AEE-AAE8-4117AA45CABF}"/>
              </a:ext>
            </a:extLst>
          </p:cNvPr>
          <p:cNvSpPr txBox="1"/>
          <p:nvPr/>
        </p:nvSpPr>
        <p:spPr>
          <a:xfrm>
            <a:off x="5862763" y="3638682"/>
            <a:ext cx="2250218" cy="122071"/>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Tier 2 &amp; hand-off</a:t>
            </a:r>
          </a:p>
        </p:txBody>
      </p:sp>
      <p:grpSp>
        <p:nvGrpSpPr>
          <p:cNvPr id="110" name="Group 109">
            <a:extLst>
              <a:ext uri="{FF2B5EF4-FFF2-40B4-BE49-F238E27FC236}">
                <a16:creationId xmlns:a16="http://schemas.microsoft.com/office/drawing/2014/main" id="{3686BC0F-F5C4-1DD4-BBB7-CE066BD83746}"/>
              </a:ext>
            </a:extLst>
          </p:cNvPr>
          <p:cNvGrpSpPr/>
          <p:nvPr/>
        </p:nvGrpSpPr>
        <p:grpSpPr>
          <a:xfrm>
            <a:off x="8162157" y="3639612"/>
            <a:ext cx="118872" cy="118872"/>
            <a:chOff x="11478469" y="2343149"/>
            <a:chExt cx="152400" cy="152400"/>
          </a:xfrm>
        </p:grpSpPr>
        <p:sp>
          <p:nvSpPr>
            <p:cNvPr id="111" name="Oval 110">
              <a:extLst>
                <a:ext uri="{FF2B5EF4-FFF2-40B4-BE49-F238E27FC236}">
                  <a16:creationId xmlns:a16="http://schemas.microsoft.com/office/drawing/2014/main" id="{C15BA33E-849A-8684-C497-DD270589CA73}"/>
                </a:ext>
              </a:extLst>
            </p:cNvPr>
            <p:cNvSpPr/>
            <p:nvPr/>
          </p:nvSpPr>
          <p:spPr bwMode="gray">
            <a:xfrm>
              <a:off x="11478469" y="2343149"/>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2" name="Arrow: Chevron 111">
              <a:extLst>
                <a:ext uri="{FF2B5EF4-FFF2-40B4-BE49-F238E27FC236}">
                  <a16:creationId xmlns:a16="http://schemas.microsoft.com/office/drawing/2014/main" id="{8ADE2047-C3CD-9880-770D-BA78EDE84BE2}"/>
                </a:ext>
              </a:extLst>
            </p:cNvPr>
            <p:cNvSpPr/>
            <p:nvPr/>
          </p:nvSpPr>
          <p:spPr bwMode="gray">
            <a:xfrm>
              <a:off x="11526566" y="2382246"/>
              <a:ext cx="65358" cy="82062"/>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62" name="Group 161">
            <a:extLst>
              <a:ext uri="{FF2B5EF4-FFF2-40B4-BE49-F238E27FC236}">
                <a16:creationId xmlns:a16="http://schemas.microsoft.com/office/drawing/2014/main" id="{E1FAE85E-70A8-9A93-D02C-9F0E72EB2E7A}"/>
              </a:ext>
            </a:extLst>
          </p:cNvPr>
          <p:cNvGrpSpPr/>
          <p:nvPr/>
        </p:nvGrpSpPr>
        <p:grpSpPr>
          <a:xfrm>
            <a:off x="1697037" y="3971387"/>
            <a:ext cx="7438940" cy="215444"/>
            <a:chOff x="1697037" y="3971387"/>
            <a:chExt cx="7438940" cy="215444"/>
          </a:xfrm>
        </p:grpSpPr>
        <p:grpSp>
          <p:nvGrpSpPr>
            <p:cNvPr id="134" name="Group 133">
              <a:extLst>
                <a:ext uri="{FF2B5EF4-FFF2-40B4-BE49-F238E27FC236}">
                  <a16:creationId xmlns:a16="http://schemas.microsoft.com/office/drawing/2014/main" id="{14AA0C4E-92D4-61A1-D514-9B64319DCB47}"/>
                </a:ext>
              </a:extLst>
            </p:cNvPr>
            <p:cNvGrpSpPr/>
            <p:nvPr/>
          </p:nvGrpSpPr>
          <p:grpSpPr>
            <a:xfrm>
              <a:off x="1697037" y="3971387"/>
              <a:ext cx="2478042" cy="215444"/>
              <a:chOff x="1697037" y="3971387"/>
              <a:chExt cx="2478042" cy="215444"/>
            </a:xfrm>
          </p:grpSpPr>
          <p:sp>
            <p:nvSpPr>
              <p:cNvPr id="122" name="Rectangle: Rounded Corners 121">
                <a:extLst>
                  <a:ext uri="{FF2B5EF4-FFF2-40B4-BE49-F238E27FC236}">
                    <a16:creationId xmlns:a16="http://schemas.microsoft.com/office/drawing/2014/main" id="{966BD0C1-952A-773E-0E3D-FA1B5F8FAEEF}"/>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23" name="Group 122">
                <a:extLst>
                  <a:ext uri="{FF2B5EF4-FFF2-40B4-BE49-F238E27FC236}">
                    <a16:creationId xmlns:a16="http://schemas.microsoft.com/office/drawing/2014/main" id="{1493C4C8-3568-2032-141D-1A2B6AB3129E}"/>
                  </a:ext>
                </a:extLst>
              </p:cNvPr>
              <p:cNvGrpSpPr/>
              <p:nvPr/>
            </p:nvGrpSpPr>
            <p:grpSpPr>
              <a:xfrm>
                <a:off x="3991723" y="4002909"/>
                <a:ext cx="152400" cy="152400"/>
                <a:chOff x="11478469" y="2343150"/>
                <a:chExt cx="152400" cy="152400"/>
              </a:xfrm>
            </p:grpSpPr>
            <p:sp>
              <p:nvSpPr>
                <p:cNvPr id="125" name="Oval 124">
                  <a:extLst>
                    <a:ext uri="{FF2B5EF4-FFF2-40B4-BE49-F238E27FC236}">
                      <a16:creationId xmlns:a16="http://schemas.microsoft.com/office/drawing/2014/main" id="{5DDB1E46-D918-8637-E44D-3D0DDF6B71C6}"/>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26" name="Arrow: Chevron 125">
                  <a:extLst>
                    <a:ext uri="{FF2B5EF4-FFF2-40B4-BE49-F238E27FC236}">
                      <a16:creationId xmlns:a16="http://schemas.microsoft.com/office/drawing/2014/main" id="{4E8053B3-A15E-7995-BFCC-A98514BDBAC3}"/>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24" name="TextBox 123">
                <a:extLst>
                  <a:ext uri="{FF2B5EF4-FFF2-40B4-BE49-F238E27FC236}">
                    <a16:creationId xmlns:a16="http://schemas.microsoft.com/office/drawing/2014/main" id="{864CBFEA-442B-962D-CCC0-F3DDEF6C475A}"/>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Silver Design &amp; Validation</a:t>
                </a:r>
              </a:p>
            </p:txBody>
          </p:sp>
        </p:grpSp>
        <p:grpSp>
          <p:nvGrpSpPr>
            <p:cNvPr id="135" name="Group 134">
              <a:extLst>
                <a:ext uri="{FF2B5EF4-FFF2-40B4-BE49-F238E27FC236}">
                  <a16:creationId xmlns:a16="http://schemas.microsoft.com/office/drawing/2014/main" id="{48DCAAFD-53CB-3A1A-6C51-45C799342305}"/>
                </a:ext>
              </a:extLst>
            </p:cNvPr>
            <p:cNvGrpSpPr/>
            <p:nvPr/>
          </p:nvGrpSpPr>
          <p:grpSpPr>
            <a:xfrm>
              <a:off x="4167141" y="3971387"/>
              <a:ext cx="2478042" cy="215444"/>
              <a:chOff x="1697037" y="3971387"/>
              <a:chExt cx="2478042" cy="215444"/>
            </a:xfrm>
          </p:grpSpPr>
          <p:sp>
            <p:nvSpPr>
              <p:cNvPr id="136" name="Rectangle: Rounded Corners 135">
                <a:extLst>
                  <a:ext uri="{FF2B5EF4-FFF2-40B4-BE49-F238E27FC236}">
                    <a16:creationId xmlns:a16="http://schemas.microsoft.com/office/drawing/2014/main" id="{C62963BF-327F-9680-4AF0-F570EF3DFD18}"/>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37" name="Group 136">
                <a:extLst>
                  <a:ext uri="{FF2B5EF4-FFF2-40B4-BE49-F238E27FC236}">
                    <a16:creationId xmlns:a16="http://schemas.microsoft.com/office/drawing/2014/main" id="{7D54B5C4-1286-2A6F-209E-065B4FA3B37D}"/>
                  </a:ext>
                </a:extLst>
              </p:cNvPr>
              <p:cNvGrpSpPr/>
              <p:nvPr/>
            </p:nvGrpSpPr>
            <p:grpSpPr>
              <a:xfrm>
                <a:off x="3991723" y="4002909"/>
                <a:ext cx="152400" cy="152400"/>
                <a:chOff x="11478469" y="2343150"/>
                <a:chExt cx="152400" cy="152400"/>
              </a:xfrm>
            </p:grpSpPr>
            <p:sp>
              <p:nvSpPr>
                <p:cNvPr id="139" name="Oval 138">
                  <a:extLst>
                    <a:ext uri="{FF2B5EF4-FFF2-40B4-BE49-F238E27FC236}">
                      <a16:creationId xmlns:a16="http://schemas.microsoft.com/office/drawing/2014/main" id="{427778BC-1074-30F3-39FE-9B5FB3845242}"/>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1" name="Arrow: Chevron 140">
                  <a:extLst>
                    <a:ext uri="{FF2B5EF4-FFF2-40B4-BE49-F238E27FC236}">
                      <a16:creationId xmlns:a16="http://schemas.microsoft.com/office/drawing/2014/main" id="{BE350029-DF04-6042-E561-2352CA580A54}"/>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38" name="TextBox 137">
                <a:extLst>
                  <a:ext uri="{FF2B5EF4-FFF2-40B4-BE49-F238E27FC236}">
                    <a16:creationId xmlns:a16="http://schemas.microsoft.com/office/drawing/2014/main" id="{513FFD89-25F2-7EEB-F90A-108694EF2F3E}"/>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1 Rollout &amp; SLA</a:t>
                </a:r>
              </a:p>
            </p:txBody>
          </p:sp>
        </p:grpSp>
        <p:grpSp>
          <p:nvGrpSpPr>
            <p:cNvPr id="144" name="Group 143">
              <a:extLst>
                <a:ext uri="{FF2B5EF4-FFF2-40B4-BE49-F238E27FC236}">
                  <a16:creationId xmlns:a16="http://schemas.microsoft.com/office/drawing/2014/main" id="{0D86691D-AA3D-A2C6-1B4D-6A063D031484}"/>
                </a:ext>
              </a:extLst>
            </p:cNvPr>
            <p:cNvGrpSpPr/>
            <p:nvPr/>
          </p:nvGrpSpPr>
          <p:grpSpPr>
            <a:xfrm>
              <a:off x="6657935" y="3971387"/>
              <a:ext cx="2478042" cy="215444"/>
              <a:chOff x="1697037" y="3971387"/>
              <a:chExt cx="2478042" cy="215444"/>
            </a:xfrm>
          </p:grpSpPr>
          <p:sp>
            <p:nvSpPr>
              <p:cNvPr id="146" name="Rectangle: Rounded Corners 145">
                <a:extLst>
                  <a:ext uri="{FF2B5EF4-FFF2-40B4-BE49-F238E27FC236}">
                    <a16:creationId xmlns:a16="http://schemas.microsoft.com/office/drawing/2014/main" id="{769D7553-8C0B-DE09-CE56-4F0971D9CF97}"/>
                  </a:ext>
                </a:extLst>
              </p:cNvPr>
              <p:cNvSpPr/>
              <p:nvPr/>
            </p:nvSpPr>
            <p:spPr bwMode="gray">
              <a:xfrm>
                <a:off x="1697037" y="3971387"/>
                <a:ext cx="2478042" cy="215444"/>
              </a:xfrm>
              <a:prstGeom prst="roundRect">
                <a:avLst>
                  <a:gd name="adj" fmla="val 50000"/>
                </a:avLst>
              </a:prstGeom>
              <a:solidFill>
                <a:srgbClr val="00787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48" name="Group 147">
                <a:extLst>
                  <a:ext uri="{FF2B5EF4-FFF2-40B4-BE49-F238E27FC236}">
                    <a16:creationId xmlns:a16="http://schemas.microsoft.com/office/drawing/2014/main" id="{566A75F0-89BD-C2B1-9E2E-F4D2BFD6DB21}"/>
                  </a:ext>
                </a:extLst>
              </p:cNvPr>
              <p:cNvGrpSpPr/>
              <p:nvPr/>
            </p:nvGrpSpPr>
            <p:grpSpPr>
              <a:xfrm>
                <a:off x="3991723" y="4002909"/>
                <a:ext cx="152400" cy="152400"/>
                <a:chOff x="11478469" y="2343150"/>
                <a:chExt cx="152400" cy="152400"/>
              </a:xfrm>
            </p:grpSpPr>
            <p:sp>
              <p:nvSpPr>
                <p:cNvPr id="152" name="Oval 151">
                  <a:extLst>
                    <a:ext uri="{FF2B5EF4-FFF2-40B4-BE49-F238E27FC236}">
                      <a16:creationId xmlns:a16="http://schemas.microsoft.com/office/drawing/2014/main" id="{1E216E39-357F-372E-183E-08273C745D52}"/>
                    </a:ext>
                  </a:extLst>
                </p:cNvPr>
                <p:cNvSpPr/>
                <p:nvPr/>
              </p:nvSpPr>
              <p:spPr bwMode="gray">
                <a:xfrm>
                  <a:off x="11478469" y="2343150"/>
                  <a:ext cx="152400" cy="152400"/>
                </a:xfrm>
                <a:prstGeom prst="ellipse">
                  <a:avLst/>
                </a:prstGeom>
                <a:solidFill>
                  <a:srgbClr val="00787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4" name="Arrow: Chevron 153">
                  <a:extLst>
                    <a:ext uri="{FF2B5EF4-FFF2-40B4-BE49-F238E27FC236}">
                      <a16:creationId xmlns:a16="http://schemas.microsoft.com/office/drawing/2014/main" id="{34D5E759-C5C4-C8DC-76C8-D5ADEB2B946A}"/>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50" name="TextBox 149">
                <a:extLst>
                  <a:ext uri="{FF2B5EF4-FFF2-40B4-BE49-F238E27FC236}">
                    <a16:creationId xmlns:a16="http://schemas.microsoft.com/office/drawing/2014/main" id="{D3838081-9F7B-5B71-32F7-DAC4718E292D}"/>
                  </a:ext>
                </a:extLst>
              </p:cNvPr>
              <p:cNvSpPr txBox="1"/>
              <p:nvPr/>
            </p:nvSpPr>
            <p:spPr>
              <a:xfrm>
                <a:off x="1835943" y="3971387"/>
                <a:ext cx="2155780"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2 &amp; Hand-off</a:t>
                </a:r>
              </a:p>
            </p:txBody>
          </p:sp>
        </p:grpSp>
      </p:grpSp>
      <p:grpSp>
        <p:nvGrpSpPr>
          <p:cNvPr id="156" name="Group 155">
            <a:extLst>
              <a:ext uri="{FF2B5EF4-FFF2-40B4-BE49-F238E27FC236}">
                <a16:creationId xmlns:a16="http://schemas.microsoft.com/office/drawing/2014/main" id="{E874F608-9044-48BC-EA7C-2DEC4572B03C}"/>
              </a:ext>
            </a:extLst>
          </p:cNvPr>
          <p:cNvGrpSpPr/>
          <p:nvPr/>
        </p:nvGrpSpPr>
        <p:grpSpPr>
          <a:xfrm>
            <a:off x="6168296" y="4244454"/>
            <a:ext cx="1776892" cy="276377"/>
            <a:chOff x="1784562" y="2220345"/>
            <a:chExt cx="1776892" cy="276377"/>
          </a:xfrm>
        </p:grpSpPr>
        <p:sp>
          <p:nvSpPr>
            <p:cNvPr id="158" name="TextBox 157">
              <a:extLst>
                <a:ext uri="{FF2B5EF4-FFF2-40B4-BE49-F238E27FC236}">
                  <a16:creationId xmlns:a16="http://schemas.microsoft.com/office/drawing/2014/main" id="{DB60DEBF-28CD-360B-FA04-EE2DA60BB7D5}"/>
                </a:ext>
              </a:extLst>
            </p:cNvPr>
            <p:cNvSpPr txBox="1"/>
            <p:nvPr/>
          </p:nvSpPr>
          <p:spPr>
            <a:xfrm>
              <a:off x="1971537" y="2220729"/>
              <a:ext cx="1589917" cy="146305"/>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Splunk Indexes </a:t>
              </a:r>
              <a:r>
                <a:rPr lang="en-US" sz="800">
                  <a:solidFill>
                    <a:srgbClr val="3F3F3F"/>
                  </a:solidFill>
                  <a:latin typeface="CVS Health Sans"/>
                </a:rPr>
                <a:t> </a:t>
              </a:r>
              <a:r>
                <a:rPr kumimoji="0" lang="en-US" sz="800" b="0" i="0" u="none" strike="noStrike" kern="1200" cap="none" spc="0" normalizeH="0" baseline="0" noProof="0">
                  <a:ln>
                    <a:noFill/>
                  </a:ln>
                  <a:solidFill>
                    <a:srgbClr val="3F3F3F"/>
                  </a:solidFill>
                  <a:effectLst/>
                  <a:uLnTx/>
                  <a:uFillTx/>
                  <a:latin typeface="CVS Health Sans"/>
                  <a:ea typeface="+mn-ea"/>
                  <a:cs typeface="+mn-cs"/>
                </a:rPr>
                <a:t>Flowing to Bronze</a:t>
              </a:r>
            </a:p>
          </p:txBody>
        </p:sp>
        <p:pic>
          <p:nvPicPr>
            <p:cNvPr id="160" name="Graphic 159" descr="CVS Health logo.">
              <a:extLst>
                <a:ext uri="{FF2B5EF4-FFF2-40B4-BE49-F238E27FC236}">
                  <a16:creationId xmlns:a16="http://schemas.microsoft.com/office/drawing/2014/main" id="{861996DE-D82B-74C4-AF42-2A291C6F6FB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166" name="Group 165">
            <a:extLst>
              <a:ext uri="{FF2B5EF4-FFF2-40B4-BE49-F238E27FC236}">
                <a16:creationId xmlns:a16="http://schemas.microsoft.com/office/drawing/2014/main" id="{C222AA69-F5E7-84BA-B03D-A0845803E9A3}"/>
              </a:ext>
            </a:extLst>
          </p:cNvPr>
          <p:cNvGrpSpPr/>
          <p:nvPr/>
        </p:nvGrpSpPr>
        <p:grpSpPr>
          <a:xfrm>
            <a:off x="1622712" y="4425386"/>
            <a:ext cx="2166052" cy="215444"/>
            <a:chOff x="3134995" y="3971387"/>
            <a:chExt cx="1040084" cy="215444"/>
          </a:xfrm>
        </p:grpSpPr>
        <p:sp>
          <p:nvSpPr>
            <p:cNvPr id="194" name="Rectangle: Rounded Corners 193">
              <a:extLst>
                <a:ext uri="{FF2B5EF4-FFF2-40B4-BE49-F238E27FC236}">
                  <a16:creationId xmlns:a16="http://schemas.microsoft.com/office/drawing/2014/main" id="{1DA36A89-1697-3F77-CCDF-6B9B7208E8DA}"/>
                </a:ext>
              </a:extLst>
            </p:cNvPr>
            <p:cNvSpPr/>
            <p:nvPr/>
          </p:nvSpPr>
          <p:spPr bwMode="gray">
            <a:xfrm>
              <a:off x="3170684" y="3971387"/>
              <a:ext cx="1004395"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196" name="Group 195">
              <a:extLst>
                <a:ext uri="{FF2B5EF4-FFF2-40B4-BE49-F238E27FC236}">
                  <a16:creationId xmlns:a16="http://schemas.microsoft.com/office/drawing/2014/main" id="{1AF70DCC-ED94-B497-214F-36123299CA68}"/>
                </a:ext>
              </a:extLst>
            </p:cNvPr>
            <p:cNvGrpSpPr/>
            <p:nvPr/>
          </p:nvGrpSpPr>
          <p:grpSpPr>
            <a:xfrm>
              <a:off x="4079897" y="4002909"/>
              <a:ext cx="74642" cy="152400"/>
              <a:chOff x="11566643" y="2343150"/>
              <a:chExt cx="74642" cy="152400"/>
            </a:xfrm>
          </p:grpSpPr>
          <p:sp>
            <p:nvSpPr>
              <p:cNvPr id="200" name="Oval 199">
                <a:extLst>
                  <a:ext uri="{FF2B5EF4-FFF2-40B4-BE49-F238E27FC236}">
                    <a16:creationId xmlns:a16="http://schemas.microsoft.com/office/drawing/2014/main" id="{6ECC1E57-548C-C377-B13D-DD9E12F7CB78}"/>
                  </a:ext>
                </a:extLst>
              </p:cNvPr>
              <p:cNvSpPr/>
              <p:nvPr/>
            </p:nvSpPr>
            <p:spPr bwMode="gray">
              <a:xfrm>
                <a:off x="11566643" y="2343150"/>
                <a:ext cx="74642" cy="152400"/>
              </a:xfrm>
              <a:prstGeom prst="ellipse">
                <a:avLst/>
              </a:prstGeom>
              <a:solidFill>
                <a:srgbClr val="00A78E"/>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01" name="Arrow: Chevron 200">
                <a:extLst>
                  <a:ext uri="{FF2B5EF4-FFF2-40B4-BE49-F238E27FC236}">
                    <a16:creationId xmlns:a16="http://schemas.microsoft.com/office/drawing/2014/main" id="{0049BDDA-FF83-5BF5-7469-98E4EC8C56E0}"/>
                  </a:ext>
                </a:extLst>
              </p:cNvPr>
              <p:cNvSpPr/>
              <p:nvPr/>
            </p:nvSpPr>
            <p:spPr bwMode="gray">
              <a:xfrm>
                <a:off x="11590988" y="2383086"/>
                <a:ext cx="30735" cy="82296"/>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98" name="TextBox 197">
              <a:extLst>
                <a:ext uri="{FF2B5EF4-FFF2-40B4-BE49-F238E27FC236}">
                  <a16:creationId xmlns:a16="http://schemas.microsoft.com/office/drawing/2014/main" id="{15031E58-C327-F843-8740-6A3D564813F8}"/>
                </a:ext>
              </a:extLst>
            </p:cNvPr>
            <p:cNvSpPr txBox="1"/>
            <p:nvPr/>
          </p:nvSpPr>
          <p:spPr>
            <a:xfrm>
              <a:off x="3134995" y="4011863"/>
              <a:ext cx="946511" cy="117373"/>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Rationalization &amp; Prioritization</a:t>
              </a:r>
            </a:p>
          </p:txBody>
        </p:sp>
      </p:grpSp>
      <p:grpSp>
        <p:nvGrpSpPr>
          <p:cNvPr id="170" name="Group 169">
            <a:extLst>
              <a:ext uri="{FF2B5EF4-FFF2-40B4-BE49-F238E27FC236}">
                <a16:creationId xmlns:a16="http://schemas.microsoft.com/office/drawing/2014/main" id="{FC42C2CD-2C3D-0E74-8367-028B19915CAE}"/>
              </a:ext>
            </a:extLst>
          </p:cNvPr>
          <p:cNvGrpSpPr/>
          <p:nvPr/>
        </p:nvGrpSpPr>
        <p:grpSpPr>
          <a:xfrm>
            <a:off x="2510851" y="4702447"/>
            <a:ext cx="2534795" cy="182880"/>
            <a:chOff x="-785819" y="3971387"/>
            <a:chExt cx="4960898" cy="215444"/>
          </a:xfrm>
        </p:grpSpPr>
        <p:sp>
          <p:nvSpPr>
            <p:cNvPr id="173" name="Rectangle: Rounded Corners 172">
              <a:extLst>
                <a:ext uri="{FF2B5EF4-FFF2-40B4-BE49-F238E27FC236}">
                  <a16:creationId xmlns:a16="http://schemas.microsoft.com/office/drawing/2014/main" id="{2282A2C8-CD80-D32D-FF26-3ECB73E0526F}"/>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78" name="TextBox 177">
              <a:extLst>
                <a:ext uri="{FF2B5EF4-FFF2-40B4-BE49-F238E27FC236}">
                  <a16:creationId xmlns:a16="http://schemas.microsoft.com/office/drawing/2014/main" id="{2B7181B2-462E-46EB-41CB-B1EA07E409C9}"/>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1 Analytics, Migration, Validation</a:t>
              </a:r>
            </a:p>
          </p:txBody>
        </p:sp>
      </p:grpSp>
      <p:grpSp>
        <p:nvGrpSpPr>
          <p:cNvPr id="204" name="Group 203">
            <a:extLst>
              <a:ext uri="{FF2B5EF4-FFF2-40B4-BE49-F238E27FC236}">
                <a16:creationId xmlns:a16="http://schemas.microsoft.com/office/drawing/2014/main" id="{7BFC1535-9299-EB2D-D34E-355581160572}"/>
              </a:ext>
            </a:extLst>
          </p:cNvPr>
          <p:cNvGrpSpPr/>
          <p:nvPr/>
        </p:nvGrpSpPr>
        <p:grpSpPr>
          <a:xfrm>
            <a:off x="8112725" y="4225104"/>
            <a:ext cx="1464245" cy="295727"/>
            <a:chOff x="1784562" y="2200995"/>
            <a:chExt cx="1464245" cy="295727"/>
          </a:xfrm>
        </p:grpSpPr>
        <p:sp>
          <p:nvSpPr>
            <p:cNvPr id="205" name="TextBox 204">
              <a:extLst>
                <a:ext uri="{FF2B5EF4-FFF2-40B4-BE49-F238E27FC236}">
                  <a16:creationId xmlns:a16="http://schemas.microsoft.com/office/drawing/2014/main" id="{1751E35D-A3DB-856B-F41F-6B53739E2E9D}"/>
                </a:ext>
              </a:extLst>
            </p:cNvPr>
            <p:cNvSpPr txBox="1"/>
            <p:nvPr/>
          </p:nvSpPr>
          <p:spPr>
            <a:xfrm>
              <a:off x="1887558" y="2200995"/>
              <a:ext cx="1361249" cy="168379"/>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Security data integrated</a:t>
              </a:r>
            </a:p>
          </p:txBody>
        </p:sp>
        <p:pic>
          <p:nvPicPr>
            <p:cNvPr id="206" name="Graphic 205" descr="CVS Health logo.">
              <a:extLst>
                <a:ext uri="{FF2B5EF4-FFF2-40B4-BE49-F238E27FC236}">
                  <a16:creationId xmlns:a16="http://schemas.microsoft.com/office/drawing/2014/main" id="{6AD180E4-82E3-79EC-6E95-6D11C7EF7D2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208" name="Group 207">
            <a:extLst>
              <a:ext uri="{FF2B5EF4-FFF2-40B4-BE49-F238E27FC236}">
                <a16:creationId xmlns:a16="http://schemas.microsoft.com/office/drawing/2014/main" id="{8210FBDB-08A8-EEF6-85B2-BF7E233A6489}"/>
              </a:ext>
            </a:extLst>
          </p:cNvPr>
          <p:cNvGrpSpPr/>
          <p:nvPr/>
        </p:nvGrpSpPr>
        <p:grpSpPr>
          <a:xfrm>
            <a:off x="2528362" y="5228169"/>
            <a:ext cx="9117537" cy="219456"/>
            <a:chOff x="2528362" y="2400838"/>
            <a:chExt cx="9117537" cy="219456"/>
          </a:xfrm>
        </p:grpSpPr>
        <p:sp>
          <p:nvSpPr>
            <p:cNvPr id="209" name="Rectangle: Rounded Corners 208">
              <a:extLst>
                <a:ext uri="{FF2B5EF4-FFF2-40B4-BE49-F238E27FC236}">
                  <a16:creationId xmlns:a16="http://schemas.microsoft.com/office/drawing/2014/main" id="{2A93C221-4103-B61B-B40F-E45B339422FF}"/>
                </a:ext>
              </a:extLst>
            </p:cNvPr>
            <p:cNvSpPr/>
            <p:nvPr/>
          </p:nvSpPr>
          <p:spPr bwMode="gray">
            <a:xfrm>
              <a:off x="2528362" y="2400838"/>
              <a:ext cx="9117537" cy="219456"/>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10" name="TextBox 209">
              <a:extLst>
                <a:ext uri="{FF2B5EF4-FFF2-40B4-BE49-F238E27FC236}">
                  <a16:creationId xmlns:a16="http://schemas.microsoft.com/office/drawing/2014/main" id="{4FF55207-3A53-CB98-B735-5A32376BD67E}"/>
                </a:ext>
              </a:extLst>
            </p:cNvPr>
            <p:cNvSpPr txBox="1"/>
            <p:nvPr/>
          </p:nvSpPr>
          <p:spPr>
            <a:xfrm>
              <a:off x="6078044" y="2449011"/>
              <a:ext cx="2018181" cy="12311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panose="020B0504020202020204" pitchFamily="34" charset="0"/>
                  <a:ea typeface="+mn-ea"/>
                  <a:cs typeface="+mn-cs"/>
                </a:rPr>
                <a:t>Change Management and Power User Migration</a:t>
              </a:r>
            </a:p>
          </p:txBody>
        </p:sp>
      </p:grpSp>
      <p:grpSp>
        <p:nvGrpSpPr>
          <p:cNvPr id="213" name="Group 212">
            <a:extLst>
              <a:ext uri="{FF2B5EF4-FFF2-40B4-BE49-F238E27FC236}">
                <a16:creationId xmlns:a16="http://schemas.microsoft.com/office/drawing/2014/main" id="{A5C64E45-7A09-A3DC-9A37-1C50C8DE6A3D}"/>
              </a:ext>
            </a:extLst>
          </p:cNvPr>
          <p:cNvGrpSpPr/>
          <p:nvPr/>
        </p:nvGrpSpPr>
        <p:grpSpPr>
          <a:xfrm>
            <a:off x="10161260" y="5564799"/>
            <a:ext cx="1451097" cy="282566"/>
            <a:chOff x="1134469" y="2273358"/>
            <a:chExt cx="1451097" cy="282566"/>
          </a:xfrm>
        </p:grpSpPr>
        <p:sp>
          <p:nvSpPr>
            <p:cNvPr id="214" name="TextBox 213">
              <a:extLst>
                <a:ext uri="{FF2B5EF4-FFF2-40B4-BE49-F238E27FC236}">
                  <a16:creationId xmlns:a16="http://schemas.microsoft.com/office/drawing/2014/main" id="{3D1D620B-39DB-A23F-5E99-16E768AF0274}"/>
                </a:ext>
              </a:extLst>
            </p:cNvPr>
            <p:cNvSpPr txBox="1"/>
            <p:nvPr/>
          </p:nvSpPr>
          <p:spPr>
            <a:xfrm>
              <a:off x="1134469" y="2273358"/>
              <a:ext cx="1294571" cy="168379"/>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User adoption &amp; support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F3F3F"/>
                  </a:solidFill>
                  <a:effectLst/>
                  <a:uLnTx/>
                  <a:uFillTx/>
                  <a:latin typeface="CVS Health Sans"/>
                  <a:ea typeface="+mn-ea"/>
                  <a:cs typeface="+mn-cs"/>
                </a:rPr>
                <a:t>Model Operational</a:t>
              </a:r>
            </a:p>
          </p:txBody>
        </p:sp>
        <p:pic>
          <p:nvPicPr>
            <p:cNvPr id="215" name="Graphic 214" descr="CVS Health logo.">
              <a:extLst>
                <a:ext uri="{FF2B5EF4-FFF2-40B4-BE49-F238E27FC236}">
                  <a16:creationId xmlns:a16="http://schemas.microsoft.com/office/drawing/2014/main" id="{DD12A481-0133-AD62-FF4C-D9551E7755D3}"/>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2383196" y="2279547"/>
              <a:ext cx="202370" cy="276377"/>
            </a:xfrm>
            <a:prstGeom prst="rect">
              <a:avLst/>
            </a:prstGeom>
          </p:spPr>
        </p:pic>
      </p:grpSp>
      <p:grpSp>
        <p:nvGrpSpPr>
          <p:cNvPr id="231" name="Group 230">
            <a:extLst>
              <a:ext uri="{FF2B5EF4-FFF2-40B4-BE49-F238E27FC236}">
                <a16:creationId xmlns:a16="http://schemas.microsoft.com/office/drawing/2014/main" id="{F16F8F3E-97E5-4120-6DF1-620BCBFF5699}"/>
              </a:ext>
            </a:extLst>
          </p:cNvPr>
          <p:cNvGrpSpPr/>
          <p:nvPr/>
        </p:nvGrpSpPr>
        <p:grpSpPr>
          <a:xfrm>
            <a:off x="9991189" y="5786154"/>
            <a:ext cx="1654710" cy="223237"/>
            <a:chOff x="9991189" y="5703030"/>
            <a:chExt cx="1654710" cy="223237"/>
          </a:xfrm>
        </p:grpSpPr>
        <p:grpSp>
          <p:nvGrpSpPr>
            <p:cNvPr id="216" name="Group 215">
              <a:extLst>
                <a:ext uri="{FF2B5EF4-FFF2-40B4-BE49-F238E27FC236}">
                  <a16:creationId xmlns:a16="http://schemas.microsoft.com/office/drawing/2014/main" id="{3F5DB3B2-A25C-3F53-FEA8-5A6628B3F9F2}"/>
                </a:ext>
              </a:extLst>
            </p:cNvPr>
            <p:cNvGrpSpPr/>
            <p:nvPr/>
          </p:nvGrpSpPr>
          <p:grpSpPr>
            <a:xfrm>
              <a:off x="9991189" y="5703030"/>
              <a:ext cx="831327" cy="223237"/>
              <a:chOff x="2512488" y="2765047"/>
              <a:chExt cx="831327" cy="223237"/>
            </a:xfrm>
          </p:grpSpPr>
          <p:sp>
            <p:nvSpPr>
              <p:cNvPr id="217" name="Rectangle: Rounded Corners 216">
                <a:extLst>
                  <a:ext uri="{FF2B5EF4-FFF2-40B4-BE49-F238E27FC236}">
                    <a16:creationId xmlns:a16="http://schemas.microsoft.com/office/drawing/2014/main" id="{4DE997E6-CD5F-2B02-E110-08CAA4B86A44}"/>
                  </a:ext>
                </a:extLst>
              </p:cNvPr>
              <p:cNvSpPr/>
              <p:nvPr/>
            </p:nvSpPr>
            <p:spPr bwMode="gray">
              <a:xfrm>
                <a:off x="2512488" y="2768828"/>
                <a:ext cx="831327" cy="219456"/>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18" name="Group 217">
                <a:extLst>
                  <a:ext uri="{FF2B5EF4-FFF2-40B4-BE49-F238E27FC236}">
                    <a16:creationId xmlns:a16="http://schemas.microsoft.com/office/drawing/2014/main" id="{BE3401A0-0799-6497-BB9B-E1CBE4267F4B}"/>
                  </a:ext>
                </a:extLst>
              </p:cNvPr>
              <p:cNvGrpSpPr/>
              <p:nvPr/>
            </p:nvGrpSpPr>
            <p:grpSpPr>
              <a:xfrm>
                <a:off x="3156397" y="2802356"/>
                <a:ext cx="152400" cy="152400"/>
                <a:chOff x="11478469" y="2343150"/>
                <a:chExt cx="152400" cy="152400"/>
              </a:xfrm>
            </p:grpSpPr>
            <p:sp>
              <p:nvSpPr>
                <p:cNvPr id="220" name="Oval 219">
                  <a:extLst>
                    <a:ext uri="{FF2B5EF4-FFF2-40B4-BE49-F238E27FC236}">
                      <a16:creationId xmlns:a16="http://schemas.microsoft.com/office/drawing/2014/main" id="{57D24858-5107-B424-7804-A6572A5A5F31}"/>
                    </a:ext>
                  </a:extLst>
                </p:cNvPr>
                <p:cNvSpPr/>
                <p:nvPr/>
              </p:nvSpPr>
              <p:spPr bwMode="gray">
                <a:xfrm>
                  <a:off x="11478469" y="2343150"/>
                  <a:ext cx="152400" cy="152400"/>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21" name="Arrow: Chevron 220">
                  <a:extLst>
                    <a:ext uri="{FF2B5EF4-FFF2-40B4-BE49-F238E27FC236}">
                      <a16:creationId xmlns:a16="http://schemas.microsoft.com/office/drawing/2014/main" id="{2C1223A1-9FC1-30BF-5CA2-D99EA2F9FC18}"/>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219" name="TextBox 218">
                <a:extLst>
                  <a:ext uri="{FF2B5EF4-FFF2-40B4-BE49-F238E27FC236}">
                    <a16:creationId xmlns:a16="http://schemas.microsoft.com/office/drawing/2014/main" id="{D73EAE44-9BD0-311D-FC48-447F08F8C85D}"/>
                  </a:ext>
                </a:extLst>
              </p:cNvPr>
              <p:cNvSpPr txBox="1"/>
              <p:nvPr/>
            </p:nvSpPr>
            <p:spPr>
              <a:xfrm>
                <a:off x="2531601" y="2765047"/>
                <a:ext cx="601127" cy="9570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Cutover</a:t>
                </a:r>
              </a:p>
            </p:txBody>
          </p:sp>
          <p:sp>
            <p:nvSpPr>
              <p:cNvPr id="2" name="TextBox 1">
                <a:extLst>
                  <a:ext uri="{FF2B5EF4-FFF2-40B4-BE49-F238E27FC236}">
                    <a16:creationId xmlns:a16="http://schemas.microsoft.com/office/drawing/2014/main" id="{C339A65D-963F-1181-032D-CAC3F84359EB}"/>
                  </a:ext>
                </a:extLst>
              </p:cNvPr>
              <p:cNvSpPr txBox="1"/>
              <p:nvPr/>
            </p:nvSpPr>
            <p:spPr>
              <a:xfrm>
                <a:off x="2531601" y="2860756"/>
                <a:ext cx="601127" cy="9570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support</a:t>
                </a:r>
              </a:p>
            </p:txBody>
          </p:sp>
        </p:grpSp>
        <p:grpSp>
          <p:nvGrpSpPr>
            <p:cNvPr id="222" name="Group 221">
              <a:extLst>
                <a:ext uri="{FF2B5EF4-FFF2-40B4-BE49-F238E27FC236}">
                  <a16:creationId xmlns:a16="http://schemas.microsoft.com/office/drawing/2014/main" id="{B0D8A4BC-DEBC-74CC-0ABC-4446F7C70CD0}"/>
                </a:ext>
              </a:extLst>
            </p:cNvPr>
            <p:cNvGrpSpPr/>
            <p:nvPr/>
          </p:nvGrpSpPr>
          <p:grpSpPr>
            <a:xfrm>
              <a:off x="10822516" y="5703030"/>
              <a:ext cx="823383" cy="223237"/>
              <a:chOff x="2512488" y="2765047"/>
              <a:chExt cx="831327" cy="223237"/>
            </a:xfrm>
          </p:grpSpPr>
          <p:sp>
            <p:nvSpPr>
              <p:cNvPr id="223" name="Rectangle: Rounded Corners 222">
                <a:extLst>
                  <a:ext uri="{FF2B5EF4-FFF2-40B4-BE49-F238E27FC236}">
                    <a16:creationId xmlns:a16="http://schemas.microsoft.com/office/drawing/2014/main" id="{5CB2A3ED-6868-A9C6-1F51-D6BC12235CE9}"/>
                  </a:ext>
                </a:extLst>
              </p:cNvPr>
              <p:cNvSpPr/>
              <p:nvPr/>
            </p:nvSpPr>
            <p:spPr bwMode="gray">
              <a:xfrm>
                <a:off x="2512488" y="2768828"/>
                <a:ext cx="831327" cy="219456"/>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224" name="Group 223">
                <a:extLst>
                  <a:ext uri="{FF2B5EF4-FFF2-40B4-BE49-F238E27FC236}">
                    <a16:creationId xmlns:a16="http://schemas.microsoft.com/office/drawing/2014/main" id="{9802B89B-E188-8BFB-14CA-729D990505AA}"/>
                  </a:ext>
                </a:extLst>
              </p:cNvPr>
              <p:cNvGrpSpPr/>
              <p:nvPr/>
            </p:nvGrpSpPr>
            <p:grpSpPr>
              <a:xfrm>
                <a:off x="3156397" y="2802356"/>
                <a:ext cx="152400" cy="152400"/>
                <a:chOff x="11478469" y="2343150"/>
                <a:chExt cx="152400" cy="152400"/>
              </a:xfrm>
            </p:grpSpPr>
            <p:sp>
              <p:nvSpPr>
                <p:cNvPr id="226" name="Oval 225">
                  <a:extLst>
                    <a:ext uri="{FF2B5EF4-FFF2-40B4-BE49-F238E27FC236}">
                      <a16:creationId xmlns:a16="http://schemas.microsoft.com/office/drawing/2014/main" id="{289DADD4-9224-B02B-B02E-6C15DA3AF69C}"/>
                    </a:ext>
                  </a:extLst>
                </p:cNvPr>
                <p:cNvSpPr/>
                <p:nvPr/>
              </p:nvSpPr>
              <p:spPr bwMode="gray">
                <a:xfrm>
                  <a:off x="11478469" y="2343150"/>
                  <a:ext cx="152400" cy="152400"/>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227" name="Arrow: Chevron 226">
                  <a:extLst>
                    <a:ext uri="{FF2B5EF4-FFF2-40B4-BE49-F238E27FC236}">
                      <a16:creationId xmlns:a16="http://schemas.microsoft.com/office/drawing/2014/main" id="{7020753A-7C36-D615-19B1-9680B60FF778}"/>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225" name="TextBox 224">
                <a:extLst>
                  <a:ext uri="{FF2B5EF4-FFF2-40B4-BE49-F238E27FC236}">
                    <a16:creationId xmlns:a16="http://schemas.microsoft.com/office/drawing/2014/main" id="{82A645C4-F543-F5AE-1839-6CC3E9CE1BC8}"/>
                  </a:ext>
                </a:extLst>
              </p:cNvPr>
              <p:cNvSpPr txBox="1"/>
              <p:nvPr/>
            </p:nvSpPr>
            <p:spPr>
              <a:xfrm>
                <a:off x="2591479" y="2765047"/>
                <a:ext cx="532552" cy="11987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Transition </a:t>
                </a:r>
              </a:p>
            </p:txBody>
          </p:sp>
          <p:sp>
            <p:nvSpPr>
              <p:cNvPr id="3" name="TextBox 2">
                <a:extLst>
                  <a:ext uri="{FF2B5EF4-FFF2-40B4-BE49-F238E27FC236}">
                    <a16:creationId xmlns:a16="http://schemas.microsoft.com/office/drawing/2014/main" id="{9A530C95-4942-31CA-D81D-ECD3F1C63CA3}"/>
                  </a:ext>
                </a:extLst>
              </p:cNvPr>
              <p:cNvSpPr txBox="1"/>
              <p:nvPr/>
            </p:nvSpPr>
            <p:spPr>
              <a:xfrm>
                <a:off x="2591479" y="2860756"/>
                <a:ext cx="532552" cy="11987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&amp; Handoff</a:t>
                </a:r>
              </a:p>
            </p:txBody>
          </p:sp>
        </p:grpSp>
      </p:grpSp>
      <p:grpSp>
        <p:nvGrpSpPr>
          <p:cNvPr id="228" name="Group 227">
            <a:extLst>
              <a:ext uri="{FF2B5EF4-FFF2-40B4-BE49-F238E27FC236}">
                <a16:creationId xmlns:a16="http://schemas.microsoft.com/office/drawing/2014/main" id="{5B48141C-0EBF-A03A-5ABB-5A95A6B0E1F3}"/>
              </a:ext>
            </a:extLst>
          </p:cNvPr>
          <p:cNvGrpSpPr/>
          <p:nvPr/>
        </p:nvGrpSpPr>
        <p:grpSpPr>
          <a:xfrm>
            <a:off x="10079841" y="6103151"/>
            <a:ext cx="1577172" cy="295727"/>
            <a:chOff x="1784562" y="2200995"/>
            <a:chExt cx="1577172" cy="295727"/>
          </a:xfrm>
        </p:grpSpPr>
        <p:sp>
          <p:nvSpPr>
            <p:cNvPr id="229" name="TextBox 228">
              <a:extLst>
                <a:ext uri="{FF2B5EF4-FFF2-40B4-BE49-F238E27FC236}">
                  <a16:creationId xmlns:a16="http://schemas.microsoft.com/office/drawing/2014/main" id="{5C484959-0D6F-54F7-3566-8A2E6F3C17D5}"/>
                </a:ext>
              </a:extLst>
            </p:cNvPr>
            <p:cNvSpPr txBox="1"/>
            <p:nvPr/>
          </p:nvSpPr>
          <p:spPr>
            <a:xfrm>
              <a:off x="2014775" y="2200995"/>
              <a:ext cx="1346959" cy="168379"/>
            </a:xfrm>
            <a:prstGeom prst="rect">
              <a:avLst/>
            </a:prstGeom>
            <a:solidFill>
              <a:schemeClr val="bg1"/>
            </a:solidFill>
          </p:spPr>
          <p:txBody>
            <a:bodyPr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3F3F3F"/>
                  </a:solidFill>
                  <a:effectLst/>
                  <a:uLnTx/>
                  <a:uFillTx/>
                  <a:latin typeface="CVS Health Sans"/>
                  <a:ea typeface="+mn-ea"/>
                  <a:cs typeface="+mn-cs"/>
                </a:rPr>
                <a:t>CVS Data Lake Milestone</a:t>
              </a:r>
            </a:p>
          </p:txBody>
        </p:sp>
        <p:pic>
          <p:nvPicPr>
            <p:cNvPr id="230" name="Graphic 229" descr="CVS Health logo.">
              <a:extLst>
                <a:ext uri="{FF2B5EF4-FFF2-40B4-BE49-F238E27FC236}">
                  <a16:creationId xmlns:a16="http://schemas.microsoft.com/office/drawing/2014/main" id="{5F57253D-C243-F445-EC2C-08327035D36B}"/>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t="-1" r="84117" b="-77793"/>
            <a:stretch>
              <a:fillRect/>
            </a:stretch>
          </p:blipFill>
          <p:spPr>
            <a:xfrm>
              <a:off x="1784562" y="2220345"/>
              <a:ext cx="202370" cy="276377"/>
            </a:xfrm>
            <a:prstGeom prst="rect">
              <a:avLst/>
            </a:prstGeom>
          </p:spPr>
        </p:pic>
      </p:grpSp>
      <p:grpSp>
        <p:nvGrpSpPr>
          <p:cNvPr id="10" name="Group 9">
            <a:extLst>
              <a:ext uri="{FF2B5EF4-FFF2-40B4-BE49-F238E27FC236}">
                <a16:creationId xmlns:a16="http://schemas.microsoft.com/office/drawing/2014/main" id="{9E2AC4E2-AF69-B0DE-E1C3-255EABCECCF2}"/>
              </a:ext>
            </a:extLst>
          </p:cNvPr>
          <p:cNvGrpSpPr/>
          <p:nvPr/>
        </p:nvGrpSpPr>
        <p:grpSpPr>
          <a:xfrm>
            <a:off x="1784562" y="4996837"/>
            <a:ext cx="1559190" cy="215444"/>
            <a:chOff x="1784562" y="4996837"/>
            <a:chExt cx="1559190" cy="215444"/>
          </a:xfrm>
        </p:grpSpPr>
        <p:sp>
          <p:nvSpPr>
            <p:cNvPr id="7" name="Rectangle: Rounded Corners 6">
              <a:extLst>
                <a:ext uri="{FF2B5EF4-FFF2-40B4-BE49-F238E27FC236}">
                  <a16:creationId xmlns:a16="http://schemas.microsoft.com/office/drawing/2014/main" id="{E631A8AA-4F07-B0B0-0E4F-3FE6CB1B7511}"/>
                </a:ext>
              </a:extLst>
            </p:cNvPr>
            <p:cNvSpPr/>
            <p:nvPr/>
          </p:nvSpPr>
          <p:spPr bwMode="gray">
            <a:xfrm>
              <a:off x="1784562" y="4996837"/>
              <a:ext cx="1559190" cy="21544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8" name="Group 7">
              <a:extLst>
                <a:ext uri="{FF2B5EF4-FFF2-40B4-BE49-F238E27FC236}">
                  <a16:creationId xmlns:a16="http://schemas.microsoft.com/office/drawing/2014/main" id="{9F925EC3-AF8C-A56B-CBAB-A41E7F136AF2}"/>
                </a:ext>
              </a:extLst>
            </p:cNvPr>
            <p:cNvGrpSpPr/>
            <p:nvPr/>
          </p:nvGrpSpPr>
          <p:grpSpPr>
            <a:xfrm>
              <a:off x="3118555" y="5028359"/>
              <a:ext cx="152400" cy="152400"/>
              <a:chOff x="11478469" y="2343150"/>
              <a:chExt cx="152400" cy="152400"/>
            </a:xfrm>
          </p:grpSpPr>
          <p:sp>
            <p:nvSpPr>
              <p:cNvPr id="13" name="Oval 12">
                <a:extLst>
                  <a:ext uri="{FF2B5EF4-FFF2-40B4-BE49-F238E27FC236}">
                    <a16:creationId xmlns:a16="http://schemas.microsoft.com/office/drawing/2014/main" id="{46F33156-F82D-652A-AACF-09550A5654D1}"/>
                  </a:ext>
                </a:extLst>
              </p:cNvPr>
              <p:cNvSpPr/>
              <p:nvPr/>
            </p:nvSpPr>
            <p:spPr bwMode="gray">
              <a:xfrm>
                <a:off x="11478469" y="2343150"/>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4" name="Arrow: Chevron 13">
                <a:extLst>
                  <a:ext uri="{FF2B5EF4-FFF2-40B4-BE49-F238E27FC236}">
                    <a16:creationId xmlns:a16="http://schemas.microsoft.com/office/drawing/2014/main" id="{1946D723-1C9C-0FBD-F312-5C3845BA1CDA}"/>
                  </a:ext>
                </a:extLst>
              </p:cNvPr>
              <p:cNvSpPr/>
              <p:nvPr/>
            </p:nvSpPr>
            <p:spPr bwMode="gray">
              <a:xfrm>
                <a:off x="11526567" y="2379338"/>
                <a:ext cx="65358" cy="80023"/>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9" name="TextBox 8">
              <a:extLst>
                <a:ext uri="{FF2B5EF4-FFF2-40B4-BE49-F238E27FC236}">
                  <a16:creationId xmlns:a16="http://schemas.microsoft.com/office/drawing/2014/main" id="{0318DD87-39C1-AAFF-DFB6-99CDDFE3E33B}"/>
                </a:ext>
              </a:extLst>
            </p:cNvPr>
            <p:cNvSpPr txBox="1"/>
            <p:nvPr/>
          </p:nvSpPr>
          <p:spPr>
            <a:xfrm>
              <a:off x="1821593" y="4996837"/>
              <a:ext cx="1085157" cy="21544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Communication Plan</a:t>
              </a:r>
            </a:p>
          </p:txBody>
        </p:sp>
      </p:grpSp>
      <p:grpSp>
        <p:nvGrpSpPr>
          <p:cNvPr id="55" name="Group 54">
            <a:extLst>
              <a:ext uri="{FF2B5EF4-FFF2-40B4-BE49-F238E27FC236}">
                <a16:creationId xmlns:a16="http://schemas.microsoft.com/office/drawing/2014/main" id="{EF25D142-BF37-F223-92B3-1CFBA4470C76}"/>
              </a:ext>
            </a:extLst>
          </p:cNvPr>
          <p:cNvGrpSpPr/>
          <p:nvPr/>
        </p:nvGrpSpPr>
        <p:grpSpPr>
          <a:xfrm>
            <a:off x="4108443" y="6174518"/>
            <a:ext cx="152400" cy="155448"/>
            <a:chOff x="11459934" y="2346516"/>
            <a:chExt cx="152400" cy="152400"/>
          </a:xfrm>
        </p:grpSpPr>
        <p:sp>
          <p:nvSpPr>
            <p:cNvPr id="58" name="Oval 57">
              <a:extLst>
                <a:ext uri="{FF2B5EF4-FFF2-40B4-BE49-F238E27FC236}">
                  <a16:creationId xmlns:a16="http://schemas.microsoft.com/office/drawing/2014/main" id="{8EBAE7D5-4F77-72FA-436E-22705CAEEBC3}"/>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60" name="Arrow: Chevron 59">
              <a:extLst>
                <a:ext uri="{FF2B5EF4-FFF2-40B4-BE49-F238E27FC236}">
                  <a16:creationId xmlns:a16="http://schemas.microsoft.com/office/drawing/2014/main" id="{B30FE05B-3B4D-B4D4-33EA-40EF472AB85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65" name="TextBox 64">
            <a:extLst>
              <a:ext uri="{FF2B5EF4-FFF2-40B4-BE49-F238E27FC236}">
                <a16:creationId xmlns:a16="http://schemas.microsoft.com/office/drawing/2014/main" id="{D324C5DD-6FB5-FEE7-C59C-1941D664BD16}"/>
              </a:ext>
            </a:extLst>
          </p:cNvPr>
          <p:cNvSpPr txBox="1"/>
          <p:nvPr/>
        </p:nvSpPr>
        <p:spPr>
          <a:xfrm>
            <a:off x="4193514" y="6125010"/>
            <a:ext cx="219636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3F3F3F"/>
                </a:solidFill>
                <a:effectLst/>
                <a:uLnTx/>
                <a:uFillTx/>
                <a:latin typeface="CVS Health Sans"/>
                <a:ea typeface="+mn-ea"/>
                <a:cs typeface="+mn-cs"/>
              </a:rPr>
              <a:t>Tier 1, 2, 3 </a:t>
            </a:r>
            <a:r>
              <a:rPr kumimoji="0" lang="en-US" sz="1000" b="0" i="1" u="none" strike="noStrike" kern="1200" cap="none" spc="0" normalizeH="0" baseline="0" noProof="0" err="1">
                <a:ln>
                  <a:noFill/>
                </a:ln>
                <a:solidFill>
                  <a:srgbClr val="3F3F3F"/>
                </a:solidFill>
                <a:effectLst/>
                <a:uLnTx/>
                <a:uFillTx/>
                <a:latin typeface="CVS Health Sans"/>
                <a:ea typeface="+mn-ea"/>
                <a:cs typeface="+mn-cs"/>
              </a:rPr>
              <a:t>etc</a:t>
            </a:r>
            <a:r>
              <a:rPr kumimoji="0" lang="en-US" sz="1000" b="0" i="1" u="none" strike="noStrike" kern="1200" cap="none" spc="0" normalizeH="0" baseline="0" noProof="0">
                <a:ln>
                  <a:noFill/>
                </a:ln>
                <a:solidFill>
                  <a:srgbClr val="3F3F3F"/>
                </a:solidFill>
                <a:effectLst/>
                <a:uLnTx/>
                <a:uFillTx/>
                <a:latin typeface="CVS Health Sans"/>
                <a:ea typeface="+mn-ea"/>
                <a:cs typeface="+mn-cs"/>
              </a:rPr>
              <a:t> milestones</a:t>
            </a:r>
          </a:p>
        </p:txBody>
      </p:sp>
      <p:grpSp>
        <p:nvGrpSpPr>
          <p:cNvPr id="67" name="Group 66">
            <a:extLst>
              <a:ext uri="{FF2B5EF4-FFF2-40B4-BE49-F238E27FC236}">
                <a16:creationId xmlns:a16="http://schemas.microsoft.com/office/drawing/2014/main" id="{C6C55876-B980-361C-9F88-1B9C93ED2B3D}"/>
              </a:ext>
            </a:extLst>
          </p:cNvPr>
          <p:cNvGrpSpPr/>
          <p:nvPr/>
        </p:nvGrpSpPr>
        <p:grpSpPr>
          <a:xfrm>
            <a:off x="7344293" y="5114797"/>
            <a:ext cx="152400" cy="155448"/>
            <a:chOff x="11459934" y="2346516"/>
            <a:chExt cx="152400" cy="152400"/>
          </a:xfrm>
        </p:grpSpPr>
        <p:sp>
          <p:nvSpPr>
            <p:cNvPr id="69" name="Oval 68">
              <a:extLst>
                <a:ext uri="{FF2B5EF4-FFF2-40B4-BE49-F238E27FC236}">
                  <a16:creationId xmlns:a16="http://schemas.microsoft.com/office/drawing/2014/main" id="{8791489B-4F64-0EEB-27C4-635A07874931}"/>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2" name="Arrow: Chevron 71">
              <a:extLst>
                <a:ext uri="{FF2B5EF4-FFF2-40B4-BE49-F238E27FC236}">
                  <a16:creationId xmlns:a16="http://schemas.microsoft.com/office/drawing/2014/main" id="{8C6227BD-AB7F-453E-4FF8-980A336D513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83" name="Group 82">
            <a:extLst>
              <a:ext uri="{FF2B5EF4-FFF2-40B4-BE49-F238E27FC236}">
                <a16:creationId xmlns:a16="http://schemas.microsoft.com/office/drawing/2014/main" id="{42336199-6B87-08C8-347E-558D19B41C12}"/>
              </a:ext>
            </a:extLst>
          </p:cNvPr>
          <p:cNvGrpSpPr/>
          <p:nvPr/>
        </p:nvGrpSpPr>
        <p:grpSpPr>
          <a:xfrm>
            <a:off x="9002974" y="5114797"/>
            <a:ext cx="152400" cy="155448"/>
            <a:chOff x="11459934" y="2346516"/>
            <a:chExt cx="152400" cy="152400"/>
          </a:xfrm>
        </p:grpSpPr>
        <p:sp>
          <p:nvSpPr>
            <p:cNvPr id="86" name="Oval 85">
              <a:extLst>
                <a:ext uri="{FF2B5EF4-FFF2-40B4-BE49-F238E27FC236}">
                  <a16:creationId xmlns:a16="http://schemas.microsoft.com/office/drawing/2014/main" id="{019F1398-B50C-1CAC-68E4-9D806D936022}"/>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91" name="Arrow: Chevron 90">
              <a:extLst>
                <a:ext uri="{FF2B5EF4-FFF2-40B4-BE49-F238E27FC236}">
                  <a16:creationId xmlns:a16="http://schemas.microsoft.com/office/drawing/2014/main" id="{7C7DCEA9-6F92-7901-05A4-DF8A5BE7EA48}"/>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13" name="Group 112">
            <a:extLst>
              <a:ext uri="{FF2B5EF4-FFF2-40B4-BE49-F238E27FC236}">
                <a16:creationId xmlns:a16="http://schemas.microsoft.com/office/drawing/2014/main" id="{31F64C5E-1B3B-02DF-C352-F067209A93D7}"/>
              </a:ext>
            </a:extLst>
          </p:cNvPr>
          <p:cNvGrpSpPr/>
          <p:nvPr/>
        </p:nvGrpSpPr>
        <p:grpSpPr>
          <a:xfrm>
            <a:off x="11430748" y="5256569"/>
            <a:ext cx="152400" cy="155448"/>
            <a:chOff x="11459934" y="2346516"/>
            <a:chExt cx="152400" cy="152400"/>
          </a:xfrm>
        </p:grpSpPr>
        <p:sp>
          <p:nvSpPr>
            <p:cNvPr id="115" name="Oval 114">
              <a:extLst>
                <a:ext uri="{FF2B5EF4-FFF2-40B4-BE49-F238E27FC236}">
                  <a16:creationId xmlns:a16="http://schemas.microsoft.com/office/drawing/2014/main" id="{DA2A87CF-122C-DC9E-A455-9BC386B204C7}"/>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17" name="Arrow: Chevron 116">
              <a:extLst>
                <a:ext uri="{FF2B5EF4-FFF2-40B4-BE49-F238E27FC236}">
                  <a16:creationId xmlns:a16="http://schemas.microsoft.com/office/drawing/2014/main" id="{1D84FFA1-4BC2-3BC1-8C13-ACB9CBF78AB8}"/>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47" name="Rectangle: Rounded Corners 146">
            <a:extLst>
              <a:ext uri="{FF2B5EF4-FFF2-40B4-BE49-F238E27FC236}">
                <a16:creationId xmlns:a16="http://schemas.microsoft.com/office/drawing/2014/main" id="{3AEC9645-6ACC-2AE5-7EEA-928946FAAB9B}"/>
              </a:ext>
            </a:extLst>
          </p:cNvPr>
          <p:cNvSpPr/>
          <p:nvPr/>
        </p:nvSpPr>
        <p:spPr bwMode="gray">
          <a:xfrm>
            <a:off x="2423160" y="2921002"/>
            <a:ext cx="2560320" cy="145570"/>
          </a:xfrm>
          <a:prstGeom prst="roundRect">
            <a:avLst>
              <a:gd name="adj" fmla="val 50000"/>
            </a:avLst>
          </a:prstGeom>
          <a:solidFill>
            <a:srgbClr val="267AC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defRPr/>
            </a:pPr>
            <a:r>
              <a:rPr lang="en-US" sz="800" kern="0">
                <a:solidFill>
                  <a:prstClr val="white"/>
                </a:solidFill>
              </a:rPr>
              <a:t>Remediation Actions</a:t>
            </a: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nvGrpSpPr>
          <p:cNvPr id="5" name="Group 4">
            <a:extLst>
              <a:ext uri="{FF2B5EF4-FFF2-40B4-BE49-F238E27FC236}">
                <a16:creationId xmlns:a16="http://schemas.microsoft.com/office/drawing/2014/main" id="{F14AA566-C303-D5E9-7123-0B3ADC4474B2}"/>
              </a:ext>
            </a:extLst>
          </p:cNvPr>
          <p:cNvGrpSpPr/>
          <p:nvPr/>
        </p:nvGrpSpPr>
        <p:grpSpPr>
          <a:xfrm>
            <a:off x="4846525" y="2926731"/>
            <a:ext cx="118872" cy="118873"/>
            <a:chOff x="4861765" y="2934351"/>
            <a:chExt cx="118872" cy="118873"/>
          </a:xfrm>
        </p:grpSpPr>
        <p:sp>
          <p:nvSpPr>
            <p:cNvPr id="153" name="Oval 152">
              <a:extLst>
                <a:ext uri="{FF2B5EF4-FFF2-40B4-BE49-F238E27FC236}">
                  <a16:creationId xmlns:a16="http://schemas.microsoft.com/office/drawing/2014/main" id="{E7AF7479-3546-E8DE-711B-6B3B24B0BC1F}"/>
                </a:ext>
              </a:extLst>
            </p:cNvPr>
            <p:cNvSpPr/>
            <p:nvPr/>
          </p:nvSpPr>
          <p:spPr bwMode="gray">
            <a:xfrm>
              <a:off x="4861765" y="2934351"/>
              <a:ext cx="118872" cy="118873"/>
            </a:xfrm>
            <a:prstGeom prst="ellipse">
              <a:avLst/>
            </a:prstGeom>
            <a:solidFill>
              <a:srgbClr val="267AC0"/>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5" name="Arrow: Chevron 154">
              <a:extLst>
                <a:ext uri="{FF2B5EF4-FFF2-40B4-BE49-F238E27FC236}">
                  <a16:creationId xmlns:a16="http://schemas.microsoft.com/office/drawing/2014/main" id="{DB140243-DF5A-DCB0-0C7D-52E435EE1CC0}"/>
                </a:ext>
              </a:extLst>
            </p:cNvPr>
            <p:cNvSpPr/>
            <p:nvPr/>
          </p:nvSpPr>
          <p:spPr bwMode="gray">
            <a:xfrm>
              <a:off x="4893769" y="2961783"/>
              <a:ext cx="54864" cy="64008"/>
            </a:xfrm>
            <a:prstGeom prst="chevron">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sp>
        <p:nvSpPr>
          <p:cNvPr id="163" name="Rectangle: Rounded Corners 162">
            <a:extLst>
              <a:ext uri="{FF2B5EF4-FFF2-40B4-BE49-F238E27FC236}">
                <a16:creationId xmlns:a16="http://schemas.microsoft.com/office/drawing/2014/main" id="{141785C1-E448-10A1-216F-68CDE35E25FC}"/>
              </a:ext>
            </a:extLst>
          </p:cNvPr>
          <p:cNvSpPr/>
          <p:nvPr/>
        </p:nvSpPr>
        <p:spPr bwMode="gray">
          <a:xfrm>
            <a:off x="3350371" y="3463418"/>
            <a:ext cx="1627135" cy="146304"/>
          </a:xfrm>
          <a:prstGeom prst="roundRect">
            <a:avLst>
              <a:gd name="adj" fmla="val 50000"/>
            </a:avLst>
          </a:prstGeom>
          <a:solidFill>
            <a:srgbClr val="0A4B8C"/>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68" name="TextBox 167">
            <a:extLst>
              <a:ext uri="{FF2B5EF4-FFF2-40B4-BE49-F238E27FC236}">
                <a16:creationId xmlns:a16="http://schemas.microsoft.com/office/drawing/2014/main" id="{438F3EE9-810A-1354-2D81-A2098AA1B168}"/>
              </a:ext>
            </a:extLst>
          </p:cNvPr>
          <p:cNvSpPr txBox="1"/>
          <p:nvPr/>
        </p:nvSpPr>
        <p:spPr>
          <a:xfrm>
            <a:off x="3356964" y="3463418"/>
            <a:ext cx="1447387" cy="146304"/>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white"/>
                </a:solidFill>
                <a:effectLst/>
                <a:uLnTx/>
                <a:uFillTx/>
                <a:latin typeface="CVS Health Sans"/>
                <a:ea typeface="+mn-ea"/>
                <a:cs typeface="+mn-cs"/>
              </a:rPr>
              <a:t>Inventory, Routing, Tier 2 Data Landing</a:t>
            </a:r>
          </a:p>
        </p:txBody>
      </p:sp>
      <p:grpSp>
        <p:nvGrpSpPr>
          <p:cNvPr id="183" name="Group 182">
            <a:extLst>
              <a:ext uri="{FF2B5EF4-FFF2-40B4-BE49-F238E27FC236}">
                <a16:creationId xmlns:a16="http://schemas.microsoft.com/office/drawing/2014/main" id="{E8AB542C-F65E-C04F-EE88-C65E36E3EA9A}"/>
              </a:ext>
            </a:extLst>
          </p:cNvPr>
          <p:cNvGrpSpPr/>
          <p:nvPr/>
        </p:nvGrpSpPr>
        <p:grpSpPr>
          <a:xfrm>
            <a:off x="4821728" y="3475463"/>
            <a:ext cx="118872" cy="118872"/>
            <a:chOff x="11459934" y="2346516"/>
            <a:chExt cx="152400" cy="152400"/>
          </a:xfrm>
        </p:grpSpPr>
        <p:sp>
          <p:nvSpPr>
            <p:cNvPr id="184" name="Oval 183">
              <a:extLst>
                <a:ext uri="{FF2B5EF4-FFF2-40B4-BE49-F238E27FC236}">
                  <a16:creationId xmlns:a16="http://schemas.microsoft.com/office/drawing/2014/main" id="{CF5B4A4B-FFC2-F431-9F89-9D061D38D3E1}"/>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85" name="Arrow: Chevron 184">
              <a:extLst>
                <a:ext uri="{FF2B5EF4-FFF2-40B4-BE49-F238E27FC236}">
                  <a16:creationId xmlns:a16="http://schemas.microsoft.com/office/drawing/2014/main" id="{1950818C-B90C-FC8E-7DBC-39727E2493E7}"/>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129" name="Group 128">
            <a:extLst>
              <a:ext uri="{FF2B5EF4-FFF2-40B4-BE49-F238E27FC236}">
                <a16:creationId xmlns:a16="http://schemas.microsoft.com/office/drawing/2014/main" id="{06765249-AE8D-A9A4-38B2-7FB560491DCE}"/>
              </a:ext>
            </a:extLst>
          </p:cNvPr>
          <p:cNvGrpSpPr/>
          <p:nvPr/>
        </p:nvGrpSpPr>
        <p:grpSpPr>
          <a:xfrm>
            <a:off x="5082244" y="4702447"/>
            <a:ext cx="2357941" cy="182880"/>
            <a:chOff x="-785819" y="3971387"/>
            <a:chExt cx="4960898" cy="215444"/>
          </a:xfrm>
        </p:grpSpPr>
        <p:sp>
          <p:nvSpPr>
            <p:cNvPr id="130" name="Rectangle: Rounded Corners 129">
              <a:extLst>
                <a:ext uri="{FF2B5EF4-FFF2-40B4-BE49-F238E27FC236}">
                  <a16:creationId xmlns:a16="http://schemas.microsoft.com/office/drawing/2014/main" id="{C9D091BA-E93A-5DFC-7269-94730A0F312B}"/>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31" name="TextBox 130">
              <a:extLst>
                <a:ext uri="{FF2B5EF4-FFF2-40B4-BE49-F238E27FC236}">
                  <a16:creationId xmlns:a16="http://schemas.microsoft.com/office/drawing/2014/main" id="{756F52F4-BC34-F697-39BA-FF3C307833C2}"/>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2 Analytics, Migration, Validation </a:t>
              </a:r>
            </a:p>
          </p:txBody>
        </p:sp>
      </p:grpSp>
      <p:grpSp>
        <p:nvGrpSpPr>
          <p:cNvPr id="142" name="Group 141">
            <a:extLst>
              <a:ext uri="{FF2B5EF4-FFF2-40B4-BE49-F238E27FC236}">
                <a16:creationId xmlns:a16="http://schemas.microsoft.com/office/drawing/2014/main" id="{952538E1-44F0-D0C6-42A9-ACBE2EC581A8}"/>
              </a:ext>
            </a:extLst>
          </p:cNvPr>
          <p:cNvGrpSpPr/>
          <p:nvPr/>
        </p:nvGrpSpPr>
        <p:grpSpPr>
          <a:xfrm>
            <a:off x="7535994" y="4702447"/>
            <a:ext cx="2357941" cy="182880"/>
            <a:chOff x="-785819" y="3971387"/>
            <a:chExt cx="4960898" cy="215444"/>
          </a:xfrm>
        </p:grpSpPr>
        <p:sp>
          <p:nvSpPr>
            <p:cNvPr id="143" name="Rectangle: Rounded Corners 142">
              <a:extLst>
                <a:ext uri="{FF2B5EF4-FFF2-40B4-BE49-F238E27FC236}">
                  <a16:creationId xmlns:a16="http://schemas.microsoft.com/office/drawing/2014/main" id="{C9BC9FC5-61DA-06D4-B698-5BA956124E0A}"/>
                </a:ext>
              </a:extLst>
            </p:cNvPr>
            <p:cNvSpPr/>
            <p:nvPr/>
          </p:nvSpPr>
          <p:spPr bwMode="gray">
            <a:xfrm>
              <a:off x="-785819" y="3971387"/>
              <a:ext cx="4960898" cy="215444"/>
            </a:xfrm>
            <a:prstGeom prst="roundRect">
              <a:avLst>
                <a:gd name="adj" fmla="val 50000"/>
              </a:avLst>
            </a:prstGeom>
            <a:solidFill>
              <a:srgbClr val="00A78E"/>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57" name="TextBox 156">
              <a:extLst>
                <a:ext uri="{FF2B5EF4-FFF2-40B4-BE49-F238E27FC236}">
                  <a16:creationId xmlns:a16="http://schemas.microsoft.com/office/drawing/2014/main" id="{7FC16EF9-723B-EFAD-5C94-43BB7348B627}"/>
                </a:ext>
              </a:extLst>
            </p:cNvPr>
            <p:cNvSpPr txBox="1"/>
            <p:nvPr/>
          </p:nvSpPr>
          <p:spPr>
            <a:xfrm>
              <a:off x="-752008" y="3971387"/>
              <a:ext cx="4743731" cy="215444"/>
            </a:xfrm>
            <a:prstGeom prst="rect">
              <a:avLst/>
            </a:prstGeom>
            <a:noFill/>
          </p:spPr>
          <p:txBody>
            <a:bodyPr wrap="non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white"/>
                  </a:solidFill>
                  <a:effectLst/>
                  <a:uLnTx/>
                  <a:uFillTx/>
                  <a:latin typeface="CVS Health Sans"/>
                  <a:ea typeface="+mn-ea"/>
                  <a:cs typeface="+mn-cs"/>
                </a:rPr>
                <a:t>Tier 3 Analytics, Migration, Validation </a:t>
              </a:r>
            </a:p>
          </p:txBody>
        </p:sp>
      </p:grpSp>
      <p:grpSp>
        <p:nvGrpSpPr>
          <p:cNvPr id="73" name="Group 72">
            <a:extLst>
              <a:ext uri="{FF2B5EF4-FFF2-40B4-BE49-F238E27FC236}">
                <a16:creationId xmlns:a16="http://schemas.microsoft.com/office/drawing/2014/main" id="{9E7D920F-392E-C17A-E163-9B80053C0C26}"/>
              </a:ext>
            </a:extLst>
          </p:cNvPr>
          <p:cNvGrpSpPr/>
          <p:nvPr/>
        </p:nvGrpSpPr>
        <p:grpSpPr>
          <a:xfrm>
            <a:off x="9782302" y="4724131"/>
            <a:ext cx="152400" cy="155448"/>
            <a:chOff x="11459934" y="2346516"/>
            <a:chExt cx="152400" cy="152400"/>
          </a:xfrm>
        </p:grpSpPr>
        <p:sp>
          <p:nvSpPr>
            <p:cNvPr id="78" name="Oval 77">
              <a:extLst>
                <a:ext uri="{FF2B5EF4-FFF2-40B4-BE49-F238E27FC236}">
                  <a16:creationId xmlns:a16="http://schemas.microsoft.com/office/drawing/2014/main" id="{2B2A529C-7C2C-F20F-726B-CBED08FCB054}"/>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79" name="Arrow: Chevron 78">
              <a:extLst>
                <a:ext uri="{FF2B5EF4-FFF2-40B4-BE49-F238E27FC236}">
                  <a16:creationId xmlns:a16="http://schemas.microsoft.com/office/drawing/2014/main" id="{B2E73BC6-98BE-8CDC-D007-4E3092E4B3EB}"/>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80" name="Group 79">
            <a:extLst>
              <a:ext uri="{FF2B5EF4-FFF2-40B4-BE49-F238E27FC236}">
                <a16:creationId xmlns:a16="http://schemas.microsoft.com/office/drawing/2014/main" id="{18519A6B-541A-7057-1DD7-BCB6393C5BF9}"/>
              </a:ext>
            </a:extLst>
          </p:cNvPr>
          <p:cNvGrpSpPr/>
          <p:nvPr/>
        </p:nvGrpSpPr>
        <p:grpSpPr>
          <a:xfrm>
            <a:off x="7326629" y="4728196"/>
            <a:ext cx="152400" cy="155448"/>
            <a:chOff x="11459934" y="2346516"/>
            <a:chExt cx="152400" cy="152400"/>
          </a:xfrm>
        </p:grpSpPr>
        <p:sp>
          <p:nvSpPr>
            <p:cNvPr id="81" name="Oval 80">
              <a:extLst>
                <a:ext uri="{FF2B5EF4-FFF2-40B4-BE49-F238E27FC236}">
                  <a16:creationId xmlns:a16="http://schemas.microsoft.com/office/drawing/2014/main" id="{B70A46D1-C45D-900A-B17F-28C64248165C}"/>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82" name="Arrow: Chevron 81">
              <a:extLst>
                <a:ext uri="{FF2B5EF4-FFF2-40B4-BE49-F238E27FC236}">
                  <a16:creationId xmlns:a16="http://schemas.microsoft.com/office/drawing/2014/main" id="{9B9E99AA-D55A-1B53-80E6-79B4B56F8213}"/>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grpSp>
        <p:nvGrpSpPr>
          <p:cNvPr id="92" name="Group 91">
            <a:extLst>
              <a:ext uri="{FF2B5EF4-FFF2-40B4-BE49-F238E27FC236}">
                <a16:creationId xmlns:a16="http://schemas.microsoft.com/office/drawing/2014/main" id="{F6264390-D463-9980-B12E-8E1C981D70F1}"/>
              </a:ext>
            </a:extLst>
          </p:cNvPr>
          <p:cNvGrpSpPr/>
          <p:nvPr/>
        </p:nvGrpSpPr>
        <p:grpSpPr>
          <a:xfrm>
            <a:off x="4927108" y="4728196"/>
            <a:ext cx="152400" cy="155448"/>
            <a:chOff x="11459934" y="2346516"/>
            <a:chExt cx="152400" cy="152400"/>
          </a:xfrm>
        </p:grpSpPr>
        <p:sp>
          <p:nvSpPr>
            <p:cNvPr id="93" name="Oval 92">
              <a:extLst>
                <a:ext uri="{FF2B5EF4-FFF2-40B4-BE49-F238E27FC236}">
                  <a16:creationId xmlns:a16="http://schemas.microsoft.com/office/drawing/2014/main" id="{81F64836-1C55-A01E-6886-3F00916501E6}"/>
                </a:ext>
              </a:extLst>
            </p:cNvPr>
            <p:cNvSpPr/>
            <p:nvPr/>
          </p:nvSpPr>
          <p:spPr bwMode="gray">
            <a:xfrm>
              <a:off x="11459934" y="2346516"/>
              <a:ext cx="152400" cy="152400"/>
            </a:xfrm>
            <a:prstGeom prst="ellipse">
              <a:avLst/>
            </a:prstGeom>
            <a:solidFill>
              <a:srgbClr val="0A4B8C"/>
            </a:solidFill>
            <a:ln>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sp>
          <p:nvSpPr>
            <p:cNvPr id="104" name="Arrow: Chevron 103">
              <a:extLst>
                <a:ext uri="{FF2B5EF4-FFF2-40B4-BE49-F238E27FC236}">
                  <a16:creationId xmlns:a16="http://schemas.microsoft.com/office/drawing/2014/main" id="{6FC84070-E0A7-3865-9C17-650EE617F883}"/>
                </a:ext>
              </a:extLst>
            </p:cNvPr>
            <p:cNvSpPr/>
            <p:nvPr/>
          </p:nvSpPr>
          <p:spPr bwMode="gray">
            <a:xfrm>
              <a:off x="11508032" y="2382704"/>
              <a:ext cx="65358" cy="80023"/>
            </a:xfrm>
            <a:prstGeom prst="chevron">
              <a:avLst/>
            </a:prstGeom>
            <a:solidFill>
              <a:srgbClr val="F4642A"/>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1" i="0" u="none" strike="noStrike" kern="1200" cap="none" spc="0" normalizeH="0" baseline="0" noProof="0">
                <a:ln>
                  <a:noFill/>
                </a:ln>
                <a:solidFill>
                  <a:prstClr val="white"/>
                </a:solidFill>
                <a:effectLst/>
                <a:uLnTx/>
                <a:uFillTx/>
                <a:latin typeface="CVS Health Sans"/>
                <a:ea typeface="+mn-ea"/>
                <a:cs typeface="+mn-cs"/>
              </a:endParaRPr>
            </a:p>
          </p:txBody>
        </p:sp>
      </p:grpSp>
      <p:cxnSp>
        <p:nvCxnSpPr>
          <p:cNvPr id="15" name="Straight Arrow Connector 14">
            <a:extLst>
              <a:ext uri="{FF2B5EF4-FFF2-40B4-BE49-F238E27FC236}">
                <a16:creationId xmlns:a16="http://schemas.microsoft.com/office/drawing/2014/main" id="{B721AFB3-C3BD-65B7-6208-1B005A6175CD}"/>
              </a:ext>
            </a:extLst>
          </p:cNvPr>
          <p:cNvCxnSpPr/>
          <p:nvPr/>
        </p:nvCxnSpPr>
        <p:spPr>
          <a:xfrm>
            <a:off x="8625015" y="6032448"/>
            <a:ext cx="3385751" cy="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5710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00BE21-CD7A-8E05-C22A-F322C9CCE1F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ED284C5-3DC2-CABE-FE19-405B086A140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1ED284C5-3DC2-CABE-FE19-405B086A14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8CC96CC5-19F0-495F-39D1-65B9A6461CF9}"/>
              </a:ext>
            </a:extLst>
          </p:cNvPr>
          <p:cNvSpPr>
            <a:spLocks noGrp="1"/>
          </p:cNvSpPr>
          <p:nvPr>
            <p:ph type="title"/>
          </p:nvPr>
        </p:nvSpPr>
        <p:spPr>
          <a:xfrm>
            <a:off x="557931" y="584200"/>
            <a:ext cx="6449044" cy="713232"/>
          </a:xfrm>
        </p:spPr>
        <p:txBody>
          <a:bodyPr vert="horz" rIns="0"/>
          <a:lstStyle/>
          <a:p>
            <a:r>
              <a:rPr lang="en-US" dirty="0"/>
              <a:t>Workstream A</a:t>
            </a:r>
          </a:p>
        </p:txBody>
      </p:sp>
      <p:sp>
        <p:nvSpPr>
          <p:cNvPr id="3" name="Rectangle 2">
            <a:extLst>
              <a:ext uri="{FF2B5EF4-FFF2-40B4-BE49-F238E27FC236}">
                <a16:creationId xmlns:a16="http://schemas.microsoft.com/office/drawing/2014/main" id="{C1A19E81-2385-59D8-AAD1-E2A88F0515EB}"/>
              </a:ext>
            </a:extLst>
          </p:cNvPr>
          <p:cNvSpPr/>
          <p:nvPr/>
        </p:nvSpPr>
        <p:spPr bwMode="gray">
          <a:xfrm>
            <a:off x="190348" y="1783054"/>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Key objectives</a:t>
            </a:r>
          </a:p>
          <a:p>
            <a:pPr algn="ctr"/>
            <a:endParaRPr lang="en-US" sz="1000" dirty="0">
              <a:solidFill>
                <a:schemeClr val="bg1"/>
              </a:solidFill>
            </a:endParaRPr>
          </a:p>
          <a:p>
            <a:pPr algn="ctr"/>
            <a:r>
              <a:rPr lang="en-US" sz="1000" dirty="0">
                <a:solidFill>
                  <a:schemeClr val="bg1"/>
                </a:solidFill>
              </a:rPr>
              <a:t>How to simplify/visualize</a:t>
            </a:r>
          </a:p>
        </p:txBody>
      </p:sp>
    </p:spTree>
    <p:extLst>
      <p:ext uri="{BB962C8B-B14F-4D97-AF65-F5344CB8AC3E}">
        <p14:creationId xmlns:p14="http://schemas.microsoft.com/office/powerpoint/2010/main" val="234115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7AC3E9-9449-D877-C5CE-774BE7BF0AD1}"/>
              </a:ext>
            </a:extLst>
          </p:cNvPr>
          <p:cNvGraphicFramePr>
            <a:graphicFrameLocks/>
          </p:cNvGraphicFramePr>
          <p:nvPr>
            <p:custDataLst>
              <p:tags r:id="rId1"/>
            </p:custDataLst>
            <p:extLst>
              <p:ext uri="{D42A27DB-BD31-4B8C-83A1-F6EECF244321}">
                <p14:modId xmlns:p14="http://schemas.microsoft.com/office/powerpoint/2010/main" val="3279498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CB7AC3E9-9449-D877-C5CE-774BE7BF0A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AF5BF87-879E-F4C0-8228-522D92B8CE28}"/>
              </a:ext>
            </a:extLst>
          </p:cNvPr>
          <p:cNvSpPr>
            <a:spLocks noGrp="1"/>
          </p:cNvSpPr>
          <p:nvPr>
            <p:ph type="title"/>
          </p:nvPr>
        </p:nvSpPr>
        <p:spPr/>
        <p:txBody>
          <a:bodyPr vert="horz" rIns="0"/>
          <a:lstStyle/>
          <a:p>
            <a:r>
              <a:rPr lang="en-US" dirty="0"/>
              <a:t>Workstream A - Architecture Review &amp; Remediation (1/2)</a:t>
            </a:r>
            <a:br>
              <a:rPr lang="en-US" dirty="0"/>
            </a:br>
            <a:r>
              <a:rPr lang="en-US" sz="1600" b="0" dirty="0"/>
              <a:t>Diagnose and Plan – From the SOW and other planning documents</a:t>
            </a:r>
          </a:p>
        </p:txBody>
      </p:sp>
      <p:sp>
        <p:nvSpPr>
          <p:cNvPr id="10" name="Rectangle: Top Corners Rounded 9">
            <a:extLst>
              <a:ext uri="{FF2B5EF4-FFF2-40B4-BE49-F238E27FC236}">
                <a16:creationId xmlns:a16="http://schemas.microsoft.com/office/drawing/2014/main" id="{18FF3C9D-5880-9026-2269-B02BC9488CDF}"/>
              </a:ext>
            </a:extLst>
          </p:cNvPr>
          <p:cNvSpPr>
            <a:spLocks/>
          </p:cNvSpPr>
          <p:nvPr/>
        </p:nvSpPr>
        <p:spPr bwMode="gray">
          <a:xfrm rot="5400000">
            <a:off x="-1682250" y="3199815"/>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2" name="Rectangle: Rounded Corners 11">
            <a:extLst>
              <a:ext uri="{FF2B5EF4-FFF2-40B4-BE49-F238E27FC236}">
                <a16:creationId xmlns:a16="http://schemas.microsoft.com/office/drawing/2014/main" id="{62C81903-66B6-C1B0-3581-7DE5E989ED15}"/>
              </a:ext>
            </a:extLst>
          </p:cNvPr>
          <p:cNvSpPr/>
          <p:nvPr/>
        </p:nvSpPr>
        <p:spPr bwMode="gray">
          <a:xfrm>
            <a:off x="6296424" y="1645920"/>
            <a:ext cx="5360592" cy="1463040"/>
          </a:xfrm>
          <a:prstGeom prst="roundRect">
            <a:avLst>
              <a:gd name="adj" fmla="val 2895"/>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ctr" anchorCtr="0"/>
          <a:lstStyle/>
          <a:p>
            <a:pPr defTabSz="457063" fontAlgn="ctr">
              <a:defRPr/>
            </a:pPr>
            <a:r>
              <a:rPr lang="en-US" sz="1000" b="1">
                <a:solidFill>
                  <a:srgbClr val="00A78E"/>
                </a:solidFill>
              </a:rPr>
              <a:t>Description: </a:t>
            </a:r>
            <a:r>
              <a:rPr lang="en-US" sz="1000">
                <a:solidFill>
                  <a:schemeClr val="tx2"/>
                </a:solidFill>
              </a:rPr>
              <a:t>Architecture Assessment</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Current-State Architecture Assessment Report (PPT/DOC) summarizing activities performed</a:t>
            </a:r>
          </a:p>
          <a:p>
            <a:pPr marL="91440" indent="-91440">
              <a:buFont typeface="Arial" panose="020B0604020202020204" pitchFamily="34" charset="0"/>
              <a:buChar char="•"/>
            </a:pPr>
            <a:r>
              <a:rPr lang="en-US" sz="1000">
                <a:solidFill>
                  <a:schemeClr val="tx2"/>
                </a:solidFill>
              </a:rPr>
              <a:t>Unity Catalog and Data Lifecycle Recommendations (PPT/DOC)</a:t>
            </a:r>
          </a:p>
          <a:p>
            <a:pPr marL="91440" indent="-91440">
              <a:buFont typeface="Arial" panose="020B0604020202020204" pitchFamily="34" charset="0"/>
              <a:buChar char="•"/>
            </a:pPr>
            <a:r>
              <a:rPr lang="en-US" sz="1000">
                <a:solidFill>
                  <a:schemeClr val="tx2"/>
                </a:solidFill>
              </a:rPr>
              <a:t>Performance and Scalability Validation Results (PPT/XLS)</a:t>
            </a:r>
          </a:p>
          <a:p>
            <a:pPr marL="91440" indent="-91440">
              <a:buFont typeface="Arial" panose="020B0604020202020204" pitchFamily="34" charset="0"/>
              <a:buChar char="•"/>
            </a:pPr>
            <a:r>
              <a:rPr lang="en-US" sz="1000">
                <a:solidFill>
                  <a:schemeClr val="tx2"/>
                </a:solidFill>
              </a:rPr>
              <a:t>Day 1 Go-Live Architecture and Day 2 Roadmap Recommendations (PPT/DOC)</a:t>
            </a:r>
          </a:p>
        </p:txBody>
      </p:sp>
      <p:sp>
        <p:nvSpPr>
          <p:cNvPr id="17" name="TextBox 16">
            <a:extLst>
              <a:ext uri="{FF2B5EF4-FFF2-40B4-BE49-F238E27FC236}">
                <a16:creationId xmlns:a16="http://schemas.microsoft.com/office/drawing/2014/main" id="{5CB7C395-2E80-542B-FE56-509359984D42}"/>
              </a:ext>
            </a:extLst>
          </p:cNvPr>
          <p:cNvSpPr txBox="1"/>
          <p:nvPr/>
        </p:nvSpPr>
        <p:spPr>
          <a:xfrm>
            <a:off x="543485" y="1619164"/>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9" name="TextBox 18">
            <a:extLst>
              <a:ext uri="{FF2B5EF4-FFF2-40B4-BE49-F238E27FC236}">
                <a16:creationId xmlns:a16="http://schemas.microsoft.com/office/drawing/2014/main" id="{0DB76CA1-413A-E76C-E20F-11439D3BB9D2}"/>
              </a:ext>
            </a:extLst>
          </p:cNvPr>
          <p:cNvSpPr txBox="1"/>
          <p:nvPr/>
        </p:nvSpPr>
        <p:spPr>
          <a:xfrm>
            <a:off x="1366593" y="1619164"/>
            <a:ext cx="4693922" cy="615553"/>
          </a:xfrm>
          <a:prstGeom prst="rect">
            <a:avLst/>
          </a:prstGeom>
          <a:noFill/>
        </p:spPr>
        <p:txBody>
          <a:bodyPr wrap="square" lIns="0" tIns="0" rIns="0" bIns="0">
            <a:spAutoFit/>
          </a:bodyPr>
          <a:lstStyle/>
          <a:p>
            <a:pPr algn="l"/>
            <a:r>
              <a:rPr lang="en-US" sz="1000">
                <a:solidFill>
                  <a:schemeClr val="tx2"/>
                </a:solidFill>
              </a:rPr>
              <a:t>Assess Azure, Databricks architectures (infrastructure &amp; Medallion), Unity Catalog taxonomy to identify gaps for performance and scalability.  Define target-state recommendations, </a:t>
            </a:r>
            <a:r>
              <a:rPr lang="en-US" sz="1000" err="1">
                <a:solidFill>
                  <a:schemeClr val="tx2"/>
                </a:solidFill>
              </a:rPr>
              <a:t>DataOps</a:t>
            </a:r>
            <a:r>
              <a:rPr lang="en-US" sz="1000">
                <a:solidFill>
                  <a:schemeClr val="tx2"/>
                </a:solidFill>
              </a:rPr>
              <a:t> practices, and risk remediation plan.  Execute security and risk remediation plan. </a:t>
            </a:r>
          </a:p>
        </p:txBody>
      </p:sp>
      <p:sp>
        <p:nvSpPr>
          <p:cNvPr id="22" name="TextBox 21">
            <a:extLst>
              <a:ext uri="{FF2B5EF4-FFF2-40B4-BE49-F238E27FC236}">
                <a16:creationId xmlns:a16="http://schemas.microsoft.com/office/drawing/2014/main" id="{6A781481-0843-05A1-E94D-1B7204C096FC}"/>
              </a:ext>
            </a:extLst>
          </p:cNvPr>
          <p:cNvSpPr txBox="1"/>
          <p:nvPr/>
        </p:nvSpPr>
        <p:spPr>
          <a:xfrm>
            <a:off x="543485" y="2389071"/>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4" name="TextBox 23">
            <a:extLst>
              <a:ext uri="{FF2B5EF4-FFF2-40B4-BE49-F238E27FC236}">
                <a16:creationId xmlns:a16="http://schemas.microsoft.com/office/drawing/2014/main" id="{F246D702-30CC-DBC5-1864-DAEE3B454584}"/>
              </a:ext>
            </a:extLst>
          </p:cNvPr>
          <p:cNvSpPr txBox="1"/>
          <p:nvPr/>
        </p:nvSpPr>
        <p:spPr>
          <a:xfrm>
            <a:off x="1366593" y="2389071"/>
            <a:ext cx="4575208" cy="307777"/>
          </a:xfrm>
          <a:prstGeom prst="rect">
            <a:avLst/>
          </a:prstGeom>
          <a:noFill/>
        </p:spPr>
        <p:txBody>
          <a:bodyPr wrap="square" lIns="0" tIns="0" rIns="0" bIns="0">
            <a:spAutoFit/>
          </a:bodyPr>
          <a:lstStyle/>
          <a:p>
            <a:pPr algn="l"/>
            <a:r>
              <a:rPr lang="en-US" sz="1000">
                <a:solidFill>
                  <a:schemeClr val="tx2"/>
                </a:solidFill>
              </a:rPr>
              <a:t>Validate scalability, security architecture and fitness of the current Databricks platform at enterprise scale and remediate findings.</a:t>
            </a:r>
          </a:p>
        </p:txBody>
      </p:sp>
      <p:sp>
        <p:nvSpPr>
          <p:cNvPr id="25" name="TextBox 24">
            <a:extLst>
              <a:ext uri="{FF2B5EF4-FFF2-40B4-BE49-F238E27FC236}">
                <a16:creationId xmlns:a16="http://schemas.microsoft.com/office/drawing/2014/main" id="{D01F02D8-D4D0-7A1D-CC94-2420DAE5CFD1}"/>
              </a:ext>
            </a:extLst>
          </p:cNvPr>
          <p:cNvSpPr txBox="1"/>
          <p:nvPr/>
        </p:nvSpPr>
        <p:spPr>
          <a:xfrm>
            <a:off x="543486" y="2846277"/>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6" name="TextBox 25">
            <a:extLst>
              <a:ext uri="{FF2B5EF4-FFF2-40B4-BE49-F238E27FC236}">
                <a16:creationId xmlns:a16="http://schemas.microsoft.com/office/drawing/2014/main" id="{6DF805A8-0DE8-27D5-27BB-61873FC5FAD2}"/>
              </a:ext>
            </a:extLst>
          </p:cNvPr>
          <p:cNvSpPr txBox="1"/>
          <p:nvPr/>
        </p:nvSpPr>
        <p:spPr>
          <a:xfrm>
            <a:off x="1366593" y="2846277"/>
            <a:ext cx="4748460" cy="3231654"/>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Review Unity Catalog Taxonomy, Medallion Architecture, and Data Lifecycle: </a:t>
            </a:r>
            <a:r>
              <a:rPr lang="en-US" sz="1000" kern="1500">
                <a:solidFill>
                  <a:schemeClr val="tx2"/>
                </a:solidFill>
              </a:rPr>
              <a:t>Databricks data access model (canonical tables, commence Medallion architecture review and discussions, row/column filtering, RBAC/ABAC, workspace isolation, chargeback) across downstream use cases</a:t>
            </a:r>
          </a:p>
          <a:p>
            <a:pPr marL="137160" lvl="1" indent="-137160">
              <a:spcAft>
                <a:spcPts val="300"/>
              </a:spcAft>
              <a:buFont typeface="Arial" panose="020B0604020202020204" pitchFamily="34" charset="0"/>
              <a:buChar char="•"/>
            </a:pPr>
            <a:r>
              <a:rPr lang="en-US" sz="1000" b="1" kern="1500">
                <a:solidFill>
                  <a:schemeClr val="tx2"/>
                </a:solidFill>
              </a:rPr>
              <a:t>Review &amp; Validate Security Architecture: </a:t>
            </a:r>
            <a:r>
              <a:rPr lang="en-US" sz="1000" kern="1500">
                <a:solidFill>
                  <a:schemeClr val="tx2"/>
                </a:solidFill>
              </a:rPr>
              <a:t>Threat model, Zero Trust controls, data exfiltration controls, pipeline compliance checkpoints, platform attestation (assumption that KPMG will be provided Databricks security implementation guidelines by CVS)</a:t>
            </a:r>
          </a:p>
          <a:p>
            <a:pPr marL="137160" lvl="1" indent="-137160">
              <a:spcAft>
                <a:spcPts val="300"/>
              </a:spcAft>
              <a:buFont typeface="Arial" panose="020B0604020202020204" pitchFamily="34" charset="0"/>
              <a:buChar char="•"/>
            </a:pPr>
            <a:r>
              <a:rPr lang="en-US" sz="1000" b="1" kern="1500">
                <a:solidFill>
                  <a:schemeClr val="tx2"/>
                </a:solidFill>
              </a:rPr>
              <a:t>Review &amp; Validate Encryption Posture: </a:t>
            </a:r>
            <a:r>
              <a:rPr lang="en-US" sz="1000" kern="1500">
                <a:solidFill>
                  <a:schemeClr val="tx2"/>
                </a:solidFill>
              </a:rPr>
              <a:t>Row-level encryption options, CMK at rest, TLS 1.3 in transit</a:t>
            </a:r>
          </a:p>
          <a:p>
            <a:pPr marL="137160" lvl="1" indent="-137160">
              <a:spcAft>
                <a:spcPts val="300"/>
              </a:spcAft>
              <a:buFont typeface="Arial" panose="020B0604020202020204" pitchFamily="34" charset="0"/>
              <a:buChar char="•"/>
            </a:pPr>
            <a:r>
              <a:rPr lang="en-US" sz="1000" b="1" kern="1500">
                <a:solidFill>
                  <a:schemeClr val="tx2"/>
                </a:solidFill>
              </a:rPr>
              <a:t>Review &amp; Validate Data Protection + Disaster Recovery: </a:t>
            </a:r>
            <a:r>
              <a:rPr lang="en-US" sz="1000" kern="1500">
                <a:solidFill>
                  <a:schemeClr val="tx2"/>
                </a:solidFill>
              </a:rPr>
              <a:t>Regions, recovery, redundancy</a:t>
            </a:r>
          </a:p>
          <a:p>
            <a:pPr marL="137160" lvl="1" indent="-137160">
              <a:spcAft>
                <a:spcPts val="300"/>
              </a:spcAft>
              <a:buFont typeface="Arial" panose="020B0604020202020204" pitchFamily="34" charset="0"/>
              <a:buChar char="•"/>
            </a:pPr>
            <a:r>
              <a:rPr lang="en-US" sz="1000" b="1" kern="1500">
                <a:solidFill>
                  <a:schemeClr val="tx2"/>
                </a:solidFill>
              </a:rPr>
              <a:t>Review &amp; Validate Scalability and Resilience for High-Volume Data: </a:t>
            </a:r>
            <a:r>
              <a:rPr lang="en-US" sz="1000" kern="1500">
                <a:solidFill>
                  <a:schemeClr val="tx2"/>
                </a:solidFill>
              </a:rPr>
              <a:t>400TB/day, 1k+ source, priority users, ingestion (</a:t>
            </a:r>
            <a:r>
              <a:rPr lang="en-US" sz="1000" kern="1500" err="1">
                <a:solidFill>
                  <a:schemeClr val="tx2"/>
                </a:solidFill>
              </a:rPr>
              <a:t>EventGrid</a:t>
            </a:r>
            <a:r>
              <a:rPr lang="en-US" sz="1000" kern="1500">
                <a:solidFill>
                  <a:schemeClr val="tx2"/>
                </a:solidFill>
              </a:rPr>
              <a:t> &amp; Autoloader), compute storage, and resiliency</a:t>
            </a:r>
          </a:p>
          <a:p>
            <a:pPr marL="137160" lvl="1" indent="-137160">
              <a:spcAft>
                <a:spcPts val="300"/>
              </a:spcAft>
              <a:buFont typeface="Arial" panose="020B0604020202020204" pitchFamily="34" charset="0"/>
              <a:buChar char="•"/>
            </a:pPr>
            <a:r>
              <a:rPr lang="en-US" sz="1000" b="1" kern="1500">
                <a:solidFill>
                  <a:schemeClr val="tx2"/>
                </a:solidFill>
              </a:rPr>
              <a:t>Review &amp; Validate Git &amp; CI/CD Approach: </a:t>
            </a:r>
            <a:r>
              <a:rPr lang="en-US" sz="1000" kern="1500">
                <a:solidFill>
                  <a:schemeClr val="tx2"/>
                </a:solidFill>
              </a:rPr>
              <a:t>Define target recommendations</a:t>
            </a:r>
          </a:p>
          <a:p>
            <a:pPr marL="137160" lvl="1" indent="-137160">
              <a:spcAft>
                <a:spcPts val="300"/>
              </a:spcAft>
              <a:buFont typeface="Arial" panose="020B0604020202020204" pitchFamily="34" charset="0"/>
              <a:buChar char="•"/>
            </a:pPr>
            <a:r>
              <a:rPr lang="en-US" sz="1000" b="1" kern="1500">
                <a:solidFill>
                  <a:schemeClr val="tx2"/>
                </a:solidFill>
              </a:rPr>
              <a:t>Remediation: </a:t>
            </a:r>
            <a:r>
              <a:rPr lang="en-US" sz="1000" kern="1500">
                <a:solidFill>
                  <a:schemeClr val="tx2"/>
                </a:solidFill>
              </a:rPr>
              <a:t>Support remediation and/or implementation of key findings; including </a:t>
            </a:r>
            <a:r>
              <a:rPr lang="en-US" sz="1000" kern="1500" err="1">
                <a:solidFill>
                  <a:schemeClr val="tx2"/>
                </a:solidFill>
              </a:rPr>
              <a:t>Lovelytics</a:t>
            </a:r>
            <a:r>
              <a:rPr lang="en-US" sz="1000" kern="1500">
                <a:solidFill>
                  <a:schemeClr val="tx2"/>
                </a:solidFill>
              </a:rPr>
              <a:t> assessment</a:t>
            </a:r>
          </a:p>
          <a:p>
            <a:pPr marL="137160" lvl="1" indent="-137160">
              <a:spcAft>
                <a:spcPts val="300"/>
              </a:spcAft>
              <a:buFont typeface="Arial" panose="020B0604020202020204" pitchFamily="34" charset="0"/>
              <a:buChar char="•"/>
            </a:pPr>
            <a:r>
              <a:rPr lang="en-US" sz="1000"/>
              <a:t>Set-up of security specific workspaces is in scope; resolution of security gaps across entire Databricks platform is currently not in scope</a:t>
            </a:r>
          </a:p>
          <a:p>
            <a:pPr marL="0" lvl="1">
              <a:spcAft>
                <a:spcPts val="300"/>
              </a:spcAft>
            </a:pPr>
            <a:endParaRPr lang="en-US" sz="1000" kern="1500">
              <a:solidFill>
                <a:schemeClr val="tx2"/>
              </a:solidFill>
            </a:endParaRPr>
          </a:p>
        </p:txBody>
      </p:sp>
      <p:grpSp>
        <p:nvGrpSpPr>
          <p:cNvPr id="28" name="Group 27">
            <a:extLst>
              <a:ext uri="{FF2B5EF4-FFF2-40B4-BE49-F238E27FC236}">
                <a16:creationId xmlns:a16="http://schemas.microsoft.com/office/drawing/2014/main" id="{A5CF9796-AC4F-62BA-E20C-7B8AD88D2928}"/>
              </a:ext>
            </a:extLst>
          </p:cNvPr>
          <p:cNvGrpSpPr/>
          <p:nvPr/>
        </p:nvGrpSpPr>
        <p:grpSpPr>
          <a:xfrm>
            <a:off x="533403" y="2309431"/>
            <a:ext cx="5562600" cy="4926"/>
            <a:chOff x="533400" y="1886078"/>
            <a:chExt cx="5562600" cy="4926"/>
          </a:xfrm>
        </p:grpSpPr>
        <p:cxnSp>
          <p:nvCxnSpPr>
            <p:cNvPr id="30" name="Straight Connector 29">
              <a:extLst>
                <a:ext uri="{FF2B5EF4-FFF2-40B4-BE49-F238E27FC236}">
                  <a16:creationId xmlns:a16="http://schemas.microsoft.com/office/drawing/2014/main" id="{D9484445-ED9B-CA39-A7AB-A91A7FCB357D}"/>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33C1756-5198-7CF1-54B2-A7FD9C7B8416}"/>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C3073B2B-D3D5-ABA1-E2AF-B94D6C6387C1}"/>
              </a:ext>
            </a:extLst>
          </p:cNvPr>
          <p:cNvGrpSpPr/>
          <p:nvPr/>
        </p:nvGrpSpPr>
        <p:grpSpPr>
          <a:xfrm>
            <a:off x="533403" y="2771562"/>
            <a:ext cx="5562600" cy="0"/>
            <a:chOff x="533400" y="2463561"/>
            <a:chExt cx="5562600" cy="0"/>
          </a:xfrm>
        </p:grpSpPr>
        <p:cxnSp>
          <p:nvCxnSpPr>
            <p:cNvPr id="33" name="Straight Connector 32">
              <a:extLst>
                <a:ext uri="{FF2B5EF4-FFF2-40B4-BE49-F238E27FC236}">
                  <a16:creationId xmlns:a16="http://schemas.microsoft.com/office/drawing/2014/main" id="{831B4F60-110E-67F7-7BB8-C44E7D66FCE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EC217B-72A5-78CF-67E6-3B2071D4FE47}"/>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2D888622-9BE7-28E8-E27A-00E6228607EB}"/>
              </a:ext>
            </a:extLst>
          </p:cNvPr>
          <p:cNvSpPr/>
          <p:nvPr/>
        </p:nvSpPr>
        <p:spPr bwMode="gray">
          <a:xfrm>
            <a:off x="589357" y="619963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39" name="Rectangle: Rounded Corners 38">
            <a:extLst>
              <a:ext uri="{FF2B5EF4-FFF2-40B4-BE49-F238E27FC236}">
                <a16:creationId xmlns:a16="http://schemas.microsoft.com/office/drawing/2014/main" id="{5B46A63F-C576-3575-78AA-250F10E20CFE}"/>
              </a:ext>
            </a:extLst>
          </p:cNvPr>
          <p:cNvSpPr/>
          <p:nvPr/>
        </p:nvSpPr>
        <p:spPr bwMode="gray">
          <a:xfrm>
            <a:off x="6296424" y="3200400"/>
            <a:ext cx="5360592" cy="1005840"/>
          </a:xfrm>
          <a:prstGeom prst="roundRect">
            <a:avLst>
              <a:gd name="adj" fmla="val 3961"/>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bIns="0" rtlCol="0" anchor="ctr" anchorCtr="0"/>
          <a:lstStyle/>
          <a:p>
            <a:pPr defTabSz="457063" fontAlgn="ctr">
              <a:defRPr/>
            </a:pPr>
            <a:r>
              <a:rPr lang="en-US" sz="1000" b="1">
                <a:solidFill>
                  <a:srgbClr val="00A78E"/>
                </a:solidFill>
              </a:rPr>
              <a:t>Description: </a:t>
            </a:r>
            <a:r>
              <a:rPr lang="en-US" sz="1000">
                <a:solidFill>
                  <a:schemeClr val="tx2"/>
                </a:solidFill>
              </a:rPr>
              <a:t>Remediation Actions</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Architecture Remediation Tracker and Demonstrated Remediation Evidence (XLS/DOC)</a:t>
            </a:r>
          </a:p>
          <a:p>
            <a:pPr marL="91440" indent="-91440">
              <a:buFont typeface="Arial" panose="020B0604020202020204" pitchFamily="34" charset="0"/>
              <a:buChar char="•"/>
            </a:pPr>
            <a:r>
              <a:rPr lang="en-US" sz="1000">
                <a:solidFill>
                  <a:schemeClr val="tx2"/>
                </a:solidFill>
              </a:rPr>
              <a:t>Workstream B-E Handoff Package (PPT/DOC)</a:t>
            </a:r>
          </a:p>
        </p:txBody>
      </p:sp>
      <p:sp>
        <p:nvSpPr>
          <p:cNvPr id="41" name="TextBox 40">
            <a:extLst>
              <a:ext uri="{FF2B5EF4-FFF2-40B4-BE49-F238E27FC236}">
                <a16:creationId xmlns:a16="http://schemas.microsoft.com/office/drawing/2014/main" id="{47FB7E17-976D-05CC-BA9C-C5CFB5004B47}"/>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A.1</a:t>
            </a:r>
          </a:p>
        </p:txBody>
      </p:sp>
      <p:sp>
        <p:nvSpPr>
          <p:cNvPr id="43" name="TextBox 42">
            <a:extLst>
              <a:ext uri="{FF2B5EF4-FFF2-40B4-BE49-F238E27FC236}">
                <a16:creationId xmlns:a16="http://schemas.microsoft.com/office/drawing/2014/main" id="{CB8398B3-7736-5CEB-DAD4-0A8FBD3D6218}"/>
              </a:ext>
            </a:extLst>
          </p:cNvPr>
          <p:cNvSpPr txBox="1"/>
          <p:nvPr/>
        </p:nvSpPr>
        <p:spPr>
          <a:xfrm>
            <a:off x="11155680" y="320040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A.2</a:t>
            </a:r>
          </a:p>
        </p:txBody>
      </p:sp>
      <p:graphicFrame>
        <p:nvGraphicFramePr>
          <p:cNvPr id="4" name="Table 3">
            <a:extLst>
              <a:ext uri="{FF2B5EF4-FFF2-40B4-BE49-F238E27FC236}">
                <a16:creationId xmlns:a16="http://schemas.microsoft.com/office/drawing/2014/main" id="{18181BF7-04DC-34CE-E573-5A2CFDA61022}"/>
              </a:ext>
            </a:extLst>
          </p:cNvPr>
          <p:cNvGraphicFramePr>
            <a:graphicFrameLocks noGrp="1"/>
          </p:cNvGraphicFramePr>
          <p:nvPr>
            <p:extLst>
              <p:ext uri="{D42A27DB-BD31-4B8C-83A1-F6EECF244321}">
                <p14:modId xmlns:p14="http://schemas.microsoft.com/office/powerpoint/2010/main" val="2930209782"/>
              </p:ext>
            </p:extLst>
          </p:nvPr>
        </p:nvGraphicFramePr>
        <p:xfrm>
          <a:off x="6358767" y="2055648"/>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80382030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8" name="Table 7">
            <a:extLst>
              <a:ext uri="{FF2B5EF4-FFF2-40B4-BE49-F238E27FC236}">
                <a16:creationId xmlns:a16="http://schemas.microsoft.com/office/drawing/2014/main" id="{DA4421F8-F98B-30E6-2269-02E8FB332DE2}"/>
              </a:ext>
            </a:extLst>
          </p:cNvPr>
          <p:cNvGraphicFramePr>
            <a:graphicFrameLocks noGrp="1"/>
          </p:cNvGraphicFramePr>
          <p:nvPr>
            <p:extLst>
              <p:ext uri="{D42A27DB-BD31-4B8C-83A1-F6EECF244321}">
                <p14:modId xmlns:p14="http://schemas.microsoft.com/office/powerpoint/2010/main" val="3418622098"/>
              </p:ext>
            </p:extLst>
          </p:nvPr>
        </p:nvGraphicFramePr>
        <p:xfrm>
          <a:off x="6358767" y="3542409"/>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557492592"/>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13" name="TextBox 12">
            <a:extLst>
              <a:ext uri="{FF2B5EF4-FFF2-40B4-BE49-F238E27FC236}">
                <a16:creationId xmlns:a16="http://schemas.microsoft.com/office/drawing/2014/main" id="{E84DD2F7-C622-801E-B358-CB7FFEF8DA6D}"/>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2" name="Rectangle 1">
            <a:extLst>
              <a:ext uri="{FF2B5EF4-FFF2-40B4-BE49-F238E27FC236}">
                <a16:creationId xmlns:a16="http://schemas.microsoft.com/office/drawing/2014/main" id="{B36F4561-9817-026E-AE4B-021D165A2B06}"/>
              </a:ext>
            </a:extLst>
          </p:cNvPr>
          <p:cNvSpPr/>
          <p:nvPr/>
        </p:nvSpPr>
        <p:spPr bwMode="gray">
          <a:xfrm>
            <a:off x="6296424" y="4339218"/>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Use “ECIF Descriptions” to update milestones?</a:t>
            </a:r>
          </a:p>
          <a:p>
            <a:pPr algn="ctr"/>
            <a:endParaRPr lang="en-US" sz="1000" dirty="0">
              <a:solidFill>
                <a:schemeClr val="bg1"/>
              </a:solidFill>
            </a:endParaRPr>
          </a:p>
          <a:p>
            <a:pPr algn="ctr"/>
            <a:r>
              <a:rPr lang="en-US" sz="1000" dirty="0">
                <a:solidFill>
                  <a:schemeClr val="bg1"/>
                </a:solidFill>
              </a:rPr>
              <a:t>What is the definition of “done” for each milestone? Or for the 90 days plan for ease?</a:t>
            </a:r>
          </a:p>
        </p:txBody>
      </p:sp>
    </p:spTree>
    <p:extLst>
      <p:ext uri="{BB962C8B-B14F-4D97-AF65-F5344CB8AC3E}">
        <p14:creationId xmlns:p14="http://schemas.microsoft.com/office/powerpoint/2010/main" val="365003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1DB23AD-4B77-81EF-C852-4A2A1EB3DB7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21DB23AD-4B77-81EF-C852-4A2A1EB3DB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241A5AF-4645-DBA7-CC19-062BFC2AF405}"/>
              </a:ext>
            </a:extLst>
          </p:cNvPr>
          <p:cNvSpPr>
            <a:spLocks noGrp="1"/>
          </p:cNvSpPr>
          <p:nvPr>
            <p:ph type="title"/>
          </p:nvPr>
        </p:nvSpPr>
        <p:spPr>
          <a:xfrm>
            <a:off x="587375" y="594870"/>
            <a:ext cx="10965638" cy="633431"/>
          </a:xfrm>
        </p:spPr>
        <p:txBody>
          <a:bodyPr vert="horz" rIns="0"/>
          <a:lstStyle/>
          <a:p>
            <a:r>
              <a:rPr lang="en-US"/>
              <a:t>Workstream A - Architecture Review &amp; Remediation (2/2)</a:t>
            </a:r>
            <a:br>
              <a:rPr lang="en-US"/>
            </a:br>
            <a:r>
              <a:rPr lang="en-US" sz="1600" b="0"/>
              <a:t>Diagnose and Plan – Planning </a:t>
            </a:r>
          </a:p>
        </p:txBody>
      </p:sp>
      <p:sp>
        <p:nvSpPr>
          <p:cNvPr id="20" name="Rectangle: Top Corners Rounded 19">
            <a:extLst>
              <a:ext uri="{FF2B5EF4-FFF2-40B4-BE49-F238E27FC236}">
                <a16:creationId xmlns:a16="http://schemas.microsoft.com/office/drawing/2014/main" id="{6B23DFA2-1154-E9F9-0B70-3A7FC7738791}"/>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22" name="Content Placeholder 6">
            <a:extLst>
              <a:ext uri="{FF2B5EF4-FFF2-40B4-BE49-F238E27FC236}">
                <a16:creationId xmlns:a16="http://schemas.microsoft.com/office/drawing/2014/main" id="{489284EA-00F0-EA39-5149-1AB646A5BC36}"/>
              </a:ext>
            </a:extLst>
          </p:cNvPr>
          <p:cNvGraphicFramePr>
            <a:graphicFrameLocks/>
          </p:cNvGraphicFramePr>
          <p:nvPr>
            <p:extLst>
              <p:ext uri="{D42A27DB-BD31-4B8C-83A1-F6EECF244321}">
                <p14:modId xmlns:p14="http://schemas.microsoft.com/office/powerpoint/2010/main" val="805972387"/>
              </p:ext>
            </p:extLst>
          </p:nvPr>
        </p:nvGraphicFramePr>
        <p:xfrm>
          <a:off x="538691" y="1509730"/>
          <a:ext cx="11133137" cy="204627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491790">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dirty="0">
                          <a:solidFill>
                            <a:schemeClr val="tx2"/>
                          </a:solidFill>
                        </a:rPr>
                        <a:t>Prioritization or Agile Sprint plan with Dependency map</a:t>
                      </a:r>
                    </a:p>
                    <a:p>
                      <a:pPr marL="137160" indent="-137160">
                        <a:lnSpc>
                          <a:spcPct val="100000"/>
                        </a:lnSpc>
                        <a:spcAft>
                          <a:spcPts val="200"/>
                        </a:spcAft>
                        <a:buClr>
                          <a:schemeClr val="tx2"/>
                        </a:buClr>
                        <a:buFont typeface="CVS Health Sans" panose="020B0504020202020204" pitchFamily="34" charset="0"/>
                        <a:buChar char="•"/>
                      </a:pPr>
                      <a:r>
                        <a:rPr lang="en-US" sz="1000" b="0" i="0" dirty="0">
                          <a:solidFill>
                            <a:schemeClr val="tx2"/>
                          </a:solidFill>
                        </a:rPr>
                        <a:t>Finalize staffing and roles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dirty="0">
                          <a:solidFill>
                            <a:schemeClr val="bg1"/>
                          </a:solidFill>
                        </a:rPr>
                        <a:t>Upstream Prerequisites</a:t>
                      </a:r>
                    </a:p>
                    <a:p>
                      <a:pPr>
                        <a:lnSpc>
                          <a:spcPct val="90000"/>
                        </a:lnSpc>
                      </a:pPr>
                      <a:endParaRPr lang="en-US" sz="1050" b="1" dirty="0">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CVS Infrastructure &amp; Access: </a:t>
                      </a:r>
                      <a:r>
                        <a:rPr lang="en-US" sz="1000" b="0" i="0" dirty="0">
                          <a:solidFill>
                            <a:schemeClr val="tx2"/>
                          </a:solidFill>
                        </a:rPr>
                        <a:t>Timely provisioning of Azure subscriptions and opening of mandatory network ports by Dec 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err="1">
                          <a:solidFill>
                            <a:schemeClr val="tx2"/>
                          </a:solidFill>
                        </a:rPr>
                        <a:t>Lovelytics</a:t>
                      </a:r>
                      <a:r>
                        <a:rPr lang="en-US" sz="1000" b="1" i="0" dirty="0">
                          <a:solidFill>
                            <a:schemeClr val="tx2"/>
                          </a:solidFill>
                        </a:rPr>
                        <a:t> Assessment Delivery: </a:t>
                      </a:r>
                      <a:r>
                        <a:rPr lang="en-US" sz="1000" b="0" i="0" dirty="0">
                          <a:solidFill>
                            <a:schemeClr val="tx2"/>
                          </a:solidFill>
                        </a:rPr>
                        <a:t>Delivery of the current-state Unity Catalog taxonomy and IAM findings from Amit Gonsalves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Stakeholder Consensus: </a:t>
                      </a:r>
                      <a:r>
                        <a:rPr lang="en-US" sz="1000" b="0" i="0" dirty="0">
                          <a:solidFill>
                            <a:schemeClr val="tx2"/>
                          </a:solidFill>
                        </a:rPr>
                        <a:t>Formal agreement from CVS Architecture Leads (Chuck Markham, Sean Elliot, Adam Plotzker) for 26-50 Bronze Delta table model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Security &amp; Compliance Guidelines: </a:t>
                      </a:r>
                      <a:r>
                        <a:rPr lang="en-US" sz="1000" b="0" i="0" dirty="0">
                          <a:solidFill>
                            <a:schemeClr val="tx2"/>
                          </a:solidFill>
                        </a:rPr>
                        <a:t>Provision of CVS threat models, data classification policies, and PHI masking rules from Cyber Defense (Sonia Arista)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To B1 (Source Rationalization): </a:t>
                      </a:r>
                      <a:r>
                        <a:rPr lang="en-US" sz="1000" b="0" i="0" dirty="0">
                          <a:solidFill>
                            <a:schemeClr val="tx2"/>
                          </a:solidFill>
                        </a:rPr>
                        <a:t>Canonical metadata standards, ODCS contracting templates, and Unity Catalog namespace hierarchy</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To B2 (Bronze Landing): </a:t>
                      </a:r>
                      <a:r>
                        <a:rPr lang="en-US" sz="1000" b="0" i="0" dirty="0">
                          <a:solidFill>
                            <a:schemeClr val="tx2"/>
                          </a:solidFill>
                        </a:rPr>
                        <a:t>Validated Auto Loader + Event Grid push notification patterns, ADLS Gen2 folder hierarchy, and throughput validation benchmarks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To C (Pipeline Enablement): </a:t>
                      </a:r>
                      <a:r>
                        <a:rPr lang="en-US" sz="1000" b="0" i="0" dirty="0">
                          <a:solidFill>
                            <a:schemeClr val="tx2"/>
                          </a:solidFill>
                        </a:rPr>
                        <a:t>Medallion data architecture, DLT pipeline templates, PHI masking standards, and Gold workspace isolation models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dirty="0">
                          <a:solidFill>
                            <a:schemeClr val="tx2"/>
                          </a:solidFill>
                        </a:rPr>
                        <a:t>To D (Observability Migration): </a:t>
                      </a:r>
                      <a:r>
                        <a:rPr lang="en-US" sz="1000" b="0" i="0" dirty="0">
                          <a:solidFill>
                            <a:schemeClr val="tx2"/>
                          </a:solidFill>
                        </a:rPr>
                        <a:t>Confirmed ES and AIOps platform scope boundaries, query performance guidelines, and Silver domain table prerequisites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4" name="Content Placeholder 6">
            <a:extLst>
              <a:ext uri="{FF2B5EF4-FFF2-40B4-BE49-F238E27FC236}">
                <a16:creationId xmlns:a16="http://schemas.microsoft.com/office/drawing/2014/main" id="{E3D17210-38A1-9874-7C7E-4E1CF4764239}"/>
              </a:ext>
            </a:extLst>
          </p:cNvPr>
          <p:cNvGraphicFramePr>
            <a:graphicFrameLocks/>
          </p:cNvGraphicFramePr>
          <p:nvPr>
            <p:extLst>
              <p:ext uri="{D42A27DB-BD31-4B8C-83A1-F6EECF244321}">
                <p14:modId xmlns:p14="http://schemas.microsoft.com/office/powerpoint/2010/main" val="2167773038"/>
              </p:ext>
            </p:extLst>
          </p:nvPr>
        </p:nvGraphicFramePr>
        <p:xfrm>
          <a:off x="540940" y="3912868"/>
          <a:ext cx="11142396" cy="1907066"/>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3328592">
                  <a:extLst>
                    <a:ext uri="{9D8B030D-6E8A-4147-A177-3AD203B41FA5}">
                      <a16:colId xmlns:a16="http://schemas.microsoft.com/office/drawing/2014/main" val="1699332636"/>
                    </a:ext>
                  </a:extLst>
                </a:gridCol>
                <a:gridCol w="3378200">
                  <a:extLst>
                    <a:ext uri="{9D8B030D-6E8A-4147-A177-3AD203B41FA5}">
                      <a16:colId xmlns:a16="http://schemas.microsoft.com/office/drawing/2014/main" val="2684621038"/>
                    </a:ext>
                  </a:extLst>
                </a:gridCol>
                <a:gridCol w="3326736">
                  <a:extLst>
                    <a:ext uri="{9D8B030D-6E8A-4147-A177-3AD203B41FA5}">
                      <a16:colId xmlns:a16="http://schemas.microsoft.com/office/drawing/2014/main" val="1078624516"/>
                    </a:ext>
                  </a:extLst>
                </a:gridCol>
              </a:tblGrid>
              <a:tr h="41862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a:solidFill>
                            <a:srgbClr val="0A4B8C"/>
                          </a:solidFill>
                          <a:latin typeface="+mn-lt"/>
                          <a:ea typeface="+mn-ea"/>
                          <a:cs typeface="+mn-cs"/>
                        </a:rPr>
                        <a:t>1. Databricks Architecture Assessment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&amp; Gap Analysis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2. Architecture Remediation &amp; Critical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Infrastructure Implementation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3. Architectural Foundation &amp; Handoff to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Downstream Workstreams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1.1: Establish Environment Access &amp; Inventory</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1.2: Review &amp; Validate Unity Catalog &amp; Data Lifecycle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1.3: Review &amp; Validate Security Architecture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1.4: Review &amp; Validate Encryption Posture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1.5: Review &amp; Validate Data Protection &amp; Recovery</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1.6: Review &amp; Validate Scalability &amp; Resilience</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1.7: Review &amp; Validate Git &amp; CI/CD Approach</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1.8: Generate Findings Register</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2.1: Clarify &amp; Plan for Dec Change Freeze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2.2: Coordinate Firewall &amp; Network Port Clearance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2.3: Secure Azure Data Flow Authorization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2.4: Implement Tanium &amp; </a:t>
                      </a:r>
                      <a:r>
                        <a:rPr lang="en-US" sz="1000" b="0" kern="1500" err="1">
                          <a:solidFill>
                            <a:schemeClr val="tx2"/>
                          </a:solidFill>
                          <a:latin typeface="+mn-lt"/>
                          <a:ea typeface="+mn-ea"/>
                          <a:cs typeface="+mn-cs"/>
                        </a:rPr>
                        <a:t>NiFi</a:t>
                      </a:r>
                      <a:r>
                        <a:rPr lang="en-US" sz="1000" b="0" kern="1500">
                          <a:solidFill>
                            <a:schemeClr val="tx2"/>
                          </a:solidFill>
                          <a:latin typeface="+mn-lt"/>
                          <a:ea typeface="+mn-ea"/>
                          <a:cs typeface="+mn-cs"/>
                        </a:rPr>
                        <a:t> Ingestion Pathways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2.5: Validate Autoloader Scalability &amp; Prod. Readiness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2.6: Validate PHI Masking Pipeline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2.7: Validate CI/CD Pipeline Production-</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Grade Standards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Define &amp; Align Medallion Architecture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Finalize Bronze-Layer Table Structure Decisions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Finalize Silver Taxonomy &amp; Governance Model</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3.4: Submit Final Architecture Changes to ARB</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3.5: Deliver Day 1 Go-Live Architecture &amp; Day 2 Roadmap</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3.6: Prepare &amp; Deliver Workstream B–E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Handoff Package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3.7: Conduct Knowledge Transfer</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5" name="Group 24">
            <a:extLst>
              <a:ext uri="{FF2B5EF4-FFF2-40B4-BE49-F238E27FC236}">
                <a16:creationId xmlns:a16="http://schemas.microsoft.com/office/drawing/2014/main" id="{BFC3153B-7E2F-1965-B925-D58510D345D7}"/>
              </a:ext>
            </a:extLst>
          </p:cNvPr>
          <p:cNvGrpSpPr/>
          <p:nvPr/>
        </p:nvGrpSpPr>
        <p:grpSpPr>
          <a:xfrm>
            <a:off x="542658" y="2003692"/>
            <a:ext cx="11125201" cy="0"/>
            <a:chOff x="531813" y="3716075"/>
            <a:chExt cx="11125201" cy="0"/>
          </a:xfrm>
        </p:grpSpPr>
        <p:cxnSp>
          <p:nvCxnSpPr>
            <p:cNvPr id="26" name="Straight Connector 25">
              <a:extLst>
                <a:ext uri="{FF2B5EF4-FFF2-40B4-BE49-F238E27FC236}">
                  <a16:creationId xmlns:a16="http://schemas.microsoft.com/office/drawing/2014/main" id="{672D0E88-7EC0-9A56-2C30-F84655BF8697}"/>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7BAD34E-C0C4-79D0-6AEB-E9C503B1BFCA}"/>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8477254F-718E-5AEC-0969-BA6C96DA53C5}"/>
              </a:ext>
            </a:extLst>
          </p:cNvPr>
          <p:cNvGrpSpPr/>
          <p:nvPr/>
        </p:nvGrpSpPr>
        <p:grpSpPr>
          <a:xfrm>
            <a:off x="542658" y="4305117"/>
            <a:ext cx="11125201" cy="999"/>
            <a:chOff x="531813" y="5259957"/>
            <a:chExt cx="11125201" cy="999"/>
          </a:xfrm>
        </p:grpSpPr>
        <p:cxnSp>
          <p:nvCxnSpPr>
            <p:cNvPr id="29" name="Straight Connector 28">
              <a:extLst>
                <a:ext uri="{FF2B5EF4-FFF2-40B4-BE49-F238E27FC236}">
                  <a16:creationId xmlns:a16="http://schemas.microsoft.com/office/drawing/2014/main" id="{0E58E2FE-10F7-0EA7-CF63-09E00F77092C}"/>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7DA3B17-2BF1-AB7F-A28E-AAD3F1A64E3B}"/>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FB70FE2D-2C3C-56B3-5460-04E82BB13AD8}"/>
              </a:ext>
            </a:extLst>
          </p:cNvPr>
          <p:cNvGrpSpPr/>
          <p:nvPr/>
        </p:nvGrpSpPr>
        <p:grpSpPr>
          <a:xfrm>
            <a:off x="542658" y="3912869"/>
            <a:ext cx="11125201" cy="1"/>
            <a:chOff x="531813" y="4848012"/>
            <a:chExt cx="11125201" cy="1"/>
          </a:xfrm>
        </p:grpSpPr>
        <p:cxnSp>
          <p:nvCxnSpPr>
            <p:cNvPr id="32" name="Straight Connector 31">
              <a:extLst>
                <a:ext uri="{FF2B5EF4-FFF2-40B4-BE49-F238E27FC236}">
                  <a16:creationId xmlns:a16="http://schemas.microsoft.com/office/drawing/2014/main" id="{82B87553-5959-3DF8-A9D0-A59D49FFDF4C}"/>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59385D-2966-1223-1E7C-0D9F0654067E}"/>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A785C06E-2E93-64CB-17A5-75B7AB51D2FE}"/>
              </a:ext>
            </a:extLst>
          </p:cNvPr>
          <p:cNvGrpSpPr/>
          <p:nvPr/>
        </p:nvGrpSpPr>
        <p:grpSpPr>
          <a:xfrm>
            <a:off x="542658" y="2817277"/>
            <a:ext cx="11127580" cy="1695"/>
            <a:chOff x="529432" y="4264661"/>
            <a:chExt cx="11127580" cy="1695"/>
          </a:xfrm>
        </p:grpSpPr>
        <p:cxnSp>
          <p:nvCxnSpPr>
            <p:cNvPr id="35" name="Straight Connector 34">
              <a:extLst>
                <a:ext uri="{FF2B5EF4-FFF2-40B4-BE49-F238E27FC236}">
                  <a16:creationId xmlns:a16="http://schemas.microsoft.com/office/drawing/2014/main" id="{47885B02-DF21-45A7-6C2F-D03686830F98}"/>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F7D5763-3C4F-0717-1711-F1308738C310}"/>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74F8B0AD-240A-55E4-B9D1-162624F438CE}"/>
              </a:ext>
            </a:extLst>
          </p:cNvPr>
          <p:cNvSpPr/>
          <p:nvPr/>
        </p:nvSpPr>
        <p:spPr bwMode="gray">
          <a:xfrm>
            <a:off x="589357" y="619963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36054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A3CFE8E-7D46-D4B2-11B9-6EB2A9A0887A}"/>
              </a:ext>
            </a:extLst>
          </p:cNvPr>
          <p:cNvGraphicFramePr>
            <a:graphicFrameLocks/>
          </p:cNvGraphicFramePr>
          <p:nvPr>
            <p:custDataLst>
              <p:tags r:id="rId1"/>
            </p:custDataLst>
            <p:extLst>
              <p:ext uri="{D42A27DB-BD31-4B8C-83A1-F6EECF244321}">
                <p14:modId xmlns:p14="http://schemas.microsoft.com/office/powerpoint/2010/main" val="3433030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A3CFE8E-7D46-D4B2-11B9-6EB2A9A088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2AD80CCA-2DF0-3EFC-1731-B87AE8523991}"/>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330D2707-DDD7-5765-9398-58EC0CA95A08}"/>
              </a:ext>
            </a:extLst>
          </p:cNvPr>
          <p:cNvSpPr>
            <a:spLocks noGrp="1"/>
          </p:cNvSpPr>
          <p:nvPr>
            <p:ph type="title"/>
          </p:nvPr>
        </p:nvSpPr>
        <p:spPr/>
        <p:txBody>
          <a:bodyPr vert="horz" rIns="0"/>
          <a:lstStyle/>
          <a:p>
            <a:r>
              <a:rPr lang="en-US" dirty="0"/>
              <a:t>Workstream A – Approach</a:t>
            </a:r>
          </a:p>
        </p:txBody>
      </p:sp>
      <p:sp>
        <p:nvSpPr>
          <p:cNvPr id="6" name="Rectangle 5">
            <a:extLst>
              <a:ext uri="{FF2B5EF4-FFF2-40B4-BE49-F238E27FC236}">
                <a16:creationId xmlns:a16="http://schemas.microsoft.com/office/drawing/2014/main" id="{1061E0E9-6909-C14A-98B4-3B395ED48CFA}"/>
              </a:ext>
            </a:extLst>
          </p:cNvPr>
          <p:cNvSpPr/>
          <p:nvPr/>
        </p:nvSpPr>
        <p:spPr bwMode="gray">
          <a:xfrm>
            <a:off x="3757264" y="3251006"/>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Visual of how this work will be done – workshops, interviews, create architecture current state views, target state, gap analysis, recommendations by theme, etc.</a:t>
            </a:r>
          </a:p>
          <a:p>
            <a:pPr algn="ctr"/>
            <a:endParaRPr lang="en-US" sz="1000" dirty="0">
              <a:solidFill>
                <a:schemeClr val="bg1"/>
              </a:solidFill>
            </a:endParaRPr>
          </a:p>
          <a:p>
            <a:pPr algn="ctr"/>
            <a:endParaRPr lang="en-US" sz="1000" dirty="0">
              <a:solidFill>
                <a:schemeClr val="bg1"/>
              </a:solidFill>
            </a:endParaRPr>
          </a:p>
        </p:txBody>
      </p:sp>
    </p:spTree>
    <p:extLst>
      <p:ext uri="{BB962C8B-B14F-4D97-AF65-F5344CB8AC3E}">
        <p14:creationId xmlns:p14="http://schemas.microsoft.com/office/powerpoint/2010/main" val="537933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0D144DC-C940-52CA-6041-3A27F4DFC937}"/>
              </a:ext>
            </a:extLst>
          </p:cNvPr>
          <p:cNvGraphicFramePr>
            <a:graphicFrameLocks/>
          </p:cNvGraphicFramePr>
          <p:nvPr>
            <p:custDataLst>
              <p:tags r:id="rId1"/>
            </p:custDataLst>
            <p:extLst>
              <p:ext uri="{D42A27DB-BD31-4B8C-83A1-F6EECF244321}">
                <p14:modId xmlns:p14="http://schemas.microsoft.com/office/powerpoint/2010/main" val="14501626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F0D144DC-C940-52CA-6041-3A27F4DFC93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2CC56694-B638-5E00-9D7F-9B57443020BA}"/>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5DE7414A-0A2A-1737-5865-58295A87DFFD}"/>
              </a:ext>
            </a:extLst>
          </p:cNvPr>
          <p:cNvSpPr>
            <a:spLocks noGrp="1"/>
          </p:cNvSpPr>
          <p:nvPr>
            <p:ph type="title"/>
          </p:nvPr>
        </p:nvSpPr>
        <p:spPr/>
        <p:txBody>
          <a:bodyPr vert="horz" rIns="0"/>
          <a:lstStyle/>
          <a:p>
            <a:r>
              <a:rPr lang="en-US" dirty="0"/>
              <a:t>Workstream A – Information Request List</a:t>
            </a:r>
          </a:p>
        </p:txBody>
      </p:sp>
      <p:sp>
        <p:nvSpPr>
          <p:cNvPr id="6" name="Rectangle 5">
            <a:extLst>
              <a:ext uri="{FF2B5EF4-FFF2-40B4-BE49-F238E27FC236}">
                <a16:creationId xmlns:a16="http://schemas.microsoft.com/office/drawing/2014/main" id="{8A4F06CF-65F6-D5EE-97FE-BEC66DD048A2}"/>
              </a:ext>
            </a:extLst>
          </p:cNvPr>
          <p:cNvSpPr/>
          <p:nvPr/>
        </p:nvSpPr>
        <p:spPr bwMode="gray">
          <a:xfrm>
            <a:off x="3757264" y="3251006"/>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How to accelerate this</a:t>
            </a:r>
          </a:p>
          <a:p>
            <a:pPr algn="ctr"/>
            <a:endParaRPr lang="en-US" sz="1000" dirty="0">
              <a:solidFill>
                <a:schemeClr val="bg1"/>
              </a:solidFill>
            </a:endParaRPr>
          </a:p>
        </p:txBody>
      </p:sp>
    </p:spTree>
    <p:extLst>
      <p:ext uri="{BB962C8B-B14F-4D97-AF65-F5344CB8AC3E}">
        <p14:creationId xmlns:p14="http://schemas.microsoft.com/office/powerpoint/2010/main" val="2017050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891CE11-7B69-0261-DD22-073487961E23}"/>
              </a:ext>
            </a:extLst>
          </p:cNvPr>
          <p:cNvGraphicFramePr>
            <a:graphicFrameLocks/>
          </p:cNvGraphicFramePr>
          <p:nvPr>
            <p:custDataLst>
              <p:tags r:id="rId1"/>
            </p:custDataLst>
            <p:extLst>
              <p:ext uri="{D42A27DB-BD31-4B8C-83A1-F6EECF244321}">
                <p14:modId xmlns:p14="http://schemas.microsoft.com/office/powerpoint/2010/main" val="22939851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F891CE11-7B69-0261-DD22-073487961E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2CADE877-5C5A-0C1D-CBEF-5777F736D680}"/>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D65CE26D-73CF-AC23-968E-D9C5FB342EB0}"/>
              </a:ext>
            </a:extLst>
          </p:cNvPr>
          <p:cNvSpPr>
            <a:spLocks noGrp="1"/>
          </p:cNvSpPr>
          <p:nvPr>
            <p:ph type="title"/>
          </p:nvPr>
        </p:nvSpPr>
        <p:spPr/>
        <p:txBody>
          <a:bodyPr vert="horz" rIns="0"/>
          <a:lstStyle/>
          <a:p>
            <a:r>
              <a:rPr lang="en-US" dirty="0"/>
              <a:t>Workstream A – Proposed Meetings</a:t>
            </a:r>
          </a:p>
        </p:txBody>
      </p:sp>
      <p:sp>
        <p:nvSpPr>
          <p:cNvPr id="6" name="Rectangle 5">
            <a:extLst>
              <a:ext uri="{FF2B5EF4-FFF2-40B4-BE49-F238E27FC236}">
                <a16:creationId xmlns:a16="http://schemas.microsoft.com/office/drawing/2014/main" id="{D06ED13A-ABE4-488D-AF75-9C5821587793}"/>
              </a:ext>
            </a:extLst>
          </p:cNvPr>
          <p:cNvSpPr/>
          <p:nvPr/>
        </p:nvSpPr>
        <p:spPr bwMode="gray">
          <a:xfrm>
            <a:off x="3757264" y="3251006"/>
            <a:ext cx="5360592" cy="1645946"/>
          </a:xfrm>
          <a:prstGeom prst="rect">
            <a:avLst/>
          </a:prstGeom>
          <a:solidFill>
            <a:schemeClr val="accent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chemeClr val="bg1"/>
                </a:solidFill>
              </a:rPr>
              <a:t>MK to give a template</a:t>
            </a:r>
          </a:p>
          <a:p>
            <a:pPr algn="ctr"/>
            <a:endParaRPr lang="en-US" sz="1000" dirty="0">
              <a:solidFill>
                <a:schemeClr val="bg1"/>
              </a:solidFill>
            </a:endParaRPr>
          </a:p>
          <a:p>
            <a:pPr algn="ctr"/>
            <a:r>
              <a:rPr lang="en-US" sz="1000" dirty="0">
                <a:solidFill>
                  <a:schemeClr val="bg1"/>
                </a:solidFill>
              </a:rPr>
              <a:t>Next 2 months?</a:t>
            </a:r>
          </a:p>
        </p:txBody>
      </p:sp>
    </p:spTree>
    <p:extLst>
      <p:ext uri="{BB962C8B-B14F-4D97-AF65-F5344CB8AC3E}">
        <p14:creationId xmlns:p14="http://schemas.microsoft.com/office/powerpoint/2010/main" val="244591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64AC9F-4D8D-A638-6BA1-FBA83658032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1C28E55-60CB-4AE5-AE7C-2CC2CE81B1F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6" name="thinkcell data - do not delete" hidden="1">
                        <a:extLst>
                          <a:ext uri="{FF2B5EF4-FFF2-40B4-BE49-F238E27FC236}">
                            <a16:creationId xmlns:a16="http://schemas.microsoft.com/office/drawing/2014/main" id="{01C28E55-60CB-4AE5-AE7C-2CC2CE81B1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566A819C-B499-D8DE-C680-976B9D855C18}"/>
              </a:ext>
            </a:extLst>
          </p:cNvPr>
          <p:cNvSpPr>
            <a:spLocks noGrp="1"/>
          </p:cNvSpPr>
          <p:nvPr>
            <p:ph type="title"/>
          </p:nvPr>
        </p:nvSpPr>
        <p:spPr/>
        <p:txBody>
          <a:bodyPr vert="horz" rIns="0"/>
          <a:lstStyle/>
          <a:p>
            <a:r>
              <a:rPr lang="en-US"/>
              <a:t>Workstream A - Architecture Assessment Framework - Planning</a:t>
            </a:r>
            <a:br>
              <a:rPr lang="en-US"/>
            </a:br>
            <a:r>
              <a:rPr lang="en-US" sz="1600" b="0"/>
              <a:t>Focus on  "how and when" of Milestone A.1 to establish operational clarity and alignment</a:t>
            </a:r>
            <a:br>
              <a:rPr lang="en-US" sz="1600" b="0" i="1"/>
            </a:br>
            <a:endParaRPr lang="en-US" sz="1600" b="0" i="1"/>
          </a:p>
        </p:txBody>
      </p:sp>
      <p:sp>
        <p:nvSpPr>
          <p:cNvPr id="9" name="Rectangle 8">
            <a:extLst>
              <a:ext uri="{FF2B5EF4-FFF2-40B4-BE49-F238E27FC236}">
                <a16:creationId xmlns:a16="http://schemas.microsoft.com/office/drawing/2014/main" id="{A02F56CD-7FC1-24BE-121A-116173AAED31}"/>
              </a:ext>
            </a:extLst>
          </p:cNvPr>
          <p:cNvSpPr/>
          <p:nvPr/>
        </p:nvSpPr>
        <p:spPr bwMode="gray">
          <a:xfrm>
            <a:off x="587375" y="1494292"/>
            <a:ext cx="5303520" cy="4581144"/>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bIns="91440" rtlCol="0" anchor="t"/>
          <a:lstStyle/>
          <a:p>
            <a:pPr algn="ctr"/>
            <a:r>
              <a:rPr lang="en-US" b="1">
                <a:solidFill>
                  <a:schemeClr val="tx2"/>
                </a:solidFill>
              </a:rPr>
              <a:t>Milestone A.1 Breakdown &amp; Timeline</a:t>
            </a:r>
          </a:p>
          <a:p>
            <a:endParaRPr lang="en-US" b="1">
              <a:solidFill>
                <a:schemeClr val="tx2"/>
              </a:solidFill>
            </a:endParaRPr>
          </a:p>
          <a:p>
            <a:pPr marL="285750" indent="-285750">
              <a:buFont typeface="Arial" panose="020B0604020202020204" pitchFamily="34" charset="0"/>
              <a:buChar char="•"/>
            </a:pPr>
            <a:r>
              <a:rPr lang="en-US" sz="1600" b="1">
                <a:solidFill>
                  <a:schemeClr val="tx2"/>
                </a:solidFill>
              </a:rPr>
              <a:t>Architecture Assessment (Weeks 1–6) </a:t>
            </a:r>
            <a:r>
              <a:rPr lang="en-US" sz="1600">
                <a:solidFill>
                  <a:schemeClr val="tx2"/>
                </a:solidFill>
              </a:rPr>
              <a:t>Deep-dive evaluation across 7 distinct technical domains to establish a validated technical baseline</a:t>
            </a:r>
          </a:p>
          <a:p>
            <a:endParaRPr lang="en-US" sz="1600" b="1">
              <a:solidFill>
                <a:schemeClr val="tx2"/>
              </a:solidFill>
            </a:endParaRPr>
          </a:p>
          <a:p>
            <a:pPr marL="285750" indent="-285750">
              <a:buFont typeface="Arial" panose="020B0604020202020204" pitchFamily="34" charset="0"/>
              <a:buChar char="•"/>
            </a:pPr>
            <a:r>
              <a:rPr lang="en-US" sz="1600" b="1">
                <a:solidFill>
                  <a:schemeClr val="tx2"/>
                </a:solidFill>
              </a:rPr>
              <a:t>Use Case Validation &amp; Pilot (Weeks 7–10) </a:t>
            </a:r>
            <a:r>
              <a:rPr lang="en-US" sz="1600">
                <a:solidFill>
                  <a:schemeClr val="tx2"/>
                </a:solidFill>
              </a:rPr>
              <a:t>End-to-end telemetry pipeline build, performance testing (validating up to 400 TB/day), and final workspace demonstration</a:t>
            </a:r>
          </a:p>
          <a:p>
            <a:endParaRPr lang="en-US" sz="1600" b="1">
              <a:solidFill>
                <a:schemeClr val="tx2"/>
              </a:solidFill>
            </a:endParaRPr>
          </a:p>
          <a:p>
            <a:pPr marL="285750" indent="-285750">
              <a:buFont typeface="Arial" panose="020B0604020202020204" pitchFamily="34" charset="0"/>
              <a:buChar char="•"/>
            </a:pPr>
            <a:r>
              <a:rPr lang="en-US" sz="1600" b="1">
                <a:solidFill>
                  <a:schemeClr val="tx2"/>
                </a:solidFill>
              </a:rPr>
              <a:t>Architecture Remediation Planning (Weeks 4–12) </a:t>
            </a:r>
            <a:r>
              <a:rPr lang="en-US" sz="1600">
                <a:solidFill>
                  <a:schemeClr val="tx2"/>
                </a:solidFill>
              </a:rPr>
              <a:t>Concurrent gap resolution, security mitigation, and collection of verification evidence</a:t>
            </a:r>
          </a:p>
          <a:p>
            <a:endParaRPr lang="en-US">
              <a:solidFill>
                <a:schemeClr val="tx2"/>
              </a:solidFill>
            </a:endParaRPr>
          </a:p>
          <a:p>
            <a:endParaRPr lang="en-US" b="1">
              <a:solidFill>
                <a:schemeClr val="tx2"/>
              </a:solidFill>
            </a:endParaRPr>
          </a:p>
        </p:txBody>
      </p:sp>
      <p:sp>
        <p:nvSpPr>
          <p:cNvPr id="13" name="Rectangle 12">
            <a:extLst>
              <a:ext uri="{FF2B5EF4-FFF2-40B4-BE49-F238E27FC236}">
                <a16:creationId xmlns:a16="http://schemas.microsoft.com/office/drawing/2014/main" id="{FCE08F45-1864-A99E-4DE3-E84458660381}"/>
              </a:ext>
            </a:extLst>
          </p:cNvPr>
          <p:cNvSpPr/>
          <p:nvPr/>
        </p:nvSpPr>
        <p:spPr bwMode="gray">
          <a:xfrm>
            <a:off x="6312218" y="1494292"/>
            <a:ext cx="5303520" cy="4581144"/>
          </a:xfrm>
          <a:prstGeom prst="rect">
            <a:avLst/>
          </a:prstGeom>
          <a:solidFill>
            <a:schemeClr val="bg1">
              <a:lumMod val="95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tIns="91440" rtlCol="0" anchor="t"/>
          <a:lstStyle/>
          <a:p>
            <a:pPr algn="ctr"/>
            <a:r>
              <a:rPr lang="en-US" b="1">
                <a:solidFill>
                  <a:schemeClr val="tx2"/>
                </a:solidFill>
              </a:rPr>
              <a:t>Key Deliverables</a:t>
            </a:r>
          </a:p>
          <a:p>
            <a:endParaRPr lang="en-US" b="1">
              <a:solidFill>
                <a:schemeClr val="tx2"/>
              </a:solidFill>
            </a:endParaRPr>
          </a:p>
          <a:p>
            <a:pPr marL="285750" indent="-285750">
              <a:buFont typeface="Arial" panose="020B0604020202020204" pitchFamily="34" charset="0"/>
              <a:buChar char="•"/>
            </a:pPr>
            <a:r>
              <a:rPr lang="en-US" sz="1600">
                <a:solidFill>
                  <a:schemeClr val="tx2"/>
                </a:solidFill>
              </a:rPr>
              <a:t>Current-State Architecture Assessment Report</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Security, Governance, and  Findings Register</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Unity Catalog and Data Lifecycle Recommendations</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Performance and Scalability Validation Results</a:t>
            </a:r>
          </a:p>
          <a:p>
            <a:pPr marL="285750" indent="-285750">
              <a:buFont typeface="Arial" panose="020B0604020202020204" pitchFamily="34" charset="0"/>
              <a:buChar char="•"/>
            </a:pPr>
            <a:endParaRPr lang="en-US" sz="1600">
              <a:solidFill>
                <a:schemeClr val="tx2"/>
              </a:solidFill>
            </a:endParaRPr>
          </a:p>
          <a:p>
            <a:pPr marL="285750" indent="-285750">
              <a:buFont typeface="Arial" panose="020B0604020202020204" pitchFamily="34" charset="0"/>
              <a:buChar char="•"/>
            </a:pPr>
            <a:r>
              <a:rPr lang="en-US" sz="1600">
                <a:solidFill>
                  <a:schemeClr val="tx2"/>
                </a:solidFill>
              </a:rPr>
              <a:t>Day 1 Go-Live Architecture Design &amp; Day 2 Roadmap</a:t>
            </a:r>
          </a:p>
        </p:txBody>
      </p:sp>
      <p:grpSp>
        <p:nvGrpSpPr>
          <p:cNvPr id="19" name="Group 18">
            <a:extLst>
              <a:ext uri="{FF2B5EF4-FFF2-40B4-BE49-F238E27FC236}">
                <a16:creationId xmlns:a16="http://schemas.microsoft.com/office/drawing/2014/main" id="{75F9D692-C6B3-D008-BB5F-069290DEA8F8}"/>
              </a:ext>
            </a:extLst>
          </p:cNvPr>
          <p:cNvGrpSpPr/>
          <p:nvPr/>
        </p:nvGrpSpPr>
        <p:grpSpPr>
          <a:xfrm>
            <a:off x="5964397" y="1494292"/>
            <a:ext cx="274320" cy="4581144"/>
            <a:chOff x="5890895" y="1956928"/>
            <a:chExt cx="274320" cy="4581144"/>
          </a:xfrm>
        </p:grpSpPr>
        <p:cxnSp>
          <p:nvCxnSpPr>
            <p:cNvPr id="17" name="Straight Connector 16">
              <a:extLst>
                <a:ext uri="{FF2B5EF4-FFF2-40B4-BE49-F238E27FC236}">
                  <a16:creationId xmlns:a16="http://schemas.microsoft.com/office/drawing/2014/main" id="{22D98F96-532C-7FCA-A44C-C55466939897}"/>
                </a:ext>
              </a:extLst>
            </p:cNvPr>
            <p:cNvCxnSpPr>
              <a:cxnSpLocks/>
            </p:cNvCxnSpPr>
            <p:nvPr/>
          </p:nvCxnSpPr>
          <p:spPr>
            <a:xfrm>
              <a:off x="6028055" y="1956928"/>
              <a:ext cx="0" cy="4581144"/>
            </a:xfrm>
            <a:prstGeom prst="line">
              <a:avLst/>
            </a:prstGeom>
            <a:ln w="12700" cmpd="sng">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Arrow: Chevron 17">
              <a:extLst>
                <a:ext uri="{FF2B5EF4-FFF2-40B4-BE49-F238E27FC236}">
                  <a16:creationId xmlns:a16="http://schemas.microsoft.com/office/drawing/2014/main" id="{97E23116-A0BD-14C5-33E1-24CB8F45D5B8}"/>
                </a:ext>
              </a:extLst>
            </p:cNvPr>
            <p:cNvSpPr/>
            <p:nvPr/>
          </p:nvSpPr>
          <p:spPr bwMode="gray">
            <a:xfrm>
              <a:off x="5890895" y="4064620"/>
              <a:ext cx="274320" cy="365760"/>
            </a:xfrm>
            <a:prstGeom prst="chevron">
              <a:avLst/>
            </a:prstGeom>
            <a:solidFill>
              <a:schemeClr val="tx2"/>
            </a:solidFill>
            <a:ln w="1905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pSp>
    </p:spTree>
    <p:extLst>
      <p:ext uri="{BB962C8B-B14F-4D97-AF65-F5344CB8AC3E}">
        <p14:creationId xmlns:p14="http://schemas.microsoft.com/office/powerpoint/2010/main" val="325248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EEBB634-8B48-F312-F08A-C3890C120657}"/>
              </a:ext>
            </a:extLst>
          </p:cNvPr>
          <p:cNvGraphicFramePr>
            <a:graphicFrameLocks/>
          </p:cNvGraphicFramePr>
          <p:nvPr>
            <p:custDataLst>
              <p:tags r:id="rId1"/>
            </p:custDataLst>
            <p:extLst>
              <p:ext uri="{D42A27DB-BD31-4B8C-83A1-F6EECF244321}">
                <p14:modId xmlns:p14="http://schemas.microsoft.com/office/powerpoint/2010/main" val="2313703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9EEBB634-8B48-F312-F08A-C3890C1206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A50BF4B5-140B-BCE9-CF07-F36AB44CF4F7}"/>
              </a:ext>
            </a:extLst>
          </p:cNvPr>
          <p:cNvSpPr>
            <a:spLocks noGrp="1"/>
          </p:cNvSpPr>
          <p:nvPr>
            <p:ph idx="1"/>
          </p:nvPr>
        </p:nvSpPr>
        <p:spPr>
          <a:xfrm>
            <a:off x="587375" y="1494292"/>
            <a:ext cx="11028363" cy="4576307"/>
          </a:xfrm>
        </p:spPr>
        <p:txBody>
          <a:bodyPr/>
          <a:lstStyle/>
          <a:p>
            <a:r>
              <a:rPr lang="en-US"/>
              <a:t>Key considerations for Workstream A:</a:t>
            </a:r>
          </a:p>
          <a:p>
            <a:endParaRPr lang="en-US"/>
          </a:p>
          <a:p>
            <a:endParaRPr lang="en-US"/>
          </a:p>
          <a:p>
            <a:endParaRPr lang="en-US"/>
          </a:p>
          <a:p>
            <a:endParaRPr lang="en-US"/>
          </a:p>
          <a:p>
            <a:endParaRPr lang="en-US"/>
          </a:p>
          <a:p>
            <a:endParaRPr lang="en-US"/>
          </a:p>
          <a:p>
            <a:endParaRPr lang="en-US"/>
          </a:p>
          <a:p>
            <a:r>
              <a:rPr lang="en-US"/>
              <a:t>Recommended Action: </a:t>
            </a:r>
            <a:r>
              <a:rPr lang="en-US" b="0"/>
              <a:t>Ratifying the SOW this week allows KPMG and </a:t>
            </a:r>
            <a:r>
              <a:rPr lang="en-US" b="0" err="1"/>
              <a:t>Scicom</a:t>
            </a:r>
            <a:r>
              <a:rPr lang="en-US" b="0"/>
              <a:t> to initiate Week 1 assessment workshops immediately, preserving the narrow window required to beat the Dec 1 change freeze.</a:t>
            </a:r>
          </a:p>
        </p:txBody>
      </p:sp>
      <p:sp>
        <p:nvSpPr>
          <p:cNvPr id="3" name="Title 2">
            <a:extLst>
              <a:ext uri="{FF2B5EF4-FFF2-40B4-BE49-F238E27FC236}">
                <a16:creationId xmlns:a16="http://schemas.microsoft.com/office/drawing/2014/main" id="{AC834E33-0675-2E6C-9600-20B0E0127C02}"/>
              </a:ext>
            </a:extLst>
          </p:cNvPr>
          <p:cNvSpPr>
            <a:spLocks noGrp="1"/>
          </p:cNvSpPr>
          <p:nvPr>
            <p:ph type="title"/>
          </p:nvPr>
        </p:nvSpPr>
        <p:spPr/>
        <p:txBody>
          <a:bodyPr vert="horz" rIns="0"/>
          <a:lstStyle/>
          <a:p>
            <a:r>
              <a:rPr lang="en-US"/>
              <a:t>Workstream A - Architecture Assessment Framework – Considerations</a:t>
            </a:r>
            <a:br>
              <a:rPr lang="en-US"/>
            </a:br>
            <a:r>
              <a:rPr lang="en-US" sz="1600" b="0"/>
              <a:t>Focus on lowering risk, highlighting bottlenecks, and demonstrating proactive mitigation </a:t>
            </a:r>
          </a:p>
        </p:txBody>
      </p:sp>
      <p:sp>
        <p:nvSpPr>
          <p:cNvPr id="8" name="Rectangle 7">
            <a:extLst>
              <a:ext uri="{FF2B5EF4-FFF2-40B4-BE49-F238E27FC236}">
                <a16:creationId xmlns:a16="http://schemas.microsoft.com/office/drawing/2014/main" id="{A62FBEF6-1BE9-E41A-E3A9-4EF80D1F0AA4}"/>
              </a:ext>
            </a:extLst>
          </p:cNvPr>
          <p:cNvSpPr/>
          <p:nvPr/>
        </p:nvSpPr>
        <p:spPr bwMode="gray">
          <a:xfrm>
            <a:off x="587375"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VDI Access</a:t>
            </a:r>
          </a:p>
          <a:p>
            <a:pPr algn="ctr"/>
            <a:r>
              <a:rPr lang="en-US" sz="1700">
                <a:solidFill>
                  <a:schemeClr val="tx2"/>
                </a:solidFill>
              </a:rPr>
              <a:t>(Critical Path)</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Dependency: </a:t>
            </a:r>
            <a:r>
              <a:rPr lang="en-US" sz="1700">
                <a:solidFill>
                  <a:schemeClr val="tx2"/>
                </a:solidFill>
              </a:rPr>
              <a:t>Downstream development is dependent on the completion of VDI onboarding</a:t>
            </a:r>
          </a:p>
          <a:p>
            <a:pPr marL="285750" indent="-285750">
              <a:buFont typeface="Arial" panose="020B0604020202020204" pitchFamily="34" charset="0"/>
              <a:buChar char="•"/>
            </a:pPr>
            <a:endParaRPr lang="en-US" sz="1700">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To ensure a smooth workflow, we recommend CVS authorize provisional VDI access by mid-October to prevent delays.</a:t>
            </a:r>
            <a:br>
              <a:rPr lang="en-US" sz="1700">
                <a:solidFill>
                  <a:schemeClr val="tx2"/>
                </a:solidFill>
              </a:rPr>
            </a:br>
            <a:endParaRPr lang="en-US" sz="1700">
              <a:solidFill>
                <a:schemeClr val="tx2"/>
              </a:solidFill>
            </a:endParaRPr>
          </a:p>
        </p:txBody>
      </p:sp>
      <p:sp>
        <p:nvSpPr>
          <p:cNvPr id="10" name="Rectangle 9">
            <a:extLst>
              <a:ext uri="{FF2B5EF4-FFF2-40B4-BE49-F238E27FC236}">
                <a16:creationId xmlns:a16="http://schemas.microsoft.com/office/drawing/2014/main" id="{31188FBE-6F7E-A5B0-399D-F148B8D05AF1}"/>
              </a:ext>
            </a:extLst>
          </p:cNvPr>
          <p:cNvSpPr/>
          <p:nvPr/>
        </p:nvSpPr>
        <p:spPr bwMode="gray">
          <a:xfrm>
            <a:off x="4364197"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Welcome Season Change Freeze Compression</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Timeline Impact: </a:t>
            </a:r>
            <a:r>
              <a:rPr lang="en-US" sz="1700">
                <a:solidFill>
                  <a:schemeClr val="tx2"/>
                </a:solidFill>
              </a:rPr>
              <a:t>Delays in assessment completion will shift the pilot build into Q1 2027 due to the welcome season freeze</a:t>
            </a:r>
            <a:r>
              <a:rPr lang="en-US" sz="1700" b="1">
                <a:solidFill>
                  <a:schemeClr val="tx2"/>
                </a:solidFill>
              </a:rPr>
              <a:t>.</a:t>
            </a:r>
          </a:p>
          <a:p>
            <a:endParaRPr lang="en-US" sz="1700">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To ensure productivity during the freeze, the 5 core telemetry datasets must be successfully ingested before Dec 1</a:t>
            </a:r>
          </a:p>
        </p:txBody>
      </p:sp>
      <p:sp>
        <p:nvSpPr>
          <p:cNvPr id="12" name="Rectangle 11">
            <a:extLst>
              <a:ext uri="{FF2B5EF4-FFF2-40B4-BE49-F238E27FC236}">
                <a16:creationId xmlns:a16="http://schemas.microsoft.com/office/drawing/2014/main" id="{9F7B94ED-0A97-9DFB-B159-9E8BC24604BE}"/>
              </a:ext>
            </a:extLst>
          </p:cNvPr>
          <p:cNvSpPr/>
          <p:nvPr/>
        </p:nvSpPr>
        <p:spPr bwMode="gray">
          <a:xfrm>
            <a:off x="8141018" y="1903448"/>
            <a:ext cx="3474720" cy="3474720"/>
          </a:xfrm>
          <a:prstGeom prst="rect">
            <a:avLst/>
          </a:prstGeom>
          <a:solidFill>
            <a:schemeClr val="bg1">
              <a:lumMod val="95000"/>
              <a:alpha val="50000"/>
            </a:schemeClr>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700" b="1">
                <a:solidFill>
                  <a:schemeClr val="tx2"/>
                </a:solidFill>
              </a:rPr>
              <a:t>Multi-Party Resource Alignment</a:t>
            </a:r>
          </a:p>
          <a:p>
            <a:pPr algn="ctr"/>
            <a:r>
              <a:rPr lang="en-US" sz="1700">
                <a:solidFill>
                  <a:schemeClr val="tx2"/>
                </a:solidFill>
              </a:rPr>
              <a:t>(CVS, KPMG, </a:t>
            </a:r>
            <a:r>
              <a:rPr lang="en-US" sz="1700" err="1">
                <a:solidFill>
                  <a:schemeClr val="tx2"/>
                </a:solidFill>
              </a:rPr>
              <a:t>Scicom</a:t>
            </a:r>
            <a:r>
              <a:rPr lang="en-US" sz="1700">
                <a:solidFill>
                  <a:schemeClr val="tx2"/>
                </a:solidFill>
              </a:rPr>
              <a:t>)</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Risk: </a:t>
            </a:r>
            <a:r>
              <a:rPr lang="en-US" sz="1700">
                <a:solidFill>
                  <a:schemeClr val="tx2"/>
                </a:solidFill>
              </a:rPr>
              <a:t>Misaligned expectations regarding resource availability for the architecture domain deep-dives</a:t>
            </a:r>
          </a:p>
          <a:p>
            <a:endParaRPr lang="en-US" sz="1700" b="1">
              <a:solidFill>
                <a:schemeClr val="tx2"/>
              </a:solidFill>
            </a:endParaRPr>
          </a:p>
          <a:p>
            <a:pPr marL="285750" indent="-285750">
              <a:buFont typeface="Arial" panose="020B0604020202020204" pitchFamily="34" charset="0"/>
              <a:buChar char="•"/>
            </a:pPr>
            <a:r>
              <a:rPr lang="en-US" sz="1700" b="1">
                <a:solidFill>
                  <a:schemeClr val="tx2"/>
                </a:solidFill>
              </a:rPr>
              <a:t>Mitigation: </a:t>
            </a:r>
            <a:r>
              <a:rPr lang="en-US" sz="1700">
                <a:solidFill>
                  <a:schemeClr val="tx2"/>
                </a:solidFill>
              </a:rPr>
              <a:t>Establish a dedicated "assessment calendar" in Week 1 with pre-booked domain-expert workshops</a:t>
            </a:r>
          </a:p>
        </p:txBody>
      </p:sp>
      <p:sp>
        <p:nvSpPr>
          <p:cNvPr id="13" name="Content Placeholder 1">
            <a:extLst>
              <a:ext uri="{FF2B5EF4-FFF2-40B4-BE49-F238E27FC236}">
                <a16:creationId xmlns:a16="http://schemas.microsoft.com/office/drawing/2014/main" id="{EE3D36D9-96F6-CF74-BDD6-E18946EFE648}"/>
              </a:ext>
            </a:extLst>
          </p:cNvPr>
          <p:cNvSpPr txBox="1">
            <a:spLocks/>
          </p:cNvSpPr>
          <p:nvPr/>
        </p:nvSpPr>
        <p:spPr bwMode="gray">
          <a:xfrm>
            <a:off x="587375" y="5502485"/>
            <a:ext cx="11028363" cy="633431"/>
          </a:xfrm>
          <a:prstGeom prst="rect">
            <a:avLst/>
          </a:prstGeom>
          <a:solidFill>
            <a:srgbClr val="0A4B8C"/>
          </a:solidFill>
        </p:spPr>
        <p:txBody>
          <a:bodyPr vert="horz" lIns="91440" tIns="0" rIns="91440" bIns="0" rtlCol="0" anchor="ctr">
            <a:noAutofit/>
          </a:bodyPr>
          <a:lstStyle>
            <a:lvl1pPr marL="0" indent="0" algn="l" defTabSz="457063" rtl="0" eaLnBrk="1" fontAlgn="ctr" latinLnBrk="0" hangingPunct="1">
              <a:lnSpc>
                <a:spcPct val="100000"/>
              </a:lnSpc>
              <a:spcBef>
                <a:spcPts val="1799"/>
              </a:spcBef>
              <a:buClr>
                <a:schemeClr val="tx1"/>
              </a:buClr>
              <a:buFont typeface="Arial"/>
              <a:buNone/>
              <a:defRPr sz="1797" b="1" kern="1200" cap="none" baseline="0">
                <a:solidFill>
                  <a:schemeClr val="tx2"/>
                </a:solidFill>
                <a:latin typeface="+mn-lt"/>
                <a:ea typeface="+mn-ea"/>
                <a:cs typeface="+mn-cs"/>
              </a:defRPr>
            </a:lvl1pPr>
            <a:lvl2pPr marL="0" indent="0" algn="l" defTabSz="457063" rtl="0" eaLnBrk="1" fontAlgn="ctr" latinLnBrk="0" hangingPunct="1">
              <a:lnSpc>
                <a:spcPct val="100000"/>
              </a:lnSpc>
              <a:spcBef>
                <a:spcPts val="1200"/>
              </a:spcBef>
              <a:buClr>
                <a:schemeClr val="tx1"/>
              </a:buClr>
              <a:buFont typeface="Arial"/>
              <a:buNone/>
              <a:defRPr sz="1300" kern="1200" baseline="0">
                <a:solidFill>
                  <a:schemeClr val="tx2"/>
                </a:solidFill>
                <a:latin typeface="+mn-lt"/>
                <a:ea typeface="+mn-ea"/>
                <a:cs typeface="+mn-cs"/>
              </a:defRPr>
            </a:lvl2pPr>
            <a:lvl3pPr marL="171297" indent="-171297" algn="l" defTabSz="457063" rtl="0" eaLnBrk="1" fontAlgn="ctr" latinLnBrk="0" hangingPunct="1">
              <a:lnSpc>
                <a:spcPct val="100000"/>
              </a:lnSpc>
              <a:spcBef>
                <a:spcPts val="1200"/>
              </a:spcBef>
              <a:buClr>
                <a:schemeClr val="tx1"/>
              </a:buClr>
              <a:buFont typeface="Arial" panose="020B0604020202020204" pitchFamily="34" charset="0"/>
              <a:buChar char="•"/>
              <a:defRPr sz="1300" kern="1200" baseline="0">
                <a:solidFill>
                  <a:schemeClr val="tx2"/>
                </a:solidFill>
                <a:latin typeface="+mn-lt"/>
                <a:ea typeface="+mn-ea"/>
                <a:cs typeface="+mn-cs"/>
              </a:defRPr>
            </a:lvl3pPr>
            <a:lvl4pPr marL="342591" indent="-171297"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4pPr>
            <a:lvl5pPr marL="515473" indent="-172882"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5pPr>
            <a:lvl6pPr marL="686770" indent="-171297" algn="l" defTabSz="457063" rtl="0" eaLnBrk="1" fontAlgn="ctr" latinLnBrk="0" hangingPunct="1">
              <a:lnSpc>
                <a:spcPct val="100000"/>
              </a:lnSpc>
              <a:spcBef>
                <a:spcPts val="600"/>
              </a:spcBef>
              <a:buClr>
                <a:schemeClr val="tx1"/>
              </a:buClr>
              <a:buFont typeface="Arial" panose="020B0604020202020204" pitchFamily="34" charset="0"/>
              <a:buChar char="–"/>
              <a:defRPr sz="1300" kern="1200" baseline="0">
                <a:solidFill>
                  <a:schemeClr val="tx2"/>
                </a:solidFill>
                <a:latin typeface="+mn-lt"/>
                <a:ea typeface="+mn-ea"/>
                <a:cs typeface="+mn-cs"/>
              </a:defRPr>
            </a:lvl6pPr>
            <a:lvl7pPr marL="859651" indent="-172882"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030947" indent="-171297" algn="l" defTabSz="457063"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8pPr>
            <a:lvl9pPr marL="1202242" indent="-171297" algn="l" defTabSz="457063"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9pPr>
          </a:lstStyle>
          <a:p>
            <a:pPr algn="ctr"/>
            <a:r>
              <a:rPr lang="en-US" sz="1700">
                <a:solidFill>
                  <a:schemeClr val="bg1"/>
                </a:solidFill>
              </a:rPr>
              <a:t>Recommended Action: </a:t>
            </a:r>
            <a:r>
              <a:rPr lang="en-US" sz="1700" b="0">
                <a:solidFill>
                  <a:schemeClr val="bg1"/>
                </a:solidFill>
              </a:rPr>
              <a:t>Signing the SOW will enable KPMG and </a:t>
            </a:r>
            <a:r>
              <a:rPr lang="en-US" sz="1700" b="0" err="1">
                <a:solidFill>
                  <a:schemeClr val="bg1"/>
                </a:solidFill>
              </a:rPr>
              <a:t>Scicom</a:t>
            </a:r>
            <a:r>
              <a:rPr lang="en-US" sz="1700" b="0">
                <a:solidFill>
                  <a:schemeClr val="bg1"/>
                </a:solidFill>
              </a:rPr>
              <a:t> to initiate Week 1 assessment workshops, meeting Welcome Season Change Freeze deadline</a:t>
            </a:r>
          </a:p>
        </p:txBody>
      </p:sp>
    </p:spTree>
    <p:extLst>
      <p:ext uri="{BB962C8B-B14F-4D97-AF65-F5344CB8AC3E}">
        <p14:creationId xmlns:p14="http://schemas.microsoft.com/office/powerpoint/2010/main" val="4233286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5A5CE20-9B71-6F9A-81B0-F14A08768BC9}"/>
              </a:ext>
            </a:extLst>
          </p:cNvPr>
          <p:cNvGraphicFramePr>
            <a:graphicFrameLocks/>
          </p:cNvGraphicFramePr>
          <p:nvPr>
            <p:custDataLst>
              <p:tags r:id="rId1"/>
            </p:custDataLst>
            <p:extLst>
              <p:ext uri="{D42A27DB-BD31-4B8C-83A1-F6EECF244321}">
                <p14:modId xmlns:p14="http://schemas.microsoft.com/office/powerpoint/2010/main" val="17231219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8" name="thinkcell data - do not delete" hidden="1">
                        <a:extLst>
                          <a:ext uri="{FF2B5EF4-FFF2-40B4-BE49-F238E27FC236}">
                            <a16:creationId xmlns:a16="http://schemas.microsoft.com/office/drawing/2014/main" id="{25A5CE20-9B71-6F9A-81B0-F14A08768BC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46096371-2B53-BAA5-D4D2-A1817788942B}"/>
              </a:ext>
            </a:extLst>
          </p:cNvPr>
          <p:cNvSpPr>
            <a:spLocks noGrp="1"/>
          </p:cNvSpPr>
          <p:nvPr>
            <p:ph idx="1"/>
          </p:nvPr>
        </p:nvSpPr>
        <p:spPr/>
        <p:txBody>
          <a:bodyPr/>
          <a:lstStyle/>
          <a:p>
            <a:pPr>
              <a:spcBef>
                <a:spcPts val="0"/>
              </a:spcBef>
            </a:pPr>
            <a:r>
              <a:rPr lang="en-US" sz="1200"/>
              <a:t>Welcome Season Change Freeze: Operational Guardrails</a:t>
            </a:r>
          </a:p>
          <a:p>
            <a:pPr marL="171450" lvl="0" indent="-171450">
              <a:spcBef>
                <a:spcPts val="0"/>
              </a:spcBef>
              <a:buFont typeface="Arial" panose="020B0604020202020204" pitchFamily="34" charset="0"/>
              <a:buChar char="•"/>
            </a:pPr>
            <a:r>
              <a:rPr lang="en-US" sz="1200"/>
              <a:t>Constraint: </a:t>
            </a:r>
            <a:r>
              <a:rPr lang="en-US" sz="1200" b="0"/>
              <a:t>CVS enforces a firm-wide Welcome Season Change Freeze beginning in Dec through January </a:t>
            </a:r>
          </a:p>
          <a:p>
            <a:pPr marL="171450" lvl="0" indent="-171450">
              <a:spcBef>
                <a:spcPts val="0"/>
              </a:spcBef>
              <a:buFont typeface="Arial" panose="020B0604020202020204" pitchFamily="34" charset="0"/>
              <a:buChar char="•"/>
            </a:pPr>
            <a:r>
              <a:rPr lang="en-US" sz="1200"/>
              <a:t>What It Means: </a:t>
            </a:r>
            <a:r>
              <a:rPr lang="en-US" sz="1200" b="0"/>
              <a:t>No new code deployments, schema changes, or infrastructure modifications can be made to the </a:t>
            </a:r>
            <a:r>
              <a:rPr lang="en-US" sz="1200" b="0" i="1"/>
              <a:t>Production</a:t>
            </a:r>
            <a:r>
              <a:rPr lang="en-US" sz="1200" b="0"/>
              <a:t> environment during this blackout period</a:t>
            </a:r>
          </a:p>
          <a:p>
            <a:pPr marL="171450" lvl="0" indent="-171450">
              <a:spcBef>
                <a:spcPts val="0"/>
              </a:spcBef>
              <a:buFont typeface="Arial" panose="020B0604020202020204" pitchFamily="34" charset="0"/>
              <a:buChar char="•"/>
            </a:pPr>
            <a:r>
              <a:rPr lang="en-US" sz="1200"/>
              <a:t>Opportunity: </a:t>
            </a:r>
            <a:r>
              <a:rPr lang="en-US" sz="1200" b="0"/>
              <a:t>Development and validation work can and will continue in the non-production / sandbox environments. The change freeze does </a:t>
            </a:r>
            <a:r>
              <a:rPr lang="en-US" sz="1200" b="0" i="1"/>
              <a:t>not</a:t>
            </a:r>
            <a:r>
              <a:rPr lang="en-US" sz="1200" b="0"/>
              <a:t> mean a complete stop to development</a:t>
            </a:r>
          </a:p>
          <a:p>
            <a:pPr>
              <a:spcBef>
                <a:spcPts val="0"/>
              </a:spcBef>
            </a:pPr>
            <a:endParaRPr lang="en-US" sz="1200"/>
          </a:p>
          <a:p>
            <a:pPr>
              <a:spcBef>
                <a:spcPts val="0"/>
              </a:spcBef>
            </a:pPr>
            <a:r>
              <a:rPr lang="en-US" sz="1200"/>
              <a:t>Critical Dependency - Landing 5 Key Datasets by Dec 1: </a:t>
            </a:r>
            <a:r>
              <a:rPr lang="en-US" sz="1200" b="0"/>
              <a:t>To ensure the team can work productively during the blackout, we should ingest live telemetry streams before the freeze</a:t>
            </a:r>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a:p>
          <a:p>
            <a:pPr marL="171450" indent="-171450">
              <a:spcBef>
                <a:spcPts val="0"/>
              </a:spcBef>
              <a:buFont typeface="Arial" panose="020B0604020202020204" pitchFamily="34" charset="0"/>
              <a:buChar char="•"/>
            </a:pPr>
            <a:r>
              <a:rPr lang="en-US" sz="1200"/>
              <a:t>Recommended Action: </a:t>
            </a:r>
            <a:r>
              <a:rPr lang="en-US" sz="1200" b="0"/>
              <a:t>We recommend that CVS sponsors authorize the prioritization of the 5 critical datasets with the internal data-owner teams. In parallel, CVS must issue provisional VDI access requests by mid-October to ensure the delivery team is  operational on Dec 1</a:t>
            </a:r>
          </a:p>
          <a:p>
            <a:pPr>
              <a:spcBef>
                <a:spcPts val="0"/>
              </a:spcBef>
            </a:pPr>
            <a:endParaRPr lang="en-US" sz="1200"/>
          </a:p>
          <a:p>
            <a:pPr>
              <a:spcBef>
                <a:spcPts val="0"/>
              </a:spcBef>
            </a:pPr>
            <a:r>
              <a:rPr lang="en-US" sz="1200"/>
              <a:t>Potential Challenges:</a:t>
            </a:r>
          </a:p>
          <a:p>
            <a:pPr marL="171450" lvl="0" indent="-171450">
              <a:spcBef>
                <a:spcPts val="0"/>
              </a:spcBef>
              <a:buFont typeface="Arial" panose="020B0604020202020204" pitchFamily="34" charset="0"/>
              <a:buChar char="•"/>
            </a:pPr>
            <a:r>
              <a:rPr lang="en-US" sz="1200"/>
              <a:t>Treating Dec as "Lost": </a:t>
            </a:r>
            <a:r>
              <a:rPr lang="en-US" sz="1200" b="0"/>
              <a:t>Continue progress during the blackout period. By securing early development sandbox data, we can complete 100% of pipeline mapping and dry-run validation ahead of January production release</a:t>
            </a:r>
          </a:p>
          <a:p>
            <a:pPr marL="171450" lvl="0" indent="-171450">
              <a:spcBef>
                <a:spcPts val="0"/>
              </a:spcBef>
              <a:buFont typeface="Arial" panose="020B0604020202020204" pitchFamily="34" charset="0"/>
              <a:buChar char="•"/>
            </a:pPr>
            <a:r>
              <a:rPr lang="en-US" sz="1200"/>
              <a:t>Late Sandbox Provisioning: </a:t>
            </a:r>
            <a:r>
              <a:rPr lang="en-US" sz="1200" b="0"/>
              <a:t>Sandbox environments are occasionally included in change-freeze restrictions. Confirm with CVS that  development sandboxes are exempt from freeze</a:t>
            </a:r>
          </a:p>
          <a:p>
            <a:pPr marL="171450" lvl="0" indent="-171450">
              <a:spcBef>
                <a:spcPts val="0"/>
              </a:spcBef>
              <a:buFont typeface="Arial" panose="020B0604020202020204" pitchFamily="34" charset="0"/>
              <a:buChar char="•"/>
            </a:pPr>
            <a:r>
              <a:rPr lang="en-US" sz="1200"/>
              <a:t>“Known Unknowns”: </a:t>
            </a:r>
            <a:r>
              <a:rPr lang="en-US" sz="1200" b="0"/>
              <a:t>Identify activities that must be completed before the change freeze to avoid critical delays</a:t>
            </a:r>
          </a:p>
          <a:p>
            <a:pPr>
              <a:spcBef>
                <a:spcPts val="0"/>
              </a:spcBef>
            </a:pPr>
            <a:br>
              <a:rPr lang="en-US" sz="1200"/>
            </a:br>
            <a:endParaRPr lang="en-US" sz="1200"/>
          </a:p>
        </p:txBody>
      </p:sp>
      <p:sp>
        <p:nvSpPr>
          <p:cNvPr id="5" name="Title 4">
            <a:extLst>
              <a:ext uri="{FF2B5EF4-FFF2-40B4-BE49-F238E27FC236}">
                <a16:creationId xmlns:a16="http://schemas.microsoft.com/office/drawing/2014/main" id="{56A27B76-23F0-8827-52B1-47DD308FE557}"/>
              </a:ext>
            </a:extLst>
          </p:cNvPr>
          <p:cNvSpPr>
            <a:spLocks noGrp="1"/>
          </p:cNvSpPr>
          <p:nvPr>
            <p:ph type="title"/>
          </p:nvPr>
        </p:nvSpPr>
        <p:spPr/>
        <p:txBody>
          <a:bodyPr vert="horz" rIns="0"/>
          <a:lstStyle/>
          <a:p>
            <a:r>
              <a:rPr lang="en-US"/>
              <a:t>Welcome Season Change Freeze Planning </a:t>
            </a:r>
            <a:br>
              <a:rPr lang="en-US"/>
            </a:br>
            <a:r>
              <a:rPr lang="en-US" sz="1600" b="0"/>
              <a:t>Mitigating Timeline Risks &amp; Securing the Critical Path</a:t>
            </a:r>
            <a:endParaRPr lang="en-US" sz="1600"/>
          </a:p>
        </p:txBody>
      </p:sp>
      <p:graphicFrame>
        <p:nvGraphicFramePr>
          <p:cNvPr id="10" name="Table 9">
            <a:extLst>
              <a:ext uri="{FF2B5EF4-FFF2-40B4-BE49-F238E27FC236}">
                <a16:creationId xmlns:a16="http://schemas.microsoft.com/office/drawing/2014/main" id="{F4445691-2152-B287-1BED-36D80B9CF45C}"/>
              </a:ext>
            </a:extLst>
          </p:cNvPr>
          <p:cNvGraphicFramePr>
            <a:graphicFrameLocks noGrp="1"/>
          </p:cNvGraphicFramePr>
          <p:nvPr>
            <p:extLst>
              <p:ext uri="{D42A27DB-BD31-4B8C-83A1-F6EECF244321}">
                <p14:modId xmlns:p14="http://schemas.microsoft.com/office/powerpoint/2010/main" val="2336893542"/>
              </p:ext>
            </p:extLst>
          </p:nvPr>
        </p:nvGraphicFramePr>
        <p:xfrm>
          <a:off x="587375" y="3017520"/>
          <a:ext cx="11028364" cy="731520"/>
        </p:xfrm>
        <a:graphic>
          <a:graphicData uri="http://schemas.openxmlformats.org/drawingml/2006/table">
            <a:tbl>
              <a:tblPr firstRow="1" bandRow="1">
                <a:tableStyleId>{08FB837D-C827-4EFA-A057-4D05807E0F7C}</a:tableStyleId>
              </a:tblPr>
              <a:tblGrid>
                <a:gridCol w="1160743">
                  <a:extLst>
                    <a:ext uri="{9D8B030D-6E8A-4147-A177-3AD203B41FA5}">
                      <a16:colId xmlns:a16="http://schemas.microsoft.com/office/drawing/2014/main" val="3769856810"/>
                    </a:ext>
                  </a:extLst>
                </a:gridCol>
                <a:gridCol w="3168011">
                  <a:extLst>
                    <a:ext uri="{9D8B030D-6E8A-4147-A177-3AD203B41FA5}">
                      <a16:colId xmlns:a16="http://schemas.microsoft.com/office/drawing/2014/main" val="3825928405"/>
                    </a:ext>
                  </a:extLst>
                </a:gridCol>
                <a:gridCol w="1120877">
                  <a:extLst>
                    <a:ext uri="{9D8B030D-6E8A-4147-A177-3AD203B41FA5}">
                      <a16:colId xmlns:a16="http://schemas.microsoft.com/office/drawing/2014/main" val="1759200300"/>
                    </a:ext>
                  </a:extLst>
                </a:gridCol>
                <a:gridCol w="5578733">
                  <a:extLst>
                    <a:ext uri="{9D8B030D-6E8A-4147-A177-3AD203B41FA5}">
                      <a16:colId xmlns:a16="http://schemas.microsoft.com/office/drawing/2014/main" val="3485654227"/>
                    </a:ext>
                  </a:extLst>
                </a:gridCol>
              </a:tblGrid>
              <a:tr h="0">
                <a:tc>
                  <a:txBody>
                    <a:bodyPr/>
                    <a:lstStyle/>
                    <a:p>
                      <a:r>
                        <a:rPr lang="en-US" sz="1200"/>
                        <a:t>Dependency</a:t>
                      </a:r>
                    </a:p>
                  </a:txBody>
                  <a:tcPr/>
                </a:tc>
                <a:tc>
                  <a:txBody>
                    <a:bodyPr/>
                    <a:lstStyle/>
                    <a:p>
                      <a:r>
                        <a:rPr lang="en-US" sz="1200"/>
                        <a:t>Required Action </a:t>
                      </a:r>
                    </a:p>
                  </a:txBody>
                  <a:tcPr/>
                </a:tc>
                <a:tc>
                  <a:txBody>
                    <a:bodyPr/>
                    <a:lstStyle/>
                    <a:p>
                      <a:r>
                        <a:rPr lang="en-US" sz="1200"/>
                        <a:t>Target Date</a:t>
                      </a:r>
                    </a:p>
                  </a:txBody>
                  <a:tcPr/>
                </a:tc>
                <a:tc>
                  <a:txBody>
                    <a:bodyPr/>
                    <a:lstStyle/>
                    <a:p>
                      <a:r>
                        <a:rPr lang="en-US" sz="1200"/>
                        <a:t>Impact</a:t>
                      </a:r>
                    </a:p>
                  </a:txBody>
                  <a:tcPr/>
                </a:tc>
                <a:extLst>
                  <a:ext uri="{0D108BD9-81ED-4DB2-BD59-A6C34878D82A}">
                    <a16:rowId xmlns:a16="http://schemas.microsoft.com/office/drawing/2014/main" val="1880625592"/>
                  </a:ext>
                </a:extLst>
              </a:tr>
              <a:tr h="0">
                <a:tc>
                  <a:txBody>
                    <a:bodyPr/>
                    <a:lstStyle/>
                    <a:p>
                      <a:r>
                        <a:rPr lang="en-US" sz="1200"/>
                        <a:t>Land 5 Key Datasets</a:t>
                      </a:r>
                    </a:p>
                  </a:txBody>
                  <a:tcPr/>
                </a:tc>
                <a:tc>
                  <a:txBody>
                    <a:bodyPr/>
                    <a:lstStyle/>
                    <a:p>
                      <a:r>
                        <a:rPr lang="en-US" sz="1200"/>
                        <a:t>Ingest and validate the five critical security and observability datasets directly into Databricks.</a:t>
                      </a:r>
                    </a:p>
                  </a:txBody>
                  <a:tcPr/>
                </a:tc>
                <a:tc>
                  <a:txBody>
                    <a:bodyPr/>
                    <a:lstStyle/>
                    <a:p>
                      <a:r>
                        <a:rPr lang="en-US" sz="1200"/>
                        <a:t>December 1, 2026</a:t>
                      </a:r>
                    </a:p>
                  </a:txBody>
                  <a:tcPr/>
                </a:tc>
                <a:tc>
                  <a:txBody>
                    <a:bodyPr/>
                    <a:lstStyle/>
                    <a:p>
                      <a:r>
                        <a:rPr lang="en-US" sz="1200"/>
                        <a:t>If this date is missed, the team may not have live telemetry data for validation, which will impact the start of Workstream B development.</a:t>
                      </a:r>
                    </a:p>
                  </a:txBody>
                  <a:tcPr/>
                </a:tc>
                <a:extLst>
                  <a:ext uri="{0D108BD9-81ED-4DB2-BD59-A6C34878D82A}">
                    <a16:rowId xmlns:a16="http://schemas.microsoft.com/office/drawing/2014/main" val="3317684462"/>
                  </a:ext>
                </a:extLst>
              </a:tr>
            </a:tbl>
          </a:graphicData>
        </a:graphic>
      </p:graphicFrame>
    </p:spTree>
    <p:extLst>
      <p:ext uri="{BB962C8B-B14F-4D97-AF65-F5344CB8AC3E}">
        <p14:creationId xmlns:p14="http://schemas.microsoft.com/office/powerpoint/2010/main" val="3856245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D001F6-6C6D-2144-163F-B3097CC8937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9F76553-216E-DBB7-F822-542DE70446F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69F76553-216E-DBB7-F822-542DE70446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B3CC48F1-11FD-B16A-4752-5479925572DE}"/>
              </a:ext>
            </a:extLst>
          </p:cNvPr>
          <p:cNvSpPr>
            <a:spLocks noGrp="1"/>
          </p:cNvSpPr>
          <p:nvPr>
            <p:ph type="title"/>
          </p:nvPr>
        </p:nvSpPr>
        <p:spPr>
          <a:xfrm>
            <a:off x="557931" y="584200"/>
            <a:ext cx="6449044" cy="713232"/>
          </a:xfrm>
        </p:spPr>
        <p:txBody>
          <a:bodyPr vert="horz" rIns="0"/>
          <a:lstStyle/>
          <a:p>
            <a:r>
              <a:rPr lang="en-US"/>
              <a:t>2. Commercials, SOW, &amp; Funding</a:t>
            </a:r>
          </a:p>
        </p:txBody>
      </p:sp>
    </p:spTree>
    <p:extLst>
      <p:ext uri="{BB962C8B-B14F-4D97-AF65-F5344CB8AC3E}">
        <p14:creationId xmlns:p14="http://schemas.microsoft.com/office/powerpoint/2010/main" val="3332604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E8C070-7318-103E-2220-B36E361DEB57}"/>
              </a:ext>
            </a:extLst>
          </p:cNvPr>
          <p:cNvGraphicFramePr>
            <a:graphicFrameLocks/>
          </p:cNvGraphicFramePr>
          <p:nvPr>
            <p:custDataLst>
              <p:tags r:id="rId1"/>
            </p:custDataLst>
            <p:extLst>
              <p:ext uri="{D42A27DB-BD31-4B8C-83A1-F6EECF244321}">
                <p14:modId xmlns:p14="http://schemas.microsoft.com/office/powerpoint/2010/main" val="32909033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08" imgH="608" progId="TCLayout.ActiveDocument.1">
                  <p:embed/>
                </p:oleObj>
              </mc:Choice>
              <mc:Fallback>
                <p:oleObj name="thinkcell Slide" r:id="rId5" imgW="608" imgH="608" progId="TCLayout.ActiveDocument.1">
                  <p:embed/>
                  <p:pic>
                    <p:nvPicPr>
                      <p:cNvPr id="5" name="thinkcell data - do not delete" hidden="1">
                        <a:extLst>
                          <a:ext uri="{FF2B5EF4-FFF2-40B4-BE49-F238E27FC236}">
                            <a16:creationId xmlns:a16="http://schemas.microsoft.com/office/drawing/2014/main" id="{44E8C070-7318-103E-2220-B36E361DEB5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364B58F8-E584-ACAA-A2FF-52C80820AD24}"/>
              </a:ext>
            </a:extLst>
          </p:cNvPr>
          <p:cNvSpPr>
            <a:spLocks noGrp="1"/>
          </p:cNvSpPr>
          <p:nvPr>
            <p:ph idx="1"/>
          </p:nvPr>
        </p:nvSpPr>
        <p:spPr>
          <a:xfrm>
            <a:off x="587375" y="1494292"/>
            <a:ext cx="11028363" cy="4576307"/>
          </a:xfrm>
        </p:spPr>
        <p:txBody>
          <a:bodyPr/>
          <a:lstStyle/>
          <a:p>
            <a:pPr>
              <a:spcBef>
                <a:spcPts val="0"/>
              </a:spcBef>
            </a:pPr>
            <a:r>
              <a:rPr lang="en-US" sz="1200"/>
              <a:t>Overview:</a:t>
            </a:r>
            <a:endParaRPr lang="en-US" sz="1200" b="0"/>
          </a:p>
          <a:p>
            <a:pPr marL="171450" indent="-171450">
              <a:spcBef>
                <a:spcPts val="0"/>
              </a:spcBef>
              <a:buFont typeface="Arial" panose="020B0604020202020204" pitchFamily="34" charset="0"/>
              <a:buChar char="•"/>
            </a:pPr>
            <a:r>
              <a:rPr lang="en-US" sz="1200"/>
              <a:t>Document Progression: </a:t>
            </a:r>
            <a:r>
              <a:rPr lang="en-US" sz="1200" b="0"/>
              <a:t> Statement of Work (SOW) successfully progressed to Version 6, incorporating updates and feedback from teams in last several days</a:t>
            </a:r>
          </a:p>
          <a:p>
            <a:pPr marL="171450" indent="-171450">
              <a:spcBef>
                <a:spcPts val="0"/>
              </a:spcBef>
              <a:buFont typeface="Arial" panose="020B0604020202020204" pitchFamily="34" charset="0"/>
              <a:buChar char="•"/>
            </a:pPr>
            <a:r>
              <a:rPr lang="en-US" sz="1200"/>
              <a:t>Role Mappings &amp; Estimates: </a:t>
            </a:r>
            <a:r>
              <a:rPr lang="en-US" sz="1200" b="0"/>
              <a:t>Master estimation spreadsheet serves as the single source of truth for role definitions, capacity models, and resource efforts</a:t>
            </a:r>
          </a:p>
          <a:p>
            <a:pPr>
              <a:spcBef>
                <a:spcPts val="0"/>
              </a:spcBef>
            </a:pPr>
            <a:endParaRPr lang="en-US" sz="1200"/>
          </a:p>
          <a:p>
            <a:pPr>
              <a:spcBef>
                <a:spcPts val="0"/>
              </a:spcBef>
            </a:pPr>
            <a:endParaRPr lang="en-US" sz="1200"/>
          </a:p>
          <a:p>
            <a:pPr>
              <a:spcBef>
                <a:spcPts val="0"/>
              </a:spcBef>
            </a:pPr>
            <a:endParaRPr lang="en-US" sz="1200"/>
          </a:p>
          <a:p>
            <a:pPr>
              <a:spcBef>
                <a:spcPts val="0"/>
              </a:spcBef>
            </a:pPr>
            <a:endParaRPr lang="en-US" sz="1200"/>
          </a:p>
          <a:p>
            <a:pPr>
              <a:spcBef>
                <a:spcPts val="0"/>
              </a:spcBef>
            </a:pPr>
            <a:r>
              <a:rPr lang="en-US" sz="1200"/>
              <a:t>Resource Allocation &amp; Workstream Coverage: </a:t>
            </a:r>
            <a:r>
              <a:rPr lang="en-US" sz="1200" b="0"/>
              <a:t>Completing a review to confirm operational coverage across all core workstreams</a:t>
            </a:r>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b="0"/>
          </a:p>
          <a:p>
            <a:pPr>
              <a:spcBef>
                <a:spcPts val="0"/>
              </a:spcBef>
            </a:pPr>
            <a:endParaRPr lang="en-US" sz="1200"/>
          </a:p>
          <a:p>
            <a:pPr>
              <a:spcBef>
                <a:spcPts val="0"/>
              </a:spcBef>
            </a:pPr>
            <a:endParaRPr lang="en-US" sz="1200"/>
          </a:p>
          <a:p>
            <a:pPr>
              <a:spcBef>
                <a:spcPts val="0"/>
              </a:spcBef>
            </a:pPr>
            <a:endParaRPr lang="en-US" sz="1200"/>
          </a:p>
          <a:p>
            <a:pPr>
              <a:spcBef>
                <a:spcPts val="0"/>
              </a:spcBef>
            </a:pPr>
            <a:r>
              <a:rPr lang="en-US" sz="1200"/>
              <a:t>Recommended Action:</a:t>
            </a:r>
          </a:p>
          <a:p>
            <a:pPr marL="171450" indent="-171450">
              <a:spcBef>
                <a:spcPts val="0"/>
              </a:spcBef>
              <a:buFont typeface="Arial" panose="020B0604020202020204" pitchFamily="34" charset="0"/>
              <a:buChar char="•"/>
            </a:pPr>
            <a:r>
              <a:rPr lang="en-US" sz="1200" b="0"/>
              <a:t>Leaders to finalize SOW and agree on decision to start at risk as soon as possible to avoid potential delays which may increase VDI/Onboarding/staffing bottlenecks,  and potentially impact deadlines ahead of Dec 1 Welcome Season Change Freeze</a:t>
            </a:r>
          </a:p>
        </p:txBody>
      </p:sp>
      <p:sp>
        <p:nvSpPr>
          <p:cNvPr id="3" name="Title 2">
            <a:extLst>
              <a:ext uri="{FF2B5EF4-FFF2-40B4-BE49-F238E27FC236}">
                <a16:creationId xmlns:a16="http://schemas.microsoft.com/office/drawing/2014/main" id="{E2142418-7E31-BCA3-87E4-0BB373999A64}"/>
              </a:ext>
            </a:extLst>
          </p:cNvPr>
          <p:cNvSpPr>
            <a:spLocks noGrp="1"/>
          </p:cNvSpPr>
          <p:nvPr>
            <p:ph type="title"/>
          </p:nvPr>
        </p:nvSpPr>
        <p:spPr/>
        <p:txBody>
          <a:bodyPr vert="horz" rIns="0"/>
          <a:lstStyle/>
          <a:p>
            <a:r>
              <a:rPr lang="en-US"/>
              <a:t>SOW &amp; Role Mapping Review</a:t>
            </a:r>
            <a:br>
              <a:rPr lang="en-US"/>
            </a:br>
            <a:r>
              <a:rPr lang="en-US" sz="1600" b="0"/>
              <a:t>Commercial Alignment, Resource Optimization, and Plan Reconciliation</a:t>
            </a:r>
            <a:endParaRPr lang="en-US" sz="1600"/>
          </a:p>
        </p:txBody>
      </p:sp>
      <p:graphicFrame>
        <p:nvGraphicFramePr>
          <p:cNvPr id="6" name="Table 5">
            <a:extLst>
              <a:ext uri="{FF2B5EF4-FFF2-40B4-BE49-F238E27FC236}">
                <a16:creationId xmlns:a16="http://schemas.microsoft.com/office/drawing/2014/main" id="{96F60C72-A6F8-78C7-CB44-57934DFB5DAE}"/>
              </a:ext>
            </a:extLst>
          </p:cNvPr>
          <p:cNvGraphicFramePr>
            <a:graphicFrameLocks noGrp="1"/>
          </p:cNvGraphicFramePr>
          <p:nvPr>
            <p:extLst>
              <p:ext uri="{D42A27DB-BD31-4B8C-83A1-F6EECF244321}">
                <p14:modId xmlns:p14="http://schemas.microsoft.com/office/powerpoint/2010/main" val="691911172"/>
              </p:ext>
            </p:extLst>
          </p:nvPr>
        </p:nvGraphicFramePr>
        <p:xfrm>
          <a:off x="587375" y="3261604"/>
          <a:ext cx="11028363" cy="1097280"/>
        </p:xfrm>
        <a:graphic>
          <a:graphicData uri="http://schemas.openxmlformats.org/drawingml/2006/table">
            <a:tbl>
              <a:tblPr firstRow="1" bandRow="1">
                <a:tableStyleId>{08FB837D-C827-4EFA-A057-4D05807E0F7C}</a:tableStyleId>
              </a:tblPr>
              <a:tblGrid>
                <a:gridCol w="3676121">
                  <a:extLst>
                    <a:ext uri="{9D8B030D-6E8A-4147-A177-3AD203B41FA5}">
                      <a16:colId xmlns:a16="http://schemas.microsoft.com/office/drawing/2014/main" val="3769856810"/>
                    </a:ext>
                  </a:extLst>
                </a:gridCol>
                <a:gridCol w="3676121">
                  <a:extLst>
                    <a:ext uri="{9D8B030D-6E8A-4147-A177-3AD203B41FA5}">
                      <a16:colId xmlns:a16="http://schemas.microsoft.com/office/drawing/2014/main" val="3825928405"/>
                    </a:ext>
                  </a:extLst>
                </a:gridCol>
                <a:gridCol w="3676121">
                  <a:extLst>
                    <a:ext uri="{9D8B030D-6E8A-4147-A177-3AD203B41FA5}">
                      <a16:colId xmlns:a16="http://schemas.microsoft.com/office/drawing/2014/main" val="1759200300"/>
                    </a:ext>
                  </a:extLst>
                </a:gridCol>
              </a:tblGrid>
              <a:tr h="0">
                <a:tc>
                  <a:txBody>
                    <a:bodyPr/>
                    <a:lstStyle/>
                    <a:p>
                      <a:r>
                        <a:rPr lang="en-US" sz="1200"/>
                        <a:t>Workstream /  Focus Area</a:t>
                      </a:r>
                    </a:p>
                  </a:txBody>
                  <a:tcPr/>
                </a:tc>
                <a:tc>
                  <a:txBody>
                    <a:bodyPr/>
                    <a:lstStyle/>
                    <a:p>
                      <a:r>
                        <a:rPr lang="en-US" sz="1200"/>
                        <a:t>Key Roles Mapped (SOW)</a:t>
                      </a:r>
                    </a:p>
                  </a:txBody>
                  <a:tcPr/>
                </a:tc>
                <a:tc>
                  <a:txBody>
                    <a:bodyPr/>
                    <a:lstStyle/>
                    <a:p>
                      <a:r>
                        <a:rPr lang="en-US" sz="1200"/>
                        <a:t>Status</a:t>
                      </a:r>
                    </a:p>
                  </a:txBody>
                  <a:tcPr/>
                </a:tc>
                <a:extLst>
                  <a:ext uri="{0D108BD9-81ED-4DB2-BD59-A6C34878D82A}">
                    <a16:rowId xmlns:a16="http://schemas.microsoft.com/office/drawing/2014/main" val="1880625592"/>
                  </a:ext>
                </a:extLst>
              </a:tr>
              <a:tr h="0">
                <a:tc>
                  <a:txBody>
                    <a:bodyPr/>
                    <a:lstStyle/>
                    <a:p>
                      <a:r>
                        <a:rPr lang="en-US" sz="1200"/>
                        <a:t>Workstream A: Foundation</a:t>
                      </a:r>
                    </a:p>
                  </a:txBody>
                  <a:tcPr/>
                </a:tc>
                <a:tc>
                  <a:txBody>
                    <a:bodyPr/>
                    <a:lstStyle/>
                    <a:p>
                      <a:r>
                        <a:rPr lang="en-US" sz="1200"/>
                        <a:t>Solution Architects, Security Specialists </a:t>
                      </a:r>
                    </a:p>
                  </a:txBody>
                  <a:tcPr/>
                </a:tc>
                <a:tc>
                  <a:txBody>
                    <a:bodyPr/>
                    <a:lstStyle/>
                    <a:p>
                      <a:r>
                        <a:rPr lang="en-US" sz="1200"/>
                        <a:t>Fully allocated; aligned to core deliverables </a:t>
                      </a:r>
                    </a:p>
                  </a:txBody>
                  <a:tcPr/>
                </a:tc>
                <a:extLst>
                  <a:ext uri="{0D108BD9-81ED-4DB2-BD59-A6C34878D82A}">
                    <a16:rowId xmlns:a16="http://schemas.microsoft.com/office/drawing/2014/main" val="3317684462"/>
                  </a:ext>
                </a:extLst>
              </a:tr>
              <a:tr h="0">
                <a:tc>
                  <a:txBody>
                    <a:bodyPr/>
                    <a:lstStyle/>
                    <a:p>
                      <a:r>
                        <a:rPr lang="en-US" sz="1200"/>
                        <a:t>Workstream B: Ingestion</a:t>
                      </a:r>
                    </a:p>
                  </a:txBody>
                  <a:tcPr/>
                </a:tc>
                <a:tc>
                  <a:txBody>
                    <a:bodyPr/>
                    <a:lstStyle/>
                    <a:p>
                      <a:r>
                        <a:rPr lang="en-US" sz="1200"/>
                        <a:t>Data Engineers, </a:t>
                      </a:r>
                      <a:r>
                        <a:rPr lang="en-US" sz="1200" err="1"/>
                        <a:t>PySpark</a:t>
                      </a:r>
                      <a:r>
                        <a:rPr lang="en-US" sz="1200"/>
                        <a:t> Developers </a:t>
                      </a:r>
                    </a:p>
                  </a:txBody>
                  <a:tcPr/>
                </a:tc>
                <a:tc>
                  <a:txBody>
                    <a:bodyPr/>
                    <a:lstStyle/>
                    <a:p>
                      <a:r>
                        <a:rPr lang="en-US" sz="1200"/>
                        <a:t>Audit in progress to align KPMG &amp; </a:t>
                      </a:r>
                      <a:r>
                        <a:rPr lang="en-US" sz="1200" err="1"/>
                        <a:t>Scicom</a:t>
                      </a:r>
                      <a:r>
                        <a:rPr lang="en-US" sz="1200"/>
                        <a:t> roles </a:t>
                      </a:r>
                    </a:p>
                  </a:txBody>
                  <a:tcPr/>
                </a:tc>
                <a:extLst>
                  <a:ext uri="{0D108BD9-81ED-4DB2-BD59-A6C34878D82A}">
                    <a16:rowId xmlns:a16="http://schemas.microsoft.com/office/drawing/2014/main" val="1929544699"/>
                  </a:ext>
                </a:extLst>
              </a:tr>
              <a:tr h="0">
                <a:tc>
                  <a:txBody>
                    <a:bodyPr/>
                    <a:lstStyle/>
                    <a:p>
                      <a:r>
                        <a:rPr lang="en-US" sz="1200"/>
                        <a:t>Workstream C: Enablement</a:t>
                      </a:r>
                    </a:p>
                  </a:txBody>
                  <a:tcPr/>
                </a:tc>
                <a:tc>
                  <a:txBody>
                    <a:bodyPr/>
                    <a:lstStyle/>
                    <a:p>
                      <a:r>
                        <a:rPr lang="en-US" sz="1200"/>
                        <a:t>Agile PMO, Change Management Leads </a:t>
                      </a:r>
                    </a:p>
                  </a:txBody>
                  <a:tcPr/>
                </a:tc>
                <a:tc>
                  <a:txBody>
                    <a:bodyPr/>
                    <a:lstStyle/>
                    <a:p>
                      <a:r>
                        <a:rPr lang="en-US" sz="1200"/>
                        <a:t>Fully allocated; driving bottom-up planning </a:t>
                      </a:r>
                    </a:p>
                  </a:txBody>
                  <a:tcPr/>
                </a:tc>
                <a:extLst>
                  <a:ext uri="{0D108BD9-81ED-4DB2-BD59-A6C34878D82A}">
                    <a16:rowId xmlns:a16="http://schemas.microsoft.com/office/drawing/2014/main" val="523836223"/>
                  </a:ext>
                </a:extLst>
              </a:tr>
            </a:tbl>
          </a:graphicData>
        </a:graphic>
      </p:graphicFrame>
    </p:spTree>
    <p:extLst>
      <p:ext uri="{BB962C8B-B14F-4D97-AF65-F5344CB8AC3E}">
        <p14:creationId xmlns:p14="http://schemas.microsoft.com/office/powerpoint/2010/main" val="1334462469"/>
      </p:ext>
    </p:extLst>
  </p:cSld>
  <p:clrMapOvr>
    <a:masterClrMapping/>
  </p:clrMapOvr>
  <p:extLst>
    <p:ext uri="{6950BFC3-D8DA-4A85-94F7-54DA5524770B}">
      <p188:commentRel xmlns:p188="http://schemas.microsoft.com/office/powerpoint/2018/8/main" r:id="rId4"/>
    </p:ext>
  </p:extLs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9B72A53-4D8E-06DE-4D65-6B63E784CE9E}"/>
              </a:ext>
            </a:extLst>
          </p:cNvPr>
          <p:cNvGraphicFramePr>
            <a:graphicFrameLocks/>
          </p:cNvGraphicFramePr>
          <p:nvPr>
            <p:custDataLst>
              <p:tags r:id="rId1"/>
            </p:custDataLst>
            <p:extLst>
              <p:ext uri="{D42A27DB-BD31-4B8C-83A1-F6EECF244321}">
                <p14:modId xmlns:p14="http://schemas.microsoft.com/office/powerpoint/2010/main" val="3374647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89B72A53-4D8E-06DE-4D65-6B63E784CE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Content Placeholder 1">
            <a:extLst>
              <a:ext uri="{FF2B5EF4-FFF2-40B4-BE49-F238E27FC236}">
                <a16:creationId xmlns:a16="http://schemas.microsoft.com/office/drawing/2014/main" id="{B739E9E5-5079-04C4-ECD5-AE31AFF7C1B6}"/>
              </a:ext>
            </a:extLst>
          </p:cNvPr>
          <p:cNvSpPr>
            <a:spLocks noGrp="1"/>
          </p:cNvSpPr>
          <p:nvPr>
            <p:ph idx="1"/>
          </p:nvPr>
        </p:nvSpPr>
        <p:spPr/>
        <p:txBody>
          <a:bodyPr/>
          <a:lstStyle/>
          <a:p>
            <a:pPr>
              <a:spcBef>
                <a:spcPts val="0"/>
              </a:spcBef>
            </a:pPr>
            <a:r>
              <a:rPr lang="en-US" sz="1200"/>
              <a:t>Technical Baseline: Capacity &amp; Consumption Estimates</a:t>
            </a:r>
          </a:p>
          <a:p>
            <a:pPr marL="171450" lvl="0" indent="-171450">
              <a:spcBef>
                <a:spcPts val="0"/>
              </a:spcBef>
              <a:buFont typeface="Arial" panose="020B0604020202020204" pitchFamily="34" charset="0"/>
              <a:buChar char="•"/>
            </a:pPr>
            <a:r>
              <a:rPr lang="en-US" sz="1200"/>
              <a:t>Data Volume Baseline: </a:t>
            </a:r>
            <a:r>
              <a:rPr lang="en-US" sz="1200" b="0"/>
              <a:t>The baseline capacity model is finalized at 300 Terabytes (TB) of observability and security telemetry</a:t>
            </a:r>
          </a:p>
          <a:p>
            <a:pPr marL="171450" lvl="0" indent="-171450">
              <a:spcBef>
                <a:spcPts val="0"/>
              </a:spcBef>
              <a:buFont typeface="Arial" panose="020B0604020202020204" pitchFamily="34" charset="0"/>
              <a:buChar char="•"/>
            </a:pPr>
            <a:r>
              <a:rPr lang="en-US" sz="1200"/>
              <a:t>Incremental Buffer: </a:t>
            </a:r>
            <a:r>
              <a:rPr lang="en-US" sz="1200" b="0"/>
              <a:t>An additional 10 TB has been modeled to accommodate expanding data pipeline requirements, bringing the active estimate to 310 TB</a:t>
            </a:r>
          </a:p>
          <a:p>
            <a:pPr marL="171450" lvl="0" indent="-171450">
              <a:spcBef>
                <a:spcPts val="0"/>
              </a:spcBef>
              <a:buFont typeface="Arial" panose="020B0604020202020204" pitchFamily="34" charset="0"/>
              <a:buChar char="•"/>
            </a:pPr>
            <a:r>
              <a:rPr lang="en-US" sz="1200"/>
              <a:t>Calculations Single Source: </a:t>
            </a:r>
            <a:r>
              <a:rPr lang="en-US" sz="1200" b="0"/>
              <a:t>All background consumption formulas, role mappings, and capacity assumptions are documented in the master spreadsheet transmitted on September 21</a:t>
            </a:r>
          </a:p>
          <a:p>
            <a:pPr>
              <a:spcBef>
                <a:spcPts val="0"/>
              </a:spcBef>
            </a:pPr>
            <a:br>
              <a:rPr lang="en-US" sz="1200"/>
            </a:br>
            <a:r>
              <a:rPr lang="en-US" sz="1200"/>
              <a:t>Commercial Strategy: Optimizing Funding Pools: </a:t>
            </a:r>
            <a:r>
              <a:rPr lang="en-US" sz="1200" b="0"/>
              <a:t>We are executing a dual-track strategy to leverage Microsoft funding and maximize CVS’s Enterprise Agreement flexibility</a:t>
            </a:r>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endParaRPr lang="en-US" sz="1200" i="1"/>
          </a:p>
          <a:p>
            <a:pPr>
              <a:spcBef>
                <a:spcPts val="0"/>
              </a:spcBef>
            </a:pPr>
            <a:br>
              <a:rPr lang="en-US" sz="1200"/>
            </a:br>
            <a:endParaRPr lang="en-US" sz="1200"/>
          </a:p>
          <a:p>
            <a:pPr>
              <a:spcBef>
                <a:spcPts val="0"/>
              </a:spcBef>
            </a:pPr>
            <a:r>
              <a:rPr lang="en-US" sz="1200"/>
              <a:t> Recommended Action:</a:t>
            </a:r>
          </a:p>
          <a:p>
            <a:pPr marL="171450" indent="-171450">
              <a:spcBef>
                <a:spcPts val="0"/>
              </a:spcBef>
              <a:buFont typeface="Arial" panose="020B0604020202020204" pitchFamily="34" charset="0"/>
              <a:buChar char="•"/>
            </a:pPr>
            <a:r>
              <a:rPr lang="en-US" sz="1200"/>
              <a:t>Proposed Path Forward: </a:t>
            </a:r>
            <a:r>
              <a:rPr lang="en-US" sz="1200" b="0"/>
              <a:t>Align ECIF calculation model with our 310 TB baseline to secure maximum external funding before the Dec 1 Change Freeze limits operational window</a:t>
            </a:r>
          </a:p>
          <a:p>
            <a:pPr>
              <a:spcBef>
                <a:spcPts val="0"/>
              </a:spcBef>
            </a:pPr>
            <a:endParaRPr lang="en-US" sz="1200"/>
          </a:p>
          <a:p>
            <a:pPr>
              <a:spcBef>
                <a:spcPts val="0"/>
              </a:spcBef>
            </a:pPr>
            <a:r>
              <a:rPr lang="en-US" sz="1200"/>
              <a:t>Potential Challenges:</a:t>
            </a:r>
          </a:p>
          <a:p>
            <a:pPr marL="171450" lvl="0" indent="-171450">
              <a:spcBef>
                <a:spcPts val="0"/>
              </a:spcBef>
              <a:buFont typeface="Arial" panose="020B0604020202020204" pitchFamily="34" charset="0"/>
              <a:buChar char="•"/>
            </a:pPr>
            <a:r>
              <a:rPr lang="en-US" sz="1200"/>
              <a:t>ESA Allocation: </a:t>
            </a:r>
            <a:r>
              <a:rPr lang="en-US" sz="1200" b="0"/>
              <a:t>Ensure the $10M ESA allotment is confirmed for the work, was noted that most of the broader $100M pool is already spoken for across CVS</a:t>
            </a:r>
          </a:p>
          <a:p>
            <a:pPr marL="171450" lvl="0" indent="-171450">
              <a:spcBef>
                <a:spcPts val="0"/>
              </a:spcBef>
              <a:buFont typeface="Arial" panose="020B0604020202020204" pitchFamily="34" charset="0"/>
              <a:buChar char="•"/>
            </a:pPr>
            <a:r>
              <a:rPr lang="en-US" sz="1200"/>
              <a:t>Incremental Ingestion Overruns: </a:t>
            </a:r>
            <a:r>
              <a:rPr lang="en-US" sz="1200" b="0"/>
              <a:t>Telemetry sources often experience volume spikes. Architecture teams should design ingestion throttles to prevent unexpected billing overruns</a:t>
            </a:r>
          </a:p>
          <a:p>
            <a:pPr>
              <a:spcBef>
                <a:spcPts val="0"/>
              </a:spcBef>
            </a:pPr>
            <a:br>
              <a:rPr lang="en-US" sz="1200"/>
            </a:br>
            <a:endParaRPr lang="en-US" sz="1200"/>
          </a:p>
          <a:p>
            <a:pPr>
              <a:spcBef>
                <a:spcPts val="0"/>
              </a:spcBef>
            </a:pPr>
            <a:endParaRPr lang="en-US" sz="1200"/>
          </a:p>
        </p:txBody>
      </p:sp>
      <p:sp>
        <p:nvSpPr>
          <p:cNvPr id="3" name="Title 2">
            <a:extLst>
              <a:ext uri="{FF2B5EF4-FFF2-40B4-BE49-F238E27FC236}">
                <a16:creationId xmlns:a16="http://schemas.microsoft.com/office/drawing/2014/main" id="{1C90C8B6-0596-F70F-EAE6-82B128280479}"/>
              </a:ext>
            </a:extLst>
          </p:cNvPr>
          <p:cNvSpPr>
            <a:spLocks noGrp="1"/>
          </p:cNvSpPr>
          <p:nvPr>
            <p:ph type="title"/>
          </p:nvPr>
        </p:nvSpPr>
        <p:spPr/>
        <p:txBody>
          <a:bodyPr vert="horz" rIns="0"/>
          <a:lstStyle/>
          <a:p>
            <a:r>
              <a:rPr lang="en-US"/>
              <a:t>ECIF &amp; ESA Funding Maximization</a:t>
            </a:r>
            <a:br>
              <a:rPr lang="en-US"/>
            </a:br>
            <a:r>
              <a:rPr lang="en-US" sz="1600" b="0"/>
              <a:t>Aligning Technical Capacity Models with Strategic Funding Vehicles</a:t>
            </a:r>
            <a:endParaRPr lang="en-US"/>
          </a:p>
        </p:txBody>
      </p:sp>
      <p:graphicFrame>
        <p:nvGraphicFramePr>
          <p:cNvPr id="8" name="Table 7">
            <a:extLst>
              <a:ext uri="{FF2B5EF4-FFF2-40B4-BE49-F238E27FC236}">
                <a16:creationId xmlns:a16="http://schemas.microsoft.com/office/drawing/2014/main" id="{C28AD3C2-7DE3-F3F6-95A3-875B304179A9}"/>
              </a:ext>
            </a:extLst>
          </p:cNvPr>
          <p:cNvGraphicFramePr>
            <a:graphicFrameLocks noGrp="1"/>
          </p:cNvGraphicFramePr>
          <p:nvPr>
            <p:extLst>
              <p:ext uri="{D42A27DB-BD31-4B8C-83A1-F6EECF244321}">
                <p14:modId xmlns:p14="http://schemas.microsoft.com/office/powerpoint/2010/main" val="4054140827"/>
              </p:ext>
            </p:extLst>
          </p:nvPr>
        </p:nvGraphicFramePr>
        <p:xfrm>
          <a:off x="587375" y="2834640"/>
          <a:ext cx="10965638" cy="1188720"/>
        </p:xfrm>
        <a:graphic>
          <a:graphicData uri="http://schemas.openxmlformats.org/drawingml/2006/table">
            <a:tbl>
              <a:tblPr firstRow="1" bandRow="1">
                <a:tableStyleId>{08FB837D-C827-4EFA-A057-4D05807E0F7C}</a:tableStyleId>
              </a:tblPr>
              <a:tblGrid>
                <a:gridCol w="1315627">
                  <a:extLst>
                    <a:ext uri="{9D8B030D-6E8A-4147-A177-3AD203B41FA5}">
                      <a16:colId xmlns:a16="http://schemas.microsoft.com/office/drawing/2014/main" val="3769856810"/>
                    </a:ext>
                  </a:extLst>
                </a:gridCol>
                <a:gridCol w="1727355">
                  <a:extLst>
                    <a:ext uri="{9D8B030D-6E8A-4147-A177-3AD203B41FA5}">
                      <a16:colId xmlns:a16="http://schemas.microsoft.com/office/drawing/2014/main" val="1759200300"/>
                    </a:ext>
                  </a:extLst>
                </a:gridCol>
                <a:gridCol w="7922656">
                  <a:extLst>
                    <a:ext uri="{9D8B030D-6E8A-4147-A177-3AD203B41FA5}">
                      <a16:colId xmlns:a16="http://schemas.microsoft.com/office/drawing/2014/main" val="3485654227"/>
                    </a:ext>
                  </a:extLst>
                </a:gridCol>
              </a:tblGrid>
              <a:tr h="0">
                <a:tc>
                  <a:txBody>
                    <a:bodyPr/>
                    <a:lstStyle/>
                    <a:p>
                      <a:r>
                        <a:rPr lang="en-US" sz="1200"/>
                        <a:t>Funding Source</a:t>
                      </a:r>
                    </a:p>
                  </a:txBody>
                  <a:tcPr/>
                </a:tc>
                <a:tc>
                  <a:txBody>
                    <a:bodyPr/>
                    <a:lstStyle/>
                    <a:p>
                      <a:r>
                        <a:rPr lang="en-US" sz="1200"/>
                        <a:t>Project Allocation</a:t>
                      </a:r>
                    </a:p>
                  </a:txBody>
                  <a:tcPr/>
                </a:tc>
                <a:tc>
                  <a:txBody>
                    <a:bodyPr/>
                    <a:lstStyle/>
                    <a:p>
                      <a:r>
                        <a:rPr lang="en-US" sz="1200"/>
                        <a:t>Strategic Leverage/ Action</a:t>
                      </a:r>
                    </a:p>
                  </a:txBody>
                  <a:tcPr/>
                </a:tc>
                <a:extLst>
                  <a:ext uri="{0D108BD9-81ED-4DB2-BD59-A6C34878D82A}">
                    <a16:rowId xmlns:a16="http://schemas.microsoft.com/office/drawing/2014/main" val="1880625592"/>
                  </a:ext>
                </a:extLst>
              </a:tr>
              <a:tr h="0">
                <a:tc>
                  <a:txBody>
                    <a:bodyPr/>
                    <a:lstStyle/>
                    <a:p>
                      <a:r>
                        <a:rPr lang="en-US" sz="1200"/>
                        <a:t>Microsoft ECIF</a:t>
                      </a:r>
                    </a:p>
                  </a:txBody>
                  <a:tcPr/>
                </a:tc>
                <a:tc>
                  <a:txBody>
                    <a:bodyPr/>
                    <a:lstStyle/>
                    <a:p>
                      <a:r>
                        <a:rPr lang="en-US" sz="1200"/>
                        <a:t>Baseline Estimate </a:t>
                      </a:r>
                    </a:p>
                  </a:txBody>
                  <a:tcPr/>
                </a:tc>
                <a:tc>
                  <a:txBody>
                    <a:bodyPr/>
                    <a:lstStyle/>
                    <a:p>
                      <a:r>
                        <a:rPr lang="en-US" sz="1200"/>
                        <a:t>Action: Naga Kalidindi to sync with Microsoft to clarify the calculation algorithm and request an upward adjustment to match SOW  scope expansion.</a:t>
                      </a:r>
                    </a:p>
                  </a:txBody>
                  <a:tcPr/>
                </a:tc>
                <a:extLst>
                  <a:ext uri="{0D108BD9-81ED-4DB2-BD59-A6C34878D82A}">
                    <a16:rowId xmlns:a16="http://schemas.microsoft.com/office/drawing/2014/main" val="3317684462"/>
                  </a:ext>
                </a:extLst>
              </a:tr>
              <a:tr h="0">
                <a:tc>
                  <a:txBody>
                    <a:bodyPr/>
                    <a:lstStyle/>
                    <a:p>
                      <a:r>
                        <a:rPr lang="en-US" sz="1200"/>
                        <a:t>CVS Microsoft ESA</a:t>
                      </a:r>
                    </a:p>
                  </a:txBody>
                  <a:tcPr/>
                </a:tc>
                <a:tc>
                  <a:txBody>
                    <a:bodyPr/>
                    <a:lstStyle/>
                    <a:p>
                      <a:r>
                        <a:rPr lang="en-US" sz="1200"/>
                        <a:t>$9.8M is earmarked from the ECIF</a:t>
                      </a:r>
                    </a:p>
                  </a:txBody>
                  <a:tcPr/>
                </a:tc>
                <a:tc>
                  <a:txBody>
                    <a:bodyPr/>
                    <a:lstStyle/>
                    <a:p>
                      <a:r>
                        <a:rPr lang="en-US" sz="1200"/>
                        <a:t>Action: Leverage ESA program flexibility to absorb incremental consumption and cover SOW role requirements if ECIF caps are reached</a:t>
                      </a:r>
                    </a:p>
                  </a:txBody>
                  <a:tcPr/>
                </a:tc>
                <a:extLst>
                  <a:ext uri="{0D108BD9-81ED-4DB2-BD59-A6C34878D82A}">
                    <a16:rowId xmlns:a16="http://schemas.microsoft.com/office/drawing/2014/main" val="1929544699"/>
                  </a:ext>
                </a:extLst>
              </a:tr>
            </a:tbl>
          </a:graphicData>
        </a:graphic>
      </p:graphicFrame>
    </p:spTree>
    <p:extLst>
      <p:ext uri="{BB962C8B-B14F-4D97-AF65-F5344CB8AC3E}">
        <p14:creationId xmlns:p14="http://schemas.microsoft.com/office/powerpoint/2010/main" val="273904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EB3210-2FBB-E186-4681-38126BA7B92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C4E7DFC-E7A2-CFC8-EE63-10F2E08378E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1C4E7DFC-E7A2-CFC8-EE63-10F2E08378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B47E22B2-6355-5283-5223-0B16012C0658}"/>
              </a:ext>
            </a:extLst>
          </p:cNvPr>
          <p:cNvSpPr>
            <a:spLocks noGrp="1"/>
          </p:cNvSpPr>
          <p:nvPr>
            <p:ph type="title"/>
          </p:nvPr>
        </p:nvSpPr>
        <p:spPr>
          <a:xfrm>
            <a:off x="557931" y="584200"/>
            <a:ext cx="6449044" cy="713232"/>
          </a:xfrm>
        </p:spPr>
        <p:txBody>
          <a:bodyPr vert="horz" rIns="0"/>
          <a:lstStyle/>
          <a:p>
            <a:r>
              <a:rPr lang="en-US"/>
              <a:t>3. Decisions &amp; Next Steps</a:t>
            </a:r>
          </a:p>
        </p:txBody>
      </p:sp>
    </p:spTree>
    <p:extLst>
      <p:ext uri="{BB962C8B-B14F-4D97-AF65-F5344CB8AC3E}">
        <p14:creationId xmlns:p14="http://schemas.microsoft.com/office/powerpoint/2010/main" val="3048052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22A4CF-3BF9-69C3-EF00-28B05A1AAEC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39B986D-6CCA-2DA4-9179-3F7639EED01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C39B986D-6CCA-2DA4-9179-3F7639EED0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526DA99-6DA0-B79A-9B40-21D98E74F4A7}"/>
              </a:ext>
            </a:extLst>
          </p:cNvPr>
          <p:cNvSpPr>
            <a:spLocks noGrp="1"/>
          </p:cNvSpPr>
          <p:nvPr>
            <p:ph type="title"/>
          </p:nvPr>
        </p:nvSpPr>
        <p:spPr>
          <a:xfrm>
            <a:off x="557931" y="584200"/>
            <a:ext cx="6449044" cy="713232"/>
          </a:xfrm>
        </p:spPr>
        <p:txBody>
          <a:bodyPr vert="horz" rIns="0"/>
          <a:lstStyle/>
          <a:p>
            <a:r>
              <a:rPr lang="en-US"/>
              <a:t>Appendix</a:t>
            </a:r>
          </a:p>
        </p:txBody>
      </p:sp>
    </p:spTree>
    <p:extLst>
      <p:ext uri="{BB962C8B-B14F-4D97-AF65-F5344CB8AC3E}">
        <p14:creationId xmlns:p14="http://schemas.microsoft.com/office/powerpoint/2010/main" val="3832858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7AC3E9-9449-D877-C5CE-774BE7BF0AD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CB7AC3E9-9449-D877-C5CE-774BE7BF0A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AF5BF87-879E-F4C0-8228-522D92B8CE28}"/>
              </a:ext>
            </a:extLst>
          </p:cNvPr>
          <p:cNvSpPr>
            <a:spLocks noGrp="1"/>
          </p:cNvSpPr>
          <p:nvPr>
            <p:ph type="title"/>
          </p:nvPr>
        </p:nvSpPr>
        <p:spPr/>
        <p:txBody>
          <a:bodyPr vert="horz" rIns="0"/>
          <a:lstStyle/>
          <a:p>
            <a:r>
              <a:rPr lang="en-US"/>
              <a:t>Workstream 0 – Project Management Support (1/2)</a:t>
            </a:r>
            <a:br>
              <a:rPr lang="en-US"/>
            </a:br>
            <a:r>
              <a:rPr lang="en-US" sz="1600" b="0"/>
              <a:t>Project Management – From the SOW and other planning documents</a:t>
            </a:r>
          </a:p>
        </p:txBody>
      </p:sp>
      <p:sp>
        <p:nvSpPr>
          <p:cNvPr id="26" name="Rectangle 25">
            <a:extLst>
              <a:ext uri="{FF2B5EF4-FFF2-40B4-BE49-F238E27FC236}">
                <a16:creationId xmlns:a16="http://schemas.microsoft.com/office/drawing/2014/main" id="{06F21440-31F7-0FE6-F47D-1F84F4B727D1}"/>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2" name="TextBox 1">
            <a:extLst>
              <a:ext uri="{FF2B5EF4-FFF2-40B4-BE49-F238E27FC236}">
                <a16:creationId xmlns:a16="http://schemas.microsoft.com/office/drawing/2014/main" id="{5968AE0C-A635-87E7-CCF5-D52EBFB51DF3}"/>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6" name="Rectangle: Rounded Corners 5">
            <a:extLst>
              <a:ext uri="{FF2B5EF4-FFF2-40B4-BE49-F238E27FC236}">
                <a16:creationId xmlns:a16="http://schemas.microsoft.com/office/drawing/2014/main" id="{BF64ED74-5AFD-634C-29ED-F30458CBF11A}"/>
              </a:ext>
            </a:extLst>
          </p:cNvPr>
          <p:cNvSpPr/>
          <p:nvPr/>
        </p:nvSpPr>
        <p:spPr bwMode="gray">
          <a:xfrm>
            <a:off x="6296421" y="1645920"/>
            <a:ext cx="5360592" cy="100584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45720" bIns="45720" rtlCol="0" anchor="ctr" anchorCtr="0">
            <a:noAutofit/>
          </a:bodyPr>
          <a:lstStyle/>
          <a:p>
            <a:pPr defTabSz="457063" fontAlgn="ctr">
              <a:defRPr/>
            </a:pPr>
            <a:r>
              <a:rPr lang="en-US" sz="1000" b="1">
                <a:solidFill>
                  <a:srgbClr val="00A78E"/>
                </a:solidFill>
              </a:rPr>
              <a:t>Description: </a:t>
            </a:r>
            <a:r>
              <a:rPr lang="en-US" sz="1000">
                <a:solidFill>
                  <a:schemeClr val="tx2"/>
                </a:solidFill>
              </a:rPr>
              <a:t>Project Plan &amp; Project Structure</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Project Charter and Governance Framework (PPT/DOC)</a:t>
            </a:r>
          </a:p>
          <a:p>
            <a:pPr marL="91440" indent="-91440">
              <a:buFont typeface="Arial" panose="020B0604020202020204" pitchFamily="34" charset="0"/>
              <a:buChar char="•"/>
            </a:pPr>
            <a:r>
              <a:rPr lang="en-US" sz="1000">
                <a:solidFill>
                  <a:schemeClr val="tx2"/>
                </a:solidFill>
              </a:rPr>
              <a:t>Integrated Project Plan and Milestone Schedule (PPT/XLS)</a:t>
            </a:r>
          </a:p>
        </p:txBody>
      </p:sp>
      <p:sp>
        <p:nvSpPr>
          <p:cNvPr id="7" name="Rectangle: Rounded Corners 6">
            <a:extLst>
              <a:ext uri="{FF2B5EF4-FFF2-40B4-BE49-F238E27FC236}">
                <a16:creationId xmlns:a16="http://schemas.microsoft.com/office/drawing/2014/main" id="{99FA22C4-8B66-D47F-BB02-922B3B187CFC}"/>
              </a:ext>
            </a:extLst>
          </p:cNvPr>
          <p:cNvSpPr/>
          <p:nvPr/>
        </p:nvSpPr>
        <p:spPr bwMode="gray">
          <a:xfrm>
            <a:off x="6296421" y="2743200"/>
            <a:ext cx="5360592" cy="1371600"/>
          </a:xfrm>
          <a:prstGeom prst="roundRect">
            <a:avLst>
              <a:gd name="adj" fmla="val 641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45720" bIns="45720" rtlCol="0" anchor="ctr" anchorCtr="0">
            <a:noAutofit/>
          </a:bodyPr>
          <a:lstStyle/>
          <a:p>
            <a:pPr defTabSz="457063" fontAlgn="ctr">
              <a:defRPr/>
            </a:pPr>
            <a:r>
              <a:rPr lang="en-US" sz="1000" b="1">
                <a:solidFill>
                  <a:srgbClr val="00A78E"/>
                </a:solidFill>
              </a:rPr>
              <a:t>Description: </a:t>
            </a:r>
            <a:r>
              <a:rPr lang="en-US" sz="1000">
                <a:solidFill>
                  <a:schemeClr val="tx2"/>
                </a:solidFill>
              </a:rPr>
              <a:t>Weekly Status Reporting (recurring)</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rgbClr val="00A78E"/>
              </a:solidFill>
            </a:endParaRPr>
          </a:p>
          <a:p>
            <a:pPr defTabSz="457063" fontAlgn="ctr">
              <a:defRPr/>
            </a:pPr>
            <a:endParaRPr lang="en-US" sz="700" b="1">
              <a:solidFill>
                <a:schemeClr val="tx2"/>
              </a:solidFill>
            </a:endParaRPr>
          </a:p>
          <a:p>
            <a:r>
              <a:rPr lang="en-US" sz="1000" b="1">
                <a:solidFill>
                  <a:srgbClr val="00A78E"/>
                </a:solidFill>
              </a:rPr>
              <a:t>Deliverables: </a:t>
            </a:r>
          </a:p>
          <a:p>
            <a:r>
              <a:rPr lang="en-US" sz="1000">
                <a:solidFill>
                  <a:schemeClr val="tx2"/>
                </a:solidFill>
              </a:rPr>
              <a:t>Recurring documents throughout the engagement:</a:t>
            </a:r>
          </a:p>
          <a:p>
            <a:pPr marL="91440" indent="-91440">
              <a:buFont typeface="Arial" panose="020B0604020202020204" pitchFamily="34" charset="0"/>
              <a:buChar char="•"/>
            </a:pPr>
            <a:r>
              <a:rPr lang="en-US" sz="1000">
                <a:solidFill>
                  <a:schemeClr val="tx2"/>
                </a:solidFill>
              </a:rPr>
              <a:t>Weekly Status Reports and Executive Steering Materials (PPT)</a:t>
            </a:r>
          </a:p>
          <a:p>
            <a:pPr marL="91440" indent="-91440">
              <a:buFont typeface="Arial" panose="020B0604020202020204" pitchFamily="34" charset="0"/>
              <a:buChar char="•"/>
            </a:pPr>
            <a:r>
              <a:rPr lang="en-US" sz="1000">
                <a:solidFill>
                  <a:schemeClr val="tx2"/>
                </a:solidFill>
              </a:rPr>
              <a:t>RAID Log and Decision Log (XLS)</a:t>
            </a:r>
          </a:p>
          <a:p>
            <a:pPr marL="91440" indent="-91440">
              <a:buFont typeface="Arial" panose="020B0604020202020204" pitchFamily="34" charset="0"/>
              <a:buChar char="•"/>
            </a:pPr>
            <a:r>
              <a:rPr lang="en-US" sz="1000">
                <a:solidFill>
                  <a:schemeClr val="tx2"/>
                </a:solidFill>
              </a:rPr>
              <a:t>KPI/Value Management Dashboard or tracker (PPT/XLS)</a:t>
            </a:r>
          </a:p>
        </p:txBody>
      </p:sp>
      <p:sp>
        <p:nvSpPr>
          <p:cNvPr id="8" name="TextBox 7">
            <a:extLst>
              <a:ext uri="{FF2B5EF4-FFF2-40B4-BE49-F238E27FC236}">
                <a16:creationId xmlns:a16="http://schemas.microsoft.com/office/drawing/2014/main" id="{5EB05243-FAE3-30A7-7C34-C511052AA530}"/>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0.1</a:t>
            </a:r>
          </a:p>
        </p:txBody>
      </p:sp>
      <p:sp>
        <p:nvSpPr>
          <p:cNvPr id="9" name="TextBox 8">
            <a:extLst>
              <a:ext uri="{FF2B5EF4-FFF2-40B4-BE49-F238E27FC236}">
                <a16:creationId xmlns:a16="http://schemas.microsoft.com/office/drawing/2014/main" id="{9A470943-7349-5B6C-6A76-ED13C0286A5D}"/>
              </a:ext>
            </a:extLst>
          </p:cNvPr>
          <p:cNvSpPr txBox="1"/>
          <p:nvPr/>
        </p:nvSpPr>
        <p:spPr>
          <a:xfrm>
            <a:off x="11155680" y="274320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0.2</a:t>
            </a:r>
          </a:p>
        </p:txBody>
      </p:sp>
      <p:sp>
        <p:nvSpPr>
          <p:cNvPr id="10" name="TextBox 9">
            <a:extLst>
              <a:ext uri="{FF2B5EF4-FFF2-40B4-BE49-F238E27FC236}">
                <a16:creationId xmlns:a16="http://schemas.microsoft.com/office/drawing/2014/main" id="{AD12E5BD-7A63-D779-602A-81E441949AD9}"/>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Governance, delivery management, status reporting, RAID management and </a:t>
            </a:r>
            <a:br>
              <a:rPr lang="en-US" sz="1000">
                <a:solidFill>
                  <a:schemeClr val="tx2"/>
                </a:solidFill>
              </a:rPr>
            </a:br>
            <a:r>
              <a:rPr lang="en-US" sz="1000">
                <a:solidFill>
                  <a:schemeClr val="tx2"/>
                </a:solidFill>
              </a:rPr>
              <a:t>value management.</a:t>
            </a:r>
          </a:p>
        </p:txBody>
      </p:sp>
      <p:sp>
        <p:nvSpPr>
          <p:cNvPr id="12" name="TextBox 11">
            <a:extLst>
              <a:ext uri="{FF2B5EF4-FFF2-40B4-BE49-F238E27FC236}">
                <a16:creationId xmlns:a16="http://schemas.microsoft.com/office/drawing/2014/main" id="{BD85142F-4BBC-1A36-033C-0192350F2B14}"/>
              </a:ext>
            </a:extLst>
          </p:cNvPr>
          <p:cNvSpPr txBox="1"/>
          <p:nvPr/>
        </p:nvSpPr>
        <p:spPr>
          <a:xfrm>
            <a:off x="1366590" y="1968904"/>
            <a:ext cx="4575208" cy="461665"/>
          </a:xfrm>
          <a:prstGeom prst="rect">
            <a:avLst/>
          </a:prstGeom>
          <a:noFill/>
        </p:spPr>
        <p:txBody>
          <a:bodyPr wrap="square" lIns="0" tIns="0" rIns="0" bIns="0">
            <a:spAutoFit/>
          </a:bodyPr>
          <a:lstStyle/>
          <a:p>
            <a:pPr algn="l"/>
            <a:r>
              <a:rPr lang="en-US" sz="1000">
                <a:solidFill>
                  <a:schemeClr val="tx2"/>
                </a:solidFill>
              </a:rPr>
              <a:t>Support management delivery of the project against schedule, budget, and to the required quality standards through governance, integrated planning and </a:t>
            </a:r>
            <a:br>
              <a:rPr lang="en-US" sz="1000">
                <a:solidFill>
                  <a:schemeClr val="tx2"/>
                </a:solidFill>
              </a:rPr>
            </a:br>
            <a:r>
              <a:rPr lang="en-US" sz="1000">
                <a:solidFill>
                  <a:schemeClr val="tx2"/>
                </a:solidFill>
              </a:rPr>
              <a:t>stakeholder alignment.</a:t>
            </a:r>
          </a:p>
        </p:txBody>
      </p:sp>
      <p:sp>
        <p:nvSpPr>
          <p:cNvPr id="17" name="Rectangle: Top Corners Rounded 16">
            <a:extLst>
              <a:ext uri="{FF2B5EF4-FFF2-40B4-BE49-F238E27FC236}">
                <a16:creationId xmlns:a16="http://schemas.microsoft.com/office/drawing/2014/main" id="{51FAC356-55E0-5DB4-956F-FAC39185C178}"/>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23" name="TextBox 22">
            <a:extLst>
              <a:ext uri="{FF2B5EF4-FFF2-40B4-BE49-F238E27FC236}">
                <a16:creationId xmlns:a16="http://schemas.microsoft.com/office/drawing/2014/main" id="{374D10D0-54A1-3855-9172-2A6C430D0011}"/>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24" name="TextBox 23">
            <a:extLst>
              <a:ext uri="{FF2B5EF4-FFF2-40B4-BE49-F238E27FC236}">
                <a16:creationId xmlns:a16="http://schemas.microsoft.com/office/drawing/2014/main" id="{BCC1C449-15F4-3A63-D140-E585EE59752E}"/>
              </a:ext>
            </a:extLst>
          </p:cNvPr>
          <p:cNvSpPr txBox="1"/>
          <p:nvPr/>
        </p:nvSpPr>
        <p:spPr>
          <a:xfrm>
            <a:off x="543482" y="1968904"/>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5" name="TextBox 24">
            <a:extLst>
              <a:ext uri="{FF2B5EF4-FFF2-40B4-BE49-F238E27FC236}">
                <a16:creationId xmlns:a16="http://schemas.microsoft.com/office/drawing/2014/main" id="{63DEAF89-E695-5DAA-0128-9BAE57255DD7}"/>
              </a:ext>
            </a:extLst>
          </p:cNvPr>
          <p:cNvSpPr txBox="1"/>
          <p:nvPr/>
        </p:nvSpPr>
        <p:spPr>
          <a:xfrm>
            <a:off x="543483" y="2613258"/>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7" name="TextBox 26">
            <a:extLst>
              <a:ext uri="{FF2B5EF4-FFF2-40B4-BE49-F238E27FC236}">
                <a16:creationId xmlns:a16="http://schemas.microsoft.com/office/drawing/2014/main" id="{C9733034-A898-CC7C-7832-A47621FBA689}"/>
              </a:ext>
            </a:extLst>
          </p:cNvPr>
          <p:cNvSpPr txBox="1"/>
          <p:nvPr/>
        </p:nvSpPr>
        <p:spPr>
          <a:xfrm>
            <a:off x="1366590" y="2596637"/>
            <a:ext cx="4748460" cy="1846659"/>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Establish Governance &amp; Reporting: </a:t>
            </a:r>
            <a:r>
              <a:rPr lang="en-US" sz="1000" kern="1500">
                <a:solidFill>
                  <a:schemeClr val="tx2"/>
                </a:solidFill>
              </a:rPr>
              <a:t>Define project roles and responsibilities, meeting cadences, and reporting templates to encourage clear communication and decision-making</a:t>
            </a:r>
          </a:p>
          <a:p>
            <a:pPr marL="137160" lvl="1" indent="-137160">
              <a:spcAft>
                <a:spcPts val="300"/>
              </a:spcAft>
              <a:buFont typeface="Arial" panose="020B0604020202020204" pitchFamily="34" charset="0"/>
              <a:buChar char="•"/>
            </a:pPr>
            <a:r>
              <a:rPr lang="en-US" sz="1000" b="1" kern="1500">
                <a:solidFill>
                  <a:schemeClr val="tx2"/>
                </a:solidFill>
              </a:rPr>
              <a:t>Manage Risks, Issues, and Dependencies</a:t>
            </a:r>
            <a:r>
              <a:rPr lang="en-US" sz="1000" kern="1500">
                <a:solidFill>
                  <a:schemeClr val="tx2"/>
                </a:solidFill>
              </a:rPr>
              <a:t>: Proactively identify, track, and mitigate project risks, issues, and inter-workstream dependencies to prevent delays</a:t>
            </a:r>
          </a:p>
          <a:p>
            <a:pPr marL="137160" lvl="1" indent="-137160">
              <a:spcAft>
                <a:spcPts val="300"/>
              </a:spcAft>
              <a:buFont typeface="Arial" panose="020B0604020202020204" pitchFamily="34" charset="0"/>
              <a:buChar char="•"/>
            </a:pPr>
            <a:r>
              <a:rPr lang="en-US" sz="1000" b="1" kern="1500">
                <a:solidFill>
                  <a:schemeClr val="tx2"/>
                </a:solidFill>
              </a:rPr>
              <a:t>Value Management: </a:t>
            </a:r>
            <a:r>
              <a:rPr lang="en-US" sz="1000" kern="1500">
                <a:solidFill>
                  <a:schemeClr val="tx2"/>
                </a:solidFill>
              </a:rPr>
              <a:t>Track CVS-specified key performance indicators (KPIs)/metrics and provide regular status reports to stakeholders. Metrics include Data Parity, and Query Conversion Rate</a:t>
            </a:r>
          </a:p>
          <a:p>
            <a:pPr marL="137160" lvl="1" indent="-137160">
              <a:spcAft>
                <a:spcPts val="300"/>
              </a:spcAft>
              <a:buFont typeface="Arial" panose="020B0604020202020204" pitchFamily="34" charset="0"/>
              <a:buChar char="•"/>
            </a:pPr>
            <a:r>
              <a:rPr lang="en-US" sz="1000" b="1" kern="1500">
                <a:solidFill>
                  <a:schemeClr val="tx2"/>
                </a:solidFill>
              </a:rPr>
              <a:t>Manage Stakeholder Communications:</a:t>
            </a:r>
            <a:r>
              <a:rPr lang="en-US" sz="1000" kern="1500">
                <a:solidFill>
                  <a:schemeClr val="tx2"/>
                </a:solidFill>
              </a:rPr>
              <a:t> Develop and execute a communications plan to assist CVS keep all stakeholders informed of project progress, decisions, and impacts.</a:t>
            </a:r>
          </a:p>
          <a:p>
            <a:pPr marL="137160" lvl="1" indent="-137160">
              <a:spcAft>
                <a:spcPts val="300"/>
              </a:spcAft>
              <a:buFont typeface="Arial" panose="020B0604020202020204" pitchFamily="34" charset="0"/>
              <a:buChar char="•"/>
            </a:pPr>
            <a:r>
              <a:rPr lang="en-US" sz="1000" b="1" kern="1500">
                <a:solidFill>
                  <a:schemeClr val="tx2"/>
                </a:solidFill>
              </a:rPr>
              <a:t>Kickoff Workshop: </a:t>
            </a:r>
            <a:r>
              <a:rPr lang="en-US" sz="1000" kern="1500">
                <a:solidFill>
                  <a:schemeClr val="tx2"/>
                </a:solidFill>
              </a:rPr>
              <a:t>Align stakeholders on scope, objectives, and delivery plan</a:t>
            </a:r>
            <a:endParaRPr lang="en-US" sz="1000">
              <a:solidFill>
                <a:schemeClr val="tx2"/>
              </a:solidFill>
            </a:endParaRPr>
          </a:p>
        </p:txBody>
      </p:sp>
      <p:grpSp>
        <p:nvGrpSpPr>
          <p:cNvPr id="28" name="Group 27">
            <a:extLst>
              <a:ext uri="{FF2B5EF4-FFF2-40B4-BE49-F238E27FC236}">
                <a16:creationId xmlns:a16="http://schemas.microsoft.com/office/drawing/2014/main" id="{45F6F8D0-8926-F6AF-8F34-852610CFD759}"/>
              </a:ext>
            </a:extLst>
          </p:cNvPr>
          <p:cNvGrpSpPr/>
          <p:nvPr/>
        </p:nvGrpSpPr>
        <p:grpSpPr>
          <a:xfrm>
            <a:off x="533400" y="1880944"/>
            <a:ext cx="5562600" cy="4926"/>
            <a:chOff x="533400" y="1886078"/>
            <a:chExt cx="5562600" cy="4926"/>
          </a:xfrm>
        </p:grpSpPr>
        <p:cxnSp>
          <p:nvCxnSpPr>
            <p:cNvPr id="30" name="Straight Connector 29">
              <a:extLst>
                <a:ext uri="{FF2B5EF4-FFF2-40B4-BE49-F238E27FC236}">
                  <a16:creationId xmlns:a16="http://schemas.microsoft.com/office/drawing/2014/main" id="{8A991F52-CDFC-E271-4CEF-F01CAD64855F}"/>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4D11DC3-1D83-A80A-A77D-B90258812049}"/>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682B0914-0BA7-48F7-E4B8-AEBBA771A618}"/>
              </a:ext>
            </a:extLst>
          </p:cNvPr>
          <p:cNvGrpSpPr/>
          <p:nvPr/>
        </p:nvGrpSpPr>
        <p:grpSpPr>
          <a:xfrm>
            <a:off x="533400" y="2513603"/>
            <a:ext cx="5562600" cy="0"/>
            <a:chOff x="533400" y="2463561"/>
            <a:chExt cx="5562600" cy="0"/>
          </a:xfrm>
        </p:grpSpPr>
        <p:cxnSp>
          <p:nvCxnSpPr>
            <p:cNvPr id="33" name="Straight Connector 32">
              <a:extLst>
                <a:ext uri="{FF2B5EF4-FFF2-40B4-BE49-F238E27FC236}">
                  <a16:creationId xmlns:a16="http://schemas.microsoft.com/office/drawing/2014/main" id="{15599C82-5574-C742-6C21-0C284F25486B}"/>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4E22E6B-2349-81DF-CEE3-3B27F0572342}"/>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aphicFrame>
        <p:nvGraphicFramePr>
          <p:cNvPr id="11" name="Table 10">
            <a:extLst>
              <a:ext uri="{FF2B5EF4-FFF2-40B4-BE49-F238E27FC236}">
                <a16:creationId xmlns:a16="http://schemas.microsoft.com/office/drawing/2014/main" id="{B9FD8B3D-4EB3-EC2D-638E-300D9546E4A9}"/>
              </a:ext>
            </a:extLst>
          </p:cNvPr>
          <p:cNvGraphicFramePr>
            <a:graphicFrameLocks noGrp="1"/>
          </p:cNvGraphicFramePr>
          <p:nvPr>
            <p:extLst>
              <p:ext uri="{D42A27DB-BD31-4B8C-83A1-F6EECF244321}">
                <p14:modId xmlns:p14="http://schemas.microsoft.com/office/powerpoint/2010/main" val="4180232833"/>
              </p:ext>
            </p:extLst>
          </p:nvPr>
        </p:nvGraphicFramePr>
        <p:xfrm>
          <a:off x="6358764" y="199222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4" name="Table 13">
            <a:extLst>
              <a:ext uri="{FF2B5EF4-FFF2-40B4-BE49-F238E27FC236}">
                <a16:creationId xmlns:a16="http://schemas.microsoft.com/office/drawing/2014/main" id="{9A96EFB7-5D78-04D7-F85E-D6399E2FB8A3}"/>
              </a:ext>
            </a:extLst>
          </p:cNvPr>
          <p:cNvGraphicFramePr>
            <a:graphicFrameLocks noGrp="1"/>
          </p:cNvGraphicFramePr>
          <p:nvPr>
            <p:extLst>
              <p:ext uri="{D42A27DB-BD31-4B8C-83A1-F6EECF244321}">
                <p14:modId xmlns:p14="http://schemas.microsoft.com/office/powerpoint/2010/main" val="1541655190"/>
              </p:ext>
            </p:extLst>
          </p:nvPr>
        </p:nvGraphicFramePr>
        <p:xfrm>
          <a:off x="6358764" y="3109116"/>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857822"/>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1025703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056B7F-0ED7-3E84-2AC3-6EEE64426AB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11F24D6-F335-2777-D14F-F0C756488D0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A11F24D6-F335-2777-D14F-F0C756488D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C7B1B46-7309-E086-E306-4D3CC03FB200}"/>
              </a:ext>
            </a:extLst>
          </p:cNvPr>
          <p:cNvSpPr>
            <a:spLocks noGrp="1"/>
          </p:cNvSpPr>
          <p:nvPr>
            <p:ph type="title"/>
          </p:nvPr>
        </p:nvSpPr>
        <p:spPr/>
        <p:txBody>
          <a:bodyPr vert="horz" rIns="0"/>
          <a:lstStyle/>
          <a:p>
            <a:r>
              <a:rPr lang="en-US"/>
              <a:t>Workstream 0 – Project Management Support (2/2)</a:t>
            </a:r>
            <a:br>
              <a:rPr lang="en-US"/>
            </a:br>
            <a:r>
              <a:rPr lang="en-US" sz="1600" b="0"/>
              <a:t>Project Management – Planning </a:t>
            </a:r>
          </a:p>
        </p:txBody>
      </p:sp>
      <p:sp>
        <p:nvSpPr>
          <p:cNvPr id="10" name="Rectangle: Top Corners Rounded 9">
            <a:extLst>
              <a:ext uri="{FF2B5EF4-FFF2-40B4-BE49-F238E27FC236}">
                <a16:creationId xmlns:a16="http://schemas.microsoft.com/office/drawing/2014/main" id="{63E4F443-6CC2-C60C-5295-C3812186CEAC}"/>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13" name="Content Placeholder 6">
            <a:extLst>
              <a:ext uri="{FF2B5EF4-FFF2-40B4-BE49-F238E27FC236}">
                <a16:creationId xmlns:a16="http://schemas.microsoft.com/office/drawing/2014/main" id="{BD761163-F05A-148F-73DA-1C25B64464CF}"/>
              </a:ext>
            </a:extLst>
          </p:cNvPr>
          <p:cNvGraphicFramePr>
            <a:graphicFrameLocks/>
          </p:cNvGraphicFramePr>
          <p:nvPr>
            <p:extLst>
              <p:ext uri="{D42A27DB-BD31-4B8C-83A1-F6EECF244321}">
                <p14:modId xmlns:p14="http://schemas.microsoft.com/office/powerpoint/2010/main" val="3802794173"/>
              </p:ext>
            </p:extLst>
          </p:nvPr>
        </p:nvGraphicFramePr>
        <p:xfrm>
          <a:off x="538691" y="1491463"/>
          <a:ext cx="11133137" cy="29413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1619988">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Establish Governance Rhythms &amp; Communication Plans: </a:t>
                      </a:r>
                      <a:r>
                        <a:rPr lang="en-US" sz="1000" i="0">
                          <a:solidFill>
                            <a:schemeClr val="tx2"/>
                          </a:solidFill>
                        </a:rPr>
                        <a:t>Draft the initial Project Charter and Governance Framework . This includes outlining meeting cadences, reporting templates, and defining project roles and responsibilities to ensure clear communication and decision-making on Day 1</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Reconcile Project Plans: </a:t>
                      </a:r>
                      <a:r>
                        <a:rPr lang="en-US" sz="1000" i="0">
                          <a:solidFill>
                            <a:schemeClr val="tx2"/>
                          </a:solidFill>
                        </a:rPr>
                        <a:t>Resolve the current planning misalignment between Peter's plan and the KPMG plan for the bronze-layer workstream</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Set Up Risk, Issue, and Dependency Tracking: </a:t>
                      </a:r>
                      <a:r>
                        <a:rPr lang="en-US" sz="1000" i="0">
                          <a:solidFill>
                            <a:schemeClr val="tx2"/>
                          </a:solidFill>
                        </a:rPr>
                        <a:t>Create the initial RAID (Risks, Issues, Assumptions, and Dependencies) Log and Decision Log . This involves mapping cross-workstream dependencies, such as tracking Azure networking approvals, CVS security clearings, and pod delivery velocities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Coordinate the Microsoft ECIF Funding Path: </a:t>
                      </a:r>
                      <a:r>
                        <a:rPr lang="en-US" sz="1000" i="0">
                          <a:solidFill>
                            <a:schemeClr val="tx2"/>
                          </a:solidFill>
                        </a:rPr>
                        <a:t>Align on the three-party commercial milestones and coordinate the upcoming planning session/funding discussions with Microsoft and CVS procurement stakeholders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Confirm Resource Allocation &amp; Staffing Readiness: </a:t>
                      </a:r>
                      <a:r>
                        <a:rPr lang="en-US" sz="1000" i="0">
                          <a:solidFill>
                            <a:schemeClr val="tx2"/>
                          </a:solidFill>
                        </a:rPr>
                        <a:t>Finalize the staffing plan with resource management for onshore/offshore roles to prevent pre-allocated team members from being reassigned due to SOW delays</a:t>
                      </a:r>
                    </a:p>
                    <a:p>
                      <a:pPr marL="137160" indent="-137160">
                        <a:lnSpc>
                          <a:spcPct val="100000"/>
                        </a:lnSpc>
                        <a:spcAft>
                          <a:spcPts val="200"/>
                        </a:spcAft>
                        <a:buClr>
                          <a:schemeClr val="tx2"/>
                        </a:buClr>
                        <a:buFont typeface="CVS Health Sans" panose="020B0504020202020204" pitchFamily="34" charset="0"/>
                        <a:buChar char="•"/>
                      </a:pPr>
                      <a:r>
                        <a:rPr lang="en-US" sz="1000" b="1" i="0">
                          <a:solidFill>
                            <a:schemeClr val="tx2"/>
                          </a:solidFill>
                        </a:rPr>
                        <a:t>Prepare Team Onboarding Infrastructure: </a:t>
                      </a:r>
                      <a:r>
                        <a:rPr lang="en-US" sz="1000" i="0">
                          <a:solidFill>
                            <a:schemeClr val="tx2"/>
                          </a:solidFill>
                        </a:rPr>
                        <a:t>Initiate the creation of a centralized onboarding kit or knowledge repository to quickly ramp up incoming delivery pods once the SOW is finalized </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Commercial Authorization</a:t>
                      </a:r>
                      <a:r>
                        <a:rPr lang="en-US" sz="1000" i="0">
                          <a:solidFill>
                            <a:schemeClr val="tx2"/>
                          </a:solidFill>
                        </a:rPr>
                        <a:t>: Formal execution of the tri-party agreement / SOW and Microsoft ECIF/ESIF funding sign-off</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Architecture Assessment: </a:t>
                      </a:r>
                      <a:r>
                        <a:rPr lang="en-US" sz="1000" i="0">
                          <a:solidFill>
                            <a:schemeClr val="tx2"/>
                          </a:solidFill>
                        </a:rPr>
                        <a:t>Lovelytics current-state assessment findings (via Amit Gonsalves) to resolve baseline infrastructure and IAM gaps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CVS Technical Inputs: </a:t>
                      </a:r>
                      <a:r>
                        <a:rPr lang="en-US" sz="1000" i="0">
                          <a:solidFill>
                            <a:schemeClr val="tx2"/>
                          </a:solidFill>
                        </a:rPr>
                        <a:t>Adam Plotzker’s architecture spreadsheet and stakeholder approval of the 26-table ODCS standard</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Technical Pods (WS-B/C/D): </a:t>
                      </a:r>
                      <a:r>
                        <a:rPr lang="en-US" sz="1000" i="0">
                          <a:solidFill>
                            <a:schemeClr val="tx2"/>
                          </a:solidFill>
                        </a:rPr>
                        <a:t>Sprint work packages, prioritized backlogs, unblocked environmental credentials, and cross-workstream coordination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Executive Sponsors (CVS/Microsoft): </a:t>
                      </a:r>
                      <a:r>
                        <a:rPr lang="en-US" sz="1000" i="0">
                          <a:solidFill>
                            <a:schemeClr val="tx2"/>
                          </a:solidFill>
                        </a:rPr>
                        <a:t>Bi-weekly executive progress dashboards, budget burn reporting, and milestone acceptance packages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1" i="0">
                          <a:solidFill>
                            <a:schemeClr val="tx2"/>
                          </a:solidFill>
                        </a:rPr>
                        <a:t>To Hypercare &amp; Operations (WS-F): </a:t>
                      </a:r>
                      <a:r>
                        <a:rPr lang="en-US" sz="1000" i="0">
                          <a:solidFill>
                            <a:schemeClr val="tx2"/>
                          </a:solidFill>
                        </a:rPr>
                        <a:t>Baselined operational runbooks, resolved defect logs, and formal governance transition artifacts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14" name="Content Placeholder 6">
            <a:extLst>
              <a:ext uri="{FF2B5EF4-FFF2-40B4-BE49-F238E27FC236}">
                <a16:creationId xmlns:a16="http://schemas.microsoft.com/office/drawing/2014/main" id="{7883524F-6E7F-2686-BB29-E3A4EE5AD058}"/>
              </a:ext>
            </a:extLst>
          </p:cNvPr>
          <p:cNvGraphicFramePr>
            <a:graphicFrameLocks/>
          </p:cNvGraphicFramePr>
          <p:nvPr>
            <p:extLst>
              <p:ext uri="{D42A27DB-BD31-4B8C-83A1-F6EECF244321}">
                <p14:modId xmlns:p14="http://schemas.microsoft.com/office/powerpoint/2010/main" val="2081662511"/>
              </p:ext>
            </p:extLst>
          </p:nvPr>
        </p:nvGraphicFramePr>
        <p:xfrm>
          <a:off x="529432" y="4660900"/>
          <a:ext cx="11127580" cy="1409700"/>
        </p:xfrm>
        <a:graphic>
          <a:graphicData uri="http://schemas.openxmlformats.org/drawingml/2006/table">
            <a:tbl>
              <a:tblPr firstRow="1" bandRow="1">
                <a:tableStyleId>{2D5ABB26-0587-4C30-8999-92F81FD0307C}</a:tableStyleId>
              </a:tblPr>
              <a:tblGrid>
                <a:gridCol w="1120644">
                  <a:extLst>
                    <a:ext uri="{9D8B030D-6E8A-4147-A177-3AD203B41FA5}">
                      <a16:colId xmlns:a16="http://schemas.microsoft.com/office/drawing/2014/main" val="2393725290"/>
                    </a:ext>
                  </a:extLst>
                </a:gridCol>
                <a:gridCol w="2501734">
                  <a:extLst>
                    <a:ext uri="{9D8B030D-6E8A-4147-A177-3AD203B41FA5}">
                      <a16:colId xmlns:a16="http://schemas.microsoft.com/office/drawing/2014/main" val="1699332636"/>
                    </a:ext>
                  </a:extLst>
                </a:gridCol>
                <a:gridCol w="2501734">
                  <a:extLst>
                    <a:ext uri="{9D8B030D-6E8A-4147-A177-3AD203B41FA5}">
                      <a16:colId xmlns:a16="http://schemas.microsoft.com/office/drawing/2014/main" val="2684621038"/>
                    </a:ext>
                  </a:extLst>
                </a:gridCol>
                <a:gridCol w="2501734">
                  <a:extLst>
                    <a:ext uri="{9D8B030D-6E8A-4147-A177-3AD203B41FA5}">
                      <a16:colId xmlns:a16="http://schemas.microsoft.com/office/drawing/2014/main" val="1078624516"/>
                    </a:ext>
                  </a:extLst>
                </a:gridCol>
                <a:gridCol w="2501734">
                  <a:extLst>
                    <a:ext uri="{9D8B030D-6E8A-4147-A177-3AD203B41FA5}">
                      <a16:colId xmlns:a16="http://schemas.microsoft.com/office/drawing/2014/main" val="713383717"/>
                    </a:ext>
                  </a:extLst>
                </a:gridCol>
              </a:tblGrid>
              <a:tr h="51768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PMO Governance, Reporting &amp; Steering Cadence</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063" rtl="0" eaLnBrk="1" fontAlgn="ctr" latinLnBrk="0" hangingPunct="1"/>
                      <a:r>
                        <a:rPr lang="en-US" sz="1000" b="1" kern="1500">
                          <a:solidFill>
                            <a:srgbClr val="0A4B8C"/>
                          </a:solidFill>
                          <a:latin typeface="+mn-lt"/>
                          <a:ea typeface="+mn-ea"/>
                          <a:cs typeface="+mn-cs"/>
                        </a:rPr>
                        <a:t>Integrated RAID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Financial Governance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Welcome Season &amp; Change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Freeze Governance</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Agile Tooling &amp; Jira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WBS Ingestion</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spcAft>
                          <a:spcPts val="200"/>
                        </a:spcAft>
                        <a:buFont typeface="Arial" panose="020B0604020202020204" pitchFamily="34" charset="0"/>
                        <a:buChar char="•"/>
                      </a:pPr>
                      <a:r>
                        <a:rPr lang="en-US" sz="1000" b="0">
                          <a:solidFill>
                            <a:schemeClr val="tx2"/>
                          </a:solidFill>
                        </a:rPr>
                        <a:t>1.1: Executive Steering &amp; Tactical Cadence Execution</a:t>
                      </a:r>
                    </a:p>
                    <a:p>
                      <a:pPr marL="137160" indent="-137160">
                        <a:spcAft>
                          <a:spcPts val="200"/>
                        </a:spcAft>
                        <a:buFont typeface="Arial" panose="020B0604020202020204" pitchFamily="34" charset="0"/>
                        <a:buChar char="•"/>
                      </a:pPr>
                      <a:r>
                        <a:rPr lang="en-US" sz="1000" b="0">
                          <a:solidFill>
                            <a:schemeClr val="tx2"/>
                          </a:solidFill>
                        </a:rPr>
                        <a:t>1.2: Microsoft ECIF Co-Funding &amp; </a:t>
                      </a:r>
                      <a:br>
                        <a:rPr lang="en-US" sz="1000" b="0">
                          <a:solidFill>
                            <a:schemeClr val="tx2"/>
                          </a:solidFill>
                        </a:rPr>
                      </a:br>
                      <a:r>
                        <a:rPr lang="en-US" sz="1000" b="0">
                          <a:solidFill>
                            <a:schemeClr val="tx2"/>
                          </a:solidFill>
                        </a:rPr>
                        <a:t>Milestone Management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spcAft>
                          <a:spcPts val="200"/>
                        </a:spcAft>
                        <a:buFont typeface="Arial" panose="020B0604020202020204" pitchFamily="34" charset="0"/>
                        <a:buChar char="•"/>
                      </a:pPr>
                      <a:r>
                        <a:rPr lang="en-US" sz="1000" b="0">
                          <a:solidFill>
                            <a:schemeClr val="tx2"/>
                          </a:solidFill>
                        </a:rPr>
                        <a:t>2.1: Multi-Workstream Dependency &amp; RAID </a:t>
                      </a:r>
                      <a:br>
                        <a:rPr lang="en-US" sz="1000" b="0">
                          <a:solidFill>
                            <a:schemeClr val="tx2"/>
                          </a:solidFill>
                        </a:rPr>
                      </a:br>
                      <a:r>
                        <a:rPr lang="en-US" sz="1000" b="0">
                          <a:solidFill>
                            <a:schemeClr val="tx2"/>
                          </a:solidFill>
                        </a:rPr>
                        <a:t>Framework Integration</a:t>
                      </a:r>
                    </a:p>
                    <a:p>
                      <a:pPr marL="137160" indent="-137160">
                        <a:spcAft>
                          <a:spcPts val="200"/>
                        </a:spcAft>
                        <a:buFont typeface="Arial" panose="020B0604020202020204" pitchFamily="34" charset="0"/>
                        <a:buChar char="•"/>
                      </a:pPr>
                      <a:r>
                        <a:rPr lang="en-US" sz="1000" b="0">
                          <a:solidFill>
                            <a:schemeClr val="tx2"/>
                          </a:solidFill>
                        </a:rPr>
                        <a:t>2.2: Resource Staffing &amp; Blended Rate </a:t>
                      </a:r>
                      <a:br>
                        <a:rPr lang="en-US" sz="1000" b="0">
                          <a:solidFill>
                            <a:schemeClr val="tx2"/>
                          </a:solidFill>
                        </a:rPr>
                      </a:br>
                      <a:r>
                        <a:rPr lang="en-US" sz="1000" b="0">
                          <a:solidFill>
                            <a:schemeClr val="tx2"/>
                          </a:solidFill>
                        </a:rPr>
                        <a:t>Financial Tracking</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500" cap="none" spc="0" normalizeH="0" baseline="0" noProof="0">
                          <a:ln>
                            <a:noFill/>
                          </a:ln>
                          <a:solidFill>
                            <a:schemeClr val="tx2"/>
                          </a:solidFill>
                          <a:effectLst/>
                          <a:uLnTx/>
                          <a:uFillTx/>
                          <a:latin typeface="+mn-lt"/>
                          <a:ea typeface="+mn-ea"/>
                          <a:cs typeface="+mn-cs"/>
                        </a:rPr>
                        <a:t>3.1: Change Freeze Operational Playbook &amp; Sandbox Boundaries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500" cap="none" spc="0" normalizeH="0" baseline="0" noProof="0">
                          <a:ln>
                            <a:noFill/>
                          </a:ln>
                          <a:solidFill>
                            <a:schemeClr val="tx2"/>
                          </a:solidFill>
                          <a:effectLst/>
                          <a:uLnTx/>
                          <a:uFillTx/>
                          <a:latin typeface="+mn-lt"/>
                          <a:ea typeface="+mn-ea"/>
                          <a:cs typeface="+mn-cs"/>
                        </a:rPr>
                        <a:t>3.2: Foundational Day 1 Review Gate Q1/Q2</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spcAft>
                          <a:spcPts val="200"/>
                        </a:spcAft>
                        <a:buFont typeface="Arial" panose="020B0604020202020204" pitchFamily="34" charset="0"/>
                        <a:buChar char="•"/>
                      </a:pPr>
                      <a:r>
                        <a:rPr lang="en-US" sz="1000" b="0">
                          <a:solidFill>
                            <a:schemeClr val="tx2"/>
                          </a:solidFill>
                        </a:rPr>
                        <a:t>4.1: Jira WBS &amp; Epic-to-Task Taxonomy Construction</a:t>
                      </a:r>
                    </a:p>
                    <a:p>
                      <a:pPr marL="137160" indent="-137160">
                        <a:spcAft>
                          <a:spcPts val="200"/>
                        </a:spcAft>
                        <a:buFont typeface="Arial" panose="020B0604020202020204" pitchFamily="34" charset="0"/>
                        <a:buChar char="•"/>
                      </a:pPr>
                      <a:r>
                        <a:rPr lang="en-US" sz="1000" b="0">
                          <a:solidFill>
                            <a:schemeClr val="tx2"/>
                          </a:solidFill>
                        </a:rPr>
                        <a:t>4.2: Multi-Tier Modernization Priority Matrix</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15" name="Group 14">
            <a:extLst>
              <a:ext uri="{FF2B5EF4-FFF2-40B4-BE49-F238E27FC236}">
                <a16:creationId xmlns:a16="http://schemas.microsoft.com/office/drawing/2014/main" id="{44A7CDB7-92A3-FFC6-3C99-A5467C81EB77}"/>
              </a:ext>
            </a:extLst>
          </p:cNvPr>
          <p:cNvGrpSpPr/>
          <p:nvPr/>
        </p:nvGrpSpPr>
        <p:grpSpPr>
          <a:xfrm>
            <a:off x="538691" y="3191142"/>
            <a:ext cx="11125201" cy="0"/>
            <a:chOff x="531813" y="3716075"/>
            <a:chExt cx="11125201" cy="0"/>
          </a:xfrm>
        </p:grpSpPr>
        <p:cxnSp>
          <p:nvCxnSpPr>
            <p:cNvPr id="16" name="Straight Connector 15">
              <a:extLst>
                <a:ext uri="{FF2B5EF4-FFF2-40B4-BE49-F238E27FC236}">
                  <a16:creationId xmlns:a16="http://schemas.microsoft.com/office/drawing/2014/main" id="{C6953DCF-E9B8-49E7-5C54-ADE7DD36FBF5}"/>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1D05BBC-57EC-67A5-D708-62D34BFDF33F}"/>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C373DC99-2FEB-196F-671F-9B8EA9ACE9FD}"/>
              </a:ext>
            </a:extLst>
          </p:cNvPr>
          <p:cNvGrpSpPr/>
          <p:nvPr/>
        </p:nvGrpSpPr>
        <p:grpSpPr>
          <a:xfrm>
            <a:off x="557473" y="5158100"/>
            <a:ext cx="11125201" cy="999"/>
            <a:chOff x="531813" y="5259957"/>
            <a:chExt cx="11125201" cy="999"/>
          </a:xfrm>
        </p:grpSpPr>
        <p:cxnSp>
          <p:nvCxnSpPr>
            <p:cNvPr id="19" name="Straight Connector 18">
              <a:extLst>
                <a:ext uri="{FF2B5EF4-FFF2-40B4-BE49-F238E27FC236}">
                  <a16:creationId xmlns:a16="http://schemas.microsoft.com/office/drawing/2014/main" id="{03CC3F22-A5AC-136F-F6FD-004EB20FA16F}"/>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FFB86B4-2548-773B-ABB1-A85A8666BE41}"/>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D27E17A-3ECD-1425-87AA-0E7669D58669}"/>
              </a:ext>
            </a:extLst>
          </p:cNvPr>
          <p:cNvGrpSpPr/>
          <p:nvPr/>
        </p:nvGrpSpPr>
        <p:grpSpPr>
          <a:xfrm>
            <a:off x="542658" y="4632173"/>
            <a:ext cx="11125201" cy="1"/>
            <a:chOff x="531813" y="4848012"/>
            <a:chExt cx="11125201" cy="1"/>
          </a:xfrm>
        </p:grpSpPr>
        <p:cxnSp>
          <p:nvCxnSpPr>
            <p:cNvPr id="22" name="Straight Connector 21">
              <a:extLst>
                <a:ext uri="{FF2B5EF4-FFF2-40B4-BE49-F238E27FC236}">
                  <a16:creationId xmlns:a16="http://schemas.microsoft.com/office/drawing/2014/main" id="{7F47EEEC-AEDB-4023-1B7B-B4F353BEC99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C53E6EA-1A36-9EA0-71E6-A57BA6626AD3}"/>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BE643A49-67A9-CEE0-46F0-95E826E88F0E}"/>
              </a:ext>
            </a:extLst>
          </p:cNvPr>
          <p:cNvGrpSpPr/>
          <p:nvPr/>
        </p:nvGrpSpPr>
        <p:grpSpPr>
          <a:xfrm>
            <a:off x="544248" y="3788499"/>
            <a:ext cx="11127580" cy="1695"/>
            <a:chOff x="529432" y="4264661"/>
            <a:chExt cx="11127580" cy="1695"/>
          </a:xfrm>
        </p:grpSpPr>
        <p:cxnSp>
          <p:nvCxnSpPr>
            <p:cNvPr id="26" name="Straight Connector 25">
              <a:extLst>
                <a:ext uri="{FF2B5EF4-FFF2-40B4-BE49-F238E27FC236}">
                  <a16:creationId xmlns:a16="http://schemas.microsoft.com/office/drawing/2014/main" id="{B7259F88-CB21-86C1-C0AF-11D950F2C061}"/>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5D3FBF-D747-8E9F-0620-2276CAFD939B}"/>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0EB099D9-EEA9-21F3-BE72-368C3625AEC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3569946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E770A0D-7640-BF88-0701-2DF1F3067E7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0B02858-EC74-08B0-07BC-C4673C566C27}"/>
              </a:ext>
            </a:extLst>
          </p:cNvPr>
          <p:cNvGraphicFramePr>
            <a:graphicFrameLocks/>
          </p:cNvGraphicFramePr>
          <p:nvPr>
            <p:custDataLst>
              <p:tags r:id="rId1"/>
            </p:custDataLst>
            <p:extLst>
              <p:ext uri="{D42A27DB-BD31-4B8C-83A1-F6EECF244321}">
                <p14:modId xmlns:p14="http://schemas.microsoft.com/office/powerpoint/2010/main" val="41208283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70B02858-EC74-08B0-07BC-C4673C566C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894CDA3-AEAF-0EAD-1850-DD0F96BE5245}"/>
              </a:ext>
            </a:extLst>
          </p:cNvPr>
          <p:cNvSpPr>
            <a:spLocks noGrp="1"/>
          </p:cNvSpPr>
          <p:nvPr>
            <p:ph type="title"/>
          </p:nvPr>
        </p:nvSpPr>
        <p:spPr/>
        <p:txBody>
          <a:bodyPr vert="horz" rIns="0"/>
          <a:lstStyle/>
          <a:p>
            <a:r>
              <a:rPr lang="en-US"/>
              <a:t>Workstream B1 – Source Rationalization and Data Contracts (1/2)</a:t>
            </a:r>
            <a:br>
              <a:rPr lang="en-US"/>
            </a:br>
            <a:r>
              <a:rPr lang="en-US" sz="1600" b="0"/>
              <a:t>“Deciding What Data We Have, Who Owns It, and How It Should Be Labeled” – From the SOW and other planning documents</a:t>
            </a:r>
          </a:p>
        </p:txBody>
      </p:sp>
      <p:sp>
        <p:nvSpPr>
          <p:cNvPr id="8" name="Rectangle: Top Corners Rounded 7">
            <a:extLst>
              <a:ext uri="{FF2B5EF4-FFF2-40B4-BE49-F238E27FC236}">
                <a16:creationId xmlns:a16="http://schemas.microsoft.com/office/drawing/2014/main" id="{2AC570B6-2A6B-D827-0A7E-A37A59FCF4D7}"/>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extBox 9">
            <a:extLst>
              <a:ext uri="{FF2B5EF4-FFF2-40B4-BE49-F238E27FC236}">
                <a16:creationId xmlns:a16="http://schemas.microsoft.com/office/drawing/2014/main" id="{C67991EF-9159-3BEB-8B58-6598796956CF}"/>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5" name="TextBox 14">
            <a:extLst>
              <a:ext uri="{FF2B5EF4-FFF2-40B4-BE49-F238E27FC236}">
                <a16:creationId xmlns:a16="http://schemas.microsoft.com/office/drawing/2014/main" id="{3E7982E2-2F26-ECFB-5734-663AD2C5BF87}"/>
              </a:ext>
            </a:extLst>
          </p:cNvPr>
          <p:cNvSpPr txBox="1"/>
          <p:nvPr/>
        </p:nvSpPr>
        <p:spPr>
          <a:xfrm>
            <a:off x="1366590" y="1490133"/>
            <a:ext cx="4693922" cy="461665"/>
          </a:xfrm>
          <a:prstGeom prst="rect">
            <a:avLst/>
          </a:prstGeom>
          <a:noFill/>
        </p:spPr>
        <p:txBody>
          <a:bodyPr wrap="square" lIns="0" tIns="0" rIns="0" bIns="0">
            <a:spAutoFit/>
          </a:bodyPr>
          <a:lstStyle/>
          <a:p>
            <a:r>
              <a:rPr lang="en-US" sz="1000" dirty="0">
                <a:solidFill>
                  <a:schemeClr val="tx2"/>
                </a:solidFill>
              </a:rPr>
              <a:t>Perform rationalization of Splunk, Observability, and Security sources to source families and categories, support definition of  data contracts and associated management processes, metadata, ownership and classification.</a:t>
            </a:r>
          </a:p>
        </p:txBody>
      </p:sp>
      <p:sp>
        <p:nvSpPr>
          <p:cNvPr id="17" name="TextBox 16">
            <a:extLst>
              <a:ext uri="{FF2B5EF4-FFF2-40B4-BE49-F238E27FC236}">
                <a16:creationId xmlns:a16="http://schemas.microsoft.com/office/drawing/2014/main" id="{70CD7D19-F159-B7E6-13D2-CD839A2473AF}"/>
              </a:ext>
            </a:extLst>
          </p:cNvPr>
          <p:cNvSpPr txBox="1"/>
          <p:nvPr/>
        </p:nvSpPr>
        <p:spPr>
          <a:xfrm>
            <a:off x="543482" y="2095123"/>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1" name="TextBox 20">
            <a:extLst>
              <a:ext uri="{FF2B5EF4-FFF2-40B4-BE49-F238E27FC236}">
                <a16:creationId xmlns:a16="http://schemas.microsoft.com/office/drawing/2014/main" id="{72785763-D8A1-0123-8E78-698ECF6CE4A1}"/>
              </a:ext>
            </a:extLst>
          </p:cNvPr>
          <p:cNvSpPr txBox="1"/>
          <p:nvPr/>
        </p:nvSpPr>
        <p:spPr>
          <a:xfrm>
            <a:off x="1366590" y="2105460"/>
            <a:ext cx="4575208" cy="615553"/>
          </a:xfrm>
          <a:prstGeom prst="rect">
            <a:avLst/>
          </a:prstGeom>
          <a:noFill/>
        </p:spPr>
        <p:txBody>
          <a:bodyPr wrap="square" lIns="0" tIns="0" rIns="0" bIns="0">
            <a:spAutoFit/>
          </a:bodyPr>
          <a:lstStyle/>
          <a:p>
            <a:pPr algn="l"/>
            <a:r>
              <a:rPr lang="en-US" sz="1000">
                <a:solidFill>
                  <a:schemeClr val="tx2"/>
                </a:solidFill>
              </a:rPr>
              <a:t>Rationalize 2,000+ Splunk source types, rationalizing to approximately 121 logical source families as further described in Section 7.2, and define standardized data contracts, schemas, and a unified metadata model in </a:t>
            </a:r>
            <a:br>
              <a:rPr lang="en-US" sz="1000">
                <a:solidFill>
                  <a:schemeClr val="tx2"/>
                </a:solidFill>
              </a:rPr>
            </a:br>
            <a:r>
              <a:rPr lang="en-US" sz="1000">
                <a:solidFill>
                  <a:schemeClr val="tx2"/>
                </a:solidFill>
              </a:rPr>
              <a:t>Unity Catalog.</a:t>
            </a:r>
          </a:p>
        </p:txBody>
      </p:sp>
      <p:sp>
        <p:nvSpPr>
          <p:cNvPr id="22" name="TextBox 21">
            <a:extLst>
              <a:ext uri="{FF2B5EF4-FFF2-40B4-BE49-F238E27FC236}">
                <a16:creationId xmlns:a16="http://schemas.microsoft.com/office/drawing/2014/main" id="{BC397BD7-6B2A-1327-8C4A-12521D5E6F53}"/>
              </a:ext>
            </a:extLst>
          </p:cNvPr>
          <p:cNvSpPr txBox="1"/>
          <p:nvPr/>
        </p:nvSpPr>
        <p:spPr>
          <a:xfrm>
            <a:off x="543483" y="2869750"/>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5" name="TextBox 24">
            <a:extLst>
              <a:ext uri="{FF2B5EF4-FFF2-40B4-BE49-F238E27FC236}">
                <a16:creationId xmlns:a16="http://schemas.microsoft.com/office/drawing/2014/main" id="{DFC63650-48A8-6E5E-5038-C9A0E18FC7E4}"/>
              </a:ext>
            </a:extLst>
          </p:cNvPr>
          <p:cNvSpPr txBox="1"/>
          <p:nvPr/>
        </p:nvSpPr>
        <p:spPr>
          <a:xfrm>
            <a:off x="1366590" y="2869750"/>
            <a:ext cx="4748460" cy="3193182"/>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Inventory, Classify &amp; Prioritize:</a:t>
            </a:r>
            <a:r>
              <a:rPr lang="en-US" sz="1000" kern="1500">
                <a:solidFill>
                  <a:schemeClr val="tx2"/>
                </a:solidFill>
              </a:rPr>
              <a:t> Group sources (12k+) by type and score by business value, usage, duplication, complexity; define Tier 1/2/3 priorities</a:t>
            </a:r>
          </a:p>
          <a:p>
            <a:pPr marL="137160" lvl="1" indent="-137160">
              <a:spcAft>
                <a:spcPts val="300"/>
              </a:spcAft>
              <a:buFont typeface="Arial" panose="020B0604020202020204" pitchFamily="34" charset="0"/>
              <a:buChar char="•"/>
            </a:pPr>
            <a:r>
              <a:rPr lang="en-US" sz="1000" b="1" kern="1500">
                <a:solidFill>
                  <a:schemeClr val="tx2"/>
                </a:solidFill>
              </a:rPr>
              <a:t>Define Schema Strategy &amp; Contracts: </a:t>
            </a:r>
            <a:r>
              <a:rPr lang="en-US" sz="1000" kern="1500">
                <a:solidFill>
                  <a:schemeClr val="tx2"/>
                </a:solidFill>
              </a:rPr>
              <a:t>Evaluate schema approach per source tier: full canonical (e.g., OCSF/ECS/OTEL) for cross-domain detection and compliance; governed native schema for domain-specific sources already consumed without a model; common metadata for discoverability. Establish enforceable contracts (e.g., owner, schema, SLA, quality, classification) with violation workflows in Unity Catalog</a:t>
            </a:r>
          </a:p>
          <a:p>
            <a:pPr marL="137160" lvl="1" indent="-137160">
              <a:spcAft>
                <a:spcPts val="300"/>
              </a:spcAft>
              <a:buFont typeface="Arial" panose="020B0604020202020204" pitchFamily="34" charset="0"/>
              <a:buChar char="•"/>
            </a:pPr>
            <a:r>
              <a:rPr lang="en-US" sz="1000" b="1" kern="1500">
                <a:solidFill>
                  <a:schemeClr val="tx2"/>
                </a:solidFill>
              </a:rPr>
              <a:t>Classify Security &amp; Compliance Boundaries: </a:t>
            </a:r>
            <a:r>
              <a:rPr lang="en-US" sz="1000" kern="1500">
                <a:solidFill>
                  <a:schemeClr val="tx2"/>
                </a:solidFill>
              </a:rPr>
              <a:t>Support tagging sources by sensitivity (PHI, PII, PCI); define security boundaries for multi-stakeholder canonical tables; determine masking requirements that flow to Workstream C pipeline design; align workspace isolation to data classification</a:t>
            </a:r>
          </a:p>
          <a:p>
            <a:pPr marL="137160" lvl="1" indent="-137160">
              <a:spcAft>
                <a:spcPts val="300"/>
              </a:spcAft>
              <a:buFont typeface="Arial" panose="020B0604020202020204" pitchFamily="34" charset="0"/>
              <a:buChar char="•"/>
            </a:pPr>
            <a:r>
              <a:rPr lang="en-US" sz="1000" b="1" kern="1500">
                <a:solidFill>
                  <a:schemeClr val="tx2"/>
                </a:solidFill>
              </a:rPr>
              <a:t>AI-Assisted Onboarding at Scale: </a:t>
            </a:r>
            <a:r>
              <a:rPr lang="en-US" sz="1000" kern="1500">
                <a:solidFill>
                  <a:schemeClr val="tx2"/>
                </a:solidFill>
              </a:rPr>
              <a:t>Activation of CVS Claude Code and related agents to infer schema, match against canonical templates, and auto-generate pipeline definitions for Workstream C; measure onboarding velocity; scale beyond linear headcount</a:t>
            </a:r>
          </a:p>
          <a:p>
            <a:pPr marL="137160" lvl="1" indent="-137160">
              <a:spcAft>
                <a:spcPts val="300"/>
              </a:spcAft>
              <a:buFont typeface="Arial" panose="020B0604020202020204" pitchFamily="34" charset="0"/>
              <a:buChar char="•"/>
            </a:pPr>
            <a:r>
              <a:rPr lang="en-US" sz="1000"/>
              <a:t>Schema, medallion architecture and pipeline approach needs discussion after internal call this week.</a:t>
            </a:r>
          </a:p>
          <a:p>
            <a:pPr marL="137160" lvl="1" indent="-137160">
              <a:spcAft>
                <a:spcPts val="300"/>
              </a:spcAft>
              <a:buFont typeface="Arial" panose="020B0604020202020204" pitchFamily="34" charset="0"/>
              <a:buChar char="•"/>
            </a:pPr>
            <a:r>
              <a:rPr lang="en-US" sz="1000" err="1"/>
              <a:t>Cribl</a:t>
            </a:r>
            <a:r>
              <a:rPr lang="en-US" sz="1000"/>
              <a:t> pipelines not in scope</a:t>
            </a:r>
          </a:p>
          <a:p>
            <a:pPr marL="137160" lvl="1" indent="-137160">
              <a:spcAft>
                <a:spcPts val="300"/>
              </a:spcAft>
              <a:buFont typeface="Arial" panose="020B0604020202020204" pitchFamily="34" charset="0"/>
              <a:buChar char="•"/>
            </a:pPr>
            <a:r>
              <a:rPr lang="en-US" sz="1000" i="1">
                <a:solidFill>
                  <a:srgbClr val="00787E"/>
                </a:solidFill>
              </a:rPr>
              <a:t>Data landing before welcome season needs discussion.</a:t>
            </a:r>
          </a:p>
          <a:p>
            <a:pPr marL="137160" lvl="1" indent="-137160">
              <a:spcAft>
                <a:spcPts val="300"/>
              </a:spcAft>
              <a:buFont typeface="Arial" panose="020B0604020202020204" pitchFamily="34" charset="0"/>
              <a:buChar char="•"/>
            </a:pPr>
            <a:endParaRPr lang="en-US" sz="1000" kern="1500">
              <a:solidFill>
                <a:schemeClr val="tx2"/>
              </a:solidFill>
            </a:endParaRPr>
          </a:p>
        </p:txBody>
      </p:sp>
      <p:sp>
        <p:nvSpPr>
          <p:cNvPr id="27" name="TextBox 26">
            <a:extLst>
              <a:ext uri="{FF2B5EF4-FFF2-40B4-BE49-F238E27FC236}">
                <a16:creationId xmlns:a16="http://schemas.microsoft.com/office/drawing/2014/main" id="{8F28FAD4-19E8-9A40-A37E-D0CDB5591F3A}"/>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28" name="Group 27">
            <a:extLst>
              <a:ext uri="{FF2B5EF4-FFF2-40B4-BE49-F238E27FC236}">
                <a16:creationId xmlns:a16="http://schemas.microsoft.com/office/drawing/2014/main" id="{8B6E5DCD-253D-A103-1FF3-A8FD4E318E4C}"/>
              </a:ext>
            </a:extLst>
          </p:cNvPr>
          <p:cNvGrpSpPr/>
          <p:nvPr/>
        </p:nvGrpSpPr>
        <p:grpSpPr>
          <a:xfrm>
            <a:off x="533400" y="2026166"/>
            <a:ext cx="5562600" cy="4926"/>
            <a:chOff x="533400" y="1886078"/>
            <a:chExt cx="5562600" cy="4926"/>
          </a:xfrm>
        </p:grpSpPr>
        <p:cxnSp>
          <p:nvCxnSpPr>
            <p:cNvPr id="29" name="Straight Connector 28">
              <a:extLst>
                <a:ext uri="{FF2B5EF4-FFF2-40B4-BE49-F238E27FC236}">
                  <a16:creationId xmlns:a16="http://schemas.microsoft.com/office/drawing/2014/main" id="{1ADB80B5-DE26-82C1-143A-23D7057114EB}"/>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D0581B-A383-AD62-D450-61EC3034EF9F}"/>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8802731D-CD72-F590-10AD-D06B351C19DC}"/>
              </a:ext>
            </a:extLst>
          </p:cNvPr>
          <p:cNvGrpSpPr/>
          <p:nvPr/>
        </p:nvGrpSpPr>
        <p:grpSpPr>
          <a:xfrm>
            <a:off x="533400" y="2795381"/>
            <a:ext cx="5562600" cy="0"/>
            <a:chOff x="533400" y="2463561"/>
            <a:chExt cx="5562600" cy="0"/>
          </a:xfrm>
        </p:grpSpPr>
        <p:cxnSp>
          <p:nvCxnSpPr>
            <p:cNvPr id="36" name="Straight Connector 35">
              <a:extLst>
                <a:ext uri="{FF2B5EF4-FFF2-40B4-BE49-F238E27FC236}">
                  <a16:creationId xmlns:a16="http://schemas.microsoft.com/office/drawing/2014/main" id="{B0C8D695-EE1D-6A41-E7EF-74986C3EB28D}"/>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597261-68DA-E03B-D92A-148F4E3C6F08}"/>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9" name="Rectangle: Rounded Corners 38">
            <a:extLst>
              <a:ext uri="{FF2B5EF4-FFF2-40B4-BE49-F238E27FC236}">
                <a16:creationId xmlns:a16="http://schemas.microsoft.com/office/drawing/2014/main" id="{9BBE5608-49A5-09C5-AACE-6741E7D8B693}"/>
              </a:ext>
            </a:extLst>
          </p:cNvPr>
          <p:cNvSpPr/>
          <p:nvPr/>
        </p:nvSpPr>
        <p:spPr bwMode="gray">
          <a:xfrm>
            <a:off x="6296422" y="1645920"/>
            <a:ext cx="5358384" cy="1005840"/>
          </a:xfrm>
          <a:prstGeom prst="roundRect">
            <a:avLst>
              <a:gd name="adj" fmla="val 2810"/>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Inventory, Routing, Tier 1 Data Landing</a:t>
            </a:r>
          </a:p>
          <a:p>
            <a:pPr defTabSz="457063" fontAlgn="ctr">
              <a:defRPr/>
            </a:pPr>
            <a:r>
              <a:rPr lang="en-US" sz="1000" b="1">
                <a:solidFill>
                  <a:srgbClr val="00A78E"/>
                </a:solidFill>
              </a:rPr>
              <a:t>Timing:</a:t>
            </a:r>
            <a:endParaRPr lang="en-US" sz="10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Rationalization Catalog (XLS) including Tier 1 sources</a:t>
            </a:r>
          </a:p>
          <a:p>
            <a:pPr marL="91440" indent="-91440">
              <a:buFont typeface="Arial" panose="020B0604020202020204" pitchFamily="34" charset="0"/>
              <a:buChar char="•"/>
            </a:pPr>
            <a:r>
              <a:rPr lang="en-US" sz="1000">
                <a:solidFill>
                  <a:schemeClr val="tx2"/>
                </a:solidFill>
              </a:rPr>
              <a:t>Source Family Taxonomy and Prioritization Framework (DOC/XLS) including Tier 1 prioritization</a:t>
            </a:r>
          </a:p>
        </p:txBody>
      </p:sp>
      <p:sp>
        <p:nvSpPr>
          <p:cNvPr id="47" name="TextBox 46">
            <a:extLst>
              <a:ext uri="{FF2B5EF4-FFF2-40B4-BE49-F238E27FC236}">
                <a16:creationId xmlns:a16="http://schemas.microsoft.com/office/drawing/2014/main" id="{27BCB46B-E1AB-A329-73CC-9FE5626F5A61}"/>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00" b="1" kern="1500">
                <a:solidFill>
                  <a:schemeClr val="bg1"/>
                </a:solidFill>
              </a:rPr>
              <a:t>B.1.1</a:t>
            </a:r>
          </a:p>
        </p:txBody>
      </p:sp>
      <p:sp>
        <p:nvSpPr>
          <p:cNvPr id="50" name="Rectangle 49">
            <a:extLst>
              <a:ext uri="{FF2B5EF4-FFF2-40B4-BE49-F238E27FC236}">
                <a16:creationId xmlns:a16="http://schemas.microsoft.com/office/drawing/2014/main" id="{78438925-60B3-FF3F-45AD-FFE7092A3A7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graphicFrame>
        <p:nvGraphicFramePr>
          <p:cNvPr id="56" name="Table 55">
            <a:extLst>
              <a:ext uri="{FF2B5EF4-FFF2-40B4-BE49-F238E27FC236}">
                <a16:creationId xmlns:a16="http://schemas.microsoft.com/office/drawing/2014/main" id="{4CEFC123-6E5F-E328-9020-9D560002FCBE}"/>
              </a:ext>
            </a:extLst>
          </p:cNvPr>
          <p:cNvGraphicFramePr>
            <a:graphicFrameLocks noGrp="1"/>
          </p:cNvGraphicFramePr>
          <p:nvPr>
            <p:extLst>
              <p:ext uri="{D42A27DB-BD31-4B8C-83A1-F6EECF244321}">
                <p14:modId xmlns:p14="http://schemas.microsoft.com/office/powerpoint/2010/main" val="3664229294"/>
              </p:ext>
            </p:extLst>
          </p:nvPr>
        </p:nvGraphicFramePr>
        <p:xfrm>
          <a:off x="6357663" y="199222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64" name="Rectangle: Rounded Corners 63">
            <a:extLst>
              <a:ext uri="{FF2B5EF4-FFF2-40B4-BE49-F238E27FC236}">
                <a16:creationId xmlns:a16="http://schemas.microsoft.com/office/drawing/2014/main" id="{4C3E1B27-88C3-61AB-0505-2519F22F714A}"/>
              </a:ext>
            </a:extLst>
          </p:cNvPr>
          <p:cNvSpPr/>
          <p:nvPr/>
        </p:nvSpPr>
        <p:spPr bwMode="gray">
          <a:xfrm>
            <a:off x="6296421" y="2743200"/>
            <a:ext cx="5358384" cy="1188720"/>
          </a:xfrm>
          <a:prstGeom prst="roundRect">
            <a:avLst>
              <a:gd name="adj" fmla="val 2594"/>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Inventory, Routing, Tier 2 Data Landing</a:t>
            </a:r>
          </a:p>
          <a:p>
            <a:pPr defTabSz="457063" fontAlgn="ctr">
              <a:defRPr/>
            </a:pPr>
            <a:r>
              <a:rPr lang="en-US" sz="1000" b="1">
                <a:solidFill>
                  <a:srgbClr val="00A78E"/>
                </a:solidFill>
              </a:rPr>
              <a:t>Timing:</a:t>
            </a:r>
            <a:endParaRPr lang="en-US" sz="7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Updated Source Inventory and Rationalization Catalog (XLS) including Tier 2 sources</a:t>
            </a:r>
          </a:p>
          <a:p>
            <a:pPr marL="91440" indent="-91440">
              <a:buFont typeface="Arial" panose="020B0604020202020204" pitchFamily="34" charset="0"/>
              <a:buChar char="•"/>
            </a:pPr>
            <a:r>
              <a:rPr lang="en-US" sz="1000">
                <a:solidFill>
                  <a:schemeClr val="tx2"/>
                </a:solidFill>
              </a:rPr>
              <a:t>Updated Source Family Taxonomy and Prioritization Framework (DOC/XLS) including Tier 2 prioritization</a:t>
            </a:r>
          </a:p>
        </p:txBody>
      </p:sp>
      <p:sp>
        <p:nvSpPr>
          <p:cNvPr id="66" name="TextBox 65">
            <a:extLst>
              <a:ext uri="{FF2B5EF4-FFF2-40B4-BE49-F238E27FC236}">
                <a16:creationId xmlns:a16="http://schemas.microsoft.com/office/drawing/2014/main" id="{AF21AAFF-6F28-3611-4617-1F5FDA6DDB50}"/>
              </a:ext>
            </a:extLst>
          </p:cNvPr>
          <p:cNvSpPr txBox="1"/>
          <p:nvPr/>
        </p:nvSpPr>
        <p:spPr>
          <a:xfrm>
            <a:off x="11155680" y="274320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B.1.2</a:t>
            </a:r>
          </a:p>
        </p:txBody>
      </p:sp>
      <p:graphicFrame>
        <p:nvGraphicFramePr>
          <p:cNvPr id="58" name="Table 57">
            <a:extLst>
              <a:ext uri="{FF2B5EF4-FFF2-40B4-BE49-F238E27FC236}">
                <a16:creationId xmlns:a16="http://schemas.microsoft.com/office/drawing/2014/main" id="{3F35C114-8B2B-96B6-5E01-89ADC0D3AF73}"/>
              </a:ext>
            </a:extLst>
          </p:cNvPr>
          <p:cNvGraphicFramePr>
            <a:graphicFrameLocks noGrp="1"/>
          </p:cNvGraphicFramePr>
          <p:nvPr>
            <p:extLst>
              <p:ext uri="{D42A27DB-BD31-4B8C-83A1-F6EECF244321}">
                <p14:modId xmlns:p14="http://schemas.microsoft.com/office/powerpoint/2010/main" val="838120963"/>
              </p:ext>
            </p:extLst>
          </p:nvPr>
        </p:nvGraphicFramePr>
        <p:xfrm>
          <a:off x="6357663" y="3089504"/>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33756">
                  <a:extLst>
                    <a:ext uri="{9D8B030D-6E8A-4147-A177-3AD203B41FA5}">
                      <a16:colId xmlns:a16="http://schemas.microsoft.com/office/drawing/2014/main" val="4085553167"/>
                    </a:ext>
                  </a:extLst>
                </a:gridCol>
                <a:gridCol w="414230">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68" name="Rectangle: Rounded Corners 67">
            <a:extLst>
              <a:ext uri="{FF2B5EF4-FFF2-40B4-BE49-F238E27FC236}">
                <a16:creationId xmlns:a16="http://schemas.microsoft.com/office/drawing/2014/main" id="{A277C0A8-5FF9-BCB1-3B6E-9456CB02652D}"/>
              </a:ext>
            </a:extLst>
          </p:cNvPr>
          <p:cNvSpPr/>
          <p:nvPr/>
        </p:nvSpPr>
        <p:spPr bwMode="gray">
          <a:xfrm>
            <a:off x="6296420" y="4023360"/>
            <a:ext cx="5358384" cy="1188720"/>
          </a:xfrm>
          <a:prstGeom prst="roundRect">
            <a:avLst>
              <a:gd name="adj" fmla="val 302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Contracts, Templates &amp; Security</a:t>
            </a:r>
          </a:p>
          <a:p>
            <a:pPr defTabSz="457063" fontAlgn="ctr">
              <a:defRPr/>
            </a:pPr>
            <a:r>
              <a:rPr lang="en-US" sz="1000" b="1">
                <a:solidFill>
                  <a:srgbClr val="00A78E"/>
                </a:solidFill>
              </a:rPr>
              <a:t>Timing:</a:t>
            </a:r>
            <a:endParaRPr lang="en-US" sz="700" b="1">
              <a:solidFill>
                <a:schemeClr val="tx2"/>
              </a:solidFill>
            </a:endParaRPr>
          </a:p>
          <a:p>
            <a:pPr defTabSz="457063" fontAlgn="ctr">
              <a:defRPr/>
            </a:pPr>
            <a:endParaRPr lang="en-US" sz="700" b="1">
              <a:solidFill>
                <a:schemeClr val="tx2"/>
              </a:solidFill>
            </a:endParaRPr>
          </a:p>
          <a:p>
            <a:pPr defTabSz="457063" fontAlgn="ctr">
              <a:defRPr/>
            </a:pPr>
            <a:endParaRPr lang="en-US" sz="7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Data Contract Template and Contracting Standards (DOC)</a:t>
            </a:r>
          </a:p>
          <a:p>
            <a:pPr marL="91440" indent="-91440">
              <a:buFont typeface="Arial" panose="020B0604020202020204" pitchFamily="34" charset="0"/>
              <a:buChar char="•"/>
            </a:pPr>
            <a:r>
              <a:rPr lang="en-US" sz="1000">
                <a:solidFill>
                  <a:schemeClr val="tx2"/>
                </a:solidFill>
              </a:rPr>
              <a:t>Data Classification and Security Boundary Matrix (XLS)</a:t>
            </a:r>
          </a:p>
          <a:p>
            <a:pPr marL="91440" indent="-91440">
              <a:buFont typeface="Arial" panose="020B0604020202020204" pitchFamily="34" charset="0"/>
              <a:buChar char="•"/>
            </a:pPr>
            <a:r>
              <a:rPr lang="en-US" sz="1000">
                <a:solidFill>
                  <a:schemeClr val="tx2"/>
                </a:solidFill>
              </a:rPr>
              <a:t>Unity Catalog Metadata Registration Standards (DOC)</a:t>
            </a:r>
          </a:p>
        </p:txBody>
      </p:sp>
      <p:sp>
        <p:nvSpPr>
          <p:cNvPr id="70" name="TextBox 69">
            <a:extLst>
              <a:ext uri="{FF2B5EF4-FFF2-40B4-BE49-F238E27FC236}">
                <a16:creationId xmlns:a16="http://schemas.microsoft.com/office/drawing/2014/main" id="{911B6A4B-0CD6-0964-27CF-893A31BA52BC}"/>
              </a:ext>
            </a:extLst>
          </p:cNvPr>
          <p:cNvSpPr txBox="1"/>
          <p:nvPr/>
        </p:nvSpPr>
        <p:spPr>
          <a:xfrm>
            <a:off x="11155680" y="402336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B.1.3</a:t>
            </a:r>
          </a:p>
        </p:txBody>
      </p:sp>
      <p:graphicFrame>
        <p:nvGraphicFramePr>
          <p:cNvPr id="60" name="Table 59">
            <a:extLst>
              <a:ext uri="{FF2B5EF4-FFF2-40B4-BE49-F238E27FC236}">
                <a16:creationId xmlns:a16="http://schemas.microsoft.com/office/drawing/2014/main" id="{DED467B7-9570-E85C-D591-6B90A929C82F}"/>
              </a:ext>
            </a:extLst>
          </p:cNvPr>
          <p:cNvGraphicFramePr>
            <a:graphicFrameLocks noGrp="1"/>
          </p:cNvGraphicFramePr>
          <p:nvPr>
            <p:extLst>
              <p:ext uri="{D42A27DB-BD31-4B8C-83A1-F6EECF244321}">
                <p14:modId xmlns:p14="http://schemas.microsoft.com/office/powerpoint/2010/main" val="1117434943"/>
              </p:ext>
            </p:extLst>
          </p:nvPr>
        </p:nvGraphicFramePr>
        <p:xfrm>
          <a:off x="6357663" y="4378902"/>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
        <p:nvSpPr>
          <p:cNvPr id="72" name="Rectangle: Rounded Corners 71">
            <a:extLst>
              <a:ext uri="{FF2B5EF4-FFF2-40B4-BE49-F238E27FC236}">
                <a16:creationId xmlns:a16="http://schemas.microsoft.com/office/drawing/2014/main" id="{312775C9-90F9-78F7-01D9-607B62A47C92}"/>
              </a:ext>
            </a:extLst>
          </p:cNvPr>
          <p:cNvSpPr/>
          <p:nvPr/>
        </p:nvSpPr>
        <p:spPr bwMode="gray">
          <a:xfrm>
            <a:off x="6296419" y="5303520"/>
            <a:ext cx="5358384" cy="914400"/>
          </a:xfrm>
          <a:prstGeom prst="roundRect">
            <a:avLst>
              <a:gd name="adj" fmla="val 324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AI-assisted Onboarding &amp; Handoff</a:t>
            </a:r>
          </a:p>
          <a:p>
            <a:pPr defTabSz="457063" fontAlgn="ctr">
              <a:defRPr/>
            </a:pPr>
            <a:r>
              <a:rPr lang="en-US" sz="1000" b="1">
                <a:solidFill>
                  <a:srgbClr val="00A78E"/>
                </a:solidFill>
              </a:rPr>
              <a:t>Timing:</a:t>
            </a:r>
            <a:endParaRPr lang="en-US" sz="700" b="1">
              <a:solidFill>
                <a:srgbClr val="00A78E"/>
              </a:solidFill>
            </a:endParaRPr>
          </a:p>
          <a:p>
            <a:pPr defTabSz="457063" fontAlgn="ctr">
              <a:defRPr/>
            </a:pPr>
            <a:endParaRPr lang="en-US" sz="700" b="1">
              <a:solidFill>
                <a:srgbClr val="00A78E"/>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BAU Data Governance Handoff Materials (PPT/DOC)</a:t>
            </a:r>
          </a:p>
        </p:txBody>
      </p:sp>
      <p:sp>
        <p:nvSpPr>
          <p:cNvPr id="74" name="TextBox 73">
            <a:extLst>
              <a:ext uri="{FF2B5EF4-FFF2-40B4-BE49-F238E27FC236}">
                <a16:creationId xmlns:a16="http://schemas.microsoft.com/office/drawing/2014/main" id="{0C6174F9-4143-7E1F-77F6-43DF380E92F0}"/>
              </a:ext>
            </a:extLst>
          </p:cNvPr>
          <p:cNvSpPr txBox="1"/>
          <p:nvPr/>
        </p:nvSpPr>
        <p:spPr>
          <a:xfrm>
            <a:off x="11155680" y="53035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B.1.4</a:t>
            </a:r>
          </a:p>
        </p:txBody>
      </p:sp>
      <p:graphicFrame>
        <p:nvGraphicFramePr>
          <p:cNvPr id="62" name="Table 61">
            <a:extLst>
              <a:ext uri="{FF2B5EF4-FFF2-40B4-BE49-F238E27FC236}">
                <a16:creationId xmlns:a16="http://schemas.microsoft.com/office/drawing/2014/main" id="{6A78C973-FFEC-C416-C688-8BB2442E1651}"/>
              </a:ext>
            </a:extLst>
          </p:cNvPr>
          <p:cNvGraphicFramePr>
            <a:graphicFrameLocks noGrp="1"/>
          </p:cNvGraphicFramePr>
          <p:nvPr>
            <p:extLst>
              <p:ext uri="{D42A27DB-BD31-4B8C-83A1-F6EECF244321}">
                <p14:modId xmlns:p14="http://schemas.microsoft.com/office/powerpoint/2010/main" val="645281608"/>
              </p:ext>
            </p:extLst>
          </p:nvPr>
        </p:nvGraphicFramePr>
        <p:xfrm>
          <a:off x="6357663" y="5669280"/>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256711946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538469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BE47F22-FACF-19A3-727B-9CB742BFCA6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3191D40-949F-8619-9763-F7B8C11EF3B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03191D40-949F-8619-9763-F7B8C11EF3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B12C469-8862-E6A2-8806-8326D3C1D273}"/>
              </a:ext>
            </a:extLst>
          </p:cNvPr>
          <p:cNvSpPr>
            <a:spLocks noGrp="1"/>
          </p:cNvSpPr>
          <p:nvPr>
            <p:ph type="title"/>
          </p:nvPr>
        </p:nvSpPr>
        <p:spPr/>
        <p:txBody>
          <a:bodyPr vert="horz" rIns="0"/>
          <a:lstStyle/>
          <a:p>
            <a:r>
              <a:rPr lang="en-US"/>
              <a:t>Workstream B1 – Source Rationalization and Data Contracts (2/2)</a:t>
            </a:r>
            <a:br>
              <a:rPr lang="en-US"/>
            </a:br>
            <a:r>
              <a:rPr lang="en-US" sz="1600" b="0"/>
              <a:t>“Deciding What Data We Have, Who Owns It, and How It Should Be Labeled” – Planning</a:t>
            </a:r>
          </a:p>
        </p:txBody>
      </p:sp>
      <p:sp>
        <p:nvSpPr>
          <p:cNvPr id="5" name="Rectangle 4">
            <a:extLst>
              <a:ext uri="{FF2B5EF4-FFF2-40B4-BE49-F238E27FC236}">
                <a16:creationId xmlns:a16="http://schemas.microsoft.com/office/drawing/2014/main" id="{42732CBC-BC79-42C2-9684-9AEF80E4D6E3}"/>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 name="Rectangle: Top Corners Rounded 1">
            <a:extLst>
              <a:ext uri="{FF2B5EF4-FFF2-40B4-BE49-F238E27FC236}">
                <a16:creationId xmlns:a16="http://schemas.microsoft.com/office/drawing/2014/main" id="{148DE6D7-E63F-7C99-4C57-A3A50C03B1C3}"/>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6" name="Content Placeholder 6">
            <a:extLst>
              <a:ext uri="{FF2B5EF4-FFF2-40B4-BE49-F238E27FC236}">
                <a16:creationId xmlns:a16="http://schemas.microsoft.com/office/drawing/2014/main" id="{06FD746B-7CFC-8362-7167-77108AF07DCC}"/>
              </a:ext>
            </a:extLst>
          </p:cNvPr>
          <p:cNvGraphicFramePr>
            <a:graphicFrameLocks/>
          </p:cNvGraphicFramePr>
          <p:nvPr>
            <p:extLst>
              <p:ext uri="{D42A27DB-BD31-4B8C-83A1-F6EECF244321}">
                <p14:modId xmlns:p14="http://schemas.microsoft.com/office/powerpoint/2010/main" val="2927569748"/>
              </p:ext>
            </p:extLst>
          </p:nvPr>
        </p:nvGraphicFramePr>
        <p:xfrm>
          <a:off x="538691" y="1509730"/>
          <a:ext cx="11133137" cy="24841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604820">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the Taxonomy Framework and Tier 1 Identification</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Author and Establish Contracting Standards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Secure and Schedule Data-Owner Alignment (Critical Path Dependency)</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Configure and Validate the AI-Acceleration Tooling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581441">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Platform &amp; Architectural Prerequisites (from Workstream A)</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Architecture Validation &amp; Landing Zone Readiness: Validation of the Azure target-state landing zone networking, private endpoints, and infrastructure remediation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Lovelytics Assessment Delivery: Provisioning of the current-state Unity Catalog taxonomy and Identity and Access Management (IAM) findings (via Amit Gonsalves) to establish catalog structures and resolve platform gaps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Namespace Hierarchy: Definition of the initial Unity Catalog namespace hierarchy to guide how the contracts register metadata</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8144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B2 cannot deploy its ingestion infrastructure without the mapping configurations finalized in B1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C relies directly on B1 to build out the Delta Live Tables (DLT) and the Medallion architecture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is responsible for translating 11,199 legacy Splunk SPL queries and dashboards into Databricks SQL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manages the workspace provisioning and user onboarding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7" name="Content Placeholder 6">
            <a:extLst>
              <a:ext uri="{FF2B5EF4-FFF2-40B4-BE49-F238E27FC236}">
                <a16:creationId xmlns:a16="http://schemas.microsoft.com/office/drawing/2014/main" id="{5DE3C319-20D4-96B5-6878-B14FAA87CC67}"/>
              </a:ext>
            </a:extLst>
          </p:cNvPr>
          <p:cNvGraphicFramePr>
            <a:graphicFrameLocks/>
          </p:cNvGraphicFramePr>
          <p:nvPr>
            <p:extLst>
              <p:ext uri="{D42A27DB-BD31-4B8C-83A1-F6EECF244321}">
                <p14:modId xmlns:p14="http://schemas.microsoft.com/office/powerpoint/2010/main" val="2883368210"/>
              </p:ext>
            </p:extLst>
          </p:nvPr>
        </p:nvGraphicFramePr>
        <p:xfrm>
          <a:off x="540940" y="4039074"/>
          <a:ext cx="11142396" cy="131064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3328592">
                  <a:extLst>
                    <a:ext uri="{9D8B030D-6E8A-4147-A177-3AD203B41FA5}">
                      <a16:colId xmlns:a16="http://schemas.microsoft.com/office/drawing/2014/main" val="1699332636"/>
                    </a:ext>
                  </a:extLst>
                </a:gridCol>
                <a:gridCol w="3378200">
                  <a:extLst>
                    <a:ext uri="{9D8B030D-6E8A-4147-A177-3AD203B41FA5}">
                      <a16:colId xmlns:a16="http://schemas.microsoft.com/office/drawing/2014/main" val="2684621038"/>
                    </a:ext>
                  </a:extLst>
                </a:gridCol>
                <a:gridCol w="3326736">
                  <a:extLst>
                    <a:ext uri="{9D8B030D-6E8A-4147-A177-3AD203B41FA5}">
                      <a16:colId xmlns:a16="http://schemas.microsoft.com/office/drawing/2014/main" val="1078624516"/>
                    </a:ext>
                  </a:extLst>
                </a:gridCol>
              </a:tblGrid>
              <a:tr h="41862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Rationalization Framework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Factory Mobilization</a:t>
                      </a:r>
                      <a:endParaRPr lang="en-US" sz="1000" b="1" kern="1500">
                        <a:solidFill>
                          <a:srgbClr val="0A4B8C"/>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Source Disposition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Contract Authoring at Scale</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Unity Catalog Integration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Governance Enforcement</a:t>
                      </a:r>
                      <a:endParaRPr lang="en-US" sz="1000" b="1" kern="1500">
                        <a:solidFill>
                          <a:srgbClr val="0A4B8C"/>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AI-Assisted Discovery &amp; Grouping Automation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ODCS Contract &amp; Prioritization Standards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Source Family Disposition (Retain/Consolidate/Retire)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AI-Powered Contract Generation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Owner Validation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3.1: Automated Contract Registration in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Unity Catalog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3.2: BAU Handoff &amp; New Source Onboarding</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8" name="Group 7">
            <a:extLst>
              <a:ext uri="{FF2B5EF4-FFF2-40B4-BE49-F238E27FC236}">
                <a16:creationId xmlns:a16="http://schemas.microsoft.com/office/drawing/2014/main" id="{5FFCCC86-4776-76B1-DE0E-75DF3D77A16F}"/>
              </a:ext>
            </a:extLst>
          </p:cNvPr>
          <p:cNvGrpSpPr/>
          <p:nvPr/>
        </p:nvGrpSpPr>
        <p:grpSpPr>
          <a:xfrm>
            <a:off x="533399" y="2276742"/>
            <a:ext cx="11125201" cy="0"/>
            <a:chOff x="531813" y="3716075"/>
            <a:chExt cx="11125201" cy="0"/>
          </a:xfrm>
        </p:grpSpPr>
        <p:cxnSp>
          <p:nvCxnSpPr>
            <p:cNvPr id="9" name="Straight Connector 8">
              <a:extLst>
                <a:ext uri="{FF2B5EF4-FFF2-40B4-BE49-F238E27FC236}">
                  <a16:creationId xmlns:a16="http://schemas.microsoft.com/office/drawing/2014/main" id="{E822AB08-E46C-B955-AE83-DFDB503D6FF6}"/>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42BF703-16A5-7AD3-885B-616142767279}"/>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C2082830-774D-9D2A-2964-537B8A45605C}"/>
              </a:ext>
            </a:extLst>
          </p:cNvPr>
          <p:cNvGrpSpPr/>
          <p:nvPr/>
        </p:nvGrpSpPr>
        <p:grpSpPr>
          <a:xfrm>
            <a:off x="538691" y="4462597"/>
            <a:ext cx="11125201" cy="999"/>
            <a:chOff x="531813" y="5259957"/>
            <a:chExt cx="11125201" cy="999"/>
          </a:xfrm>
        </p:grpSpPr>
        <p:cxnSp>
          <p:nvCxnSpPr>
            <p:cNvPr id="29" name="Straight Connector 28">
              <a:extLst>
                <a:ext uri="{FF2B5EF4-FFF2-40B4-BE49-F238E27FC236}">
                  <a16:creationId xmlns:a16="http://schemas.microsoft.com/office/drawing/2014/main" id="{CF682A13-75A4-1450-B650-6EA7FC86CF2F}"/>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B99E002-99B1-B88D-8602-6DB2D4E97C48}"/>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1F3596B-400F-A618-0E08-49050C732EF6}"/>
              </a:ext>
            </a:extLst>
          </p:cNvPr>
          <p:cNvGrpSpPr/>
          <p:nvPr/>
        </p:nvGrpSpPr>
        <p:grpSpPr>
          <a:xfrm>
            <a:off x="542658" y="4035761"/>
            <a:ext cx="11125201" cy="1"/>
            <a:chOff x="531813" y="4848012"/>
            <a:chExt cx="11125201" cy="1"/>
          </a:xfrm>
        </p:grpSpPr>
        <p:cxnSp>
          <p:nvCxnSpPr>
            <p:cNvPr id="32" name="Straight Connector 31">
              <a:extLst>
                <a:ext uri="{FF2B5EF4-FFF2-40B4-BE49-F238E27FC236}">
                  <a16:creationId xmlns:a16="http://schemas.microsoft.com/office/drawing/2014/main" id="{84707021-C18B-3FAA-4B11-52C2F012DD2B}"/>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96E6D3-FCE8-E486-3676-E63ED37C253E}"/>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13027763-4920-A491-A207-B17BAAFE8754}"/>
              </a:ext>
            </a:extLst>
          </p:cNvPr>
          <p:cNvGrpSpPr/>
          <p:nvPr/>
        </p:nvGrpSpPr>
        <p:grpSpPr>
          <a:xfrm>
            <a:off x="520172" y="3243907"/>
            <a:ext cx="11127580" cy="1695"/>
            <a:chOff x="529432" y="4264661"/>
            <a:chExt cx="11127580" cy="1695"/>
          </a:xfrm>
        </p:grpSpPr>
        <p:cxnSp>
          <p:nvCxnSpPr>
            <p:cNvPr id="35" name="Straight Connector 34">
              <a:extLst>
                <a:ext uri="{FF2B5EF4-FFF2-40B4-BE49-F238E27FC236}">
                  <a16:creationId xmlns:a16="http://schemas.microsoft.com/office/drawing/2014/main" id="{65A41470-777C-9776-5F7C-B32E9FA2C089}"/>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424E9A0-8B46-AEBB-A46F-A896A501C971}"/>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19575257-11C8-608D-3759-16516D178065}"/>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447657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41BC9E-EB33-14DA-E7A3-33A98BE27057}"/>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6C0E5A1-E345-D25F-4942-6545966782D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26C0E5A1-E345-D25F-4942-6545966782D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993C52-4E02-0059-D3CE-6EF8BACA9635}"/>
              </a:ext>
            </a:extLst>
          </p:cNvPr>
          <p:cNvSpPr>
            <a:spLocks noGrp="1"/>
          </p:cNvSpPr>
          <p:nvPr>
            <p:ph type="title"/>
          </p:nvPr>
        </p:nvSpPr>
        <p:spPr/>
        <p:txBody>
          <a:bodyPr vert="horz" rIns="0"/>
          <a:lstStyle/>
          <a:p>
            <a:r>
              <a:rPr lang="en-US"/>
              <a:t>Workstream B2 – Databricks Bronze Data Landing (1/2)</a:t>
            </a:r>
            <a:br>
              <a:rPr lang="en-US"/>
            </a:br>
            <a:r>
              <a:rPr lang="en-US" sz="1600" b="0"/>
              <a:t>“Building the Digital Highway to Safely Deliver and Park the Data” – From the SOW and other planning documents</a:t>
            </a:r>
          </a:p>
        </p:txBody>
      </p:sp>
      <p:sp>
        <p:nvSpPr>
          <p:cNvPr id="26" name="Rectangle 25">
            <a:extLst>
              <a:ext uri="{FF2B5EF4-FFF2-40B4-BE49-F238E27FC236}">
                <a16:creationId xmlns:a16="http://schemas.microsoft.com/office/drawing/2014/main" id="{BBEBA7EA-82FD-49E8-2529-0EBC46D7FEEA}"/>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8" name="Rectangle: Top Corners Rounded 7">
            <a:extLst>
              <a:ext uri="{FF2B5EF4-FFF2-40B4-BE49-F238E27FC236}">
                <a16:creationId xmlns:a16="http://schemas.microsoft.com/office/drawing/2014/main" id="{53126306-7D8E-2BF6-096B-B05C5D4B3AF7}"/>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0" name="TextBox 9">
            <a:extLst>
              <a:ext uri="{FF2B5EF4-FFF2-40B4-BE49-F238E27FC236}">
                <a16:creationId xmlns:a16="http://schemas.microsoft.com/office/drawing/2014/main" id="{3F9E1DE9-C165-19AF-7FCE-AB706773A495}"/>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15" name="TextBox 14">
            <a:extLst>
              <a:ext uri="{FF2B5EF4-FFF2-40B4-BE49-F238E27FC236}">
                <a16:creationId xmlns:a16="http://schemas.microsoft.com/office/drawing/2014/main" id="{EB1258BD-B95D-7FFE-8FBB-4A17DB8A9102}"/>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7" name="TextBox 16">
            <a:extLst>
              <a:ext uri="{FF2B5EF4-FFF2-40B4-BE49-F238E27FC236}">
                <a16:creationId xmlns:a16="http://schemas.microsoft.com/office/drawing/2014/main" id="{328DAC35-280C-A736-BE54-FFBC6CD9654A}"/>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Validate and operationalize data pathways from Cribl/Blob/ADLS into Bronze Delta tables using approved architecture patterns.</a:t>
            </a:r>
          </a:p>
        </p:txBody>
      </p:sp>
      <p:sp>
        <p:nvSpPr>
          <p:cNvPr id="20" name="TextBox 19">
            <a:extLst>
              <a:ext uri="{FF2B5EF4-FFF2-40B4-BE49-F238E27FC236}">
                <a16:creationId xmlns:a16="http://schemas.microsoft.com/office/drawing/2014/main" id="{CCAAB920-1D43-8028-933E-D4013C089EDF}"/>
              </a:ext>
            </a:extLst>
          </p:cNvPr>
          <p:cNvSpPr txBox="1"/>
          <p:nvPr/>
        </p:nvSpPr>
        <p:spPr>
          <a:xfrm>
            <a:off x="543482" y="1948418"/>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1" name="TextBox 20">
            <a:extLst>
              <a:ext uri="{FF2B5EF4-FFF2-40B4-BE49-F238E27FC236}">
                <a16:creationId xmlns:a16="http://schemas.microsoft.com/office/drawing/2014/main" id="{07BD0FE8-2329-87CC-7900-FC0A0173A802}"/>
              </a:ext>
            </a:extLst>
          </p:cNvPr>
          <p:cNvSpPr txBox="1"/>
          <p:nvPr/>
        </p:nvSpPr>
        <p:spPr>
          <a:xfrm>
            <a:off x="1366590" y="1948418"/>
            <a:ext cx="4575208" cy="615553"/>
          </a:xfrm>
          <a:prstGeom prst="rect">
            <a:avLst/>
          </a:prstGeom>
          <a:noFill/>
        </p:spPr>
        <p:txBody>
          <a:bodyPr wrap="square" lIns="0" tIns="0" rIns="0" bIns="0">
            <a:spAutoFit/>
          </a:bodyPr>
          <a:lstStyle/>
          <a:p>
            <a:pPr algn="l"/>
            <a:r>
              <a:rPr lang="en-US" sz="1000">
                <a:solidFill>
                  <a:schemeClr val="tx2"/>
                </a:solidFill>
              </a:rPr>
              <a:t>Rationalize 2,000+ Splunk source types, rationalizing to approximately 121 logical source families as further described in Section 7.2, and define standardized data contracts, schemas, and a unified metadata model in </a:t>
            </a:r>
            <a:br>
              <a:rPr lang="en-US" sz="1000">
                <a:solidFill>
                  <a:schemeClr val="tx2"/>
                </a:solidFill>
              </a:rPr>
            </a:br>
            <a:r>
              <a:rPr lang="en-US" sz="1000">
                <a:solidFill>
                  <a:schemeClr val="tx2"/>
                </a:solidFill>
              </a:rPr>
              <a:t>Unity Catalog.</a:t>
            </a:r>
          </a:p>
        </p:txBody>
      </p:sp>
      <p:sp>
        <p:nvSpPr>
          <p:cNvPr id="22" name="TextBox 21">
            <a:extLst>
              <a:ext uri="{FF2B5EF4-FFF2-40B4-BE49-F238E27FC236}">
                <a16:creationId xmlns:a16="http://schemas.microsoft.com/office/drawing/2014/main" id="{BBEE6DEA-9637-F4EC-2C5D-50C06E90B56F}"/>
              </a:ext>
            </a:extLst>
          </p:cNvPr>
          <p:cNvSpPr txBox="1"/>
          <p:nvPr/>
        </p:nvSpPr>
        <p:spPr>
          <a:xfrm>
            <a:off x="543483" y="2714704"/>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5" name="TextBox 24">
            <a:extLst>
              <a:ext uri="{FF2B5EF4-FFF2-40B4-BE49-F238E27FC236}">
                <a16:creationId xmlns:a16="http://schemas.microsoft.com/office/drawing/2014/main" id="{05207D2C-23E6-5E58-A094-2A4D3DD1FDD7}"/>
              </a:ext>
            </a:extLst>
          </p:cNvPr>
          <p:cNvSpPr txBox="1"/>
          <p:nvPr/>
        </p:nvSpPr>
        <p:spPr>
          <a:xfrm>
            <a:off x="1366590" y="2714704"/>
            <a:ext cx="4748460" cy="1461939"/>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Resolve Bronze Architecture: </a:t>
            </a:r>
            <a:r>
              <a:rPr lang="en-US" sz="1000" kern="1500">
                <a:solidFill>
                  <a:schemeClr val="tx2"/>
                </a:solidFill>
              </a:rPr>
              <a:t>Define and support loading of Bronze layer </a:t>
            </a:r>
            <a:br>
              <a:rPr lang="en-US" sz="1000" kern="1500">
                <a:solidFill>
                  <a:schemeClr val="tx2"/>
                </a:solidFill>
              </a:rPr>
            </a:br>
            <a:r>
              <a:rPr lang="en-US" sz="1000" kern="1500">
                <a:solidFill>
                  <a:schemeClr val="tx2"/>
                </a:solidFill>
              </a:rPr>
              <a:t>for Databricks consumption (ADLS Gen2 landing zone and ingestion into </a:t>
            </a:r>
            <a:br>
              <a:rPr lang="en-US" sz="1000" kern="1500">
                <a:solidFill>
                  <a:schemeClr val="tx2"/>
                </a:solidFill>
              </a:rPr>
            </a:br>
            <a:r>
              <a:rPr lang="en-US" sz="1000" kern="1500">
                <a:solidFill>
                  <a:schemeClr val="tx2"/>
                </a:solidFill>
              </a:rPr>
              <a:t>Delta Lake tables via Autoloader); map all ingestion workflows end-to-end; define fork routing per source (legacy analytics platform/ SIEM / Databricks / multiple)</a:t>
            </a:r>
          </a:p>
          <a:p>
            <a:pPr marL="137160" lvl="1" indent="-137160">
              <a:spcAft>
                <a:spcPts val="300"/>
              </a:spcAft>
              <a:buFont typeface="Arial" panose="020B0604020202020204" pitchFamily="34" charset="0"/>
              <a:buChar char="•"/>
            </a:pPr>
            <a:r>
              <a:rPr lang="en-US" sz="1000" b="1" kern="1500">
                <a:solidFill>
                  <a:schemeClr val="tx2"/>
                </a:solidFill>
              </a:rPr>
              <a:t>Validate &amp; Build Pathways: </a:t>
            </a:r>
            <a:r>
              <a:rPr lang="en-US" sz="1000" kern="1500">
                <a:solidFill>
                  <a:schemeClr val="tx2"/>
                </a:solidFill>
              </a:rPr>
              <a:t>Configure Autoloader + Event Grid per workflow; validate Tanium path (Akamai → Blob → Cribl →ADLS promotion); assess </a:t>
            </a:r>
            <a:r>
              <a:rPr lang="en-US" sz="1000" kern="1500" err="1">
                <a:solidFill>
                  <a:schemeClr val="tx2"/>
                </a:solidFill>
              </a:rPr>
              <a:t>NiFi</a:t>
            </a:r>
            <a:r>
              <a:rPr lang="en-US" sz="1000" kern="1500">
                <a:solidFill>
                  <a:schemeClr val="tx2"/>
                </a:solidFill>
              </a:rPr>
              <a:t> disposition (retain / consolidate into Cribl / deprecate); test throughput against 5-minute SLA</a:t>
            </a:r>
          </a:p>
          <a:p>
            <a:pPr marL="137160" lvl="1" indent="-137160">
              <a:spcAft>
                <a:spcPts val="300"/>
              </a:spcAft>
              <a:buFont typeface="Arial" panose="020B0604020202020204" pitchFamily="34" charset="0"/>
              <a:buChar char="•"/>
            </a:pPr>
            <a:r>
              <a:rPr lang="en-US" sz="1000" b="1" kern="1500">
                <a:solidFill>
                  <a:schemeClr val="tx2"/>
                </a:solidFill>
              </a:rPr>
              <a:t>Pre-freeze Data Landing: </a:t>
            </a:r>
            <a:r>
              <a:rPr lang="en-US" sz="1000" kern="1500">
                <a:solidFill>
                  <a:schemeClr val="tx2"/>
                </a:solidFill>
              </a:rPr>
              <a:t>Confirm Cribl worker readiness; activate Tier 1 sources across all paths; confirm critical-path data flowing before Dec freeze (workstream B defines)</a:t>
            </a:r>
          </a:p>
        </p:txBody>
      </p:sp>
      <p:grpSp>
        <p:nvGrpSpPr>
          <p:cNvPr id="27" name="Group 26">
            <a:extLst>
              <a:ext uri="{FF2B5EF4-FFF2-40B4-BE49-F238E27FC236}">
                <a16:creationId xmlns:a16="http://schemas.microsoft.com/office/drawing/2014/main" id="{D06A0FC9-7CDF-3E19-6C45-54DDF96740B3}"/>
              </a:ext>
            </a:extLst>
          </p:cNvPr>
          <p:cNvGrpSpPr/>
          <p:nvPr/>
        </p:nvGrpSpPr>
        <p:grpSpPr>
          <a:xfrm>
            <a:off x="533400" y="1871989"/>
            <a:ext cx="5562600" cy="4926"/>
            <a:chOff x="533400" y="1886078"/>
            <a:chExt cx="5562600" cy="4926"/>
          </a:xfrm>
        </p:grpSpPr>
        <p:cxnSp>
          <p:nvCxnSpPr>
            <p:cNvPr id="28" name="Straight Connector 27">
              <a:extLst>
                <a:ext uri="{FF2B5EF4-FFF2-40B4-BE49-F238E27FC236}">
                  <a16:creationId xmlns:a16="http://schemas.microsoft.com/office/drawing/2014/main" id="{A8D991E3-B0B6-4E41-FDB3-107224F4712D}"/>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2E8806D-FF61-4514-A023-9E4992178BD2}"/>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262C1DCD-0039-C0F9-10CD-953F74699F2E}"/>
              </a:ext>
            </a:extLst>
          </p:cNvPr>
          <p:cNvGrpSpPr/>
          <p:nvPr/>
        </p:nvGrpSpPr>
        <p:grpSpPr>
          <a:xfrm>
            <a:off x="533400" y="2640626"/>
            <a:ext cx="5562600" cy="0"/>
            <a:chOff x="533400" y="2463561"/>
            <a:chExt cx="5562600" cy="0"/>
          </a:xfrm>
        </p:grpSpPr>
        <p:cxnSp>
          <p:nvCxnSpPr>
            <p:cNvPr id="35" name="Straight Connector 34">
              <a:extLst>
                <a:ext uri="{FF2B5EF4-FFF2-40B4-BE49-F238E27FC236}">
                  <a16:creationId xmlns:a16="http://schemas.microsoft.com/office/drawing/2014/main" id="{96C90EEB-7D77-C7A2-58D6-48BC2C4FC0E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17ABBCC-5634-0C68-FDA7-A7E7E52AD79B}"/>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Rounded Corners 37">
            <a:extLst>
              <a:ext uri="{FF2B5EF4-FFF2-40B4-BE49-F238E27FC236}">
                <a16:creationId xmlns:a16="http://schemas.microsoft.com/office/drawing/2014/main" id="{7C24EBD0-5950-72BB-3651-FCCFCBD09AAE}"/>
              </a:ext>
            </a:extLst>
          </p:cNvPr>
          <p:cNvSpPr/>
          <p:nvPr/>
        </p:nvSpPr>
        <p:spPr bwMode="gray">
          <a:xfrm>
            <a:off x="6296424" y="3108960"/>
            <a:ext cx="5360590" cy="109728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fontAlgn="ctr"/>
            <a:r>
              <a:rPr lang="en-US" sz="1000" b="1">
                <a:solidFill>
                  <a:srgbClr val="00A78E"/>
                </a:solidFill>
              </a:rPr>
              <a:t>Description: </a:t>
            </a:r>
            <a:r>
              <a:rPr lang="en-US" sz="1000" kern="1500">
                <a:solidFill>
                  <a:schemeClr val="tx2"/>
                </a:solidFill>
              </a:rPr>
              <a:t>Tier 1 Rollout &amp; SLA</a:t>
            </a:r>
          </a:p>
          <a:p>
            <a:pPr fontAlgn="ctr"/>
            <a:r>
              <a:rPr lang="en-US" sz="1000" b="1">
                <a:solidFill>
                  <a:srgbClr val="00A78E"/>
                </a:solidFill>
              </a:rPr>
              <a:t>Timing:</a:t>
            </a:r>
            <a:endParaRPr lang="en-US" sz="1000" b="1">
              <a:solidFill>
                <a:schemeClr val="tx2"/>
              </a:solidFill>
            </a:endParaRPr>
          </a:p>
          <a:p>
            <a:pPr fontAlgn="ctr"/>
            <a:endParaRPr lang="en-US" sz="1000" b="1">
              <a:solidFill>
                <a:schemeClr val="tx2"/>
              </a:solidFill>
            </a:endParaRPr>
          </a:p>
          <a:p>
            <a:pPr fontAlgn="ct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Autoloader and Event Grid Configuration Evidence (DOC) for Tier 1 sources</a:t>
            </a:r>
          </a:p>
          <a:p>
            <a:pPr marL="91440" indent="-91440">
              <a:buFont typeface="Arial" panose="020B0604020202020204" pitchFamily="34" charset="0"/>
              <a:buChar char="•"/>
            </a:pPr>
            <a:r>
              <a:rPr lang="en-US" sz="1000">
                <a:solidFill>
                  <a:schemeClr val="tx2"/>
                </a:solidFill>
              </a:rPr>
              <a:t>Throughput and SLA Validation Report (PPT/XLS) for Tier 1 sources</a:t>
            </a:r>
          </a:p>
        </p:txBody>
      </p:sp>
      <p:sp>
        <p:nvSpPr>
          <p:cNvPr id="39" name="Rectangle: Rounded Corners 38">
            <a:extLst>
              <a:ext uri="{FF2B5EF4-FFF2-40B4-BE49-F238E27FC236}">
                <a16:creationId xmlns:a16="http://schemas.microsoft.com/office/drawing/2014/main" id="{0BBD6DD8-C88D-641D-BA04-68064D64F71F}"/>
              </a:ext>
            </a:extLst>
          </p:cNvPr>
          <p:cNvSpPr/>
          <p:nvPr/>
        </p:nvSpPr>
        <p:spPr bwMode="gray">
          <a:xfrm>
            <a:off x="6296424" y="4297680"/>
            <a:ext cx="5360590" cy="128016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a:solidFill>
                  <a:schemeClr val="tx2"/>
                </a:solidFill>
              </a:rPr>
              <a:t>Tier 2 &amp; Hand-off </a:t>
            </a:r>
          </a:p>
          <a:p>
            <a:pPr defTabSz="457063" fontAlgn="ctr">
              <a:defRPr/>
            </a:pPr>
            <a:r>
              <a:rPr lang="en-US" sz="1000" b="1">
                <a:solidFill>
                  <a:srgbClr val="00A78E"/>
                </a:solidFill>
              </a:rPr>
              <a:t>Timing:</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Updated Autoloader and Event Grid Configuration Evidence (DOC) for Tier 2 sources</a:t>
            </a:r>
          </a:p>
          <a:p>
            <a:pPr marL="91440" indent="-91440">
              <a:buFont typeface="Arial" panose="020B0604020202020204" pitchFamily="34" charset="0"/>
              <a:buChar char="•"/>
            </a:pPr>
            <a:r>
              <a:rPr lang="en-US" sz="1000">
                <a:solidFill>
                  <a:schemeClr val="tx2"/>
                </a:solidFill>
              </a:rPr>
              <a:t>Updated Throughput and SLA Validation Report (PPT/XLS) for Tier 2 sources</a:t>
            </a:r>
          </a:p>
          <a:p>
            <a:pPr marL="91440" indent="-91440">
              <a:buFont typeface="Arial" panose="020B0604020202020204" pitchFamily="34" charset="0"/>
              <a:buChar char="•"/>
            </a:pPr>
            <a:r>
              <a:rPr lang="en-US" sz="1000">
                <a:solidFill>
                  <a:schemeClr val="tx2"/>
                </a:solidFill>
              </a:rPr>
              <a:t>Pre-Freeze Readiness Checkpoint and Handoff Materials (PPT/DOC)</a:t>
            </a:r>
          </a:p>
        </p:txBody>
      </p:sp>
      <p:sp>
        <p:nvSpPr>
          <p:cNvPr id="40" name="Rectangle: Rounded Corners 39">
            <a:extLst>
              <a:ext uri="{FF2B5EF4-FFF2-40B4-BE49-F238E27FC236}">
                <a16:creationId xmlns:a16="http://schemas.microsoft.com/office/drawing/2014/main" id="{5AA942BF-15D9-E3D7-58E7-6B1AD2A6EEEB}"/>
              </a:ext>
            </a:extLst>
          </p:cNvPr>
          <p:cNvSpPr/>
          <p:nvPr/>
        </p:nvSpPr>
        <p:spPr bwMode="gray">
          <a:xfrm>
            <a:off x="6296424" y="1645920"/>
            <a:ext cx="5360590" cy="1371600"/>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defTabSz="457063" fontAlgn="ctr">
              <a:defRPr/>
            </a:pPr>
            <a:r>
              <a:rPr lang="en-US" sz="1000" b="1">
                <a:solidFill>
                  <a:srgbClr val="00A78E"/>
                </a:solidFill>
              </a:rPr>
              <a:t>Description: </a:t>
            </a:r>
            <a:r>
              <a:rPr lang="en-US" sz="1000" kern="1500">
                <a:solidFill>
                  <a:schemeClr val="tx2"/>
                </a:solidFill>
              </a:rPr>
              <a:t>Bronze design &amp; validation</a:t>
            </a:r>
          </a:p>
          <a:p>
            <a:pPr defTabSz="457063" fontAlgn="ctr">
              <a:defRPr/>
            </a:pPr>
            <a:r>
              <a:rPr lang="en-US" sz="1000" b="1">
                <a:solidFill>
                  <a:srgbClr val="00A78E"/>
                </a:solidFill>
              </a:rPr>
              <a:t>Timing:</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Bronze Architecture and Data Landing Design (DOC/PPT)</a:t>
            </a:r>
          </a:p>
          <a:p>
            <a:pPr marL="91440" indent="-91440">
              <a:buFont typeface="Arial" panose="020B0604020202020204" pitchFamily="34" charset="0"/>
              <a:buChar char="•"/>
            </a:pPr>
            <a:r>
              <a:rPr lang="en-US" sz="1000">
                <a:solidFill>
                  <a:schemeClr val="tx2"/>
                </a:solidFill>
              </a:rPr>
              <a:t>Ingestion Routing Matrix and Source-to-Bronze Mapping (XLS)</a:t>
            </a:r>
          </a:p>
          <a:p>
            <a:pPr marL="91440" indent="-91440">
              <a:buFont typeface="Arial" panose="020B0604020202020204" pitchFamily="34" charset="0"/>
              <a:buChar char="•"/>
            </a:pPr>
            <a:r>
              <a:rPr lang="en-US" sz="1000">
                <a:solidFill>
                  <a:schemeClr val="tx2"/>
                </a:solidFill>
              </a:rPr>
              <a:t>Pipeline Configuration Documentation (DOC/XLS)</a:t>
            </a:r>
          </a:p>
          <a:p>
            <a:pPr marL="91440" indent="-91440">
              <a:buFont typeface="Arial" panose="020B0604020202020204" pitchFamily="34" charset="0"/>
              <a:buChar char="•"/>
            </a:pPr>
            <a:r>
              <a:rPr lang="en-US" sz="1000">
                <a:solidFill>
                  <a:schemeClr val="tx2"/>
                </a:solidFill>
              </a:rPr>
              <a:t>Bronze Table/Partition Design Documentation (DOC/XLS)</a:t>
            </a:r>
          </a:p>
        </p:txBody>
      </p:sp>
      <p:sp>
        <p:nvSpPr>
          <p:cNvPr id="42" name="TextBox 41">
            <a:extLst>
              <a:ext uri="{FF2B5EF4-FFF2-40B4-BE49-F238E27FC236}">
                <a16:creationId xmlns:a16="http://schemas.microsoft.com/office/drawing/2014/main" id="{CC845C4F-AB36-B2B5-2E02-94B9A7F2695D}"/>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B.2.1</a:t>
            </a:r>
          </a:p>
        </p:txBody>
      </p:sp>
      <p:sp>
        <p:nvSpPr>
          <p:cNvPr id="43" name="TextBox 42">
            <a:extLst>
              <a:ext uri="{FF2B5EF4-FFF2-40B4-BE49-F238E27FC236}">
                <a16:creationId xmlns:a16="http://schemas.microsoft.com/office/drawing/2014/main" id="{9CC5C3E5-7893-3DCA-717D-60A9047667B5}"/>
              </a:ext>
            </a:extLst>
          </p:cNvPr>
          <p:cNvSpPr txBox="1"/>
          <p:nvPr/>
        </p:nvSpPr>
        <p:spPr>
          <a:xfrm>
            <a:off x="11155680" y="310896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B.2.2</a:t>
            </a:r>
          </a:p>
        </p:txBody>
      </p:sp>
      <p:sp>
        <p:nvSpPr>
          <p:cNvPr id="44" name="TextBox 43">
            <a:extLst>
              <a:ext uri="{FF2B5EF4-FFF2-40B4-BE49-F238E27FC236}">
                <a16:creationId xmlns:a16="http://schemas.microsoft.com/office/drawing/2014/main" id="{4A0C0139-2C4D-50F4-3BCB-2FAEC0CF62B1}"/>
              </a:ext>
            </a:extLst>
          </p:cNvPr>
          <p:cNvSpPr txBox="1"/>
          <p:nvPr/>
        </p:nvSpPr>
        <p:spPr>
          <a:xfrm>
            <a:off x="11155680" y="429768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B.2.3</a:t>
            </a:r>
          </a:p>
        </p:txBody>
      </p:sp>
      <p:graphicFrame>
        <p:nvGraphicFramePr>
          <p:cNvPr id="9" name="Table 8">
            <a:extLst>
              <a:ext uri="{FF2B5EF4-FFF2-40B4-BE49-F238E27FC236}">
                <a16:creationId xmlns:a16="http://schemas.microsoft.com/office/drawing/2014/main" id="{C27F7194-52BE-0562-873E-EC2798084267}"/>
              </a:ext>
            </a:extLst>
          </p:cNvPr>
          <p:cNvGraphicFramePr>
            <a:graphicFrameLocks noGrp="1"/>
          </p:cNvGraphicFramePr>
          <p:nvPr>
            <p:extLst>
              <p:ext uri="{D42A27DB-BD31-4B8C-83A1-F6EECF244321}">
                <p14:modId xmlns:p14="http://schemas.microsoft.com/office/powerpoint/2010/main" val="1289652700"/>
              </p:ext>
            </p:extLst>
          </p:nvPr>
        </p:nvGraphicFramePr>
        <p:xfrm>
          <a:off x="6358766" y="2005330"/>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121426375"/>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2" name="Table 11">
            <a:extLst>
              <a:ext uri="{FF2B5EF4-FFF2-40B4-BE49-F238E27FC236}">
                <a16:creationId xmlns:a16="http://schemas.microsoft.com/office/drawing/2014/main" id="{EF18A7BB-327F-780A-74CF-55FFDA83A26C}"/>
              </a:ext>
            </a:extLst>
          </p:cNvPr>
          <p:cNvGraphicFramePr>
            <a:graphicFrameLocks noGrp="1"/>
          </p:cNvGraphicFramePr>
          <p:nvPr>
            <p:extLst>
              <p:ext uri="{D42A27DB-BD31-4B8C-83A1-F6EECF244321}">
                <p14:modId xmlns:p14="http://schemas.microsoft.com/office/powerpoint/2010/main" val="1867079444"/>
              </p:ext>
            </p:extLst>
          </p:nvPr>
        </p:nvGraphicFramePr>
        <p:xfrm>
          <a:off x="6358766" y="3495675"/>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3181086041"/>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14" name="Table 13">
            <a:extLst>
              <a:ext uri="{FF2B5EF4-FFF2-40B4-BE49-F238E27FC236}">
                <a16:creationId xmlns:a16="http://schemas.microsoft.com/office/drawing/2014/main" id="{EC0262D1-110C-B519-E0DC-BE42D1E39E09}"/>
              </a:ext>
            </a:extLst>
          </p:cNvPr>
          <p:cNvGraphicFramePr>
            <a:graphicFrameLocks noGrp="1"/>
          </p:cNvGraphicFramePr>
          <p:nvPr>
            <p:extLst>
              <p:ext uri="{D42A27DB-BD31-4B8C-83A1-F6EECF244321}">
                <p14:modId xmlns:p14="http://schemas.microsoft.com/office/powerpoint/2010/main" val="34734823"/>
              </p:ext>
            </p:extLst>
          </p:nvPr>
        </p:nvGraphicFramePr>
        <p:xfrm>
          <a:off x="6358766" y="4701892"/>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448028640"/>
                    </a:ext>
                  </a:extLst>
                </a:gridCol>
              </a:tblGrid>
              <a:tr h="182880">
                <a:tc>
                  <a:txBody>
                    <a:bodyPr/>
                    <a:lstStyle/>
                    <a:p>
                      <a:pPr algn="ctr"/>
                      <a:r>
                        <a:rPr lang="en-US" sz="900"/>
                        <a:t>Sep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Nov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Dec 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Jan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Feb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Apr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May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Jun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900"/>
                        <a:t>Jul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Aug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Sep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900"/>
                        <a:t>Oct 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1985389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7DE8D0-1B59-1C9F-7B71-D18AF7D4528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EE92EAC-46B0-C396-B863-3957CCF1788E}"/>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6EE92EAC-46B0-C396-B863-3957CCF178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A0B79BD-6BC2-2434-98A4-A8BD38D7C120}"/>
              </a:ext>
            </a:extLst>
          </p:cNvPr>
          <p:cNvSpPr>
            <a:spLocks noGrp="1"/>
          </p:cNvSpPr>
          <p:nvPr>
            <p:ph type="title"/>
          </p:nvPr>
        </p:nvSpPr>
        <p:spPr/>
        <p:txBody>
          <a:bodyPr vert="horz" rIns="0"/>
          <a:lstStyle/>
          <a:p>
            <a:r>
              <a:rPr lang="en-US"/>
              <a:t>Workstream B2 – Databricks Bronze Data Landing (2/2)</a:t>
            </a:r>
            <a:br>
              <a:rPr lang="en-US"/>
            </a:br>
            <a:r>
              <a:rPr lang="en-US" sz="1600" b="0"/>
              <a:t>“Building the Digital Highway to Safely Deliver and Park the Data” – Planning </a:t>
            </a:r>
          </a:p>
        </p:txBody>
      </p:sp>
      <p:sp>
        <p:nvSpPr>
          <p:cNvPr id="10" name="Rectangle 9">
            <a:extLst>
              <a:ext uri="{FF2B5EF4-FFF2-40B4-BE49-F238E27FC236}">
                <a16:creationId xmlns:a16="http://schemas.microsoft.com/office/drawing/2014/main" id="{A543B4D4-4A25-408F-FD99-7252E806CE69}"/>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 name="Rectangle: Top Corners Rounded 1">
            <a:extLst>
              <a:ext uri="{FF2B5EF4-FFF2-40B4-BE49-F238E27FC236}">
                <a16:creationId xmlns:a16="http://schemas.microsoft.com/office/drawing/2014/main" id="{53228595-B192-6D24-A6C5-6AA42160AF73}"/>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5" name="Content Placeholder 6">
            <a:extLst>
              <a:ext uri="{FF2B5EF4-FFF2-40B4-BE49-F238E27FC236}">
                <a16:creationId xmlns:a16="http://schemas.microsoft.com/office/drawing/2014/main" id="{648658E4-E654-EDD1-1521-08AF26460010}"/>
              </a:ext>
            </a:extLst>
          </p:cNvPr>
          <p:cNvGraphicFramePr>
            <a:graphicFrameLocks/>
          </p:cNvGraphicFramePr>
          <p:nvPr>
            <p:extLst>
              <p:ext uri="{D42A27DB-BD31-4B8C-83A1-F6EECF244321}">
                <p14:modId xmlns:p14="http://schemas.microsoft.com/office/powerpoint/2010/main" val="3631337916"/>
              </p:ext>
            </p:extLst>
          </p:nvPr>
        </p:nvGraphicFramePr>
        <p:xfrm>
          <a:off x="538691" y="1509730"/>
          <a:ext cx="11133137" cy="1939051"/>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812116">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Pre-Freeze Technical Readiness &amp; Decisions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Align Security &amp; Compliance Guidelines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Initiate "Shift-Left" VDI Onboarding Requests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Target the Ingestion of 5 Critical Datasets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425142">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From A2, before data can land into Delta Lake via Autoloader or streaming pipelines, the underlying cloud infrastructure and platform services must be operational</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From B1, Workstream B2 depends directly on B1 to establish data routing before data reaches Databricks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508950">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Workstream C is the most immediate consumer of B2’s output. It cannot transform or enrich data that has not physically landed</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Workstream B2 provides the sandbox and production data foundations that the analytics migration team needs to validate their SQL conversions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ensure the pipelines run reliably after the KPMG consulting team rolls off, B2 delivers physical operations handoffs for Workstream F</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6" name="Content Placeholder 6">
            <a:extLst>
              <a:ext uri="{FF2B5EF4-FFF2-40B4-BE49-F238E27FC236}">
                <a16:creationId xmlns:a16="http://schemas.microsoft.com/office/drawing/2014/main" id="{05C33690-D48D-AEA3-0561-159BC8954731}"/>
              </a:ext>
            </a:extLst>
          </p:cNvPr>
          <p:cNvGraphicFramePr>
            <a:graphicFrameLocks/>
          </p:cNvGraphicFramePr>
          <p:nvPr>
            <p:extLst>
              <p:ext uri="{D42A27DB-BD31-4B8C-83A1-F6EECF244321}">
                <p14:modId xmlns:p14="http://schemas.microsoft.com/office/powerpoint/2010/main" val="3605407492"/>
              </p:ext>
            </p:extLst>
          </p:nvPr>
        </p:nvGraphicFramePr>
        <p:xfrm>
          <a:off x="540940" y="3475567"/>
          <a:ext cx="11142396" cy="1862316"/>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508382">
                  <a:extLst>
                    <a:ext uri="{9D8B030D-6E8A-4147-A177-3AD203B41FA5}">
                      <a16:colId xmlns:a16="http://schemas.microsoft.com/office/drawing/2014/main" val="1699332636"/>
                    </a:ext>
                  </a:extLst>
                </a:gridCol>
                <a:gridCol w="2508382">
                  <a:extLst>
                    <a:ext uri="{9D8B030D-6E8A-4147-A177-3AD203B41FA5}">
                      <a16:colId xmlns:a16="http://schemas.microsoft.com/office/drawing/2014/main" val="2684621038"/>
                    </a:ext>
                  </a:extLst>
                </a:gridCol>
                <a:gridCol w="2508382">
                  <a:extLst>
                    <a:ext uri="{9D8B030D-6E8A-4147-A177-3AD203B41FA5}">
                      <a16:colId xmlns:a16="http://schemas.microsoft.com/office/drawing/2014/main" val="1078624516"/>
                    </a:ext>
                  </a:extLst>
                </a:gridCol>
                <a:gridCol w="2508382">
                  <a:extLst>
                    <a:ext uri="{9D8B030D-6E8A-4147-A177-3AD203B41FA5}">
                      <a16:colId xmlns:a16="http://schemas.microsoft.com/office/drawing/2014/main" val="1203515095"/>
                    </a:ext>
                  </a:extLst>
                </a:gridCol>
              </a:tblGrid>
              <a:tr h="47547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Architecture Validation &amp; Ingestion Routing Design</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Multi-Cloud Ingestion Workflow Verification (WF1–WF6)</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Autoloader &amp; Event-Driven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Ingestion Automation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Throughput, SLA, &amp; Failover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Validation Testing</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Connectivity &amp; Network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Port Clearance</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Bronze Table schema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Partition Design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Source-to-Bronze Ingestion Routing Matrix</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1.4: Apache </a:t>
                      </a:r>
                      <a:r>
                        <a:rPr lang="en-US" sz="1000" b="0" kern="1500" noProof="0" err="1">
                          <a:solidFill>
                            <a:schemeClr val="tx2"/>
                          </a:solidFill>
                          <a:latin typeface="+mn-lt"/>
                          <a:ea typeface="+mn-ea"/>
                          <a:cs typeface="+mn-cs"/>
                        </a:rPr>
                        <a:t>NiFi</a:t>
                      </a:r>
                      <a:r>
                        <a:rPr lang="en-US" sz="1000" b="0" kern="1500" noProof="0">
                          <a:solidFill>
                            <a:schemeClr val="tx2"/>
                          </a:solidFill>
                          <a:latin typeface="+mn-lt"/>
                          <a:ea typeface="+mn-ea"/>
                          <a:cs typeface="+mn-cs"/>
                        </a:rPr>
                        <a:t> Disposition &amp; PHI Chain-of-Custody Assessment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WF1 - Tanium Endpoint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Telemetry Validation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WF2 &amp; WF3 - Data Center Ingestion &amp; Splunk HF Cutover</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2.3: WF4 &amp; WF5 - Cross-Cloud Telemetry Validation (GCP &amp; AWS)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2.4: WF6 - Azure Native Log Ingestion</a:t>
                      </a:r>
                      <a:endParaRPr lang="en-US" sz="1000" b="0" kern="1500">
                        <a:solidFill>
                          <a:schemeClr val="tx2"/>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Event Grid Notification Setup</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Auto Loader Ingestion Configuration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Ingestion Tiering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Trigger Schedules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Volume Ramp &amp; Production Parity Performance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Peak Burst &amp; Throttle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4.3: Cribl Persistent Queue &amp; Outage Recovery Validation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7" name="Group 6">
            <a:extLst>
              <a:ext uri="{FF2B5EF4-FFF2-40B4-BE49-F238E27FC236}">
                <a16:creationId xmlns:a16="http://schemas.microsoft.com/office/drawing/2014/main" id="{B1B73404-B4BB-8F1B-59F9-C53A687D1DDD}"/>
              </a:ext>
            </a:extLst>
          </p:cNvPr>
          <p:cNvGrpSpPr/>
          <p:nvPr/>
        </p:nvGrpSpPr>
        <p:grpSpPr>
          <a:xfrm>
            <a:off x="538691" y="3894687"/>
            <a:ext cx="11125201" cy="999"/>
            <a:chOff x="531813" y="5259957"/>
            <a:chExt cx="11125201" cy="999"/>
          </a:xfrm>
        </p:grpSpPr>
        <p:cxnSp>
          <p:nvCxnSpPr>
            <p:cNvPr id="11" name="Straight Connector 10">
              <a:extLst>
                <a:ext uri="{FF2B5EF4-FFF2-40B4-BE49-F238E27FC236}">
                  <a16:creationId xmlns:a16="http://schemas.microsoft.com/office/drawing/2014/main" id="{80BC9DD5-34F1-84C4-8660-D6900273FD43}"/>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3DD0C30-80F4-C3E4-E3C7-67BD7D985616}"/>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70F5351E-B693-080B-589B-700D1C92F9EA}"/>
              </a:ext>
            </a:extLst>
          </p:cNvPr>
          <p:cNvGrpSpPr/>
          <p:nvPr/>
        </p:nvGrpSpPr>
        <p:grpSpPr>
          <a:xfrm>
            <a:off x="520172" y="2823369"/>
            <a:ext cx="11127580" cy="1695"/>
            <a:chOff x="529432" y="4264661"/>
            <a:chExt cx="11127580" cy="1695"/>
          </a:xfrm>
        </p:grpSpPr>
        <p:cxnSp>
          <p:nvCxnSpPr>
            <p:cNvPr id="17" name="Straight Connector 16">
              <a:extLst>
                <a:ext uri="{FF2B5EF4-FFF2-40B4-BE49-F238E27FC236}">
                  <a16:creationId xmlns:a16="http://schemas.microsoft.com/office/drawing/2014/main" id="{D2327036-9A1C-B667-B364-19067E5A2707}"/>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5C7A6A-38F4-914A-D84E-A3970ED35A31}"/>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8DB3F229-7907-8BBA-0ECA-BFF005666EA8}"/>
              </a:ext>
            </a:extLst>
          </p:cNvPr>
          <p:cNvGrpSpPr/>
          <p:nvPr/>
        </p:nvGrpSpPr>
        <p:grpSpPr>
          <a:xfrm>
            <a:off x="549537" y="2286902"/>
            <a:ext cx="11125201" cy="0"/>
            <a:chOff x="531813" y="3716075"/>
            <a:chExt cx="11125201" cy="0"/>
          </a:xfrm>
        </p:grpSpPr>
        <p:cxnSp>
          <p:nvCxnSpPr>
            <p:cNvPr id="23" name="Straight Connector 22">
              <a:extLst>
                <a:ext uri="{FF2B5EF4-FFF2-40B4-BE49-F238E27FC236}">
                  <a16:creationId xmlns:a16="http://schemas.microsoft.com/office/drawing/2014/main" id="{34320FED-87CC-23AE-8D37-14171383B794}"/>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CEEB0F-EB76-7F87-015E-A7FB5E3CF8D6}"/>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B942179E-C5BB-92B7-19D3-370B6E7B9B6D}"/>
              </a:ext>
            </a:extLst>
          </p:cNvPr>
          <p:cNvGrpSpPr/>
          <p:nvPr/>
        </p:nvGrpSpPr>
        <p:grpSpPr>
          <a:xfrm>
            <a:off x="542658" y="3467851"/>
            <a:ext cx="11125201" cy="1"/>
            <a:chOff x="531813" y="4848012"/>
            <a:chExt cx="11125201" cy="1"/>
          </a:xfrm>
        </p:grpSpPr>
        <p:cxnSp>
          <p:nvCxnSpPr>
            <p:cNvPr id="26" name="Straight Connector 25">
              <a:extLst>
                <a:ext uri="{FF2B5EF4-FFF2-40B4-BE49-F238E27FC236}">
                  <a16:creationId xmlns:a16="http://schemas.microsoft.com/office/drawing/2014/main" id="{ED645355-066A-021F-75D7-6B9E94D9637A}"/>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8484935-76A1-5D4D-398D-03588E97453B}"/>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39">
            <a:extLst>
              <a:ext uri="{FF2B5EF4-FFF2-40B4-BE49-F238E27FC236}">
                <a16:creationId xmlns:a16="http://schemas.microsoft.com/office/drawing/2014/main" id="{051B0C64-765B-A064-3B70-D521F25D09DB}"/>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1154151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C5284D-B21C-229C-C5B1-428A4AD444F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7DD34BC-D101-C2D4-3590-EB652B606C4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A7DD34BC-D101-C2D4-3590-EB652B606C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76DFC37-9F57-39F7-FCE8-42D327C337C9}"/>
              </a:ext>
            </a:extLst>
          </p:cNvPr>
          <p:cNvSpPr>
            <a:spLocks noGrp="1"/>
          </p:cNvSpPr>
          <p:nvPr>
            <p:ph type="title"/>
          </p:nvPr>
        </p:nvSpPr>
        <p:spPr/>
        <p:txBody>
          <a:bodyPr vert="horz" rIns="0"/>
          <a:lstStyle/>
          <a:p>
            <a:r>
              <a:rPr lang="en-US"/>
              <a:t>Workstream C – Data Architecture and Pipeline Enablement (1/2)</a:t>
            </a:r>
            <a:br>
              <a:rPr lang="en-US"/>
            </a:br>
            <a:r>
              <a:rPr lang="en-US" sz="1600" b="0"/>
              <a:t>The factory – From the SOW and other planning documents</a:t>
            </a:r>
          </a:p>
        </p:txBody>
      </p:sp>
      <p:sp>
        <p:nvSpPr>
          <p:cNvPr id="17" name="Rectangle: Top Corners Rounded 16">
            <a:extLst>
              <a:ext uri="{FF2B5EF4-FFF2-40B4-BE49-F238E27FC236}">
                <a16:creationId xmlns:a16="http://schemas.microsoft.com/office/drawing/2014/main" id="{388980A6-4A35-B13F-B40A-6682DE2F39AA}"/>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19" name="TextBox 18">
            <a:extLst>
              <a:ext uri="{FF2B5EF4-FFF2-40B4-BE49-F238E27FC236}">
                <a16:creationId xmlns:a16="http://schemas.microsoft.com/office/drawing/2014/main" id="{7F1FFCD6-21C1-51CA-2E2D-8077B90554A8}"/>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sp>
        <p:nvSpPr>
          <p:cNvPr id="21" name="TextBox 20">
            <a:extLst>
              <a:ext uri="{FF2B5EF4-FFF2-40B4-BE49-F238E27FC236}">
                <a16:creationId xmlns:a16="http://schemas.microsoft.com/office/drawing/2014/main" id="{DC3A3C31-407C-65D7-B6CA-7ED3BEF6A98A}"/>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22" name="TextBox 21">
            <a:extLst>
              <a:ext uri="{FF2B5EF4-FFF2-40B4-BE49-F238E27FC236}">
                <a16:creationId xmlns:a16="http://schemas.microsoft.com/office/drawing/2014/main" id="{94BE6149-D482-2C97-A68A-00140CCD7275}"/>
              </a:ext>
            </a:extLst>
          </p:cNvPr>
          <p:cNvSpPr txBox="1"/>
          <p:nvPr/>
        </p:nvSpPr>
        <p:spPr>
          <a:xfrm>
            <a:off x="1366590" y="1490133"/>
            <a:ext cx="4693922" cy="461665"/>
          </a:xfrm>
          <a:prstGeom prst="rect">
            <a:avLst/>
          </a:prstGeom>
          <a:noFill/>
        </p:spPr>
        <p:txBody>
          <a:bodyPr wrap="square" lIns="0" tIns="0" rIns="0" bIns="0">
            <a:spAutoFit/>
          </a:bodyPr>
          <a:lstStyle/>
          <a:p>
            <a:pPr algn="l"/>
            <a:r>
              <a:rPr lang="en-US" sz="1000">
                <a:solidFill>
                  <a:schemeClr val="tx2"/>
                </a:solidFill>
              </a:rPr>
              <a:t>Design and implement scalable Bronze, Silver, and Gold pipelines in Cribl and Databricks, including reusable templates and governed data access via </a:t>
            </a:r>
            <a:br>
              <a:rPr lang="en-US" sz="1000">
                <a:solidFill>
                  <a:schemeClr val="tx2"/>
                </a:solidFill>
              </a:rPr>
            </a:br>
            <a:r>
              <a:rPr lang="en-US" sz="1000">
                <a:solidFill>
                  <a:schemeClr val="tx2"/>
                </a:solidFill>
              </a:rPr>
              <a:t>Unity Catalog.</a:t>
            </a:r>
          </a:p>
        </p:txBody>
      </p:sp>
      <p:sp>
        <p:nvSpPr>
          <p:cNvPr id="23" name="TextBox 22">
            <a:extLst>
              <a:ext uri="{FF2B5EF4-FFF2-40B4-BE49-F238E27FC236}">
                <a16:creationId xmlns:a16="http://schemas.microsoft.com/office/drawing/2014/main" id="{B1F1BD47-C336-B5C8-27B2-2BF393C42201}"/>
              </a:ext>
            </a:extLst>
          </p:cNvPr>
          <p:cNvSpPr txBox="1"/>
          <p:nvPr/>
        </p:nvSpPr>
        <p:spPr>
          <a:xfrm>
            <a:off x="543482" y="2104882"/>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24" name="TextBox 23">
            <a:extLst>
              <a:ext uri="{FF2B5EF4-FFF2-40B4-BE49-F238E27FC236}">
                <a16:creationId xmlns:a16="http://schemas.microsoft.com/office/drawing/2014/main" id="{29A6C7FF-BB23-8BE5-72F4-30257E7951BA}"/>
              </a:ext>
            </a:extLst>
          </p:cNvPr>
          <p:cNvSpPr txBox="1"/>
          <p:nvPr/>
        </p:nvSpPr>
        <p:spPr>
          <a:xfrm>
            <a:off x="1366590" y="2104882"/>
            <a:ext cx="4575208" cy="461665"/>
          </a:xfrm>
          <a:prstGeom prst="rect">
            <a:avLst/>
          </a:prstGeom>
          <a:noFill/>
        </p:spPr>
        <p:txBody>
          <a:bodyPr wrap="square" lIns="0" tIns="0" rIns="0" bIns="0">
            <a:spAutoFit/>
          </a:bodyPr>
          <a:lstStyle/>
          <a:p>
            <a:pPr algn="l"/>
            <a:r>
              <a:rPr lang="en-US" sz="1000">
                <a:solidFill>
                  <a:schemeClr val="tx2"/>
                </a:solidFill>
              </a:rPr>
              <a:t>Enable Project 4 data movement and transformation by building scalable Bronze-to-Silver pipelines, governed data products and reusable </a:t>
            </a:r>
            <a:br>
              <a:rPr lang="en-US" sz="1000">
                <a:solidFill>
                  <a:schemeClr val="tx2"/>
                </a:solidFill>
              </a:rPr>
            </a:br>
            <a:r>
              <a:rPr lang="en-US" sz="1000">
                <a:solidFill>
                  <a:schemeClr val="tx2"/>
                </a:solidFill>
              </a:rPr>
              <a:t>Databricks patterns.</a:t>
            </a:r>
          </a:p>
        </p:txBody>
      </p:sp>
      <p:sp>
        <p:nvSpPr>
          <p:cNvPr id="25" name="TextBox 24">
            <a:extLst>
              <a:ext uri="{FF2B5EF4-FFF2-40B4-BE49-F238E27FC236}">
                <a16:creationId xmlns:a16="http://schemas.microsoft.com/office/drawing/2014/main" id="{A3899D68-BBFB-2AB2-2305-41F9E792835F}"/>
              </a:ext>
            </a:extLst>
          </p:cNvPr>
          <p:cNvSpPr txBox="1"/>
          <p:nvPr/>
        </p:nvSpPr>
        <p:spPr>
          <a:xfrm>
            <a:off x="543483" y="2714704"/>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28" name="TextBox 27">
            <a:extLst>
              <a:ext uri="{FF2B5EF4-FFF2-40B4-BE49-F238E27FC236}">
                <a16:creationId xmlns:a16="http://schemas.microsoft.com/office/drawing/2014/main" id="{F02245CD-517B-974E-F745-C2AAC67625A8}"/>
              </a:ext>
            </a:extLst>
          </p:cNvPr>
          <p:cNvSpPr txBox="1"/>
          <p:nvPr/>
        </p:nvSpPr>
        <p:spPr>
          <a:xfrm>
            <a:off x="1366590" y="2714704"/>
            <a:ext cx="4748460" cy="2885405"/>
          </a:xfrm>
          <a:prstGeom prst="rect">
            <a:avLst/>
          </a:prstGeom>
          <a:noFill/>
        </p:spPr>
        <p:txBody>
          <a:bodyPr wrap="square" lIns="0" tIns="0" rIns="0" bIns="0">
            <a:noAutofit/>
          </a:bodyPr>
          <a:lstStyle/>
          <a:p>
            <a:pPr marL="137160" lvl="1" indent="-137160">
              <a:spcAft>
                <a:spcPts val="300"/>
              </a:spcAft>
              <a:buFont typeface="Arial" panose="020B0604020202020204" pitchFamily="34" charset="0"/>
              <a:buChar char="•"/>
            </a:pPr>
            <a:r>
              <a:rPr lang="en-US" sz="1000" b="1" kern="1500">
                <a:solidFill>
                  <a:schemeClr val="tx2"/>
                </a:solidFill>
              </a:rPr>
              <a:t>Build &amp; Scale Pipelines: </a:t>
            </a:r>
            <a:r>
              <a:rPr lang="en-US" sz="1000" kern="1500">
                <a:solidFill>
                  <a:schemeClr val="tx2"/>
                </a:solidFill>
              </a:rPr>
              <a:t>Construct parameterized </a:t>
            </a:r>
            <a:r>
              <a:rPr lang="en-US" sz="1000" kern="1500" err="1">
                <a:solidFill>
                  <a:schemeClr val="tx2"/>
                </a:solidFill>
              </a:rPr>
              <a:t>PySpark</a:t>
            </a:r>
            <a:r>
              <a:rPr lang="en-US" sz="1000" kern="1500">
                <a:solidFill>
                  <a:schemeClr val="tx2"/>
                </a:solidFill>
              </a:rPr>
              <a:t>/SQL/DLT pipeline templates by source-type group; configure DLT tiering (continuous / triggered / batch) to balance SLA against compute cost; instantiate pipelines from Workstream B contracts and AI-generated definitions</a:t>
            </a:r>
          </a:p>
          <a:p>
            <a:pPr marL="137160" lvl="1" indent="-137160">
              <a:spcAft>
                <a:spcPts val="300"/>
              </a:spcAft>
              <a:buFont typeface="Arial" panose="020B0604020202020204" pitchFamily="34" charset="0"/>
              <a:buChar char="•"/>
            </a:pPr>
            <a:r>
              <a:rPr lang="en-US" sz="1000" b="1" kern="1500">
                <a:solidFill>
                  <a:schemeClr val="tx2"/>
                </a:solidFill>
              </a:rPr>
              <a:t>Implement Governance: </a:t>
            </a:r>
            <a:r>
              <a:rPr lang="en-US" sz="1000" kern="1500">
                <a:solidFill>
                  <a:schemeClr val="tx2"/>
                </a:solidFill>
              </a:rPr>
              <a:t>Enforce Security &amp; Compliance at Silver. Implement PHI/PII masking (compliance at Bronze); enforce data classification (RESTRICTED -&gt; INTERNAL) via Unity Catalog column-level tags; implement row-level security for multi-owner tables; build audit trail for HIPAA evidence</a:t>
            </a:r>
          </a:p>
          <a:p>
            <a:pPr marL="137160" lvl="1" indent="-137160">
              <a:spcAft>
                <a:spcPts val="300"/>
              </a:spcAft>
              <a:buFont typeface="Arial" panose="020B0604020202020204" pitchFamily="34" charset="0"/>
              <a:buChar char="•"/>
            </a:pPr>
            <a:r>
              <a:rPr lang="en-US" sz="1000" b="1" kern="1500">
                <a:solidFill>
                  <a:schemeClr val="tx2"/>
                </a:solidFill>
              </a:rPr>
              <a:t>Pattern Data Products:</a:t>
            </a:r>
            <a:r>
              <a:rPr lang="en-US" sz="1000" kern="1500">
                <a:solidFill>
                  <a:schemeClr val="tx2"/>
                </a:solidFill>
              </a:rPr>
              <a:t> Initiate Silver tables with known downstream consumers; apply Data Product metadata (e.g., purpose, owner, consumers, SLO, refresh cadence, relevant Splunk/SIEM meta data); publish in Unity Catalog with documentation and discoverability; remaining Silver tables are governed, retained, searchable but not promoted to Product status</a:t>
            </a:r>
          </a:p>
          <a:p>
            <a:pPr marL="137160" lvl="1" indent="-137160">
              <a:spcAft>
                <a:spcPts val="300"/>
              </a:spcAft>
              <a:buFont typeface="Arial" panose="020B0604020202020204" pitchFamily="34" charset="0"/>
              <a:buChar char="•"/>
            </a:pPr>
            <a:r>
              <a:rPr lang="en-US" sz="1000" b="1" kern="1500">
                <a:solidFill>
                  <a:schemeClr val="tx2"/>
                </a:solidFill>
              </a:rPr>
              <a:t>Enable Self-Service Analytics: </a:t>
            </a:r>
            <a:r>
              <a:rPr lang="en-US" sz="1000" kern="1500">
                <a:solidFill>
                  <a:schemeClr val="tx2"/>
                </a:solidFill>
              </a:rPr>
              <a:t>Define team-owned Gold workspaces with compute governance, chargeback alignment, and guardrails; provide initial best practices, templates, and Genie configuration for self-service analytics; convert priority SPL to SQL/</a:t>
            </a:r>
            <a:r>
              <a:rPr lang="en-US" sz="1000" kern="1500" err="1">
                <a:solidFill>
                  <a:schemeClr val="tx2"/>
                </a:solidFill>
              </a:rPr>
              <a:t>PySpark</a:t>
            </a:r>
            <a:r>
              <a:rPr lang="en-US" sz="1000" kern="1500">
                <a:solidFill>
                  <a:schemeClr val="tx2"/>
                </a:solidFill>
              </a:rPr>
              <a:t> (Claude-assisted) as starter content teams deploy into their own Gold space</a:t>
            </a:r>
          </a:p>
          <a:p>
            <a:pPr marL="137160" lvl="1" indent="-137160">
              <a:spcAft>
                <a:spcPts val="300"/>
              </a:spcAft>
              <a:buFont typeface="Arial" panose="020B0604020202020204" pitchFamily="34" charset="0"/>
              <a:buChar char="•"/>
            </a:pPr>
            <a:r>
              <a:rPr lang="en-US" sz="1000" i="1" kern="1500">
                <a:solidFill>
                  <a:srgbClr val="00787E"/>
                </a:solidFill>
              </a:rPr>
              <a:t>Discussion needed: How analytics are to be instantiated in Databricks.</a:t>
            </a:r>
          </a:p>
          <a:p>
            <a:pPr marL="0" lvl="1">
              <a:spcAft>
                <a:spcPts val="300"/>
              </a:spcAft>
            </a:pPr>
            <a:endParaRPr lang="en-US" sz="1000" kern="1500">
              <a:solidFill>
                <a:schemeClr val="tx2"/>
              </a:solidFill>
            </a:endParaRPr>
          </a:p>
        </p:txBody>
      </p:sp>
      <p:grpSp>
        <p:nvGrpSpPr>
          <p:cNvPr id="33" name="Group 32">
            <a:extLst>
              <a:ext uri="{FF2B5EF4-FFF2-40B4-BE49-F238E27FC236}">
                <a16:creationId xmlns:a16="http://schemas.microsoft.com/office/drawing/2014/main" id="{23617C9A-4873-35B2-06C5-57687376F88D}"/>
              </a:ext>
            </a:extLst>
          </p:cNvPr>
          <p:cNvGrpSpPr/>
          <p:nvPr/>
        </p:nvGrpSpPr>
        <p:grpSpPr>
          <a:xfrm>
            <a:off x="533400" y="2025877"/>
            <a:ext cx="5562600" cy="4926"/>
            <a:chOff x="533400" y="1886078"/>
            <a:chExt cx="5562600" cy="4926"/>
          </a:xfrm>
        </p:grpSpPr>
        <p:cxnSp>
          <p:nvCxnSpPr>
            <p:cNvPr id="34" name="Straight Connector 33">
              <a:extLst>
                <a:ext uri="{FF2B5EF4-FFF2-40B4-BE49-F238E27FC236}">
                  <a16:creationId xmlns:a16="http://schemas.microsoft.com/office/drawing/2014/main" id="{AA2BF7E0-32C5-0551-024D-BB221F288C55}"/>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B0C998A-7CC1-1217-6D58-AB6E5CF83E30}"/>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310C34A-8B2D-B842-8AAB-344134F28BE6}"/>
              </a:ext>
            </a:extLst>
          </p:cNvPr>
          <p:cNvGrpSpPr/>
          <p:nvPr/>
        </p:nvGrpSpPr>
        <p:grpSpPr>
          <a:xfrm>
            <a:off x="533400" y="2640626"/>
            <a:ext cx="5562600" cy="0"/>
            <a:chOff x="533400" y="2463561"/>
            <a:chExt cx="5562600" cy="0"/>
          </a:xfrm>
        </p:grpSpPr>
        <p:cxnSp>
          <p:nvCxnSpPr>
            <p:cNvPr id="37" name="Straight Connector 36">
              <a:extLst>
                <a:ext uri="{FF2B5EF4-FFF2-40B4-BE49-F238E27FC236}">
                  <a16:creationId xmlns:a16="http://schemas.microsoft.com/office/drawing/2014/main" id="{57BF5DC6-8DCB-5C2A-7251-9DF282910872}"/>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0ACF3E5-2E23-2C4E-5997-49D370C80C24}"/>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Rounded Corners 39">
            <a:extLst>
              <a:ext uri="{FF2B5EF4-FFF2-40B4-BE49-F238E27FC236}">
                <a16:creationId xmlns:a16="http://schemas.microsoft.com/office/drawing/2014/main" id="{B229CF89-0483-DB57-E802-EF2DF4D442F8}"/>
              </a:ext>
            </a:extLst>
          </p:cNvPr>
          <p:cNvSpPr/>
          <p:nvPr/>
        </p:nvSpPr>
        <p:spPr bwMode="gray">
          <a:xfrm>
            <a:off x="6296423" y="1672390"/>
            <a:ext cx="3030456" cy="133023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Silver Design &amp; Validation</a:t>
            </a:r>
          </a:p>
          <a:p>
            <a:pPr defTabSz="457063" fontAlgn="ctr">
              <a:defRPr/>
            </a:pPr>
            <a:r>
              <a:rPr lang="en-US" sz="800" b="1">
                <a:solidFill>
                  <a:srgbClr val="00A78E"/>
                </a:solidFill>
              </a:rPr>
              <a:t>Timing: </a:t>
            </a:r>
            <a:r>
              <a:rPr lang="en-US" sz="800" b="1">
                <a:solidFill>
                  <a:schemeClr val="tx2"/>
                </a:solidFill>
              </a:rPr>
              <a:t>Sep 2026 – Jan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Data Architecture and Pipeline Design (DOC/PPT) summarizing activities performed.</a:t>
            </a:r>
          </a:p>
          <a:p>
            <a:pPr marL="91440" indent="-91440">
              <a:buFont typeface="Arial" panose="020B0604020202020204" pitchFamily="34" charset="0"/>
              <a:buChar char="•"/>
            </a:pPr>
            <a:r>
              <a:rPr lang="en-US" sz="800">
                <a:solidFill>
                  <a:schemeClr val="tx2"/>
                </a:solidFill>
              </a:rPr>
              <a:t>Reusable DLT/</a:t>
            </a:r>
            <a:r>
              <a:rPr lang="en-US" sz="800" err="1">
                <a:solidFill>
                  <a:schemeClr val="tx2"/>
                </a:solidFill>
              </a:rPr>
              <a:t>PySpark</a:t>
            </a:r>
            <a:r>
              <a:rPr lang="en-US" sz="800">
                <a:solidFill>
                  <a:schemeClr val="tx2"/>
                </a:solidFill>
              </a:rPr>
              <a:t> Template Library and Documentation (CODE/DOC).</a:t>
            </a:r>
          </a:p>
          <a:p>
            <a:pPr marL="91440" indent="-91440">
              <a:buFont typeface="Arial" panose="020B0604020202020204" pitchFamily="34" charset="0"/>
              <a:buChar char="•"/>
            </a:pPr>
            <a:r>
              <a:rPr lang="en-US" sz="800">
                <a:solidFill>
                  <a:schemeClr val="tx2"/>
                </a:solidFill>
              </a:rPr>
              <a:t>Enrichment Integration Design and Validation Evidence (DOC/XLS).</a:t>
            </a:r>
          </a:p>
          <a:p>
            <a:pPr marL="91440" indent="-91440">
              <a:buFont typeface="Arial" panose="020B0604020202020204" pitchFamily="34" charset="0"/>
              <a:buChar char="•"/>
            </a:pPr>
            <a:r>
              <a:rPr lang="en-US" sz="800">
                <a:solidFill>
                  <a:schemeClr val="tx2"/>
                </a:solidFill>
              </a:rPr>
              <a:t>Gold Workspace/Self-Service Analytics Design (DOC/PPT).</a:t>
            </a:r>
          </a:p>
        </p:txBody>
      </p:sp>
      <p:sp>
        <p:nvSpPr>
          <p:cNvPr id="41" name="Rectangle: Rounded Corners 40">
            <a:extLst>
              <a:ext uri="{FF2B5EF4-FFF2-40B4-BE49-F238E27FC236}">
                <a16:creationId xmlns:a16="http://schemas.microsoft.com/office/drawing/2014/main" id="{1CF2CECD-3D63-694C-00FD-FC67BBE62CD3}"/>
              </a:ext>
            </a:extLst>
          </p:cNvPr>
          <p:cNvSpPr/>
          <p:nvPr/>
        </p:nvSpPr>
        <p:spPr bwMode="gray">
          <a:xfrm>
            <a:off x="6296423" y="3054198"/>
            <a:ext cx="3030457" cy="1600873"/>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Tier 1 Rollout &amp; SLA</a:t>
            </a:r>
          </a:p>
          <a:p>
            <a:pPr defTabSz="457063" fontAlgn="ctr">
              <a:defRPr/>
            </a:pPr>
            <a:r>
              <a:rPr lang="en-US" sz="800" b="1">
                <a:solidFill>
                  <a:srgbClr val="00A78E"/>
                </a:solidFill>
              </a:rPr>
              <a:t>Timing: </a:t>
            </a:r>
            <a:r>
              <a:rPr lang="en-US" sz="800" b="1">
                <a:solidFill>
                  <a:schemeClr val="tx2"/>
                </a:solidFill>
              </a:rPr>
              <a:t>Dec 2026 – Apr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Bronze-to-Silver Pipeline Inventory and Implementation Evidence (XLS/DOC) for Tier 1 </a:t>
            </a:r>
            <a:br>
              <a:rPr lang="en-US" sz="800">
                <a:solidFill>
                  <a:schemeClr val="tx2"/>
                </a:solidFill>
              </a:rPr>
            </a:br>
            <a:r>
              <a:rPr lang="en-US" sz="800">
                <a:solidFill>
                  <a:schemeClr val="tx2"/>
                </a:solidFill>
              </a:rPr>
              <a:t>source families.</a:t>
            </a:r>
          </a:p>
          <a:p>
            <a:pPr marL="91440" indent="-91440">
              <a:buFont typeface="Arial" panose="020B0604020202020204" pitchFamily="34" charset="0"/>
              <a:buChar char="•"/>
            </a:pPr>
            <a:r>
              <a:rPr lang="en-US" sz="800">
                <a:solidFill>
                  <a:schemeClr val="tx2"/>
                </a:solidFill>
              </a:rPr>
              <a:t>Silver Data Model and Data Product </a:t>
            </a:r>
            <a:br>
              <a:rPr lang="en-US" sz="800">
                <a:solidFill>
                  <a:schemeClr val="tx2"/>
                </a:solidFill>
              </a:rPr>
            </a:br>
            <a:r>
              <a:rPr lang="en-US" sz="800">
                <a:solidFill>
                  <a:schemeClr val="tx2"/>
                </a:solidFill>
              </a:rPr>
              <a:t>Catalog (DOC/XLS) for Tier 1 source families.</a:t>
            </a:r>
          </a:p>
          <a:p>
            <a:pPr marL="91440" indent="-91440">
              <a:buFont typeface="Arial" panose="020B0604020202020204" pitchFamily="34" charset="0"/>
              <a:buChar char="•"/>
            </a:pPr>
            <a:r>
              <a:rPr lang="en-US" sz="800">
                <a:solidFill>
                  <a:schemeClr val="tx2"/>
                </a:solidFill>
              </a:rPr>
              <a:t>Unity Catalog Governance Configuration Documentation (DOC) for Tier 1 source families.</a:t>
            </a:r>
          </a:p>
          <a:p>
            <a:pPr marL="91440" indent="-91440">
              <a:buFont typeface="Arial" panose="020B0604020202020204" pitchFamily="34" charset="0"/>
              <a:buChar char="•"/>
            </a:pPr>
            <a:r>
              <a:rPr lang="en-US" sz="800">
                <a:solidFill>
                  <a:schemeClr val="tx2"/>
                </a:solidFill>
              </a:rPr>
              <a:t>Pipeline Monitoring, SLO and Operational Runbooks (DOC) for Tier 1 operations.</a:t>
            </a:r>
          </a:p>
        </p:txBody>
      </p:sp>
      <p:sp>
        <p:nvSpPr>
          <p:cNvPr id="42" name="Rectangle: Rounded Corners 41">
            <a:extLst>
              <a:ext uri="{FF2B5EF4-FFF2-40B4-BE49-F238E27FC236}">
                <a16:creationId xmlns:a16="http://schemas.microsoft.com/office/drawing/2014/main" id="{5C9ECCEC-9061-4393-263A-8428802CFFB5}"/>
              </a:ext>
            </a:extLst>
          </p:cNvPr>
          <p:cNvSpPr/>
          <p:nvPr/>
        </p:nvSpPr>
        <p:spPr bwMode="gray">
          <a:xfrm>
            <a:off x="9387840" y="1672390"/>
            <a:ext cx="2277548" cy="2982682"/>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t" anchorCtr="0"/>
          <a:lstStyle/>
          <a:p>
            <a:pPr defTabSz="457063" fontAlgn="ctr">
              <a:defRPr/>
            </a:pPr>
            <a:r>
              <a:rPr lang="en-US" sz="800" b="1">
                <a:solidFill>
                  <a:srgbClr val="00A78E"/>
                </a:solidFill>
              </a:rPr>
              <a:t>Description: </a:t>
            </a:r>
            <a:r>
              <a:rPr lang="en-US" sz="800" kern="1500">
                <a:solidFill>
                  <a:schemeClr val="tx2"/>
                </a:solidFill>
              </a:rPr>
              <a:t>Tier 2 &amp; Hand-off </a:t>
            </a:r>
          </a:p>
          <a:p>
            <a:pPr defTabSz="457063" fontAlgn="ctr">
              <a:defRPr/>
            </a:pPr>
            <a:r>
              <a:rPr lang="en-US" sz="800" b="1">
                <a:solidFill>
                  <a:srgbClr val="00A78E"/>
                </a:solidFill>
              </a:rPr>
              <a:t>Timing: </a:t>
            </a:r>
            <a:r>
              <a:rPr lang="en-US" sz="800" b="1">
                <a:solidFill>
                  <a:schemeClr val="tx2"/>
                </a:solidFill>
              </a:rPr>
              <a:t>Mar 2027 – Jul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Updated Bronze-to-Silver Pipeline Inventory and Implementation Evidence (XLS/DOC) including Tier 2 source families.</a:t>
            </a:r>
          </a:p>
          <a:p>
            <a:pPr marL="91440" indent="-91440">
              <a:buFont typeface="Arial" panose="020B0604020202020204" pitchFamily="34" charset="0"/>
              <a:buChar char="•"/>
            </a:pPr>
            <a:r>
              <a:rPr lang="en-US" sz="800">
                <a:solidFill>
                  <a:schemeClr val="tx2"/>
                </a:solidFill>
              </a:rPr>
              <a:t>Updated Silver Data Model and Data Product Catalog (DOC/XLS) including Tier 2 source families.</a:t>
            </a:r>
          </a:p>
          <a:p>
            <a:pPr marL="91440" indent="-91440">
              <a:buFont typeface="Arial" panose="020B0604020202020204" pitchFamily="34" charset="0"/>
              <a:buChar char="•"/>
            </a:pPr>
            <a:r>
              <a:rPr lang="en-US" sz="800">
                <a:solidFill>
                  <a:schemeClr val="tx2"/>
                </a:solidFill>
              </a:rPr>
              <a:t>Updated Unity Catalog Governance Configuration Documentation (DOC) including Tier 2 source families.</a:t>
            </a:r>
          </a:p>
          <a:p>
            <a:pPr marL="91440" indent="-91440">
              <a:buFont typeface="Arial" panose="020B0604020202020204" pitchFamily="34" charset="0"/>
              <a:buChar char="•"/>
            </a:pPr>
            <a:r>
              <a:rPr lang="en-US" sz="800">
                <a:solidFill>
                  <a:schemeClr val="tx2"/>
                </a:solidFill>
              </a:rPr>
              <a:t>Updated Pipeline Monitoring, SLO and Operational Runbooks (DOC) including Tier 2 operations.</a:t>
            </a:r>
          </a:p>
          <a:p>
            <a:pPr marL="91440" indent="-91440">
              <a:buFont typeface="Arial" panose="020B0604020202020204" pitchFamily="34" charset="0"/>
              <a:buChar char="•"/>
            </a:pPr>
            <a:r>
              <a:rPr lang="en-US" sz="800">
                <a:solidFill>
                  <a:schemeClr val="tx2"/>
                </a:solidFill>
              </a:rPr>
              <a:t>Finalized Operational Handoff </a:t>
            </a:r>
            <a:br>
              <a:rPr lang="en-US" sz="800">
                <a:solidFill>
                  <a:schemeClr val="tx2"/>
                </a:solidFill>
              </a:rPr>
            </a:br>
            <a:r>
              <a:rPr lang="en-US" sz="800">
                <a:solidFill>
                  <a:schemeClr val="tx2"/>
                </a:solidFill>
              </a:rPr>
              <a:t>and Knowledge Transfer </a:t>
            </a:r>
            <a:br>
              <a:rPr lang="en-US" sz="800">
                <a:solidFill>
                  <a:schemeClr val="tx2"/>
                </a:solidFill>
              </a:rPr>
            </a:br>
            <a:r>
              <a:rPr lang="en-US" sz="800">
                <a:solidFill>
                  <a:schemeClr val="tx2"/>
                </a:solidFill>
              </a:rPr>
              <a:t>Materials (PPT/DOC).</a:t>
            </a:r>
          </a:p>
        </p:txBody>
      </p:sp>
      <p:sp>
        <p:nvSpPr>
          <p:cNvPr id="43" name="TextBox 42">
            <a:extLst>
              <a:ext uri="{FF2B5EF4-FFF2-40B4-BE49-F238E27FC236}">
                <a16:creationId xmlns:a16="http://schemas.microsoft.com/office/drawing/2014/main" id="{C207DEF6-D51A-915A-517C-19147A180744}"/>
              </a:ext>
            </a:extLst>
          </p:cNvPr>
          <p:cNvSpPr txBox="1"/>
          <p:nvPr/>
        </p:nvSpPr>
        <p:spPr>
          <a:xfrm>
            <a:off x="11239500"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C.3</a:t>
            </a:r>
          </a:p>
        </p:txBody>
      </p:sp>
      <p:sp>
        <p:nvSpPr>
          <p:cNvPr id="44" name="TextBox 43">
            <a:extLst>
              <a:ext uri="{FF2B5EF4-FFF2-40B4-BE49-F238E27FC236}">
                <a16:creationId xmlns:a16="http://schemas.microsoft.com/office/drawing/2014/main" id="{716BE5C0-C30E-B44C-BA3D-18E720700FEE}"/>
              </a:ext>
            </a:extLst>
          </p:cNvPr>
          <p:cNvSpPr txBox="1"/>
          <p:nvPr/>
        </p:nvSpPr>
        <p:spPr>
          <a:xfrm>
            <a:off x="8881151"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C.1</a:t>
            </a:r>
          </a:p>
        </p:txBody>
      </p:sp>
      <p:sp>
        <p:nvSpPr>
          <p:cNvPr id="45" name="TextBox 44">
            <a:extLst>
              <a:ext uri="{FF2B5EF4-FFF2-40B4-BE49-F238E27FC236}">
                <a16:creationId xmlns:a16="http://schemas.microsoft.com/office/drawing/2014/main" id="{F9903A0E-F7C5-3419-BA2F-418C5DC86356}"/>
              </a:ext>
            </a:extLst>
          </p:cNvPr>
          <p:cNvSpPr txBox="1"/>
          <p:nvPr/>
        </p:nvSpPr>
        <p:spPr>
          <a:xfrm>
            <a:off x="8881151" y="305277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C.2</a:t>
            </a:r>
          </a:p>
        </p:txBody>
      </p:sp>
      <p:sp>
        <p:nvSpPr>
          <p:cNvPr id="48" name="Rectangle 47">
            <a:extLst>
              <a:ext uri="{FF2B5EF4-FFF2-40B4-BE49-F238E27FC236}">
                <a16:creationId xmlns:a16="http://schemas.microsoft.com/office/drawing/2014/main" id="{4C117AA5-1A98-28E7-D27D-DD4BF3241543}"/>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2045327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9CC42E-9D47-C0A2-8BEE-C78EC9A0A941}"/>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E8AA02E-B971-42D8-1761-08C5B7F9013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1E8AA02E-B971-42D8-1761-08C5B7F901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343BE61-9B5E-D325-EE1E-D49C7C6D72E5}"/>
              </a:ext>
            </a:extLst>
          </p:cNvPr>
          <p:cNvSpPr>
            <a:spLocks noGrp="1"/>
          </p:cNvSpPr>
          <p:nvPr>
            <p:ph type="title"/>
          </p:nvPr>
        </p:nvSpPr>
        <p:spPr/>
        <p:txBody>
          <a:bodyPr vert="horz" rIns="0"/>
          <a:lstStyle/>
          <a:p>
            <a:r>
              <a:rPr lang="en-US"/>
              <a:t>Workstream C – Data Architecture and Pipeline Enablement (2/2)</a:t>
            </a:r>
            <a:br>
              <a:rPr lang="en-US"/>
            </a:br>
            <a:r>
              <a:rPr lang="en-US" sz="1600" b="0"/>
              <a:t>The factory – Planning</a:t>
            </a:r>
          </a:p>
        </p:txBody>
      </p:sp>
      <p:sp>
        <p:nvSpPr>
          <p:cNvPr id="10" name="Rectangle 9">
            <a:extLst>
              <a:ext uri="{FF2B5EF4-FFF2-40B4-BE49-F238E27FC236}">
                <a16:creationId xmlns:a16="http://schemas.microsoft.com/office/drawing/2014/main" id="{A334ECE1-AC74-F53D-E574-06717B3F8509}"/>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5" name="Rectangle 4">
            <a:extLst>
              <a:ext uri="{FF2B5EF4-FFF2-40B4-BE49-F238E27FC236}">
                <a16:creationId xmlns:a16="http://schemas.microsoft.com/office/drawing/2014/main" id="{1E0F4058-9521-7BF6-741E-0231D1FA0D7B}"/>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7" name="Rectangle: Top Corners Rounded 6">
            <a:extLst>
              <a:ext uri="{FF2B5EF4-FFF2-40B4-BE49-F238E27FC236}">
                <a16:creationId xmlns:a16="http://schemas.microsoft.com/office/drawing/2014/main" id="{1521203C-8689-C0B4-8070-FC382334AFDB}"/>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9" name="Content Placeholder 6">
            <a:extLst>
              <a:ext uri="{FF2B5EF4-FFF2-40B4-BE49-F238E27FC236}">
                <a16:creationId xmlns:a16="http://schemas.microsoft.com/office/drawing/2014/main" id="{A950392F-BB92-EB45-1BC1-DF1E8389D53E}"/>
              </a:ext>
            </a:extLst>
          </p:cNvPr>
          <p:cNvGraphicFramePr>
            <a:graphicFrameLocks/>
          </p:cNvGraphicFramePr>
          <p:nvPr>
            <p:extLst>
              <p:ext uri="{D42A27DB-BD31-4B8C-83A1-F6EECF244321}">
                <p14:modId xmlns:p14="http://schemas.microsoft.com/office/powerpoint/2010/main" val="4116321984"/>
              </p:ext>
            </p:extLst>
          </p:nvPr>
        </p:nvGraphicFramePr>
        <p:xfrm>
          <a:off x="538691" y="1509729"/>
          <a:ext cx="11133137" cy="2664261"/>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180029292"/>
                    </a:ext>
                  </a:extLst>
                </a:gridCol>
              </a:tblGrid>
              <a:tr h="793058">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Finalize Databricks Delta Live Tables (DLT) &amp; Workspace Architecture Design.</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Define PHI/PII Masking and Security Requirements.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Draft Enrichment Access and Integration Specifications.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Pre-populate the Reusable Code Template Catalog.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413144615"/>
                  </a:ext>
                </a:extLst>
              </a:tr>
              <a:tr h="793058">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Approved Architecture &amp; Unity Catalog Taxonomy (Workstream A)</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121 Source Family Taxonomies &amp; Data Contracts (Workstream B1)</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Operational Ingestion Routes &amp; Bronze Tables (Workstream B2)</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Network Clearance &amp; Firewall Permissions (CVS Network Team)</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457196652"/>
                  </a:ext>
                </a:extLst>
              </a:tr>
              <a:tr h="1078145">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Reusable PySpark and Spark SQL view abstractions mapped to conformed Silver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Transformational mappings (e.g., Splunk accelerated data models translated into optimized, pre-summarized Silver and Gold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D: Fully integrated enrichment dimensions (CMDB, identity) allowing security analysts to build cross-domain queries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Handover of Spark SQL Cheat Sheets, workspace guides, and Databricks SQL notebook templates to support user onboarding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E: Live telemetry metrics reflecting pipeline performance, query response times, and platform adoption statistics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F: Reusable DLT code libraries, parameterized templates, pipeline failure recovery runbooks, and SLA/SLO monitoring dashboard templates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3" name="Content Placeholder 6">
            <a:extLst>
              <a:ext uri="{FF2B5EF4-FFF2-40B4-BE49-F238E27FC236}">
                <a16:creationId xmlns:a16="http://schemas.microsoft.com/office/drawing/2014/main" id="{18083E50-90C6-A3D7-35D2-00E95DC96127}"/>
              </a:ext>
            </a:extLst>
          </p:cNvPr>
          <p:cNvGraphicFramePr>
            <a:graphicFrameLocks/>
          </p:cNvGraphicFramePr>
          <p:nvPr>
            <p:extLst>
              <p:ext uri="{D42A27DB-BD31-4B8C-83A1-F6EECF244321}">
                <p14:modId xmlns:p14="http://schemas.microsoft.com/office/powerpoint/2010/main" val="2850655849"/>
              </p:ext>
            </p:extLst>
          </p:nvPr>
        </p:nvGraphicFramePr>
        <p:xfrm>
          <a:off x="545041" y="4178786"/>
          <a:ext cx="11142398" cy="160528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006706">
                  <a:extLst>
                    <a:ext uri="{9D8B030D-6E8A-4147-A177-3AD203B41FA5}">
                      <a16:colId xmlns:a16="http://schemas.microsoft.com/office/drawing/2014/main" val="1699332636"/>
                    </a:ext>
                  </a:extLst>
                </a:gridCol>
                <a:gridCol w="2006706">
                  <a:extLst>
                    <a:ext uri="{9D8B030D-6E8A-4147-A177-3AD203B41FA5}">
                      <a16:colId xmlns:a16="http://schemas.microsoft.com/office/drawing/2014/main" val="2684621038"/>
                    </a:ext>
                  </a:extLst>
                </a:gridCol>
                <a:gridCol w="2006706">
                  <a:extLst>
                    <a:ext uri="{9D8B030D-6E8A-4147-A177-3AD203B41FA5}">
                      <a16:colId xmlns:a16="http://schemas.microsoft.com/office/drawing/2014/main" val="1078624516"/>
                    </a:ext>
                  </a:extLst>
                </a:gridCol>
                <a:gridCol w="2006706">
                  <a:extLst>
                    <a:ext uri="{9D8B030D-6E8A-4147-A177-3AD203B41FA5}">
                      <a16:colId xmlns:a16="http://schemas.microsoft.com/office/drawing/2014/main" val="1203515095"/>
                    </a:ext>
                  </a:extLst>
                </a:gridCol>
                <a:gridCol w="2006706">
                  <a:extLst>
                    <a:ext uri="{9D8B030D-6E8A-4147-A177-3AD203B41FA5}">
                      <a16:colId xmlns:a16="http://schemas.microsoft.com/office/drawing/2014/main" val="2879089484"/>
                    </a:ext>
                  </a:extLst>
                </a:gridCol>
              </a:tblGrid>
              <a:tr h="475476">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Medallion Architecture Framework &amp; Reusable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DLT Templates</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457063" rtl="0" eaLnBrk="1" fontAlgn="ctr" latinLnBrk="0" hangingPunct="1"/>
                      <a:r>
                        <a:rPr lang="en-US" sz="1000" b="1" kern="1500">
                          <a:solidFill>
                            <a:srgbClr val="0A4B8C"/>
                          </a:solidFill>
                          <a:latin typeface="+mn-lt"/>
                          <a:ea typeface="+mn-ea"/>
                          <a:cs typeface="+mn-cs"/>
                        </a:rPr>
                        <a:t>Data Quality, Security, &amp; Compliance Governance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Contextual Cross-Domain Enrichments</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Gold Analytics Products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Self-Service Enablement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Production Hardening, SLOs, &amp; BAU Operational Handoff</a:t>
                      </a:r>
                      <a:endParaRPr lang="en-US" sz="1000" b="1" kern="1500">
                        <a:solidFill>
                          <a:srgbClr val="0A4B8C"/>
                        </a:solidFill>
                        <a:latin typeface="+mn-lt"/>
                        <a:ea typeface="+mn-ea"/>
                        <a:cs typeface="+mn-cs"/>
                      </a:endParaRP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Silver Domain and DLT Pipeline Standards Definition </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Reusable DLT Template Development </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Bronze-to-Silver Pipeline Ingestion Scales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2.1: PHI/PII Masking &amp; HIPAA Pipeline Safeguards </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2.2: Unity Catalog Namespace &amp; Access Controls </a:t>
                      </a:r>
                    </a:p>
                    <a:p>
                      <a:pPr marL="137160" indent="-137160" algn="l" defTabSz="457063" rtl="0" eaLnBrk="1" fontAlgn="ctr" latinLnBrk="0" hangingPunct="1">
                        <a:spcAft>
                          <a:spcPts val="200"/>
                        </a:spcAft>
                        <a:buFont typeface="Arial" panose="020B0604020202020204" pitchFamily="34" charset="0"/>
                        <a:buChar char="•"/>
                      </a:pPr>
                      <a:r>
                        <a:rPr lang="en-US" sz="1000" b="0" kern="1500">
                          <a:solidFill>
                            <a:schemeClr val="tx2"/>
                          </a:solidFill>
                          <a:latin typeface="+mn-lt"/>
                          <a:ea typeface="+mn-ea"/>
                          <a:cs typeface="+mn-cs"/>
                        </a:rPr>
                        <a:t>2.3: Data Lineage &amp; Audit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Trail Instrumentation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3.1: Enterprise CMDB &amp; IT Asset Integration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3.2: Identity &amp; Location Context Feeds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3.3: Threat Intelligence &amp; Vulnerability Enrichment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4.1: Gold Data Product Curation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4.2: Team-Owned Gold Workspace Allocation &amp; Chargeback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4.3: Legacy Query and Detection-as-Code Translations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5.1: Pipeline Optimization &amp; Freshness SLA Tuning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 5.2: Monitoring, Runbooks, &amp; Alerting Setup </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 5.3: Reverse-Shadowing &amp; Operational Transition </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6" name="Group 25">
            <a:extLst>
              <a:ext uri="{FF2B5EF4-FFF2-40B4-BE49-F238E27FC236}">
                <a16:creationId xmlns:a16="http://schemas.microsoft.com/office/drawing/2014/main" id="{0E0B5D35-FCAD-4D7F-5CCB-834D5B40EF15}"/>
              </a:ext>
            </a:extLst>
          </p:cNvPr>
          <p:cNvGrpSpPr/>
          <p:nvPr/>
        </p:nvGrpSpPr>
        <p:grpSpPr>
          <a:xfrm>
            <a:off x="545041" y="4710204"/>
            <a:ext cx="11125201" cy="999"/>
            <a:chOff x="531813" y="5259957"/>
            <a:chExt cx="11125201" cy="999"/>
          </a:xfrm>
        </p:grpSpPr>
        <p:cxnSp>
          <p:nvCxnSpPr>
            <p:cNvPr id="28" name="Straight Connector 27">
              <a:extLst>
                <a:ext uri="{FF2B5EF4-FFF2-40B4-BE49-F238E27FC236}">
                  <a16:creationId xmlns:a16="http://schemas.microsoft.com/office/drawing/2014/main" id="{7FB8B563-078B-0764-B09D-D0D568D9A32E}"/>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1A97F24-15BF-1D46-C8F8-F006358748A8}"/>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256BBEAE-E2E4-7B44-2C45-82A93FB47C8E}"/>
              </a:ext>
            </a:extLst>
          </p:cNvPr>
          <p:cNvGrpSpPr/>
          <p:nvPr/>
        </p:nvGrpSpPr>
        <p:grpSpPr>
          <a:xfrm>
            <a:off x="545041" y="3083719"/>
            <a:ext cx="11127580" cy="1695"/>
            <a:chOff x="529432" y="4264661"/>
            <a:chExt cx="11127580" cy="1695"/>
          </a:xfrm>
        </p:grpSpPr>
        <p:cxnSp>
          <p:nvCxnSpPr>
            <p:cNvPr id="31" name="Straight Connector 30">
              <a:extLst>
                <a:ext uri="{FF2B5EF4-FFF2-40B4-BE49-F238E27FC236}">
                  <a16:creationId xmlns:a16="http://schemas.microsoft.com/office/drawing/2014/main" id="{16DB90DD-EA92-DD72-7812-5A8D5934C284}"/>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20255BB-F008-6C48-96C7-CBB9FC6FBDA6}"/>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A78E2BA2-C35F-1E3A-2041-3FDF6E679349}"/>
              </a:ext>
            </a:extLst>
          </p:cNvPr>
          <p:cNvGrpSpPr/>
          <p:nvPr/>
        </p:nvGrpSpPr>
        <p:grpSpPr>
          <a:xfrm>
            <a:off x="545041" y="2286902"/>
            <a:ext cx="11125201" cy="0"/>
            <a:chOff x="531813" y="3716075"/>
            <a:chExt cx="11125201" cy="0"/>
          </a:xfrm>
        </p:grpSpPr>
        <p:cxnSp>
          <p:nvCxnSpPr>
            <p:cNvPr id="34" name="Straight Connector 33">
              <a:extLst>
                <a:ext uri="{FF2B5EF4-FFF2-40B4-BE49-F238E27FC236}">
                  <a16:creationId xmlns:a16="http://schemas.microsoft.com/office/drawing/2014/main" id="{A0D8923D-EAB1-5B37-47C8-5FCDD8B59D1A}"/>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8ED9059-22AD-2DFB-0B98-8E3D6F3E5A81}"/>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0E21FA9A-2164-DFBA-F962-1D7696C03565}"/>
              </a:ext>
            </a:extLst>
          </p:cNvPr>
          <p:cNvGrpSpPr/>
          <p:nvPr/>
        </p:nvGrpSpPr>
        <p:grpSpPr>
          <a:xfrm>
            <a:off x="545041" y="4192257"/>
            <a:ext cx="11125201" cy="1"/>
            <a:chOff x="531813" y="4848012"/>
            <a:chExt cx="11125201" cy="1"/>
          </a:xfrm>
        </p:grpSpPr>
        <p:cxnSp>
          <p:nvCxnSpPr>
            <p:cNvPr id="37" name="Straight Connector 36">
              <a:extLst>
                <a:ext uri="{FF2B5EF4-FFF2-40B4-BE49-F238E27FC236}">
                  <a16:creationId xmlns:a16="http://schemas.microsoft.com/office/drawing/2014/main" id="{DB794112-18B2-9F78-2A8B-B32C16D31692}"/>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A17388-052F-53AB-2650-88DC3DA9D5B2}"/>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18874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FDE575-D12A-6D3C-7493-2BFD1E8054E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4EBA91D-B8EC-2DA2-F3F3-0823467EEF0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34EBA91D-B8EC-2DA2-F3F3-0823467EEF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6B30AEC-77F8-2096-B518-BF06B2D6D9F7}"/>
              </a:ext>
            </a:extLst>
          </p:cNvPr>
          <p:cNvSpPr>
            <a:spLocks noGrp="1"/>
          </p:cNvSpPr>
          <p:nvPr>
            <p:ph type="title"/>
          </p:nvPr>
        </p:nvSpPr>
        <p:spPr/>
        <p:txBody>
          <a:bodyPr vert="horz" rIns="0"/>
          <a:lstStyle/>
          <a:p>
            <a:r>
              <a:rPr lang="en-US" sz="2200"/>
              <a:t>Workstream D – Observability, Availability and Performance Monitoring Rationalization (1/2)</a:t>
            </a:r>
            <a:br>
              <a:rPr lang="en-US"/>
            </a:br>
            <a:r>
              <a:rPr lang="en-US" sz="1600" b="0"/>
              <a:t>Monitoring &amp; Analytics – From the SOW and other planning documents</a:t>
            </a:r>
          </a:p>
        </p:txBody>
      </p:sp>
      <p:sp>
        <p:nvSpPr>
          <p:cNvPr id="8" name="Rectangle: Top Corners Rounded 7">
            <a:extLst>
              <a:ext uri="{FF2B5EF4-FFF2-40B4-BE49-F238E27FC236}">
                <a16:creationId xmlns:a16="http://schemas.microsoft.com/office/drawing/2014/main" id="{4B2A4BB9-070E-3376-D2F0-38CC7AD48025}"/>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9" name="TextBox 8">
            <a:extLst>
              <a:ext uri="{FF2B5EF4-FFF2-40B4-BE49-F238E27FC236}">
                <a16:creationId xmlns:a16="http://schemas.microsoft.com/office/drawing/2014/main" id="{05949485-AD09-D296-D928-B0960EA09477}"/>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0" name="TextBox 9">
            <a:extLst>
              <a:ext uri="{FF2B5EF4-FFF2-40B4-BE49-F238E27FC236}">
                <a16:creationId xmlns:a16="http://schemas.microsoft.com/office/drawing/2014/main" id="{3B23B387-CD39-24B6-B1CF-AA68BA0BB818}"/>
              </a:ext>
            </a:extLst>
          </p:cNvPr>
          <p:cNvSpPr txBox="1"/>
          <p:nvPr/>
        </p:nvSpPr>
        <p:spPr>
          <a:xfrm>
            <a:off x="543482" y="2095123"/>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11" name="TextBox 10">
            <a:extLst>
              <a:ext uri="{FF2B5EF4-FFF2-40B4-BE49-F238E27FC236}">
                <a16:creationId xmlns:a16="http://schemas.microsoft.com/office/drawing/2014/main" id="{17B4F3EB-E56C-F96C-A144-51F9D3A3357E}"/>
              </a:ext>
            </a:extLst>
          </p:cNvPr>
          <p:cNvSpPr txBox="1"/>
          <p:nvPr/>
        </p:nvSpPr>
        <p:spPr>
          <a:xfrm>
            <a:off x="543483" y="2869750"/>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grpSp>
        <p:nvGrpSpPr>
          <p:cNvPr id="15" name="Group 14">
            <a:extLst>
              <a:ext uri="{FF2B5EF4-FFF2-40B4-BE49-F238E27FC236}">
                <a16:creationId xmlns:a16="http://schemas.microsoft.com/office/drawing/2014/main" id="{54650522-B6A2-48D2-12DB-757927B8C691}"/>
              </a:ext>
            </a:extLst>
          </p:cNvPr>
          <p:cNvGrpSpPr/>
          <p:nvPr/>
        </p:nvGrpSpPr>
        <p:grpSpPr>
          <a:xfrm>
            <a:off x="1366590" y="1490133"/>
            <a:ext cx="4748460" cy="3495581"/>
            <a:chOff x="1366590" y="1490133"/>
            <a:chExt cx="4748460" cy="3495581"/>
          </a:xfrm>
        </p:grpSpPr>
        <p:sp>
          <p:nvSpPr>
            <p:cNvPr id="17" name="TextBox 16">
              <a:extLst>
                <a:ext uri="{FF2B5EF4-FFF2-40B4-BE49-F238E27FC236}">
                  <a16:creationId xmlns:a16="http://schemas.microsoft.com/office/drawing/2014/main" id="{04CCF068-220D-3F3C-FC71-80FDB33F98DD}"/>
                </a:ext>
              </a:extLst>
            </p:cNvPr>
            <p:cNvSpPr txBox="1"/>
            <p:nvPr/>
          </p:nvSpPr>
          <p:spPr>
            <a:xfrm>
              <a:off x="1366590" y="1490133"/>
              <a:ext cx="4693922" cy="461665"/>
            </a:xfrm>
            <a:prstGeom prst="rect">
              <a:avLst/>
            </a:prstGeom>
            <a:noFill/>
          </p:spPr>
          <p:txBody>
            <a:bodyPr wrap="square" lIns="0" tIns="0" rIns="0" bIns="0">
              <a:spAutoFit/>
            </a:bodyPr>
            <a:lstStyle/>
            <a:p>
              <a:r>
                <a:rPr lang="en-US" sz="1000">
                  <a:solidFill>
                    <a:schemeClr val="tx2"/>
                  </a:solidFill>
                </a:rPr>
                <a:t>Rationalize &amp; rebuild queries, dashboards, and alerts used to monitor various network, asset, identity and application patterns for migration to Databricks (SQL) from Splunk (SPL).</a:t>
              </a:r>
            </a:p>
          </p:txBody>
        </p:sp>
        <p:sp>
          <p:nvSpPr>
            <p:cNvPr id="25" name="TextBox 24">
              <a:extLst>
                <a:ext uri="{FF2B5EF4-FFF2-40B4-BE49-F238E27FC236}">
                  <a16:creationId xmlns:a16="http://schemas.microsoft.com/office/drawing/2014/main" id="{1F154FEE-D30E-52EE-8269-AE57A32C76AA}"/>
                </a:ext>
              </a:extLst>
            </p:cNvPr>
            <p:cNvSpPr txBox="1"/>
            <p:nvPr/>
          </p:nvSpPr>
          <p:spPr>
            <a:xfrm>
              <a:off x="1366590" y="2105460"/>
              <a:ext cx="4575208" cy="615553"/>
            </a:xfrm>
            <a:prstGeom prst="rect">
              <a:avLst/>
            </a:prstGeom>
            <a:noFill/>
          </p:spPr>
          <p:txBody>
            <a:bodyPr wrap="square" lIns="0" tIns="0" rIns="0" bIns="0">
              <a:spAutoFit/>
            </a:bodyPr>
            <a:lstStyle/>
            <a:p>
              <a:pPr algn="l"/>
              <a:r>
                <a:rPr lang="en-US" sz="1000">
                  <a:solidFill>
                    <a:schemeClr val="tx2"/>
                  </a:solidFill>
                </a:rPr>
                <a:t>Rationalize and migrate selected analytics from legacy analytics platform Enterprise, legacy analytics platform Core, and AIOps into Databricks, translating queries, accelerated data models, reports and dashboards and deploying them to production for selected stakeholders’ use.</a:t>
              </a:r>
            </a:p>
          </p:txBody>
        </p:sp>
        <p:sp>
          <p:nvSpPr>
            <p:cNvPr id="26" name="TextBox 25">
              <a:extLst>
                <a:ext uri="{FF2B5EF4-FFF2-40B4-BE49-F238E27FC236}">
                  <a16:creationId xmlns:a16="http://schemas.microsoft.com/office/drawing/2014/main" id="{954EC82B-9BE7-713F-13EB-95A9D5EE5FC1}"/>
                </a:ext>
              </a:extLst>
            </p:cNvPr>
            <p:cNvSpPr txBox="1"/>
            <p:nvPr/>
          </p:nvSpPr>
          <p:spPr>
            <a:xfrm>
              <a:off x="1366590" y="2869750"/>
              <a:ext cx="4748460" cy="2115964"/>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Inventory &amp; Rationalize: </a:t>
              </a:r>
              <a:r>
                <a:rPr lang="en-US" sz="1000" kern="1500">
                  <a:solidFill>
                    <a:schemeClr val="tx2"/>
                  </a:solidFill>
                </a:rPr>
                <a:t>Inventory all content including saved queries (custom/default, enabled/disabled), reports, stats tables, and confirm scoped quantities along with any business priorities or context</a:t>
              </a:r>
            </a:p>
            <a:p>
              <a:pPr marL="137160" lvl="1" indent="-137160">
                <a:spcAft>
                  <a:spcPts val="300"/>
                </a:spcAft>
                <a:buFont typeface="Arial" panose="020B0604020202020204" pitchFamily="34" charset="0"/>
                <a:buChar char="•"/>
              </a:pPr>
              <a:r>
                <a:rPr lang="en-US" sz="1000" b="1" kern="1500">
                  <a:solidFill>
                    <a:schemeClr val="tx2"/>
                  </a:solidFill>
                </a:rPr>
                <a:t>Dependency Mapping &amp; Prioritization: </a:t>
              </a:r>
              <a:r>
                <a:rPr lang="en-US" sz="1000" kern="1500">
                  <a:solidFill>
                    <a:schemeClr val="tx2"/>
                  </a:solidFill>
                </a:rPr>
                <a:t>De-duplicate, consolidate, and decompose items to enumerate input sources and dependencies. Coordinate dependencies with data set migration from Bronze to Silver and establish tranches of query migration work split amongst developer pods</a:t>
              </a:r>
            </a:p>
            <a:p>
              <a:pPr marL="137160" lvl="1" indent="-137160">
                <a:spcAft>
                  <a:spcPts val="300"/>
                </a:spcAft>
                <a:buFont typeface="Arial" panose="020B0604020202020204" pitchFamily="34" charset="0"/>
                <a:buChar char="•"/>
              </a:pPr>
              <a:r>
                <a:rPr lang="en-US" sz="1000" b="1" kern="1500">
                  <a:solidFill>
                    <a:schemeClr val="tx2"/>
                  </a:solidFill>
                </a:rPr>
                <a:t>Query Translation, Migration and Refactoring: </a:t>
              </a:r>
              <a:r>
                <a:rPr lang="en-US" sz="1000" kern="1500">
                  <a:solidFill>
                    <a:schemeClr val="tx2"/>
                  </a:solidFill>
                </a:rPr>
                <a:t>Migrate decided content from legacy analytics platform Enterprise to Databricks refactoring queries as-needed to accommodate new data schema within Databricks testing and validating functionality as we progress</a:t>
              </a:r>
            </a:p>
            <a:p>
              <a:pPr marL="137160" lvl="1" indent="-137160">
                <a:spcAft>
                  <a:spcPts val="300"/>
                </a:spcAft>
                <a:buFont typeface="Arial" panose="020B0604020202020204" pitchFamily="34" charset="0"/>
                <a:buChar char="•"/>
              </a:pPr>
              <a:r>
                <a:rPr lang="en-US" sz="1000" b="1" kern="1500">
                  <a:solidFill>
                    <a:schemeClr val="tx2"/>
                  </a:solidFill>
                </a:rPr>
                <a:t>Validation &amp; Handover: </a:t>
              </a:r>
              <a:r>
                <a:rPr lang="en-US" sz="1000" kern="1500">
                  <a:solidFill>
                    <a:schemeClr val="tx2"/>
                  </a:solidFill>
                </a:rPr>
                <a:t>Perform and workshops, produce documentation, provide final testing and receive stakeholders sign-off on migrated content</a:t>
              </a:r>
            </a:p>
          </p:txBody>
        </p:sp>
      </p:grpSp>
      <p:sp>
        <p:nvSpPr>
          <p:cNvPr id="31" name="TextBox 30">
            <a:extLst>
              <a:ext uri="{FF2B5EF4-FFF2-40B4-BE49-F238E27FC236}">
                <a16:creationId xmlns:a16="http://schemas.microsoft.com/office/drawing/2014/main" id="{1666C53D-CE5D-DFBD-DDDD-7D40A886A214}"/>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32" name="Group 31">
            <a:extLst>
              <a:ext uri="{FF2B5EF4-FFF2-40B4-BE49-F238E27FC236}">
                <a16:creationId xmlns:a16="http://schemas.microsoft.com/office/drawing/2014/main" id="{9768C502-7405-9C0E-F5DD-4496519FD7A9}"/>
              </a:ext>
            </a:extLst>
          </p:cNvPr>
          <p:cNvGrpSpPr/>
          <p:nvPr/>
        </p:nvGrpSpPr>
        <p:grpSpPr>
          <a:xfrm>
            <a:off x="533400" y="2026166"/>
            <a:ext cx="5562600" cy="4926"/>
            <a:chOff x="533400" y="1886078"/>
            <a:chExt cx="5562600" cy="4926"/>
          </a:xfrm>
        </p:grpSpPr>
        <p:cxnSp>
          <p:nvCxnSpPr>
            <p:cNvPr id="33" name="Straight Connector 32">
              <a:extLst>
                <a:ext uri="{FF2B5EF4-FFF2-40B4-BE49-F238E27FC236}">
                  <a16:creationId xmlns:a16="http://schemas.microsoft.com/office/drawing/2014/main" id="{43BB1A46-0869-B7FF-7740-A9E389A6CCD6}"/>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BFB919D-C8F7-DE6F-8819-AB44E6ACDE23}"/>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4C7C10F-F46D-488A-3666-FD061547552A}"/>
              </a:ext>
            </a:extLst>
          </p:cNvPr>
          <p:cNvGrpSpPr/>
          <p:nvPr/>
        </p:nvGrpSpPr>
        <p:grpSpPr>
          <a:xfrm>
            <a:off x="533400" y="2795381"/>
            <a:ext cx="5562600" cy="0"/>
            <a:chOff x="533400" y="2463561"/>
            <a:chExt cx="5562600" cy="0"/>
          </a:xfrm>
        </p:grpSpPr>
        <p:cxnSp>
          <p:nvCxnSpPr>
            <p:cNvPr id="36" name="Straight Connector 35">
              <a:extLst>
                <a:ext uri="{FF2B5EF4-FFF2-40B4-BE49-F238E27FC236}">
                  <a16:creationId xmlns:a16="http://schemas.microsoft.com/office/drawing/2014/main" id="{90FE5977-29AB-0E15-EBA6-94AF97577880}"/>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CD5E773-8D1A-DD2E-01EA-BED235219564}"/>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40" name="Rectangle: Rounded Corners 39">
            <a:extLst>
              <a:ext uri="{FF2B5EF4-FFF2-40B4-BE49-F238E27FC236}">
                <a16:creationId xmlns:a16="http://schemas.microsoft.com/office/drawing/2014/main" id="{B4C17144-DF19-AC1F-729E-09601BC79F10}"/>
              </a:ext>
            </a:extLst>
          </p:cNvPr>
          <p:cNvSpPr/>
          <p:nvPr/>
        </p:nvSpPr>
        <p:spPr bwMode="gray">
          <a:xfrm>
            <a:off x="6286500" y="1672389"/>
            <a:ext cx="5370513" cy="779752"/>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Rationalization &amp; Prioritization</a:t>
            </a:r>
          </a:p>
          <a:p>
            <a:pPr defTabSz="457063" fontAlgn="ctr">
              <a:defRPr/>
            </a:pPr>
            <a:r>
              <a:rPr lang="en-US" sz="800" b="1">
                <a:solidFill>
                  <a:srgbClr val="00A78E"/>
                </a:solidFill>
              </a:rPr>
              <a:t>Timing: </a:t>
            </a:r>
            <a:r>
              <a:rPr lang="en-US" sz="800" b="1">
                <a:solidFill>
                  <a:schemeClr val="tx2"/>
                </a:solidFill>
              </a:rPr>
              <a:t>Sep 2026 – Dec 2026</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 Analytics Inventory and Ownership Matrix (XLS) summarizing activities performed.</a:t>
            </a:r>
          </a:p>
          <a:p>
            <a:pPr marL="91440" indent="-91440">
              <a:buFont typeface="Arial" panose="020B0604020202020204" pitchFamily="34" charset="0"/>
              <a:buChar char="•"/>
            </a:pPr>
            <a:r>
              <a:rPr lang="en-US" sz="800">
                <a:solidFill>
                  <a:schemeClr val="tx2"/>
                </a:solidFill>
              </a:rPr>
              <a:t>Rationalization and Prioritization Assessment (PPT/XLS)</a:t>
            </a:r>
          </a:p>
          <a:p>
            <a:pPr marL="91440" indent="-91440">
              <a:buFont typeface="Arial" panose="020B0604020202020204" pitchFamily="34" charset="0"/>
              <a:buChar char="•"/>
            </a:pPr>
            <a:r>
              <a:rPr lang="en-US" sz="800">
                <a:solidFill>
                  <a:schemeClr val="tx2"/>
                </a:solidFill>
              </a:rPr>
              <a:t>Query Conversion Tracker and Migration Backlog (XLS)</a:t>
            </a:r>
            <a:endParaRPr lang="en-US" sz="800"/>
          </a:p>
          <a:p>
            <a:pPr defTabSz="457063" fontAlgn="ctr">
              <a:defRPr/>
            </a:pPr>
            <a:endParaRPr lang="en-US" sz="1000" kern="1500">
              <a:solidFill>
                <a:srgbClr val="0B315E"/>
              </a:solidFill>
            </a:endParaRPr>
          </a:p>
        </p:txBody>
      </p:sp>
      <p:sp>
        <p:nvSpPr>
          <p:cNvPr id="42" name="TextBox 41">
            <a:extLst>
              <a:ext uri="{FF2B5EF4-FFF2-40B4-BE49-F238E27FC236}">
                <a16:creationId xmlns:a16="http://schemas.microsoft.com/office/drawing/2014/main" id="{E0A53B92-94E1-C2FD-A8AB-C0DD14B0E062}"/>
              </a:ext>
            </a:extLst>
          </p:cNvPr>
          <p:cNvSpPr txBox="1"/>
          <p:nvPr/>
        </p:nvSpPr>
        <p:spPr>
          <a:xfrm>
            <a:off x="11247120" y="1672389"/>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D.1</a:t>
            </a:r>
          </a:p>
        </p:txBody>
      </p:sp>
      <p:grpSp>
        <p:nvGrpSpPr>
          <p:cNvPr id="48" name="Group 47">
            <a:extLst>
              <a:ext uri="{FF2B5EF4-FFF2-40B4-BE49-F238E27FC236}">
                <a16:creationId xmlns:a16="http://schemas.microsoft.com/office/drawing/2014/main" id="{AAC0ED33-38AA-18CC-FFA3-421A165BED55}"/>
              </a:ext>
            </a:extLst>
          </p:cNvPr>
          <p:cNvGrpSpPr/>
          <p:nvPr/>
        </p:nvGrpSpPr>
        <p:grpSpPr>
          <a:xfrm>
            <a:off x="6286500" y="2479445"/>
            <a:ext cx="5368427" cy="2494789"/>
            <a:chOff x="6286500" y="2499765"/>
            <a:chExt cx="5368427" cy="2494789"/>
          </a:xfrm>
        </p:grpSpPr>
        <p:sp>
          <p:nvSpPr>
            <p:cNvPr id="49" name="Rectangle: Rounded Corners 48">
              <a:extLst>
                <a:ext uri="{FF2B5EF4-FFF2-40B4-BE49-F238E27FC236}">
                  <a16:creationId xmlns:a16="http://schemas.microsoft.com/office/drawing/2014/main" id="{2E0D596D-5D09-5A18-AA65-5401B1B9F88F}"/>
                </a:ext>
              </a:extLst>
            </p:cNvPr>
            <p:cNvSpPr/>
            <p:nvPr/>
          </p:nvSpPr>
          <p:spPr bwMode="gray">
            <a:xfrm>
              <a:off x="6286500"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1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Oct 2026 – Feb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SQL/ </a:t>
              </a:r>
              <a:r>
                <a:rPr lang="en-US" sz="800" err="1">
                  <a:solidFill>
                    <a:schemeClr val="tx2"/>
                  </a:solidFill>
                </a:rPr>
                <a:t>PySpark</a:t>
              </a:r>
              <a:r>
                <a:rPr lang="en-US" sz="800">
                  <a:solidFill>
                    <a:schemeClr val="tx2"/>
                  </a:solidFill>
                </a:rPr>
                <a:t> Assets (CODE/DBX) for Tier 1 analytics</a:t>
              </a:r>
            </a:p>
            <a:p>
              <a:pPr marL="91440" indent="-91440">
                <a:buFont typeface="Arial" panose="020B0604020202020204" pitchFamily="34" charset="0"/>
                <a:buChar char="•"/>
              </a:pPr>
              <a:r>
                <a:rPr lang="en-US" sz="800">
                  <a:solidFill>
                    <a:schemeClr val="tx2"/>
                  </a:solidFill>
                </a:rPr>
                <a:t>Migrated Dashboards, Reports and Alerts (DBX/DOC) for </a:t>
              </a:r>
              <a:br>
                <a:rPr lang="en-US" sz="800">
                  <a:solidFill>
                    <a:schemeClr val="tx2"/>
                  </a:solidFill>
                </a:rPr>
              </a:br>
              <a:r>
                <a:rPr lang="en-US" sz="800">
                  <a:solidFill>
                    <a:schemeClr val="tx2"/>
                  </a:solidFill>
                </a:rPr>
                <a:t>Tier 1 analytics</a:t>
              </a:r>
            </a:p>
            <a:p>
              <a:pPr marL="91440" indent="-91440">
                <a:buFont typeface="Arial" panose="020B0604020202020204" pitchFamily="34" charset="0"/>
                <a:buChar char="•"/>
              </a:pPr>
              <a:r>
                <a:rPr lang="en-US" sz="800">
                  <a:solidFill>
                    <a:schemeClr val="tx2"/>
                  </a:solidFill>
                </a:rPr>
                <a:t>Recreated Accelerated Data Model Outputs (DBX/DOC) for Tier 1 analytics</a:t>
              </a:r>
            </a:p>
            <a:p>
              <a:pPr marL="91440" indent="-91440">
                <a:buFont typeface="Arial" panose="020B0604020202020204" pitchFamily="34" charset="0"/>
                <a:buChar char="•"/>
              </a:pPr>
              <a:r>
                <a:rPr lang="en-US" sz="800">
                  <a:solidFill>
                    <a:schemeClr val="tx2"/>
                  </a:solidFill>
                </a:rPr>
                <a:t>Validation Results and Before/After Evidence (XLS/PPT) for Tier 1 analytics</a:t>
              </a:r>
            </a:p>
            <a:p>
              <a:pPr marL="91440" indent="-91440">
                <a:buFont typeface="Arial" panose="020B0604020202020204" pitchFamily="34" charset="0"/>
                <a:buChar char="•"/>
              </a:pPr>
              <a:r>
                <a:rPr lang="en-US" sz="800">
                  <a:solidFill>
                    <a:schemeClr val="tx2"/>
                  </a:solidFill>
                </a:rPr>
                <a:t>Migration and Handoff Documentation (DOC/PPT) for </a:t>
              </a:r>
              <a:br>
                <a:rPr lang="en-US" sz="800">
                  <a:solidFill>
                    <a:schemeClr val="tx2"/>
                  </a:solidFill>
                </a:rPr>
              </a:br>
              <a:r>
                <a:rPr lang="en-US" sz="800">
                  <a:solidFill>
                    <a:schemeClr val="tx2"/>
                  </a:solidFill>
                </a:rPr>
                <a:t>Tier 1 analytics</a:t>
              </a:r>
            </a:p>
          </p:txBody>
        </p:sp>
        <p:sp>
          <p:nvSpPr>
            <p:cNvPr id="50" name="Rectangle: Rounded Corners 49">
              <a:extLst>
                <a:ext uri="{FF2B5EF4-FFF2-40B4-BE49-F238E27FC236}">
                  <a16:creationId xmlns:a16="http://schemas.microsoft.com/office/drawing/2014/main" id="{DC3BFEA1-8891-D0A3-8363-04D417A2A62D}"/>
                </a:ext>
              </a:extLst>
            </p:cNvPr>
            <p:cNvSpPr/>
            <p:nvPr/>
          </p:nvSpPr>
          <p:spPr bwMode="gray">
            <a:xfrm>
              <a:off x="8081166"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2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Jan 2027 – May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Converted Databricks SQL/ </a:t>
              </a:r>
              <a:r>
                <a:rPr lang="en-US" sz="800" err="1">
                  <a:solidFill>
                    <a:schemeClr val="tx2"/>
                  </a:solidFill>
                </a:rPr>
                <a:t>PySpark</a:t>
              </a:r>
              <a:r>
                <a:rPr lang="en-US" sz="800">
                  <a:solidFill>
                    <a:schemeClr val="tx2"/>
                  </a:solidFill>
                </a:rPr>
                <a:t> Assets (CODE/DBX) for Tier 2 analytics</a:t>
              </a:r>
            </a:p>
            <a:p>
              <a:pPr marL="91440" indent="-91440">
                <a:buFont typeface="Arial" panose="020B0604020202020204" pitchFamily="34" charset="0"/>
                <a:buChar char="•"/>
              </a:pPr>
              <a:r>
                <a:rPr lang="en-US" sz="800">
                  <a:solidFill>
                    <a:schemeClr val="tx2"/>
                  </a:solidFill>
                </a:rPr>
                <a:t>Migrated Dashboards, Reports and Alerts (DBX/DOC) for Tier 2 analytics</a:t>
              </a:r>
            </a:p>
            <a:p>
              <a:pPr marL="91440" indent="-91440">
                <a:buFont typeface="Arial" panose="020B0604020202020204" pitchFamily="34" charset="0"/>
                <a:buChar char="•"/>
              </a:pPr>
              <a:r>
                <a:rPr lang="en-US" sz="800">
                  <a:solidFill>
                    <a:schemeClr val="tx2"/>
                  </a:solidFill>
                </a:rPr>
                <a:t>Recreated Accelerated Data Model Outputs (DBX/DOC) for Tier 2 analytics</a:t>
              </a:r>
            </a:p>
            <a:p>
              <a:pPr marL="91440" indent="-91440">
                <a:buFont typeface="Arial" panose="020B0604020202020204" pitchFamily="34" charset="0"/>
                <a:buChar char="•"/>
              </a:pPr>
              <a:r>
                <a:rPr lang="en-US" sz="800">
                  <a:solidFill>
                    <a:schemeClr val="tx2"/>
                  </a:solidFill>
                </a:rPr>
                <a:t>Validation Results and Before/After Evidence (XLS/PPT) for Tier 2 analytics</a:t>
              </a:r>
            </a:p>
            <a:p>
              <a:pPr marL="91440" indent="-91440">
                <a:buFont typeface="Arial" panose="020B0604020202020204" pitchFamily="34" charset="0"/>
                <a:buChar char="•"/>
              </a:pPr>
              <a:r>
                <a:rPr lang="en-US" sz="800">
                  <a:solidFill>
                    <a:schemeClr val="tx2"/>
                  </a:solidFill>
                </a:rPr>
                <a:t>Migration and Handoff Documentation (DOC/PPT) for Tier 2 analytics</a:t>
              </a:r>
            </a:p>
          </p:txBody>
        </p:sp>
        <p:sp>
          <p:nvSpPr>
            <p:cNvPr id="51" name="Rectangle: Rounded Corners 50">
              <a:extLst>
                <a:ext uri="{FF2B5EF4-FFF2-40B4-BE49-F238E27FC236}">
                  <a16:creationId xmlns:a16="http://schemas.microsoft.com/office/drawing/2014/main" id="{553F88D6-4F67-DB26-4CF1-23ECC21EBF96}"/>
                </a:ext>
              </a:extLst>
            </p:cNvPr>
            <p:cNvSpPr/>
            <p:nvPr/>
          </p:nvSpPr>
          <p:spPr bwMode="gray">
            <a:xfrm>
              <a:off x="9886172" y="2500696"/>
              <a:ext cx="1768755" cy="2493858"/>
            </a:xfrm>
            <a:prstGeom prst="roundRect">
              <a:avLst>
                <a:gd name="adj" fmla="val 432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rIns="0" bIns="0" rtlCol="0" anchor="t"/>
            <a:lstStyle/>
            <a:p>
              <a:pPr defTabSz="457063" fontAlgn="ctr">
                <a:defRPr/>
              </a:pPr>
              <a:r>
                <a:rPr lang="en-US" sz="800" b="1">
                  <a:solidFill>
                    <a:srgbClr val="00A78E"/>
                  </a:solidFill>
                </a:rPr>
                <a:t>Description: </a:t>
              </a:r>
              <a:r>
                <a:rPr lang="en-US" sz="800">
                  <a:solidFill>
                    <a:schemeClr val="tx2"/>
                  </a:solidFill>
                </a:rPr>
                <a:t>Tier 3 </a:t>
              </a:r>
              <a:br>
                <a:rPr lang="en-US" sz="800">
                  <a:solidFill>
                    <a:schemeClr val="tx2"/>
                  </a:solidFill>
                </a:rPr>
              </a:br>
              <a:r>
                <a:rPr lang="en-US" sz="800">
                  <a:solidFill>
                    <a:schemeClr val="tx2"/>
                  </a:solidFill>
                </a:rPr>
                <a:t>Analytics Translation, </a:t>
              </a:r>
              <a:br>
                <a:rPr lang="en-US" sz="800">
                  <a:solidFill>
                    <a:schemeClr val="tx2"/>
                  </a:solidFill>
                </a:rPr>
              </a:br>
              <a:r>
                <a:rPr lang="en-US" sz="800">
                  <a:solidFill>
                    <a:schemeClr val="tx2"/>
                  </a:solidFill>
                </a:rPr>
                <a:t>Migration, Validation &amp; Handover</a:t>
              </a:r>
            </a:p>
            <a:p>
              <a:pPr defTabSz="457063" fontAlgn="ctr">
                <a:defRPr/>
              </a:pPr>
              <a:r>
                <a:rPr lang="en-US" sz="800" b="1">
                  <a:solidFill>
                    <a:srgbClr val="00A78E"/>
                  </a:solidFill>
                </a:rPr>
                <a:t>Timing: </a:t>
              </a:r>
              <a:r>
                <a:rPr lang="en-US" sz="800" b="1">
                  <a:solidFill>
                    <a:schemeClr val="tx2"/>
                  </a:solidFill>
                </a:rPr>
                <a:t>Apr 2027 – Aug 2027</a:t>
              </a:r>
              <a:endParaRPr lang="en-US" sz="700" b="1">
                <a:solidFill>
                  <a:schemeClr val="tx2"/>
                </a:solidFill>
              </a:endParaRP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Converted Databricks SQL/ </a:t>
              </a:r>
              <a:r>
                <a:rPr lang="en-US" sz="800" err="1">
                  <a:solidFill>
                    <a:schemeClr val="tx2"/>
                  </a:solidFill>
                </a:rPr>
                <a:t>PySpark</a:t>
              </a:r>
              <a:r>
                <a:rPr lang="en-US" sz="800">
                  <a:solidFill>
                    <a:schemeClr val="tx2"/>
                  </a:solidFill>
                </a:rPr>
                <a:t> Assets (CODE/DBX) for Tier 3 analytics</a:t>
              </a:r>
            </a:p>
            <a:p>
              <a:pPr marL="91440" indent="-91440">
                <a:buFont typeface="Arial" panose="020B0604020202020204" pitchFamily="34" charset="0"/>
                <a:buChar char="•"/>
              </a:pPr>
              <a:r>
                <a:rPr lang="en-US" sz="800">
                  <a:solidFill>
                    <a:schemeClr val="tx2"/>
                  </a:solidFill>
                </a:rPr>
                <a:t>Migrated Dashboards, Reports and Alerts (DBX/DOC) for Tier 3 analytics</a:t>
              </a:r>
            </a:p>
            <a:p>
              <a:pPr marL="91440" indent="-91440">
                <a:buFont typeface="Arial" panose="020B0604020202020204" pitchFamily="34" charset="0"/>
                <a:buChar char="•"/>
              </a:pPr>
              <a:r>
                <a:rPr lang="en-US" sz="800">
                  <a:solidFill>
                    <a:schemeClr val="tx2"/>
                  </a:solidFill>
                </a:rPr>
                <a:t>Recreated Accelerated Data Model Outputs (DBX/DOC) for Tier 3 analytics</a:t>
              </a:r>
            </a:p>
            <a:p>
              <a:pPr marL="91440" indent="-91440">
                <a:buFont typeface="Arial" panose="020B0604020202020204" pitchFamily="34" charset="0"/>
                <a:buChar char="•"/>
              </a:pPr>
              <a:r>
                <a:rPr lang="en-US" sz="800">
                  <a:solidFill>
                    <a:schemeClr val="tx2"/>
                  </a:solidFill>
                </a:rPr>
                <a:t>Validation Results and Before/After Evidence (XLS/PPT) for Tier 3 analytics</a:t>
              </a:r>
            </a:p>
            <a:p>
              <a:pPr marL="91440" indent="-91440">
                <a:buFont typeface="Arial" panose="020B0604020202020204" pitchFamily="34" charset="0"/>
                <a:buChar char="•"/>
              </a:pPr>
              <a:r>
                <a:rPr lang="en-US" sz="800">
                  <a:solidFill>
                    <a:schemeClr val="tx2"/>
                  </a:solidFill>
                </a:rPr>
                <a:t>Final Migration and Handoff Documentation (DOC/PPT)</a:t>
              </a:r>
            </a:p>
          </p:txBody>
        </p:sp>
        <p:sp>
          <p:nvSpPr>
            <p:cNvPr id="52" name="TextBox 51">
              <a:extLst>
                <a:ext uri="{FF2B5EF4-FFF2-40B4-BE49-F238E27FC236}">
                  <a16:creationId xmlns:a16="http://schemas.microsoft.com/office/drawing/2014/main" id="{84724F69-4240-FCDD-26B5-F514243CD4FA}"/>
                </a:ext>
              </a:extLst>
            </p:cNvPr>
            <p:cNvSpPr txBox="1"/>
            <p:nvPr/>
          </p:nvSpPr>
          <p:spPr>
            <a:xfrm>
              <a:off x="11247120"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D.4</a:t>
              </a:r>
            </a:p>
          </p:txBody>
        </p:sp>
        <p:sp>
          <p:nvSpPr>
            <p:cNvPr id="53" name="TextBox 52">
              <a:extLst>
                <a:ext uri="{FF2B5EF4-FFF2-40B4-BE49-F238E27FC236}">
                  <a16:creationId xmlns:a16="http://schemas.microsoft.com/office/drawing/2014/main" id="{899194DD-7A67-D6F2-A469-BFBB8927F2CD}"/>
                </a:ext>
              </a:extLst>
            </p:cNvPr>
            <p:cNvSpPr txBox="1"/>
            <p:nvPr/>
          </p:nvSpPr>
          <p:spPr>
            <a:xfrm>
              <a:off x="9452568"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D.3</a:t>
              </a:r>
            </a:p>
          </p:txBody>
        </p:sp>
        <p:sp>
          <p:nvSpPr>
            <p:cNvPr id="54" name="TextBox 53">
              <a:extLst>
                <a:ext uri="{FF2B5EF4-FFF2-40B4-BE49-F238E27FC236}">
                  <a16:creationId xmlns:a16="http://schemas.microsoft.com/office/drawing/2014/main" id="{CE47B95F-2DA0-64A2-7C90-DA049DF77BBA}"/>
                </a:ext>
              </a:extLst>
            </p:cNvPr>
            <p:cNvSpPr txBox="1"/>
            <p:nvPr/>
          </p:nvSpPr>
          <p:spPr>
            <a:xfrm>
              <a:off x="7644935" y="2499765"/>
              <a:ext cx="352294"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D.2</a:t>
              </a:r>
            </a:p>
          </p:txBody>
        </p:sp>
      </p:grpSp>
      <p:sp>
        <p:nvSpPr>
          <p:cNvPr id="57" name="Rectangle 56">
            <a:extLst>
              <a:ext uri="{FF2B5EF4-FFF2-40B4-BE49-F238E27FC236}">
                <a16:creationId xmlns:a16="http://schemas.microsoft.com/office/drawing/2014/main" id="{AC8E8237-1AA4-9D09-B4F9-BD44912699C0}"/>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37098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E1B4D-A944-2EC7-612B-EED377CDA47D}"/>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DCB13B4-611F-8C61-A873-60CC5A27860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ADCB13B4-611F-8C61-A873-60CC5A2786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5343DB-5F43-ED52-3A92-6F3745B94718}"/>
              </a:ext>
            </a:extLst>
          </p:cNvPr>
          <p:cNvSpPr>
            <a:spLocks noGrp="1"/>
          </p:cNvSpPr>
          <p:nvPr>
            <p:ph type="title"/>
          </p:nvPr>
        </p:nvSpPr>
        <p:spPr/>
        <p:txBody>
          <a:bodyPr vert="horz" rIns="0"/>
          <a:lstStyle/>
          <a:p>
            <a:r>
              <a:rPr lang="en-US" sz="2200"/>
              <a:t>Workstream D – Observability, Availability and Performance Monitoring Rationalization (2/2)</a:t>
            </a:r>
            <a:br>
              <a:rPr lang="en-US"/>
            </a:br>
            <a:r>
              <a:rPr lang="en-US" sz="1600" b="0"/>
              <a:t>Monitoring &amp; Analytics – Planning</a:t>
            </a:r>
            <a:endParaRPr lang="en-US" sz="1600"/>
          </a:p>
        </p:txBody>
      </p:sp>
      <p:sp>
        <p:nvSpPr>
          <p:cNvPr id="10" name="Rectangle 9">
            <a:extLst>
              <a:ext uri="{FF2B5EF4-FFF2-40B4-BE49-F238E27FC236}">
                <a16:creationId xmlns:a16="http://schemas.microsoft.com/office/drawing/2014/main" id="{E088884C-4CC8-933F-609A-C5695843C380}"/>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5" name="Rectangle: Top Corners Rounded 4">
            <a:extLst>
              <a:ext uri="{FF2B5EF4-FFF2-40B4-BE49-F238E27FC236}">
                <a16:creationId xmlns:a16="http://schemas.microsoft.com/office/drawing/2014/main" id="{5E7D985E-367D-4E7F-F7ED-5B4A80FC5D3F}"/>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6" name="Content Placeholder 6">
            <a:extLst>
              <a:ext uri="{FF2B5EF4-FFF2-40B4-BE49-F238E27FC236}">
                <a16:creationId xmlns:a16="http://schemas.microsoft.com/office/drawing/2014/main" id="{19BB5DE0-25EE-B38B-2712-B614FB4DFE08}"/>
              </a:ext>
            </a:extLst>
          </p:cNvPr>
          <p:cNvGraphicFramePr>
            <a:graphicFrameLocks/>
          </p:cNvGraphicFramePr>
          <p:nvPr>
            <p:extLst>
              <p:ext uri="{D42A27DB-BD31-4B8C-83A1-F6EECF244321}">
                <p14:modId xmlns:p14="http://schemas.microsoft.com/office/powerpoint/2010/main" val="804580984"/>
              </p:ext>
            </p:extLst>
          </p:nvPr>
        </p:nvGraphicFramePr>
        <p:xfrm>
          <a:off x="538691" y="1509729"/>
          <a:ext cx="11133137" cy="21146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180029292"/>
                    </a:ext>
                  </a:extLst>
                </a:gridCol>
              </a:tblGrid>
              <a:tr h="558401">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Convene Splunk Engineering Requirements Alignment:</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Execute </a:t>
                      </a:r>
                      <a:r>
                        <a:rPr lang="en-US" sz="1000" b="0" i="0" kern="1500" err="1">
                          <a:solidFill>
                            <a:schemeClr val="tx2"/>
                          </a:solidFill>
                          <a:latin typeface="+mn-lt"/>
                          <a:ea typeface="+mn-ea"/>
                          <a:cs typeface="+mn-cs"/>
                        </a:rPr>
                        <a:t>Transpiler</a:t>
                      </a:r>
                      <a:r>
                        <a:rPr lang="en-US" sz="1000" b="0" i="0" kern="1500">
                          <a:solidFill>
                            <a:schemeClr val="tx2"/>
                          </a:solidFill>
                          <a:latin typeface="+mn-lt"/>
                          <a:ea typeface="+mn-ea"/>
                          <a:cs typeface="+mn-cs"/>
                        </a:rPr>
                        <a:t> &amp; AI Conversion PoC</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Ingest &amp; Baseline Analytics Inventory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Provisional VDI &amp; Environment Access Requests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Draft Integrated Workstream D Agile WBS &amp; Pod Backlog</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Formalize Pre-Start Commercial &amp; Hour Tracking Guardrails</a:t>
                      </a:r>
                    </a:p>
                  </a:txBody>
                  <a:tcPr marL="45720" marR="45720">
                    <a:lnL>
                      <a:noFill/>
                    </a:lnL>
                  </a:tcPr>
                </a:tc>
                <a:extLst>
                  <a:ext uri="{0D108BD9-81ED-4DB2-BD59-A6C34878D82A}">
                    <a16:rowId xmlns:a16="http://schemas.microsoft.com/office/drawing/2014/main" val="3413144615"/>
                  </a:ext>
                </a:extLst>
              </a:tr>
              <a:tr h="959836">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Unity Catalog Taxonomy &amp; Namespace Structures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IAM Profiles &amp; Cluster Compute Policies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Security, Threat Modeling, and PHI Masking Guidelines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A: Isolated Non-Production Workspaces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B1: 26 Approved Open Data Contract Standard (ODCS) Contracts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B1: Canonical Metadata Dictionary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B2: Validated Ingestion Pipelines (WF1–WF6)</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B2: Pre-Freeze Live Telemetry Flow</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Governed Silver Domain Tables (9 Domains): Critical Sequencing Blocker</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Column-Level PHI/PII Masking &amp; Row-Level Security (RLS)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C:16 Recreated Common Information Model (CIM) Models</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 Gold Workspace Isolation Models</a:t>
                      </a:r>
                    </a:p>
                  </a:txBody>
                  <a:tcPr marL="45720" marR="45720">
                    <a:lnL>
                      <a:noFill/>
                    </a:lnL>
                  </a:tcPr>
                </a:tc>
                <a:extLst>
                  <a:ext uri="{0D108BD9-81ED-4DB2-BD59-A6C34878D82A}">
                    <a16:rowId xmlns:a16="http://schemas.microsoft.com/office/drawing/2014/main" val="1457196652"/>
                  </a:ext>
                </a:extLst>
              </a:tr>
              <a:tr h="550379">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noProof="0">
                          <a:solidFill>
                            <a:schemeClr val="tx2"/>
                          </a:solidFill>
                          <a:latin typeface="+mn-lt"/>
                          <a:ea typeface="+mn-ea"/>
                          <a:cs typeface="+mn-cs"/>
                        </a:rPr>
                        <a:t>E: Validated Databricks SQL queries, interactive Lakeview dashboard templates, SPL-to-SQL cheat sheets, and starter notebook assets .</a:t>
                      </a:r>
                    </a:p>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r>
                        <a:rPr lang="en-US" sz="1000" b="0" i="0" kern="1500" noProof="0">
                          <a:solidFill>
                            <a:schemeClr val="tx2"/>
                          </a:solidFill>
                          <a:latin typeface="+mn-lt"/>
                          <a:ea typeface="+mn-ea"/>
                          <a:cs typeface="+mn-cs"/>
                        </a:rPr>
                        <a:t>F: Production Databricks Workflows, scheduled query jobs, alert configurations, query execution runbooks, failure triage decision trees, and performance </a:t>
                      </a:r>
                      <a:br>
                        <a:rPr lang="en-US" sz="1000" b="0" i="0" kern="1500" noProof="0">
                          <a:solidFill>
                            <a:schemeClr val="tx2"/>
                          </a:solidFill>
                          <a:latin typeface="+mn-lt"/>
                          <a:ea typeface="+mn-ea"/>
                          <a:cs typeface="+mn-cs"/>
                        </a:rPr>
                      </a:br>
                      <a:r>
                        <a:rPr lang="en-US" sz="1000" b="0" i="0" kern="1500" noProof="0">
                          <a:solidFill>
                            <a:schemeClr val="tx2"/>
                          </a:solidFill>
                          <a:latin typeface="+mn-lt"/>
                          <a:ea typeface="+mn-ea"/>
                          <a:cs typeface="+mn-cs"/>
                        </a:rPr>
                        <a:t>SLO baselines .</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137160" marR="0" lvl="0" indent="-137160" algn="l" defTabSz="457063" rtl="0" eaLnBrk="1" fontAlgn="ctr" latinLnBrk="0" hangingPunct="1">
                        <a:lnSpc>
                          <a:spcPct val="100000"/>
                        </a:lnSpc>
                        <a:spcBef>
                          <a:spcPts val="0"/>
                        </a:spcBef>
                        <a:spcAft>
                          <a:spcPts val="0"/>
                        </a:spcAft>
                        <a:buClr>
                          <a:schemeClr val="tx2"/>
                        </a:buClr>
                        <a:buSzTx/>
                        <a:buFont typeface="CVS Health Sans" panose="020B0504020202020204" pitchFamily="34" charset="0"/>
                        <a:buChar char="•"/>
                        <a:tabLst/>
                        <a:defRPr/>
                      </a:pPr>
                      <a:endParaRPr lang="en-US" sz="1000" b="0" i="0" kern="1500" noProof="0">
                        <a:solidFill>
                          <a:schemeClr val="tx2"/>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8" name="Content Placeholder 6">
            <a:extLst>
              <a:ext uri="{FF2B5EF4-FFF2-40B4-BE49-F238E27FC236}">
                <a16:creationId xmlns:a16="http://schemas.microsoft.com/office/drawing/2014/main" id="{A1E51720-1BC0-F128-D8EB-15FD09940C94}"/>
              </a:ext>
            </a:extLst>
          </p:cNvPr>
          <p:cNvGraphicFramePr>
            <a:graphicFrameLocks/>
          </p:cNvGraphicFramePr>
          <p:nvPr>
            <p:extLst>
              <p:ext uri="{D42A27DB-BD31-4B8C-83A1-F6EECF244321}">
                <p14:modId xmlns:p14="http://schemas.microsoft.com/office/powerpoint/2010/main" val="2962821811"/>
              </p:ext>
            </p:extLst>
          </p:nvPr>
        </p:nvGraphicFramePr>
        <p:xfrm>
          <a:off x="558270" y="3675078"/>
          <a:ext cx="11111972" cy="2320924"/>
        </p:xfrm>
        <a:graphic>
          <a:graphicData uri="http://schemas.openxmlformats.org/drawingml/2006/table">
            <a:tbl>
              <a:tblPr firstRow="1" bandRow="1">
                <a:tableStyleId>{2D5ABB26-0587-4C30-8999-92F81FD0307C}</a:tableStyleId>
              </a:tblPr>
              <a:tblGrid>
                <a:gridCol w="1105959">
                  <a:extLst>
                    <a:ext uri="{9D8B030D-6E8A-4147-A177-3AD203B41FA5}">
                      <a16:colId xmlns:a16="http://schemas.microsoft.com/office/drawing/2014/main" val="2393725290"/>
                    </a:ext>
                  </a:extLst>
                </a:gridCol>
                <a:gridCol w="2683592">
                  <a:extLst>
                    <a:ext uri="{9D8B030D-6E8A-4147-A177-3AD203B41FA5}">
                      <a16:colId xmlns:a16="http://schemas.microsoft.com/office/drawing/2014/main" val="1699332636"/>
                    </a:ext>
                  </a:extLst>
                </a:gridCol>
                <a:gridCol w="2440807">
                  <a:extLst>
                    <a:ext uri="{9D8B030D-6E8A-4147-A177-3AD203B41FA5}">
                      <a16:colId xmlns:a16="http://schemas.microsoft.com/office/drawing/2014/main" val="2684621038"/>
                    </a:ext>
                  </a:extLst>
                </a:gridCol>
                <a:gridCol w="2440807">
                  <a:extLst>
                    <a:ext uri="{9D8B030D-6E8A-4147-A177-3AD203B41FA5}">
                      <a16:colId xmlns:a16="http://schemas.microsoft.com/office/drawing/2014/main" val="1078624516"/>
                    </a:ext>
                  </a:extLst>
                </a:gridCol>
                <a:gridCol w="2440807">
                  <a:extLst>
                    <a:ext uri="{9D8B030D-6E8A-4147-A177-3AD203B41FA5}">
                      <a16:colId xmlns:a16="http://schemas.microsoft.com/office/drawing/2014/main" val="1203515095"/>
                    </a:ext>
                  </a:extLst>
                </a:gridCol>
              </a:tblGrid>
              <a:tr h="426084">
                <a:tc>
                  <a:txBody>
                    <a:bodyPr/>
                    <a:lstStyle/>
                    <a:p>
                      <a:r>
                        <a:rPr lang="en-US" sz="1050" b="1">
                          <a:solidFill>
                            <a:schemeClr val="bg1"/>
                          </a:solidFill>
                        </a:rPr>
                        <a:t>Epic</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Telemetry &amp; Query Rationalization, Inventory, and Prioritization</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Tier 1 Security Analytics &amp; Real-Time Threat Detection Migration</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Tier 2 Operational, Infrastructure &amp; Dashboard Modernization</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Tier 3 Long-Tail Migration, Cutover Governance &amp; Hand-off</a:t>
                      </a:r>
                      <a:endParaRPr lang="en-US" sz="1000" b="1" kern="1500">
                        <a:solidFill>
                          <a:srgbClr val="0A4B8C"/>
                        </a:solidFill>
                        <a:latin typeface="+mn-lt"/>
                        <a:ea typeface="+mn-ea"/>
                        <a:cs typeface="+mn-cs"/>
                      </a:endParaRP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 Comprehensive Analytics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Footprint Discovery</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 Query Dependency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Context Decomposition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1.3 - Redundancy Analysis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Deprecation Pipeline</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1.4 - Line of Business (LOB)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Domain Clustering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1.5 - Complexity Tiering &amp;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Workload Packaging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1.6 - AI </a:t>
                      </a:r>
                      <a:r>
                        <a:rPr lang="en-US" sz="1000" b="0" kern="1500" noProof="0" err="1">
                          <a:solidFill>
                            <a:schemeClr val="tx2"/>
                          </a:solidFill>
                          <a:latin typeface="+mn-lt"/>
                          <a:ea typeface="+mn-ea"/>
                          <a:cs typeface="+mn-cs"/>
                        </a:rPr>
                        <a:t>Transpilation</a:t>
                      </a:r>
                      <a:r>
                        <a:rPr lang="en-US" sz="1000" b="0" kern="1500" noProof="0">
                          <a:solidFill>
                            <a:schemeClr val="tx2"/>
                          </a:solidFill>
                          <a:latin typeface="+mn-lt"/>
                          <a:ea typeface="+mn-ea"/>
                          <a:cs typeface="+mn-cs"/>
                        </a:rPr>
                        <a:t> Factory Setup</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 Priority Correlation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|Search Conversion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 Stateful Risk-Based Alerting (RBA) Refactoring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2.3 - Automated Dual-Platform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Parity Testing</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2.4 - Alert Notification &amp; SOAR Dispatch Integration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2.5 - SOC UAT &amp; Milestone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D.2 Sign-off</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 Non-Correlation Alert &amp; Saved Search Translation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 Accelerated Data Model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(ADM) Reconstruction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3.3 - Enterprise Observability Dashboard Modernization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3.4 - SQL Warehouse Tuning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FinOps Optimization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3.5 - Infrastructure UAT &amp;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Milestone D.3 Acceptance</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 Long-Tail Query &amp; Ad-Hoc Report Conversion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 Full-Scale Parallel-</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Run Verification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4.3 - Workstream E User Wave Enablement Handshake</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4.4 - Workstream F Hypercare &amp; Operational Runbook Hand-off</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4.5 - Legacy Search Head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Schedule Deactivation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16" name="Group 15">
            <a:extLst>
              <a:ext uri="{FF2B5EF4-FFF2-40B4-BE49-F238E27FC236}">
                <a16:creationId xmlns:a16="http://schemas.microsoft.com/office/drawing/2014/main" id="{4F1F7AE9-C89C-7B10-9F51-75F66ABF6247}"/>
              </a:ext>
            </a:extLst>
          </p:cNvPr>
          <p:cNvGrpSpPr/>
          <p:nvPr/>
        </p:nvGrpSpPr>
        <p:grpSpPr>
          <a:xfrm>
            <a:off x="538691" y="4088298"/>
            <a:ext cx="11125201" cy="999"/>
            <a:chOff x="531813" y="5259957"/>
            <a:chExt cx="11125201" cy="999"/>
          </a:xfrm>
        </p:grpSpPr>
        <p:cxnSp>
          <p:nvCxnSpPr>
            <p:cNvPr id="17" name="Straight Connector 16">
              <a:extLst>
                <a:ext uri="{FF2B5EF4-FFF2-40B4-BE49-F238E27FC236}">
                  <a16:creationId xmlns:a16="http://schemas.microsoft.com/office/drawing/2014/main" id="{1F82C979-26D0-AE35-4036-56EE59D9AAAE}"/>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107A06-37FA-237F-75A3-F025A108FF11}"/>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B9CE1A98-F123-C312-16F1-25EC0098496B}"/>
              </a:ext>
            </a:extLst>
          </p:cNvPr>
          <p:cNvGrpSpPr/>
          <p:nvPr/>
        </p:nvGrpSpPr>
        <p:grpSpPr>
          <a:xfrm>
            <a:off x="549537" y="2058302"/>
            <a:ext cx="11125201" cy="0"/>
            <a:chOff x="531813" y="3716075"/>
            <a:chExt cx="11125201" cy="0"/>
          </a:xfrm>
        </p:grpSpPr>
        <p:cxnSp>
          <p:nvCxnSpPr>
            <p:cNvPr id="29" name="Straight Connector 28">
              <a:extLst>
                <a:ext uri="{FF2B5EF4-FFF2-40B4-BE49-F238E27FC236}">
                  <a16:creationId xmlns:a16="http://schemas.microsoft.com/office/drawing/2014/main" id="{133898F8-12CC-6301-CF5D-782A62C911E7}"/>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1BB30B8-5590-A8E6-06F7-C06664513D9C}"/>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2119A04F-F118-71F3-4324-9C69AAE4850B}"/>
              </a:ext>
            </a:extLst>
          </p:cNvPr>
          <p:cNvGrpSpPr/>
          <p:nvPr/>
        </p:nvGrpSpPr>
        <p:grpSpPr>
          <a:xfrm>
            <a:off x="545041" y="3649713"/>
            <a:ext cx="11125201" cy="1"/>
            <a:chOff x="531813" y="4848012"/>
            <a:chExt cx="11125201" cy="1"/>
          </a:xfrm>
        </p:grpSpPr>
        <p:cxnSp>
          <p:nvCxnSpPr>
            <p:cNvPr id="32" name="Straight Connector 31">
              <a:extLst>
                <a:ext uri="{FF2B5EF4-FFF2-40B4-BE49-F238E27FC236}">
                  <a16:creationId xmlns:a16="http://schemas.microsoft.com/office/drawing/2014/main" id="{00095606-7161-4AC9-EFC3-E5202C80D59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F9C6A5D-618B-94A9-D2FA-A66EF7FD0E2F}"/>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76D6080F-7F12-0079-BFA9-6E0E03C8D7F7}"/>
              </a:ext>
            </a:extLst>
          </p:cNvPr>
          <p:cNvGrpSpPr/>
          <p:nvPr/>
        </p:nvGrpSpPr>
        <p:grpSpPr>
          <a:xfrm>
            <a:off x="545041" y="3073300"/>
            <a:ext cx="11125201" cy="1"/>
            <a:chOff x="531813" y="4848012"/>
            <a:chExt cx="11125201" cy="1"/>
          </a:xfrm>
        </p:grpSpPr>
        <p:cxnSp>
          <p:nvCxnSpPr>
            <p:cNvPr id="35" name="Straight Connector 34">
              <a:extLst>
                <a:ext uri="{FF2B5EF4-FFF2-40B4-BE49-F238E27FC236}">
                  <a16:creationId xmlns:a16="http://schemas.microsoft.com/office/drawing/2014/main" id="{55F60C74-DBA2-E4CC-4F84-4BDC95233CE0}"/>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5900428-7C8D-047E-45CD-FA5A91B55FF2}"/>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38" name="Rectangle 37">
            <a:extLst>
              <a:ext uri="{FF2B5EF4-FFF2-40B4-BE49-F238E27FC236}">
                <a16:creationId xmlns:a16="http://schemas.microsoft.com/office/drawing/2014/main" id="{7BB980FD-F957-C515-9AA3-4B90D5BFED5A}"/>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Tree>
    <p:extLst>
      <p:ext uri="{BB962C8B-B14F-4D97-AF65-F5344CB8AC3E}">
        <p14:creationId xmlns:p14="http://schemas.microsoft.com/office/powerpoint/2010/main" val="2626116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5ABF7A-0A55-1554-4D2A-7BDA989096D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EA45649-26A1-2A91-A10C-38EA4E82EE5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DEA45649-26A1-2A91-A10C-38EA4E82EE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555246D-8497-CC41-9888-FDF77BAF7512}"/>
              </a:ext>
            </a:extLst>
          </p:cNvPr>
          <p:cNvSpPr>
            <a:spLocks noGrp="1"/>
          </p:cNvSpPr>
          <p:nvPr>
            <p:ph type="title"/>
          </p:nvPr>
        </p:nvSpPr>
        <p:spPr/>
        <p:txBody>
          <a:bodyPr vert="horz" rIns="0"/>
          <a:lstStyle/>
          <a:p>
            <a:r>
              <a:rPr lang="en-US"/>
              <a:t>Workstream E – Organizational Change and Adoption (1/2)</a:t>
            </a:r>
            <a:br>
              <a:rPr lang="en-US"/>
            </a:br>
            <a:r>
              <a:rPr lang="en-US" sz="1600" b="0"/>
              <a:t>Change management – From the SOW and other planning documents</a:t>
            </a:r>
          </a:p>
        </p:txBody>
      </p:sp>
      <p:sp>
        <p:nvSpPr>
          <p:cNvPr id="8" name="Rectangle: Top Corners Rounded 7">
            <a:extLst>
              <a:ext uri="{FF2B5EF4-FFF2-40B4-BE49-F238E27FC236}">
                <a16:creationId xmlns:a16="http://schemas.microsoft.com/office/drawing/2014/main" id="{277D75A9-5DB1-FD04-61EA-3074E44BD8C9}"/>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9" name="TextBox 8">
            <a:extLst>
              <a:ext uri="{FF2B5EF4-FFF2-40B4-BE49-F238E27FC236}">
                <a16:creationId xmlns:a16="http://schemas.microsoft.com/office/drawing/2014/main" id="{E9D91AF1-2B1B-0197-22D7-B9D25B33B575}"/>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10" name="TextBox 9">
            <a:extLst>
              <a:ext uri="{FF2B5EF4-FFF2-40B4-BE49-F238E27FC236}">
                <a16:creationId xmlns:a16="http://schemas.microsoft.com/office/drawing/2014/main" id="{3F3CC36B-71CE-4280-131A-11DB52EE602D}"/>
              </a:ext>
            </a:extLst>
          </p:cNvPr>
          <p:cNvSpPr txBox="1"/>
          <p:nvPr/>
        </p:nvSpPr>
        <p:spPr>
          <a:xfrm>
            <a:off x="1366590" y="1490133"/>
            <a:ext cx="4693922" cy="769441"/>
          </a:xfrm>
          <a:prstGeom prst="rect">
            <a:avLst/>
          </a:prstGeom>
          <a:noFill/>
        </p:spPr>
        <p:txBody>
          <a:bodyPr wrap="square" lIns="0" tIns="0" rIns="0" bIns="0">
            <a:spAutoFit/>
          </a:bodyPr>
          <a:lstStyle/>
          <a:p>
            <a:r>
              <a:rPr lang="en-US" sz="1000">
                <a:solidFill>
                  <a:schemeClr val="tx2"/>
                </a:solidFill>
              </a:rPr>
              <a:t>Support adoption of Databricks platform through stakeholder alignment, training, communication planning, and a structured migration playbook.  Provide Operational process documentation and runbooks to enable the CVS Health Operations team to effectively manage and maintain the environment based on the architecture and processes as designed.</a:t>
            </a:r>
          </a:p>
        </p:txBody>
      </p:sp>
      <p:sp>
        <p:nvSpPr>
          <p:cNvPr id="11" name="TextBox 10">
            <a:extLst>
              <a:ext uri="{FF2B5EF4-FFF2-40B4-BE49-F238E27FC236}">
                <a16:creationId xmlns:a16="http://schemas.microsoft.com/office/drawing/2014/main" id="{1EC97F43-EA3C-A9E3-43CD-A10EBBDF5B72}"/>
              </a:ext>
            </a:extLst>
          </p:cNvPr>
          <p:cNvSpPr txBox="1"/>
          <p:nvPr/>
        </p:nvSpPr>
        <p:spPr>
          <a:xfrm>
            <a:off x="543482" y="2418100"/>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12" name="TextBox 11">
            <a:extLst>
              <a:ext uri="{FF2B5EF4-FFF2-40B4-BE49-F238E27FC236}">
                <a16:creationId xmlns:a16="http://schemas.microsoft.com/office/drawing/2014/main" id="{95073E1C-9969-25EA-9C1A-E230524288D0}"/>
              </a:ext>
            </a:extLst>
          </p:cNvPr>
          <p:cNvSpPr txBox="1"/>
          <p:nvPr/>
        </p:nvSpPr>
        <p:spPr>
          <a:xfrm>
            <a:off x="1366590" y="2418100"/>
            <a:ext cx="4575208" cy="461665"/>
          </a:xfrm>
          <a:prstGeom prst="rect">
            <a:avLst/>
          </a:prstGeom>
          <a:noFill/>
        </p:spPr>
        <p:txBody>
          <a:bodyPr wrap="square" lIns="0" tIns="0" rIns="0" bIns="0">
            <a:spAutoFit/>
          </a:bodyPr>
          <a:lstStyle/>
          <a:p>
            <a:pPr algn="l"/>
            <a:r>
              <a:rPr lang="en-US" sz="1000">
                <a:solidFill>
                  <a:schemeClr val="tx2"/>
                </a:solidFill>
              </a:rPr>
              <a:t>Enable the successful migration and adoption of Databricks for CVS users by preparing stakeholders, training Power Users, establishing support networks to drive adoption.</a:t>
            </a:r>
          </a:p>
        </p:txBody>
      </p:sp>
      <p:sp>
        <p:nvSpPr>
          <p:cNvPr id="13" name="TextBox 12">
            <a:extLst>
              <a:ext uri="{FF2B5EF4-FFF2-40B4-BE49-F238E27FC236}">
                <a16:creationId xmlns:a16="http://schemas.microsoft.com/office/drawing/2014/main" id="{9DE39EC3-EB6A-D36C-ECD2-A79BAED4C485}"/>
              </a:ext>
            </a:extLst>
          </p:cNvPr>
          <p:cNvSpPr txBox="1"/>
          <p:nvPr/>
        </p:nvSpPr>
        <p:spPr>
          <a:xfrm>
            <a:off x="543483" y="3033366"/>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14" name="TextBox 13">
            <a:extLst>
              <a:ext uri="{FF2B5EF4-FFF2-40B4-BE49-F238E27FC236}">
                <a16:creationId xmlns:a16="http://schemas.microsoft.com/office/drawing/2014/main" id="{FCF8C373-419C-5DAE-CC02-B92998814886}"/>
              </a:ext>
            </a:extLst>
          </p:cNvPr>
          <p:cNvSpPr txBox="1"/>
          <p:nvPr/>
        </p:nvSpPr>
        <p:spPr>
          <a:xfrm>
            <a:off x="1366590" y="3033366"/>
            <a:ext cx="4748460" cy="2192908"/>
          </a:xfrm>
          <a:prstGeom prst="rect">
            <a:avLst/>
          </a:prstGeom>
          <a:noFill/>
        </p:spPr>
        <p:txBody>
          <a:bodyPr wrap="square" lIns="0" tIns="0" rIns="0" bIns="0">
            <a:spAutoFit/>
          </a:bodyPr>
          <a:lstStyle/>
          <a:p>
            <a:pPr marL="137160" lvl="1" indent="-137160">
              <a:spcAft>
                <a:spcPts val="300"/>
              </a:spcAft>
              <a:buFont typeface="Arial" panose="020B0604020202020204" pitchFamily="34" charset="0"/>
              <a:buChar char="•"/>
            </a:pPr>
            <a:r>
              <a:rPr lang="en-US" sz="1000" b="1" kern="1500">
                <a:solidFill>
                  <a:schemeClr val="tx2"/>
                </a:solidFill>
              </a:rPr>
              <a:t>Align Strategy &amp; Personas: </a:t>
            </a:r>
            <a:r>
              <a:rPr lang="en-US" sz="1000" kern="1500">
                <a:solidFill>
                  <a:schemeClr val="tx2"/>
                </a:solidFill>
              </a:rPr>
              <a:t>Map existing legacy analytics platform use cases (SPL, dashboards) to Databricks SQL &amp; Notebooks. Segment prioritized users into targeted personas (e.g., Novice, Security Ops, Data Scientist)</a:t>
            </a:r>
          </a:p>
          <a:p>
            <a:pPr marL="137160" lvl="1" indent="-137160">
              <a:spcAft>
                <a:spcPts val="300"/>
              </a:spcAft>
              <a:buFont typeface="Arial" panose="020B0604020202020204" pitchFamily="34" charset="0"/>
              <a:buChar char="•"/>
            </a:pPr>
            <a:r>
              <a:rPr lang="en-US" sz="1000" b="1" kern="1500">
                <a:solidFill>
                  <a:schemeClr val="tx2"/>
                </a:solidFill>
              </a:rPr>
              <a:t>Targeted Communications: </a:t>
            </a:r>
            <a:r>
              <a:rPr lang="en-US" sz="1000" kern="1500">
                <a:solidFill>
                  <a:schemeClr val="tx2"/>
                </a:solidFill>
              </a:rPr>
              <a:t>Assist CVS launch persona-specific "What's in it for me?" campaigns (highlighting faster queries, ML capabilities). Showcase pilot success stories of complex Splunk-to-Databricks migrations</a:t>
            </a:r>
          </a:p>
          <a:p>
            <a:pPr marL="137160" lvl="1" indent="-137160">
              <a:spcAft>
                <a:spcPts val="300"/>
              </a:spcAft>
              <a:buFont typeface="Arial" panose="020B0604020202020204" pitchFamily="34" charset="0"/>
              <a:buChar char="•"/>
            </a:pPr>
            <a:r>
              <a:rPr lang="en-US" sz="1000" b="1" kern="1500">
                <a:solidFill>
                  <a:schemeClr val="tx2"/>
                </a:solidFill>
              </a:rPr>
              <a:t>“Train the Power User” model: </a:t>
            </a:r>
            <a:r>
              <a:rPr lang="en-US" sz="1000" kern="1500">
                <a:solidFill>
                  <a:schemeClr val="tx2"/>
                </a:solidFill>
              </a:rPr>
              <a:t>Provide trainings to identified “Power Users” so they are enabled to teach courses to their colleagues and drive adoption</a:t>
            </a:r>
          </a:p>
          <a:p>
            <a:pPr marL="137160" lvl="1" indent="-137160">
              <a:spcAft>
                <a:spcPts val="300"/>
              </a:spcAft>
              <a:buFont typeface="Arial" panose="020B0604020202020204" pitchFamily="34" charset="0"/>
              <a:buChar char="•"/>
            </a:pPr>
            <a:r>
              <a:rPr lang="en-US" sz="1000" b="1" kern="1500">
                <a:solidFill>
                  <a:schemeClr val="tx2"/>
                </a:solidFill>
              </a:rPr>
              <a:t>Center of Excellence (</a:t>
            </a:r>
            <a:r>
              <a:rPr lang="en-US" sz="1000" b="1" kern="1500" err="1">
                <a:solidFill>
                  <a:schemeClr val="tx2"/>
                </a:solidFill>
              </a:rPr>
              <a:t>CoE</a:t>
            </a:r>
            <a:r>
              <a:rPr lang="en-US" sz="1000" b="1" kern="1500">
                <a:solidFill>
                  <a:schemeClr val="tx2"/>
                </a:solidFill>
              </a:rPr>
              <a:t>): </a:t>
            </a:r>
            <a:r>
              <a:rPr lang="en-US" sz="1000" kern="1500">
                <a:solidFill>
                  <a:schemeClr val="tx2"/>
                </a:solidFill>
              </a:rPr>
              <a:t>Establish a central hub for ongoing support, training curriculum, office hours, and leading-practice repositories</a:t>
            </a:r>
          </a:p>
          <a:p>
            <a:pPr marL="137160" lvl="1" indent="-137160">
              <a:spcAft>
                <a:spcPts val="300"/>
              </a:spcAft>
              <a:buFont typeface="Arial" panose="020B0604020202020204" pitchFamily="34" charset="0"/>
              <a:buChar char="•"/>
            </a:pPr>
            <a:r>
              <a:rPr lang="en-US" sz="1000" b="1" kern="1500">
                <a:solidFill>
                  <a:schemeClr val="tx2"/>
                </a:solidFill>
              </a:rPr>
              <a:t>Adoption Planning: </a:t>
            </a:r>
            <a:r>
              <a:rPr lang="en-US" sz="1000" kern="1500">
                <a:solidFill>
                  <a:schemeClr val="tx2"/>
                </a:solidFill>
              </a:rPr>
              <a:t>Design adoption plan to enable Power Users to support the progressive transition of user base from Splunk to Databricks including cutover plan</a:t>
            </a:r>
          </a:p>
          <a:p>
            <a:pPr marL="137160" lvl="1" indent="-137160">
              <a:spcAft>
                <a:spcPts val="300"/>
              </a:spcAft>
              <a:buFont typeface="Arial" panose="020B0604020202020204" pitchFamily="34" charset="0"/>
              <a:buChar char="•"/>
            </a:pPr>
            <a:r>
              <a:rPr lang="en-US" sz="1000" i="1" kern="1500">
                <a:solidFill>
                  <a:srgbClr val="487A10"/>
                </a:solidFill>
              </a:rPr>
              <a:t>Organizational Change Management scope discussion needed </a:t>
            </a:r>
          </a:p>
        </p:txBody>
      </p:sp>
      <p:sp>
        <p:nvSpPr>
          <p:cNvPr id="15" name="TextBox 14">
            <a:extLst>
              <a:ext uri="{FF2B5EF4-FFF2-40B4-BE49-F238E27FC236}">
                <a16:creationId xmlns:a16="http://schemas.microsoft.com/office/drawing/2014/main" id="{406F6BC2-4751-A1FC-A882-433AACD88891}"/>
              </a:ext>
            </a:extLst>
          </p:cNvPr>
          <p:cNvSpPr txBox="1"/>
          <p:nvPr/>
        </p:nvSpPr>
        <p:spPr>
          <a:xfrm>
            <a:off x="6301525" y="1388532"/>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16" name="Group 15">
            <a:extLst>
              <a:ext uri="{FF2B5EF4-FFF2-40B4-BE49-F238E27FC236}">
                <a16:creationId xmlns:a16="http://schemas.microsoft.com/office/drawing/2014/main" id="{2C8174C3-A622-1C48-27AC-78648D5C5DC1}"/>
              </a:ext>
            </a:extLst>
          </p:cNvPr>
          <p:cNvGrpSpPr/>
          <p:nvPr/>
        </p:nvGrpSpPr>
        <p:grpSpPr>
          <a:xfrm>
            <a:off x="533400" y="2336374"/>
            <a:ext cx="5562600" cy="4926"/>
            <a:chOff x="533400" y="1886078"/>
            <a:chExt cx="5562600" cy="4926"/>
          </a:xfrm>
        </p:grpSpPr>
        <p:cxnSp>
          <p:nvCxnSpPr>
            <p:cNvPr id="17" name="Straight Connector 16">
              <a:extLst>
                <a:ext uri="{FF2B5EF4-FFF2-40B4-BE49-F238E27FC236}">
                  <a16:creationId xmlns:a16="http://schemas.microsoft.com/office/drawing/2014/main" id="{48D3A94D-E652-E874-7B2A-508802E19376}"/>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9AB1984-63B9-A39F-84D6-8D29A8534EA4}"/>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AB020119-62B1-D701-481B-8BDE1337F190}"/>
              </a:ext>
            </a:extLst>
          </p:cNvPr>
          <p:cNvGrpSpPr/>
          <p:nvPr/>
        </p:nvGrpSpPr>
        <p:grpSpPr>
          <a:xfrm>
            <a:off x="533400" y="2956565"/>
            <a:ext cx="5562600" cy="0"/>
            <a:chOff x="533400" y="2627177"/>
            <a:chExt cx="5562600" cy="0"/>
          </a:xfrm>
        </p:grpSpPr>
        <p:cxnSp>
          <p:nvCxnSpPr>
            <p:cNvPr id="20" name="Straight Connector 19">
              <a:extLst>
                <a:ext uri="{FF2B5EF4-FFF2-40B4-BE49-F238E27FC236}">
                  <a16:creationId xmlns:a16="http://schemas.microsoft.com/office/drawing/2014/main" id="{EB99B504-60E4-2999-287C-0B54F629DBB9}"/>
                </a:ext>
              </a:extLst>
            </p:cNvPr>
            <p:cNvCxnSpPr/>
            <p:nvPr/>
          </p:nvCxnSpPr>
          <p:spPr>
            <a:xfrm>
              <a:off x="553507" y="2627177"/>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40D3C7A-877F-76EC-9ECF-D5826EE848A3}"/>
                </a:ext>
              </a:extLst>
            </p:cNvPr>
            <p:cNvCxnSpPr>
              <a:cxnSpLocks/>
            </p:cNvCxnSpPr>
            <p:nvPr/>
          </p:nvCxnSpPr>
          <p:spPr>
            <a:xfrm>
              <a:off x="533400" y="2627177"/>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4BF5676F-C636-06BB-BE37-91F78874F9C2}"/>
              </a:ext>
            </a:extLst>
          </p:cNvPr>
          <p:cNvGrpSpPr/>
          <p:nvPr/>
        </p:nvGrpSpPr>
        <p:grpSpPr>
          <a:xfrm>
            <a:off x="6296423" y="1672389"/>
            <a:ext cx="5360780" cy="1566693"/>
            <a:chOff x="6296423" y="1672389"/>
            <a:chExt cx="5360780" cy="1566693"/>
          </a:xfrm>
        </p:grpSpPr>
        <p:sp>
          <p:nvSpPr>
            <p:cNvPr id="23" name="Rectangle: Rounded Corners 22">
              <a:extLst>
                <a:ext uri="{FF2B5EF4-FFF2-40B4-BE49-F238E27FC236}">
                  <a16:creationId xmlns:a16="http://schemas.microsoft.com/office/drawing/2014/main" id="{A00C91AC-09A8-CFBB-9D01-17B660FA89E7}"/>
                </a:ext>
              </a:extLst>
            </p:cNvPr>
            <p:cNvSpPr/>
            <p:nvPr/>
          </p:nvSpPr>
          <p:spPr bwMode="gray">
            <a:xfrm>
              <a:off x="6296423" y="1672389"/>
              <a:ext cx="2648475" cy="1566693"/>
            </a:xfrm>
            <a:prstGeom prst="roundRect">
              <a:avLst>
                <a:gd name="adj" fmla="val 2810"/>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Communication Plan </a:t>
              </a:r>
            </a:p>
            <a:p>
              <a:pPr defTabSz="457063" fontAlgn="ctr">
                <a:defRPr/>
              </a:pPr>
              <a:r>
                <a:rPr lang="en-US" sz="800" b="1">
                  <a:solidFill>
                    <a:srgbClr val="00A78E"/>
                  </a:solidFill>
                </a:rPr>
                <a:t>Timing: </a:t>
              </a:r>
              <a:r>
                <a:rPr lang="en-US" sz="800" b="1">
                  <a:solidFill>
                    <a:schemeClr val="tx2"/>
                  </a:solidFill>
                </a:rPr>
                <a:t>Sep 2026 – Dec 2026</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Organizational Impact Assessment (PPT) summarizing activities performed</a:t>
              </a:r>
            </a:p>
            <a:p>
              <a:pPr marL="91440" indent="-91440">
                <a:buFont typeface="Arial" panose="020B0604020202020204" pitchFamily="34" charset="0"/>
                <a:buChar char="•"/>
              </a:pPr>
              <a:r>
                <a:rPr lang="en-US" sz="800">
                  <a:solidFill>
                    <a:schemeClr val="tx2"/>
                  </a:solidFill>
                </a:rPr>
                <a:t>Stakeholder and Persona Analysis (XLS/PPT)</a:t>
              </a:r>
            </a:p>
            <a:p>
              <a:pPr marL="91440" indent="-91440">
                <a:buFont typeface="Arial" panose="020B0604020202020204" pitchFamily="34" charset="0"/>
                <a:buChar char="•"/>
              </a:pPr>
              <a:r>
                <a:rPr lang="en-US" sz="800">
                  <a:solidFill>
                    <a:schemeClr val="tx2"/>
                  </a:solidFill>
                </a:rPr>
                <a:t>Change Strategy and Rollout Blueprint (PPT)</a:t>
              </a:r>
            </a:p>
            <a:p>
              <a:pPr marL="91440" indent="-91440">
                <a:buFont typeface="Arial" panose="020B0604020202020204" pitchFamily="34" charset="0"/>
                <a:buChar char="•"/>
              </a:pPr>
              <a:r>
                <a:rPr lang="en-US" sz="800">
                  <a:solidFill>
                    <a:schemeClr val="tx2"/>
                  </a:solidFill>
                </a:rPr>
                <a:t>Communications Plan and Draft Communications Content (XLS/DOC/PPT)</a:t>
              </a:r>
            </a:p>
            <a:p>
              <a:pPr marL="91440" indent="-91440">
                <a:buFont typeface="Arial" panose="020B0604020202020204" pitchFamily="34" charset="0"/>
                <a:buChar char="•"/>
              </a:pPr>
              <a:r>
                <a:rPr lang="en-US" sz="800">
                  <a:solidFill>
                    <a:schemeClr val="tx2"/>
                  </a:solidFill>
                </a:rPr>
                <a:t>Learning Strategy and Training Materials (PPT/DOC)</a:t>
              </a:r>
            </a:p>
          </p:txBody>
        </p:sp>
        <p:sp>
          <p:nvSpPr>
            <p:cNvPr id="24" name="Rectangle: Rounded Corners 23">
              <a:extLst>
                <a:ext uri="{FF2B5EF4-FFF2-40B4-BE49-F238E27FC236}">
                  <a16:creationId xmlns:a16="http://schemas.microsoft.com/office/drawing/2014/main" id="{736CB316-87BF-3D55-E6DB-2F13DF8281F7}"/>
                </a:ext>
              </a:extLst>
            </p:cNvPr>
            <p:cNvSpPr/>
            <p:nvPr/>
          </p:nvSpPr>
          <p:spPr bwMode="gray">
            <a:xfrm>
              <a:off x="9008728" y="1672389"/>
              <a:ext cx="2648475" cy="1566693"/>
            </a:xfrm>
            <a:prstGeom prst="roundRect">
              <a:avLst>
                <a:gd name="adj" fmla="val 2594"/>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1 Power User Migration</a:t>
              </a:r>
            </a:p>
            <a:p>
              <a:pPr defTabSz="457063" fontAlgn="ctr">
                <a:defRPr/>
              </a:pPr>
              <a:r>
                <a:rPr lang="en-US" sz="800" b="1">
                  <a:solidFill>
                    <a:srgbClr val="00A78E"/>
                  </a:solidFill>
                </a:rPr>
                <a:t>Timing: </a:t>
              </a:r>
              <a:r>
                <a:rPr lang="en-US" sz="800" b="1">
                  <a:solidFill>
                    <a:schemeClr val="tx2"/>
                  </a:solidFill>
                </a:rPr>
                <a:t>Oct 2026 – May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1 use cases</a:t>
              </a:r>
            </a:p>
            <a:p>
              <a:pPr marL="91440" indent="-91440">
                <a:buFont typeface="Arial" panose="020B0604020202020204" pitchFamily="34" charset="0"/>
                <a:buChar char="•"/>
              </a:pPr>
              <a:r>
                <a:rPr lang="en-US" sz="800">
                  <a:solidFill>
                    <a:schemeClr val="tx2"/>
                  </a:solidFill>
                </a:rPr>
                <a:t>Databricks Power User Program Materials (PPT/DOC) for Tier 1 users</a:t>
              </a:r>
            </a:p>
          </p:txBody>
        </p:sp>
      </p:grpSp>
      <p:grpSp>
        <p:nvGrpSpPr>
          <p:cNvPr id="25" name="Group 24">
            <a:extLst>
              <a:ext uri="{FF2B5EF4-FFF2-40B4-BE49-F238E27FC236}">
                <a16:creationId xmlns:a16="http://schemas.microsoft.com/office/drawing/2014/main" id="{56669A85-3F23-BA97-99FE-962B59B2C667}"/>
              </a:ext>
            </a:extLst>
          </p:cNvPr>
          <p:cNvGrpSpPr/>
          <p:nvPr/>
        </p:nvGrpSpPr>
        <p:grpSpPr>
          <a:xfrm>
            <a:off x="6296421" y="3338339"/>
            <a:ext cx="5360782" cy="1469653"/>
            <a:chOff x="6296421" y="3225587"/>
            <a:chExt cx="5360782" cy="1469653"/>
          </a:xfrm>
        </p:grpSpPr>
        <p:sp>
          <p:nvSpPr>
            <p:cNvPr id="26" name="Rectangle: Rounded Corners 25">
              <a:extLst>
                <a:ext uri="{FF2B5EF4-FFF2-40B4-BE49-F238E27FC236}">
                  <a16:creationId xmlns:a16="http://schemas.microsoft.com/office/drawing/2014/main" id="{1DB73481-2FEB-815B-FC42-517C4FA8AF8E}"/>
                </a:ext>
              </a:extLst>
            </p:cNvPr>
            <p:cNvSpPr/>
            <p:nvPr/>
          </p:nvSpPr>
          <p:spPr bwMode="gray">
            <a:xfrm>
              <a:off x="6296421" y="3225587"/>
              <a:ext cx="2648475" cy="1469653"/>
            </a:xfrm>
            <a:prstGeom prst="roundRect">
              <a:avLst>
                <a:gd name="adj" fmla="val 302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2 Power User Migration</a:t>
              </a:r>
            </a:p>
            <a:p>
              <a:pPr defTabSz="457063" fontAlgn="ctr">
                <a:defRPr/>
              </a:pPr>
              <a:r>
                <a:rPr lang="en-US" sz="800" b="1">
                  <a:solidFill>
                    <a:srgbClr val="00A78E"/>
                  </a:solidFill>
                </a:rPr>
                <a:t>Timing: </a:t>
              </a:r>
              <a:r>
                <a:rPr lang="en-US" sz="800" b="1">
                  <a:solidFill>
                    <a:schemeClr val="tx2"/>
                  </a:solidFill>
                </a:rPr>
                <a:t>Mar 2027 – Jul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2 use cases</a:t>
              </a:r>
            </a:p>
            <a:p>
              <a:pPr marL="91440" indent="-91440">
                <a:buFont typeface="Arial" panose="020B0604020202020204" pitchFamily="34" charset="0"/>
                <a:buChar char="•"/>
              </a:pPr>
              <a:r>
                <a:rPr lang="en-US" sz="800">
                  <a:solidFill>
                    <a:schemeClr val="tx2"/>
                  </a:solidFill>
                </a:rPr>
                <a:t>Databricks Power User Program Materials (PPT/DOC) for Tier 2 users</a:t>
              </a:r>
            </a:p>
          </p:txBody>
        </p:sp>
        <p:sp>
          <p:nvSpPr>
            <p:cNvPr id="27" name="Rectangle: Rounded Corners 26">
              <a:extLst>
                <a:ext uri="{FF2B5EF4-FFF2-40B4-BE49-F238E27FC236}">
                  <a16:creationId xmlns:a16="http://schemas.microsoft.com/office/drawing/2014/main" id="{941454FE-C5CA-FF83-CA26-A01F4C8C42EB}"/>
                </a:ext>
              </a:extLst>
            </p:cNvPr>
            <p:cNvSpPr/>
            <p:nvPr/>
          </p:nvSpPr>
          <p:spPr bwMode="gray">
            <a:xfrm>
              <a:off x="9008728" y="3225587"/>
              <a:ext cx="2648475" cy="1469653"/>
            </a:xfrm>
            <a:prstGeom prst="roundRect">
              <a:avLst>
                <a:gd name="adj" fmla="val 3242"/>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rIns="45720" rtlCol="0" anchor="t"/>
            <a:lstStyle/>
            <a:p>
              <a:pPr defTabSz="457063" fontAlgn="ctr">
                <a:defRPr/>
              </a:pPr>
              <a:r>
                <a:rPr lang="en-US" sz="800" b="1">
                  <a:solidFill>
                    <a:srgbClr val="00A78E"/>
                  </a:solidFill>
                </a:rPr>
                <a:t>Description: </a:t>
              </a:r>
              <a:r>
                <a:rPr lang="en-US" sz="800">
                  <a:solidFill>
                    <a:schemeClr val="tx2"/>
                  </a:solidFill>
                </a:rPr>
                <a:t>Tier 3 Power User Migration</a:t>
              </a:r>
            </a:p>
            <a:p>
              <a:pPr defTabSz="457063" fontAlgn="ctr">
                <a:defRPr/>
              </a:pPr>
              <a:r>
                <a:rPr lang="en-US" sz="800" b="1">
                  <a:solidFill>
                    <a:srgbClr val="00A78E"/>
                  </a:solidFill>
                </a:rPr>
                <a:t>Timing: </a:t>
              </a:r>
              <a:r>
                <a:rPr lang="en-US" sz="800" b="1">
                  <a:solidFill>
                    <a:schemeClr val="tx2"/>
                  </a:solidFill>
                </a:rPr>
                <a:t>May 2027 – Oct 2027</a:t>
              </a:r>
            </a:p>
            <a:p>
              <a:r>
                <a:rPr lang="en-US" sz="800" b="1">
                  <a:solidFill>
                    <a:srgbClr val="00A78E"/>
                  </a:solidFill>
                </a:rPr>
                <a:t>Deliverables: </a:t>
              </a:r>
            </a:p>
            <a:p>
              <a:pPr marL="91440" indent="-91440">
                <a:buFont typeface="Arial" panose="020B0604020202020204" pitchFamily="34" charset="0"/>
                <a:buChar char="•"/>
              </a:pPr>
              <a:r>
                <a:rPr lang="en-US" sz="800">
                  <a:solidFill>
                    <a:schemeClr val="tx2"/>
                  </a:solidFill>
                </a:rPr>
                <a:t>Legacy analytics platform-to-Databricks Cheat Sheets and Notebook Templates (DOC/DBX) for Tier 3 use cases</a:t>
              </a:r>
            </a:p>
            <a:p>
              <a:pPr marL="91440" indent="-91440">
                <a:buFont typeface="Arial" panose="020B0604020202020204" pitchFamily="34" charset="0"/>
                <a:buChar char="•"/>
              </a:pPr>
              <a:r>
                <a:rPr lang="en-US" sz="800">
                  <a:solidFill>
                    <a:schemeClr val="tx2"/>
                  </a:solidFill>
                </a:rPr>
                <a:t>Databricks Power User Program Materials (PPT/DOC) for Tier 3 users</a:t>
              </a:r>
            </a:p>
            <a:p>
              <a:pPr marL="91440" indent="-91440">
                <a:buFont typeface="Arial" panose="020B0604020202020204" pitchFamily="34" charset="0"/>
                <a:buChar char="•"/>
              </a:pPr>
              <a:r>
                <a:rPr lang="en-US" sz="800" err="1">
                  <a:solidFill>
                    <a:schemeClr val="tx2"/>
                  </a:solidFill>
                </a:rPr>
                <a:t>CoE</a:t>
              </a:r>
              <a:r>
                <a:rPr lang="en-US" sz="800">
                  <a:solidFill>
                    <a:schemeClr val="tx2"/>
                  </a:solidFill>
                </a:rPr>
                <a:t> Operating Model and Adoption Plan (PPT/XLS)</a:t>
              </a:r>
            </a:p>
          </p:txBody>
        </p:sp>
      </p:grpSp>
      <p:sp>
        <p:nvSpPr>
          <p:cNvPr id="29" name="TextBox 28">
            <a:extLst>
              <a:ext uri="{FF2B5EF4-FFF2-40B4-BE49-F238E27FC236}">
                <a16:creationId xmlns:a16="http://schemas.microsoft.com/office/drawing/2014/main" id="{52FB290F-31E9-C791-3749-256F22675302}"/>
              </a:ext>
            </a:extLst>
          </p:cNvPr>
          <p:cNvSpPr txBox="1"/>
          <p:nvPr/>
        </p:nvSpPr>
        <p:spPr>
          <a:xfrm>
            <a:off x="11239500"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E.2</a:t>
            </a:r>
          </a:p>
        </p:txBody>
      </p:sp>
      <p:sp>
        <p:nvSpPr>
          <p:cNvPr id="30" name="TextBox 29">
            <a:extLst>
              <a:ext uri="{FF2B5EF4-FFF2-40B4-BE49-F238E27FC236}">
                <a16:creationId xmlns:a16="http://schemas.microsoft.com/office/drawing/2014/main" id="{0E384BD3-9871-800E-7447-18376CDE0A14}"/>
              </a:ext>
            </a:extLst>
          </p:cNvPr>
          <p:cNvSpPr txBox="1"/>
          <p:nvPr/>
        </p:nvSpPr>
        <p:spPr>
          <a:xfrm>
            <a:off x="11239500" y="333254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E.4</a:t>
            </a:r>
          </a:p>
        </p:txBody>
      </p:sp>
      <p:sp>
        <p:nvSpPr>
          <p:cNvPr id="31" name="TextBox 30">
            <a:extLst>
              <a:ext uri="{FF2B5EF4-FFF2-40B4-BE49-F238E27FC236}">
                <a16:creationId xmlns:a16="http://schemas.microsoft.com/office/drawing/2014/main" id="{71932726-4760-C05B-5B9D-460D59CF23CE}"/>
              </a:ext>
            </a:extLst>
          </p:cNvPr>
          <p:cNvSpPr txBox="1"/>
          <p:nvPr/>
        </p:nvSpPr>
        <p:spPr>
          <a:xfrm>
            <a:off x="8529378" y="167238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E.1</a:t>
            </a:r>
          </a:p>
        </p:txBody>
      </p:sp>
      <p:sp>
        <p:nvSpPr>
          <p:cNvPr id="32" name="TextBox 31">
            <a:extLst>
              <a:ext uri="{FF2B5EF4-FFF2-40B4-BE49-F238E27FC236}">
                <a16:creationId xmlns:a16="http://schemas.microsoft.com/office/drawing/2014/main" id="{66053E02-A2D1-FE77-9D62-AD02CEF260EB}"/>
              </a:ext>
            </a:extLst>
          </p:cNvPr>
          <p:cNvSpPr txBox="1"/>
          <p:nvPr/>
        </p:nvSpPr>
        <p:spPr>
          <a:xfrm>
            <a:off x="8529378" y="3332549"/>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E.3</a:t>
            </a:r>
          </a:p>
        </p:txBody>
      </p:sp>
      <p:sp>
        <p:nvSpPr>
          <p:cNvPr id="34" name="Rectangle 33">
            <a:extLst>
              <a:ext uri="{FF2B5EF4-FFF2-40B4-BE49-F238E27FC236}">
                <a16:creationId xmlns:a16="http://schemas.microsoft.com/office/drawing/2014/main" id="{D3686BA1-6715-98CB-4273-4A1312E4B6E7}"/>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Tree>
    <p:extLst>
      <p:ext uri="{BB962C8B-B14F-4D97-AF65-F5344CB8AC3E}">
        <p14:creationId xmlns:p14="http://schemas.microsoft.com/office/powerpoint/2010/main" val="486721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6C97A7-11B4-4AF1-D7A8-FDBF7E40E19A}"/>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ECF6D6C-E3B3-36E1-8D2B-797152A139F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2ECF6D6C-E3B3-36E1-8D2B-797152A139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5F4D73E-D157-0D95-4915-423C1790136A}"/>
              </a:ext>
            </a:extLst>
          </p:cNvPr>
          <p:cNvSpPr>
            <a:spLocks noGrp="1"/>
          </p:cNvSpPr>
          <p:nvPr>
            <p:ph type="title"/>
          </p:nvPr>
        </p:nvSpPr>
        <p:spPr/>
        <p:txBody>
          <a:bodyPr vert="horz" rIns="0"/>
          <a:lstStyle/>
          <a:p>
            <a:r>
              <a:rPr lang="en-US"/>
              <a:t>Workstream E – Organizational Change and Adoption (2/2)</a:t>
            </a:r>
            <a:br>
              <a:rPr lang="en-US"/>
            </a:br>
            <a:r>
              <a:rPr lang="en-US" sz="1600" b="0"/>
              <a:t>Change management – Planning</a:t>
            </a:r>
          </a:p>
        </p:txBody>
      </p:sp>
      <p:sp>
        <p:nvSpPr>
          <p:cNvPr id="10" name="Rectangle 9">
            <a:extLst>
              <a:ext uri="{FF2B5EF4-FFF2-40B4-BE49-F238E27FC236}">
                <a16:creationId xmlns:a16="http://schemas.microsoft.com/office/drawing/2014/main" id="{DBE531DC-DD27-8519-7249-735EBAD98873}"/>
              </a:ext>
            </a:extLst>
          </p:cNvPr>
          <p:cNvSpPr/>
          <p:nvPr/>
        </p:nvSpPr>
        <p:spPr bwMode="gray">
          <a:xfrm>
            <a:off x="10911840" y="0"/>
            <a:ext cx="1280160" cy="548640"/>
          </a:xfrm>
          <a:prstGeom prst="rect">
            <a:avLst/>
          </a:prstGeom>
          <a:solidFill>
            <a:srgbClr val="868686"/>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25" name="Rectangle 24">
            <a:extLst>
              <a:ext uri="{FF2B5EF4-FFF2-40B4-BE49-F238E27FC236}">
                <a16:creationId xmlns:a16="http://schemas.microsoft.com/office/drawing/2014/main" id="{AC3D7E95-89DB-B080-859F-2C3C039257F2}"/>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26" name="Rectangle: Top Corners Rounded 25">
            <a:extLst>
              <a:ext uri="{FF2B5EF4-FFF2-40B4-BE49-F238E27FC236}">
                <a16:creationId xmlns:a16="http://schemas.microsoft.com/office/drawing/2014/main" id="{B8D1D2C1-085D-28FD-3F44-95A392E9731D}"/>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27" name="Content Placeholder 6">
            <a:extLst>
              <a:ext uri="{FF2B5EF4-FFF2-40B4-BE49-F238E27FC236}">
                <a16:creationId xmlns:a16="http://schemas.microsoft.com/office/drawing/2014/main" id="{751EF21E-8437-B560-0712-DC141CCF85C1}"/>
              </a:ext>
            </a:extLst>
          </p:cNvPr>
          <p:cNvGraphicFramePr>
            <a:graphicFrameLocks/>
          </p:cNvGraphicFramePr>
          <p:nvPr>
            <p:extLst>
              <p:ext uri="{D42A27DB-BD31-4B8C-83A1-F6EECF244321}">
                <p14:modId xmlns:p14="http://schemas.microsoft.com/office/powerpoint/2010/main" val="2263243508"/>
              </p:ext>
            </p:extLst>
          </p:nvPr>
        </p:nvGraphicFramePr>
        <p:xfrm>
          <a:off x="538691" y="1509730"/>
          <a:ext cx="11133137" cy="261112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10033766">
                  <a:extLst>
                    <a:ext uri="{9D8B030D-6E8A-4147-A177-3AD203B41FA5}">
                      <a16:colId xmlns:a16="http://schemas.microsoft.com/office/drawing/2014/main" val="2684621038"/>
                    </a:ext>
                  </a:extLst>
                </a:gridCol>
              </a:tblGrid>
              <a:tr h="588439">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Establish Master Project Structure</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Formulate Staffing &amp; Onboarding Requests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Identify Target User Groups &amp; Channels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Outline Training Approach Strategy</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655190">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Living Pilot &amp; Workspace Assets (from A): Architecture validation outcomes, role-to-Unity-Catalog access mapping frameworks, and reference schemas to structure the landing content.</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Query Performance Guidelines (from D): Confirmed Splunk and AIOps scope boundaries and translation logic to write accurate training guides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User Nomination Lock: Delivery from CVS of nominated Power Users (minimum of 5 from each functional business unit) with dedicated, pre-cleared calendar time for training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endParaRPr lang="en-US" sz="1000" b="0" i="0">
                        <a:solidFill>
                          <a:schemeClr val="tx2"/>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r h="434340">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0 (PMO): Weekly adoption telemetry, training completion metrics, change strategy updates, and risk/issue tracking (especially regarding resource constraints or user resistance)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C (Pipeline Enablement): Business requirements gathered from user persona analysis to build targeted Gold/self-service workspace environments and configure Databricks Genie</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To Workstream F (Hypercare): Hand-off of the trained "Databricks Champions" network to act as first-line floor support during cutover, along with a validated </a:t>
                      </a:r>
                      <a:r>
                        <a:rPr lang="en-US" sz="1000" b="0" i="0" err="1">
                          <a:solidFill>
                            <a:schemeClr val="tx2"/>
                          </a:solidFill>
                        </a:rPr>
                        <a:t>CoE</a:t>
                      </a:r>
                      <a:r>
                        <a:rPr lang="en-US" sz="1000" b="0" i="0">
                          <a:solidFill>
                            <a:schemeClr val="tx2"/>
                          </a:solidFill>
                        </a:rPr>
                        <a:t> (Center of Excellence) operating model</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8" name="Content Placeholder 6">
            <a:extLst>
              <a:ext uri="{FF2B5EF4-FFF2-40B4-BE49-F238E27FC236}">
                <a16:creationId xmlns:a16="http://schemas.microsoft.com/office/drawing/2014/main" id="{42C4910B-19C8-F85C-9C25-4CD3F8647B0E}"/>
              </a:ext>
            </a:extLst>
          </p:cNvPr>
          <p:cNvGraphicFramePr>
            <a:graphicFrameLocks/>
          </p:cNvGraphicFramePr>
          <p:nvPr>
            <p:extLst>
              <p:ext uri="{D42A27DB-BD31-4B8C-83A1-F6EECF244321}">
                <p14:modId xmlns:p14="http://schemas.microsoft.com/office/powerpoint/2010/main" val="537332065"/>
              </p:ext>
            </p:extLst>
          </p:nvPr>
        </p:nvGraphicFramePr>
        <p:xfrm>
          <a:off x="540940" y="4230249"/>
          <a:ext cx="11142396" cy="1367490"/>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2508382">
                  <a:extLst>
                    <a:ext uri="{9D8B030D-6E8A-4147-A177-3AD203B41FA5}">
                      <a16:colId xmlns:a16="http://schemas.microsoft.com/office/drawing/2014/main" val="1699332636"/>
                    </a:ext>
                  </a:extLst>
                </a:gridCol>
                <a:gridCol w="2508382">
                  <a:extLst>
                    <a:ext uri="{9D8B030D-6E8A-4147-A177-3AD203B41FA5}">
                      <a16:colId xmlns:a16="http://schemas.microsoft.com/office/drawing/2014/main" val="2684621038"/>
                    </a:ext>
                  </a:extLst>
                </a:gridCol>
                <a:gridCol w="2508382">
                  <a:extLst>
                    <a:ext uri="{9D8B030D-6E8A-4147-A177-3AD203B41FA5}">
                      <a16:colId xmlns:a16="http://schemas.microsoft.com/office/drawing/2014/main" val="1078624516"/>
                    </a:ext>
                  </a:extLst>
                </a:gridCol>
                <a:gridCol w="2508382">
                  <a:extLst>
                    <a:ext uri="{9D8B030D-6E8A-4147-A177-3AD203B41FA5}">
                      <a16:colId xmlns:a16="http://schemas.microsoft.com/office/drawing/2014/main" val="1203515095"/>
                    </a:ext>
                  </a:extLst>
                </a:gridCol>
              </a:tblGrid>
              <a:tr h="475476">
                <a:tc>
                  <a:txBody>
                    <a:bodyPr/>
                    <a:lstStyle/>
                    <a:p>
                      <a:r>
                        <a:rPr lang="en-US" sz="1050" b="1">
                          <a:solidFill>
                            <a:schemeClr val="bg1"/>
                          </a:solidFill>
                        </a:rPr>
                        <a:t>Epic</a:t>
                      </a:r>
                    </a:p>
                  </a:txBody>
                  <a:tcPr marL="18288" marR="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Strategy, Alignment &amp;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Impact Assessment</a:t>
                      </a:r>
                      <a:endParaRPr lang="en-US" sz="1000" b="1" kern="1500">
                        <a:solidFill>
                          <a:srgbClr val="0A4B8C"/>
                        </a:solidFill>
                        <a:latin typeface="+mn-lt"/>
                        <a:ea typeface="+mn-ea"/>
                        <a:cs typeface="+mn-cs"/>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Communications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&amp; Campaigns</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Power User Enablement &amp; </a:t>
                      </a:r>
                      <a:br>
                        <a:rPr lang="en-US" sz="1000" b="1" kern="1500">
                          <a:solidFill>
                            <a:srgbClr val="0A4B8C"/>
                          </a:solidFill>
                          <a:latin typeface="+mn-lt"/>
                          <a:ea typeface="+mn-ea"/>
                          <a:cs typeface="+mn-cs"/>
                        </a:rPr>
                      </a:br>
                      <a:r>
                        <a:rPr lang="en-US" sz="1000" b="1" kern="1500">
                          <a:solidFill>
                            <a:srgbClr val="0A4B8C"/>
                          </a:solidFill>
                          <a:latin typeface="+mn-lt"/>
                          <a:ea typeface="+mn-ea"/>
                          <a:cs typeface="+mn-cs"/>
                        </a:rPr>
                        <a:t>Champions Program</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noProof="0">
                          <a:solidFill>
                            <a:srgbClr val="0A4B8C"/>
                          </a:solidFill>
                          <a:latin typeface="+mn-lt"/>
                          <a:ea typeface="+mn-ea"/>
                          <a:cs typeface="+mn-cs"/>
                        </a:rPr>
                        <a:t>Scale Adoption, Support, and Center </a:t>
                      </a:r>
                      <a:br>
                        <a:rPr lang="en-US" sz="1000" b="1" kern="1500" noProof="0">
                          <a:solidFill>
                            <a:srgbClr val="0A4B8C"/>
                          </a:solidFill>
                          <a:latin typeface="+mn-lt"/>
                          <a:ea typeface="+mn-ea"/>
                          <a:cs typeface="+mn-cs"/>
                        </a:rPr>
                      </a:br>
                      <a:r>
                        <a:rPr lang="en-US" sz="1000" b="1" kern="1500" noProof="0">
                          <a:solidFill>
                            <a:srgbClr val="0A4B8C"/>
                          </a:solidFill>
                          <a:latin typeface="+mn-lt"/>
                          <a:ea typeface="+mn-ea"/>
                          <a:cs typeface="+mn-cs"/>
                        </a:rPr>
                        <a:t>of Excellence</a:t>
                      </a:r>
                      <a:endParaRPr lang="en-US" sz="1000" b="1" kern="1500">
                        <a:solidFill>
                          <a:srgbClr val="0A4B8C"/>
                        </a:solidFill>
                        <a:latin typeface="+mn-lt"/>
                        <a:ea typeface="+mn-ea"/>
                        <a:cs typeface="+mn-cs"/>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92014">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1.1: Persona Mapping</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1.2: Organizational Impact &amp; Stakeholder Analysis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2.1: Target Communication Strategy</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2.2: Launch Campaign</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3.1: "Train the Trainer" Program</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a:solidFill>
                            <a:schemeClr val="tx2"/>
                          </a:solidFill>
                          <a:latin typeface="+mn-lt"/>
                          <a:ea typeface="+mn-ea"/>
                          <a:cs typeface="+mn-cs"/>
                        </a:rPr>
                        <a:t>3.2: Legacy-to-Databricks </a:t>
                      </a:r>
                      <a:br>
                        <a:rPr lang="en-US" sz="1000" b="0" kern="1500">
                          <a:solidFill>
                            <a:schemeClr val="tx2"/>
                          </a:solidFill>
                          <a:latin typeface="+mn-lt"/>
                          <a:ea typeface="+mn-ea"/>
                          <a:cs typeface="+mn-cs"/>
                        </a:rPr>
                      </a:br>
                      <a:r>
                        <a:rPr lang="en-US" sz="1000" b="0" kern="1500">
                          <a:solidFill>
                            <a:schemeClr val="tx2"/>
                          </a:solidFill>
                          <a:latin typeface="+mn-lt"/>
                          <a:ea typeface="+mn-ea"/>
                          <a:cs typeface="+mn-cs"/>
                        </a:rPr>
                        <a:t>Translation Aids</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4.1: Establish Center of </a:t>
                      </a:r>
                      <a:br>
                        <a:rPr lang="en-US" sz="1000" b="0" kern="1500" noProof="0">
                          <a:solidFill>
                            <a:schemeClr val="tx2"/>
                          </a:solidFill>
                          <a:latin typeface="+mn-lt"/>
                          <a:ea typeface="+mn-ea"/>
                          <a:cs typeface="+mn-cs"/>
                        </a:rPr>
                      </a:br>
                      <a:r>
                        <a:rPr lang="en-US" sz="1000" b="0" kern="1500" noProof="0">
                          <a:solidFill>
                            <a:schemeClr val="tx2"/>
                          </a:solidFill>
                          <a:latin typeface="+mn-lt"/>
                          <a:ea typeface="+mn-ea"/>
                          <a:cs typeface="+mn-cs"/>
                        </a:rPr>
                        <a:t>Excellence (</a:t>
                      </a:r>
                      <a:r>
                        <a:rPr lang="en-US" sz="1000" b="0" kern="1500" noProof="0" err="1">
                          <a:solidFill>
                            <a:schemeClr val="tx2"/>
                          </a:solidFill>
                          <a:latin typeface="+mn-lt"/>
                          <a:ea typeface="+mn-ea"/>
                          <a:cs typeface="+mn-cs"/>
                        </a:rPr>
                        <a:t>CoE</a:t>
                      </a:r>
                      <a:r>
                        <a:rPr lang="en-US" sz="1000" b="0" kern="1500" noProof="0">
                          <a:solidFill>
                            <a:schemeClr val="tx2"/>
                          </a:solidFill>
                          <a:latin typeface="+mn-lt"/>
                          <a:ea typeface="+mn-ea"/>
                          <a:cs typeface="+mn-cs"/>
                        </a:rPr>
                        <a:t>)</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4.2: End-User Rollout &amp; Support</a:t>
                      </a:r>
                    </a:p>
                  </a:txBody>
                  <a:tcPr marL="45720"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9" name="Group 28">
            <a:extLst>
              <a:ext uri="{FF2B5EF4-FFF2-40B4-BE49-F238E27FC236}">
                <a16:creationId xmlns:a16="http://schemas.microsoft.com/office/drawing/2014/main" id="{2204AD56-4182-8ED9-C0EF-85AC39E4E6D1}"/>
              </a:ext>
            </a:extLst>
          </p:cNvPr>
          <p:cNvGrpSpPr/>
          <p:nvPr/>
        </p:nvGrpSpPr>
        <p:grpSpPr>
          <a:xfrm>
            <a:off x="538691" y="4239049"/>
            <a:ext cx="11125201" cy="999"/>
            <a:chOff x="531813" y="5259957"/>
            <a:chExt cx="11125201" cy="999"/>
          </a:xfrm>
        </p:grpSpPr>
        <p:cxnSp>
          <p:nvCxnSpPr>
            <p:cNvPr id="30" name="Straight Connector 29">
              <a:extLst>
                <a:ext uri="{FF2B5EF4-FFF2-40B4-BE49-F238E27FC236}">
                  <a16:creationId xmlns:a16="http://schemas.microsoft.com/office/drawing/2014/main" id="{6E58C94A-AA99-08B3-2852-6F61E25DF4C9}"/>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375F310-88E8-D939-5E87-4C4C93D8C04A}"/>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51794CC0-F239-69CA-9BB5-8883897F24AC}"/>
              </a:ext>
            </a:extLst>
          </p:cNvPr>
          <p:cNvGrpSpPr/>
          <p:nvPr/>
        </p:nvGrpSpPr>
        <p:grpSpPr>
          <a:xfrm>
            <a:off x="532210" y="3035443"/>
            <a:ext cx="11127580" cy="1695"/>
            <a:chOff x="529432" y="4264661"/>
            <a:chExt cx="11127580" cy="1695"/>
          </a:xfrm>
        </p:grpSpPr>
        <p:cxnSp>
          <p:nvCxnSpPr>
            <p:cNvPr id="33" name="Straight Connector 32">
              <a:extLst>
                <a:ext uri="{FF2B5EF4-FFF2-40B4-BE49-F238E27FC236}">
                  <a16:creationId xmlns:a16="http://schemas.microsoft.com/office/drawing/2014/main" id="{1DD24770-C55D-58B3-C8E5-1FC49FE337B5}"/>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CCC8C18-AA65-E92D-ED87-12004AAF06CE}"/>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DEE466EE-C7D7-A15C-2DFD-81887B963E62}"/>
              </a:ext>
            </a:extLst>
          </p:cNvPr>
          <p:cNvGrpSpPr/>
          <p:nvPr/>
        </p:nvGrpSpPr>
        <p:grpSpPr>
          <a:xfrm>
            <a:off x="549537" y="2286902"/>
            <a:ext cx="11125201" cy="0"/>
            <a:chOff x="531813" y="3716075"/>
            <a:chExt cx="11125201" cy="0"/>
          </a:xfrm>
        </p:grpSpPr>
        <p:cxnSp>
          <p:nvCxnSpPr>
            <p:cNvPr id="36" name="Straight Connector 35">
              <a:extLst>
                <a:ext uri="{FF2B5EF4-FFF2-40B4-BE49-F238E27FC236}">
                  <a16:creationId xmlns:a16="http://schemas.microsoft.com/office/drawing/2014/main" id="{BD434327-79FF-A54C-8AEA-F0C565372183}"/>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B8FB2A5-3DAA-299A-9D54-7E47260B78E8}"/>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A963F25B-D387-FD3A-02AD-4249BFCF443A}"/>
              </a:ext>
            </a:extLst>
          </p:cNvPr>
          <p:cNvGrpSpPr/>
          <p:nvPr/>
        </p:nvGrpSpPr>
        <p:grpSpPr>
          <a:xfrm>
            <a:off x="538691" y="4704870"/>
            <a:ext cx="11125201" cy="1"/>
            <a:chOff x="531813" y="4848012"/>
            <a:chExt cx="11125201" cy="1"/>
          </a:xfrm>
        </p:grpSpPr>
        <p:cxnSp>
          <p:nvCxnSpPr>
            <p:cNvPr id="39" name="Straight Connector 38">
              <a:extLst>
                <a:ext uri="{FF2B5EF4-FFF2-40B4-BE49-F238E27FC236}">
                  <a16:creationId xmlns:a16="http://schemas.microsoft.com/office/drawing/2014/main" id="{ECBA3D7C-5F41-8B77-0F76-543F5A1E96A9}"/>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6F23553-D938-832F-EA78-81FCA48D80DA}"/>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1383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BC614D-B150-625F-E8B5-790CFD8FB86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22D0857-EC9B-7752-D16B-886269047A4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5" name="thinkcell data - do not delete" hidden="1">
                        <a:extLst>
                          <a:ext uri="{FF2B5EF4-FFF2-40B4-BE49-F238E27FC236}">
                            <a16:creationId xmlns:a16="http://schemas.microsoft.com/office/drawing/2014/main" id="{D22D0857-EC9B-7752-D16B-886269047A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AE6466B-7438-69A9-ED55-48B9BA1B67BD}"/>
              </a:ext>
            </a:extLst>
          </p:cNvPr>
          <p:cNvSpPr>
            <a:spLocks noGrp="1"/>
          </p:cNvSpPr>
          <p:nvPr>
            <p:ph type="title"/>
          </p:nvPr>
        </p:nvSpPr>
        <p:spPr/>
        <p:txBody>
          <a:bodyPr vert="horz" rIns="0"/>
          <a:lstStyle/>
          <a:p>
            <a:r>
              <a:rPr lang="en-US"/>
              <a:t>Workstream F – Hypercare and Operational Handoff (1/2)</a:t>
            </a:r>
            <a:br>
              <a:rPr lang="en-US"/>
            </a:br>
            <a:r>
              <a:rPr lang="en-US" sz="1600" b="0"/>
              <a:t>Transition – From the SOW and other planning documents</a:t>
            </a:r>
          </a:p>
        </p:txBody>
      </p:sp>
      <p:sp>
        <p:nvSpPr>
          <p:cNvPr id="4" name="Rectangle 3">
            <a:extLst>
              <a:ext uri="{FF2B5EF4-FFF2-40B4-BE49-F238E27FC236}">
                <a16:creationId xmlns:a16="http://schemas.microsoft.com/office/drawing/2014/main" id="{B302BFFA-EC08-51F4-B8BB-7D80E7DB5353}"/>
              </a:ext>
            </a:extLst>
          </p:cNvPr>
          <p:cNvSpPr/>
          <p:nvPr/>
        </p:nvSpPr>
        <p:spPr bwMode="gray">
          <a:xfrm>
            <a:off x="594360" y="6203122"/>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2"/>
                </a:solidFill>
              </a:rPr>
              <a:t>Source: CVS_Databricks_SOW_Draft_v5 JAS_CVS_REDLINE, CVS Databricks Staffing Model_V4.xlsx</a:t>
            </a:r>
          </a:p>
        </p:txBody>
      </p:sp>
      <p:sp>
        <p:nvSpPr>
          <p:cNvPr id="33" name="Rectangle: Top Corners Rounded 32">
            <a:extLst>
              <a:ext uri="{FF2B5EF4-FFF2-40B4-BE49-F238E27FC236}">
                <a16:creationId xmlns:a16="http://schemas.microsoft.com/office/drawing/2014/main" id="{7127F356-6AC0-AD4B-1C7C-AB93667C8C35}"/>
              </a:ext>
            </a:extLst>
          </p:cNvPr>
          <p:cNvSpPr/>
          <p:nvPr/>
        </p:nvSpPr>
        <p:spPr bwMode="gray">
          <a:xfrm rot="5400000">
            <a:off x="-1682253" y="3070784"/>
            <a:ext cx="4682069" cy="1317568"/>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sp>
        <p:nvSpPr>
          <p:cNvPr id="37" name="Rectangle: Rounded Corners 36">
            <a:extLst>
              <a:ext uri="{FF2B5EF4-FFF2-40B4-BE49-F238E27FC236}">
                <a16:creationId xmlns:a16="http://schemas.microsoft.com/office/drawing/2014/main" id="{5B604079-7848-004A-B053-EC3A25748D97}"/>
              </a:ext>
            </a:extLst>
          </p:cNvPr>
          <p:cNvSpPr/>
          <p:nvPr/>
        </p:nvSpPr>
        <p:spPr bwMode="gray">
          <a:xfrm>
            <a:off x="6301525" y="1645920"/>
            <a:ext cx="5360592" cy="1280160"/>
          </a:xfrm>
          <a:prstGeom prst="roundRect">
            <a:avLst>
              <a:gd name="adj" fmla="val 6009"/>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45720" rIns="0" bIns="45720" rtlCol="0" anchor="ctr" anchorCtr="0"/>
          <a:lstStyle/>
          <a:p>
            <a:pPr defTabSz="457063" fontAlgn="ctr">
              <a:defRPr/>
            </a:pPr>
            <a:r>
              <a:rPr lang="en-US" sz="1000" b="1">
                <a:solidFill>
                  <a:srgbClr val="00A78E"/>
                </a:solidFill>
              </a:rPr>
              <a:t>Description: </a:t>
            </a:r>
            <a:r>
              <a:rPr lang="en-US" sz="1000">
                <a:solidFill>
                  <a:schemeClr val="tx2"/>
                </a:solidFill>
              </a:rPr>
              <a:t>Cutover Support</a:t>
            </a:r>
          </a:p>
          <a:p>
            <a:pPr defTabSz="457063" fontAlgn="ctr">
              <a:defRPr/>
            </a:pPr>
            <a:r>
              <a:rPr lang="en-US" sz="1000" b="1">
                <a:solidFill>
                  <a:srgbClr val="00A78E"/>
                </a:solidFill>
              </a:rPr>
              <a:t>Timing:</a:t>
            </a:r>
            <a:endParaRPr lang="en-US" sz="1000" b="1">
              <a:solidFill>
                <a:schemeClr val="tx2"/>
              </a:solidFill>
            </a:endParaRP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indent="-91440">
              <a:buFont typeface="Arial" panose="020B0604020202020204" pitchFamily="34" charset="0"/>
              <a:buChar char="•"/>
            </a:pPr>
            <a:r>
              <a:rPr lang="en-US" sz="1000">
                <a:solidFill>
                  <a:schemeClr val="tx2"/>
                </a:solidFill>
              </a:rPr>
              <a:t>Hypercare Plan and War Room Operating Model (PPT/DOC)</a:t>
            </a:r>
          </a:p>
          <a:p>
            <a:pPr marL="91440" indent="-91440">
              <a:buFont typeface="Arial" panose="020B0604020202020204" pitchFamily="34" charset="0"/>
              <a:buChar char="•"/>
            </a:pPr>
            <a:r>
              <a:rPr lang="en-US" sz="1000">
                <a:solidFill>
                  <a:schemeClr val="tx2"/>
                </a:solidFill>
              </a:rPr>
              <a:t>Hypercare Issue Log and Resolution Tracker (XLS)</a:t>
            </a:r>
          </a:p>
          <a:p>
            <a:pPr marL="91440" indent="-91440">
              <a:buFont typeface="Arial" panose="020B0604020202020204" pitchFamily="34" charset="0"/>
              <a:buChar char="•"/>
            </a:pPr>
            <a:r>
              <a:rPr lang="en-US" sz="1000">
                <a:solidFill>
                  <a:schemeClr val="tx2"/>
                </a:solidFill>
              </a:rPr>
              <a:t>Performance Tuning Summary and Recommendations (PPT/DOC)</a:t>
            </a:r>
          </a:p>
        </p:txBody>
      </p:sp>
      <p:grpSp>
        <p:nvGrpSpPr>
          <p:cNvPr id="38" name="Group 37">
            <a:extLst>
              <a:ext uri="{FF2B5EF4-FFF2-40B4-BE49-F238E27FC236}">
                <a16:creationId xmlns:a16="http://schemas.microsoft.com/office/drawing/2014/main" id="{9803D787-7839-8903-0031-9EA2DBADAF79}"/>
              </a:ext>
            </a:extLst>
          </p:cNvPr>
          <p:cNvGrpSpPr/>
          <p:nvPr/>
        </p:nvGrpSpPr>
        <p:grpSpPr>
          <a:xfrm>
            <a:off x="543482" y="1490133"/>
            <a:ext cx="5517030" cy="307777"/>
            <a:chOff x="543482" y="1490133"/>
            <a:chExt cx="5517030" cy="307777"/>
          </a:xfrm>
        </p:grpSpPr>
        <p:sp>
          <p:nvSpPr>
            <p:cNvPr id="39" name="TextBox 38">
              <a:extLst>
                <a:ext uri="{FF2B5EF4-FFF2-40B4-BE49-F238E27FC236}">
                  <a16:creationId xmlns:a16="http://schemas.microsoft.com/office/drawing/2014/main" id="{E8F69AEC-2570-F5AA-D4B2-23240EACA8B5}"/>
                </a:ext>
              </a:extLst>
            </p:cNvPr>
            <p:cNvSpPr txBox="1"/>
            <p:nvPr/>
          </p:nvSpPr>
          <p:spPr>
            <a:xfrm>
              <a:off x="543482" y="1490133"/>
              <a:ext cx="690958"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Scope</a:t>
              </a:r>
            </a:p>
          </p:txBody>
        </p:sp>
        <p:sp>
          <p:nvSpPr>
            <p:cNvPr id="40" name="TextBox 39">
              <a:extLst>
                <a:ext uri="{FF2B5EF4-FFF2-40B4-BE49-F238E27FC236}">
                  <a16:creationId xmlns:a16="http://schemas.microsoft.com/office/drawing/2014/main" id="{1EA4BF14-4010-AD25-B6DD-536DF8BCAB93}"/>
                </a:ext>
              </a:extLst>
            </p:cNvPr>
            <p:cNvSpPr txBox="1"/>
            <p:nvPr/>
          </p:nvSpPr>
          <p:spPr>
            <a:xfrm>
              <a:off x="1366590" y="1490133"/>
              <a:ext cx="4693922" cy="307777"/>
            </a:xfrm>
            <a:prstGeom prst="rect">
              <a:avLst/>
            </a:prstGeom>
            <a:noFill/>
          </p:spPr>
          <p:txBody>
            <a:bodyPr wrap="square" lIns="0" tIns="0" rIns="0" bIns="0">
              <a:spAutoFit/>
            </a:bodyPr>
            <a:lstStyle/>
            <a:p>
              <a:pPr algn="l"/>
              <a:r>
                <a:rPr lang="en-US" sz="1000">
                  <a:solidFill>
                    <a:schemeClr val="tx2"/>
                  </a:solidFill>
                </a:rPr>
                <a:t>Provide post go-live stabilization, incident triage, performance tuning, knowledge transfer and formal handoff support.</a:t>
              </a:r>
            </a:p>
          </p:txBody>
        </p:sp>
      </p:grpSp>
      <p:grpSp>
        <p:nvGrpSpPr>
          <p:cNvPr id="41" name="Group 40">
            <a:extLst>
              <a:ext uri="{FF2B5EF4-FFF2-40B4-BE49-F238E27FC236}">
                <a16:creationId xmlns:a16="http://schemas.microsoft.com/office/drawing/2014/main" id="{175460F0-9DC1-9965-633D-5259172415BF}"/>
              </a:ext>
            </a:extLst>
          </p:cNvPr>
          <p:cNvGrpSpPr/>
          <p:nvPr/>
        </p:nvGrpSpPr>
        <p:grpSpPr>
          <a:xfrm>
            <a:off x="543482" y="2007204"/>
            <a:ext cx="5398316" cy="307777"/>
            <a:chOff x="543482" y="2260040"/>
            <a:chExt cx="5398316" cy="307777"/>
          </a:xfrm>
        </p:grpSpPr>
        <p:sp>
          <p:nvSpPr>
            <p:cNvPr id="42" name="TextBox 41">
              <a:extLst>
                <a:ext uri="{FF2B5EF4-FFF2-40B4-BE49-F238E27FC236}">
                  <a16:creationId xmlns:a16="http://schemas.microsoft.com/office/drawing/2014/main" id="{E6664179-2343-822C-DB18-2BD774F3081F}"/>
                </a:ext>
              </a:extLst>
            </p:cNvPr>
            <p:cNvSpPr txBox="1"/>
            <p:nvPr/>
          </p:nvSpPr>
          <p:spPr>
            <a:xfrm>
              <a:off x="543482" y="2260040"/>
              <a:ext cx="721899"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Objective</a:t>
              </a:r>
            </a:p>
          </p:txBody>
        </p:sp>
        <p:sp>
          <p:nvSpPr>
            <p:cNvPr id="43" name="TextBox 42">
              <a:extLst>
                <a:ext uri="{FF2B5EF4-FFF2-40B4-BE49-F238E27FC236}">
                  <a16:creationId xmlns:a16="http://schemas.microsoft.com/office/drawing/2014/main" id="{C723CB7E-778D-2CA3-6503-7C917C3AEE2D}"/>
                </a:ext>
              </a:extLst>
            </p:cNvPr>
            <p:cNvSpPr txBox="1"/>
            <p:nvPr/>
          </p:nvSpPr>
          <p:spPr>
            <a:xfrm>
              <a:off x="1366590" y="2260040"/>
              <a:ext cx="4575208" cy="307777"/>
            </a:xfrm>
            <a:prstGeom prst="rect">
              <a:avLst/>
            </a:prstGeom>
            <a:noFill/>
          </p:spPr>
          <p:txBody>
            <a:bodyPr wrap="square" lIns="0" tIns="0" rIns="0" bIns="0">
              <a:spAutoFit/>
            </a:bodyPr>
            <a:lstStyle/>
            <a:p>
              <a:pPr algn="l"/>
              <a:r>
                <a:rPr lang="en-US" sz="1000">
                  <a:solidFill>
                    <a:schemeClr val="tx2"/>
                  </a:solidFill>
                </a:rPr>
                <a:t>Coordinate transition post go-live by rapidly resolving issues, stabilizing the platform and executing a structured handoff to CVS BAU operations.</a:t>
              </a:r>
            </a:p>
          </p:txBody>
        </p:sp>
      </p:grpSp>
      <p:grpSp>
        <p:nvGrpSpPr>
          <p:cNvPr id="44" name="Group 43">
            <a:extLst>
              <a:ext uri="{FF2B5EF4-FFF2-40B4-BE49-F238E27FC236}">
                <a16:creationId xmlns:a16="http://schemas.microsoft.com/office/drawing/2014/main" id="{E22019AA-7AEC-F617-DDF5-E7D14188A6FA}"/>
              </a:ext>
            </a:extLst>
          </p:cNvPr>
          <p:cNvGrpSpPr/>
          <p:nvPr/>
        </p:nvGrpSpPr>
        <p:grpSpPr>
          <a:xfrm>
            <a:off x="543483" y="2519350"/>
            <a:ext cx="5571567" cy="2192908"/>
            <a:chOff x="543483" y="2717246"/>
            <a:chExt cx="5571567" cy="2192908"/>
          </a:xfrm>
        </p:grpSpPr>
        <p:sp>
          <p:nvSpPr>
            <p:cNvPr id="45" name="TextBox 44">
              <a:extLst>
                <a:ext uri="{FF2B5EF4-FFF2-40B4-BE49-F238E27FC236}">
                  <a16:creationId xmlns:a16="http://schemas.microsoft.com/office/drawing/2014/main" id="{F0B1E6FE-57FE-2CEB-0051-3A0BB9EBE6F0}"/>
                </a:ext>
              </a:extLst>
            </p:cNvPr>
            <p:cNvSpPr txBox="1"/>
            <p:nvPr/>
          </p:nvSpPr>
          <p:spPr>
            <a:xfrm>
              <a:off x="543483" y="2717246"/>
              <a:ext cx="731982" cy="369332"/>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chemeClr val="bg1"/>
                  </a:solidFill>
                  <a:effectLst/>
                  <a:uLnTx/>
                  <a:uFillTx/>
                  <a:latin typeface="CVS Health Sans"/>
                  <a:ea typeface="+mn-ea"/>
                  <a:cs typeface="+mn-cs"/>
                </a:rPr>
                <a:t>Key Activities</a:t>
              </a:r>
            </a:p>
          </p:txBody>
        </p:sp>
        <p:sp>
          <p:nvSpPr>
            <p:cNvPr id="46" name="TextBox 45">
              <a:extLst>
                <a:ext uri="{FF2B5EF4-FFF2-40B4-BE49-F238E27FC236}">
                  <a16:creationId xmlns:a16="http://schemas.microsoft.com/office/drawing/2014/main" id="{E39234BE-E623-C71E-18F8-FF8D7DA1F579}"/>
                </a:ext>
              </a:extLst>
            </p:cNvPr>
            <p:cNvSpPr txBox="1"/>
            <p:nvPr/>
          </p:nvSpPr>
          <p:spPr>
            <a:xfrm>
              <a:off x="1366590" y="2717246"/>
              <a:ext cx="4748460" cy="2192908"/>
            </a:xfrm>
            <a:prstGeom prst="rect">
              <a:avLst/>
            </a:prstGeom>
            <a:noFill/>
          </p:spPr>
          <p:txBody>
            <a:bodyPr wrap="square" lIns="0" tIns="45720" rIns="45720" bIns="45720">
              <a:noAutofit/>
            </a:bodyPr>
            <a:lstStyle/>
            <a:p>
              <a:pPr marL="137160" lvl="1" indent="-137160">
                <a:spcAft>
                  <a:spcPts val="300"/>
                </a:spcAft>
                <a:buFont typeface="Arial" panose="020B0604020202020204" pitchFamily="34" charset="0"/>
                <a:buChar char="•"/>
              </a:pPr>
              <a:r>
                <a:rPr lang="en-US" sz="1000" b="1" kern="1500">
                  <a:solidFill>
                    <a:schemeClr val="tx2"/>
                  </a:solidFill>
                </a:rPr>
                <a:t>Establish War Room: </a:t>
              </a:r>
              <a:r>
                <a:rPr lang="en-US" sz="1000" kern="1500">
                  <a:solidFill>
                    <a:schemeClr val="tx2"/>
                  </a:solidFill>
                </a:rPr>
                <a:t>Set up a command center with daily stand-ups for rapid issue triage and escalation</a:t>
              </a:r>
            </a:p>
            <a:p>
              <a:pPr marL="137160" lvl="1" indent="-137160">
                <a:spcAft>
                  <a:spcPts val="300"/>
                </a:spcAft>
                <a:buFont typeface="Arial" panose="020B0604020202020204" pitchFamily="34" charset="0"/>
                <a:buChar char="•"/>
              </a:pPr>
              <a:r>
                <a:rPr lang="en-US" sz="1000" b="1" kern="1500">
                  <a:solidFill>
                    <a:schemeClr val="tx2"/>
                  </a:solidFill>
                </a:rPr>
                <a:t>Intensive Incident Management: </a:t>
              </a:r>
              <a:r>
                <a:rPr lang="en-US" sz="1000" kern="1500">
                  <a:solidFill>
                    <a:schemeClr val="tx2"/>
                  </a:solidFill>
                </a:rPr>
                <a:t>Provide monitoring and rapid response for pipeline, platform and data quality issues</a:t>
              </a:r>
            </a:p>
            <a:p>
              <a:pPr marL="137160" lvl="1" indent="-137160">
                <a:spcAft>
                  <a:spcPts val="300"/>
                </a:spcAft>
                <a:buFont typeface="Arial" panose="020B0604020202020204" pitchFamily="34" charset="0"/>
                <a:buChar char="•"/>
              </a:pPr>
              <a:r>
                <a:rPr lang="en-US" sz="1000" b="1" kern="1500">
                  <a:solidFill>
                    <a:schemeClr val="tx2"/>
                  </a:solidFill>
                </a:rPr>
                <a:t>End-User Support:</a:t>
              </a:r>
              <a:r>
                <a:rPr lang="en-US" sz="1000" kern="1500">
                  <a:solidFill>
                    <a:schemeClr val="tx2"/>
                  </a:solidFill>
                </a:rPr>
                <a:t> Act as the first point of contact for user support, providing hands-on assistance to resolve issues</a:t>
              </a:r>
            </a:p>
            <a:p>
              <a:pPr marL="137160" lvl="1" indent="-137160">
                <a:spcAft>
                  <a:spcPts val="300"/>
                </a:spcAft>
                <a:buFont typeface="Arial" panose="020B0604020202020204" pitchFamily="34" charset="0"/>
                <a:buChar char="•"/>
              </a:pPr>
              <a:r>
                <a:rPr lang="en-US" sz="1000" b="1" kern="1500">
                  <a:solidFill>
                    <a:schemeClr val="tx2"/>
                  </a:solidFill>
                </a:rPr>
                <a:t>Performance Tuning: </a:t>
              </a:r>
              <a:r>
                <a:rPr lang="en-US" sz="1000" kern="1500">
                  <a:solidFill>
                    <a:schemeClr val="tx2"/>
                  </a:solidFill>
                </a:rPr>
                <a:t>Monitor platform performance under production loads and implement tuning to meet performance benchmarks</a:t>
              </a:r>
            </a:p>
            <a:p>
              <a:pPr marL="137160" lvl="1" indent="-137160">
                <a:spcAft>
                  <a:spcPts val="300"/>
                </a:spcAft>
                <a:buFont typeface="Arial" panose="020B0604020202020204" pitchFamily="34" charset="0"/>
                <a:buChar char="•"/>
              </a:pPr>
              <a:r>
                <a:rPr lang="en-US" sz="1000" b="1" kern="1500">
                  <a:solidFill>
                    <a:schemeClr val="tx2"/>
                  </a:solidFill>
                </a:rPr>
                <a:t>Knowledge Transfer (KT): </a:t>
              </a:r>
              <a:r>
                <a:rPr lang="en-US" sz="1000" kern="1500">
                  <a:solidFill>
                    <a:schemeClr val="tx2"/>
                  </a:solidFill>
                </a:rPr>
                <a:t>Document all resolutions in a knowledge base and conduct focused transfer sessions to enable the BAU team</a:t>
              </a:r>
            </a:p>
            <a:p>
              <a:pPr marL="137160" lvl="1" indent="-137160">
                <a:spcAft>
                  <a:spcPts val="300"/>
                </a:spcAft>
                <a:buFont typeface="Arial" panose="020B0604020202020204" pitchFamily="34" charset="0"/>
                <a:buChar char="•"/>
              </a:pPr>
              <a:r>
                <a:rPr lang="en-US" sz="1000" b="1" kern="1500">
                  <a:solidFill>
                    <a:schemeClr val="tx2"/>
                  </a:solidFill>
                </a:rPr>
                <a:t>Formal Handoff: </a:t>
              </a:r>
              <a:r>
                <a:rPr lang="en-US" sz="1000" kern="1500">
                  <a:solidFill>
                    <a:schemeClr val="tx2"/>
                  </a:solidFill>
                </a:rPr>
                <a:t>Execute the handover process with a final system stability review to secure formal sign-off</a:t>
              </a:r>
            </a:p>
          </p:txBody>
        </p:sp>
      </p:grpSp>
      <p:sp>
        <p:nvSpPr>
          <p:cNvPr id="47" name="TextBox 46">
            <a:extLst>
              <a:ext uri="{FF2B5EF4-FFF2-40B4-BE49-F238E27FC236}">
                <a16:creationId xmlns:a16="http://schemas.microsoft.com/office/drawing/2014/main" id="{14C52478-0CD9-DA80-C059-4FA97F1B85F4}"/>
              </a:ext>
            </a:extLst>
          </p:cNvPr>
          <p:cNvSpPr txBox="1"/>
          <p:nvPr/>
        </p:nvSpPr>
        <p:spPr>
          <a:xfrm>
            <a:off x="6301525" y="1463040"/>
            <a:ext cx="740587" cy="184666"/>
          </a:xfrm>
          <a:prstGeom prst="rect">
            <a:avLst/>
          </a:prstGeom>
          <a:noFill/>
        </p:spPr>
        <p:txBody>
          <a:bodyPr wrap="square" lIns="0" tIns="0" rIns="0" bIns="0">
            <a:spAutoFit/>
          </a:bodyPr>
          <a:lstStyle/>
          <a:p>
            <a:pPr marL="0" marR="0" lvl="0" indent="0" algn="l" defTabSz="457063" rtl="0" eaLnBrk="1" fontAlgn="ctr" latinLnBrk="0" hangingPunct="1">
              <a:lnSpc>
                <a:spcPct val="100000"/>
              </a:lnSpc>
              <a:spcBef>
                <a:spcPts val="0"/>
              </a:spcBef>
              <a:spcAft>
                <a:spcPts val="0"/>
              </a:spcAft>
              <a:buClrTx/>
              <a:buSzTx/>
              <a:buFontTx/>
              <a:buNone/>
              <a:tabLst/>
              <a:defRPr/>
            </a:pPr>
            <a:r>
              <a:rPr kumimoji="0" lang="en-US" sz="1200" b="1" i="0" u="none" strike="noStrike" kern="1500" cap="none" spc="0" normalizeH="0" baseline="0" noProof="0">
                <a:ln>
                  <a:noFill/>
                </a:ln>
                <a:solidFill>
                  <a:srgbClr val="0B315E"/>
                </a:solidFill>
                <a:effectLst/>
                <a:uLnTx/>
                <a:uFillTx/>
                <a:latin typeface="CVS Health Sans"/>
                <a:ea typeface="+mn-ea"/>
                <a:cs typeface="+mn-cs"/>
              </a:rPr>
              <a:t>Milestone</a:t>
            </a:r>
          </a:p>
        </p:txBody>
      </p:sp>
      <p:grpSp>
        <p:nvGrpSpPr>
          <p:cNvPr id="48" name="Group 47">
            <a:extLst>
              <a:ext uri="{FF2B5EF4-FFF2-40B4-BE49-F238E27FC236}">
                <a16:creationId xmlns:a16="http://schemas.microsoft.com/office/drawing/2014/main" id="{21347AAD-8B9F-616F-6CD6-1378846BAAC3}"/>
              </a:ext>
            </a:extLst>
          </p:cNvPr>
          <p:cNvGrpSpPr/>
          <p:nvPr/>
        </p:nvGrpSpPr>
        <p:grpSpPr>
          <a:xfrm>
            <a:off x="533400" y="1900094"/>
            <a:ext cx="5562600" cy="4926"/>
            <a:chOff x="533400" y="1886078"/>
            <a:chExt cx="5562600" cy="4926"/>
          </a:xfrm>
        </p:grpSpPr>
        <p:cxnSp>
          <p:nvCxnSpPr>
            <p:cNvPr id="49" name="Straight Connector 48">
              <a:extLst>
                <a:ext uri="{FF2B5EF4-FFF2-40B4-BE49-F238E27FC236}">
                  <a16:creationId xmlns:a16="http://schemas.microsoft.com/office/drawing/2014/main" id="{C9A5DD85-A837-24FC-06A5-8935D16EBC2E}"/>
                </a:ext>
              </a:extLst>
            </p:cNvPr>
            <p:cNvCxnSpPr/>
            <p:nvPr/>
          </p:nvCxnSpPr>
          <p:spPr>
            <a:xfrm>
              <a:off x="553507" y="1891004"/>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9E2D5D1-15BA-07B2-3E0F-2466606DBD09}"/>
                </a:ext>
              </a:extLst>
            </p:cNvPr>
            <p:cNvCxnSpPr>
              <a:cxnSpLocks/>
            </p:cNvCxnSpPr>
            <p:nvPr/>
          </p:nvCxnSpPr>
          <p:spPr>
            <a:xfrm>
              <a:off x="533400" y="1886078"/>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55B44EBF-A168-E2B0-2B74-F7ACC5FB002A}"/>
              </a:ext>
            </a:extLst>
          </p:cNvPr>
          <p:cNvGrpSpPr/>
          <p:nvPr/>
        </p:nvGrpSpPr>
        <p:grpSpPr>
          <a:xfrm>
            <a:off x="533400" y="2417165"/>
            <a:ext cx="5562600" cy="0"/>
            <a:chOff x="533400" y="2463561"/>
            <a:chExt cx="5562600" cy="0"/>
          </a:xfrm>
        </p:grpSpPr>
        <p:cxnSp>
          <p:nvCxnSpPr>
            <p:cNvPr id="52" name="Straight Connector 51">
              <a:extLst>
                <a:ext uri="{FF2B5EF4-FFF2-40B4-BE49-F238E27FC236}">
                  <a16:creationId xmlns:a16="http://schemas.microsoft.com/office/drawing/2014/main" id="{71FDB0A6-96BC-6BEE-37CC-FC4E4522EB3E}"/>
                </a:ext>
              </a:extLst>
            </p:cNvPr>
            <p:cNvCxnSpPr/>
            <p:nvPr/>
          </p:nvCxnSpPr>
          <p:spPr>
            <a:xfrm>
              <a:off x="553507" y="2463561"/>
              <a:ext cx="5542493"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C962C8C-4930-53F3-AE3E-15ACD3A9EF06}"/>
                </a:ext>
              </a:extLst>
            </p:cNvPr>
            <p:cNvCxnSpPr>
              <a:cxnSpLocks/>
            </p:cNvCxnSpPr>
            <p:nvPr/>
          </p:nvCxnSpPr>
          <p:spPr>
            <a:xfrm>
              <a:off x="533400" y="2463561"/>
              <a:ext cx="784166"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54" name="Rectangle: Rounded Corners 53">
            <a:extLst>
              <a:ext uri="{FF2B5EF4-FFF2-40B4-BE49-F238E27FC236}">
                <a16:creationId xmlns:a16="http://schemas.microsoft.com/office/drawing/2014/main" id="{32C2D282-231B-3FCD-4F0A-FA8D138E0A7D}"/>
              </a:ext>
            </a:extLst>
          </p:cNvPr>
          <p:cNvSpPr/>
          <p:nvPr/>
        </p:nvSpPr>
        <p:spPr bwMode="gray">
          <a:xfrm>
            <a:off x="6291316" y="3017520"/>
            <a:ext cx="5360592" cy="1280160"/>
          </a:xfrm>
          <a:prstGeom prst="roundRect">
            <a:avLst>
              <a:gd name="adj" fmla="val 6416"/>
            </a:avLst>
          </a:prstGeom>
          <a:solidFill>
            <a:schemeClr val="bg1"/>
          </a:solidFill>
          <a:ln>
            <a:solidFill>
              <a:srgbClr val="0A4B8C"/>
            </a:solidFill>
            <a:miter lim="800000"/>
          </a:ln>
          <a:effectLst/>
        </p:spPr>
        <p:style>
          <a:lnRef idx="1">
            <a:schemeClr val="accent1"/>
          </a:lnRef>
          <a:fillRef idx="3">
            <a:schemeClr val="accent1"/>
          </a:fillRef>
          <a:effectRef idx="2">
            <a:schemeClr val="accent1"/>
          </a:effectRef>
          <a:fontRef idx="minor">
            <a:schemeClr val="lt1"/>
          </a:fontRef>
        </p:style>
        <p:txBody>
          <a:bodyPr lIns="45720" tIns="0" bIns="0" rtlCol="0" anchor="ctr" anchorCtr="0"/>
          <a:lstStyle/>
          <a:p>
            <a:pPr defTabSz="457063" fontAlgn="ctr">
              <a:defRPr/>
            </a:pPr>
            <a:r>
              <a:rPr lang="en-US" sz="1000" b="1">
                <a:solidFill>
                  <a:srgbClr val="00A78E"/>
                </a:solidFill>
              </a:rPr>
              <a:t>Description: </a:t>
            </a:r>
            <a:r>
              <a:rPr lang="en-US" sz="1000">
                <a:solidFill>
                  <a:schemeClr val="tx2"/>
                </a:solidFill>
              </a:rPr>
              <a:t>Transition &amp; Handoff</a:t>
            </a:r>
          </a:p>
          <a:p>
            <a:pPr defTabSz="457063" fontAlgn="ctr">
              <a:defRPr/>
            </a:pPr>
            <a:r>
              <a:rPr lang="en-US" sz="1000" b="1">
                <a:solidFill>
                  <a:srgbClr val="00A78E"/>
                </a:solidFill>
              </a:rPr>
              <a:t>Timing: </a:t>
            </a:r>
            <a:r>
              <a:rPr lang="en-US" sz="1000" b="1">
                <a:solidFill>
                  <a:schemeClr val="tx2"/>
                </a:solidFill>
              </a:rPr>
              <a:t>Oct 2027</a:t>
            </a:r>
          </a:p>
          <a:p>
            <a:pPr defTabSz="457063" fontAlgn="ctr">
              <a:defRPr/>
            </a:pPr>
            <a:endParaRPr lang="en-US" sz="1000" b="1">
              <a:solidFill>
                <a:schemeClr val="tx2"/>
              </a:solidFill>
            </a:endParaRPr>
          </a:p>
          <a:p>
            <a:pPr defTabSz="457063" fontAlgn="ctr">
              <a:defRPr/>
            </a:pPr>
            <a:endParaRPr lang="en-US" sz="1000" b="1">
              <a:solidFill>
                <a:schemeClr val="tx2"/>
              </a:solidFill>
            </a:endParaRPr>
          </a:p>
          <a:p>
            <a:r>
              <a:rPr lang="en-US" sz="1000" b="1">
                <a:solidFill>
                  <a:srgbClr val="00A78E"/>
                </a:solidFill>
              </a:rPr>
              <a:t>Deliverables: </a:t>
            </a:r>
          </a:p>
          <a:p>
            <a:pPr marL="91440" lvl="2" indent="-91440">
              <a:buFont typeface="Arial" panose="020B0604020202020204" pitchFamily="34" charset="0"/>
              <a:buChar char="•"/>
            </a:pPr>
            <a:r>
              <a:rPr lang="en-US" sz="1000">
                <a:solidFill>
                  <a:schemeClr val="tx2"/>
                </a:solidFill>
              </a:rPr>
              <a:t>Operational Runbooks and Knowledge Base Content (DOC)</a:t>
            </a:r>
          </a:p>
          <a:p>
            <a:pPr marL="91440" lvl="2" indent="-91440">
              <a:buFont typeface="Arial" panose="020B0604020202020204" pitchFamily="34" charset="0"/>
              <a:buChar char="•"/>
            </a:pPr>
            <a:r>
              <a:rPr lang="en-US" sz="1000">
                <a:solidFill>
                  <a:schemeClr val="tx2"/>
                </a:solidFill>
              </a:rPr>
              <a:t>Knowledge Transfer Materials and Attendance Records (PPT/XLS)</a:t>
            </a:r>
          </a:p>
          <a:p>
            <a:pPr marL="91440" lvl="2" indent="-91440">
              <a:buFont typeface="Arial" panose="020B0604020202020204" pitchFamily="34" charset="0"/>
              <a:buChar char="•"/>
            </a:pPr>
            <a:r>
              <a:rPr lang="en-US" sz="1000">
                <a:solidFill>
                  <a:schemeClr val="tx2"/>
                </a:solidFill>
              </a:rPr>
              <a:t>Service Transition Checklist and Handoff Signoff Document (DOC)</a:t>
            </a:r>
          </a:p>
        </p:txBody>
      </p:sp>
      <p:sp>
        <p:nvSpPr>
          <p:cNvPr id="56" name="TextBox 55">
            <a:extLst>
              <a:ext uri="{FF2B5EF4-FFF2-40B4-BE49-F238E27FC236}">
                <a16:creationId xmlns:a16="http://schemas.microsoft.com/office/drawing/2014/main" id="{A27FF919-AAA0-53FC-71EA-6D0C5971F38A}"/>
              </a:ext>
            </a:extLst>
          </p:cNvPr>
          <p:cNvSpPr txBox="1"/>
          <p:nvPr/>
        </p:nvSpPr>
        <p:spPr>
          <a:xfrm>
            <a:off x="11155680" y="16459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F.1</a:t>
            </a:r>
          </a:p>
        </p:txBody>
      </p:sp>
      <p:sp>
        <p:nvSpPr>
          <p:cNvPr id="57" name="TextBox 56">
            <a:extLst>
              <a:ext uri="{FF2B5EF4-FFF2-40B4-BE49-F238E27FC236}">
                <a16:creationId xmlns:a16="http://schemas.microsoft.com/office/drawing/2014/main" id="{970B2044-25E4-EDF5-FB5F-6C0F5D242093}"/>
              </a:ext>
            </a:extLst>
          </p:cNvPr>
          <p:cNvSpPr txBox="1"/>
          <p:nvPr/>
        </p:nvSpPr>
        <p:spPr>
          <a:xfrm>
            <a:off x="11155680" y="3017520"/>
            <a:ext cx="372996" cy="209031"/>
          </a:xfrm>
          <a:prstGeom prst="round2SameRect">
            <a:avLst>
              <a:gd name="adj1" fmla="val 0"/>
              <a:gd name="adj2" fmla="val 27334"/>
            </a:avLst>
          </a:prstGeom>
          <a:solidFill>
            <a:srgbClr val="0A4B8C"/>
          </a:solidFill>
        </p:spPr>
        <p:txBody>
          <a:bodyPr wrap="square" lIns="0" tIns="0" rIns="0" bIns="0" anchor="ctr" anchorCtr="0">
            <a:noAutofit/>
          </a:bodyPr>
          <a:lstStyle/>
          <a:p>
            <a:pPr lvl="0" algn="ctr" defTabSz="457063" fontAlgn="ctr">
              <a:defRPr/>
            </a:pPr>
            <a:r>
              <a:rPr lang="en-US" sz="1050" b="1" kern="1500">
                <a:solidFill>
                  <a:schemeClr val="bg1"/>
                </a:solidFill>
              </a:rPr>
              <a:t>F.2</a:t>
            </a:r>
          </a:p>
        </p:txBody>
      </p:sp>
      <p:graphicFrame>
        <p:nvGraphicFramePr>
          <p:cNvPr id="6" name="Table 5">
            <a:extLst>
              <a:ext uri="{FF2B5EF4-FFF2-40B4-BE49-F238E27FC236}">
                <a16:creationId xmlns:a16="http://schemas.microsoft.com/office/drawing/2014/main" id="{1E9C7E38-F12B-3149-8D25-274CADD94F5E}"/>
              </a:ext>
            </a:extLst>
          </p:cNvPr>
          <p:cNvGraphicFramePr>
            <a:graphicFrameLocks noGrp="1"/>
          </p:cNvGraphicFramePr>
          <p:nvPr>
            <p:extLst>
              <p:ext uri="{D42A27DB-BD31-4B8C-83A1-F6EECF244321}">
                <p14:modId xmlns:p14="http://schemas.microsoft.com/office/powerpoint/2010/main" val="3550687494"/>
              </p:ext>
            </p:extLst>
          </p:nvPr>
        </p:nvGraphicFramePr>
        <p:xfrm>
          <a:off x="6363868" y="2030456"/>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1167973582"/>
                    </a:ext>
                  </a:extLst>
                </a:gridCol>
              </a:tblGrid>
              <a:tr h="182880">
                <a:tc>
                  <a:txBody>
                    <a:bodyPr/>
                    <a:lstStyle/>
                    <a:p>
                      <a:pPr algn="ctr"/>
                      <a:r>
                        <a:rPr lang="en-US" sz="1000"/>
                        <a:t>Sep26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Nov26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Dec26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Jan27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Feb27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Apr27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May27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Jul27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Aug27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Sep27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tc>
                  <a:txBody>
                    <a:bodyPr/>
                    <a:lstStyle/>
                    <a:p>
                      <a:pPr algn="ctr"/>
                      <a:r>
                        <a:rPr lang="en-US" sz="1000"/>
                        <a:t>Oct27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extLst>
                  <a:ext uri="{0D108BD9-81ED-4DB2-BD59-A6C34878D82A}">
                    <a16:rowId xmlns:a16="http://schemas.microsoft.com/office/drawing/2014/main" val="3394829782"/>
                  </a:ext>
                </a:extLst>
              </a:tr>
            </a:tbl>
          </a:graphicData>
        </a:graphic>
      </p:graphicFrame>
      <p:graphicFrame>
        <p:nvGraphicFramePr>
          <p:cNvPr id="8" name="Table 7">
            <a:extLst>
              <a:ext uri="{FF2B5EF4-FFF2-40B4-BE49-F238E27FC236}">
                <a16:creationId xmlns:a16="http://schemas.microsoft.com/office/drawing/2014/main" id="{3CE2E013-0F15-F6F4-B8BE-52AB3F275F0A}"/>
              </a:ext>
            </a:extLst>
          </p:cNvPr>
          <p:cNvGraphicFramePr>
            <a:graphicFrameLocks noGrp="1"/>
          </p:cNvGraphicFramePr>
          <p:nvPr>
            <p:extLst>
              <p:ext uri="{D42A27DB-BD31-4B8C-83A1-F6EECF244321}">
                <p14:modId xmlns:p14="http://schemas.microsoft.com/office/powerpoint/2010/main" val="3560186941"/>
              </p:ext>
            </p:extLst>
          </p:nvPr>
        </p:nvGraphicFramePr>
        <p:xfrm>
          <a:off x="6363868" y="3411855"/>
          <a:ext cx="5235902" cy="182880"/>
        </p:xfrm>
        <a:graphic>
          <a:graphicData uri="http://schemas.openxmlformats.org/drawingml/2006/table">
            <a:tbl>
              <a:tblPr firstRow="1" bandRow="1">
                <a:tableStyleId>{5C22544A-7EE6-4342-B048-85BDC9FD1C3A}</a:tableStyleId>
              </a:tblPr>
              <a:tblGrid>
                <a:gridCol w="373993">
                  <a:extLst>
                    <a:ext uri="{9D8B030D-6E8A-4147-A177-3AD203B41FA5}">
                      <a16:colId xmlns:a16="http://schemas.microsoft.com/office/drawing/2014/main" val="4234389670"/>
                    </a:ext>
                  </a:extLst>
                </a:gridCol>
                <a:gridCol w="373993">
                  <a:extLst>
                    <a:ext uri="{9D8B030D-6E8A-4147-A177-3AD203B41FA5}">
                      <a16:colId xmlns:a16="http://schemas.microsoft.com/office/drawing/2014/main" val="2872415959"/>
                    </a:ext>
                  </a:extLst>
                </a:gridCol>
                <a:gridCol w="373993">
                  <a:extLst>
                    <a:ext uri="{9D8B030D-6E8A-4147-A177-3AD203B41FA5}">
                      <a16:colId xmlns:a16="http://schemas.microsoft.com/office/drawing/2014/main" val="2224089828"/>
                    </a:ext>
                  </a:extLst>
                </a:gridCol>
                <a:gridCol w="373993">
                  <a:extLst>
                    <a:ext uri="{9D8B030D-6E8A-4147-A177-3AD203B41FA5}">
                      <a16:colId xmlns:a16="http://schemas.microsoft.com/office/drawing/2014/main" val="3195761835"/>
                    </a:ext>
                  </a:extLst>
                </a:gridCol>
                <a:gridCol w="373993">
                  <a:extLst>
                    <a:ext uri="{9D8B030D-6E8A-4147-A177-3AD203B41FA5}">
                      <a16:colId xmlns:a16="http://schemas.microsoft.com/office/drawing/2014/main" val="1412581894"/>
                    </a:ext>
                  </a:extLst>
                </a:gridCol>
                <a:gridCol w="373993">
                  <a:extLst>
                    <a:ext uri="{9D8B030D-6E8A-4147-A177-3AD203B41FA5}">
                      <a16:colId xmlns:a16="http://schemas.microsoft.com/office/drawing/2014/main" val="2093679262"/>
                    </a:ext>
                  </a:extLst>
                </a:gridCol>
                <a:gridCol w="373993">
                  <a:extLst>
                    <a:ext uri="{9D8B030D-6E8A-4147-A177-3AD203B41FA5}">
                      <a16:colId xmlns:a16="http://schemas.microsoft.com/office/drawing/2014/main" val="4172650658"/>
                    </a:ext>
                  </a:extLst>
                </a:gridCol>
                <a:gridCol w="373993">
                  <a:extLst>
                    <a:ext uri="{9D8B030D-6E8A-4147-A177-3AD203B41FA5}">
                      <a16:colId xmlns:a16="http://schemas.microsoft.com/office/drawing/2014/main" val="4085553167"/>
                    </a:ext>
                  </a:extLst>
                </a:gridCol>
                <a:gridCol w="373993">
                  <a:extLst>
                    <a:ext uri="{9D8B030D-6E8A-4147-A177-3AD203B41FA5}">
                      <a16:colId xmlns:a16="http://schemas.microsoft.com/office/drawing/2014/main" val="3035667041"/>
                    </a:ext>
                  </a:extLst>
                </a:gridCol>
                <a:gridCol w="373993">
                  <a:extLst>
                    <a:ext uri="{9D8B030D-6E8A-4147-A177-3AD203B41FA5}">
                      <a16:colId xmlns:a16="http://schemas.microsoft.com/office/drawing/2014/main" val="1382053115"/>
                    </a:ext>
                  </a:extLst>
                </a:gridCol>
                <a:gridCol w="373993">
                  <a:extLst>
                    <a:ext uri="{9D8B030D-6E8A-4147-A177-3AD203B41FA5}">
                      <a16:colId xmlns:a16="http://schemas.microsoft.com/office/drawing/2014/main" val="243945664"/>
                    </a:ext>
                  </a:extLst>
                </a:gridCol>
                <a:gridCol w="373993">
                  <a:extLst>
                    <a:ext uri="{9D8B030D-6E8A-4147-A177-3AD203B41FA5}">
                      <a16:colId xmlns:a16="http://schemas.microsoft.com/office/drawing/2014/main" val="4035638086"/>
                    </a:ext>
                  </a:extLst>
                </a:gridCol>
                <a:gridCol w="373993">
                  <a:extLst>
                    <a:ext uri="{9D8B030D-6E8A-4147-A177-3AD203B41FA5}">
                      <a16:colId xmlns:a16="http://schemas.microsoft.com/office/drawing/2014/main" val="340677872"/>
                    </a:ext>
                  </a:extLst>
                </a:gridCol>
                <a:gridCol w="373993">
                  <a:extLst>
                    <a:ext uri="{9D8B030D-6E8A-4147-A177-3AD203B41FA5}">
                      <a16:colId xmlns:a16="http://schemas.microsoft.com/office/drawing/2014/main" val="623221758"/>
                    </a:ext>
                  </a:extLst>
                </a:gridCol>
              </a:tblGrid>
              <a:tr h="182880">
                <a:tc>
                  <a:txBody>
                    <a:bodyPr/>
                    <a:lstStyle/>
                    <a:p>
                      <a:pPr algn="ctr"/>
                      <a:r>
                        <a:rPr lang="en-US" sz="1000"/>
                        <a:t>Sep26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Nov26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Dec26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Jan27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Feb27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Apr27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May27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Jun27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Jul27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Aug27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Sep27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25000"/>
                      </a:srgbClr>
                    </a:solidFill>
                  </a:tcPr>
                </a:tc>
                <a:tc>
                  <a:txBody>
                    <a:bodyPr/>
                    <a:lstStyle/>
                    <a:p>
                      <a:pPr algn="ctr"/>
                      <a:r>
                        <a:rPr lang="en-US" sz="1000"/>
                        <a:t>Oct27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B315E">
                        <a:alpha val="75000"/>
                      </a:srgbClr>
                    </a:solidFill>
                  </a:tcPr>
                </a:tc>
                <a:extLst>
                  <a:ext uri="{0D108BD9-81ED-4DB2-BD59-A6C34878D82A}">
                    <a16:rowId xmlns:a16="http://schemas.microsoft.com/office/drawing/2014/main" val="3394829782"/>
                  </a:ext>
                </a:extLst>
              </a:tr>
            </a:tbl>
          </a:graphicData>
        </a:graphic>
      </p:graphicFrame>
    </p:spTree>
    <p:extLst>
      <p:ext uri="{BB962C8B-B14F-4D97-AF65-F5344CB8AC3E}">
        <p14:creationId xmlns:p14="http://schemas.microsoft.com/office/powerpoint/2010/main" val="3786956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99F8F0-3BF5-85BA-E360-E146B68FA96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A37BE20-BBD8-F865-6FE6-133A08D29EF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8" imgH="608" progId="TCLayout.ActiveDocument.1">
                  <p:embed/>
                </p:oleObj>
              </mc:Choice>
              <mc:Fallback>
                <p:oleObj name="thinkcell Slide" r:id="rId3" imgW="608" imgH="608" progId="TCLayout.ActiveDocument.1">
                  <p:embed/>
                  <p:pic>
                    <p:nvPicPr>
                      <p:cNvPr id="4" name="thinkcell data - do not delete" hidden="1">
                        <a:extLst>
                          <a:ext uri="{FF2B5EF4-FFF2-40B4-BE49-F238E27FC236}">
                            <a16:creationId xmlns:a16="http://schemas.microsoft.com/office/drawing/2014/main" id="{7A37BE20-BBD8-F865-6FE6-133A08D29E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999DD2B-7B3A-8808-1BE2-79F1A7D87E1A}"/>
              </a:ext>
            </a:extLst>
          </p:cNvPr>
          <p:cNvSpPr>
            <a:spLocks noGrp="1"/>
          </p:cNvSpPr>
          <p:nvPr>
            <p:ph type="title"/>
          </p:nvPr>
        </p:nvSpPr>
        <p:spPr/>
        <p:txBody>
          <a:bodyPr vert="horz" rIns="0"/>
          <a:lstStyle/>
          <a:p>
            <a:r>
              <a:rPr lang="en-US"/>
              <a:t>Workstream F – Hypercare and Operational Handoff (2/2)</a:t>
            </a:r>
            <a:br>
              <a:rPr lang="en-US" sz="1600" b="0"/>
            </a:br>
            <a:r>
              <a:rPr lang="en-US" sz="1600" b="0"/>
              <a:t>Transition – Planning</a:t>
            </a:r>
          </a:p>
        </p:txBody>
      </p:sp>
      <p:sp>
        <p:nvSpPr>
          <p:cNvPr id="10" name="Rectangle 9">
            <a:extLst>
              <a:ext uri="{FF2B5EF4-FFF2-40B4-BE49-F238E27FC236}">
                <a16:creationId xmlns:a16="http://schemas.microsoft.com/office/drawing/2014/main" id="{F0773A68-E003-7534-3A28-2E5D39AFBD7C}"/>
              </a:ext>
            </a:extLst>
          </p:cNvPr>
          <p:cNvSpPr/>
          <p:nvPr/>
        </p:nvSpPr>
        <p:spPr bwMode="gray">
          <a:xfrm>
            <a:off x="10911840" y="0"/>
            <a:ext cx="1280160" cy="548640"/>
          </a:xfrm>
          <a:prstGeom prst="rect">
            <a:avLst/>
          </a:prstGeom>
          <a:solidFill>
            <a:schemeClr val="accent5"/>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chemeClr val="bg1"/>
                </a:solidFill>
              </a:rPr>
              <a:t>Notional, to update</a:t>
            </a:r>
          </a:p>
        </p:txBody>
      </p:sp>
      <p:sp>
        <p:nvSpPr>
          <p:cNvPr id="8" name="Rectangle 7">
            <a:extLst>
              <a:ext uri="{FF2B5EF4-FFF2-40B4-BE49-F238E27FC236}">
                <a16:creationId xmlns:a16="http://schemas.microsoft.com/office/drawing/2014/main" id="{66CB8ACE-4FAE-53C7-C95B-27C4A33CE69D}"/>
              </a:ext>
            </a:extLst>
          </p:cNvPr>
          <p:cNvSpPr/>
          <p:nvPr/>
        </p:nvSpPr>
        <p:spPr bwMode="gray">
          <a:xfrm>
            <a:off x="589357" y="6202227"/>
            <a:ext cx="10963656" cy="137160"/>
          </a:xfrm>
          <a:prstGeom prst="rect">
            <a:avLst/>
          </a:prstGeom>
          <a:noFill/>
          <a:ln>
            <a:noFill/>
            <a:miter lim="800000"/>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b"/>
          <a:lstStyle/>
          <a:p>
            <a:r>
              <a:rPr lang="en-US" sz="800">
                <a:solidFill>
                  <a:schemeClr val="tx1"/>
                </a:solidFill>
              </a:rPr>
              <a:t>Source: Current KPMG planning, subject to change</a:t>
            </a:r>
          </a:p>
        </p:txBody>
      </p:sp>
      <p:sp>
        <p:nvSpPr>
          <p:cNvPr id="9" name="Rectangle: Top Corners Rounded 8">
            <a:extLst>
              <a:ext uri="{FF2B5EF4-FFF2-40B4-BE49-F238E27FC236}">
                <a16:creationId xmlns:a16="http://schemas.microsoft.com/office/drawing/2014/main" id="{969C77C6-4C85-CB7A-81E5-57F8019FFC12}"/>
              </a:ext>
            </a:extLst>
          </p:cNvPr>
          <p:cNvSpPr/>
          <p:nvPr/>
        </p:nvSpPr>
        <p:spPr bwMode="gray">
          <a:xfrm rot="5400000">
            <a:off x="-1524006" y="2912536"/>
            <a:ext cx="4682069" cy="1634065"/>
          </a:xfrm>
          <a:prstGeom prst="round2SameRect">
            <a:avLst>
              <a:gd name="adj1" fmla="val 9976"/>
              <a:gd name="adj2" fmla="val 0"/>
            </a:avLst>
          </a:prstGeom>
          <a:gradFill flip="none" rotWithShape="1">
            <a:gsLst>
              <a:gs pos="0">
                <a:srgbClr val="267AC0"/>
              </a:gs>
              <a:gs pos="100000">
                <a:srgbClr val="0A4B8C"/>
              </a:gs>
            </a:gsLst>
            <a:lin ang="5400000" scaled="1"/>
            <a:tileRect/>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b="1">
              <a:solidFill>
                <a:schemeClr val="bg1"/>
              </a:solidFill>
            </a:endParaRPr>
          </a:p>
        </p:txBody>
      </p:sp>
      <p:graphicFrame>
        <p:nvGraphicFramePr>
          <p:cNvPr id="11" name="Content Placeholder 6">
            <a:extLst>
              <a:ext uri="{FF2B5EF4-FFF2-40B4-BE49-F238E27FC236}">
                <a16:creationId xmlns:a16="http://schemas.microsoft.com/office/drawing/2014/main" id="{C9F7920A-CDAB-CC7C-7884-F56F5B1E227D}"/>
              </a:ext>
            </a:extLst>
          </p:cNvPr>
          <p:cNvGraphicFramePr>
            <a:graphicFrameLocks/>
          </p:cNvGraphicFramePr>
          <p:nvPr>
            <p:extLst>
              <p:ext uri="{D42A27DB-BD31-4B8C-83A1-F6EECF244321}">
                <p14:modId xmlns:p14="http://schemas.microsoft.com/office/powerpoint/2010/main" val="2195632564"/>
              </p:ext>
            </p:extLst>
          </p:nvPr>
        </p:nvGraphicFramePr>
        <p:xfrm>
          <a:off x="538691" y="1509730"/>
          <a:ext cx="11133137" cy="3250840"/>
        </p:xfrm>
        <a:graphic>
          <a:graphicData uri="http://schemas.openxmlformats.org/drawingml/2006/table">
            <a:tbl>
              <a:tblPr firstRow="1" bandRow="1">
                <a:tableStyleId>{2D5ABB26-0587-4C30-8999-92F81FD0307C}</a:tableStyleId>
              </a:tblPr>
              <a:tblGrid>
                <a:gridCol w="1099371">
                  <a:extLst>
                    <a:ext uri="{9D8B030D-6E8A-4147-A177-3AD203B41FA5}">
                      <a16:colId xmlns:a16="http://schemas.microsoft.com/office/drawing/2014/main" val="1699332636"/>
                    </a:ext>
                  </a:extLst>
                </a:gridCol>
                <a:gridCol w="5016883">
                  <a:extLst>
                    <a:ext uri="{9D8B030D-6E8A-4147-A177-3AD203B41FA5}">
                      <a16:colId xmlns:a16="http://schemas.microsoft.com/office/drawing/2014/main" val="2684621038"/>
                    </a:ext>
                  </a:extLst>
                </a:gridCol>
                <a:gridCol w="5016883">
                  <a:extLst>
                    <a:ext uri="{9D8B030D-6E8A-4147-A177-3AD203B41FA5}">
                      <a16:colId xmlns:a16="http://schemas.microsoft.com/office/drawing/2014/main" val="4044576813"/>
                    </a:ext>
                  </a:extLst>
                </a:gridCol>
              </a:tblGrid>
              <a:tr h="931849">
                <a:tc>
                  <a:txBody>
                    <a:bodyPr/>
                    <a:lstStyle/>
                    <a:p>
                      <a:pPr>
                        <a:lnSpc>
                          <a:spcPct val="90000"/>
                        </a:lnSpc>
                      </a:pPr>
                      <a:r>
                        <a:rPr lang="en-US" sz="1050" b="1">
                          <a:solidFill>
                            <a:schemeClr val="bg1"/>
                          </a:solidFill>
                        </a:rPr>
                        <a:t>Key “Do Now” activities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WBS and Sprint Planning: Create the Work Breakdown Structure (WBS), prioritization matrices, and Agile Sprint plans mapped against dependencies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Staffing and Role Finalization: Reconcile and lock in technical resource allocation, aligning KPMG and Scicom delivery roles</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Provisional VDI Access Requests: Submit provisional VDI requests for resources by mid-October to preempt the typical 2-to-3-week administrative onboarding bottleneck</a:t>
                      </a:r>
                    </a:p>
                    <a:p>
                      <a:pPr marL="137160" indent="-137160">
                        <a:lnSpc>
                          <a:spcPct val="100000"/>
                        </a:lnSpc>
                        <a:spcAft>
                          <a:spcPts val="200"/>
                        </a:spcAft>
                        <a:buClr>
                          <a:schemeClr val="tx2"/>
                        </a:buClr>
                        <a:buFont typeface="CVS Health Sans" panose="020B0504020202020204" pitchFamily="34" charset="0"/>
                        <a:buChar char="•"/>
                      </a:pPr>
                      <a:r>
                        <a:rPr lang="en-US" sz="1000" b="0" i="0">
                          <a:solidFill>
                            <a:schemeClr val="tx2"/>
                          </a:solidFill>
                        </a:rPr>
                        <a:t>BAU Resource Identification: Formally identify and align the CVS BAU support team members who will participate in the transition</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3413144615"/>
                  </a:ext>
                </a:extLst>
              </a:tr>
              <a:tr h="906389">
                <a:tc>
                  <a:txBody>
                    <a:bodyPr/>
                    <a:lstStyle/>
                    <a:p>
                      <a:pPr>
                        <a:lnSpc>
                          <a:spcPct val="90000"/>
                        </a:lnSpc>
                      </a:pPr>
                      <a:r>
                        <a:rPr lang="en-US" sz="1050" b="1">
                          <a:solidFill>
                            <a:schemeClr val="bg1"/>
                          </a:solidFill>
                        </a:rPr>
                        <a:t>Upstream Prerequisites</a:t>
                      </a:r>
                    </a:p>
                    <a:p>
                      <a:pPr>
                        <a:lnSpc>
                          <a:spcPct val="90000"/>
                        </a:lnSpc>
                      </a:pPr>
                      <a:endParaRPr lang="en-US" sz="1050" b="1">
                        <a:solidFill>
                          <a:schemeClr val="bg1"/>
                        </a:solidFill>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Platform Readiness (Workstream A): Complete firewall clearances, network port openings, Azure subscription provisioning, and ExpressRoute bandwidth validation to support high volume data flows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Bronze Data Flow (Workstream B2): Fully establish Autoloader + Event Grid configurations and </a:t>
                      </a:r>
                      <a:r>
                        <a:rPr lang="en-US" sz="1000" b="0" i="0" err="1">
                          <a:solidFill>
                            <a:schemeClr val="tx2"/>
                          </a:solidFill>
                        </a:rPr>
                        <a:t>Cribl</a:t>
                      </a:r>
                      <a:r>
                        <a:rPr lang="en-US" sz="1000" b="0" i="0">
                          <a:solidFill>
                            <a:schemeClr val="tx2"/>
                          </a:solidFill>
                        </a:rPr>
                        <a:t> routing pathways to ensure all Splunk indexes are flowing into Bronze Delta tables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Silver &amp; Gold Curation (Workstream C): Build, normalize, and secure 9 Silver Domains (90–180 tables) and establish 12 Gold analytical products with business-accepted KPI logic</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Queries &amp; Alerts Migration (Workstream D): Complete the translation and validation of the 11,199 scoped legacy observability objects (10,503 Splunk Core/ES/AIOps queries and 696 dashboards)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a:solidFill>
                            <a:schemeClr val="tx2"/>
                          </a:solidFill>
                        </a:rPr>
                        <a:t>Power User Enablement (Workstream E): Identify and train "Power Users" (at least 5 per functional area) to act as the first-line transition support network</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457196652"/>
                  </a:ext>
                </a:extLst>
              </a:tr>
              <a:tr h="1059151">
                <a:tc>
                  <a:txBody>
                    <a:bodyPr/>
                    <a:lstStyle/>
                    <a:p>
                      <a:pPr>
                        <a:lnSpc>
                          <a:spcPct val="90000"/>
                        </a:lnSpc>
                      </a:pPr>
                      <a:r>
                        <a:rPr lang="en-US" sz="1050" b="1">
                          <a:solidFill>
                            <a:schemeClr val="bg1"/>
                          </a:solidFill>
                        </a:rPr>
                        <a:t>Downstream Workstream Hand-offs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None/>
                        <a:tabLst/>
                        <a:defRPr/>
                      </a:pPr>
                      <a:r>
                        <a:rPr lang="en-US" sz="1000" b="0" i="0" kern="1500">
                          <a:solidFill>
                            <a:schemeClr val="tx2"/>
                          </a:solidFill>
                          <a:latin typeface="+mn-lt"/>
                          <a:ea typeface="+mn-ea"/>
                          <a:cs typeface="+mn-cs"/>
                        </a:rPr>
                        <a:t>To CVS BAU Operations Team:</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Deliver operational runbooks, transition checklists, and knowledge </a:t>
                      </a:r>
                      <a:br>
                        <a:rPr lang="en-US" sz="1000" b="0" i="0" kern="1500">
                          <a:solidFill>
                            <a:schemeClr val="tx2"/>
                          </a:solidFill>
                          <a:latin typeface="+mn-lt"/>
                          <a:ea typeface="+mn-ea"/>
                          <a:cs typeface="+mn-cs"/>
                        </a:rPr>
                      </a:br>
                      <a:r>
                        <a:rPr lang="en-US" sz="1000" b="0" i="0" kern="1500">
                          <a:solidFill>
                            <a:schemeClr val="tx2"/>
                          </a:solidFill>
                          <a:latin typeface="+mn-lt"/>
                          <a:ea typeface="+mn-ea"/>
                          <a:cs typeface="+mn-cs"/>
                        </a:rPr>
                        <a:t>base documentation</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Hand over final performance-tuning metrics and stabilization summary reports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Conduct structured knowledge transfer (KT) sessions and secure formal handoff sign-offs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None/>
                        <a:tabLst/>
                        <a:defRPr/>
                      </a:pPr>
                      <a:r>
                        <a:rPr lang="en-US" sz="1000" b="0" i="0" kern="1500">
                          <a:solidFill>
                            <a:schemeClr val="tx2"/>
                          </a:solidFill>
                          <a:latin typeface="+mn-lt"/>
                          <a:ea typeface="+mn-ea"/>
                          <a:cs typeface="+mn-cs"/>
                        </a:rPr>
                        <a:t>To CVS Data Governance &amp; Platform Teams:</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Transition ownership of the unified metadata registries, lineage mappings, and data contract compliance models inside Unity Catalog</a:t>
                      </a:r>
                    </a:p>
                    <a:p>
                      <a:pPr marL="137160" marR="0" lvl="0" indent="-137160" algn="l" defTabSz="457063" rtl="0" eaLnBrk="1" fontAlgn="ctr" latinLnBrk="0" hangingPunct="1">
                        <a:lnSpc>
                          <a:spcPct val="100000"/>
                        </a:lnSpc>
                        <a:spcBef>
                          <a:spcPts val="0"/>
                        </a:spcBef>
                        <a:spcAft>
                          <a:spcPts val="200"/>
                        </a:spcAft>
                        <a:buClr>
                          <a:schemeClr val="tx2"/>
                        </a:buClr>
                        <a:buSzTx/>
                        <a:buFont typeface="CVS Health Sans" panose="020B0504020202020204" pitchFamily="34" charset="0"/>
                        <a:buChar char="•"/>
                        <a:tabLst/>
                        <a:defRPr/>
                      </a:pPr>
                      <a:r>
                        <a:rPr lang="en-US" sz="1000" b="0" i="0" kern="1500">
                          <a:solidFill>
                            <a:schemeClr val="tx2"/>
                          </a:solidFill>
                          <a:latin typeface="+mn-lt"/>
                          <a:ea typeface="+mn-ea"/>
                          <a:cs typeface="+mn-cs"/>
                        </a:rPr>
                        <a:t>Transfer active performance monitoring dashboards and pipeline execution alerts in Azure Databricks</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949764"/>
                  </a:ext>
                </a:extLst>
              </a:tr>
            </a:tbl>
          </a:graphicData>
        </a:graphic>
      </p:graphicFrame>
      <p:graphicFrame>
        <p:nvGraphicFramePr>
          <p:cNvPr id="26" name="Content Placeholder 6">
            <a:extLst>
              <a:ext uri="{FF2B5EF4-FFF2-40B4-BE49-F238E27FC236}">
                <a16:creationId xmlns:a16="http://schemas.microsoft.com/office/drawing/2014/main" id="{C7703B99-DA2C-AF60-E30B-6F39F04CE515}"/>
              </a:ext>
            </a:extLst>
          </p:cNvPr>
          <p:cNvGraphicFramePr>
            <a:graphicFrameLocks/>
          </p:cNvGraphicFramePr>
          <p:nvPr>
            <p:extLst>
              <p:ext uri="{D42A27DB-BD31-4B8C-83A1-F6EECF244321}">
                <p14:modId xmlns:p14="http://schemas.microsoft.com/office/powerpoint/2010/main" val="876411889"/>
              </p:ext>
            </p:extLst>
          </p:nvPr>
        </p:nvGraphicFramePr>
        <p:xfrm>
          <a:off x="545933" y="5066314"/>
          <a:ext cx="11142395" cy="1142815"/>
        </p:xfrm>
        <a:graphic>
          <a:graphicData uri="http://schemas.openxmlformats.org/drawingml/2006/table">
            <a:tbl>
              <a:tblPr firstRow="1" bandRow="1">
                <a:tableStyleId>{2D5ABB26-0587-4C30-8999-92F81FD0307C}</a:tableStyleId>
              </a:tblPr>
              <a:tblGrid>
                <a:gridCol w="1108868">
                  <a:extLst>
                    <a:ext uri="{9D8B030D-6E8A-4147-A177-3AD203B41FA5}">
                      <a16:colId xmlns:a16="http://schemas.microsoft.com/office/drawing/2014/main" val="2393725290"/>
                    </a:ext>
                  </a:extLst>
                </a:gridCol>
                <a:gridCol w="4630342">
                  <a:extLst>
                    <a:ext uri="{9D8B030D-6E8A-4147-A177-3AD203B41FA5}">
                      <a16:colId xmlns:a16="http://schemas.microsoft.com/office/drawing/2014/main" val="1699332636"/>
                    </a:ext>
                  </a:extLst>
                </a:gridCol>
                <a:gridCol w="5403185">
                  <a:extLst>
                    <a:ext uri="{9D8B030D-6E8A-4147-A177-3AD203B41FA5}">
                      <a16:colId xmlns:a16="http://schemas.microsoft.com/office/drawing/2014/main" val="1078624516"/>
                    </a:ext>
                  </a:extLst>
                </a:gridCol>
              </a:tblGrid>
              <a:tr h="308326">
                <a:tc>
                  <a:txBody>
                    <a:bodyPr/>
                    <a:lstStyle/>
                    <a:p>
                      <a:r>
                        <a:rPr lang="en-US" sz="1050" b="1">
                          <a:solidFill>
                            <a:schemeClr val="bg1"/>
                          </a:solidFill>
                        </a:rPr>
                        <a:t>Epic</a:t>
                      </a:r>
                    </a:p>
                  </a:txBody>
                  <a:tcPr marL="18288" marR="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457063" rtl="0" eaLnBrk="1" fontAlgn="ctr" latinLnBrk="0" hangingPunct="1"/>
                      <a:r>
                        <a:rPr lang="en-US" sz="1000" b="1" kern="1500" noProof="0">
                          <a:solidFill>
                            <a:srgbClr val="0A4B8C"/>
                          </a:solidFill>
                          <a:latin typeface="+mn-lt"/>
                          <a:ea typeface="+mn-ea"/>
                          <a:cs typeface="+mn-cs"/>
                        </a:rPr>
                        <a:t>Cutover Support &amp; Platform Stabilization</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defTabSz="457063" rtl="0" eaLnBrk="1" fontAlgn="ctr" latinLnBrk="0" hangingPunct="1">
                        <a:buFont typeface="Arial" panose="020B0604020202020204" pitchFamily="34" charset="0"/>
                        <a:buNone/>
                      </a:pPr>
                      <a:r>
                        <a:rPr lang="en-US" sz="1000" b="1" kern="1500">
                          <a:solidFill>
                            <a:srgbClr val="0A4B8C"/>
                          </a:solidFill>
                          <a:latin typeface="+mn-lt"/>
                          <a:ea typeface="+mn-ea"/>
                          <a:cs typeface="+mn-cs"/>
                        </a:rPr>
                        <a:t>Transition &amp; Operational Handoff</a:t>
                      </a: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3144615"/>
                  </a:ext>
                </a:extLst>
              </a:tr>
              <a:tr h="834489">
                <a:tc>
                  <a:txBody>
                    <a:bodyPr/>
                    <a:lstStyle/>
                    <a:p>
                      <a:r>
                        <a:rPr lang="en-US" sz="1050" b="1">
                          <a:solidFill>
                            <a:schemeClr val="bg1"/>
                          </a:solidFill>
                        </a:rPr>
                        <a:t>Features</a:t>
                      </a:r>
                    </a:p>
                  </a:txBody>
                  <a:tcPr marL="18288" marR="1828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War Room Mobilization</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Intensive Incident Management</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End-User Triage Support</a:t>
                      </a:r>
                    </a:p>
                    <a:p>
                      <a:pPr marL="137160" indent="-137160" algn="l" defTabSz="457063" rtl="0" eaLnBrk="1" fontAlgn="ctr" latinLnBrk="0" hangingPunct="1">
                        <a:spcAft>
                          <a:spcPts val="200"/>
                        </a:spcAft>
                        <a:buFont typeface="Arial" panose="020B0604020202020204" pitchFamily="34" charset="0"/>
                        <a:buChar char="•"/>
                      </a:pPr>
                      <a:r>
                        <a:rPr lang="en-US" sz="1000" b="0" kern="1500" noProof="0">
                          <a:solidFill>
                            <a:schemeClr val="tx2"/>
                          </a:solidFill>
                          <a:latin typeface="+mn-lt"/>
                          <a:ea typeface="+mn-ea"/>
                          <a:cs typeface="+mn-cs"/>
                        </a:rPr>
                        <a:t>Performance Tuning</a:t>
                      </a: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Knowledge Base Documentation</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Targeted Training Sessions</a:t>
                      </a:r>
                    </a:p>
                    <a:p>
                      <a:pPr marL="137160" marR="0" lvl="0" indent="-137160" algn="l" defTabSz="457063" rtl="0" eaLnBrk="1" fontAlgn="ctr" latinLnBrk="0" hangingPunct="1">
                        <a:lnSpc>
                          <a:spcPct val="100000"/>
                        </a:lnSpc>
                        <a:spcBef>
                          <a:spcPts val="0"/>
                        </a:spcBef>
                        <a:spcAft>
                          <a:spcPts val="200"/>
                        </a:spcAft>
                        <a:buClrTx/>
                        <a:buSzTx/>
                        <a:buFont typeface="Arial" panose="020B0604020202020204" pitchFamily="34" charset="0"/>
                        <a:buChar char="•"/>
                        <a:tabLst/>
                        <a:defRPr/>
                      </a:pPr>
                      <a:r>
                        <a:rPr lang="en-US" sz="1000" b="0" kern="1500" noProof="0">
                          <a:solidFill>
                            <a:schemeClr val="tx2"/>
                          </a:solidFill>
                          <a:latin typeface="+mn-lt"/>
                          <a:ea typeface="+mn-ea"/>
                          <a:cs typeface="+mn-cs"/>
                        </a:rPr>
                        <a:t>Handoff Verification</a:t>
                      </a:r>
                      <a:endParaRPr lang="en-US" sz="1000" b="0" kern="1500">
                        <a:solidFill>
                          <a:schemeClr val="tx2"/>
                        </a:solidFill>
                        <a:latin typeface="+mn-lt"/>
                        <a:ea typeface="+mn-ea"/>
                        <a:cs typeface="+mn-cs"/>
                      </a:endParaRPr>
                    </a:p>
                  </a:txBody>
                  <a:tcPr marL="45720" marR="4572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7196652"/>
                  </a:ext>
                </a:extLst>
              </a:tr>
            </a:tbl>
          </a:graphicData>
        </a:graphic>
      </p:graphicFrame>
      <p:grpSp>
        <p:nvGrpSpPr>
          <p:cNvPr id="27" name="Group 26">
            <a:extLst>
              <a:ext uri="{FF2B5EF4-FFF2-40B4-BE49-F238E27FC236}">
                <a16:creationId xmlns:a16="http://schemas.microsoft.com/office/drawing/2014/main" id="{11CE7480-D8D5-DE09-6D8B-0F51508D4E2F}"/>
              </a:ext>
            </a:extLst>
          </p:cNvPr>
          <p:cNvGrpSpPr/>
          <p:nvPr/>
        </p:nvGrpSpPr>
        <p:grpSpPr>
          <a:xfrm>
            <a:off x="543684" y="5068010"/>
            <a:ext cx="11125201" cy="999"/>
            <a:chOff x="531813" y="5259957"/>
            <a:chExt cx="11125201" cy="999"/>
          </a:xfrm>
        </p:grpSpPr>
        <p:cxnSp>
          <p:nvCxnSpPr>
            <p:cNvPr id="28" name="Straight Connector 27">
              <a:extLst>
                <a:ext uri="{FF2B5EF4-FFF2-40B4-BE49-F238E27FC236}">
                  <a16:creationId xmlns:a16="http://schemas.microsoft.com/office/drawing/2014/main" id="{BECB0532-0E95-6C4F-EAA7-C3D25174571C}"/>
                </a:ext>
              </a:extLst>
            </p:cNvPr>
            <p:cNvCxnSpPr>
              <a:cxnSpLocks/>
            </p:cNvCxnSpPr>
            <p:nvPr/>
          </p:nvCxnSpPr>
          <p:spPr>
            <a:xfrm>
              <a:off x="553507" y="5260956"/>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578FCA4-DA94-99EC-EABD-C480FFA03965}"/>
                </a:ext>
              </a:extLst>
            </p:cNvPr>
            <p:cNvCxnSpPr>
              <a:cxnSpLocks/>
            </p:cNvCxnSpPr>
            <p:nvPr/>
          </p:nvCxnSpPr>
          <p:spPr>
            <a:xfrm>
              <a:off x="531813" y="5259957"/>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F56DF661-B728-B9AD-8E58-5A869F63F1E8}"/>
              </a:ext>
            </a:extLst>
          </p:cNvPr>
          <p:cNvGrpSpPr/>
          <p:nvPr/>
        </p:nvGrpSpPr>
        <p:grpSpPr>
          <a:xfrm>
            <a:off x="541305" y="3689045"/>
            <a:ext cx="11127580" cy="1695"/>
            <a:chOff x="529432" y="4264661"/>
            <a:chExt cx="11127580" cy="1695"/>
          </a:xfrm>
        </p:grpSpPr>
        <p:cxnSp>
          <p:nvCxnSpPr>
            <p:cNvPr id="31" name="Straight Connector 30">
              <a:extLst>
                <a:ext uri="{FF2B5EF4-FFF2-40B4-BE49-F238E27FC236}">
                  <a16:creationId xmlns:a16="http://schemas.microsoft.com/office/drawing/2014/main" id="{195F5A94-A51C-C85D-7AB0-E6AE1859421B}"/>
                </a:ext>
              </a:extLst>
            </p:cNvPr>
            <p:cNvCxnSpPr>
              <a:cxnSpLocks/>
            </p:cNvCxnSpPr>
            <p:nvPr/>
          </p:nvCxnSpPr>
          <p:spPr>
            <a:xfrm>
              <a:off x="553505" y="4264661"/>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8424AEA-9586-04FB-BA1A-55000D315272}"/>
                </a:ext>
              </a:extLst>
            </p:cNvPr>
            <p:cNvCxnSpPr>
              <a:cxnSpLocks/>
            </p:cNvCxnSpPr>
            <p:nvPr/>
          </p:nvCxnSpPr>
          <p:spPr>
            <a:xfrm>
              <a:off x="529432" y="4266356"/>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973A478-78AA-2CA1-92D4-9134BA6EB161}"/>
              </a:ext>
            </a:extLst>
          </p:cNvPr>
          <p:cNvGrpSpPr/>
          <p:nvPr/>
        </p:nvGrpSpPr>
        <p:grpSpPr>
          <a:xfrm>
            <a:off x="531648" y="2450532"/>
            <a:ext cx="11125201" cy="0"/>
            <a:chOff x="531813" y="3716075"/>
            <a:chExt cx="11125201" cy="0"/>
          </a:xfrm>
        </p:grpSpPr>
        <p:cxnSp>
          <p:nvCxnSpPr>
            <p:cNvPr id="34" name="Straight Connector 33">
              <a:extLst>
                <a:ext uri="{FF2B5EF4-FFF2-40B4-BE49-F238E27FC236}">
                  <a16:creationId xmlns:a16="http://schemas.microsoft.com/office/drawing/2014/main" id="{93869917-97EC-97C8-4AEF-8079474E1114}"/>
                </a:ext>
              </a:extLst>
            </p:cNvPr>
            <p:cNvCxnSpPr>
              <a:cxnSpLocks/>
            </p:cNvCxnSpPr>
            <p:nvPr/>
          </p:nvCxnSpPr>
          <p:spPr>
            <a:xfrm>
              <a:off x="553507" y="3716075"/>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17E26-B105-7B44-CFF5-14693DB8D8DB}"/>
                </a:ext>
              </a:extLst>
            </p:cNvPr>
            <p:cNvCxnSpPr>
              <a:cxnSpLocks/>
            </p:cNvCxnSpPr>
            <p:nvPr/>
          </p:nvCxnSpPr>
          <p:spPr>
            <a:xfrm>
              <a:off x="531813" y="3716075"/>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6379BB25-748B-07B2-19D7-B5646D90C2FB}"/>
              </a:ext>
            </a:extLst>
          </p:cNvPr>
          <p:cNvGrpSpPr/>
          <p:nvPr/>
        </p:nvGrpSpPr>
        <p:grpSpPr>
          <a:xfrm>
            <a:off x="543684" y="5384801"/>
            <a:ext cx="11125201" cy="1"/>
            <a:chOff x="531813" y="4848012"/>
            <a:chExt cx="11125201" cy="1"/>
          </a:xfrm>
        </p:grpSpPr>
        <p:cxnSp>
          <p:nvCxnSpPr>
            <p:cNvPr id="37" name="Straight Connector 36">
              <a:extLst>
                <a:ext uri="{FF2B5EF4-FFF2-40B4-BE49-F238E27FC236}">
                  <a16:creationId xmlns:a16="http://schemas.microsoft.com/office/drawing/2014/main" id="{15B14775-3FE8-0D11-4229-C262D230BD64}"/>
                </a:ext>
              </a:extLst>
            </p:cNvPr>
            <p:cNvCxnSpPr>
              <a:cxnSpLocks/>
            </p:cNvCxnSpPr>
            <p:nvPr/>
          </p:nvCxnSpPr>
          <p:spPr>
            <a:xfrm>
              <a:off x="553507" y="4848013"/>
              <a:ext cx="11103507" cy="0"/>
            </a:xfrm>
            <a:prstGeom prst="line">
              <a:avLst/>
            </a:prstGeom>
            <a:ln w="12700" cmpd="sng">
              <a:solidFill>
                <a:srgbClr val="0A4B8C"/>
              </a:solidFill>
              <a:tailEnd type="diamo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18C7078-DACE-5D40-DA7A-86EEF44BDE46}"/>
                </a:ext>
              </a:extLst>
            </p:cNvPr>
            <p:cNvCxnSpPr>
              <a:cxnSpLocks/>
            </p:cNvCxnSpPr>
            <p:nvPr/>
          </p:nvCxnSpPr>
          <p:spPr>
            <a:xfrm>
              <a:off x="531813" y="4848012"/>
              <a:ext cx="1102253" cy="0"/>
            </a:xfrm>
            <a:prstGeom prst="line">
              <a:avLst/>
            </a:prstGeom>
            <a:ln w="12700" cmpd="sng">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2850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EE7668-65DB-C298-D8C2-88344E0AE370}"/>
              </a:ext>
            </a:extLst>
          </p:cNvPr>
          <p:cNvGraphicFramePr>
            <a:graphicFrameLocks/>
          </p:cNvGraphicFramePr>
          <p:nvPr>
            <p:custDataLst>
              <p:tags r:id="rId1"/>
            </p:custDataLst>
            <p:extLst>
              <p:ext uri="{D42A27DB-BD31-4B8C-83A1-F6EECF244321}">
                <p14:modId xmlns:p14="http://schemas.microsoft.com/office/powerpoint/2010/main" val="2320371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8" imgH="608" progId="TCLayout.ActiveDocument.1">
                  <p:embed/>
                </p:oleObj>
              </mc:Choice>
              <mc:Fallback>
                <p:oleObj name="thinkcell Slide" r:id="rId4" imgW="608" imgH="608" progId="TCLayout.ActiveDocument.1">
                  <p:embed/>
                  <p:pic>
                    <p:nvPicPr>
                      <p:cNvPr id="6" name="thinkcell data - do not delete" hidden="1">
                        <a:extLst>
                          <a:ext uri="{FF2B5EF4-FFF2-40B4-BE49-F238E27FC236}">
                            <a16:creationId xmlns:a16="http://schemas.microsoft.com/office/drawing/2014/main" id="{0BEE7668-65DB-C298-D8C2-88344E0AE3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A67A77F1-4C1A-8DF0-340A-88F50D71E843}"/>
              </a:ext>
            </a:extLst>
          </p:cNvPr>
          <p:cNvSpPr>
            <a:spLocks noGrp="1"/>
          </p:cNvSpPr>
          <p:nvPr>
            <p:ph type="title"/>
          </p:nvPr>
        </p:nvSpPr>
        <p:spPr/>
        <p:txBody>
          <a:bodyPr vert="horz" rIns="0"/>
          <a:lstStyle/>
          <a:p>
            <a:r>
              <a:rPr lang="en-US"/>
              <a:t>Decisions &amp; Next Steps</a:t>
            </a:r>
          </a:p>
        </p:txBody>
      </p:sp>
      <p:sp>
        <p:nvSpPr>
          <p:cNvPr id="3" name="Content Placeholder 2">
            <a:extLst>
              <a:ext uri="{FF2B5EF4-FFF2-40B4-BE49-F238E27FC236}">
                <a16:creationId xmlns:a16="http://schemas.microsoft.com/office/drawing/2014/main" id="{7CBDC2D6-F927-28DD-FE7E-2EF94124FCB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862947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2_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1_2023" id="{7EFCD1C1-A5D7-5B46-AC73-73A868C74675}" vid="{2EBBD54E-5354-8642-8C39-02E7761E12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C0E01C82CFC3444BBC01A07F556AEDE" ma:contentTypeVersion="3" ma:contentTypeDescription="Create a new document." ma:contentTypeScope="" ma:versionID="84405aa1168a9b4c411d92e9af987945">
  <xsd:schema xmlns:xsd="http://www.w3.org/2001/XMLSchema" xmlns:xs="http://www.w3.org/2001/XMLSchema" xmlns:p="http://schemas.microsoft.com/office/2006/metadata/properties" xmlns:ns2="88d540e4-d991-4978-9c57-880d42c7e730" targetNamespace="http://schemas.microsoft.com/office/2006/metadata/properties" ma:root="true" ma:fieldsID="ec2c9e13694366983849c2cba5d35db0" ns2:_="">
    <xsd:import namespace="88d540e4-d991-4978-9c57-880d42c7e73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d540e4-d991-4978-9c57-880d42c7e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85E927-1863-478F-A429-88116FE529FA}">
  <ds:schemaRefs>
    <ds:schemaRef ds:uri="http://schemas.microsoft.com/sharepoint/v3/contenttype/forms"/>
  </ds:schemaRefs>
</ds:datastoreItem>
</file>

<file path=customXml/itemProps2.xml><?xml version="1.0" encoding="utf-8"?>
<ds:datastoreItem xmlns:ds="http://schemas.openxmlformats.org/officeDocument/2006/customXml" ds:itemID="{408AF1A8-9386-48C0-8F43-2CB44F400EB1}">
  <ds:schemaRefs>
    <ds:schemaRef ds:uri="88d540e4-d991-4978-9c57-880d42c7e73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083FE0B-24FE-43B8-A83E-833B52977880}">
  <ds:schemaRefs>
    <ds:schemaRef ds:uri="http://schemas.microsoft.com/office/2006/metadata/properties"/>
    <ds:schemaRef ds:uri="http://www.w3.org/XML/1998/namespace"/>
    <ds:schemaRef ds:uri="http://purl.org/dc/dcmitype/"/>
    <ds:schemaRef ds:uri="http://purl.org/dc/terms/"/>
    <ds:schemaRef ds:uri="http://schemas.microsoft.com/office/2006/documentManagement/types"/>
    <ds:schemaRef ds:uri="88d540e4-d991-4978-9c57-880d42c7e730"/>
    <ds:schemaRef ds:uri="http://purl.org/dc/elements/1.1/"/>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office theme</Template>
  <TotalTime>7478</TotalTime>
  <Words>9671</Words>
  <Application>Microsoft Office PowerPoint</Application>
  <PresentationFormat>Widescreen</PresentationFormat>
  <Paragraphs>1164</Paragraphs>
  <Slides>35</Slides>
  <Notes>5</Notes>
  <HiddenSlides>29</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Aptos</vt:lpstr>
      <vt:lpstr>Arial</vt:lpstr>
      <vt:lpstr>CVS Health Sans</vt:lpstr>
      <vt:lpstr>CVS Health Sans Medium</vt:lpstr>
      <vt:lpstr>22_CVS_Health_PPT_Everyday_Widescreen_Template</vt:lpstr>
      <vt:lpstr>thinkcell Slide</vt:lpstr>
      <vt:lpstr>Discuss Databricks SOW &amp; Key Project Topics  September 24, 2026</vt:lpstr>
      <vt:lpstr>Agenda</vt:lpstr>
      <vt:lpstr>PowerPoint Presentation</vt:lpstr>
      <vt:lpstr>Executive Summary Path to finalizing contracts and kicking-off project </vt:lpstr>
      <vt:lpstr>1. Technical Approach &amp; Master Timeline</vt:lpstr>
      <vt:lpstr>PowerPoint Presentation</vt:lpstr>
      <vt:lpstr>Workstream A</vt:lpstr>
      <vt:lpstr>Workstream A - Architecture Review &amp; Remediation (1/2) Diagnose and Plan – From the SOW and other planning documents</vt:lpstr>
      <vt:lpstr>Workstream A - Architecture Review &amp; Remediation (2/2) Diagnose and Plan – Planning </vt:lpstr>
      <vt:lpstr>Workstream A – Approach</vt:lpstr>
      <vt:lpstr>Workstream A – Information Request List</vt:lpstr>
      <vt:lpstr>Workstream A – Proposed Meetings</vt:lpstr>
      <vt:lpstr>Workstream A - Architecture Assessment Framework - Planning Focus on  "how and when" of Milestone A.1 to establish operational clarity and alignment </vt:lpstr>
      <vt:lpstr>Workstream A - Architecture Assessment Framework – Considerations Focus on lowering risk, highlighting bottlenecks, and demonstrating proactive mitigation </vt:lpstr>
      <vt:lpstr>Welcome Season Change Freeze Planning  Mitigating Timeline Risks &amp; Securing the Critical Path</vt:lpstr>
      <vt:lpstr>2. Commercials, SOW, &amp; Funding</vt:lpstr>
      <vt:lpstr>SOW &amp; Role Mapping Review Commercial Alignment, Resource Optimization, and Plan Reconciliation</vt:lpstr>
      <vt:lpstr>ECIF &amp; ESA Funding Maximization Aligning Technical Capacity Models with Strategic Funding Vehicles</vt:lpstr>
      <vt:lpstr>3. Decisions &amp; Next Steps</vt:lpstr>
      <vt:lpstr>Appendix</vt:lpstr>
      <vt:lpstr>Workstream 0 – Project Management Support (1/2) Project Management – From the SOW and other planning documents</vt:lpstr>
      <vt:lpstr>Workstream 0 – Project Management Support (2/2) Project Management – Planning </vt:lpstr>
      <vt:lpstr>Workstream B1 – Source Rationalization and Data Contracts (1/2) “Deciding What Data We Have, Who Owns It, and How It Should Be Labeled” – From the SOW and other planning documents</vt:lpstr>
      <vt:lpstr>Workstream B1 – Source Rationalization and Data Contracts (2/2) “Deciding What Data We Have, Who Owns It, and How It Should Be Labeled” – Planning</vt:lpstr>
      <vt:lpstr>Workstream B2 – Databricks Bronze Data Landing (1/2) “Building the Digital Highway to Safely Deliver and Park the Data” – From the SOW and other planning documents</vt:lpstr>
      <vt:lpstr>Workstream B2 – Databricks Bronze Data Landing (2/2) “Building the Digital Highway to Safely Deliver and Park the Data” – Planning </vt:lpstr>
      <vt:lpstr>Workstream C – Data Architecture and Pipeline Enablement (1/2) The factory – From the SOW and other planning documents</vt:lpstr>
      <vt:lpstr>Workstream C – Data Architecture and Pipeline Enablement (2/2) The factory – Planning</vt:lpstr>
      <vt:lpstr>Workstream D – Observability, Availability and Performance Monitoring Rationalization (1/2) Monitoring &amp; Analytics – From the SOW and other planning documents</vt:lpstr>
      <vt:lpstr>Workstream D – Observability, Availability and Performance Monitoring Rationalization (2/2) Monitoring &amp; Analytics – Planning</vt:lpstr>
      <vt:lpstr>Workstream E – Organizational Change and Adoption (1/2) Change management – From the SOW and other planning documents</vt:lpstr>
      <vt:lpstr>Workstream E – Organizational Change and Adoption (2/2) Change management – Planning</vt:lpstr>
      <vt:lpstr>Workstream F – Hypercare and Operational Handoff (1/2) Transition – From the SOW and other planning documents</vt:lpstr>
      <vt:lpstr>Workstream F – Hypercare and Operational Handoff (2/2) Transition – Planning</vt:lpstr>
      <vt:lpstr>Decisions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Veingrad, Joseph</dc:creator>
  <cp:lastModifiedBy>Veingrad, Joseph</cp:lastModifiedBy>
  <cp:revision>2</cp:revision>
  <dcterms:created xsi:type="dcterms:W3CDTF">2026-08-27T03:33:05Z</dcterms:created>
  <dcterms:modified xsi:type="dcterms:W3CDTF">2026-10-01T15:34:29Z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0x010100AC0E01C82CFC3444BBC01A07F556AEDE</vt:lpwstr>
  </property>
</Properties>
</file>