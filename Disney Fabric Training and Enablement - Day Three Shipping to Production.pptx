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Lst>
  <p:notesMasterIdLst>
    <p:notesMasterId r:id="rId8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499C4EA-2F3B-4FB1-9862-D06C727CCD00}">
          <p14:sldIdLst>
            <p14:sldId id="256"/>
            <p14:sldId id="257"/>
            <p14:sldId id="258"/>
            <p14:sldId id="259"/>
            <p14:sldId id="260"/>
          </p14:sldIdLst>
        </p14:section>
        <p14:section name="Part 5 · Git fundamentals" id="{48204902-6ECE-4796-B946-A7FE7089CCA6}">
          <p14:sldIdLst>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Part 5 · Deployment patterns" id="{1BF9745C-C801-494C-A027-FDA34C733C98}">
          <p14:sldIdLst>
            <p14:sldId id="279"/>
            <p14:sldId id="280"/>
            <p14:sldId id="281"/>
            <p14:sldId id="282"/>
            <p14:sldId id="283"/>
            <p14:sldId id="284"/>
            <p14:sldId id="285"/>
            <p14:sldId id="286"/>
            <p14:sldId id="287"/>
            <p14:sldId id="288"/>
            <p14:sldId id="289"/>
            <p14:sldId id="290"/>
            <p14:sldId id="291"/>
            <p14:sldId id="292"/>
          </p14:sldIdLst>
        </p14:section>
        <p14:section name="Part 5 · Governance in the delivery loop" id="{9F283F4A-67AB-426D-B1F7-4EE15A9F898A}">
          <p14:sldIdLst>
            <p14:sldId id="293"/>
            <p14:sldId id="294"/>
            <p14:sldId id="295"/>
            <p14:sldId id="296"/>
            <p14:sldId id="297"/>
            <p14:sldId id="298"/>
            <p14:sldId id="299"/>
            <p14:sldId id="300"/>
          </p14:sldIdLst>
        </p14:section>
        <p14:section name="Part 5 · AI in DevOps" id="{29142246-B89A-46B4-B245-F9933D3C7B25}">
          <p14:sldIdLst>
            <p14:sldId id="301"/>
            <p14:sldId id="302"/>
            <p14:sldId id="303"/>
            <p14:sldId id="304"/>
            <p14:sldId id="305"/>
            <p14:sldId id="306"/>
            <p14:sldId id="307"/>
            <p14:sldId id="308"/>
            <p14:sldId id="309"/>
            <p14:sldId id="310"/>
            <p14:sldId id="311"/>
            <p14:sldId id="312"/>
            <p14:sldId id="313"/>
          </p14:sldIdLst>
        </p14:section>
        <p14:section name="Part 5 · Lab C: ship what you built" id="{19087E1F-BCBA-4790-A287-B9ABD30FA922}">
          <p14:sldIdLst>
            <p14:sldId id="314"/>
            <p14:sldId id="315"/>
            <p14:sldId id="316"/>
            <p14:sldId id="317"/>
            <p14:sldId id="318"/>
            <p14:sldId id="319"/>
            <p14:sldId id="320"/>
            <p14:sldId id="321"/>
            <p14:sldId id="322"/>
            <p14:sldId id="323"/>
            <p14:sldId id="324"/>
            <p14:sldId id="325"/>
          </p14:sldIdLst>
        </p14:section>
        <p14:section name="Part 5 · Wrap-up" id="{EB6F35D2-F122-48A1-9D39-43873649E4CC}">
          <p14:sldIdLst>
            <p14:sldId id="326"/>
          </p14:sldIdLst>
        </p14:section>
        <p14:section name="Part 6 · Opening" id="{8F5501BB-11D1-45A8-AD17-25BB0B876C42}">
          <p14:sldIdLst>
            <p14:sldId id="341"/>
            <p14:sldId id="342"/>
            <p14:sldId id="343"/>
          </p14:sldIdLst>
        </p14:section>
        <p14:section name="Part 6 · The Paved Path" id="{1D9EF473-361F-4E3A-AB6B-459F2EEB46AA}">
          <p14:sldIdLst>
            <p14:sldId id="344"/>
            <p14:sldId id="345"/>
            <p14:sldId id="346"/>
            <p14:sldId id="347"/>
            <p14:sldId id="348"/>
            <p14:sldId id="349"/>
            <p14:sldId id="350"/>
            <p14:sldId id="351"/>
            <p14:sldId id="352"/>
            <p14:sldId id="353"/>
          </p14:sldIdLst>
        </p14:section>
        <p14:section name="Part 6 · Approvals and the long poles" id="{EB07C05E-B35A-4306-AB36-E5FF7F8FD59D}">
          <p14:sldIdLst>
            <p14:sldId id="354"/>
            <p14:sldId id="355"/>
          </p14:sldIdLst>
        </p14:section>
        <p14:section name="Part 6 · Go-live and handoff" id="{7247121E-7CA7-4DE6-8776-AFEEC0674F8D}">
          <p14:sldIdLst>
            <p14:sldId id="356"/>
            <p14:sldId id="357"/>
            <p14:sldId id="358"/>
          </p14:sldIdLst>
        </p14:section>
        <p14:section name="Part 6 · The toolkit" id="{4189CBFA-4D0B-4000-BCA3-59D45F79AF1C}">
          <p14:sldIdLst>
            <p14:sldId id="359"/>
            <p14:sldId id="360"/>
          </p14:sldIdLst>
        </p14:section>
        <p14:section name="Part 6 · Exercise and wrap-up" id="{19145D4C-2631-4D39-8E7B-4D01999E435C}">
          <p14:sldIdLst>
            <p14:sldId id="361"/>
            <p14:sldId id="362"/>
            <p14:sldId id="363"/>
            <p14:sldId id="364"/>
          </p14:sldIdLst>
        </p14:section>
        <p14:section name="Appendix" id="{3757EFE2-8CD7-4B89-83F4-7971C91835DB}">
          <p14:sldIdLst>
            <p14:sldId id="327"/>
            <p14:sldId id="328"/>
            <p14:sldId id="329"/>
            <p14:sldId id="330"/>
            <p14:sldId id="331"/>
            <p14:sldId id="332"/>
            <p14:sldId id="333"/>
            <p14:sldId id="334"/>
            <p14:sldId id="335"/>
            <p14:sldId id="336"/>
            <p14:sldId id="337"/>
            <p14:sldId id="338"/>
            <p14:sldId id="339"/>
            <p14:sldId id="3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notesMaster" Target="notesMasters/notes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room back. Yesterday you built a working notebook, a pipeline with two inputs, a model and a report. Today is about shipping them, in two parts. Part 5 covers how changes are tracked in Git, how they move from DEV to TEST to production, what governs a change on the way, and how AI assistance fits into all of it without taking over decisions that belong to people. It ends with Lab C, where you put the workflow you built under source control and promote it. Part 6 then takes applications to production: the Paved Path of four gates and twelve steps, who you need and when, the long poles, and UAT through to go-live. Ask for a quick show of hands: who has used Git before, and who has used it in anger, with a merge conflict? Pitch the day to the room that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columns. Part 5 comes first. Git fundamentals assumes no prior experience. Deployment patterns covers environments, the three ways to promote a change, and what changes between workspaces. Governance in the delivery loop is the part of the Part 5 title that people skip: the rails that run on every change, the gates on someone else's clock, and the evidence that exists afterwards. AI in DevOps covers where assistants help across the loop, how to give them the context they need, how to review what they produce, and the guardrails around them. Lab C is the hands-on finish: you put the workflow you built yesterday under source control and promote it. There are two short exercises on the way, Git by hand and a review of an AI-drafted pipeline. On the right is Part 6, which follows later today in this same deck: the Paved Path, who you need and when, the long poles, and UAT through to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two-minute bridge. Each row pairs something you built yesterday with what happens to it today. The notebook with its parameter cell becomes a file in Git that changes by pull request. The pipeline with two parameters is promoted from DEV to TEST without anyone editing an ID by hand. The gate and the run log are the model for today's rails before a merge and a smoke check after a deploy. The model and report deploy in dependency order and are rebound to the right data in each environment. And the front door anyone can press needs an identity and an approval per environment. If anyone missed yesterday, reassure them: Lab C starts from a prepared kit that has the same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outcomes. Each maps to a module, and the two exercises and the lab are where you prove the outcomes to yourself. Outcome two, working a change through a branch and a pull request, is the habit that everything else depends on. Outcome four, promoting a change without hand-editing IDs, is where most first deployments go wrong. Outcome six is new for this agenda: using AI assistance well in DevOps means knowing what to ask, what to check, and what never to hand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short exercises and one lab. Exercise 6 is Git by hand: in pairs, in a small practice repository, you make commits, branch, cause a conflict and resolve it. It takes about thirty minutes. Exercise 7 is a review: you are given a pipeline file drafted by an AI assistant and your job is to find what is wrong with it; about twenty minutes. Lab C is the hands-on finish to Part 5, about ninety minutes: the workflow you built yesterday goes under source control and is promoted to TEST. Exercise 8 comes in Part 6: six short situations, and for each you name the gate or rail and call it pass, hold or send back, working in mixed pairs of a tax professional and a technologist; about twenty-five minutes. A few ground rules. The practice data is invented. If you use an AI assistant, use only the one Disney has approved for this work, and never paste real tax data into a prompt. Platform security and governance sit with Enterprise Technology, so we show what the tools can do and where your own responsibilities begin, not Disney policy. Facilitator prep for Lab C is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has five modules. Git fundamentals assumes no prior experience and ends with an exercise in pairs. Deployment patterns covers environments and how a change moves between workspaces. Governance in the delivery loop covers the rails, gates, roles and evidence around a change. AI in DevOps covers where assistants help and where they do not, with a review exercise. Lab C finishes the part: you put the workflow you built yesterday under source control and promote it to TEST. Suggested pacing is about a third of the day for Git and deployment, a third for governance and AI, and the rest for Lab C; adjust to the agreed day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something everyone in the room has done. The five names on the left are real files from the DST proof of concept. Read one: DST underscore Domestic underscore Workflow underscore v1 underscore 2 underscore R1 underscore 07 underscore 21. It carries what looks like a version, a release and a date, all inside the file name. That is how most teams track change when they have no better tool, and it works until the second person edits the file. It cannot tell you who changed it, what changed, or why. It cannot let two people work at once without one of them copying the file again. And it cannot go back to the third version without someone remembering which copy that was. On the right are the four questions a version history answers. Git answers all four, and adds a fifth: review, because a change is proposed before it is accepted. Nothing on this slide is a criticism of the proof of concept. It is exactly the right way to work until you need to share and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has hundreds of commands and you will use about ten. It also has a lot of vocabulary, and six words carry most of it. A repository is a project folder that remembers every version. A commit is a saved checkpoint with a note saying why. A branch is a parallel line of work that leaves the main line alone, like working on a copy of a workbook. A merge brings two lines of work back together, a bit like combining tracked changes. A pull request is a proposal to merge, with a review attached: the equivalent of sending a draft for sign-off. A tag is a permanent name for one commit, like Final v1.0, but unmistakable. Ask the room which of the six has an Alteryx or Excel cousin they already use. Most people find all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diagram to remember. When you edit a file you are working in the working folder. Git does not save that automatically. You choose what goes in the next checkpoint with git add: that is the staging area, and it is why you can commit only part of what you changed. A commit moves the staged changes into your local history. At that point the checkpoint exists, but only on your machine. A push sends your commits to the remote repository, which here is Azure Repos, where other people and the pipelines can see them. A pull goes the other way. Fabric's Git integration follows the same shape, with a Commit button for workspace to repository and an Update button for repository to workspace; we come to that in a few slides. If someone is confused later, ask: which of the four places is the change in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outputs from a practice repository that holds the Lab A notebook and the Lab B pipeline as Fabric items. First, status in its short form: the double question mark means Git can see the files but is not tracking them yet. Then add stages them, and the A in the first column means added. Then commit saves the checkpoint with a message. Notice the message: a type, a colon and a short summary, then a work item reference in the body. The rules for that are on a later slide, and a rail enforces them. Log shows the result: one commit, with a short ID and the summary. The key at the bottom right is worth keeping: two characters tell you the state of every file. M is modified, A is added, and UU means unresolved conflict, which we meet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real history of the practice repository after the exercise you will do in a few minutes. Each line is a commit: a short ID and the message. The lines and the stars show two branches that split from the same commit and came back together. On the right is the message convention. Conventional Commits is a simple format: a type, an optional scope in brackets, a colon and a short summary, then the work item in the body or footer as AB hash and a number, which is how Azure Boards links the commit to the work. The type tells a reader what kind of change it is: a feature, a fix, documentation, a refactor, a test or housekeeping. The standard here is that a rail rejects any commit that does not follow the format, so you find out in seconds, not at review. Git writes its own messages for merges and reverts, and the rail lets those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the shape. The main line runs left to right. One person branches off to tighten the gate tolerance; another branches off to fix a typo in a run log message. Each works without disturbing the other or the main line. When a branch is ready it merges back, through a pull request. The rule that makes this work is that main is always in a state you could deploy. It never holds half-finished work, because half-finished work lives on branches. That is also why branches should be short-lived: days, not weeks. A branch that lives for a month is a second copy of the project that will be painful to merge. Branch names carry the type, the work item and a short description, so a list of branches reads like a to-do list. Three commands cover almost everything: switch creates and changes branches, branch lists them, and merge, which usually happens in the pull request, brings them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pull request is the moment a branch asks to join main. The six steps run left to right. You push the branch and open the pull request. The title follows the same convention as a commit message, because with a squash merge the title becomes the commit. The description says what changed, why, how you tested it and links the work item. Then the rails run by themselves: the same scripts you will see in the governance module, checking for secrets, hard-coded IDs and message conformance. Only when they pass does a person review. The reviewer reads the diff, asks questions and approves or requests changes. Approval and green rails together allow the merge. The four questions at the bottom are a lightweight review checklist that works for notebooks and pipelines. Note the order: machines first, people second, so the person's attention goes to meaning, not to formatting.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conflict from the practice repository. Two branches both changed the gate tolerance on the same line: one tightened it to one cent, the other loosened it to ten cents. Git cannot decide, so it stops and marks the file. Between the first marker and the equals line is our side, which is the branch we are on. Between the equals line and the last marker is their side. Notice what the conflict really is: it is not a technical problem, it is a business decision. One cent or ten cents? Git has no opinion. The process owner might. So the first step is always to read both sides and understand why each was written. Then edit the file to what it should say, delete the three marker lines, add the file, commit, and run the rails and the gate again. A conflict that you resolved without reading is the most dangerous kind: it compiles, it merges, and it is wrong. Fabric's Git integration shows conflicts in the same way when you update a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Mistakes are normal and Git is built for them. Match the tool to the situation. If you edited a file and have not committed, restore puts it back as it was at the last commit. If you committed and already pushed, use revert: it adds a new commit that undoes an old one, so history keeps the whole story and nobody else's copy is disturbed. The real output is on the right: a revert shows up as a new commit whose message starts with Revert. If you committed locally and have not pushed, reset can rewind your own branch, and because nobody else has it, nothing is lost for them. And if you think you lost a commit, the reflog is Git's private diary of where your branch has been, and you can usually find it there. The rule is the important part: never rewrite shared history. A force push to main replaces what everyone else has built on. That is why the repository refuses it, and why the guard rule we see in the AI module blocks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repository is for the recipe, not the meal. On the left are the things that belong: item definitions such as notebook cells, pipeline JSON and model definitions; the parameter file that says what changes per environment; tests; and the documentation. On the right are the things that must never be there: data of any kind, and above all production data; credentials and secrets; notebook outputs; and personal settings. The real dot-gitignore file from the practice repository is on the slide: it ignores CSV and Parquet files, environment files and virtual environments, so a stray data file is not committed by accident. Two rails back this up: the secret scan fails any credential-shaped string, and a production-data guard fails any data file. Neither has a threshold, because a secret or a production record is not a question of severity. A fact from the real proof of concept files: the exported pipeline JSON contains the object ID of the person who last modified it. That is not a secret, but it is personal metadata you did not choose to publish, which is one more reason to commit what Fabric's Git integration writes, not an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workspace is connected to Git, each item becomes a folder named with the item name, a dot and the item type. Inside is a platform file holding the type, the display name and a logical ID, and then the item's definition as readable files: a notebook's cells in notebook-content dot py, a pipeline's activities in pipeline-content dot json. The practice repository on the left has one lakehouse, one notebook and one pipeline. The diff on the right is a real one: the one-line change that tightens the gate tolerance. A reviewer can see exactly which line of which cell changed, which is the whole point. Compare that with sending a zip and saying 'I changed the gate'. Two details. The logical ID is how items refer to each other inside the repository: the pipeline points at the notebook by that ID, not by a workspace-specific one. The notebook records which lakehouse it is bound to by that logical ID, which matters when we deploy. And the layout is as at the time of writing; always look at what your own repository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a workspace joins the repository. In the workspace settings you choose Git integration and pick the provider, which here is Azure DevOps. You then choose the organisation, the project, the repository, the branch and, importantly, a folder, so that Fabric items live in a known place and do not mix with other code. You need to be a workspace admin and to have permission on the repository. When you connect, Fabric compares the workspace and the branch and asks which way to sync the first time. After that there are four verbs. Commit sends changes from the workspace to the branch. Update brings changes from the branch into the workspace. Branch out creates a new branch and a new workspace connected to it in one step, which is the developer loop on the next slide. Switch branch repoints the workspace. Menu labels change between releases, so treat the names here as the idea and read the screen in front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pattern that makes Git workable for people who are not used to it. The shared DEV workspace is connected to main. When you want to change something, you branch out: Fabric creates a feature branch and a personal workspace connected to it. You make your changes there, in the workspace you know, and commit them to your branch. Nobody else is affected, and nothing in DEV changes. When you are ready, you open a pull request. The rails run and a person reviews. When it merges to main, the DEV workspace is updated from main, and everyone sees the change at once. Notice what this protects: the shared workspace only ever changes through a reviewed merge, not through someone editing a notebook directly. Promotion beyond DEV, to TEST and production, is a separate step and the subject of the next module. A practical point: personal workspaces cost capacity and clutter the tenant, so delete them when the branch is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surprise: connecting a workspace to Git does not back up your data. Git holds definitions: the notebook cells, the pipeline activities, the model definition, the report layout, and the parameter files and tests you add. It does not hold the contents of tables or files in the lakehouse, run history such as the monitoring hub and the run log, secrets, workspace permissions, or anything about capacity. Some settings and some item types are only partly covered, and the list changes as Microsoft adds support, so check the supported-items list for your tenant before you rely on Git as the record of an item. The practical consequence is that data needs its own plan: it is recreated by running the pipeline, which is exactly why the notebook and the pipeline must be repeatable, and why Day Two made the write idempotent. If you cannot rebuild a table by running what is in Git, you have found a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common shapes. In the first, main plus short-lived feature branches, there is one long-lived branch. Environments are not branches: the same commit moves from DEV to TEST to production, by promotion. In the second, there is a long-lived branch for each environment, and you promote by merging from one into the next. The second looks natural because it matches the environments, but it creates a lot of merging, and the code in TEST is no longer exactly what was in DEV. We recommend the first. It fits the process in the delivery standard, where the same tag is deployed to TEST and then to production after sign-off: you build once and promote the same artifact. The table says what each looks like and what to watch for. The three habits underneath are the ones that make it work: protect main, keep branches short, and tag what you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about thirty minutes, in pairs, in the practice repository the facilitator provides: it holds the Lab A notebook and the Lab B pipeline as Fabric items. Work through the eight tasks in order. The commit message rule is enforced by a local hook, so your second task will be refused on purpose: read the message, then fix it. Tasks four to six are the heart of the exercise. Two branches change the same line differently, you merge them, Git stops with a conflict, and you decide what the line should say. Remind pairs that the answer is a decision, not a technical fix, and that one person should say out loud why each side was written. Task seven is the safe undo and task eight is the tag. Expected outputs are on the next slide. Keep the tone light: nobody is expected to know Git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each pair's screen with these real outputs. Task two: the rejection names the two problems, the format and the missing work item; the second commit message must have a type, a scope if you like, a colon, a short summary and the AB reference. Task three: status shows a single M for the modified notebook file. Task five: the second merge stops with a conflict, and status shows UU for the notebook. Task six: after resolving there should be no marker lines left, and the log graph should show two branches merged, as in the panel. Task eight: the tag appears with its message. If a pair finished early, ask them to explain the conflict markers to another pair, or to try the same exercise with a conflict on the pipeline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deployment moves the same items between environments that differ in everything around them. DEV is where you build and try things, so breaking it is fine and the data is invented or small. TEST is where you prove it works the way it will in production, and where the business runs its acceptance testing, so the data has to be representative and approved for testing. PRODUCTION is where the business runs, so it changes only by promotion, with its own tightly scoped identity. Read down the rows: purpose, data, who changes it, the identity it runs as, and whether schedules are on. The point to land is the third row. Nobody edits TEST or production by hand; they change when a pipeline promotes a reviewed change. This is a pattern and Disney's own standard governs the details, so confirm the data rules for TEST with the data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families of deployment and a team should pick one and use it everywhere. Fabric deployment pipelines are built into Fabric: you assign a workspace to each stage and deploy forward with a button, with rules to swap environment-specific values. They are quick to learn and need no code. Git-driven promotion keeps each stage's workspace connected to a branch and promotes by merging and updating; it is simple to picture but, as we said in the branching slide, it multiplies merges. Code-first CI/CD runs a pipeline in Azure DevOps that publishes the contents of the repository into a target workspace with a script and a service identity. It takes the most setup, and gives the most control: rails run first, approvals sit on the environment, and every deployment is a logged run of a pipeline you can read. The delivery process this team follows, with a tag deployed to TEST and then to production, fits the third. Lab C uses it, with the first as the alternative path if your tenant uses deployment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team uses Fabric's built-in deployment pipelines, this is the flow. One: create the pipeline with its stages, typically development, test and production. Two: assign a workspace to each stage. Three: compare. Fabric shows what differs between two stages, so you see what a deployment will change before you press the button. Four: set deployment rules, which swap environment-specific values such as a data source, a parameter or a notebook's default lakehouse, so the same item behaves correctly in each stage. Five: deploy forward, all items or a selection. Six: verify in the target, and this is the step people skip. Two cautions. Deployment pipelines move item definitions, not data, and what the target workspace allows is controlled by that workspace's own roles. And not every item type or setting is covered, and the list changes, so check the supported-items list before you promise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depend on each other, so they have to land in the right order. A notebook may need its lakehouse to exist. A semantic model needs the data it reads. A report needs its model. A pipeline calls notebooks and dataflows, so it goes last. The chain on the slide is the real publish order used by the open-source fabric-cicd library, version 1.4.0, for the item types we use: the lakehouse first, then notebooks, then the semantic model, then the report, then dataflows, then data pipelines. The five items in teal are the items in your lab. Notice the lakehouse goes first, because notebooks bind to it: publishing it creates it if it is missing, and its tables and files are not touched. Deleting items is the reverse order. The practical lesson is that a deployment which fails halfway leaves a workspace that is partly new and partly old, and a re-run has to be safe. A good deploy script is repeatable, which is the same property we asked of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hard-coded ID rail, the same script you will use in Lab C, over the real proof of concept files. The results are on the left. The complex-transforms notebook types two environment IDs straight into a code cell: a workspace ID and a lakehouse ID, in constants at the top of a cell. The Run pipeline export contains three IDs: the notebook, the workspace and the object ID of the person who last modified the pipeline. The version with the data refresh contains five: the dataflow, the notebook, the workspace twice, and the author again. The same workspace ID appears in all three files. Now think about promotion. If you copy these files to TEST unchanged, the notebook reads and writes DEV, and the pipeline calls DEV's notebook. Nothing fails. It just quietly keeps using DEV. That is the nasty kind of bug, and it is why the rail exists. The notebook's saved outputs and its cell IDs also contain GUIDs, but they are noise, not environment settings, so the rail ignores them. All values are masked, and only the counts matter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Hard-coded values are the main reason promotion breaks, and there are four ways to deal with them. Best is not to have the value at all. Pipeline parameters and system variables carry values that change per run: the period, the denominator, and the run ID, as in Lab B. A variable library is a Fabric item that holds a set of values for each stage, so constants like a lakehouse name or a vault address live in one place and the right set is picked per environment; check availability for your item types. Deployment rules are the equivalent inside deployment pipelines, rebinding a data source, a parameter or a default lakehouse at the stage. And a parameter file in the repository, read by the deploy script, finds a value inside an item definition and replaces it for the target environment; it is the tool for what no setting covers. The principle is the order: prefer the first two because there is nothing to find and replace, and use the others for what you cannot remove. Then run the hard-coded ID rail so the exceptions are deliberate.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parameter file for the one case in the proof of concept that no setting covers: the notebook that types a workspace ID and a lakehouse ID into a cell. Each entry says: find this value, and replace it per environment. The first entry finds the DEV workspace ID and replaces it, in TEST and PROD, with a variable that means the workspace we are deploying to. The second finds the DEV lakehouse ID and replaces it with a lookup: the ID of the lakehouse named lh_dst in the target workspace. We tested this with the library's own parameter engine and its own validator, with the network calls stubbed out, on a notebook containing made-up IDs. The table shows what it produced. The DEV values are untouched in the repository, and each environment receives its own. It is a stopgap, not a goal: the better fix is to remove the constants from the notebook, using a parameter or the notebook's default lakehouse, and delete this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deploy script. It uses fabric-cicd, an open-source Microsoft library for publishing Fabric items from a repository. It takes three arguments. The environment picks the column in the parameter file, so TEST gets TEST's values. The workspace ID says where to publish. The cleanup flag is off unless you ask for it. The workspace object says which folder holds the items, which item types are in scope, and which identity to use. The identity comes from the pipeline's service connection through the Azure command line credential, so no secret appears in the script. Then it publishes, and optionally removes anything that is in the workspace but not in the repository. Look at the four notes. The scope list is what the repository owns; the lakehouse is in it so that notebooks can bind to it, and its data stays where it is. And cleanup is a choice, because deleting is a decision: most deletes go to the recycle bin, but not every item type supports that. We checked the script against the library's real signature, and it runs with help; we have not run it against a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pipeline in Azure DevOps that does the promotion. It has three stages. The rails stage runs on every pull request and every merge: no hard-coded IDs, no secrets, conforming commit messages. If it fails, nothing else runs. The TEST stage runs only on main, after the rails pass, and publishes to TEST. The PROD stage depends on TEST and declares an environment called fabric-prod. That one line is where the control lives: an Azure DevOps environment can carry approvals and checks, so the stage waits until the named approvers say yes. Nobody can skip it by editing the script, because the approval is on the environment, not in the code. Both deployment stages use the same commit, so what you tested is what you ship. Names, service connections and variable names are placeholders. We parsed the file and checked its structure and the stage dependencies and conditions; it has not run in Disney's Azure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principle on this slide is the most important one in the module: what you tested is what you ship. After the pull request merges to main, you tag the commit. A tag is a permanent name, so the version that goes to TEST is identified by it. UAT happens in TEST against that tag. When the business process owner signs off and the approval is given, the same tag goes to production. You do not rebuild, you do not re-merge, and you do not edit on the way. If something has to change, it becomes a new commit and a new tag, and it starts the journey again. The real output at the bottom shows an annotated tag and the log with the tag decoration. The delivery standard for this team says it in one line: same tag, after sign-off. Part 6 covers the sign-off and approval steps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pipeline can go green while the thing it deployed does not work. The deploy stage can succeed and still leave a placeholder, or an old version, or an item pointing at the wrong data. The delivery standard has a name for the right test: the DEV gate is not a green pipeline, it is that the running application answered a request. For a Fabric workflow that means three checks after every deploy. Run the pipeline in the target with small, known parameters. Read the run log. And look at the report. The code on the left is the second check, as a function: it reads the newest row of the run log and insists that it is the run you started and that it passed. We ran it on real Delta tables. Asking for the run that exists passes. Asking for a run that does not exist fails with a message that says exactly what is wrong. Notice the message: it says what it found and what it expected, so whoever reads the failure does not have to guess. You will run this in Lab C, step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release goes wrong, there are two things to put back, and they are rolled back differently. Code, meaning the notebook, pipeline and model definitions, is rolled back by deploying the previous tag, or by reverting the commit and promoting that: either way it travels the same road and passes the same checks. Data is different, because Git does not hold it. For the tables the notebook writes, Delta keeps a history, and RESTORE puts a table back to an earlier version. We ran this on the real lab tables. After two runs the gold table had two versions, and the second added the February slice. Restoring to version zero removed the February rows, and the history shows the restore itself as version two, so the rollback is recorded, not hidden. Two warnings. The run log is a separate, append-only table and RESTORE does not touch it: it still says the February run happened. Write a row for the rollback so the log tells the truth. And decide quickly between rolling back and rolling forward: roll back when you do not yet understand the fault, roll forward when the fix is small and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Yesterday's credentials rule was one identity per environment. Here is what that looks like when it is applied. Each environment has its own workspace, its own service connection in Azure DevOps, its own service identity, its own vault and its own approval. DEV may use your own identity because you are the one building. TEST uses a service identity whose consent is the step that gates user acceptance testing: nothing can be tested without it. Production uses a separate identity with constrained permissions, and its consent and the email relay onboarding are needed before go-live, not after. The reason for separation is blast radius: a mistake or a leak in TEST must not be able to touch production. All names in the table are placeholders showing the pattern; Disney's naming and the approved vault are for Enterprise Technology to confirm, and the approvals themselves are the subject of Part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checklist to keep. One: hard-coded IDs, which we have scanned for. Two: the notebook's default lakehouse binding is stored with the notebook, so it must be rebound in each environment, by a rule or by the deploy step. Three: connections and credentials do not travel; a connection that exists in DEV does not exist in TEST until someone creates it. Four: schedules. A schedule that is on in DEV and copied to TEST can run when nobody expects it, and a schedule that is off in production is a silent outage. Five: a Direct Lake semantic model has to point at the lakehouse in its own environment, or the TEST report shows DEV numbers. Six: capacity and region differences can change behaviour and limits between environments. Seven: permissions do not travel; the people who can read the report in DEV are not automatically able to in TEST. Eight: cleanup that removes items missing from the repository deletes things on purpose, so use it deliberately. Ask each pair to pick the trap they think is most likely at Disney,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sounds like paperwork, so start with a picture. A delivery process is really three separate systems that run on different clocks, and trouble starts when we draw them as one line. The process is the path the work travels: phases with a gate at the end of each, which tests something you can point at. The rails are the quality obligations: some run on every change in seconds, some run once, on another team's clock, and take weeks. The record is what flows outward: phase transitions and gate outcomes, for the people who plan rather than build. A check that runs on every commit and a review that takes six weeks do not belong on the same line, and mixing them is how work falls between them. The rest of this module takes the three in turn, with the Fabric specifics. The framing comes from the delivery standard this team already works to, so what we show here reinforces it rather than adding a second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delivery standard names eight rails that run on every change and block the merge, not the release, so a problem shows up while the change is still small. The second column is what each one blocks. The third is what it means in a Fabric repository, where the contents are notebooks, pipelines, models and scripts rather than a web application. Most carry over directly: tests for the functions you can pull out of notebooks, lint and format on the Python files, commit messages, static analysis, licences of the libraries you add, secret scanning and a guard against production data. One does not apply yet: an image scan only matters if you ship a container, which a web front end would. Three of the rails are in the lab, marked in the last column. And we propose a ninth that is specific to Fabric: no hard-coded workspace, lakehouse or item IDs, because promotion silently breaks without it. Two rails have no threshold, and never will: a secret and a production record are not questions of severity.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outputs of the rails you will use in Lab C, run on the practice repository. First on the clean repository: the hard-coded ID scan reports zero, and so does the secret scan. Then on a copy with two mistakes planted in the notebook: a workspace ID typed into a cell, and a client secret assigned to a variable. Each rail names the file and the line, and says what kind of finding it is; the ID is masked in the output so the report itself does not leak it. The exit code is what matters to the pipeline: any finding returns one, and a return of one stops the run. None of these scripts is clever. Each is between thirty-five and fifty lines, uses only the standard library, and is in the appendix for you to read. A rail that nobody can read is a rail that nobody trusts. The commit message rail you saw in the Git module. All three run in the pipeline stage from the deployment module, and on your machine before you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Rails and review only govern anything if they cannot be skipped, and that is what branch policy is for. Azure Repos lets you attach policies to a branch, and for main we want five. A minimum number of reviewers: nobody merges their own change unreviewed. A linked work item: every change traces back to an AB number, which is how Boards and the project record stay connected. Build validation: the rails pipeline must pass before the merge button works. Comment resolution: a reviewer's question cannot be quietly ignored. And a merge type, for example squash, which keeps main's history tidy. Add to that no force pushes to main, and no bypass. The point of the slide is the last line: a policy that an administrator can switch off on a busy day is a suggestion. If a policy ever needs an exception, the exception is itself a change that goes through review. Policy names are as at the time of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starting point for roles, not a mandate: confirm it against the delivery standard. Read it by column. A developer writes and commits on a branch, and cannot approve their own pull request. A reviewer approves pull requests. The business process owner runs acceptance testing in TEST and signs off for production; the technical owner countersigns, which is the rule in the delivery standard. The technical owner can also approve the production deployment on the environment. The platform administrator changes branch policies and environment approvals and nothing else, and that role is deliberately separate: the person who can change the rules should not be the person who is subject to them. Two principles carry the table. The author is never the only approver. And the person who can deploy to production is not the only person who approved what is being deployed. Separation of duties is not about distrust, it is about making a single mistake survivable.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rails run in seconds and you control them. The event gates do not run on your clock, and several take weeks. The table is the track from the delivery standard and the agenda. The BAPPID, which is the ServiceNow configuration record with a named technical owner, and the ESIS request both open in week one. ESIS is five sequential reviews, service management, engineering, security, legal and operations, and takes four to eight weeks. Any AI use case needs an AI intake form through the intake portal, also week one. Email relay onboarding is required before go-live, not after. TEST admin consent gates UAT, because nothing can be tested without it. Production admin consent is constrained app permissions on the production tenant. And the functional sign-off, by the process owner, gates the production build. The point for a developer is timing: none of these can be hurried at the end. A gate nobody opened is still open at go-live. Part 6 walks the whole track; here the message is only that it exists and that it starts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someone asks how you know a release was safe, you want to point at things, not write a document. Six things exist after a well-run release. The pull request shows who reviewed what and links the work item. The rails run shows what was checked and that it passed. The tag shows exactly what shipped. The run log shows what the workflow did in each environment. The smoke check result shows what was verified after the deploy. And the approvals show who said yes, and when. None of these takes extra work if the process produces them as a by-product. The footer line is the system-of-record rule from the delivery standard: one system holds each fact. The project record holds state, gates and approvals; Azure Boards holds engineering detail; and a work item carries one pointer to the project record, because one pointer cannot drift and two copies of a fact always will. The artifact you emit along the way is the one you never have to write under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helps to say plainly what is in this room's hands and what is not. On the left is what you control every day through the repository. What you commit: no data and no secrets, which the rails check. Test data: synthetic or approved samples, never production extracts, which is why the lab data is invented. Notebook outputs: clear them or let Fabric's Git integration leave them out, because a saved output can hold data. And exports: an exported pipeline carries the object ID of its last editor, so commit what Git integration writes, not an export. On the right is what belongs to Enterprise Technology, in line with the agenda: platform security and governance. Tenant settings, the workspace role policy, sensitivity labels and the catalogue, security on OneLake data, the approved vault and the approved identities, and which AI tools are approved for tax data. We show what the tools can do and where your responsibility begins, and we defer to their policy on the rest. If you are unsure which side something is on, ask before you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covers how AI assistance fits into the DevOps work you have just seen. It is deliberately practical. We start with the loop and mark where an assistant helps and where a person decides. Then context, because an assistant is only as good as what it is told about your repository. Then how to ask well, how to review what comes back, and an exercise where you review a pipeline file an assistant drafted. Then the guardrails around an assistant working in a repository, using a small script we have tested, and finally what to ask before you use any assistant on tax work. The thread through all of it is one sentence: AI changes how a draft is produced, not the standard the work must meet. Use only the assistant that Disney has approved for this work, and never paste real tax data or secrets into a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stages across the page. In each one the teal box is what an assistant can usefully do and the amber box is what a person still decides. Plan: an assistant can turn a request into draft work items and acceptance criteria; a person decides what is in scope. Code: it can draft notebook cells, SQL and pipeline definitions, and translate Alteryx logic, as you did yesterday; a person decides whether it is right in the business sense. Review: it can summarise a diff and flag patterns such as hard-coded IDs; a person approves. Test: it can propose cases and synthetic fixtures; a person decides which ones matter. Release: it can draft a pull request description or release notes from the commits; a person cuts and promotes the tag. Operate: it can summarise a failed run and suggest causes; a person decides and fixes. Notice that every amber box is a decision or an approval. That is not an accident: those are the steps where accountability sits, and accountability does not move to 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and one line. On the left is what assistants are good at: drafting, explaining, translating, summarising, boilerplate and a first-pass review. If a task is wordy, repetitive or pattern-shaped, an assistant will usually save you time. On the right is what stays with people: approving a pull request, deciding scope, holding credentials, promoting to production, signing off, and deciding what the numbers should be. The two lines at the bottom are the ground rules for today. Never put production data or a secret in a prompt, and never let an assistant approve its own work. The title is the principle. A change drafted by an assistant has to pass the same rails, the same review and the same gates as one written by hand, and it should be held to them more carefully, because it was produced without anyone having to think it through line by line. Drafts are fast. Understanding is what you are accountable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assistant knows nothing about your repository until you tell it. The most effective way to tell it is a short instructions file committed at the root, which the assistant loads at the start of every session. In the delivery standard this team works to, that is a CLAUDE.md index plus a set of rules files, versioned as a whole, with the version in the first line and nowhere else. A few principles from the standard. The set is committed in every repository, so every session starts with the same rules. You do not edit the organisation's content in your own repository; if your copy disagrees, your copy is stale and you sync it, you do not patch it. On the right is an illustrative file for the practice repository, in our own words. It does three things: it says where things are, it states the rules the rails also enforce, and it says what to run before claiming to be done. That last part matters: it turns the assistant into something that checks its own work with the same scripts you use. The file is context, not enforcement: the rails and branch policy are still what enforce.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ask has five parts. Context: which repository, which item, which environment, and what happened. Task: one clear job, not three. Constraints: the rules that must hold, such as no hard-coded IDs, or use uv. Output shape: a diff, a table, a two-sentence explanation, whatever you can check quickly. And the check: how you will know the answer is right, ideally by running the rails. The two panels show the same request asked badly and asked well. The weak ask has no context, no constraint and no shape, so the assistant has to guess, and it will guess confidently. The strong ask says what was run, what failed, what to produce, and what not to touch. Notice that the strong ask also limits the blast radius: it says to change nothing else. Smaller, checkable changes are easier to review. All of the specifics in the example come from yesterday's Lab B failure test, where a period of Jan-25 is refused by the notebook's first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places where an assistant saves real time in the Git workflow, and what you do with the result. A commit message: give it the diff and the work item and ask for a Conventional Commit. The example on the slide is a good answer for the diff you saw earlier, and it is exactly the message the practice repository accepted; your check is that the commit rail passes and that the message describes what you actually changed. A pull request description: ask for a summary for a reviewer, what changed, why and how to test. The check is that every claim is true. Assistants sometimes describe a change you did not make, and a reviewer will believe the description. A merge conflict: ask it to explain both sides and what each was trying to do, and to not resolve it. In our conflict it should say one side tightens the tolerance to a cent and the other loosens it to ten cents, and that choosing between them is a business decision. If it simply picks one, that is a prompt problem. Whatever the assistant produces, you own it as soon as you commit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assistant makes a good first-pass reviewer for patterns. Give it a checklist and it will find hard-coded IDs, a write with no gate before it, an inferred schema, a credential in code, a missing validation at the top of a notebook, a name that says nothing. Those are pattern-shaped and checklists work. It is much weaker on anything that needs knowledge it does not have. The business rule is the classic one. In yesterday's Exercise 5 the denominator dropped rows where impressions were null, while the Alteryx rule flagged N/A by region. Nothing in the code looks wrong; only someone who knows the rule sees the difference. An assistant can spot it only if you hand it the rule. Likewise it cannot tell you why the tolerance is five cents or whether five cents is right. So use it for the first pass, give it the rules, and keep the human review for meaning. The reviewer prompt at the bottom reuses the eight hardening checks from Day Two, and ends by asking it to say what it could not check, which is the most useful sentence in any AI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about twenty minutes, in pairs. An assistant was asked to write a pipeline that deploys the workflow, and this is what it produced. It looks plausible, which is the problem: assistants write confident, tidy-looking files. Your job is to review it as you would a stranger's pull request. Work through it line by line with the checklist on the right. There are seven problems. Four could be caught by a script: two by the rails you saw in the governance module and two by the guard we meet next. Three need a person, because they are about judgement: when it should run, where it should go first, and what it deletes. Ask pairs to write down the line number and one sentence for each, and to propose the fix. Do not reveal the answers early: the point is the habit of reading the file. The workspace ID, secret and values are all made up for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Line two: the trigger fires on every branch, so any push from any branch deploys; it should be main only, after the rails. Line eight: a secret in the file; the secret rail catches it and the fix is a variable group backed by the vault. Line eleven: pip install; in a repository that uses uv it is the wrong tool, and the guard refuses it. Lines thirteen to fifteen: it deploys straight to production with no TEST stage, no environment and no approval, which is a design problem no script catches. Lines fourteen and fifteen: a hard-coded production workspace ID; the ID rail catches it, and the fix is a variable. Line fifteen: the cleanup flag deletes everything in production that is not in the repository, with no review. Line seventeen: a force push to main, disguised as tagging the release; the guard refuses it, and a tag does not need a push of main at all. On the right is the real output. The summary is the lesson: four problems are mechanical and the rails and the guard catch them in seconds, three need judgement. The corrected pipeline from the deployment module passes both file 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assistant works in your repository it can run commands. A hook lets the repository inspect a command before it runs and answer allow, ask or deny. The guard on this slide is about fifty lines of Python, in the appendix, and it has three rules. Block pip install, and say to use uv. Block a force push that targets a protected branch. And ask for confirmation when a command names a PROD identifier. Every rule matches a literal, or a program name in command position; none of them guess, because a guard that fires on legitimate work trains people to bypass it, and a bypassed guard enforces nothing. We tested it with simulated tool calls, including commands that must pass: installing with uv, pushing a feature branch and a force-with-lease to a feature branch all go through. The table shows the results. Then read the honest box. This is a guard against mistakes, not a security boundary. Someone can disable it, and a hook reads a command string, so it cannot prove intent. It catches the tired command that would have touched production, and it claims no more than that. The configuration shown is the shape used by one assistant; other tools have their own equivalents.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stage of the loop is operating, and triage is one of the best uses of an assistant because it is reading, not changing. The scenario is the one from yesterday's Lab B: a run started with the period Jan-25 failed. Give the assistant what a person would need: the activity's error text from the monitoring hub, the newest rows of the run log, and the cell that raised the error. Ask for the cause in two sentences and what to check. A good answer says: the notebook's first cell rejected the period because it must look like 2025-01; it stopped before it read any file, so nothing was written to gold; and because it stopped before the gate, there is no row in the run log. All three statements are checkable, and they match what you saw in Lab B: refused at the door leaves no log row. Your checks are on the right: confirm in the monitoring hub, query the run log, and fix the input, not the code. If the assistant proposes changing the code to accept Jan-25, that is the wrong fix, and spotting it is your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has AI features of its own, and it helps to know where they sit relative to the DevOps loop. Copilot in Fabric assists inside the item you are working in: it can help write and explain code in notebooks, SQL, DAX and report content, and it works at the Code stage of the loop. Data agents let people ask questions of data in a lakehouse in plain language; they sit at the consumption end, with the reporting layer, rather than in the delivery pipeline. Neither one deploys, approves or promotes anything. Both are drafts to be reviewed, with the same habits as any assistant: check the output, give it the rules, and never treat it as a source of truth for the numbers. Availability depends on tenant settings, capacity and region, which Enterprise Technology controls, and any use on tax data goes through the AI intake process. So: know it exists, use it where it is enabled and approved, and keep it out of the deployment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to ask every time. One: is this tool approved for tax data? If you do not know, the answer is no until you do. Two: is anything in the prompt production data, personal information or a secret? The lab uses invented data precisely so that this question never needs asking in class. Three: who reviewed what it produced? A person must, and that person should be able to explain the change. Four: did it add a dependency or a licence? The licensing rail catches this, but only if the dependency is in the lock file. Five: is the assistance on the record? We suggest a commit trailer that names the assistant, so the audit trail shows it, as in the example. And a reminder from the delivery standard: any AI use case needs an AI intake form through the intake portal, in week one, and the AI review is the one slow gate that is entirely in your hands, because it needs your answers rather than another team's calendar. Open it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facilitator, and for anyone running this lab without one. Most of the lab's friction is in the set-up, so do it the day before and rehearse once end to end. In Azure DevOps you need a project and a repository, with main protected by the five branch policies from the governance module and holding only a README to start with, because everything arrives by pull request. The rails scripts, the deploy script and the pipeline file from the appendix are committed to main before the policies go on. You need a service connection for the TEST workspace, a variable holding the TEST workspace ID, and two environments, one for TEST and one for production, with an approval set on the production one. Create one work item per pair so commits carry real AB numbers. In Fabric, each pair needs a DEV workspace holding the Lab A and Lab B items, with the pair as admin, and an empty TEST workspace on a capacity, where the pipeline's identity has a role that can create and edit items. Everyone should be pre-credentialed in both. If your tenant prefers Fabric deployment pipelines, set up a pipeline with DEV and TEST stages for the alternative path. And decide how TEST gets its data: Git carries the recipe, not the data, so the lab kit has to be loaded into the TEST lakehouse, which is a step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 hands-on block that finishes Part 5, about ninety minutes, in pairs, and it uses the workflow you built yesterday. The six steps run left to right. One: connect your DEV workspace to a new branch in Azure Repos. Two: commit the items. Three: make one small change and commit it. Four: open a pull request, watch the rails run, break one on purpose, and have your partner review. Five: after the merge, the pipeline promotes the items to TEST. Six: verify that what arrived in TEST actually works, using the smoke check from the deployment module. Two things to know in advance. Step five has two paths: the lab path uses the Azure pipeline from the deployment module, and the alternative is a Fabric deployment pipeline, for tenants that prefer it. And TEST starts with no data, because Git carries definitions, not data, so one of the steps is to load the lab kit there. Suggested pacing: twenty minutes for steps one and two, twenty-five for three and four, twenty for step five, fifteen for step six, and ten for the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DEV workspace's settings and choose Git integration. Pick Azure DevOps and fill in the fields: the organisation and project come from the facilitator, the repository is the practice repository, and the folder is slash fabric, so the items live in one place. The branch is the interesting field. Main is protected, so we cannot commit to it from the workspace: the repository would refuse a direct push. Instead, create a new branch named for your work item, and connect the workspace to that. Some versions of the connect dialog let you create the branch there; if yours does not, create it in Azure Repos first and then pick it. You need to be the workspace admin to connect. After connecting, the source control panel should list your items as ready to commit. That is the state we want: the workspace knows about the repository, and nothing has been committed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source control panel, select all the items and write the commit message. The message has the shape from the Git module: a type, a colon and a short summary. Fabric's commit box is a single line, so put the work item in the same line, in brackets: the commit rail looks for AB hash and a number anywhere in the message. We tested this exact message with the rail and it passes. Commit. Then go to Azure Repos, open your branch and look at the fabric folder: one folder per item, and inside the notebook's folder a platform file and the notebook content as text. Open the platform file and find the logical ID: it is how the pipeline refers to the notebook, rather than by a workspace-specific ID. There should be no data files. If a message is refused by the panel or the pipeline later, come back to the three parts: type, summary, work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make a change small enough to review. Open the notebook in the DEV workspace, find the gate cell and change the tolerance from five cents to one cent. Run the notebook with its default parameters to confirm that the gate still passes: the differences are zero, so it should. Then commit with a fix message and the second work item. In Azure Repos, open the commit, or compare your branch with main, and read the diff. It is exactly the change on the slide: one line removed and one added, with a few lines of context. A reviewer can see in seconds what changed and why, which is the whole point of the notebook being stored as text. If your diff shows more than one line changed, something else was saved with it; look at what, and ask why. Ask each pair to say out loud what the change means for the business: more notebooks will now fail, because less rounding is tolerated, and that is a decision somebody should have made, which is what the work item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 pull request from your branch into main in Azure Repos. The title is a commit message in the same shape; the description says what changed, why, and how you tested it, with the work item. The build validation policy starts the rails stage automatically. It should pass: commit messages, no secrets, no hard-coded IDs. Now break one on purpose, as we did with the gate in Lab A. Add a cell to the notebook that types a workspace ID into a variable, commit, and watch the pipeline fail: the ID rail names the file and the line, and masks the ID in its report. The ID on the slide is made up. Remove the cell, commit, and watch it go green. Then your partner reviews with the four questions from the Git module and approves, and you complete the pull request with a squash merge. Two things to notice. The merge button was disabled until the rails passed and a reviewer approved: that is branch policy at work. And main now holds your items, through a reviewed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merge to main starts the pipeline again. The rails run, and then the TEST stage runs deploy dot py for the TEST environment: it reads the repository, swaps the environment-specific values, and publishes the items into the TEST workspace in dependency order. Open the pipeline run and watch it. Then open the TEST workspace: your items should be there, which is the first time they have existed anywhere but DEV. Finally find the production stage: it shows as waiting, because the production environment has an approval on it. Do not approve it. We are not shipping to production in this lab, and the approval is exactly the control we want to see working. If your tenant uses Fabric deployment pipelines instead, the alternative path is on the right: switch the DEV workspace to main and update it, then deploy from DEV to TEST in the deployment pipeline, check the rules, and look at the TEST workspace. The result is the same; the control is in different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items are in TEST, and nothing has been proved yet. Start with the point from the governance module: Git carries the recipe, not the meal, so TEST has no data. Run the lab kit script from the Day Two appendix once, in a notebook attached to the TEST lakehouse, to write the five files. Then run the pipeline in TEST with 2025-02 and with N/A, the same values as Lab B. When it finishes, run the smoke check against the run ID of the run you just started: it passes only if the newest row in TEST's run log is yours and it passed. Finally, if you deployed the model and report, open the report in TEST and compare it with the expected results: twelve thousand and eighteen thousand. If it shows other numbers, or the numbers from DEV, the model is still bound to the DEV lakehouse, which is trap five from the deployment module, and it is a very instructive thing to find. Give the pairs a minute to say what they proved and what they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and only if your approved assistant is available. Four places in the lab where an assistant helps, each with the check you do on the result. In step three, ask it to explain the diff in plain words, then check that its explanation matches what you changed. In step four, ask it to draft the pull request description, then check every claim, because it will sometimes describe a change you did not make. In step five, if you have a parameter file or a change to the deploy script, ask it to review for hard-coded values, then run the rails, which are the arbiter. In step six, if something fails, give it the error text and the run-log row and ask for the cause in two sentences, then confirm in the monitoring hub. The ground rules from the AI module apply: only the approved assistant, and only the invented lab data in a prompt. You own whatever you commit, whoever drafted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table is the tick list for each step. The right table covers the problems we expect, in the order they tend to happen. A direct commit to main is refused: the repository only takes pull requests on main, so use your feature branch. The ID rail failing is correct if there is an ID in a cell; remove the constant or use a parameter, and remember that the logical IDs in the platform files are allowed. The commit rail failing is almost always the format: type, summary, work item. If the TEST stage fails, check that the pipeline's identity has a role in TEST that can create and edit items, and that the variable holding the TEST workspace ID is set. A notebook that fails in TEST with a path that does not exist means TEST has no data yet: load the lab kit. And a report with DEV numbers is the model still bound to the DEV lakehouse. Treat each of these as a lesson, not a failure: every one of them is something a real first deployment hits.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stretch goals, each one ties back to the module. One: tag the merged commit as version one point zero and redeploy that tag to TEST, which is the build-once principle in practice: you are deploying a name, not a branch. Two: roll back. Restore the TEST gold table to an earlier version with RESTORE, check the history shows it, and write a row to the run log saying what you did, because RESTORE does not touch the log. Three: do a second change the proper way, with Branch out: Fabric creates a new branch and a personal workspace, you change something, and you open a second pull request. Four: prove that main is protected. In the practice repository, try a force push to main from a terminal, and watch the repository refuse it. Do this one only in the practice repository, never anywhere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room back. Start with the first question, because it is the heart of the module: what differed between DEV and TEST, and where did that difference live? Good answers name the workspace, the lakehouse binding, the identity, the data, and the approvals, and say whether each was in a file, a parameter or a setting. Then the rails: which one would have caught your own worst mistake in the lab? Then the review: what did your partner look at that the rails could not? That is the case for keeping people in the loop. And finally, what would you need before this went to production? Expect answers like approvals, a production identity, sign-off and a rollback plan, and write them on the board: that list is the start of Part 6, where the road to production, its owners and its long poles are laid out. If time allows, ask each pair for one thing they would change about the repository's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six outcomes from the start of the day and read these as the answers, one sentence per module. Ask the room to pick the sentence that surprised them most and the one they are least sure about, and note both for the Part 6 discussion. If time allows, ask a volunteer to explain the difference between a rail and a gate, because that distinction carries straight into Part 6, where most of the gates sit on other teams' clocks. Questions parked today go to the owners named at the start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slides for participants to keep. Nothing here needs to be presented. Point people to the Git cheat sheet during Exercise 6, to the rail scripts and the pipeline file when they set up their own repository, and to the prompt library when they start using an assistant. The scripts are the ones that were run to produce the outputs shown earlier in the day, so a facilitator can rebuild the practice repository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Six groups of commands: look, save, branch and merge, undo, share, and release. Every command was run on Git version 2.43 in a practice repository while the deck was built, the remote ones against a local bare repository standing in for Azure Repos. Replace the angle brackets with your own values. The undo group is the one to read twice: restore throws away edits for good, revert adds a new commit that undoes an old one, reset with soft keeps your work, and none of them should ever be used to rewrite history that others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On the left, branch names start with the type of change and the work item, then a short slug, so a list of branches reads like a list of work. Branches are short-lived and deleted after the merge, and nothing is pushed to main directly. On the right is a pull request description template with the four headings from the pull request slide, plus a line that records any AI assistance, and a commit message with the work item in the body and an optional trailer that records an assistant. The rail checks only the type, the summary and the work item; the trailer is a suggested practice, not a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This is the script behind the no-hard-coded-IDs rail, split in two panels to fit the slide. It walks the repository, skips Git and package folders, reads text files and the source cells of notebooks, and ignores the Fabric-managed metadata lines. It flags any GUID that is not the logical ID that items use to refer to each other in their platform files, or the all-zero placeholder. It prints only the first part of the ID, so the log never leaks a real identifier. The exit code is one when it finds anything, which is what makes it a rail. It was run on the clean practice repository, where it reports zero, and on a copy with a planted ID, where it reports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script behind the no-secrets rail. It looks for five credential shapes: an assignment where the name suggests a secret, password, key or token and the value is a literal of eight or more characters, a private key header, a bearer token, a storage account key, and a shared access signature. It reports the file, the line and the kind of finding, never the value. It is deliberately small and easy to read, so it will miss things a dedicated scanner would catch; it is a first rail, not the only one, and the repository secret scanning belongs alongside it. At the bottom are the three commands a developer runs before pushing, which the pipeline rails stage also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commit message rail, in two panels. check takes one message and returns a list of problems: the subject must be a Conventional Commits type with an optional scope and a summary of at most seventy-two characters, and the message must name a work item such as AB hash and a number. Merge and revert messages written by Git itself are skipped. messages reads either a file, standard input, or a range of commits such as origin main to HEAD. As a commit-msg hook it checks the message before the commit exists; in the pipeline it checks every commit in the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On the left is the smoke check from the green-is-not-proof slide. It reads the newest row of the run log, insists the run ID is the one you started, and insists the status is passed. It was run against real Delta tables and fails as intended when the run ID is wrong. On the right is parameter.yml, the file that tells the deployment which values to swap per environment. The two IDs shown are made up. The first is the DEV workspace typed into a notebook cell and the second is the DEV lakehouse; in TEST and PROD each is replaced by a lookup of the target workspace and the item named lh_dst. The engine applying this file was run offline with its lookups stubbed, so the result is checked but a real tenant has not been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whole deploy script. It takes the environment and the target workspace ID as arguments, builds a workspace object from the fabric-cicd library pointing at the repository folder, names the item types in scope, and passes the pipeline's credential. Publish all items deploys in dependency order, and the optional cleanup flag removes items that exist in the target but not in the repository, so use it deliberately. The imports and keyword arguments were checked against the real fabric-cicd release at the time of writing, and the help text runs. It has not been run against a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first half of the pipeline file. The triggers fire on pushes to main and on pull requests into main. The rails stage runs three checks on every change: IDs, secrets and commit messages. The TEST stage depends on the rails and runs only for the main branch; it is a deployment job attached to the fabric-test environment, and it signs in through a service connection named for TEST. The names, variables and service connections are placeholders to replace with your own. The structure was checked by parsing the file and asserting the stages, the dependencies and the conditions; it has not been run in Azure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PROD stage is the TEST stage with three differences, which the table lists. It depends on TEST, so the same commit that passed there is the one that gets promoted. It is attached to the fabric-prod environment, and that is where the approval is configured: the pipeline waits there until the named approvers say yes. And it signs in with its own service connection and takes the production workspace from its own variable. Everything else, the commit, the script and the parameter file, is identical, which is the whole point of promoting rather than rebuilding.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guard hook from the guardrails slide, in two panels. It reads the tool call as JSON on standard input, ignores anything that is not a shell command, and answers with a permission decision: deny for pip install, deny for a force push that targets a protected branch, and ask for any command that contains a production identifier. Every rule matches a program name at the start of a command or a published literal, so a command that merely mentions pip install in a string is allowed. It is a guard against mistakes, not a security boundary, and it only reads a command string, so it cannot prove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On the left is the settings entry that attaches the guard to shell commands before they run; the shape shown is one assistant's, and other tools differ, so check your tool's documentation. On the right is the real output of the test script: twelve commands and one non-shell call, each with the decision the guard should give and the decision it gave. Allow means the guard stays silent and the command proceeds. These were simulated tool calls fed to the script, not a live assistant session, so the hook has not been exercised inside a real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Six prompts that follow the five-part shape from the prompting slide: context, one task, constraints, output shape and the check. Fill in the bracketed values and paste the real material, a diff, an error, a conflict, below the prompt. Read the notes column: each prompt names the check that proves the answer, and in every case the check is a rail or a person, not the assistant. None of these should ever be used with production data, personal information or secrets in the paste; the five questions slide says how to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Fourteen terms from today, in plain language: seven from Git and Fabric, and seven from delivery and governance. Point people here when a word comes up in the lab, and add your own terms as questions arise. The distinction worth repeating is rail versus gate: a rail is automatic and runs on every change, and a gate waits on a person or another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closes Day Three. Part 5 gave the room the mechanics: Git, branching, deployment pipelines and promoting a workspace. Part 6 is the rest of the journey: everything between 'it works in DEV' and 'the business is using it in production and HCL can support it'. Frame it for the whole room: tax professionals will request, test and sign off these applications, and technologists will build them. Leadership's goal for this week is a team that can build and ship applications themselves, and Part 6 is the part that is usually learned the hard way.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six outcomes aloud. The top row covers the path and the first three gates. The bottom row covers the approvals, the long poles and the final gate. Nobody needs to memorise the steps. The aim is that everyone knows where they are on the path, what the next gate checks, and whose clock it runs on.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the two parts explicitly so nothing is taught twice. Part 5 covered the mechanics: Git, branches, pull requests, deployment pipelines and promoting between workspaces, plus the lab where attendees shipped their own workflow. Part 6 adds the rules on top of those mechanics. The pipeline from Part 5 is the same one, but now a merge is blocked until the rails pass, DEV is only done when the app answers, and production needs sign-off and closed approvals. If someone asks how to branch or promote, point back to Part 5. Part 5 also introduced the three clocks, the eight rails and the event gates at an overview level, and covered AI in DevOps, so treat the matching slides here as the deeper version, and skim anything the room already has.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companion material leaves off. The business builds a working model, often a single HTML file with invented data, and hands it to the builder together with a short model charter. For the tax professionals in the room: this is what you will hand over. For the technologists: this is what you will receive. The right side is the honest list. The model is not secure, not connected, not performant, holds no real data, and is not production code. Building on top of it is not allowed. It is a precise statement of what the business wants, and the job is to rebuild it properly.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mental model for all of Part 6. There are three systems. The process is the path: four phases and four gates. Quality control is the set of checks: some run on every change and finish in minutes, others are reviews run by another team that take weeks. Documentation is the record that leadership and planners see. The bottom strip shows where each fact lives. Workfront holds project state: gates, approvals, dates and cost classification. Azure Boards holds the engineering work items and feeds Workfront. Neither system copies the other. One pointer between two systems stays accurate, but two copies of the same fact will drift apart.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remember. Four phases, each ending in a gate, and every gate tests something you can point at, not an opinion and not a meeting. Phase 0 belongs to the requester, usually the business. The upsize gate is where the builder gets a say. Phases 1 to 3 belong to the builder. The release loop brings the business back in for UAT and sign-off. The gates have names, not numbers, on purpose. Workfront already uses lettered gates for project governance, and reusing the same labels would suggest the two check the same thing. The next slide places the twelve TDMI steps on this frame.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links the TDMI twelve-step list the team already knows to the four gates. Read it column by column. Phase 0 is steps 2 and 3: the UI draft is the model, and the UI review with the business confirms the shape before anything gets locked in. Phase 1 is steps 1 and 4. Infra setup in Azure DevOps can start as soon as the model is accepted, and the dev build is the first deploy. Phase 2 is steps 5 to 7: the test build, the AI engine grounded against real Fabric data, and the full flow confirmed. Phase 3 is UAT, functional sign-off and the move to production. The two amber bars matter most. ESIS, step 10, is not a step you reach at the end. It is raised in phase 1 and runs alongside everything else. The HCL handoff docs, step 12, are written along the way. Those two decide the date.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gate. Before any real build starts, the model charter is tested: are all the open questions closed, and is there an out-of-scope list? For the tax professionals: this is why the builder may send your model back. It is not a rejection of the idea. It means a decision still needs to be made, and the person who owns the process should make it. For the builders: never answer an open question yourself. If you do, your guess becomes the scope, and nobody knows it was a guess. The upsize skill enforces this, which we cover in the toolkit section.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business case for the upsize gate. The charter answers purpose, users, assumptions and scope. Months later, the ESIS integration review asks for purpose, users and data types, and the risk assessment asks for use cases, value, user population and data classification. The user documentation and the UAT test cases ask for the same facts again. If the charter is closed, each of these becomes a copy-and-adapt exercise. If it is not, someone is writing them from memory under deadline, usually in the week before go-live.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model is accepted, the builder's first job is reading, not coding. Four passes. List the screens, because each becomes a route. List the states, including empty, error and loading, because for some states the model is the only place anyone wrote them down. Keep the words: labels and status names are decisions the business already made, so changing one is a change request, not a tidy-up. Read the data for its shape and turn it into test fixtures, but never ship the invented rows. Point back to Day One: this is the same decomposition habit we used on the Alteryx workflows.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gate closes phase 1. The common mistake is treating a green pipeline as done. A pipeline can succeed and still deploy a placeholder, so green only tells you the steps ran. The proof is that you reached the running application in DEV and it answered. Then confirm it is your build: check the image digest and the version the app reports. For the tax professionals: when someone says 'it's deployed', the right follow-up is 'have you seen it answer?'</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is the build loop, where most of the time goes. Four habits. Work items live in Azure Boards and every commit references one. Significant features get their own small model and charter, so the upsize gate applies again in miniature; a bug fix or a new field does not need one. The continuous rails run on every change, which we cover next. The slow gates opened in phase 1 keep moving in the background. The scope gate closes the loop. It maps to steps 5 to 7: the test build is in TEST, the AI engine is grounded against real Fabric data, and the full flow works end to end, including errors and empty states.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kinds of quality work, and they should never be drawn on the same line. On the left are the eight continuous rails. They run automatically on every change and block the merge. That is where Part 5's pull requests pick up the rules. Two of them have no threshold at all: a credential in the code or a row of production data in the repository always blocks. This matters for a tax team, because real taxpayer and entity data must never land in source control. On the right are event gates: slow reviews, each with an owner, each blocking one specific transition. The next two slides cover them.</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approvals track, and it ties back to the Day One slide on who owns what. Enterprise Technology owns most of these: the BAPPID record in ServiceNow, the ESIS request, and the TEST and PROD admin consents. Technology Enablement owns the AI intake, which is required for any AI use case. ET&amp;D Messaging owns the email relay, which is easy to forget and needed before go-live for any app that sends notifications. The business owns UAT and sign-off. Three are opened in week one: BAPPID, ESIS and the AI intake. Named owners are still to be confirmed with TDMI, so attendees leave with contacts rather than just team names.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 poles decide the go-live date. ESIS is five sequential reviews: Service Management, Engineering, Security, Legal, then Operations. That is four to eight weeks, and it cannot be hurried at the end. Three other slow reviews belong in phase 1 as well: the risk assessment, email onboarding and the AI review. The AI review is the only one entirely in the build team's hands. On the right is a test for whether something is really a gate: it needs a trigger, an owner, what it blocks, and the artifact it produces. If a row in the register cannot state all four, it is either a rail or a wish. The point for planners and leadership: the date is set by when these were opened, not by how fast the team builds.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gate. Phase 3 has four moves. Cut the release: versions are bumped together, the tag matches the manifest, and a readiness record is produced; the release-cut skill automates this. Sync the test cases from git into test management. Business users run UAT in TEST, which needs the TEST admin consent first; the process owner signs and the technical owner countersigns. Then promote the same tag to production, only when sign-off is in and every event gate is closed, and verify the running app just as you did at the DEV gate. Use the checklist on the right as the go or no-go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rule that saves a lot of rework during UAT. Test cases live in git as markdown, and test management is generated from them. Edit the markdown, not the tool. If someone does edit in the tool, which happens during a busy UAT cycle, copy the change back to git before the cycle closes. Never change a case ID or name prefix after it has been published, because the sync treats it as a new case and duplicates everything. For the business testers: if a step is wrong, raise it with the builder. The check that the sync is clean is that running it twice reports nothing changed.</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12 is the handoff to HCL for support. It is the step most often left to the end, and that is why it slips. Each gate already produces part of the pack: the closed charter, the evidence that the app ran in DEV, the scan and test results, and the release record with its approvals. If the gates were done properly, the handoff pack is mostly assembly. The exact contents HCL requires should be confirmed with TDMI and Enterprise Technology before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'ready to build' becomes concrete. AI-assisted development at TDMI runs on Claude Code, and every repository carries the canon: a CLAUDE.md index plus rules files that every session loads automatically. It has one version for the whole set. Nobody edits it locally; if a rule doesn't fit, raise it with the owner. The six skills map onto the path: upsize at the upsize gate, repo-setup and canon-sync in phase 1, sql-onboard when the app needs a database, release-cut and qtest-adopt in the release loop. For the tax professionals: you don't need to run these, but knowing they exist explains why builders can move quickly without skipping the standard.</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plugin includes a guard: a hook that checks each command before it runs and each file path before a write. A committed settings file covers sessions without the plugin. Two rules ask for confirmation: anything carrying a production identifier, and anything that could make a resource publicly reachable. Both were already rules that needed a human decision, and the guard moves that decision to the moment of action. Four rules block outright. Be honest about the limits. It is a guard against mistakes, not a security boundary, and it says so. Platform security remains with Enterprise Technology, as we said on Day One.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 review exercise, about 25 minutes: 15 in pairs and 10 for the debrief. Pair a tax professional with a technologist on purpose. Several situations need both views. Use the app built in the Day Two lab, which gave a workflow inputs, a trigger and an output, so the scenario feels familiar. For each of the six situations, the pair writes three things: which gate or rail applies, whether it passes, holds or goes back, and who acts next. Expect debate on situation 3: the build may be on time, but the date has moved. Answers follow on the next slide; do not show them until most pairs are done.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answers and spend the time on disagreements. 1: send it back; the builder must not decide whether unmapped items block or warn, because that is a tax decision. 2: hold; this is the DEV gate failure described earlier. 3: the most important one. UAT cannot start without TEST consent, and ESIS adds weeks, so the date moves even though the build is on time. 4: the secret scanning rail blocks the merge outright; rotate the credential because it has been exposed. 5: copy the edit back to git before the cycle closes. 6: hold go-live; email relay is a before-go-live item and belonged in phase 1. Situations 1, 3, 4 and 6 could all have been prevented in week one: by closing the charter, opening the slow gates and letting the rails run.</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habits describe a team that ships well. Read them as a checklist the room can hold each other to. None of them are about coding skill. They are about order and evidence: close the charter, open the slow gates, keep the rails green, let evidence build up as you go, keep one system of record, and verify what is actually running.</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back to the six outcomes from the start of Part 6 and use these four sentences as the summary. Ask the room: which gate would have caught the most problems on a project you have worked on? For tax professionals the usual answer is the upsize gate, and for technologists it is the long poles. Close on the line in the bar: close the charter, open the slow gates, let the rails run, and the final assessment becomes a report rather than a scramble. Point people to the process-canon repository for the delivery map, the gate register and the skills.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4" name="Text 0"/>
          <p:cNvSpPr/>
          <p:nvPr/>
        </p:nvSpPr>
        <p:spPr>
          <a:xfrm>
            <a:off x="548640" y="6428232"/>
            <a:ext cx="8229600" cy="256032"/>
          </a:xfrm>
          <a:prstGeom prst="rect">
            <a:avLst/>
          </a:prstGeom>
          <a:noFill/>
          <a:ln/>
        </p:spPr>
        <p:txBody>
          <a:bodyPr wrap="square" lIns="0" tIns="0" rIns="0" bIns="0" rtlCol="0" anchor="ctr"/>
          <a:lstStyle/>
          <a:p>
            <a:pPr indent="0" marL="0">
              <a:buNone/>
            </a:pPr>
            <a:r>
              <a:rPr lang="en-US" sz="1000" dirty="0">
                <a:solidFill>
                  <a:schemeClr val="tx1">
                    <a:alpha val="65000"/>
                  </a:schemeClr>
                </a:solidFill>
              </a:rPr>
              <a:t>KPMG  ·  Disney Tax Data Management &amp; Innovation  ·  Day Three: Shipping to production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6858000" cy="320040"/>
          </a:xfrm>
          <a:prstGeom prst="rect">
            <a:avLst/>
          </a:prstGeom>
          <a:noFill/>
          <a:ln/>
        </p:spPr>
        <p:txBody>
          <a:bodyPr wrap="square" rtlCol="0"/>
          <a:lstStyle>
            <a:lvl1pPr indent="0" marL="0">
              <a:buNone/>
              <a:defRPr lang="en-US" sz="1400" b="1" spc="4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731520" y="1965960"/>
            <a:ext cx="6949440" cy="2011680"/>
          </a:xfrm>
          <a:prstGeom prst="rect">
            <a:avLst/>
          </a:prstGeom>
          <a:noFill/>
          <a:ln/>
        </p:spPr>
        <p:txBody>
          <a:bodyPr wrap="square" rtlCol="0"/>
          <a:lstStyle>
            <a:lvl1pPr indent="0" marL="0">
              <a:buNone/>
              <a:defRPr lang="en-US" sz="5000" b="1" dirty="0">
                <a:solidFill>
                  <a:schemeClr val="bg1"/>
                </a:solidFill>
              </a:defRPr>
            </a:lvl1pPr>
          </a:lstStyle>
          <a:p>
            <a:pPr indent="0" marL="0">
              <a:buNone/>
            </a:pPr>
            <a:endParaRPr lang="en-US" sz="5000" dirty="0"/>
          </a:p>
        </p:txBody>
      </p:sp>
      <p:sp>
        <p:nvSpPr>
          <p:cNvPr id="4" name="Text 0"/>
          <p:cNvSpPr/>
          <p:nvPr>
            <p:ph idx="102" type="body" hasCustomPrompt="1"/>
          </p:nvPr>
        </p:nvSpPr>
        <p:spPr>
          <a:xfrm>
            <a:off x="731520" y="4160520"/>
            <a:ext cx="667512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731520" y="6035040"/>
            <a:ext cx="8229600" cy="274320"/>
          </a:xfrm>
          <a:prstGeom prst="rect">
            <a:avLst/>
          </a:prstGeom>
          <a:noFill/>
          <a:ln/>
        </p:spPr>
        <p:txBody>
          <a:bodyPr wrap="square" lIns="0" tIns="0" rIns="0" bIns="0" rtlCol="0" anchor="ctr"/>
          <a:lstStyle/>
          <a:p>
            <a:pPr indent="0" marL="0">
              <a:buNone/>
            </a:pPr>
            <a:r>
              <a:rPr lang="en-US" sz="1200" dirty="0">
                <a:solidFill>
                  <a:schemeClr val="bg1">
                    <a:alpha val="75000"/>
                  </a:schemeClr>
                </a:solidFill>
              </a:rPr>
              <a:t>KPMG  ·  Disney Tax Data Management &amp; Innovation  ·  October 2026</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rtlCol="0"/>
          <a:lstStyle>
            <a:lvl1pPr indent="0" marL="0">
              <a:buNone/>
              <a:defRPr lang="en-US" sz="1400" b="1" spc="400" kern="0" dirty="0">
                <a:solidFill>
                  <a:schemeClr val="bg2"/>
                </a:solidFill>
              </a:defRPr>
            </a:lvl1pPr>
          </a:lstStyle>
          <a:p>
            <a:pPr indent="0" marL="0">
              <a:buNone/>
            </a:pP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548640" y="6428232"/>
            <a:ext cx="8229600" cy="256032"/>
          </a:xfrm>
          <a:prstGeom prst="rect">
            <a:avLst/>
          </a:prstGeom>
          <a:noFill/>
          <a:ln/>
        </p:spPr>
        <p:txBody>
          <a:bodyPr wrap="square" lIns="0" tIns="0" rIns="0" bIns="0" rtlCol="0" anchor="ctr"/>
          <a:lstStyle/>
          <a:p>
            <a:pPr indent="0" marL="0">
              <a:buNone/>
            </a:pPr>
            <a:r>
              <a:rPr lang="en-US" sz="1000" dirty="0">
                <a:solidFill>
                  <a:schemeClr val="bg1">
                    <a:alpha val="65000"/>
                  </a:schemeClr>
                </a:solidFill>
              </a:rPr>
              <a:t>KPMG  ·  Disney Tax Data Management &amp; Innovation  ·  Day Three: Shipping to production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rtlCol="0"/>
          <a:lstStyle>
            <a:lvl1pPr indent="0" marL="0">
              <a:buNone/>
              <a:defRPr lang="en-US" sz="1100" b="1" spc="300" kern="0"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4" name="Text 0"/>
          <p:cNvSpPr/>
          <p:nvPr/>
        </p:nvSpPr>
        <p:spPr>
          <a:xfrm>
            <a:off x="548640" y="6428232"/>
            <a:ext cx="8229600" cy="256032"/>
          </a:xfrm>
          <a:prstGeom prst="rect">
            <a:avLst/>
          </a:prstGeom>
          <a:noFill/>
          <a:ln/>
        </p:spPr>
        <p:txBody>
          <a:bodyPr wrap="square" lIns="0" tIns="0" rIns="0" bIns="0" rtlCol="0" anchor="ctr"/>
          <a:lstStyle/>
          <a:p>
            <a:pPr indent="0" marL="0">
              <a:buNone/>
            </a:pPr>
            <a:r>
              <a:rPr lang="en-US" sz="1000" dirty="0">
                <a:solidFill>
                  <a:schemeClr val="bg1">
                    <a:alpha val="65000"/>
                  </a:schemeClr>
                </a:solidFill>
              </a:rPr>
              <a:t>KPMG  ·  Disney Tax Data Management &amp; Innovation  ·  Day Three: Shipping to production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2.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slideLayout" Target="../slideLayouts/slideLayout2.xml"/><Relationship Id="rId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2.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slideLayout" Target="../slideLayouts/slideLayout2.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6858000" cy="320040"/>
          </a:xfrm>
          <a:prstGeom prst="rect">
            <a:avLst/>
          </a:prstGeom>
          <a:noFill/>
          <a:ln/>
        </p:spPr>
        <p:txBody>
          <a:bodyPr wrap="square" lIns="0" tIns="0" rIns="0" bIns="0" rtlCol="0" anchor="t"/>
          <a:lstStyle/>
          <a:p>
            <a:pPr algn="l" indent="0" marL="0">
              <a:buNone/>
            </a:pPr>
            <a:r>
              <a:rPr lang="en-US" sz="1400" b="1" spc="400" kern="0" dirty="0">
                <a:solidFill>
                  <a:schemeClr val="accent2"/>
                </a:solidFill>
              </a:rPr>
              <a:t>DAY THREE · SHIPPING TO PRODUCTION</a:t>
            </a:r>
            <a:endParaRPr lang="en-US" sz="1400" dirty="0"/>
          </a:p>
        </p:txBody>
      </p:sp>
      <p:sp>
        <p:nvSpPr>
          <p:cNvPr id="3" name="Text 0"/>
          <p:cNvSpPr/>
          <p:nvPr>
            <p:ph idx="101" type="title" hasCustomPrompt="1"/>
          </p:nvPr>
        </p:nvSpPr>
        <p:spPr>
          <a:xfrm>
            <a:off x="731520" y="1965960"/>
            <a:ext cx="6949440" cy="2011680"/>
          </a:xfrm>
          <a:prstGeom prst="rect">
            <a:avLst/>
          </a:prstGeom>
          <a:noFill/>
          <a:ln/>
        </p:spPr>
        <p:txBody>
          <a:bodyPr wrap="square" lIns="0" tIns="0" rIns="0" bIns="0" rtlCol="0" anchor="t"/>
          <a:lstStyle/>
          <a:p>
            <a:pPr algn="l" indent="0" marL="0">
              <a:buNone/>
            </a:pPr>
            <a:r>
              <a:rPr lang="en-US" sz="5000" b="1" dirty="0">
                <a:solidFill>
                  <a:schemeClr val="bg1"/>
                </a:solidFill>
              </a:rPr>
              <a:t>Microsoft Fabric &amp; DevOps enablement</a:t>
            </a:r>
            <a:endParaRPr lang="en-US" sz="5000" dirty="0"/>
          </a:p>
        </p:txBody>
      </p:sp>
      <p:sp>
        <p:nvSpPr>
          <p:cNvPr id="4" name="Text 0"/>
          <p:cNvSpPr/>
          <p:nvPr>
            <p:ph idx="102" type="body" hasCustomPrompt="1"/>
          </p:nvPr>
        </p:nvSpPr>
        <p:spPr>
          <a:xfrm>
            <a:off x="731520" y="4160520"/>
            <a:ext cx="6675120" cy="914400"/>
          </a:xfrm>
          <a:prstGeom prst="rect">
            <a:avLst/>
          </a:prstGeom>
          <a:noFill/>
          <a:ln/>
        </p:spPr>
        <p:txBody>
          <a:bodyPr wrap="square" lIns="0" tIns="0" rIns="0" bIns="0" rtlCol="0" anchor="t"/>
          <a:lstStyle/>
          <a:p>
            <a:pPr algn="l" indent="0" marL="0">
              <a:buNone/>
            </a:pPr>
            <a:r>
              <a:rPr lang="en-US" sz="1800" dirty="0">
                <a:solidFill>
                  <a:schemeClr val="bg2"/>
                </a:solidFill>
              </a:rPr>
              <a:t>Part 5: DevOps, Governance &amp; Deployment</a:t>
            </a:r>
            <a:endParaRPr lang="en-US" sz="1800" dirty="0"/>
          </a:p>
          <a:p>
            <a:pPr algn="l" indent="0" marL="0">
              <a:buNone/>
            </a:pPr>
            <a:r>
              <a:rPr lang="en-US" sz="1800" dirty="0">
                <a:solidFill>
                  <a:schemeClr val="bg2"/>
                </a:solidFill>
              </a:rPr>
              <a:t>Part 6: Taking Applications to Production</a:t>
            </a:r>
            <a:endParaRPr lang="en-US" sz="1800" dirty="0"/>
          </a:p>
        </p:txBody>
      </p:sp>
      <p:sp>
        <p:nvSpPr>
          <p:cNvPr id="6" name="Decorative tile 1"/>
          <p:cNvSpPr/>
          <p:nvPr/>
        </p:nvSpPr>
        <p:spPr>
          <a:xfrm>
            <a:off x="8138160" y="1554480"/>
            <a:ext cx="1051560" cy="1051560"/>
          </a:xfrm>
          <a:prstGeom prst="roundRect">
            <a:avLst>
              <a:gd name="adj" fmla="val 12174"/>
            </a:avLst>
          </a:prstGeom>
          <a:solidFill>
            <a:schemeClr val="accent2">
              <a:alpha val="60000"/>
            </a:schemeClr>
          </a:solidFill>
          <a:ln/>
        </p:spPr>
      </p:sp>
      <p:sp>
        <p:nvSpPr>
          <p:cNvPr id="7" name="Decorative tile 2"/>
          <p:cNvSpPr/>
          <p:nvPr/>
        </p:nvSpPr>
        <p:spPr>
          <a:xfrm>
            <a:off x="9326880" y="1554480"/>
            <a:ext cx="1051560" cy="1051560"/>
          </a:xfrm>
          <a:prstGeom prst="roundRect">
            <a:avLst>
              <a:gd name="adj" fmla="val 12174"/>
            </a:avLst>
          </a:prstGeom>
          <a:solidFill>
            <a:schemeClr val="accent1">
              <a:alpha val="70000"/>
            </a:schemeClr>
          </a:solidFill>
          <a:ln/>
        </p:spPr>
      </p:sp>
      <p:sp>
        <p:nvSpPr>
          <p:cNvPr id="8" name="Decorative tile 3"/>
          <p:cNvSpPr/>
          <p:nvPr/>
        </p:nvSpPr>
        <p:spPr>
          <a:xfrm>
            <a:off x="10515600" y="1554480"/>
            <a:ext cx="1051560" cy="1051560"/>
          </a:xfrm>
          <a:prstGeom prst="roundRect">
            <a:avLst>
              <a:gd name="adj" fmla="val 12174"/>
            </a:avLst>
          </a:prstGeom>
          <a:solidFill>
            <a:schemeClr val="tx2">
              <a:alpha val="45000"/>
            </a:schemeClr>
          </a:solidFill>
          <a:ln/>
        </p:spPr>
      </p:sp>
      <p:sp>
        <p:nvSpPr>
          <p:cNvPr id="9" name="Decorative tile 4"/>
          <p:cNvSpPr/>
          <p:nvPr/>
        </p:nvSpPr>
        <p:spPr>
          <a:xfrm>
            <a:off x="8138160" y="2743200"/>
            <a:ext cx="1051560" cy="1051560"/>
          </a:xfrm>
          <a:prstGeom prst="roundRect">
            <a:avLst>
              <a:gd name="adj" fmla="val 12174"/>
            </a:avLst>
          </a:prstGeom>
          <a:solidFill>
            <a:schemeClr val="tx2">
              <a:alpha val="75000"/>
            </a:schemeClr>
          </a:solidFill>
          <a:ln/>
        </p:spPr>
      </p:sp>
      <p:sp>
        <p:nvSpPr>
          <p:cNvPr id="10" name="Decorative tile 5"/>
          <p:cNvSpPr/>
          <p:nvPr/>
        </p:nvSpPr>
        <p:spPr>
          <a:xfrm>
            <a:off x="9326880" y="2743200"/>
            <a:ext cx="1051560" cy="1051560"/>
          </a:xfrm>
          <a:prstGeom prst="roundRect">
            <a:avLst>
              <a:gd name="adj" fmla="val 12174"/>
            </a:avLst>
          </a:prstGeom>
          <a:solidFill>
            <a:schemeClr val="accent2">
              <a:alpha val="45000"/>
            </a:schemeClr>
          </a:solidFill>
          <a:ln/>
        </p:spPr>
      </p:sp>
      <p:sp>
        <p:nvSpPr>
          <p:cNvPr id="11" name="Decorative tile 6"/>
          <p:cNvSpPr/>
          <p:nvPr/>
        </p:nvSpPr>
        <p:spPr>
          <a:xfrm>
            <a:off x="10515600" y="2743200"/>
            <a:ext cx="1051560" cy="1051560"/>
          </a:xfrm>
          <a:prstGeom prst="roundRect">
            <a:avLst>
              <a:gd name="adj" fmla="val 12174"/>
            </a:avLst>
          </a:prstGeom>
          <a:solidFill>
            <a:schemeClr val="accent1">
              <a:alpha val="55000"/>
            </a:schemeClr>
          </a:solidFill>
          <a:ln/>
        </p:spPr>
      </p:sp>
      <p:sp>
        <p:nvSpPr>
          <p:cNvPr id="12" name="Decorative tile 7"/>
          <p:cNvSpPr/>
          <p:nvPr/>
        </p:nvSpPr>
        <p:spPr>
          <a:xfrm>
            <a:off x="8138160" y="3931920"/>
            <a:ext cx="1051560" cy="1051560"/>
          </a:xfrm>
          <a:prstGeom prst="roundRect">
            <a:avLst>
              <a:gd name="adj" fmla="val 12174"/>
            </a:avLst>
          </a:prstGeom>
          <a:solidFill>
            <a:schemeClr val="accent1">
              <a:alpha val="40000"/>
            </a:schemeClr>
          </a:solidFill>
          <a:ln/>
        </p:spPr>
      </p:sp>
      <p:sp>
        <p:nvSpPr>
          <p:cNvPr id="13" name="Decorative tile 8"/>
          <p:cNvSpPr/>
          <p:nvPr/>
        </p:nvSpPr>
        <p:spPr>
          <a:xfrm>
            <a:off x="9326880" y="3931920"/>
            <a:ext cx="1051560" cy="1051560"/>
          </a:xfrm>
          <a:prstGeom prst="roundRect">
            <a:avLst>
              <a:gd name="adj" fmla="val 12174"/>
            </a:avLst>
          </a:prstGeom>
          <a:solidFill>
            <a:schemeClr val="tx2">
              <a:alpha val="65000"/>
            </a:schemeClr>
          </a:solidFill>
          <a:ln/>
        </p:spPr>
      </p:sp>
      <p:sp>
        <p:nvSpPr>
          <p:cNvPr id="14" name="Decorative tile 9"/>
          <p:cNvSpPr/>
          <p:nvPr/>
        </p:nvSpPr>
        <p:spPr>
          <a:xfrm>
            <a:off x="10515600" y="3931920"/>
            <a:ext cx="1051560" cy="1051560"/>
          </a:xfrm>
          <a:prstGeom prst="roundRect">
            <a:avLst>
              <a:gd name="adj" fmla="val 12174"/>
            </a:avLst>
          </a:prstGeom>
          <a:solidFill>
            <a:schemeClr val="accent2">
              <a:alpha val="70000"/>
            </a:scheme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TODAY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Day Three: Part 5 first, then the road to production</a:t>
            </a:r>
            <a:endParaRPr lang="en-US" sz="3200" dirty="0"/>
          </a:p>
        </p:txBody>
      </p:sp>
      <p:sp>
        <p:nvSpPr>
          <p:cNvPr id="5" name="Part 5 panel"/>
          <p:cNvSpPr/>
          <p:nvPr/>
        </p:nvSpPr>
        <p:spPr>
          <a:xfrm>
            <a:off x="548640" y="1783080"/>
            <a:ext cx="6949440" cy="3794760"/>
          </a:xfrm>
          <a:prstGeom prst="roundRect">
            <a:avLst>
              <a:gd name="adj" fmla="val 2892"/>
            </a:avLst>
          </a:prstGeom>
          <a:solidFill>
            <a:schemeClr val="bg2"/>
          </a:solidFill>
          <a:ln/>
        </p:spPr>
      </p:sp>
      <p:sp>
        <p:nvSpPr>
          <p:cNvPr id="6" name="Part number"/>
          <p:cNvSpPr txBox="1"/>
          <p:nvPr/>
        </p:nvSpPr>
        <p:spPr>
          <a:xfrm>
            <a:off x="822960" y="1874520"/>
            <a:ext cx="914400" cy="54864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05</a:t>
            </a:r>
            <a:endParaRPr lang="en-US" sz="3600" dirty="0"/>
          </a:p>
        </p:txBody>
      </p:sp>
      <p:sp>
        <p:nvSpPr>
          <p:cNvPr id="7" name="Part title"/>
          <p:cNvSpPr txBox="1"/>
          <p:nvPr/>
        </p:nvSpPr>
        <p:spPr>
          <a:xfrm>
            <a:off x="1737360" y="1920240"/>
            <a:ext cx="557784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DevOps, Governance &amp; Deployment</a:t>
            </a:r>
            <a:endParaRPr lang="en-US" sz="1800" dirty="0"/>
          </a:p>
        </p:txBody>
      </p:sp>
      <p:sp>
        <p:nvSpPr>
          <p:cNvPr id="8" name="Part subtitle"/>
          <p:cNvSpPr txBox="1"/>
          <p:nvPr/>
        </p:nvSpPr>
        <p:spPr>
          <a:xfrm>
            <a:off x="1737360" y="2286000"/>
            <a:ext cx="5577840" cy="274320"/>
          </a:xfrm>
          <a:prstGeom prst="rect">
            <a:avLst/>
          </a:prstGeom>
          <a:noFill/>
          <a:ln/>
        </p:spPr>
        <p:txBody>
          <a:bodyPr wrap="square" lIns="0" tIns="0" rIns="0" bIns="0" rtlCol="0" anchor="t"/>
          <a:lstStyle/>
          <a:p>
            <a:pPr indent="0" marL="0">
              <a:buNone/>
            </a:pPr>
            <a:r>
              <a:rPr lang="en-US" sz="1250" dirty="0">
                <a:solidFill>
                  <a:schemeClr val="tx1">
                    <a:alpha val="75000"/>
                  </a:schemeClr>
                </a:solidFill>
              </a:rPr>
              <a:t>How changes get shipped once solutions are live. Labs continue.</a:t>
            </a:r>
            <a:endParaRPr lang="en-US" sz="1250" dirty="0"/>
          </a:p>
        </p:txBody>
      </p:sp>
      <p:sp>
        <p:nvSpPr>
          <p:cNvPr id="9" name="Module chip"/>
          <p:cNvSpPr/>
          <p:nvPr/>
        </p:nvSpPr>
        <p:spPr>
          <a:xfrm>
            <a:off x="822960" y="2779776"/>
            <a:ext cx="402336" cy="402336"/>
          </a:xfrm>
          <a:prstGeom prst="roundRect">
            <a:avLst>
              <a:gd name="adj" fmla="val 18182"/>
            </a:avLst>
          </a:prstGeom>
          <a:solidFill>
            <a:schemeClr val="bg1"/>
          </a:solidFill>
          <a:ln/>
        </p:spPr>
      </p:sp>
      <p:sp>
        <p:nvSpPr>
          <p:cNvPr id="10" name="Module number"/>
          <p:cNvSpPr txBox="1"/>
          <p:nvPr/>
        </p:nvSpPr>
        <p:spPr>
          <a:xfrm>
            <a:off x="822960" y="2779776"/>
            <a:ext cx="402336" cy="402336"/>
          </a:xfrm>
          <a:prstGeom prst="rect">
            <a:avLst/>
          </a:prstGeom>
          <a:noFill/>
          <a:ln/>
        </p:spPr>
        <p:txBody>
          <a:bodyPr wrap="square" lIns="0" tIns="0" rIns="0" bIns="0" rtlCol="0" anchor="ctr"/>
          <a:lstStyle/>
          <a:p>
            <a:pPr algn="ctr" indent="0" marL="0">
              <a:buNone/>
            </a:pPr>
            <a:r>
              <a:rPr lang="en-US" sz="1600" b="1" dirty="0">
                <a:solidFill>
                  <a:schemeClr val="accent1"/>
                </a:solidFill>
                <a:latin typeface="+mj-lt" pitchFamily="34" charset="0"/>
                <a:ea typeface="+mj-lt" pitchFamily="34" charset="-122"/>
                <a:cs typeface="+mj-lt" pitchFamily="34" charset="-120"/>
              </a:rPr>
              <a:t>1</a:t>
            </a:r>
            <a:endParaRPr lang="en-US" sz="1600" dirty="0"/>
          </a:p>
        </p:txBody>
      </p:sp>
      <p:sp>
        <p:nvSpPr>
          <p:cNvPr id="11" name="Module name"/>
          <p:cNvSpPr txBox="1"/>
          <p:nvPr/>
        </p:nvSpPr>
        <p:spPr>
          <a:xfrm>
            <a:off x="1417320" y="2743200"/>
            <a:ext cx="5852160" cy="256032"/>
          </a:xfrm>
          <a:prstGeom prst="rect">
            <a:avLst/>
          </a:prstGeom>
          <a:noFill/>
          <a:ln/>
        </p:spPr>
        <p:txBody>
          <a:bodyPr wrap="square" lIns="0" tIns="0" rIns="0" bIns="0" rtlCol="0" anchor="t"/>
          <a:lstStyle/>
          <a:p>
            <a:pPr indent="0" marL="0">
              <a:buNone/>
            </a:pPr>
            <a:r>
              <a:rPr lang="en-US" sz="1500" b="1" dirty="0">
                <a:solidFill>
                  <a:schemeClr val="tx1"/>
                </a:solidFill>
              </a:rPr>
              <a:t>Git fundamentals</a:t>
            </a:r>
            <a:endParaRPr lang="en-US" sz="1500" dirty="0"/>
          </a:p>
        </p:txBody>
      </p:sp>
      <p:sp>
        <p:nvSpPr>
          <p:cNvPr id="12" name="Module description"/>
          <p:cNvSpPr txBox="1"/>
          <p:nvPr/>
        </p:nvSpPr>
        <p:spPr>
          <a:xfrm>
            <a:off x="1417320" y="2990088"/>
            <a:ext cx="5852160" cy="246888"/>
          </a:xfrm>
          <a:prstGeom prst="rect">
            <a:avLst/>
          </a:prstGeom>
          <a:noFill/>
          <a:ln/>
        </p:spPr>
        <p:txBody>
          <a:bodyPr wrap="square" lIns="0" tIns="0" rIns="0" bIns="0" rtlCol="0" anchor="t"/>
          <a:lstStyle/>
          <a:p>
            <a:pPr indent="0" marL="0">
              <a:buNone/>
            </a:pPr>
            <a:r>
              <a:rPr lang="en-US" sz="1200" dirty="0">
                <a:solidFill>
                  <a:schemeClr val="tx1">
                    <a:alpha val="80000"/>
                  </a:schemeClr>
                </a:solidFill>
              </a:rPr>
              <a:t>Source control and branching, assuming no prior experience</a:t>
            </a:r>
            <a:endParaRPr lang="en-US" sz="1200" dirty="0"/>
          </a:p>
        </p:txBody>
      </p:sp>
      <p:sp>
        <p:nvSpPr>
          <p:cNvPr id="13" name="Module chip"/>
          <p:cNvSpPr/>
          <p:nvPr/>
        </p:nvSpPr>
        <p:spPr>
          <a:xfrm>
            <a:off x="822960" y="3346704"/>
            <a:ext cx="402336" cy="402336"/>
          </a:xfrm>
          <a:prstGeom prst="roundRect">
            <a:avLst>
              <a:gd name="adj" fmla="val 18182"/>
            </a:avLst>
          </a:prstGeom>
          <a:solidFill>
            <a:schemeClr val="bg1"/>
          </a:solidFill>
          <a:ln/>
        </p:spPr>
      </p:sp>
      <p:sp>
        <p:nvSpPr>
          <p:cNvPr id="14" name="Module number"/>
          <p:cNvSpPr txBox="1"/>
          <p:nvPr/>
        </p:nvSpPr>
        <p:spPr>
          <a:xfrm>
            <a:off x="822960" y="3346704"/>
            <a:ext cx="402336" cy="402336"/>
          </a:xfrm>
          <a:prstGeom prst="rect">
            <a:avLst/>
          </a:prstGeom>
          <a:noFill/>
          <a:ln/>
        </p:spPr>
        <p:txBody>
          <a:bodyPr wrap="square" lIns="0" tIns="0" rIns="0" bIns="0" rtlCol="0" anchor="ctr"/>
          <a:lstStyle/>
          <a:p>
            <a:pPr algn="ctr" indent="0" marL="0">
              <a:buNone/>
            </a:pPr>
            <a:r>
              <a:rPr lang="en-US" sz="1600" b="1" dirty="0">
                <a:solidFill>
                  <a:schemeClr val="accent1"/>
                </a:solidFill>
                <a:latin typeface="+mj-lt" pitchFamily="34" charset="0"/>
                <a:ea typeface="+mj-lt" pitchFamily="34" charset="-122"/>
                <a:cs typeface="+mj-lt" pitchFamily="34" charset="-120"/>
              </a:rPr>
              <a:t>2</a:t>
            </a:r>
            <a:endParaRPr lang="en-US" sz="1600" dirty="0"/>
          </a:p>
        </p:txBody>
      </p:sp>
      <p:sp>
        <p:nvSpPr>
          <p:cNvPr id="15" name="Module name"/>
          <p:cNvSpPr txBox="1"/>
          <p:nvPr/>
        </p:nvSpPr>
        <p:spPr>
          <a:xfrm>
            <a:off x="1417320" y="3310128"/>
            <a:ext cx="5852160" cy="256032"/>
          </a:xfrm>
          <a:prstGeom prst="rect">
            <a:avLst/>
          </a:prstGeom>
          <a:noFill/>
          <a:ln/>
        </p:spPr>
        <p:txBody>
          <a:bodyPr wrap="square" lIns="0" tIns="0" rIns="0" bIns="0" rtlCol="0" anchor="t"/>
          <a:lstStyle/>
          <a:p>
            <a:pPr indent="0" marL="0">
              <a:buNone/>
            </a:pPr>
            <a:r>
              <a:rPr lang="en-US" sz="1500" b="1" dirty="0">
                <a:solidFill>
                  <a:schemeClr val="tx1"/>
                </a:solidFill>
              </a:rPr>
              <a:t>Deployment patterns</a:t>
            </a:r>
            <a:endParaRPr lang="en-US" sz="1500" dirty="0"/>
          </a:p>
        </p:txBody>
      </p:sp>
      <p:sp>
        <p:nvSpPr>
          <p:cNvPr id="16" name="Module description"/>
          <p:cNvSpPr txBox="1"/>
          <p:nvPr/>
        </p:nvSpPr>
        <p:spPr>
          <a:xfrm>
            <a:off x="1417320" y="3557016"/>
            <a:ext cx="5852160" cy="246888"/>
          </a:xfrm>
          <a:prstGeom prst="rect">
            <a:avLst/>
          </a:prstGeom>
          <a:noFill/>
          <a:ln/>
        </p:spPr>
        <p:txBody>
          <a:bodyPr wrap="square" lIns="0" tIns="0" rIns="0" bIns="0" rtlCol="0" anchor="t"/>
          <a:lstStyle/>
          <a:p>
            <a:pPr indent="0" marL="0">
              <a:buNone/>
            </a:pPr>
            <a:r>
              <a:rPr lang="en-US" sz="1200" dirty="0">
                <a:solidFill>
                  <a:schemeClr val="tx1">
                    <a:alpha val="80000"/>
                  </a:schemeClr>
                </a:solidFill>
              </a:rPr>
              <a:t>Environments, pipelines, and promoting between workspaces</a:t>
            </a:r>
            <a:endParaRPr lang="en-US" sz="1200" dirty="0"/>
          </a:p>
        </p:txBody>
      </p:sp>
      <p:sp>
        <p:nvSpPr>
          <p:cNvPr id="17" name="Module chip"/>
          <p:cNvSpPr/>
          <p:nvPr/>
        </p:nvSpPr>
        <p:spPr>
          <a:xfrm>
            <a:off x="822960" y="3913632"/>
            <a:ext cx="402336" cy="402336"/>
          </a:xfrm>
          <a:prstGeom prst="roundRect">
            <a:avLst>
              <a:gd name="adj" fmla="val 18182"/>
            </a:avLst>
          </a:prstGeom>
          <a:solidFill>
            <a:schemeClr val="bg1"/>
          </a:solidFill>
          <a:ln/>
        </p:spPr>
      </p:sp>
      <p:sp>
        <p:nvSpPr>
          <p:cNvPr id="18" name="Module number"/>
          <p:cNvSpPr txBox="1"/>
          <p:nvPr/>
        </p:nvSpPr>
        <p:spPr>
          <a:xfrm>
            <a:off x="822960" y="3913632"/>
            <a:ext cx="402336" cy="402336"/>
          </a:xfrm>
          <a:prstGeom prst="rect">
            <a:avLst/>
          </a:prstGeom>
          <a:noFill/>
          <a:ln/>
        </p:spPr>
        <p:txBody>
          <a:bodyPr wrap="square" lIns="0" tIns="0" rIns="0" bIns="0" rtlCol="0" anchor="ctr"/>
          <a:lstStyle/>
          <a:p>
            <a:pPr algn="ctr" indent="0" marL="0">
              <a:buNone/>
            </a:pPr>
            <a:r>
              <a:rPr lang="en-US" sz="1600" b="1" dirty="0">
                <a:solidFill>
                  <a:schemeClr val="accent1"/>
                </a:solidFill>
                <a:latin typeface="+mj-lt" pitchFamily="34" charset="0"/>
                <a:ea typeface="+mj-lt" pitchFamily="34" charset="-122"/>
                <a:cs typeface="+mj-lt" pitchFamily="34" charset="-120"/>
              </a:rPr>
              <a:t>3</a:t>
            </a:r>
            <a:endParaRPr lang="en-US" sz="1600" dirty="0"/>
          </a:p>
        </p:txBody>
      </p:sp>
      <p:sp>
        <p:nvSpPr>
          <p:cNvPr id="19" name="Module name"/>
          <p:cNvSpPr txBox="1"/>
          <p:nvPr/>
        </p:nvSpPr>
        <p:spPr>
          <a:xfrm>
            <a:off x="1417320" y="3877056"/>
            <a:ext cx="5852160" cy="256032"/>
          </a:xfrm>
          <a:prstGeom prst="rect">
            <a:avLst/>
          </a:prstGeom>
          <a:noFill/>
          <a:ln/>
        </p:spPr>
        <p:txBody>
          <a:bodyPr wrap="square" lIns="0" tIns="0" rIns="0" bIns="0" rtlCol="0" anchor="t"/>
          <a:lstStyle/>
          <a:p>
            <a:pPr indent="0" marL="0">
              <a:buNone/>
            </a:pPr>
            <a:r>
              <a:rPr lang="en-US" sz="1500" b="1" dirty="0">
                <a:solidFill>
                  <a:schemeClr val="tx1"/>
                </a:solidFill>
              </a:rPr>
              <a:t>Governance in the delivery loop</a:t>
            </a:r>
            <a:endParaRPr lang="en-US" sz="1500" dirty="0"/>
          </a:p>
        </p:txBody>
      </p:sp>
      <p:sp>
        <p:nvSpPr>
          <p:cNvPr id="20" name="Module description"/>
          <p:cNvSpPr txBox="1"/>
          <p:nvPr/>
        </p:nvSpPr>
        <p:spPr>
          <a:xfrm>
            <a:off x="1417320" y="4123944"/>
            <a:ext cx="5852160" cy="246888"/>
          </a:xfrm>
          <a:prstGeom prst="rect">
            <a:avLst/>
          </a:prstGeom>
          <a:noFill/>
          <a:ln/>
        </p:spPr>
        <p:txBody>
          <a:bodyPr wrap="square" lIns="0" tIns="0" rIns="0" bIns="0" rtlCol="0" anchor="t"/>
          <a:lstStyle/>
          <a:p>
            <a:pPr indent="0" marL="0">
              <a:buNone/>
            </a:pPr>
            <a:r>
              <a:rPr lang="en-US" sz="1200" dirty="0">
                <a:solidFill>
                  <a:schemeClr val="tx1">
                    <a:alpha val="80000"/>
                  </a:schemeClr>
                </a:solidFill>
              </a:rPr>
              <a:t>Rails, gates, roles and evidence around every change</a:t>
            </a:r>
            <a:endParaRPr lang="en-US" sz="1200" dirty="0"/>
          </a:p>
        </p:txBody>
      </p:sp>
      <p:sp>
        <p:nvSpPr>
          <p:cNvPr id="21" name="Module chip"/>
          <p:cNvSpPr/>
          <p:nvPr/>
        </p:nvSpPr>
        <p:spPr>
          <a:xfrm>
            <a:off x="822960" y="4480560"/>
            <a:ext cx="402336" cy="402336"/>
          </a:xfrm>
          <a:prstGeom prst="roundRect">
            <a:avLst>
              <a:gd name="adj" fmla="val 18182"/>
            </a:avLst>
          </a:prstGeom>
          <a:solidFill>
            <a:schemeClr val="bg1"/>
          </a:solidFill>
          <a:ln/>
        </p:spPr>
      </p:sp>
      <p:sp>
        <p:nvSpPr>
          <p:cNvPr id="22" name="Module number"/>
          <p:cNvSpPr txBox="1"/>
          <p:nvPr/>
        </p:nvSpPr>
        <p:spPr>
          <a:xfrm>
            <a:off x="822960" y="4480560"/>
            <a:ext cx="402336" cy="402336"/>
          </a:xfrm>
          <a:prstGeom prst="rect">
            <a:avLst/>
          </a:prstGeom>
          <a:noFill/>
          <a:ln/>
        </p:spPr>
        <p:txBody>
          <a:bodyPr wrap="square" lIns="0" tIns="0" rIns="0" bIns="0" rtlCol="0" anchor="ctr"/>
          <a:lstStyle/>
          <a:p>
            <a:pPr algn="ctr" indent="0" marL="0">
              <a:buNone/>
            </a:pPr>
            <a:r>
              <a:rPr lang="en-US" sz="1600" b="1" dirty="0">
                <a:solidFill>
                  <a:schemeClr val="accent1"/>
                </a:solidFill>
                <a:latin typeface="+mj-lt" pitchFamily="34" charset="0"/>
                <a:ea typeface="+mj-lt" pitchFamily="34" charset="-122"/>
                <a:cs typeface="+mj-lt" pitchFamily="34" charset="-120"/>
              </a:rPr>
              <a:t>4</a:t>
            </a:r>
            <a:endParaRPr lang="en-US" sz="1600" dirty="0"/>
          </a:p>
        </p:txBody>
      </p:sp>
      <p:sp>
        <p:nvSpPr>
          <p:cNvPr id="23" name="Module name"/>
          <p:cNvSpPr txBox="1"/>
          <p:nvPr/>
        </p:nvSpPr>
        <p:spPr>
          <a:xfrm>
            <a:off x="1417320" y="4443984"/>
            <a:ext cx="5852160" cy="256032"/>
          </a:xfrm>
          <a:prstGeom prst="rect">
            <a:avLst/>
          </a:prstGeom>
          <a:noFill/>
          <a:ln/>
        </p:spPr>
        <p:txBody>
          <a:bodyPr wrap="square" lIns="0" tIns="0" rIns="0" bIns="0" rtlCol="0" anchor="t"/>
          <a:lstStyle/>
          <a:p>
            <a:pPr indent="0" marL="0">
              <a:buNone/>
            </a:pPr>
            <a:r>
              <a:rPr lang="en-US" sz="1500" b="1" dirty="0">
                <a:solidFill>
                  <a:schemeClr val="tx1"/>
                </a:solidFill>
              </a:rPr>
              <a:t>AI in DevOps</a:t>
            </a:r>
            <a:endParaRPr lang="en-US" sz="1500" dirty="0"/>
          </a:p>
        </p:txBody>
      </p:sp>
      <p:sp>
        <p:nvSpPr>
          <p:cNvPr id="24" name="Module description"/>
          <p:cNvSpPr txBox="1"/>
          <p:nvPr/>
        </p:nvSpPr>
        <p:spPr>
          <a:xfrm>
            <a:off x="1417320" y="4690872"/>
            <a:ext cx="5852160" cy="246888"/>
          </a:xfrm>
          <a:prstGeom prst="rect">
            <a:avLst/>
          </a:prstGeom>
          <a:noFill/>
          <a:ln/>
        </p:spPr>
        <p:txBody>
          <a:bodyPr wrap="square" lIns="0" tIns="0" rIns="0" bIns="0" rtlCol="0" anchor="t"/>
          <a:lstStyle/>
          <a:p>
            <a:pPr indent="0" marL="0">
              <a:buNone/>
            </a:pPr>
            <a:r>
              <a:rPr lang="en-US" sz="1200" dirty="0">
                <a:solidFill>
                  <a:schemeClr val="tx1">
                    <a:alpha val="80000"/>
                  </a:schemeClr>
                </a:solidFill>
              </a:rPr>
              <a:t>Where assistants help, how to review them, and the guardrails</a:t>
            </a:r>
            <a:endParaRPr lang="en-US" sz="1200" dirty="0"/>
          </a:p>
        </p:txBody>
      </p:sp>
      <p:sp>
        <p:nvSpPr>
          <p:cNvPr id="25" name="Module chip"/>
          <p:cNvSpPr/>
          <p:nvPr/>
        </p:nvSpPr>
        <p:spPr>
          <a:xfrm>
            <a:off x="822960" y="5047488"/>
            <a:ext cx="402336" cy="402336"/>
          </a:xfrm>
          <a:prstGeom prst="roundRect">
            <a:avLst>
              <a:gd name="adj" fmla="val 18182"/>
            </a:avLst>
          </a:prstGeom>
          <a:solidFill>
            <a:schemeClr val="accent3"/>
          </a:solidFill>
          <a:ln/>
        </p:spPr>
      </p:sp>
      <p:sp>
        <p:nvSpPr>
          <p:cNvPr id="26" name="Module number"/>
          <p:cNvSpPr txBox="1"/>
          <p:nvPr/>
        </p:nvSpPr>
        <p:spPr>
          <a:xfrm>
            <a:off x="822960" y="5047488"/>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5</a:t>
            </a:r>
            <a:endParaRPr lang="en-US" sz="1600" dirty="0"/>
          </a:p>
        </p:txBody>
      </p:sp>
      <p:sp>
        <p:nvSpPr>
          <p:cNvPr id="27" name="Module name"/>
          <p:cNvSpPr txBox="1"/>
          <p:nvPr/>
        </p:nvSpPr>
        <p:spPr>
          <a:xfrm>
            <a:off x="1417320" y="5010912"/>
            <a:ext cx="5852160" cy="256032"/>
          </a:xfrm>
          <a:prstGeom prst="rect">
            <a:avLst/>
          </a:prstGeom>
          <a:noFill/>
          <a:ln/>
        </p:spPr>
        <p:txBody>
          <a:bodyPr wrap="square" lIns="0" tIns="0" rIns="0" bIns="0" rtlCol="0" anchor="t"/>
          <a:lstStyle/>
          <a:p>
            <a:pPr indent="0" marL="0">
              <a:buNone/>
            </a:pPr>
            <a:r>
              <a:rPr lang="en-US" sz="1500" b="1" dirty="0">
                <a:solidFill>
                  <a:schemeClr val="tx1"/>
                </a:solidFill>
              </a:rPr>
              <a:t>Lab C: ship what you built</a:t>
            </a:r>
            <a:endParaRPr lang="en-US" sz="1500" dirty="0"/>
          </a:p>
        </p:txBody>
      </p:sp>
      <p:sp>
        <p:nvSpPr>
          <p:cNvPr id="28" name="Module description"/>
          <p:cNvSpPr txBox="1"/>
          <p:nvPr/>
        </p:nvSpPr>
        <p:spPr>
          <a:xfrm>
            <a:off x="1417320" y="5257800"/>
            <a:ext cx="5852160" cy="246888"/>
          </a:xfrm>
          <a:prstGeom prst="rect">
            <a:avLst/>
          </a:prstGeom>
          <a:noFill/>
          <a:ln/>
        </p:spPr>
        <p:txBody>
          <a:bodyPr wrap="square" lIns="0" tIns="0" rIns="0" bIns="0" rtlCol="0" anchor="t"/>
          <a:lstStyle/>
          <a:p>
            <a:pPr indent="0" marL="0">
              <a:buNone/>
            </a:pPr>
            <a:r>
              <a:rPr lang="en-US" sz="1200" dirty="0">
                <a:solidFill>
                  <a:schemeClr val="tx1">
                    <a:alpha val="80000"/>
                  </a:schemeClr>
                </a:solidFill>
              </a:rPr>
              <a:t>Put the lab workflow under source control and promote it</a:t>
            </a:r>
            <a:endParaRPr lang="en-US" sz="1200" dirty="0"/>
          </a:p>
        </p:txBody>
      </p:sp>
      <p:sp>
        <p:nvSpPr>
          <p:cNvPr id="29" name="Part 6 panel"/>
          <p:cNvSpPr/>
          <p:nvPr/>
        </p:nvSpPr>
        <p:spPr>
          <a:xfrm>
            <a:off x="7680960" y="1783080"/>
            <a:ext cx="3959352" cy="3794760"/>
          </a:xfrm>
          <a:prstGeom prst="roundRect">
            <a:avLst>
              <a:gd name="adj" fmla="val 2892"/>
            </a:avLst>
          </a:prstGeom>
          <a:solidFill>
            <a:schemeClr val="tx1"/>
          </a:solidFill>
          <a:ln/>
        </p:spPr>
      </p:sp>
      <p:sp>
        <p:nvSpPr>
          <p:cNvPr id="30" name="Next label"/>
          <p:cNvSpPr txBox="1"/>
          <p:nvPr/>
        </p:nvSpPr>
        <p:spPr>
          <a:xfrm>
            <a:off x="7909560" y="1920240"/>
            <a:ext cx="3474720" cy="228600"/>
          </a:xfrm>
          <a:prstGeom prst="rect">
            <a:avLst/>
          </a:prstGeom>
          <a:noFill/>
          <a:ln/>
        </p:spPr>
        <p:txBody>
          <a:bodyPr wrap="square" lIns="0" tIns="0" rIns="0" bIns="0" rtlCol="0" anchor="t"/>
          <a:lstStyle/>
          <a:p>
            <a:pPr indent="0" marL="0">
              <a:buNone/>
            </a:pPr>
            <a:r>
              <a:rPr lang="en-US" sz="1000" b="1" spc="300" kern="0" dirty="0">
                <a:solidFill>
                  <a:schemeClr val="accent2"/>
                </a:solidFill>
              </a:rPr>
              <a:t>LATER TODAY</a:t>
            </a:r>
            <a:endParaRPr lang="en-US" sz="1000" dirty="0"/>
          </a:p>
        </p:txBody>
      </p:sp>
      <p:sp>
        <p:nvSpPr>
          <p:cNvPr id="31" name="Part 6 number"/>
          <p:cNvSpPr txBox="1"/>
          <p:nvPr/>
        </p:nvSpPr>
        <p:spPr>
          <a:xfrm>
            <a:off x="7909560" y="2194560"/>
            <a:ext cx="914400" cy="548640"/>
          </a:xfrm>
          <a:prstGeom prst="rect">
            <a:avLst/>
          </a:prstGeom>
          <a:noFill/>
          <a:ln/>
        </p:spPr>
        <p:txBody>
          <a:bodyPr wrap="square" lIns="0" tIns="0" rIns="0" bIns="0" rtlCol="0" anchor="t"/>
          <a:lstStyle/>
          <a:p>
            <a:pPr indent="0" marL="0">
              <a:buNone/>
            </a:pPr>
            <a:r>
              <a:rPr lang="en-US" sz="3600" b="1" dirty="0">
                <a:solidFill>
                  <a:schemeClr val="accent2"/>
                </a:solidFill>
                <a:latin typeface="+mj-lt" pitchFamily="34" charset="0"/>
                <a:ea typeface="+mj-lt" pitchFamily="34" charset="-122"/>
                <a:cs typeface="+mj-lt" pitchFamily="34" charset="-120"/>
              </a:rPr>
              <a:t>06</a:t>
            </a:r>
            <a:endParaRPr lang="en-US" sz="3600" dirty="0"/>
          </a:p>
        </p:txBody>
      </p:sp>
      <p:sp>
        <p:nvSpPr>
          <p:cNvPr id="32" name="Part 6 title"/>
          <p:cNvSpPr txBox="1"/>
          <p:nvPr/>
        </p:nvSpPr>
        <p:spPr>
          <a:xfrm>
            <a:off x="7909560" y="2788920"/>
            <a:ext cx="3474720" cy="594360"/>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Taking Applications to Production</a:t>
            </a:r>
            <a:endParaRPr lang="en-US" sz="1600" dirty="0"/>
          </a:p>
        </p:txBody>
      </p:sp>
      <p:sp>
        <p:nvSpPr>
          <p:cNvPr id="33" name="Part 6 topics"/>
          <p:cNvSpPr txBox="1"/>
          <p:nvPr/>
        </p:nvSpPr>
        <p:spPr>
          <a:xfrm>
            <a:off x="7909560" y="3520440"/>
            <a:ext cx="347472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The Paved Path</a:t>
            </a:r>
            <a:endParaRPr lang="en-US" sz="1400" dirty="0"/>
          </a:p>
          <a:p>
            <a:pPr marL="342900" indent="-342900">
              <a:spcAft>
                <a:spcPts val="600"/>
              </a:spcAft>
              <a:buSzPct val="100000"/>
              <a:buChar char="•"/>
            </a:pPr>
            <a:r>
              <a:rPr lang="en-US" sz="1400" dirty="0">
                <a:solidFill>
                  <a:schemeClr val="bg1"/>
                </a:solidFill>
              </a:rPr>
              <a:t>Who you need, and when</a:t>
            </a:r>
            <a:endParaRPr lang="en-US" sz="1400" dirty="0"/>
          </a:p>
          <a:p>
            <a:pPr marL="342900" indent="-342900">
              <a:spcAft>
                <a:spcPts val="600"/>
              </a:spcAft>
              <a:buSzPct val="100000"/>
              <a:buChar char="•"/>
            </a:pPr>
            <a:r>
              <a:rPr lang="en-US" sz="1400" dirty="0">
                <a:solidFill>
                  <a:schemeClr val="bg1"/>
                </a:solidFill>
              </a:rPr>
              <a:t>The long poles</a:t>
            </a:r>
            <a:endParaRPr lang="en-US" sz="1400" dirty="0"/>
          </a:p>
          <a:p>
            <a:pPr marL="342900" indent="-342900">
              <a:spcAft>
                <a:spcPts val="600"/>
              </a:spcAft>
              <a:buSzPct val="100000"/>
              <a:buChar char="•"/>
            </a:pPr>
            <a:r>
              <a:rPr lang="en-US" sz="1400" dirty="0">
                <a:solidFill>
                  <a:schemeClr val="bg1"/>
                </a:solidFill>
              </a:rPr>
              <a:t>UAT through to go-live</a:t>
            </a:r>
            <a:endParaRPr lang="en-US" sz="1400" dirty="0"/>
          </a:p>
        </p:txBody>
      </p:sp>
      <p:sp>
        <p:nvSpPr>
          <p:cNvPr id="34" name="Takeaway"/>
          <p:cNvSpPr txBox="1"/>
          <p:nvPr/>
        </p:nvSpPr>
        <p:spPr>
          <a:xfrm>
            <a:off x="548640" y="5715000"/>
            <a:ext cx="11094415" cy="457200"/>
          </a:xfrm>
          <a:prstGeom prst="roundRect">
            <a:avLst>
              <a:gd name="adj" fmla="val 20000"/>
            </a:avLst>
          </a:prstGeom>
          <a:solidFill>
            <a:schemeClr val="tx1"/>
          </a:solidFill>
          <a:ln/>
        </p:spPr>
        <p:txBody>
          <a:bodyPr wrap="square" lIns="279400" tIns="0" rIns="279400" bIns="0" rtlCol="0" anchor="ctr"/>
          <a:lstStyle/>
          <a:p>
            <a:pPr indent="0" marL="0">
              <a:buNone/>
            </a:pPr>
            <a:r>
              <a:rPr lang="en-US" sz="1600" i="1" dirty="0">
                <a:solidFill>
                  <a:schemeClr val="bg1"/>
                </a:solidFill>
              </a:rPr>
              <a:t>Part 5 is how a change is made and moved. Part 6 is who has to say yes.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TODAY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Yesterday you built it. Today it gets a history and a route</a:t>
            </a:r>
            <a:endParaRPr lang="en-US" sz="3200" dirty="0"/>
          </a:p>
        </p:txBody>
      </p:sp>
      <p:sp>
        <p:nvSpPr>
          <p:cNvPr id="5" name="Day two header"/>
          <p:cNvSpPr txBox="1"/>
          <p:nvPr/>
        </p:nvSpPr>
        <p:spPr>
          <a:xfrm>
            <a:off x="548640" y="1783080"/>
            <a:ext cx="3657600" cy="228600"/>
          </a:xfrm>
          <a:prstGeom prst="rect">
            <a:avLst/>
          </a:prstGeom>
          <a:noFill/>
          <a:ln/>
        </p:spPr>
        <p:txBody>
          <a:bodyPr wrap="square" lIns="0" tIns="0" rIns="0" bIns="0" rtlCol="0" anchor="t"/>
          <a:lstStyle/>
          <a:p>
            <a:pPr indent="0" marL="0">
              <a:buNone/>
            </a:pPr>
            <a:r>
              <a:rPr lang="en-US" sz="1100" b="1" spc="300" kern="0" dirty="0">
                <a:solidFill>
                  <a:schemeClr val="tx2"/>
                </a:solidFill>
              </a:rPr>
              <a:t>DAY TWO: WHAT YOU BUILT</a:t>
            </a:r>
            <a:endParaRPr lang="en-US" sz="1100" dirty="0"/>
          </a:p>
        </p:txBody>
      </p:sp>
      <p:sp>
        <p:nvSpPr>
          <p:cNvPr id="6" name="Day three header"/>
          <p:cNvSpPr txBox="1"/>
          <p:nvPr/>
        </p:nvSpPr>
        <p:spPr>
          <a:xfrm>
            <a:off x="6583680" y="1783080"/>
            <a:ext cx="4572000" cy="228600"/>
          </a:xfrm>
          <a:prstGeom prst="rect">
            <a:avLst/>
          </a:prstGeom>
          <a:noFill/>
          <a:ln/>
        </p:spPr>
        <p:txBody>
          <a:bodyPr wrap="square" lIns="0" tIns="0" rIns="0" bIns="0" rtlCol="0" anchor="t"/>
          <a:lstStyle/>
          <a:p>
            <a:pPr indent="0" marL="0">
              <a:buNone/>
            </a:pPr>
            <a:r>
              <a:rPr lang="en-US" sz="1100" b="1" spc="300" kern="0" dirty="0">
                <a:solidFill>
                  <a:schemeClr val="accent2"/>
                </a:solidFill>
              </a:rPr>
              <a:t>DAY THREE: WHAT HAPPENS TO IT</a:t>
            </a:r>
            <a:endParaRPr lang="en-US" sz="1100" dirty="0"/>
          </a:p>
        </p:txBody>
      </p:sp>
      <p:sp>
        <p:nvSpPr>
          <p:cNvPr id="7" name="Day two item 1"/>
          <p:cNvSpPr/>
          <p:nvPr/>
        </p:nvSpPr>
        <p:spPr>
          <a:xfrm>
            <a:off x="548640" y="2103120"/>
            <a:ext cx="5394960" cy="566928"/>
          </a:xfrm>
          <a:prstGeom prst="roundRect">
            <a:avLst>
              <a:gd name="adj" fmla="val 19355"/>
            </a:avLst>
          </a:prstGeom>
          <a:solidFill>
            <a:schemeClr val="bg2"/>
          </a:solidFill>
          <a:ln/>
        </p:spPr>
      </p:sp>
      <p:sp>
        <p:nvSpPr>
          <p:cNvPr id="8" name="Day two text"/>
          <p:cNvSpPr txBox="1"/>
          <p:nvPr/>
        </p:nvSpPr>
        <p:spPr>
          <a:xfrm>
            <a:off x="777240" y="2103120"/>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A notebook with a parameter cell</a:t>
            </a:r>
            <a:endParaRPr lang="en-US" sz="1500" dirty="0"/>
          </a:p>
        </p:txBody>
      </p:sp>
      <p:sp>
        <p:nvSpPr>
          <p:cNvPr id="9" name="Bridge arrow 1"/>
          <p:cNvSpPr/>
          <p:nvPr/>
        </p:nvSpPr>
        <p:spPr>
          <a:xfrm>
            <a:off x="6053328" y="2212848"/>
            <a:ext cx="365760" cy="347472"/>
          </a:xfrm>
          <a:prstGeom prst="rightArrow">
            <a:avLst/>
          </a:prstGeom>
          <a:solidFill>
            <a:schemeClr val="accent5"/>
          </a:solidFill>
          <a:ln/>
        </p:spPr>
      </p:sp>
      <p:sp>
        <p:nvSpPr>
          <p:cNvPr id="10" name="Day three item 1"/>
          <p:cNvSpPr/>
          <p:nvPr/>
        </p:nvSpPr>
        <p:spPr>
          <a:xfrm>
            <a:off x="6583680" y="2103120"/>
            <a:ext cx="5056632" cy="566928"/>
          </a:xfrm>
          <a:prstGeom prst="roundRect">
            <a:avLst>
              <a:gd name="adj" fmla="val 19355"/>
            </a:avLst>
          </a:prstGeom>
          <a:solidFill>
            <a:schemeClr val="accent2">
              <a:alpha val="20000"/>
            </a:schemeClr>
          </a:solidFill>
          <a:ln/>
        </p:spPr>
      </p:sp>
      <p:sp>
        <p:nvSpPr>
          <p:cNvPr id="11" name="Day three text"/>
          <p:cNvSpPr txBox="1"/>
          <p:nvPr/>
        </p:nvSpPr>
        <p:spPr>
          <a:xfrm>
            <a:off x="6812280" y="2103120"/>
            <a:ext cx="4663440" cy="566928"/>
          </a:xfrm>
          <a:prstGeom prst="rect">
            <a:avLst/>
          </a:prstGeom>
          <a:noFill/>
          <a:ln/>
        </p:spPr>
        <p:txBody>
          <a:bodyPr wrap="square" lIns="0" tIns="0" rIns="0" bIns="0" rtlCol="0" anchor="ctr"/>
          <a:lstStyle/>
          <a:p>
            <a:pPr indent="0" marL="0">
              <a:buNone/>
            </a:pPr>
            <a:r>
              <a:rPr lang="en-US" sz="1350" dirty="0">
                <a:solidFill>
                  <a:schemeClr val="tx1"/>
                </a:solidFill>
              </a:rPr>
              <a:t>A file in Git, changed by pull request</a:t>
            </a:r>
            <a:endParaRPr lang="en-US" sz="1350" dirty="0"/>
          </a:p>
        </p:txBody>
      </p:sp>
      <p:sp>
        <p:nvSpPr>
          <p:cNvPr id="12" name="Day two item 2"/>
          <p:cNvSpPr/>
          <p:nvPr/>
        </p:nvSpPr>
        <p:spPr>
          <a:xfrm>
            <a:off x="548640" y="2779776"/>
            <a:ext cx="5394960" cy="566928"/>
          </a:xfrm>
          <a:prstGeom prst="roundRect">
            <a:avLst>
              <a:gd name="adj" fmla="val 19355"/>
            </a:avLst>
          </a:prstGeom>
          <a:solidFill>
            <a:schemeClr val="bg2"/>
          </a:solidFill>
          <a:ln/>
        </p:spPr>
      </p:sp>
      <p:sp>
        <p:nvSpPr>
          <p:cNvPr id="13" name="Day two text"/>
          <p:cNvSpPr txBox="1"/>
          <p:nvPr/>
        </p:nvSpPr>
        <p:spPr>
          <a:xfrm>
            <a:off x="777240" y="2779776"/>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A pipeline with two parameters</a:t>
            </a:r>
            <a:endParaRPr lang="en-US" sz="1500" dirty="0"/>
          </a:p>
        </p:txBody>
      </p:sp>
      <p:sp>
        <p:nvSpPr>
          <p:cNvPr id="14" name="Bridge arrow 2"/>
          <p:cNvSpPr/>
          <p:nvPr/>
        </p:nvSpPr>
        <p:spPr>
          <a:xfrm>
            <a:off x="6053328" y="2889504"/>
            <a:ext cx="365760" cy="347472"/>
          </a:xfrm>
          <a:prstGeom prst="rightArrow">
            <a:avLst/>
          </a:prstGeom>
          <a:solidFill>
            <a:schemeClr val="accent5"/>
          </a:solidFill>
          <a:ln/>
        </p:spPr>
      </p:sp>
      <p:sp>
        <p:nvSpPr>
          <p:cNvPr id="15" name="Day three item 2"/>
          <p:cNvSpPr/>
          <p:nvPr/>
        </p:nvSpPr>
        <p:spPr>
          <a:xfrm>
            <a:off x="6583680" y="2779776"/>
            <a:ext cx="5056632" cy="566928"/>
          </a:xfrm>
          <a:prstGeom prst="roundRect">
            <a:avLst>
              <a:gd name="adj" fmla="val 19355"/>
            </a:avLst>
          </a:prstGeom>
          <a:solidFill>
            <a:schemeClr val="accent2">
              <a:alpha val="20000"/>
            </a:schemeClr>
          </a:solidFill>
          <a:ln/>
        </p:spPr>
      </p:sp>
      <p:sp>
        <p:nvSpPr>
          <p:cNvPr id="16" name="Day three text"/>
          <p:cNvSpPr txBox="1"/>
          <p:nvPr/>
        </p:nvSpPr>
        <p:spPr>
          <a:xfrm>
            <a:off x="6812280" y="2779776"/>
            <a:ext cx="4663440" cy="566928"/>
          </a:xfrm>
          <a:prstGeom prst="rect">
            <a:avLst/>
          </a:prstGeom>
          <a:noFill/>
          <a:ln/>
        </p:spPr>
        <p:txBody>
          <a:bodyPr wrap="square" lIns="0" tIns="0" rIns="0" bIns="0" rtlCol="0" anchor="ctr"/>
          <a:lstStyle/>
          <a:p>
            <a:pPr indent="0" marL="0">
              <a:buNone/>
            </a:pPr>
            <a:r>
              <a:rPr lang="en-US" sz="1350" dirty="0">
                <a:solidFill>
                  <a:schemeClr val="tx1"/>
                </a:solidFill>
              </a:rPr>
              <a:t>Promoted from DEV to TEST without hand-edited IDs</a:t>
            </a:r>
            <a:endParaRPr lang="en-US" sz="1350" dirty="0"/>
          </a:p>
        </p:txBody>
      </p:sp>
      <p:sp>
        <p:nvSpPr>
          <p:cNvPr id="17" name="Day two item 3"/>
          <p:cNvSpPr/>
          <p:nvPr/>
        </p:nvSpPr>
        <p:spPr>
          <a:xfrm>
            <a:off x="548640" y="3456432"/>
            <a:ext cx="5394960" cy="566928"/>
          </a:xfrm>
          <a:prstGeom prst="roundRect">
            <a:avLst>
              <a:gd name="adj" fmla="val 19355"/>
            </a:avLst>
          </a:prstGeom>
          <a:solidFill>
            <a:schemeClr val="bg2"/>
          </a:solidFill>
          <a:ln/>
        </p:spPr>
      </p:sp>
      <p:sp>
        <p:nvSpPr>
          <p:cNvPr id="18" name="Day two text"/>
          <p:cNvSpPr txBox="1"/>
          <p:nvPr/>
        </p:nvSpPr>
        <p:spPr>
          <a:xfrm>
            <a:off x="777240" y="3456432"/>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A gate and a run log</a:t>
            </a:r>
            <a:endParaRPr lang="en-US" sz="1500" dirty="0"/>
          </a:p>
        </p:txBody>
      </p:sp>
      <p:sp>
        <p:nvSpPr>
          <p:cNvPr id="19" name="Bridge arrow 3"/>
          <p:cNvSpPr/>
          <p:nvPr/>
        </p:nvSpPr>
        <p:spPr>
          <a:xfrm>
            <a:off x="6053328" y="3566160"/>
            <a:ext cx="365760" cy="347472"/>
          </a:xfrm>
          <a:prstGeom prst="rightArrow">
            <a:avLst/>
          </a:prstGeom>
          <a:solidFill>
            <a:schemeClr val="accent5"/>
          </a:solidFill>
          <a:ln/>
        </p:spPr>
      </p:sp>
      <p:sp>
        <p:nvSpPr>
          <p:cNvPr id="20" name="Day three item 3"/>
          <p:cNvSpPr/>
          <p:nvPr/>
        </p:nvSpPr>
        <p:spPr>
          <a:xfrm>
            <a:off x="6583680" y="3456432"/>
            <a:ext cx="5056632" cy="566928"/>
          </a:xfrm>
          <a:prstGeom prst="roundRect">
            <a:avLst>
              <a:gd name="adj" fmla="val 19355"/>
            </a:avLst>
          </a:prstGeom>
          <a:solidFill>
            <a:schemeClr val="accent2">
              <a:alpha val="20000"/>
            </a:schemeClr>
          </a:solidFill>
          <a:ln/>
        </p:spPr>
      </p:sp>
      <p:sp>
        <p:nvSpPr>
          <p:cNvPr id="21" name="Day three text"/>
          <p:cNvSpPr txBox="1"/>
          <p:nvPr/>
        </p:nvSpPr>
        <p:spPr>
          <a:xfrm>
            <a:off x="6812280" y="3456432"/>
            <a:ext cx="4663440" cy="566928"/>
          </a:xfrm>
          <a:prstGeom prst="rect">
            <a:avLst/>
          </a:prstGeom>
          <a:noFill/>
          <a:ln/>
        </p:spPr>
        <p:txBody>
          <a:bodyPr wrap="square" lIns="0" tIns="0" rIns="0" bIns="0" rtlCol="0" anchor="ctr"/>
          <a:lstStyle/>
          <a:p>
            <a:pPr indent="0" marL="0">
              <a:buNone/>
            </a:pPr>
            <a:r>
              <a:rPr lang="en-US" sz="1350" dirty="0">
                <a:solidFill>
                  <a:schemeClr val="tx1"/>
                </a:solidFill>
              </a:rPr>
              <a:t>Rails before the merge, a smoke check after the deploy</a:t>
            </a:r>
            <a:endParaRPr lang="en-US" sz="1350" dirty="0"/>
          </a:p>
        </p:txBody>
      </p:sp>
      <p:sp>
        <p:nvSpPr>
          <p:cNvPr id="22" name="Day two item 4"/>
          <p:cNvSpPr/>
          <p:nvPr/>
        </p:nvSpPr>
        <p:spPr>
          <a:xfrm>
            <a:off x="548640" y="4133088"/>
            <a:ext cx="5394960" cy="566928"/>
          </a:xfrm>
          <a:prstGeom prst="roundRect">
            <a:avLst>
              <a:gd name="adj" fmla="val 19355"/>
            </a:avLst>
          </a:prstGeom>
          <a:solidFill>
            <a:schemeClr val="bg2"/>
          </a:solidFill>
          <a:ln/>
        </p:spPr>
      </p:sp>
      <p:sp>
        <p:nvSpPr>
          <p:cNvPr id="23" name="Day two text"/>
          <p:cNvSpPr txBox="1"/>
          <p:nvPr/>
        </p:nvSpPr>
        <p:spPr>
          <a:xfrm>
            <a:off x="777240" y="4133088"/>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A model and a report</a:t>
            </a:r>
            <a:endParaRPr lang="en-US" sz="1500" dirty="0"/>
          </a:p>
        </p:txBody>
      </p:sp>
      <p:sp>
        <p:nvSpPr>
          <p:cNvPr id="24" name="Bridge arrow 4"/>
          <p:cNvSpPr/>
          <p:nvPr/>
        </p:nvSpPr>
        <p:spPr>
          <a:xfrm>
            <a:off x="6053328" y="4242816"/>
            <a:ext cx="365760" cy="347472"/>
          </a:xfrm>
          <a:prstGeom prst="rightArrow">
            <a:avLst/>
          </a:prstGeom>
          <a:solidFill>
            <a:schemeClr val="accent5"/>
          </a:solidFill>
          <a:ln/>
        </p:spPr>
      </p:sp>
      <p:sp>
        <p:nvSpPr>
          <p:cNvPr id="25" name="Day three item 4"/>
          <p:cNvSpPr/>
          <p:nvPr/>
        </p:nvSpPr>
        <p:spPr>
          <a:xfrm>
            <a:off x="6583680" y="4133088"/>
            <a:ext cx="5056632" cy="566928"/>
          </a:xfrm>
          <a:prstGeom prst="roundRect">
            <a:avLst>
              <a:gd name="adj" fmla="val 19355"/>
            </a:avLst>
          </a:prstGeom>
          <a:solidFill>
            <a:schemeClr val="accent2">
              <a:alpha val="20000"/>
            </a:schemeClr>
          </a:solidFill>
          <a:ln/>
        </p:spPr>
      </p:sp>
      <p:sp>
        <p:nvSpPr>
          <p:cNvPr id="26" name="Day three text"/>
          <p:cNvSpPr txBox="1"/>
          <p:nvPr/>
        </p:nvSpPr>
        <p:spPr>
          <a:xfrm>
            <a:off x="6812280" y="4133088"/>
            <a:ext cx="4663440" cy="566928"/>
          </a:xfrm>
          <a:prstGeom prst="rect">
            <a:avLst/>
          </a:prstGeom>
          <a:noFill/>
          <a:ln/>
        </p:spPr>
        <p:txBody>
          <a:bodyPr wrap="square" lIns="0" tIns="0" rIns="0" bIns="0" rtlCol="0" anchor="ctr"/>
          <a:lstStyle/>
          <a:p>
            <a:pPr indent="0" marL="0">
              <a:buNone/>
            </a:pPr>
            <a:r>
              <a:rPr lang="en-US" sz="1350" dirty="0">
                <a:solidFill>
                  <a:schemeClr val="tx1"/>
                </a:solidFill>
              </a:rPr>
              <a:t>Deployed in dependency order, rebound per environment</a:t>
            </a:r>
            <a:endParaRPr lang="en-US" sz="1350" dirty="0"/>
          </a:p>
        </p:txBody>
      </p:sp>
      <p:sp>
        <p:nvSpPr>
          <p:cNvPr id="27" name="Day two item 5"/>
          <p:cNvSpPr/>
          <p:nvPr/>
        </p:nvSpPr>
        <p:spPr>
          <a:xfrm>
            <a:off x="548640" y="4809744"/>
            <a:ext cx="5394960" cy="566928"/>
          </a:xfrm>
          <a:prstGeom prst="roundRect">
            <a:avLst>
              <a:gd name="adj" fmla="val 19355"/>
            </a:avLst>
          </a:prstGeom>
          <a:solidFill>
            <a:schemeClr val="bg2"/>
          </a:solidFill>
          <a:ln/>
        </p:spPr>
      </p:sp>
      <p:sp>
        <p:nvSpPr>
          <p:cNvPr id="28" name="Day two text"/>
          <p:cNvSpPr txBox="1"/>
          <p:nvPr/>
        </p:nvSpPr>
        <p:spPr>
          <a:xfrm>
            <a:off x="777240" y="4809744"/>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A front door anyone can press</a:t>
            </a:r>
            <a:endParaRPr lang="en-US" sz="1500" dirty="0"/>
          </a:p>
        </p:txBody>
      </p:sp>
      <p:sp>
        <p:nvSpPr>
          <p:cNvPr id="29" name="Bridge arrow 5"/>
          <p:cNvSpPr/>
          <p:nvPr/>
        </p:nvSpPr>
        <p:spPr>
          <a:xfrm>
            <a:off x="6053328" y="4919472"/>
            <a:ext cx="365760" cy="347472"/>
          </a:xfrm>
          <a:prstGeom prst="rightArrow">
            <a:avLst/>
          </a:prstGeom>
          <a:solidFill>
            <a:schemeClr val="accent5"/>
          </a:solidFill>
          <a:ln/>
        </p:spPr>
      </p:sp>
      <p:sp>
        <p:nvSpPr>
          <p:cNvPr id="30" name="Day three item 5"/>
          <p:cNvSpPr/>
          <p:nvPr/>
        </p:nvSpPr>
        <p:spPr>
          <a:xfrm>
            <a:off x="6583680" y="4809744"/>
            <a:ext cx="5056632" cy="566928"/>
          </a:xfrm>
          <a:prstGeom prst="roundRect">
            <a:avLst>
              <a:gd name="adj" fmla="val 19355"/>
            </a:avLst>
          </a:prstGeom>
          <a:solidFill>
            <a:schemeClr val="accent2">
              <a:alpha val="20000"/>
            </a:schemeClr>
          </a:solidFill>
          <a:ln/>
        </p:spPr>
      </p:sp>
      <p:sp>
        <p:nvSpPr>
          <p:cNvPr id="31" name="Day three text"/>
          <p:cNvSpPr txBox="1"/>
          <p:nvPr/>
        </p:nvSpPr>
        <p:spPr>
          <a:xfrm>
            <a:off x="6812280" y="4809744"/>
            <a:ext cx="4663440" cy="566928"/>
          </a:xfrm>
          <a:prstGeom prst="rect">
            <a:avLst/>
          </a:prstGeom>
          <a:noFill/>
          <a:ln/>
        </p:spPr>
        <p:txBody>
          <a:bodyPr wrap="square" lIns="0" tIns="0" rIns="0" bIns="0" rtlCol="0" anchor="ctr"/>
          <a:lstStyle/>
          <a:p>
            <a:pPr indent="0" marL="0">
              <a:buNone/>
            </a:pPr>
            <a:r>
              <a:rPr lang="en-US" sz="1350" dirty="0">
                <a:solidFill>
                  <a:schemeClr val="tx1"/>
                </a:solidFill>
              </a:rPr>
              <a:t>An identity and an approval for each environment</a:t>
            </a:r>
            <a:endParaRPr lang="en-US" sz="1350" dirty="0"/>
          </a:p>
        </p:txBody>
      </p:sp>
      <p:sp>
        <p:nvSpPr>
          <p:cNvPr id="32" name="Takeaway"/>
          <p:cNvSpPr txBox="1"/>
          <p:nvPr/>
        </p:nvSpPr>
        <p:spPr>
          <a:xfrm>
            <a:off x="548640" y="55778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Everything you built is a set of files. Today those files get a history, a review and a route to production.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TODAY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By the end of Part 5 you can do six things</a:t>
            </a:r>
            <a:endParaRPr lang="en-US" sz="3200" dirty="0"/>
          </a:p>
        </p:txBody>
      </p:sp>
      <p:sp>
        <p:nvSpPr>
          <p:cNvPr id="5" name="Outcome card 1"/>
          <p:cNvSpPr/>
          <p:nvPr/>
        </p:nvSpPr>
        <p:spPr>
          <a:xfrm>
            <a:off x="548640" y="1783080"/>
            <a:ext cx="3593592" cy="1874520"/>
          </a:xfrm>
          <a:prstGeom prst="roundRect">
            <a:avLst>
              <a:gd name="adj" fmla="val 5854"/>
            </a:avLst>
          </a:prstGeom>
          <a:solidFill>
            <a:schemeClr val="bg2"/>
          </a:solidFill>
          <a:ln/>
        </p:spPr>
      </p:sp>
      <p:sp>
        <p:nvSpPr>
          <p:cNvPr id="6" name="Explain source control badge"/>
          <p:cNvSpPr/>
          <p:nvPr/>
        </p:nvSpPr>
        <p:spPr>
          <a:xfrm>
            <a:off x="804672" y="2020824"/>
            <a:ext cx="566928" cy="566928"/>
          </a:xfrm>
          <a:prstGeom prst="ellipse">
            <a:avLst/>
          </a:prstGeom>
          <a:solidFill>
            <a:schemeClr val="accent1"/>
          </a:solidFill>
          <a:ln/>
        </p:spPr>
      </p:sp>
      <p:pic>
        <p:nvPicPr>
          <p:cNvPr id="7" name="Image 0" descr="Explain source control icon">    </p:cNvPr>
          <p:cNvPicPr>
            <a:picLocks noChangeAspect="1"/>
          </p:cNvPicPr>
          <p:nvPr/>
        </p:nvPicPr>
        <p:blipFill>
          <a:blip r:embed="rId1"/>
          <a:stretch>
            <a:fillRect/>
          </a:stretch>
        </p:blipFill>
        <p:spPr>
          <a:xfrm>
            <a:off x="946404" y="2162556"/>
            <a:ext cx="283464" cy="283464"/>
          </a:xfrm>
          <a:prstGeom prst="rect">
            <a:avLst/>
          </a:prstGeom>
        </p:spPr>
      </p:pic>
      <p:sp>
        <p:nvSpPr>
          <p:cNvPr id="8" name="Module label"/>
          <p:cNvSpPr txBox="1"/>
          <p:nvPr/>
        </p:nvSpPr>
        <p:spPr>
          <a:xfrm>
            <a:off x="1508760" y="205740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GIT FUNDAMENTALS</a:t>
            </a:r>
            <a:endParaRPr lang="en-US" sz="1000" dirty="0"/>
          </a:p>
        </p:txBody>
      </p:sp>
      <p:sp>
        <p:nvSpPr>
          <p:cNvPr id="9" name="Outcome title"/>
          <p:cNvSpPr txBox="1"/>
          <p:nvPr/>
        </p:nvSpPr>
        <p:spPr>
          <a:xfrm>
            <a:off x="804672" y="269748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Explain source control</a:t>
            </a:r>
            <a:endParaRPr lang="en-US" sz="1800" dirty="0"/>
          </a:p>
        </p:txBody>
      </p:sp>
      <p:sp>
        <p:nvSpPr>
          <p:cNvPr id="10" name="Outcome text"/>
          <p:cNvSpPr txBox="1"/>
          <p:nvPr/>
        </p:nvSpPr>
        <p:spPr>
          <a:xfrm>
            <a:off x="804672" y="3044952"/>
            <a:ext cx="3108960" cy="548640"/>
          </a:xfrm>
          <a:prstGeom prst="rect">
            <a:avLst/>
          </a:prstGeom>
          <a:noFill/>
          <a:ln/>
        </p:spPr>
        <p:txBody>
          <a:bodyPr wrap="square" lIns="0" tIns="0" rIns="0" bIns="0" rtlCol="0" anchor="t"/>
          <a:lstStyle/>
          <a:p>
            <a:pPr indent="0" marL="0">
              <a:buNone/>
            </a:pPr>
            <a:r>
              <a:rPr lang="en-US" sz="1300" dirty="0">
                <a:solidFill>
                  <a:schemeClr val="tx1"/>
                </a:solidFill>
              </a:rPr>
              <a:t>Repository, commit, branch, merge and pull request, in plain words.</a:t>
            </a:r>
            <a:endParaRPr lang="en-US" sz="1300" dirty="0"/>
          </a:p>
        </p:txBody>
      </p:sp>
      <p:sp>
        <p:nvSpPr>
          <p:cNvPr id="11" name="Outcome card 2"/>
          <p:cNvSpPr/>
          <p:nvPr/>
        </p:nvSpPr>
        <p:spPr>
          <a:xfrm>
            <a:off x="4297680" y="1783080"/>
            <a:ext cx="3593592" cy="1874520"/>
          </a:xfrm>
          <a:prstGeom prst="roundRect">
            <a:avLst>
              <a:gd name="adj" fmla="val 5854"/>
            </a:avLst>
          </a:prstGeom>
          <a:solidFill>
            <a:schemeClr val="bg2"/>
          </a:solidFill>
          <a:ln/>
        </p:spPr>
      </p:sp>
      <p:sp>
        <p:nvSpPr>
          <p:cNvPr id="12" name="Work a change badge"/>
          <p:cNvSpPr/>
          <p:nvPr/>
        </p:nvSpPr>
        <p:spPr>
          <a:xfrm>
            <a:off x="4553712" y="2020824"/>
            <a:ext cx="566928" cy="566928"/>
          </a:xfrm>
          <a:prstGeom prst="ellipse">
            <a:avLst/>
          </a:prstGeom>
          <a:solidFill>
            <a:schemeClr val="accent1"/>
          </a:solidFill>
          <a:ln/>
        </p:spPr>
      </p:sp>
      <p:pic>
        <p:nvPicPr>
          <p:cNvPr id="13" name="Image 1" descr="Work a change icon">    </p:cNvPr>
          <p:cNvPicPr>
            <a:picLocks noChangeAspect="1"/>
          </p:cNvPicPr>
          <p:nvPr/>
        </p:nvPicPr>
        <p:blipFill>
          <a:blip r:embed="rId2"/>
          <a:stretch>
            <a:fillRect/>
          </a:stretch>
        </p:blipFill>
        <p:spPr>
          <a:xfrm>
            <a:off x="4695444" y="2162556"/>
            <a:ext cx="283464" cy="283464"/>
          </a:xfrm>
          <a:prstGeom prst="rect">
            <a:avLst/>
          </a:prstGeom>
        </p:spPr>
      </p:pic>
      <p:sp>
        <p:nvSpPr>
          <p:cNvPr id="14" name="Module label"/>
          <p:cNvSpPr txBox="1"/>
          <p:nvPr/>
        </p:nvSpPr>
        <p:spPr>
          <a:xfrm>
            <a:off x="5257800" y="205740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GIT FUNDAMENTALS</a:t>
            </a:r>
            <a:endParaRPr lang="en-US" sz="1000" dirty="0"/>
          </a:p>
        </p:txBody>
      </p:sp>
      <p:sp>
        <p:nvSpPr>
          <p:cNvPr id="15" name="Outcome title"/>
          <p:cNvSpPr txBox="1"/>
          <p:nvPr/>
        </p:nvSpPr>
        <p:spPr>
          <a:xfrm>
            <a:off x="4553712" y="269748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Work a change</a:t>
            </a:r>
            <a:endParaRPr lang="en-US" sz="1800" dirty="0"/>
          </a:p>
        </p:txBody>
      </p:sp>
      <p:sp>
        <p:nvSpPr>
          <p:cNvPr id="16" name="Outcome text"/>
          <p:cNvSpPr txBox="1"/>
          <p:nvPr/>
        </p:nvSpPr>
        <p:spPr>
          <a:xfrm>
            <a:off x="4553712" y="3044952"/>
            <a:ext cx="3108960" cy="548640"/>
          </a:xfrm>
          <a:prstGeom prst="rect">
            <a:avLst/>
          </a:prstGeom>
          <a:noFill/>
          <a:ln/>
        </p:spPr>
        <p:txBody>
          <a:bodyPr wrap="square" lIns="0" tIns="0" rIns="0" bIns="0" rtlCol="0" anchor="t"/>
          <a:lstStyle/>
          <a:p>
            <a:pPr indent="0" marL="0">
              <a:buNone/>
            </a:pPr>
            <a:r>
              <a:rPr lang="en-US" sz="1300" dirty="0">
                <a:solidFill>
                  <a:schemeClr val="tx1"/>
                </a:solidFill>
              </a:rPr>
              <a:t>Take a change from a branch to a reviewed merge, and resolve a conflict.</a:t>
            </a:r>
            <a:endParaRPr lang="en-US" sz="1300" dirty="0"/>
          </a:p>
        </p:txBody>
      </p:sp>
      <p:sp>
        <p:nvSpPr>
          <p:cNvPr id="17" name="Outcome card 3"/>
          <p:cNvSpPr/>
          <p:nvPr/>
        </p:nvSpPr>
        <p:spPr>
          <a:xfrm>
            <a:off x="8046720" y="1783080"/>
            <a:ext cx="3593592" cy="1874520"/>
          </a:xfrm>
          <a:prstGeom prst="roundRect">
            <a:avLst>
              <a:gd name="adj" fmla="val 5854"/>
            </a:avLst>
          </a:prstGeom>
          <a:solidFill>
            <a:schemeClr val="bg2"/>
          </a:solidFill>
          <a:ln/>
        </p:spPr>
      </p:sp>
      <p:sp>
        <p:nvSpPr>
          <p:cNvPr id="18" name="Connect a workspace badge"/>
          <p:cNvSpPr/>
          <p:nvPr/>
        </p:nvSpPr>
        <p:spPr>
          <a:xfrm>
            <a:off x="8302752" y="2020824"/>
            <a:ext cx="566928" cy="566928"/>
          </a:xfrm>
          <a:prstGeom prst="ellipse">
            <a:avLst/>
          </a:prstGeom>
          <a:solidFill>
            <a:schemeClr val="accent1"/>
          </a:solidFill>
          <a:ln/>
        </p:spPr>
      </p:sp>
      <p:pic>
        <p:nvPicPr>
          <p:cNvPr id="19" name="Image 2" descr="Connect a workspace icon">    </p:cNvPr>
          <p:cNvPicPr>
            <a:picLocks noChangeAspect="1"/>
          </p:cNvPicPr>
          <p:nvPr/>
        </p:nvPicPr>
        <p:blipFill>
          <a:blip r:embed="rId3"/>
          <a:stretch>
            <a:fillRect/>
          </a:stretch>
        </p:blipFill>
        <p:spPr>
          <a:xfrm>
            <a:off x="8444484" y="2162556"/>
            <a:ext cx="283464" cy="283464"/>
          </a:xfrm>
          <a:prstGeom prst="rect">
            <a:avLst/>
          </a:prstGeom>
        </p:spPr>
      </p:pic>
      <p:sp>
        <p:nvSpPr>
          <p:cNvPr id="20" name="Module label"/>
          <p:cNvSpPr txBox="1"/>
          <p:nvPr/>
        </p:nvSpPr>
        <p:spPr>
          <a:xfrm>
            <a:off x="9006840" y="205740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GIT FUNDAMENTALS</a:t>
            </a:r>
            <a:endParaRPr lang="en-US" sz="1000" dirty="0"/>
          </a:p>
        </p:txBody>
      </p:sp>
      <p:sp>
        <p:nvSpPr>
          <p:cNvPr id="21" name="Outcome title"/>
          <p:cNvSpPr txBox="1"/>
          <p:nvPr/>
        </p:nvSpPr>
        <p:spPr>
          <a:xfrm>
            <a:off x="8302752" y="269748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Connect a workspace</a:t>
            </a:r>
            <a:endParaRPr lang="en-US" sz="1800" dirty="0"/>
          </a:p>
        </p:txBody>
      </p:sp>
      <p:sp>
        <p:nvSpPr>
          <p:cNvPr id="22" name="Outcome text"/>
          <p:cNvSpPr txBox="1"/>
          <p:nvPr/>
        </p:nvSpPr>
        <p:spPr>
          <a:xfrm>
            <a:off x="8302752" y="3044952"/>
            <a:ext cx="3108960" cy="548640"/>
          </a:xfrm>
          <a:prstGeom prst="rect">
            <a:avLst/>
          </a:prstGeom>
          <a:noFill/>
          <a:ln/>
        </p:spPr>
        <p:txBody>
          <a:bodyPr wrap="square" lIns="0" tIns="0" rIns="0" bIns="0" rtlCol="0" anchor="t"/>
          <a:lstStyle/>
          <a:p>
            <a:pPr indent="0" marL="0">
              <a:buNone/>
            </a:pPr>
            <a:r>
              <a:rPr lang="en-US" sz="1300" dirty="0">
                <a:solidFill>
                  <a:schemeClr val="tx1"/>
                </a:solidFill>
              </a:rPr>
              <a:t>Link a Fabric workspace to a branch, and commit and update from it.</a:t>
            </a:r>
            <a:endParaRPr lang="en-US" sz="1300" dirty="0"/>
          </a:p>
        </p:txBody>
      </p:sp>
      <p:sp>
        <p:nvSpPr>
          <p:cNvPr id="23" name="Outcome card 4"/>
          <p:cNvSpPr/>
          <p:nvPr/>
        </p:nvSpPr>
        <p:spPr>
          <a:xfrm>
            <a:off x="548640" y="3794760"/>
            <a:ext cx="3593592" cy="1874520"/>
          </a:xfrm>
          <a:prstGeom prst="roundRect">
            <a:avLst>
              <a:gd name="adj" fmla="val 5854"/>
            </a:avLst>
          </a:prstGeom>
          <a:solidFill>
            <a:schemeClr val="bg2"/>
          </a:solidFill>
          <a:ln/>
        </p:spPr>
      </p:sp>
      <p:sp>
        <p:nvSpPr>
          <p:cNvPr id="24" name="Promote DEV to TEST badge"/>
          <p:cNvSpPr/>
          <p:nvPr/>
        </p:nvSpPr>
        <p:spPr>
          <a:xfrm>
            <a:off x="804672" y="4032504"/>
            <a:ext cx="566928" cy="566928"/>
          </a:xfrm>
          <a:prstGeom prst="ellipse">
            <a:avLst/>
          </a:prstGeom>
          <a:solidFill>
            <a:schemeClr val="accent2"/>
          </a:solidFill>
          <a:ln/>
        </p:spPr>
      </p:sp>
      <p:pic>
        <p:nvPicPr>
          <p:cNvPr id="25" name="Image 3" descr="Promote DEV to TEST icon">    </p:cNvPr>
          <p:cNvPicPr>
            <a:picLocks noChangeAspect="1"/>
          </p:cNvPicPr>
          <p:nvPr/>
        </p:nvPicPr>
        <p:blipFill>
          <a:blip r:embed="rId4"/>
          <a:stretch>
            <a:fillRect/>
          </a:stretch>
        </p:blipFill>
        <p:spPr>
          <a:xfrm>
            <a:off x="946404" y="4174236"/>
            <a:ext cx="283464" cy="283464"/>
          </a:xfrm>
          <a:prstGeom prst="rect">
            <a:avLst/>
          </a:prstGeom>
        </p:spPr>
      </p:pic>
      <p:sp>
        <p:nvSpPr>
          <p:cNvPr id="26" name="Module label"/>
          <p:cNvSpPr txBox="1"/>
          <p:nvPr/>
        </p:nvSpPr>
        <p:spPr>
          <a:xfrm>
            <a:off x="1508760" y="40690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DEPLOYMENT PATTERNS</a:t>
            </a:r>
            <a:endParaRPr lang="en-US" sz="1000" dirty="0"/>
          </a:p>
        </p:txBody>
      </p:sp>
      <p:sp>
        <p:nvSpPr>
          <p:cNvPr id="27" name="Outcome title"/>
          <p:cNvSpPr txBox="1"/>
          <p:nvPr/>
        </p:nvSpPr>
        <p:spPr>
          <a:xfrm>
            <a:off x="804672" y="470916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Promote DEV to TEST</a:t>
            </a:r>
            <a:endParaRPr lang="en-US" sz="1800" dirty="0"/>
          </a:p>
        </p:txBody>
      </p:sp>
      <p:sp>
        <p:nvSpPr>
          <p:cNvPr id="28" name="Outcome text"/>
          <p:cNvSpPr txBox="1"/>
          <p:nvPr/>
        </p:nvSpPr>
        <p:spPr>
          <a:xfrm>
            <a:off x="804672" y="5056632"/>
            <a:ext cx="3108960" cy="548640"/>
          </a:xfrm>
          <a:prstGeom prst="rect">
            <a:avLst/>
          </a:prstGeom>
          <a:noFill/>
          <a:ln/>
        </p:spPr>
        <p:txBody>
          <a:bodyPr wrap="square" lIns="0" tIns="0" rIns="0" bIns="0" rtlCol="0" anchor="t"/>
          <a:lstStyle/>
          <a:p>
            <a:pPr indent="0" marL="0">
              <a:buNone/>
            </a:pPr>
            <a:r>
              <a:rPr lang="en-US" sz="1300" dirty="0">
                <a:solidFill>
                  <a:schemeClr val="tx1"/>
                </a:solidFill>
              </a:rPr>
              <a:t>Choose a pattern, parameterise it, and verify what actually runs.</a:t>
            </a:r>
            <a:endParaRPr lang="en-US" sz="1300" dirty="0"/>
          </a:p>
        </p:txBody>
      </p:sp>
      <p:sp>
        <p:nvSpPr>
          <p:cNvPr id="29" name="Outcome card 5"/>
          <p:cNvSpPr/>
          <p:nvPr/>
        </p:nvSpPr>
        <p:spPr>
          <a:xfrm>
            <a:off x="4297680" y="3794760"/>
            <a:ext cx="3593592" cy="1874520"/>
          </a:xfrm>
          <a:prstGeom prst="roundRect">
            <a:avLst>
              <a:gd name="adj" fmla="val 5854"/>
            </a:avLst>
          </a:prstGeom>
          <a:solidFill>
            <a:schemeClr val="bg2"/>
          </a:solidFill>
          <a:ln/>
        </p:spPr>
      </p:sp>
      <p:sp>
        <p:nvSpPr>
          <p:cNvPr id="30" name="Name the rails and gates badge"/>
          <p:cNvSpPr/>
          <p:nvPr/>
        </p:nvSpPr>
        <p:spPr>
          <a:xfrm>
            <a:off x="4553712" y="4032504"/>
            <a:ext cx="566928" cy="566928"/>
          </a:xfrm>
          <a:prstGeom prst="ellipse">
            <a:avLst/>
          </a:prstGeom>
          <a:solidFill>
            <a:schemeClr val="accent2"/>
          </a:solidFill>
          <a:ln/>
        </p:spPr>
      </p:sp>
      <p:pic>
        <p:nvPicPr>
          <p:cNvPr id="31" name="Image 4" descr="Name the rails and gates icon">    </p:cNvPr>
          <p:cNvPicPr>
            <a:picLocks noChangeAspect="1"/>
          </p:cNvPicPr>
          <p:nvPr/>
        </p:nvPicPr>
        <p:blipFill>
          <a:blip r:embed="rId5"/>
          <a:stretch>
            <a:fillRect/>
          </a:stretch>
        </p:blipFill>
        <p:spPr>
          <a:xfrm>
            <a:off x="4695444" y="4174236"/>
            <a:ext cx="283464" cy="283464"/>
          </a:xfrm>
          <a:prstGeom prst="rect">
            <a:avLst/>
          </a:prstGeom>
        </p:spPr>
      </p:pic>
      <p:sp>
        <p:nvSpPr>
          <p:cNvPr id="32" name="Module label"/>
          <p:cNvSpPr txBox="1"/>
          <p:nvPr/>
        </p:nvSpPr>
        <p:spPr>
          <a:xfrm>
            <a:off x="5257800" y="40690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GOVERNANCE</a:t>
            </a:r>
            <a:endParaRPr lang="en-US" sz="1000" dirty="0"/>
          </a:p>
        </p:txBody>
      </p:sp>
      <p:sp>
        <p:nvSpPr>
          <p:cNvPr id="33" name="Outcome title"/>
          <p:cNvSpPr txBox="1"/>
          <p:nvPr/>
        </p:nvSpPr>
        <p:spPr>
          <a:xfrm>
            <a:off x="4553712" y="470916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Name the rails and gates</a:t>
            </a:r>
            <a:endParaRPr lang="en-US" sz="1800" dirty="0"/>
          </a:p>
        </p:txBody>
      </p:sp>
      <p:sp>
        <p:nvSpPr>
          <p:cNvPr id="34" name="Outcome text"/>
          <p:cNvSpPr txBox="1"/>
          <p:nvPr/>
        </p:nvSpPr>
        <p:spPr>
          <a:xfrm>
            <a:off x="4553712" y="5056632"/>
            <a:ext cx="3108960" cy="548640"/>
          </a:xfrm>
          <a:prstGeom prst="rect">
            <a:avLst/>
          </a:prstGeom>
          <a:noFill/>
          <a:ln/>
        </p:spPr>
        <p:txBody>
          <a:bodyPr wrap="square" lIns="0" tIns="0" rIns="0" bIns="0" rtlCol="0" anchor="t"/>
          <a:lstStyle/>
          <a:p>
            <a:pPr indent="0" marL="0">
              <a:buNone/>
            </a:pPr>
            <a:r>
              <a:rPr lang="en-US" sz="1300" dirty="0">
                <a:solidFill>
                  <a:schemeClr val="tx1"/>
                </a:solidFill>
              </a:rPr>
              <a:t>Say what runs on every change and what waits on another team.</a:t>
            </a:r>
            <a:endParaRPr lang="en-US" sz="1300" dirty="0"/>
          </a:p>
        </p:txBody>
      </p:sp>
      <p:sp>
        <p:nvSpPr>
          <p:cNvPr id="35" name="Outcome card 6"/>
          <p:cNvSpPr/>
          <p:nvPr/>
        </p:nvSpPr>
        <p:spPr>
          <a:xfrm>
            <a:off x="8046720" y="3794760"/>
            <a:ext cx="3593592" cy="1874520"/>
          </a:xfrm>
          <a:prstGeom prst="roundRect">
            <a:avLst>
              <a:gd name="adj" fmla="val 5854"/>
            </a:avLst>
          </a:prstGeom>
          <a:solidFill>
            <a:schemeClr val="bg2"/>
          </a:solidFill>
          <a:ln/>
        </p:spPr>
      </p:sp>
      <p:sp>
        <p:nvSpPr>
          <p:cNvPr id="36" name="Use AI safely badge"/>
          <p:cNvSpPr/>
          <p:nvPr/>
        </p:nvSpPr>
        <p:spPr>
          <a:xfrm>
            <a:off x="8302752" y="4032504"/>
            <a:ext cx="566928" cy="566928"/>
          </a:xfrm>
          <a:prstGeom prst="ellipse">
            <a:avLst/>
          </a:prstGeom>
          <a:solidFill>
            <a:schemeClr val="accent2"/>
          </a:solidFill>
          <a:ln/>
        </p:spPr>
      </p:sp>
      <p:pic>
        <p:nvPicPr>
          <p:cNvPr id="37" name="Image 5" descr="Use AI safely icon">    </p:cNvPr>
          <p:cNvPicPr>
            <a:picLocks noChangeAspect="1"/>
          </p:cNvPicPr>
          <p:nvPr/>
        </p:nvPicPr>
        <p:blipFill>
          <a:blip r:embed="rId6"/>
          <a:stretch>
            <a:fillRect/>
          </a:stretch>
        </p:blipFill>
        <p:spPr>
          <a:xfrm>
            <a:off x="8444484" y="4174236"/>
            <a:ext cx="283464" cy="283464"/>
          </a:xfrm>
          <a:prstGeom prst="rect">
            <a:avLst/>
          </a:prstGeom>
        </p:spPr>
      </p:pic>
      <p:sp>
        <p:nvSpPr>
          <p:cNvPr id="38" name="Module label"/>
          <p:cNvSpPr txBox="1"/>
          <p:nvPr/>
        </p:nvSpPr>
        <p:spPr>
          <a:xfrm>
            <a:off x="9006840" y="40690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AI IN DEVOPS</a:t>
            </a:r>
            <a:endParaRPr lang="en-US" sz="1000" dirty="0"/>
          </a:p>
        </p:txBody>
      </p:sp>
      <p:sp>
        <p:nvSpPr>
          <p:cNvPr id="39" name="Outcome title"/>
          <p:cNvSpPr txBox="1"/>
          <p:nvPr/>
        </p:nvSpPr>
        <p:spPr>
          <a:xfrm>
            <a:off x="8302752" y="470916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Use AI safely</a:t>
            </a:r>
            <a:endParaRPr lang="en-US" sz="1800" dirty="0"/>
          </a:p>
        </p:txBody>
      </p:sp>
      <p:sp>
        <p:nvSpPr>
          <p:cNvPr id="40" name="Outcome text"/>
          <p:cNvSpPr txBox="1"/>
          <p:nvPr/>
        </p:nvSpPr>
        <p:spPr>
          <a:xfrm>
            <a:off x="8302752" y="5056632"/>
            <a:ext cx="3108960" cy="548640"/>
          </a:xfrm>
          <a:prstGeom prst="rect">
            <a:avLst/>
          </a:prstGeom>
          <a:noFill/>
          <a:ln/>
        </p:spPr>
        <p:txBody>
          <a:bodyPr wrap="square" lIns="0" tIns="0" rIns="0" bIns="0" rtlCol="0" anchor="t"/>
          <a:lstStyle/>
          <a:p>
            <a:pPr indent="0" marL="0">
              <a:buNone/>
            </a:pPr>
            <a:r>
              <a:rPr lang="en-US" sz="1300" dirty="0">
                <a:solidFill>
                  <a:schemeClr val="tx1"/>
                </a:solidFill>
              </a:rPr>
              <a:t>Give it context, review its output, and keep decisions with people.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BEFORE WE START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How the exercises and the lab work</a:t>
            </a:r>
            <a:endParaRPr lang="en-US" sz="3200" dirty="0"/>
          </a:p>
        </p:txBody>
      </p:sp>
      <p:sp>
        <p:nvSpPr>
          <p:cNvPr id="5" name="Exercise 6 card"/>
          <p:cNvSpPr/>
          <p:nvPr/>
        </p:nvSpPr>
        <p:spPr>
          <a:xfrm>
            <a:off x="548640" y="1783080"/>
            <a:ext cx="2677592" cy="1965960"/>
          </a:xfrm>
          <a:prstGeom prst="roundRect">
            <a:avLst>
              <a:gd name="adj" fmla="val 5581"/>
            </a:avLst>
          </a:prstGeom>
          <a:solidFill>
            <a:schemeClr val="bg2"/>
          </a:solidFill>
          <a:ln/>
        </p:spPr>
      </p:sp>
      <p:sp>
        <p:nvSpPr>
          <p:cNvPr id="6" name="Pill"/>
          <p:cNvSpPr txBox="1"/>
          <p:nvPr/>
        </p:nvSpPr>
        <p:spPr>
          <a:xfrm>
            <a:off x="777240" y="1920240"/>
            <a:ext cx="11887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EXERCISE 6</a:t>
            </a:r>
            <a:endParaRPr lang="en-US" sz="1050" dirty="0"/>
          </a:p>
        </p:txBody>
      </p:sp>
      <p:sp>
        <p:nvSpPr>
          <p:cNvPr id="7" name="Task title"/>
          <p:cNvSpPr txBox="1"/>
          <p:nvPr/>
        </p:nvSpPr>
        <p:spPr>
          <a:xfrm>
            <a:off x="777240" y="2331720"/>
            <a:ext cx="2266112"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Git by hand</a:t>
            </a:r>
            <a:endParaRPr lang="en-US" sz="1600" dirty="0"/>
          </a:p>
        </p:txBody>
      </p:sp>
      <p:sp>
        <p:nvSpPr>
          <p:cNvPr id="8" name="Task text"/>
          <p:cNvSpPr txBox="1"/>
          <p:nvPr/>
        </p:nvSpPr>
        <p:spPr>
          <a:xfrm>
            <a:off x="777240" y="2697480"/>
            <a:ext cx="2266112" cy="731520"/>
          </a:xfrm>
          <a:prstGeom prst="rect">
            <a:avLst/>
          </a:prstGeom>
          <a:noFill/>
          <a:ln/>
        </p:spPr>
        <p:txBody>
          <a:bodyPr wrap="square" lIns="0" tIns="0" rIns="0" bIns="0" rtlCol="0" anchor="t"/>
          <a:lstStyle/>
          <a:p>
            <a:pPr indent="0" marL="0">
              <a:buNone/>
            </a:pPr>
            <a:r>
              <a:rPr lang="en-US" sz="1200" dirty="0">
                <a:solidFill>
                  <a:schemeClr val="tx1"/>
                </a:solidFill>
              </a:rPr>
              <a:t>In pairs, in a practice repository: commit, branch, merge, resolve a conflict, undo safely.</a:t>
            </a:r>
            <a:endParaRPr lang="en-US" sz="1200" dirty="0"/>
          </a:p>
        </p:txBody>
      </p:sp>
      <p:sp>
        <p:nvSpPr>
          <p:cNvPr id="9" name="Task timing"/>
          <p:cNvSpPr txBox="1"/>
          <p:nvPr/>
        </p:nvSpPr>
        <p:spPr>
          <a:xfrm>
            <a:off x="777240" y="3429000"/>
            <a:ext cx="2266112" cy="274320"/>
          </a:xfrm>
          <a:prstGeom prst="rect">
            <a:avLst/>
          </a:prstGeom>
          <a:noFill/>
          <a:ln/>
        </p:spPr>
        <p:txBody>
          <a:bodyPr wrap="square" lIns="0" tIns="0" rIns="0" bIns="0" rtlCol="0" anchor="t"/>
          <a:lstStyle/>
          <a:p>
            <a:pPr indent="0" marL="0">
              <a:buNone/>
            </a:pPr>
            <a:r>
              <a:rPr lang="en-US" sz="1100" i="1" dirty="0">
                <a:solidFill>
                  <a:schemeClr val="accent1"/>
                </a:solidFill>
              </a:rPr>
              <a:t>Part 5  ·  about 30 minutes</a:t>
            </a:r>
            <a:endParaRPr lang="en-US" sz="1100" dirty="0"/>
          </a:p>
        </p:txBody>
      </p:sp>
      <p:sp>
        <p:nvSpPr>
          <p:cNvPr id="10" name="Exercise 7 card"/>
          <p:cNvSpPr/>
          <p:nvPr/>
        </p:nvSpPr>
        <p:spPr>
          <a:xfrm>
            <a:off x="3354248" y="1783080"/>
            <a:ext cx="2677592" cy="1965960"/>
          </a:xfrm>
          <a:prstGeom prst="roundRect">
            <a:avLst>
              <a:gd name="adj" fmla="val 5581"/>
            </a:avLst>
          </a:prstGeom>
          <a:solidFill>
            <a:schemeClr val="bg2"/>
          </a:solidFill>
          <a:ln/>
        </p:spPr>
      </p:sp>
      <p:sp>
        <p:nvSpPr>
          <p:cNvPr id="11" name="Pill"/>
          <p:cNvSpPr txBox="1"/>
          <p:nvPr/>
        </p:nvSpPr>
        <p:spPr>
          <a:xfrm>
            <a:off x="3582848" y="1920240"/>
            <a:ext cx="11887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EXERCISE 7</a:t>
            </a:r>
            <a:endParaRPr lang="en-US" sz="1050" dirty="0"/>
          </a:p>
        </p:txBody>
      </p:sp>
      <p:sp>
        <p:nvSpPr>
          <p:cNvPr id="12" name="Task title"/>
          <p:cNvSpPr txBox="1"/>
          <p:nvPr/>
        </p:nvSpPr>
        <p:spPr>
          <a:xfrm>
            <a:off x="3582848" y="2331720"/>
            <a:ext cx="2266112"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Review the AI's draft</a:t>
            </a:r>
            <a:endParaRPr lang="en-US" sz="1600" dirty="0"/>
          </a:p>
        </p:txBody>
      </p:sp>
      <p:sp>
        <p:nvSpPr>
          <p:cNvPr id="13" name="Task text"/>
          <p:cNvSpPr txBox="1"/>
          <p:nvPr/>
        </p:nvSpPr>
        <p:spPr>
          <a:xfrm>
            <a:off x="3582848" y="2697480"/>
            <a:ext cx="2266112" cy="731520"/>
          </a:xfrm>
          <a:prstGeom prst="rect">
            <a:avLst/>
          </a:prstGeom>
          <a:noFill/>
          <a:ln/>
        </p:spPr>
        <p:txBody>
          <a:bodyPr wrap="square" lIns="0" tIns="0" rIns="0" bIns="0" rtlCol="0" anchor="t"/>
          <a:lstStyle/>
          <a:p>
            <a:pPr indent="0" marL="0">
              <a:buNone/>
            </a:pPr>
            <a:r>
              <a:rPr lang="en-US" sz="1200" dirty="0">
                <a:solidFill>
                  <a:schemeClr val="tx1"/>
                </a:solidFill>
              </a:rPr>
              <a:t>Find what is wrong with a pipeline file an assistant drafted, before it ships.</a:t>
            </a:r>
            <a:endParaRPr lang="en-US" sz="1200" dirty="0"/>
          </a:p>
        </p:txBody>
      </p:sp>
      <p:sp>
        <p:nvSpPr>
          <p:cNvPr id="14" name="Task timing"/>
          <p:cNvSpPr txBox="1"/>
          <p:nvPr/>
        </p:nvSpPr>
        <p:spPr>
          <a:xfrm>
            <a:off x="3582848" y="3429000"/>
            <a:ext cx="2266112" cy="274320"/>
          </a:xfrm>
          <a:prstGeom prst="rect">
            <a:avLst/>
          </a:prstGeom>
          <a:noFill/>
          <a:ln/>
        </p:spPr>
        <p:txBody>
          <a:bodyPr wrap="square" lIns="0" tIns="0" rIns="0" bIns="0" rtlCol="0" anchor="t"/>
          <a:lstStyle/>
          <a:p>
            <a:pPr indent="0" marL="0">
              <a:buNone/>
            </a:pPr>
            <a:r>
              <a:rPr lang="en-US" sz="1100" i="1" dirty="0">
                <a:solidFill>
                  <a:schemeClr val="accent1"/>
                </a:solidFill>
              </a:rPr>
              <a:t>Part 5  ·  about 20 minutes</a:t>
            </a:r>
            <a:endParaRPr lang="en-US" sz="1100" dirty="0"/>
          </a:p>
        </p:txBody>
      </p:sp>
      <p:sp>
        <p:nvSpPr>
          <p:cNvPr id="15" name="Lab C card"/>
          <p:cNvSpPr/>
          <p:nvPr/>
        </p:nvSpPr>
        <p:spPr>
          <a:xfrm>
            <a:off x="6159856" y="1783080"/>
            <a:ext cx="2677592" cy="1965960"/>
          </a:xfrm>
          <a:prstGeom prst="roundRect">
            <a:avLst>
              <a:gd name="adj" fmla="val 5581"/>
            </a:avLst>
          </a:prstGeom>
          <a:solidFill>
            <a:schemeClr val="bg2"/>
          </a:solidFill>
          <a:ln/>
        </p:spPr>
      </p:sp>
      <p:sp>
        <p:nvSpPr>
          <p:cNvPr id="16" name="Pill"/>
          <p:cNvSpPr txBox="1"/>
          <p:nvPr/>
        </p:nvSpPr>
        <p:spPr>
          <a:xfrm>
            <a:off x="6388456" y="1920240"/>
            <a:ext cx="11887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LAB C</a:t>
            </a:r>
            <a:endParaRPr lang="en-US" sz="1050" dirty="0"/>
          </a:p>
        </p:txBody>
      </p:sp>
      <p:sp>
        <p:nvSpPr>
          <p:cNvPr id="17" name="Task title"/>
          <p:cNvSpPr txBox="1"/>
          <p:nvPr/>
        </p:nvSpPr>
        <p:spPr>
          <a:xfrm>
            <a:off x="6388456" y="2331720"/>
            <a:ext cx="2266112"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Ship what you built</a:t>
            </a:r>
            <a:endParaRPr lang="en-US" sz="1600" dirty="0"/>
          </a:p>
        </p:txBody>
      </p:sp>
      <p:sp>
        <p:nvSpPr>
          <p:cNvPr id="18" name="Task text"/>
          <p:cNvSpPr txBox="1"/>
          <p:nvPr/>
        </p:nvSpPr>
        <p:spPr>
          <a:xfrm>
            <a:off x="6388456" y="2697480"/>
            <a:ext cx="2266112" cy="731520"/>
          </a:xfrm>
          <a:prstGeom prst="rect">
            <a:avLst/>
          </a:prstGeom>
          <a:noFill/>
          <a:ln/>
        </p:spPr>
        <p:txBody>
          <a:bodyPr wrap="square" lIns="0" tIns="0" rIns="0" bIns="0" rtlCol="0" anchor="t"/>
          <a:lstStyle/>
          <a:p>
            <a:pPr indent="0" marL="0">
              <a:buNone/>
            </a:pPr>
            <a:r>
              <a:rPr lang="en-US" sz="1200" dirty="0">
                <a:solidFill>
                  <a:schemeClr val="tx1"/>
                </a:solidFill>
              </a:rPr>
              <a:t>Put the lab workflow under source control, review it, and promote it to TEST.</a:t>
            </a:r>
            <a:endParaRPr lang="en-US" sz="1200" dirty="0"/>
          </a:p>
        </p:txBody>
      </p:sp>
      <p:sp>
        <p:nvSpPr>
          <p:cNvPr id="19" name="Task timing"/>
          <p:cNvSpPr txBox="1"/>
          <p:nvPr/>
        </p:nvSpPr>
        <p:spPr>
          <a:xfrm>
            <a:off x="6388456" y="3429000"/>
            <a:ext cx="2266112" cy="274320"/>
          </a:xfrm>
          <a:prstGeom prst="rect">
            <a:avLst/>
          </a:prstGeom>
          <a:noFill/>
          <a:ln/>
        </p:spPr>
        <p:txBody>
          <a:bodyPr wrap="square" lIns="0" tIns="0" rIns="0" bIns="0" rtlCol="0" anchor="t"/>
          <a:lstStyle/>
          <a:p>
            <a:pPr indent="0" marL="0">
              <a:buNone/>
            </a:pPr>
            <a:r>
              <a:rPr lang="en-US" sz="1100" i="1" dirty="0">
                <a:solidFill>
                  <a:schemeClr val="accent1"/>
                </a:solidFill>
              </a:rPr>
              <a:t>Part 5  ·  about 90 minutes</a:t>
            </a:r>
            <a:endParaRPr lang="en-US" sz="1100" dirty="0"/>
          </a:p>
        </p:txBody>
      </p:sp>
      <p:sp>
        <p:nvSpPr>
          <p:cNvPr id="20" name="Exercise 8 card"/>
          <p:cNvSpPr/>
          <p:nvPr/>
        </p:nvSpPr>
        <p:spPr>
          <a:xfrm>
            <a:off x="8965463" y="1783080"/>
            <a:ext cx="2677592" cy="1965960"/>
          </a:xfrm>
          <a:prstGeom prst="roundRect">
            <a:avLst>
              <a:gd name="adj" fmla="val 5581"/>
            </a:avLst>
          </a:prstGeom>
          <a:solidFill>
            <a:schemeClr val="bg2"/>
          </a:solidFill>
          <a:ln/>
        </p:spPr>
      </p:sp>
      <p:sp>
        <p:nvSpPr>
          <p:cNvPr id="21" name="Pill"/>
          <p:cNvSpPr txBox="1"/>
          <p:nvPr/>
        </p:nvSpPr>
        <p:spPr>
          <a:xfrm>
            <a:off x="9194063" y="1920240"/>
            <a:ext cx="11887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EXERCISE 8</a:t>
            </a:r>
            <a:endParaRPr lang="en-US" sz="1050" dirty="0"/>
          </a:p>
        </p:txBody>
      </p:sp>
      <p:sp>
        <p:nvSpPr>
          <p:cNvPr id="22" name="Task title"/>
          <p:cNvSpPr txBox="1"/>
          <p:nvPr/>
        </p:nvSpPr>
        <p:spPr>
          <a:xfrm>
            <a:off x="9194063" y="2331720"/>
            <a:ext cx="2266112"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Run the gate review</a:t>
            </a:r>
            <a:endParaRPr lang="en-US" sz="1600" dirty="0"/>
          </a:p>
        </p:txBody>
      </p:sp>
      <p:sp>
        <p:nvSpPr>
          <p:cNvPr id="23" name="Task text"/>
          <p:cNvSpPr txBox="1"/>
          <p:nvPr/>
        </p:nvSpPr>
        <p:spPr>
          <a:xfrm>
            <a:off x="9194063" y="2697480"/>
            <a:ext cx="2266112" cy="731520"/>
          </a:xfrm>
          <a:prstGeom prst="rect">
            <a:avLst/>
          </a:prstGeom>
          <a:noFill/>
          <a:ln/>
        </p:spPr>
        <p:txBody>
          <a:bodyPr wrap="square" lIns="0" tIns="0" rIns="0" bIns="0" rtlCol="0" anchor="t"/>
          <a:lstStyle/>
          <a:p>
            <a:pPr indent="0" marL="0">
              <a:buNone/>
            </a:pPr>
            <a:r>
              <a:rPr lang="en-US" sz="1200" dirty="0">
                <a:solidFill>
                  <a:schemeClr val="tx1"/>
                </a:solidFill>
              </a:rPr>
              <a:t>Six situations. Name the gate or rail, then call it: pass, hold or send back.</a:t>
            </a:r>
            <a:endParaRPr lang="en-US" sz="1200" dirty="0"/>
          </a:p>
        </p:txBody>
      </p:sp>
      <p:sp>
        <p:nvSpPr>
          <p:cNvPr id="24" name="Task timing"/>
          <p:cNvSpPr txBox="1"/>
          <p:nvPr/>
        </p:nvSpPr>
        <p:spPr>
          <a:xfrm>
            <a:off x="9194063" y="3429000"/>
            <a:ext cx="2266112" cy="274320"/>
          </a:xfrm>
          <a:prstGeom prst="rect">
            <a:avLst/>
          </a:prstGeom>
          <a:noFill/>
          <a:ln/>
        </p:spPr>
        <p:txBody>
          <a:bodyPr wrap="square" lIns="0" tIns="0" rIns="0" bIns="0" rtlCol="0" anchor="t"/>
          <a:lstStyle/>
          <a:p>
            <a:pPr indent="0" marL="0">
              <a:buNone/>
            </a:pPr>
            <a:r>
              <a:rPr lang="en-US" sz="1100" i="1" dirty="0">
                <a:solidFill>
                  <a:schemeClr val="accent1"/>
                </a:solidFill>
              </a:rPr>
              <a:t>Part 6  ·  about 25 minutes</a:t>
            </a:r>
            <a:endParaRPr lang="en-US" sz="1100" dirty="0"/>
          </a:p>
        </p:txBody>
      </p:sp>
      <p:sp>
        <p:nvSpPr>
          <p:cNvPr id="25" name="Before you start card"/>
          <p:cNvSpPr/>
          <p:nvPr/>
        </p:nvSpPr>
        <p:spPr>
          <a:xfrm>
            <a:off x="548640" y="3886200"/>
            <a:ext cx="5468112" cy="1645920"/>
          </a:xfrm>
          <a:prstGeom prst="roundRect">
            <a:avLst>
              <a:gd name="adj" fmla="val 6667"/>
            </a:avLst>
          </a:prstGeom>
          <a:solidFill>
            <a:schemeClr val="accent3">
              <a:alpha val="22000"/>
            </a:schemeClr>
          </a:solidFill>
          <a:ln/>
        </p:spPr>
      </p:sp>
      <p:sp>
        <p:nvSpPr>
          <p:cNvPr id="26" name="Pill"/>
          <p:cNvSpPr txBox="1"/>
          <p:nvPr/>
        </p:nvSpPr>
        <p:spPr>
          <a:xfrm>
            <a:off x="777240" y="4005072"/>
            <a:ext cx="16459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BEFORE YOU START</a:t>
            </a:r>
            <a:endParaRPr lang="en-US" sz="1050" dirty="0"/>
          </a:p>
        </p:txBody>
      </p:sp>
      <p:sp>
        <p:nvSpPr>
          <p:cNvPr id="27" name="Prerequisites list"/>
          <p:cNvSpPr txBox="1"/>
          <p:nvPr/>
        </p:nvSpPr>
        <p:spPr>
          <a:xfrm>
            <a:off x="777240" y="4389120"/>
            <a:ext cx="502920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Azure DevOps and Fabric DEV and TEST access confirmed.</a:t>
            </a:r>
            <a:endParaRPr lang="en-US" sz="1300" dirty="0"/>
          </a:p>
          <a:p>
            <a:pPr marL="342900" indent="-342900">
              <a:spcAft>
                <a:spcPts val="400"/>
              </a:spcAft>
              <a:buSzPct val="100000"/>
              <a:buChar char="•"/>
            </a:pPr>
            <a:r>
              <a:rPr lang="en-US" sz="1300" dirty="0">
                <a:solidFill>
                  <a:schemeClr val="tx1"/>
                </a:solidFill>
              </a:rPr>
              <a:t>Practice repository and workspaces created by the facilitator.</a:t>
            </a:r>
            <a:endParaRPr lang="en-US" sz="1300" dirty="0"/>
          </a:p>
          <a:p>
            <a:pPr marL="342900" indent="-342900">
              <a:spcAft>
                <a:spcPts val="400"/>
              </a:spcAft>
              <a:buSzPct val="100000"/>
              <a:buChar char="•"/>
            </a:pPr>
            <a:r>
              <a:rPr lang="en-US" sz="1300" dirty="0">
                <a:solidFill>
                  <a:schemeClr val="tx1"/>
                </a:solidFill>
              </a:rPr>
              <a:t>AI assistants: only the approved one, never real tax data.</a:t>
            </a:r>
            <a:endParaRPr lang="en-US" sz="1300" dirty="0"/>
          </a:p>
        </p:txBody>
      </p:sp>
      <p:sp>
        <p:nvSpPr>
          <p:cNvPr id="28" name="Handled elsewhere card"/>
          <p:cNvSpPr/>
          <p:nvPr/>
        </p:nvSpPr>
        <p:spPr>
          <a:xfrm>
            <a:off x="6172200" y="3886200"/>
            <a:ext cx="5468112" cy="1645920"/>
          </a:xfrm>
          <a:prstGeom prst="roundRect">
            <a:avLst>
              <a:gd name="adj" fmla="val 6667"/>
            </a:avLst>
          </a:prstGeom>
          <a:solidFill>
            <a:schemeClr val="bg2"/>
          </a:solidFill>
          <a:ln/>
        </p:spPr>
      </p:sp>
      <p:sp>
        <p:nvSpPr>
          <p:cNvPr id="29" name="Pill"/>
          <p:cNvSpPr txBox="1"/>
          <p:nvPr/>
        </p:nvSpPr>
        <p:spPr>
          <a:xfrm>
            <a:off x="6400800" y="4005072"/>
            <a:ext cx="2377440"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50" b="1" spc="200" kern="0" dirty="0">
                <a:solidFill>
                  <a:schemeClr val="bg1"/>
                </a:solidFill>
              </a:rPr>
              <a:t>NOT COVERED IN PART 5</a:t>
            </a:r>
            <a:endParaRPr lang="en-US" sz="1050" dirty="0"/>
          </a:p>
        </p:txBody>
      </p:sp>
      <p:sp>
        <p:nvSpPr>
          <p:cNvPr id="30" name="Out of scope list"/>
          <p:cNvSpPr txBox="1"/>
          <p:nvPr/>
        </p:nvSpPr>
        <p:spPr>
          <a:xfrm>
            <a:off x="6400800" y="4389120"/>
            <a:ext cx="502920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Approvals, the Paved Path and go-live: Part 6, later today.</a:t>
            </a:r>
            <a:endParaRPr lang="en-US" sz="1300" dirty="0"/>
          </a:p>
          <a:p>
            <a:pPr marL="342900" indent="-342900">
              <a:spcAft>
                <a:spcPts val="400"/>
              </a:spcAft>
              <a:buSzPct val="100000"/>
              <a:buChar char="•"/>
            </a:pPr>
            <a:r>
              <a:rPr lang="en-US" sz="1300" dirty="0">
                <a:solidFill>
                  <a:schemeClr val="tx1"/>
                </a:solidFill>
              </a:rPr>
              <a:t>Platform security and governance: Disney Enterprise Technology.</a:t>
            </a:r>
            <a:endParaRPr lang="en-US" sz="1300" dirty="0"/>
          </a:p>
          <a:p>
            <a:pPr marL="342900" indent="-342900">
              <a:spcAft>
                <a:spcPts val="400"/>
              </a:spcAft>
              <a:buSzPct val="100000"/>
              <a:buChar char="•"/>
            </a:pPr>
            <a:r>
              <a:rPr lang="en-US" sz="1300" dirty="0">
                <a:solidFill>
                  <a:schemeClr val="tx1"/>
                </a:solidFill>
              </a:rPr>
              <a:t>Bring-your-own-workflow migration: a separate working session.</a:t>
            </a:r>
            <a:endParaRPr lang="en-US" sz="1300" dirty="0"/>
          </a:p>
        </p:txBody>
      </p:sp>
      <p:sp>
        <p:nvSpPr>
          <p:cNvPr id="31" name="Footnote"/>
          <p:cNvSpPr txBox="1"/>
          <p:nvPr/>
        </p:nvSpPr>
        <p:spPr>
          <a:xfrm>
            <a:off x="548640" y="57150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agreed agenda, Fabric Training and Enablement, October 2026. Practice data is invented and shaped like the DST workflow.</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lIns="0" tIns="0" rIns="0" bIns="0" rtlCol="0" anchor="t"/>
          <a:lstStyle/>
          <a:p>
            <a:pPr algn="l" indent="0" marL="0">
              <a:buNone/>
            </a:pPr>
            <a:r>
              <a:rPr lang="en-US" sz="1400" b="1" spc="400" kern="0" dirty="0">
                <a:solidFill>
                  <a:schemeClr val="bg2"/>
                </a:solidFill>
              </a:rPr>
              <a:t>PART 5</a:t>
            </a: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DevOps, Governance &amp; Deployment</a:t>
            </a: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lIns="0" tIns="0" rIns="0" bIns="0" rtlCol="0" anchor="t"/>
          <a:lstStyle/>
          <a:p>
            <a:pPr algn="l" indent="0" marL="0">
              <a:buNone/>
            </a:pPr>
            <a:r>
              <a:rPr lang="en-US" sz="1800" dirty="0">
                <a:solidFill>
                  <a:schemeClr val="bg2"/>
                </a:solidFill>
              </a:rPr>
              <a:t>How changes get tracked, shipped and governed. Hands-on.</a:t>
            </a:r>
            <a:endParaRPr lang="en-US" sz="1800" dirty="0"/>
          </a:p>
        </p:txBody>
      </p:sp>
      <p:sp>
        <p:nvSpPr>
          <p:cNvPr id="6" name="Part number watermark"/>
          <p:cNvSpPr txBox="1"/>
          <p:nvPr/>
        </p:nvSpPr>
        <p:spPr>
          <a:xfrm>
            <a:off x="7498080" y="822960"/>
            <a:ext cx="4206240" cy="2926080"/>
          </a:xfrm>
          <a:prstGeom prst="rect">
            <a:avLst/>
          </a:prstGeom>
          <a:noFill/>
          <a:ln/>
        </p:spPr>
        <p:txBody>
          <a:bodyPr wrap="square" lIns="0" tIns="0" rIns="0" bIns="0" rtlCol="0" anchor="ctr"/>
          <a:lstStyle/>
          <a:p>
            <a:pPr algn="r" indent="0" marL="0">
              <a:buNone/>
            </a:pPr>
            <a:r>
              <a:rPr lang="en-US" sz="20000" b="1" dirty="0">
                <a:solidFill>
                  <a:schemeClr val="bg1">
                    <a:alpha val="18000"/>
                  </a:schemeClr>
                </a:solidFill>
                <a:latin typeface="+mj-lt" pitchFamily="34" charset="0"/>
                <a:ea typeface="+mj-lt" pitchFamily="34" charset="-122"/>
                <a:cs typeface="+mj-lt" pitchFamily="34" charset="-120"/>
              </a:rPr>
              <a:t>05</a:t>
            </a:r>
            <a:endParaRPr lang="en-US" sz="20000" dirty="0"/>
          </a:p>
        </p:txBody>
      </p:sp>
      <p:sp>
        <p:nvSpPr>
          <p:cNvPr id="7" name="Module list"/>
          <p:cNvSpPr txBox="1"/>
          <p:nvPr/>
        </p:nvSpPr>
        <p:spPr>
          <a:xfrm>
            <a:off x="7680960" y="3840480"/>
            <a:ext cx="4023360" cy="1737360"/>
          </a:xfrm>
          <a:prstGeom prst="rect">
            <a:avLst/>
          </a:prstGeom>
          <a:noFill/>
          <a:ln/>
        </p:spPr>
        <p:txBody>
          <a:bodyPr wrap="square" lIns="0" tIns="0" rIns="0" bIns="0" rtlCol="0" anchor="t"/>
          <a:lstStyle/>
          <a:p>
            <a:pPr indent="0" marL="0">
              <a:spcAft>
                <a:spcPts val="500"/>
              </a:spcAft>
              <a:buNone/>
            </a:pPr>
            <a:r>
              <a:rPr lang="en-US" sz="1700" dirty="0">
                <a:solidFill>
                  <a:schemeClr val="bg1"/>
                </a:solidFill>
              </a:rPr>
              <a:t>1   Git fundamentals</a:t>
            </a:r>
            <a:endParaRPr lang="en-US" sz="1700" dirty="0"/>
          </a:p>
          <a:p>
            <a:pPr indent="0" marL="0">
              <a:spcAft>
                <a:spcPts val="500"/>
              </a:spcAft>
              <a:buNone/>
            </a:pPr>
            <a:r>
              <a:rPr lang="en-US" sz="1700" dirty="0">
                <a:solidFill>
                  <a:schemeClr val="bg1"/>
                </a:solidFill>
              </a:rPr>
              <a:t>2   Deployment patterns</a:t>
            </a:r>
            <a:endParaRPr lang="en-US" sz="1700" dirty="0"/>
          </a:p>
          <a:p>
            <a:pPr indent="0" marL="0">
              <a:spcAft>
                <a:spcPts val="500"/>
              </a:spcAft>
              <a:buNone/>
            </a:pPr>
            <a:r>
              <a:rPr lang="en-US" sz="1700" dirty="0">
                <a:solidFill>
                  <a:schemeClr val="bg1"/>
                </a:solidFill>
              </a:rPr>
              <a:t>3   Governance in the delivery loop</a:t>
            </a:r>
            <a:endParaRPr lang="en-US" sz="1700" dirty="0"/>
          </a:p>
          <a:p>
            <a:pPr indent="0" marL="0">
              <a:spcAft>
                <a:spcPts val="500"/>
              </a:spcAft>
              <a:buNone/>
            </a:pPr>
            <a:r>
              <a:rPr lang="en-US" sz="1700" dirty="0">
                <a:solidFill>
                  <a:schemeClr val="bg1"/>
                </a:solidFill>
              </a:rPr>
              <a:t>4   AI in DevOps</a:t>
            </a:r>
            <a:endParaRPr lang="en-US" sz="1700" dirty="0"/>
          </a:p>
          <a:p>
            <a:pPr indent="0" marL="0">
              <a:spcAft>
                <a:spcPts val="500"/>
              </a:spcAft>
              <a:buNone/>
            </a:pPr>
            <a:r>
              <a:rPr lang="en-US" sz="1700" dirty="0">
                <a:solidFill>
                  <a:schemeClr val="bg1"/>
                </a:solidFill>
              </a:rPr>
              <a:t>5   Lab C: ship what you built</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file name is not a version history</a:t>
            </a:r>
            <a:endParaRPr lang="en-US" sz="3200" dirty="0"/>
          </a:p>
        </p:txBody>
      </p:sp>
      <p:sp>
        <p:nvSpPr>
          <p:cNvPr id="5" name="Names card"/>
          <p:cNvSpPr/>
          <p:nvPr/>
        </p:nvSpPr>
        <p:spPr>
          <a:xfrm>
            <a:off x="548640" y="1783080"/>
            <a:ext cx="5943600" cy="3337560"/>
          </a:xfrm>
          <a:prstGeom prst="roundRect">
            <a:avLst>
              <a:gd name="adj" fmla="val 3288"/>
            </a:avLst>
          </a:prstGeom>
          <a:solidFill>
            <a:schemeClr val="bg2"/>
          </a:solidFill>
          <a:ln/>
        </p:spPr>
      </p:sp>
      <p:sp>
        <p:nvSpPr>
          <p:cNvPr id="6" name="Names label"/>
          <p:cNvSpPr txBox="1"/>
          <p:nvPr/>
        </p:nvSpPr>
        <p:spPr>
          <a:xfrm>
            <a:off x="777240" y="1892808"/>
            <a:ext cx="54864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TODAY, IN THE PROOF OF CONCEPT FILES</a:t>
            </a:r>
            <a:endParaRPr lang="en-US" sz="1000" dirty="0"/>
          </a:p>
        </p:txBody>
      </p:sp>
      <p:sp>
        <p:nvSpPr>
          <p:cNvPr id="7" name="File names"/>
          <p:cNvSpPr txBox="1"/>
          <p:nvPr/>
        </p:nvSpPr>
        <p:spPr>
          <a:xfrm>
            <a:off x="777240" y="2240280"/>
            <a:ext cx="5532120" cy="2011680"/>
          </a:xfrm>
          <a:prstGeom prst="rect">
            <a:avLst/>
          </a:prstGeom>
          <a:noFill/>
          <a:ln/>
        </p:spPr>
        <p:txBody>
          <a:bodyPr wrap="square" lIns="0" tIns="0" rIns="0" bIns="0" rtlCol="0" anchor="t"/>
          <a:lstStyle/>
          <a:p>
            <a:pPr indent="0" marL="0">
              <a:spcAft>
                <a:spcPts val="700"/>
              </a:spcAft>
              <a:buNone/>
            </a:pPr>
            <a:r>
              <a:rPr lang="en-US" sz="1050" dirty="0">
                <a:solidFill>
                  <a:schemeClr val="tx1"/>
                </a:solidFill>
                <a:latin typeface="Courier New" pitchFamily="34" charset="0"/>
                <a:ea typeface="Courier New" pitchFamily="34" charset="-122"/>
                <a:cs typeface="Courier New" pitchFamily="34" charset="-120"/>
              </a:rPr>
              <a:t>DST+Domestic+Workflow+v1.2.yxzp</a:t>
            </a:r>
            <a:endParaRPr lang="en-US" sz="1400" dirty="0"/>
          </a:p>
          <a:p>
            <a:pPr indent="0" marL="0">
              <a:spcAft>
                <a:spcPts val="700"/>
              </a:spcAft>
              <a:buNone/>
            </a:pPr>
            <a:r>
              <a:rPr lang="en-US" sz="1050" dirty="0">
                <a:solidFill>
                  <a:schemeClr val="tx1"/>
                </a:solidFill>
                <a:latin typeface="Courier New" pitchFamily="34" charset="0"/>
                <a:ea typeface="Courier New" pitchFamily="34" charset="-122"/>
                <a:cs typeface="Courier New" pitchFamily="34" charset="-120"/>
              </a:rPr>
              <a:t>DST_Domestic_Workflow_v1_2_R1_07_21_pipeline_Run.zip</a:t>
            </a:r>
            <a:endParaRPr lang="en-US" sz="1400" dirty="0"/>
          </a:p>
          <a:p>
            <a:pPr indent="0" marL="0">
              <a:spcAft>
                <a:spcPts val="700"/>
              </a:spcAft>
              <a:buNone/>
            </a:pPr>
            <a:r>
              <a:rPr lang="en-US" sz="1050" dirty="0">
                <a:solidFill>
                  <a:schemeClr val="tx1"/>
                </a:solidFill>
                <a:latin typeface="Courier New" pitchFamily="34" charset="0"/>
                <a:ea typeface="Courier New" pitchFamily="34" charset="-122"/>
                <a:cs typeface="Courier New" pitchFamily="34" charset="-120"/>
              </a:rPr>
              <a:t>DST_Domestic_Workflow_v1_2_R1_07_21_pipeline_Run_withDataRefresh.zip</a:t>
            </a:r>
            <a:endParaRPr lang="en-US" sz="1400" dirty="0"/>
          </a:p>
          <a:p>
            <a:pPr indent="0" marL="0">
              <a:spcAft>
                <a:spcPts val="700"/>
              </a:spcAft>
              <a:buNone/>
            </a:pPr>
            <a:r>
              <a:rPr lang="en-US" sz="1050" dirty="0">
                <a:solidFill>
                  <a:schemeClr val="tx1"/>
                </a:solidFill>
                <a:latin typeface="Courier New" pitchFamily="34" charset="0"/>
                <a:ea typeface="Courier New" pitchFamily="34" charset="-122"/>
                <a:cs typeface="Courier New" pitchFamily="34" charset="-120"/>
              </a:rPr>
              <a:t>DST_Domestic_Workflow_v1_2_R1_07_21_complex_transforms.ipynb</a:t>
            </a:r>
            <a:endParaRPr lang="en-US" sz="1400" dirty="0"/>
          </a:p>
          <a:p>
            <a:pPr indent="0" marL="0">
              <a:spcAft>
                <a:spcPts val="700"/>
              </a:spcAft>
              <a:buNone/>
            </a:pPr>
            <a:r>
              <a:rPr lang="en-US" sz="1050" dirty="0">
                <a:solidFill>
                  <a:schemeClr val="tx1"/>
                </a:solidFill>
                <a:latin typeface="Courier New" pitchFamily="34" charset="0"/>
                <a:ea typeface="Courier New" pitchFamily="34" charset="-122"/>
                <a:cs typeface="Courier New" pitchFamily="34" charset="-120"/>
              </a:rPr>
              <a:t>DST_Domestic_Workflow_v1_2_R1_07_21_macros.ipynb</a:t>
            </a:r>
            <a:endParaRPr lang="en-US" sz="1400" dirty="0"/>
          </a:p>
        </p:txBody>
      </p:sp>
      <p:sp>
        <p:nvSpPr>
          <p:cNvPr id="8" name="Names note"/>
          <p:cNvSpPr txBox="1"/>
          <p:nvPr/>
        </p:nvSpPr>
        <p:spPr>
          <a:xfrm>
            <a:off x="777240" y="4343400"/>
            <a:ext cx="5532120" cy="640080"/>
          </a:xfrm>
          <a:prstGeom prst="rect">
            <a:avLst/>
          </a:prstGeom>
          <a:noFill/>
          <a:ln/>
        </p:spPr>
        <p:txBody>
          <a:bodyPr wrap="square" lIns="0" tIns="0" rIns="0" bIns="0" rtlCol="0" anchor="t"/>
          <a:lstStyle/>
          <a:p>
            <a:pPr indent="0" marL="0">
              <a:buNone/>
            </a:pPr>
            <a:r>
              <a:rPr lang="en-US" sz="1350" i="1" dirty="0">
                <a:solidFill>
                  <a:schemeClr val="tx1"/>
                </a:solidFill>
              </a:rPr>
              <a:t>Read one: a version, a release and what looks like a date, all inside the name.</a:t>
            </a:r>
            <a:endParaRPr lang="en-US" sz="1350" dirty="0"/>
          </a:p>
        </p:txBody>
      </p:sp>
      <p:sp>
        <p:nvSpPr>
          <p:cNvPr id="9" name="Who changed it? card"/>
          <p:cNvSpPr/>
          <p:nvPr/>
        </p:nvSpPr>
        <p:spPr>
          <a:xfrm>
            <a:off x="6720840" y="1783080"/>
            <a:ext cx="4919472" cy="758952"/>
          </a:xfrm>
          <a:prstGeom prst="roundRect">
            <a:avLst>
              <a:gd name="adj" fmla="val 14458"/>
            </a:avLst>
          </a:prstGeom>
          <a:solidFill>
            <a:schemeClr val="accent2">
              <a:alpha val="18000"/>
            </a:schemeClr>
          </a:solidFill>
          <a:ln/>
        </p:spPr>
      </p:sp>
      <p:sp>
        <p:nvSpPr>
          <p:cNvPr id="10" name="Ask title"/>
          <p:cNvSpPr txBox="1"/>
          <p:nvPr/>
        </p:nvSpPr>
        <p:spPr>
          <a:xfrm>
            <a:off x="6949440" y="1856232"/>
            <a:ext cx="44805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Who changed it?</a:t>
            </a:r>
            <a:endParaRPr lang="en-US" sz="1500" dirty="0"/>
          </a:p>
        </p:txBody>
      </p:sp>
      <p:sp>
        <p:nvSpPr>
          <p:cNvPr id="11" name="Ask answer"/>
          <p:cNvSpPr txBox="1"/>
          <p:nvPr/>
        </p:nvSpPr>
        <p:spPr>
          <a:xfrm>
            <a:off x="6949440" y="2185416"/>
            <a:ext cx="4480560" cy="274320"/>
          </a:xfrm>
          <a:prstGeom prst="rect">
            <a:avLst/>
          </a:prstGeom>
          <a:noFill/>
          <a:ln/>
        </p:spPr>
        <p:txBody>
          <a:bodyPr wrap="square" lIns="0" tIns="0" rIns="0" bIns="0" rtlCol="0" anchor="t"/>
          <a:lstStyle/>
          <a:p>
            <a:pPr indent="0" marL="0">
              <a:buNone/>
            </a:pPr>
            <a:r>
              <a:rPr lang="en-US" sz="1250" dirty="0">
                <a:solidFill>
                  <a:schemeClr val="tx1"/>
                </a:solidFill>
                <a:latin typeface="Courier New" pitchFamily="34" charset="0"/>
                <a:ea typeface="Courier New" pitchFamily="34" charset="-122"/>
                <a:cs typeface="Courier New" pitchFamily="34" charset="-120"/>
              </a:rPr>
              <a:t>git log, git blame</a:t>
            </a:r>
            <a:endParaRPr lang="en-US" sz="1250" dirty="0"/>
          </a:p>
        </p:txBody>
      </p:sp>
      <p:sp>
        <p:nvSpPr>
          <p:cNvPr id="12" name="What changed? card"/>
          <p:cNvSpPr/>
          <p:nvPr/>
        </p:nvSpPr>
        <p:spPr>
          <a:xfrm>
            <a:off x="6720840" y="2633472"/>
            <a:ext cx="4919472" cy="758952"/>
          </a:xfrm>
          <a:prstGeom prst="roundRect">
            <a:avLst>
              <a:gd name="adj" fmla="val 14458"/>
            </a:avLst>
          </a:prstGeom>
          <a:solidFill>
            <a:schemeClr val="accent2">
              <a:alpha val="18000"/>
            </a:schemeClr>
          </a:solidFill>
          <a:ln/>
        </p:spPr>
      </p:sp>
      <p:sp>
        <p:nvSpPr>
          <p:cNvPr id="13" name="Ask title"/>
          <p:cNvSpPr txBox="1"/>
          <p:nvPr/>
        </p:nvSpPr>
        <p:spPr>
          <a:xfrm>
            <a:off x="6949440" y="2706624"/>
            <a:ext cx="44805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What changed?</a:t>
            </a:r>
            <a:endParaRPr lang="en-US" sz="1500" dirty="0"/>
          </a:p>
        </p:txBody>
      </p:sp>
      <p:sp>
        <p:nvSpPr>
          <p:cNvPr id="14" name="Ask answer"/>
          <p:cNvSpPr txBox="1"/>
          <p:nvPr/>
        </p:nvSpPr>
        <p:spPr>
          <a:xfrm>
            <a:off x="6949440" y="3035808"/>
            <a:ext cx="4480560" cy="274320"/>
          </a:xfrm>
          <a:prstGeom prst="rect">
            <a:avLst/>
          </a:prstGeom>
          <a:noFill/>
          <a:ln/>
        </p:spPr>
        <p:txBody>
          <a:bodyPr wrap="square" lIns="0" tIns="0" rIns="0" bIns="0" rtlCol="0" anchor="t"/>
          <a:lstStyle/>
          <a:p>
            <a:pPr indent="0" marL="0">
              <a:buNone/>
            </a:pPr>
            <a:r>
              <a:rPr lang="en-US" sz="1250" dirty="0">
                <a:solidFill>
                  <a:schemeClr val="tx1"/>
                </a:solidFill>
                <a:latin typeface="Courier New" pitchFamily="34" charset="0"/>
                <a:ea typeface="Courier New" pitchFamily="34" charset="-122"/>
                <a:cs typeface="Courier New" pitchFamily="34" charset="-120"/>
              </a:rPr>
              <a:t>git diff</a:t>
            </a:r>
            <a:endParaRPr lang="en-US" sz="1250" dirty="0"/>
          </a:p>
        </p:txBody>
      </p:sp>
      <p:sp>
        <p:nvSpPr>
          <p:cNvPr id="15" name="Why? card"/>
          <p:cNvSpPr/>
          <p:nvPr/>
        </p:nvSpPr>
        <p:spPr>
          <a:xfrm>
            <a:off x="6720840" y="3483864"/>
            <a:ext cx="4919472" cy="758952"/>
          </a:xfrm>
          <a:prstGeom prst="roundRect">
            <a:avLst>
              <a:gd name="adj" fmla="val 14458"/>
            </a:avLst>
          </a:prstGeom>
          <a:solidFill>
            <a:schemeClr val="accent2">
              <a:alpha val="18000"/>
            </a:schemeClr>
          </a:solidFill>
          <a:ln/>
        </p:spPr>
      </p:sp>
      <p:sp>
        <p:nvSpPr>
          <p:cNvPr id="16" name="Ask title"/>
          <p:cNvSpPr txBox="1"/>
          <p:nvPr/>
        </p:nvSpPr>
        <p:spPr>
          <a:xfrm>
            <a:off x="6949440" y="3557016"/>
            <a:ext cx="44805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Why?</a:t>
            </a:r>
            <a:endParaRPr lang="en-US" sz="1500" dirty="0"/>
          </a:p>
        </p:txBody>
      </p:sp>
      <p:sp>
        <p:nvSpPr>
          <p:cNvPr id="17" name="Ask answer"/>
          <p:cNvSpPr txBox="1"/>
          <p:nvPr/>
        </p:nvSpPr>
        <p:spPr>
          <a:xfrm>
            <a:off x="6949440" y="3886200"/>
            <a:ext cx="4480560" cy="274320"/>
          </a:xfrm>
          <a:prstGeom prst="rect">
            <a:avLst/>
          </a:prstGeom>
          <a:noFill/>
          <a:ln/>
        </p:spPr>
        <p:txBody>
          <a:bodyPr wrap="square" lIns="0" tIns="0" rIns="0" bIns="0" rtlCol="0" anchor="t"/>
          <a:lstStyle/>
          <a:p>
            <a:pPr indent="0" marL="0">
              <a:buNone/>
            </a:pPr>
            <a:r>
              <a:rPr lang="en-US" sz="1250" dirty="0">
                <a:solidFill>
                  <a:schemeClr val="tx1"/>
                </a:solidFill>
                <a:latin typeface="Courier New" pitchFamily="34" charset="0"/>
                <a:ea typeface="Courier New" pitchFamily="34" charset="-122"/>
                <a:cs typeface="Courier New" pitchFamily="34" charset="-120"/>
              </a:rPr>
              <a:t>The commit message and its work item</a:t>
            </a:r>
            <a:endParaRPr lang="en-US" sz="1250" dirty="0"/>
          </a:p>
        </p:txBody>
      </p:sp>
      <p:sp>
        <p:nvSpPr>
          <p:cNvPr id="18" name="Can I go back? card"/>
          <p:cNvSpPr/>
          <p:nvPr/>
        </p:nvSpPr>
        <p:spPr>
          <a:xfrm>
            <a:off x="6720840" y="4334256"/>
            <a:ext cx="4919472" cy="758952"/>
          </a:xfrm>
          <a:prstGeom prst="roundRect">
            <a:avLst>
              <a:gd name="adj" fmla="val 14458"/>
            </a:avLst>
          </a:prstGeom>
          <a:solidFill>
            <a:schemeClr val="accent2">
              <a:alpha val="18000"/>
            </a:schemeClr>
          </a:solidFill>
          <a:ln/>
        </p:spPr>
      </p:sp>
      <p:sp>
        <p:nvSpPr>
          <p:cNvPr id="19" name="Ask title"/>
          <p:cNvSpPr txBox="1"/>
          <p:nvPr/>
        </p:nvSpPr>
        <p:spPr>
          <a:xfrm>
            <a:off x="6949440" y="4407408"/>
            <a:ext cx="44805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Can I go back?</a:t>
            </a:r>
            <a:endParaRPr lang="en-US" sz="1500" dirty="0"/>
          </a:p>
        </p:txBody>
      </p:sp>
      <p:sp>
        <p:nvSpPr>
          <p:cNvPr id="20" name="Ask answer"/>
          <p:cNvSpPr txBox="1"/>
          <p:nvPr/>
        </p:nvSpPr>
        <p:spPr>
          <a:xfrm>
            <a:off x="6949440" y="4736592"/>
            <a:ext cx="4480560" cy="274320"/>
          </a:xfrm>
          <a:prstGeom prst="rect">
            <a:avLst/>
          </a:prstGeom>
          <a:noFill/>
          <a:ln/>
        </p:spPr>
        <p:txBody>
          <a:bodyPr wrap="square" lIns="0" tIns="0" rIns="0" bIns="0" rtlCol="0" anchor="t"/>
          <a:lstStyle/>
          <a:p>
            <a:pPr indent="0" marL="0">
              <a:buNone/>
            </a:pPr>
            <a:r>
              <a:rPr lang="en-US" sz="1250" dirty="0">
                <a:solidFill>
                  <a:schemeClr val="tx1"/>
                </a:solidFill>
                <a:latin typeface="Courier New" pitchFamily="34" charset="0"/>
                <a:ea typeface="Courier New" pitchFamily="34" charset="-122"/>
                <a:cs typeface="Courier New" pitchFamily="34" charset="-120"/>
              </a:rPr>
              <a:t>git revert, git restore</a:t>
            </a:r>
            <a:endParaRPr lang="en-US" sz="1250" dirty="0"/>
          </a:p>
        </p:txBody>
      </p:sp>
      <p:sp>
        <p:nvSpPr>
          <p:cNvPr id="21" name="Takeaway"/>
          <p:cNvSpPr txBox="1"/>
          <p:nvPr/>
        </p:nvSpPr>
        <p:spPr>
          <a:xfrm>
            <a:off x="548640" y="534924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Git adds a fifth question the file name never could: who reviewed it before it was accepted?</a:t>
            </a:r>
            <a:endParaRPr lang="en-US" sz="1600" dirty="0"/>
          </a:p>
        </p:txBody>
      </p:sp>
      <p:sp>
        <p:nvSpPr>
          <p:cNvPr id="22" name="Footnote"/>
          <p:cNvSpPr txBox="1"/>
          <p:nvPr/>
        </p:nvSpPr>
        <p:spPr>
          <a:xfrm>
            <a:off x="548640" y="60350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File names from the Disney Fabric Files folder and the DST workflow package.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Six words are enough to start</a:t>
            </a:r>
            <a:endParaRPr lang="en-US" sz="3200" dirty="0"/>
          </a:p>
        </p:txBody>
      </p:sp>
      <p:sp>
        <p:nvSpPr>
          <p:cNvPr id="5" name="Repository card"/>
          <p:cNvSpPr/>
          <p:nvPr/>
        </p:nvSpPr>
        <p:spPr>
          <a:xfrm>
            <a:off x="548640" y="1783080"/>
            <a:ext cx="3593592" cy="1920240"/>
          </a:xfrm>
          <a:prstGeom prst="roundRect">
            <a:avLst>
              <a:gd name="adj" fmla="val 5714"/>
            </a:avLst>
          </a:prstGeom>
          <a:solidFill>
            <a:schemeClr val="bg2"/>
          </a:solidFill>
          <a:ln/>
        </p:spPr>
      </p:sp>
      <p:sp>
        <p:nvSpPr>
          <p:cNvPr id="6" name="Repository badge"/>
          <p:cNvSpPr/>
          <p:nvPr/>
        </p:nvSpPr>
        <p:spPr>
          <a:xfrm>
            <a:off x="777240" y="1984248"/>
            <a:ext cx="548640" cy="548640"/>
          </a:xfrm>
          <a:prstGeom prst="ellipse">
            <a:avLst/>
          </a:prstGeom>
          <a:solidFill>
            <a:schemeClr val="accent1"/>
          </a:solidFill>
          <a:ln/>
        </p:spPr>
      </p:sp>
      <p:pic>
        <p:nvPicPr>
          <p:cNvPr id="7" name="Image 0" descr="Repository icon">    </p:cNvPr>
          <p:cNvPicPr>
            <a:picLocks noChangeAspect="1"/>
          </p:cNvPicPr>
          <p:nvPr/>
        </p:nvPicPr>
        <p:blipFill>
          <a:blip r:embed="rId1"/>
          <a:stretch>
            <a:fillRect/>
          </a:stretch>
        </p:blipFill>
        <p:spPr>
          <a:xfrm>
            <a:off x="914400" y="2121408"/>
            <a:ext cx="274320" cy="274320"/>
          </a:xfrm>
          <a:prstGeom prst="rect">
            <a:avLst/>
          </a:prstGeom>
        </p:spPr>
      </p:pic>
      <p:sp>
        <p:nvSpPr>
          <p:cNvPr id="8" name="Word"/>
          <p:cNvSpPr txBox="1"/>
          <p:nvPr/>
        </p:nvSpPr>
        <p:spPr>
          <a:xfrm>
            <a:off x="1508760" y="1984248"/>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Repository</a:t>
            </a:r>
            <a:endParaRPr lang="en-US" sz="1800" dirty="0"/>
          </a:p>
        </p:txBody>
      </p:sp>
      <p:sp>
        <p:nvSpPr>
          <p:cNvPr id="9" name="Plain words"/>
          <p:cNvSpPr txBox="1"/>
          <p:nvPr/>
        </p:nvSpPr>
        <p:spPr>
          <a:xfrm>
            <a:off x="777240" y="2679192"/>
            <a:ext cx="3154680" cy="502920"/>
          </a:xfrm>
          <a:prstGeom prst="rect">
            <a:avLst/>
          </a:prstGeom>
          <a:noFill/>
          <a:ln/>
        </p:spPr>
        <p:txBody>
          <a:bodyPr wrap="square" lIns="0" tIns="0" rIns="0" bIns="0" rtlCol="0" anchor="t"/>
          <a:lstStyle/>
          <a:p>
            <a:pPr indent="0" marL="0">
              <a:buNone/>
            </a:pPr>
            <a:r>
              <a:rPr lang="en-US" sz="1350" dirty="0">
                <a:solidFill>
                  <a:schemeClr val="tx1"/>
                </a:solidFill>
              </a:rPr>
              <a:t>A project folder that remembers every version.</a:t>
            </a:r>
            <a:endParaRPr lang="en-US" sz="1350" dirty="0"/>
          </a:p>
        </p:txBody>
      </p:sp>
      <p:sp>
        <p:nvSpPr>
          <p:cNvPr id="10" name="Analogy"/>
          <p:cNvSpPr txBox="1"/>
          <p:nvPr/>
        </p:nvSpPr>
        <p:spPr>
          <a:xfrm>
            <a:off x="777240" y="3200400"/>
            <a:ext cx="3154680" cy="365760"/>
          </a:xfrm>
          <a:prstGeom prst="rect">
            <a:avLst/>
          </a:prstGeom>
          <a:noFill/>
          <a:ln/>
        </p:spPr>
        <p:txBody>
          <a:bodyPr wrap="square" lIns="0" tIns="0" rIns="0" bIns="0" rtlCol="0" anchor="t"/>
          <a:lstStyle/>
          <a:p>
            <a:pPr indent="0" marL="0">
              <a:buNone/>
            </a:pPr>
            <a:r>
              <a:rPr lang="en-US" sz="1200" i="1" dirty="0">
                <a:solidFill>
                  <a:schemeClr val="accent1"/>
                </a:solidFill>
              </a:rPr>
              <a:t>Like a shared folder with a complete history.</a:t>
            </a:r>
            <a:endParaRPr lang="en-US" sz="1200" dirty="0"/>
          </a:p>
        </p:txBody>
      </p:sp>
      <p:sp>
        <p:nvSpPr>
          <p:cNvPr id="11" name="Commit card"/>
          <p:cNvSpPr/>
          <p:nvPr/>
        </p:nvSpPr>
        <p:spPr>
          <a:xfrm>
            <a:off x="4297680" y="1783080"/>
            <a:ext cx="3593592" cy="1920240"/>
          </a:xfrm>
          <a:prstGeom prst="roundRect">
            <a:avLst>
              <a:gd name="adj" fmla="val 5714"/>
            </a:avLst>
          </a:prstGeom>
          <a:solidFill>
            <a:schemeClr val="bg2"/>
          </a:solidFill>
          <a:ln/>
        </p:spPr>
      </p:sp>
      <p:sp>
        <p:nvSpPr>
          <p:cNvPr id="12" name="Commit badge"/>
          <p:cNvSpPr/>
          <p:nvPr/>
        </p:nvSpPr>
        <p:spPr>
          <a:xfrm>
            <a:off x="4526280" y="1984248"/>
            <a:ext cx="548640" cy="548640"/>
          </a:xfrm>
          <a:prstGeom prst="ellipse">
            <a:avLst/>
          </a:prstGeom>
          <a:solidFill>
            <a:schemeClr val="accent2"/>
          </a:solidFill>
          <a:ln/>
        </p:spPr>
      </p:sp>
      <p:pic>
        <p:nvPicPr>
          <p:cNvPr id="13" name="Image 1" descr="Commit icon">    </p:cNvPr>
          <p:cNvPicPr>
            <a:picLocks noChangeAspect="1"/>
          </p:cNvPicPr>
          <p:nvPr/>
        </p:nvPicPr>
        <p:blipFill>
          <a:blip r:embed="rId2"/>
          <a:stretch>
            <a:fillRect/>
          </a:stretch>
        </p:blipFill>
        <p:spPr>
          <a:xfrm>
            <a:off x="4663440" y="2121408"/>
            <a:ext cx="274320" cy="274320"/>
          </a:xfrm>
          <a:prstGeom prst="rect">
            <a:avLst/>
          </a:prstGeom>
        </p:spPr>
      </p:pic>
      <p:sp>
        <p:nvSpPr>
          <p:cNvPr id="14" name="Word"/>
          <p:cNvSpPr txBox="1"/>
          <p:nvPr/>
        </p:nvSpPr>
        <p:spPr>
          <a:xfrm>
            <a:off x="5257800" y="1984248"/>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Commit</a:t>
            </a:r>
            <a:endParaRPr lang="en-US" sz="1800" dirty="0"/>
          </a:p>
        </p:txBody>
      </p:sp>
      <p:sp>
        <p:nvSpPr>
          <p:cNvPr id="15" name="Plain words"/>
          <p:cNvSpPr txBox="1"/>
          <p:nvPr/>
        </p:nvSpPr>
        <p:spPr>
          <a:xfrm>
            <a:off x="4526280" y="2679192"/>
            <a:ext cx="3154680" cy="502920"/>
          </a:xfrm>
          <a:prstGeom prst="rect">
            <a:avLst/>
          </a:prstGeom>
          <a:noFill/>
          <a:ln/>
        </p:spPr>
        <p:txBody>
          <a:bodyPr wrap="square" lIns="0" tIns="0" rIns="0" bIns="0" rtlCol="0" anchor="t"/>
          <a:lstStyle/>
          <a:p>
            <a:pPr indent="0" marL="0">
              <a:buNone/>
            </a:pPr>
            <a:r>
              <a:rPr lang="en-US" sz="1350" dirty="0">
                <a:solidFill>
                  <a:schemeClr val="tx1"/>
                </a:solidFill>
              </a:rPr>
              <a:t>A saved checkpoint, with a note saying why.</a:t>
            </a:r>
            <a:endParaRPr lang="en-US" sz="1350" dirty="0"/>
          </a:p>
        </p:txBody>
      </p:sp>
      <p:sp>
        <p:nvSpPr>
          <p:cNvPr id="16" name="Analogy"/>
          <p:cNvSpPr txBox="1"/>
          <p:nvPr/>
        </p:nvSpPr>
        <p:spPr>
          <a:xfrm>
            <a:off x="4526280" y="3200400"/>
            <a:ext cx="3154680" cy="365760"/>
          </a:xfrm>
          <a:prstGeom prst="rect">
            <a:avLst/>
          </a:prstGeom>
          <a:noFill/>
          <a:ln/>
        </p:spPr>
        <p:txBody>
          <a:bodyPr wrap="square" lIns="0" tIns="0" rIns="0" bIns="0" rtlCol="0" anchor="t"/>
          <a:lstStyle/>
          <a:p>
            <a:pPr indent="0" marL="0">
              <a:buNone/>
            </a:pPr>
            <a:r>
              <a:rPr lang="en-US" sz="1200" i="1" dirty="0">
                <a:solidFill>
                  <a:schemeClr val="accent1"/>
                </a:solidFill>
              </a:rPr>
              <a:t>Like Save As, with a reason attached.</a:t>
            </a:r>
            <a:endParaRPr lang="en-US" sz="1200" dirty="0"/>
          </a:p>
        </p:txBody>
      </p:sp>
      <p:sp>
        <p:nvSpPr>
          <p:cNvPr id="17" name="Branch card"/>
          <p:cNvSpPr/>
          <p:nvPr/>
        </p:nvSpPr>
        <p:spPr>
          <a:xfrm>
            <a:off x="8046720" y="1783080"/>
            <a:ext cx="3593592" cy="1920240"/>
          </a:xfrm>
          <a:prstGeom prst="roundRect">
            <a:avLst>
              <a:gd name="adj" fmla="val 5714"/>
            </a:avLst>
          </a:prstGeom>
          <a:solidFill>
            <a:schemeClr val="bg2"/>
          </a:solidFill>
          <a:ln/>
        </p:spPr>
      </p:sp>
      <p:sp>
        <p:nvSpPr>
          <p:cNvPr id="18" name="Branch badge"/>
          <p:cNvSpPr/>
          <p:nvPr/>
        </p:nvSpPr>
        <p:spPr>
          <a:xfrm>
            <a:off x="8275320" y="1984248"/>
            <a:ext cx="548640" cy="548640"/>
          </a:xfrm>
          <a:prstGeom prst="ellipse">
            <a:avLst/>
          </a:prstGeom>
          <a:solidFill>
            <a:schemeClr val="tx2"/>
          </a:solidFill>
          <a:ln/>
        </p:spPr>
      </p:sp>
      <p:pic>
        <p:nvPicPr>
          <p:cNvPr id="19" name="Image 2" descr="Branch icon">    </p:cNvPr>
          <p:cNvPicPr>
            <a:picLocks noChangeAspect="1"/>
          </p:cNvPicPr>
          <p:nvPr/>
        </p:nvPicPr>
        <p:blipFill>
          <a:blip r:embed="rId3"/>
          <a:stretch>
            <a:fillRect/>
          </a:stretch>
        </p:blipFill>
        <p:spPr>
          <a:xfrm>
            <a:off x="8412480" y="2121408"/>
            <a:ext cx="274320" cy="274320"/>
          </a:xfrm>
          <a:prstGeom prst="rect">
            <a:avLst/>
          </a:prstGeom>
        </p:spPr>
      </p:pic>
      <p:sp>
        <p:nvSpPr>
          <p:cNvPr id="20" name="Word"/>
          <p:cNvSpPr txBox="1"/>
          <p:nvPr/>
        </p:nvSpPr>
        <p:spPr>
          <a:xfrm>
            <a:off x="9006840" y="1984248"/>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Branch</a:t>
            </a:r>
            <a:endParaRPr lang="en-US" sz="1800" dirty="0"/>
          </a:p>
        </p:txBody>
      </p:sp>
      <p:sp>
        <p:nvSpPr>
          <p:cNvPr id="21" name="Plain words"/>
          <p:cNvSpPr txBox="1"/>
          <p:nvPr/>
        </p:nvSpPr>
        <p:spPr>
          <a:xfrm>
            <a:off x="8275320" y="2679192"/>
            <a:ext cx="3154680" cy="502920"/>
          </a:xfrm>
          <a:prstGeom prst="rect">
            <a:avLst/>
          </a:prstGeom>
          <a:noFill/>
          <a:ln/>
        </p:spPr>
        <p:txBody>
          <a:bodyPr wrap="square" lIns="0" tIns="0" rIns="0" bIns="0" rtlCol="0" anchor="t"/>
          <a:lstStyle/>
          <a:p>
            <a:pPr indent="0" marL="0">
              <a:buNone/>
            </a:pPr>
            <a:r>
              <a:rPr lang="en-US" sz="1350" dirty="0">
                <a:solidFill>
                  <a:schemeClr val="tx1"/>
                </a:solidFill>
              </a:rPr>
              <a:t>A parallel line of work that leaves the main line alone.</a:t>
            </a:r>
            <a:endParaRPr lang="en-US" sz="1350" dirty="0"/>
          </a:p>
        </p:txBody>
      </p:sp>
      <p:sp>
        <p:nvSpPr>
          <p:cNvPr id="22" name="Analogy"/>
          <p:cNvSpPr txBox="1"/>
          <p:nvPr/>
        </p:nvSpPr>
        <p:spPr>
          <a:xfrm>
            <a:off x="8275320" y="3200400"/>
            <a:ext cx="3154680" cy="365760"/>
          </a:xfrm>
          <a:prstGeom prst="rect">
            <a:avLst/>
          </a:prstGeom>
          <a:noFill/>
          <a:ln/>
        </p:spPr>
        <p:txBody>
          <a:bodyPr wrap="square" lIns="0" tIns="0" rIns="0" bIns="0" rtlCol="0" anchor="t"/>
          <a:lstStyle/>
          <a:p>
            <a:pPr indent="0" marL="0">
              <a:buNone/>
            </a:pPr>
            <a:r>
              <a:rPr lang="en-US" sz="1200" i="1" dirty="0">
                <a:solidFill>
                  <a:schemeClr val="accent1"/>
                </a:solidFill>
              </a:rPr>
              <a:t>Like working on a copy of the workbook.</a:t>
            </a:r>
            <a:endParaRPr lang="en-US" sz="1200" dirty="0"/>
          </a:p>
        </p:txBody>
      </p:sp>
      <p:sp>
        <p:nvSpPr>
          <p:cNvPr id="23" name="Merge card"/>
          <p:cNvSpPr/>
          <p:nvPr/>
        </p:nvSpPr>
        <p:spPr>
          <a:xfrm>
            <a:off x="548640" y="3840480"/>
            <a:ext cx="3593592" cy="1920240"/>
          </a:xfrm>
          <a:prstGeom prst="roundRect">
            <a:avLst>
              <a:gd name="adj" fmla="val 5714"/>
            </a:avLst>
          </a:prstGeom>
          <a:solidFill>
            <a:schemeClr val="bg2"/>
          </a:solidFill>
          <a:ln/>
        </p:spPr>
      </p:sp>
      <p:sp>
        <p:nvSpPr>
          <p:cNvPr id="24" name="Merge badge"/>
          <p:cNvSpPr/>
          <p:nvPr/>
        </p:nvSpPr>
        <p:spPr>
          <a:xfrm>
            <a:off x="777240" y="4041648"/>
            <a:ext cx="548640" cy="548640"/>
          </a:xfrm>
          <a:prstGeom prst="ellipse">
            <a:avLst/>
          </a:prstGeom>
          <a:solidFill>
            <a:schemeClr val="accent3"/>
          </a:solidFill>
          <a:ln/>
        </p:spPr>
      </p:sp>
      <p:pic>
        <p:nvPicPr>
          <p:cNvPr id="25" name="Image 3" descr="Merge icon">    </p:cNvPr>
          <p:cNvPicPr>
            <a:picLocks noChangeAspect="1"/>
          </p:cNvPicPr>
          <p:nvPr/>
        </p:nvPicPr>
        <p:blipFill>
          <a:blip r:embed="rId4"/>
          <a:stretch>
            <a:fillRect/>
          </a:stretch>
        </p:blipFill>
        <p:spPr>
          <a:xfrm>
            <a:off x="914400" y="4178808"/>
            <a:ext cx="274320" cy="274320"/>
          </a:xfrm>
          <a:prstGeom prst="rect">
            <a:avLst/>
          </a:prstGeom>
        </p:spPr>
      </p:pic>
      <p:sp>
        <p:nvSpPr>
          <p:cNvPr id="26" name="Word"/>
          <p:cNvSpPr txBox="1"/>
          <p:nvPr/>
        </p:nvSpPr>
        <p:spPr>
          <a:xfrm>
            <a:off x="1508760" y="4041648"/>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Merge</a:t>
            </a:r>
            <a:endParaRPr lang="en-US" sz="1800" dirty="0"/>
          </a:p>
        </p:txBody>
      </p:sp>
      <p:sp>
        <p:nvSpPr>
          <p:cNvPr id="27" name="Plain words"/>
          <p:cNvSpPr txBox="1"/>
          <p:nvPr/>
        </p:nvSpPr>
        <p:spPr>
          <a:xfrm>
            <a:off x="777240" y="4736592"/>
            <a:ext cx="3154680" cy="502920"/>
          </a:xfrm>
          <a:prstGeom prst="rect">
            <a:avLst/>
          </a:prstGeom>
          <a:noFill/>
          <a:ln/>
        </p:spPr>
        <p:txBody>
          <a:bodyPr wrap="square" lIns="0" tIns="0" rIns="0" bIns="0" rtlCol="0" anchor="t"/>
          <a:lstStyle/>
          <a:p>
            <a:pPr indent="0" marL="0">
              <a:buNone/>
            </a:pPr>
            <a:r>
              <a:rPr lang="en-US" sz="1350" dirty="0">
                <a:solidFill>
                  <a:schemeClr val="tx1"/>
                </a:solidFill>
              </a:rPr>
              <a:t>Bringing two lines of work back together.</a:t>
            </a:r>
            <a:endParaRPr lang="en-US" sz="1350" dirty="0"/>
          </a:p>
        </p:txBody>
      </p:sp>
      <p:sp>
        <p:nvSpPr>
          <p:cNvPr id="28" name="Analogy"/>
          <p:cNvSpPr txBox="1"/>
          <p:nvPr/>
        </p:nvSpPr>
        <p:spPr>
          <a:xfrm>
            <a:off x="777240" y="5257800"/>
            <a:ext cx="3154680" cy="365760"/>
          </a:xfrm>
          <a:prstGeom prst="rect">
            <a:avLst/>
          </a:prstGeom>
          <a:noFill/>
          <a:ln/>
        </p:spPr>
        <p:txBody>
          <a:bodyPr wrap="square" lIns="0" tIns="0" rIns="0" bIns="0" rtlCol="0" anchor="t"/>
          <a:lstStyle/>
          <a:p>
            <a:pPr indent="0" marL="0">
              <a:buNone/>
            </a:pPr>
            <a:r>
              <a:rPr lang="en-US" sz="1200" i="1" dirty="0">
                <a:solidFill>
                  <a:schemeClr val="accent1"/>
                </a:solidFill>
              </a:rPr>
              <a:t>Like combining tracked changes.</a:t>
            </a:r>
            <a:endParaRPr lang="en-US" sz="1200" dirty="0"/>
          </a:p>
        </p:txBody>
      </p:sp>
      <p:sp>
        <p:nvSpPr>
          <p:cNvPr id="29" name="Pull request card"/>
          <p:cNvSpPr/>
          <p:nvPr/>
        </p:nvSpPr>
        <p:spPr>
          <a:xfrm>
            <a:off x="4297680" y="3840480"/>
            <a:ext cx="3593592" cy="1920240"/>
          </a:xfrm>
          <a:prstGeom prst="roundRect">
            <a:avLst>
              <a:gd name="adj" fmla="val 5714"/>
            </a:avLst>
          </a:prstGeom>
          <a:solidFill>
            <a:schemeClr val="bg2"/>
          </a:solidFill>
          <a:ln/>
        </p:spPr>
      </p:sp>
      <p:sp>
        <p:nvSpPr>
          <p:cNvPr id="30" name="Pull request badge"/>
          <p:cNvSpPr/>
          <p:nvPr/>
        </p:nvSpPr>
        <p:spPr>
          <a:xfrm>
            <a:off x="4526280" y="4041648"/>
            <a:ext cx="548640" cy="548640"/>
          </a:xfrm>
          <a:prstGeom prst="ellipse">
            <a:avLst/>
          </a:prstGeom>
          <a:solidFill>
            <a:schemeClr val="accent4"/>
          </a:solidFill>
          <a:ln/>
        </p:spPr>
      </p:sp>
      <p:pic>
        <p:nvPicPr>
          <p:cNvPr id="31" name="Image 4" descr="Pull request icon">    </p:cNvPr>
          <p:cNvPicPr>
            <a:picLocks noChangeAspect="1"/>
          </p:cNvPicPr>
          <p:nvPr/>
        </p:nvPicPr>
        <p:blipFill>
          <a:blip r:embed="rId5"/>
          <a:stretch>
            <a:fillRect/>
          </a:stretch>
        </p:blipFill>
        <p:spPr>
          <a:xfrm>
            <a:off x="4663440" y="4178808"/>
            <a:ext cx="274320" cy="274320"/>
          </a:xfrm>
          <a:prstGeom prst="rect">
            <a:avLst/>
          </a:prstGeom>
        </p:spPr>
      </p:pic>
      <p:sp>
        <p:nvSpPr>
          <p:cNvPr id="32" name="Word"/>
          <p:cNvSpPr txBox="1"/>
          <p:nvPr/>
        </p:nvSpPr>
        <p:spPr>
          <a:xfrm>
            <a:off x="5257800" y="4041648"/>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Pull request</a:t>
            </a:r>
            <a:endParaRPr lang="en-US" sz="1800" dirty="0"/>
          </a:p>
        </p:txBody>
      </p:sp>
      <p:sp>
        <p:nvSpPr>
          <p:cNvPr id="33" name="Plain words"/>
          <p:cNvSpPr txBox="1"/>
          <p:nvPr/>
        </p:nvSpPr>
        <p:spPr>
          <a:xfrm>
            <a:off x="4526280" y="4736592"/>
            <a:ext cx="3154680" cy="502920"/>
          </a:xfrm>
          <a:prstGeom prst="rect">
            <a:avLst/>
          </a:prstGeom>
          <a:noFill/>
          <a:ln/>
        </p:spPr>
        <p:txBody>
          <a:bodyPr wrap="square" lIns="0" tIns="0" rIns="0" bIns="0" rtlCol="0" anchor="t"/>
          <a:lstStyle/>
          <a:p>
            <a:pPr indent="0" marL="0">
              <a:buNone/>
            </a:pPr>
            <a:r>
              <a:rPr lang="en-US" sz="1350" dirty="0">
                <a:solidFill>
                  <a:schemeClr val="tx1"/>
                </a:solidFill>
              </a:rPr>
              <a:t>A proposal to merge, with a review attached.</a:t>
            </a:r>
            <a:endParaRPr lang="en-US" sz="1350" dirty="0"/>
          </a:p>
        </p:txBody>
      </p:sp>
      <p:sp>
        <p:nvSpPr>
          <p:cNvPr id="34" name="Analogy"/>
          <p:cNvSpPr txBox="1"/>
          <p:nvPr/>
        </p:nvSpPr>
        <p:spPr>
          <a:xfrm>
            <a:off x="4526280" y="5257800"/>
            <a:ext cx="3154680" cy="365760"/>
          </a:xfrm>
          <a:prstGeom prst="rect">
            <a:avLst/>
          </a:prstGeom>
          <a:noFill/>
          <a:ln/>
        </p:spPr>
        <p:txBody>
          <a:bodyPr wrap="square" lIns="0" tIns="0" rIns="0" bIns="0" rtlCol="0" anchor="t"/>
          <a:lstStyle/>
          <a:p>
            <a:pPr indent="0" marL="0">
              <a:buNone/>
            </a:pPr>
            <a:r>
              <a:rPr lang="en-US" sz="1200" i="1" dirty="0">
                <a:solidFill>
                  <a:schemeClr val="accent1"/>
                </a:solidFill>
              </a:rPr>
              <a:t>Like sending a draft for sign-off.</a:t>
            </a:r>
            <a:endParaRPr lang="en-US" sz="1200" dirty="0"/>
          </a:p>
        </p:txBody>
      </p:sp>
      <p:sp>
        <p:nvSpPr>
          <p:cNvPr id="35" name="Tag card"/>
          <p:cNvSpPr/>
          <p:nvPr/>
        </p:nvSpPr>
        <p:spPr>
          <a:xfrm>
            <a:off x="8046720" y="3840480"/>
            <a:ext cx="3593592" cy="1920240"/>
          </a:xfrm>
          <a:prstGeom prst="roundRect">
            <a:avLst>
              <a:gd name="adj" fmla="val 5714"/>
            </a:avLst>
          </a:prstGeom>
          <a:solidFill>
            <a:schemeClr val="bg2"/>
          </a:solidFill>
          <a:ln/>
        </p:spPr>
      </p:sp>
      <p:sp>
        <p:nvSpPr>
          <p:cNvPr id="36" name="Tag badge"/>
          <p:cNvSpPr/>
          <p:nvPr/>
        </p:nvSpPr>
        <p:spPr>
          <a:xfrm>
            <a:off x="8275320" y="4041648"/>
            <a:ext cx="548640" cy="548640"/>
          </a:xfrm>
          <a:prstGeom prst="ellipse">
            <a:avLst/>
          </a:prstGeom>
          <a:solidFill>
            <a:schemeClr val="accent6"/>
          </a:solidFill>
          <a:ln/>
        </p:spPr>
      </p:sp>
      <p:pic>
        <p:nvPicPr>
          <p:cNvPr id="37" name="Image 5" descr="Tag icon">    </p:cNvPr>
          <p:cNvPicPr>
            <a:picLocks noChangeAspect="1"/>
          </p:cNvPicPr>
          <p:nvPr/>
        </p:nvPicPr>
        <p:blipFill>
          <a:blip r:embed="rId6"/>
          <a:stretch>
            <a:fillRect/>
          </a:stretch>
        </p:blipFill>
        <p:spPr>
          <a:xfrm>
            <a:off x="8412480" y="4178808"/>
            <a:ext cx="274320" cy="274320"/>
          </a:xfrm>
          <a:prstGeom prst="rect">
            <a:avLst/>
          </a:prstGeom>
        </p:spPr>
      </p:pic>
      <p:sp>
        <p:nvSpPr>
          <p:cNvPr id="38" name="Word"/>
          <p:cNvSpPr txBox="1"/>
          <p:nvPr/>
        </p:nvSpPr>
        <p:spPr>
          <a:xfrm>
            <a:off x="9006840" y="4041648"/>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Tag</a:t>
            </a:r>
            <a:endParaRPr lang="en-US" sz="1800" dirty="0"/>
          </a:p>
        </p:txBody>
      </p:sp>
      <p:sp>
        <p:nvSpPr>
          <p:cNvPr id="39" name="Plain words"/>
          <p:cNvSpPr txBox="1"/>
          <p:nvPr/>
        </p:nvSpPr>
        <p:spPr>
          <a:xfrm>
            <a:off x="8275320" y="4736592"/>
            <a:ext cx="3154680" cy="502920"/>
          </a:xfrm>
          <a:prstGeom prst="rect">
            <a:avLst/>
          </a:prstGeom>
          <a:noFill/>
          <a:ln/>
        </p:spPr>
        <p:txBody>
          <a:bodyPr wrap="square" lIns="0" tIns="0" rIns="0" bIns="0" rtlCol="0" anchor="t"/>
          <a:lstStyle/>
          <a:p>
            <a:pPr indent="0" marL="0">
              <a:buNone/>
            </a:pPr>
            <a:r>
              <a:rPr lang="en-US" sz="1350" dirty="0">
                <a:solidFill>
                  <a:schemeClr val="tx1"/>
                </a:solidFill>
              </a:rPr>
              <a:t>A permanent name for one commit.</a:t>
            </a:r>
            <a:endParaRPr lang="en-US" sz="1350" dirty="0"/>
          </a:p>
        </p:txBody>
      </p:sp>
      <p:sp>
        <p:nvSpPr>
          <p:cNvPr id="40" name="Analogy"/>
          <p:cNvSpPr txBox="1"/>
          <p:nvPr/>
        </p:nvSpPr>
        <p:spPr>
          <a:xfrm>
            <a:off x="8275320" y="5257800"/>
            <a:ext cx="3154680" cy="365760"/>
          </a:xfrm>
          <a:prstGeom prst="rect">
            <a:avLst/>
          </a:prstGeom>
          <a:noFill/>
          <a:ln/>
        </p:spPr>
        <p:txBody>
          <a:bodyPr wrap="square" lIns="0" tIns="0" rIns="0" bIns="0" rtlCol="0" anchor="t"/>
          <a:lstStyle/>
          <a:p>
            <a:pPr indent="0" marL="0">
              <a:buNone/>
            </a:pPr>
            <a:r>
              <a:rPr lang="en-US" sz="1200" i="1" dirty="0">
                <a:solidFill>
                  <a:schemeClr val="accent1"/>
                </a:solidFill>
              </a:rPr>
              <a:t>Like Final_v1.0, but unmistakable.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change lives in four places before it ships</a:t>
            </a:r>
            <a:endParaRPr lang="en-US" sz="3200" dirty="0"/>
          </a:p>
        </p:txBody>
      </p:sp>
      <p:sp>
        <p:nvSpPr>
          <p:cNvPr id="5" name="Working folder box"/>
          <p:cNvSpPr/>
          <p:nvPr/>
        </p:nvSpPr>
        <p:spPr>
          <a:xfrm>
            <a:off x="548640" y="1920240"/>
            <a:ext cx="2103120" cy="1920240"/>
          </a:xfrm>
          <a:prstGeom prst="roundRect">
            <a:avLst>
              <a:gd name="adj" fmla="val 5714"/>
            </a:avLst>
          </a:prstGeom>
          <a:solidFill>
            <a:schemeClr val="bg2"/>
          </a:solidFill>
          <a:ln/>
        </p:spPr>
      </p:sp>
      <p:sp>
        <p:nvSpPr>
          <p:cNvPr id="6" name="Place chip 1"/>
          <p:cNvSpPr/>
          <p:nvPr/>
        </p:nvSpPr>
        <p:spPr>
          <a:xfrm>
            <a:off x="731520" y="2057400"/>
            <a:ext cx="402336" cy="402336"/>
          </a:xfrm>
          <a:prstGeom prst="roundRect">
            <a:avLst>
              <a:gd name="adj" fmla="val 18182"/>
            </a:avLst>
          </a:prstGeom>
          <a:solidFill>
            <a:schemeClr val="accent1"/>
          </a:solidFill>
          <a:ln/>
        </p:spPr>
      </p:sp>
      <p:sp>
        <p:nvSpPr>
          <p:cNvPr id="7" name="Place number"/>
          <p:cNvSpPr txBox="1"/>
          <p:nvPr/>
        </p:nvSpPr>
        <p:spPr>
          <a:xfrm>
            <a:off x="731520" y="20574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Place title"/>
          <p:cNvSpPr txBox="1"/>
          <p:nvPr/>
        </p:nvSpPr>
        <p:spPr>
          <a:xfrm>
            <a:off x="731520" y="2560320"/>
            <a:ext cx="1737360" cy="320040"/>
          </a:xfrm>
          <a:prstGeom prst="rect">
            <a:avLst/>
          </a:prstGeom>
          <a:noFill/>
          <a:ln/>
        </p:spPr>
        <p:txBody>
          <a:bodyPr wrap="square" lIns="0" tIns="0" rIns="0" bIns="0" rtlCol="0" anchor="t"/>
          <a:lstStyle/>
          <a:p>
            <a:pPr indent="0" marL="0">
              <a:buNone/>
            </a:pPr>
            <a:r>
              <a:rPr lang="en-US" sz="1550" b="1" dirty="0">
                <a:solidFill>
                  <a:schemeClr val="tx1"/>
                </a:solidFill>
                <a:latin typeface="+mj-lt" pitchFamily="34" charset="0"/>
                <a:ea typeface="+mj-lt" pitchFamily="34" charset="-122"/>
                <a:cs typeface="+mj-lt" pitchFamily="34" charset="-120"/>
              </a:rPr>
              <a:t>Working folder</a:t>
            </a:r>
            <a:endParaRPr lang="en-US" sz="1550" dirty="0"/>
          </a:p>
        </p:txBody>
      </p:sp>
      <p:sp>
        <p:nvSpPr>
          <p:cNvPr id="9" name="Place text"/>
          <p:cNvSpPr txBox="1"/>
          <p:nvPr/>
        </p:nvSpPr>
        <p:spPr>
          <a:xfrm>
            <a:off x="731520" y="2926080"/>
            <a:ext cx="1737360" cy="868680"/>
          </a:xfrm>
          <a:prstGeom prst="rect">
            <a:avLst/>
          </a:prstGeom>
          <a:noFill/>
          <a:ln/>
        </p:spPr>
        <p:txBody>
          <a:bodyPr wrap="square" lIns="0" tIns="0" rIns="0" bIns="0" rtlCol="0" anchor="t"/>
          <a:lstStyle/>
          <a:p>
            <a:pPr indent="0" marL="0">
              <a:buNone/>
            </a:pPr>
            <a:r>
              <a:rPr lang="en-US" sz="1200" dirty="0">
                <a:solidFill>
                  <a:schemeClr val="tx1"/>
                </a:solidFill>
              </a:rPr>
              <a:t>Where you edit files. Git does not save it for you.</a:t>
            </a:r>
            <a:endParaRPr lang="en-US" sz="1200" dirty="0"/>
          </a:p>
        </p:txBody>
      </p:sp>
      <p:sp>
        <p:nvSpPr>
          <p:cNvPr id="10" name="Staging area box"/>
          <p:cNvSpPr/>
          <p:nvPr/>
        </p:nvSpPr>
        <p:spPr>
          <a:xfrm>
            <a:off x="3545738" y="1920240"/>
            <a:ext cx="2103120" cy="1920240"/>
          </a:xfrm>
          <a:prstGeom prst="roundRect">
            <a:avLst>
              <a:gd name="adj" fmla="val 5714"/>
            </a:avLst>
          </a:prstGeom>
          <a:solidFill>
            <a:schemeClr val="bg2"/>
          </a:solidFill>
          <a:ln/>
        </p:spPr>
      </p:sp>
      <p:sp>
        <p:nvSpPr>
          <p:cNvPr id="11" name="Place chip 2"/>
          <p:cNvSpPr/>
          <p:nvPr/>
        </p:nvSpPr>
        <p:spPr>
          <a:xfrm>
            <a:off x="3728618" y="2057400"/>
            <a:ext cx="402336" cy="402336"/>
          </a:xfrm>
          <a:prstGeom prst="roundRect">
            <a:avLst>
              <a:gd name="adj" fmla="val 18182"/>
            </a:avLst>
          </a:prstGeom>
          <a:solidFill>
            <a:schemeClr val="accent1"/>
          </a:solidFill>
          <a:ln/>
        </p:spPr>
      </p:sp>
      <p:sp>
        <p:nvSpPr>
          <p:cNvPr id="12" name="Place number"/>
          <p:cNvSpPr txBox="1"/>
          <p:nvPr/>
        </p:nvSpPr>
        <p:spPr>
          <a:xfrm>
            <a:off x="3728618" y="20574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3" name="Place title"/>
          <p:cNvSpPr txBox="1"/>
          <p:nvPr/>
        </p:nvSpPr>
        <p:spPr>
          <a:xfrm>
            <a:off x="3728618" y="2560320"/>
            <a:ext cx="1737360" cy="320040"/>
          </a:xfrm>
          <a:prstGeom prst="rect">
            <a:avLst/>
          </a:prstGeom>
          <a:noFill/>
          <a:ln/>
        </p:spPr>
        <p:txBody>
          <a:bodyPr wrap="square" lIns="0" tIns="0" rIns="0" bIns="0" rtlCol="0" anchor="t"/>
          <a:lstStyle/>
          <a:p>
            <a:pPr indent="0" marL="0">
              <a:buNone/>
            </a:pPr>
            <a:r>
              <a:rPr lang="en-US" sz="1550" b="1" dirty="0">
                <a:solidFill>
                  <a:schemeClr val="tx1"/>
                </a:solidFill>
                <a:latin typeface="+mj-lt" pitchFamily="34" charset="0"/>
                <a:ea typeface="+mj-lt" pitchFamily="34" charset="-122"/>
                <a:cs typeface="+mj-lt" pitchFamily="34" charset="-120"/>
              </a:rPr>
              <a:t>Staging area</a:t>
            </a:r>
            <a:endParaRPr lang="en-US" sz="1550" dirty="0"/>
          </a:p>
        </p:txBody>
      </p:sp>
      <p:sp>
        <p:nvSpPr>
          <p:cNvPr id="14" name="Place text"/>
          <p:cNvSpPr txBox="1"/>
          <p:nvPr/>
        </p:nvSpPr>
        <p:spPr>
          <a:xfrm>
            <a:off x="3728618" y="2926080"/>
            <a:ext cx="1737360" cy="868680"/>
          </a:xfrm>
          <a:prstGeom prst="rect">
            <a:avLst/>
          </a:prstGeom>
          <a:noFill/>
          <a:ln/>
        </p:spPr>
        <p:txBody>
          <a:bodyPr wrap="square" lIns="0" tIns="0" rIns="0" bIns="0" rtlCol="0" anchor="t"/>
          <a:lstStyle/>
          <a:p>
            <a:pPr indent="0" marL="0">
              <a:buNone/>
            </a:pPr>
            <a:r>
              <a:rPr lang="en-US" sz="1200" dirty="0">
                <a:solidFill>
                  <a:schemeClr val="tx1"/>
                </a:solidFill>
              </a:rPr>
              <a:t>What goes into the next checkpoint. You choose.</a:t>
            </a:r>
            <a:endParaRPr lang="en-US" sz="1200" dirty="0"/>
          </a:p>
        </p:txBody>
      </p:sp>
      <p:sp>
        <p:nvSpPr>
          <p:cNvPr id="15" name="Local history box"/>
          <p:cNvSpPr/>
          <p:nvPr/>
        </p:nvSpPr>
        <p:spPr>
          <a:xfrm>
            <a:off x="6542837" y="1920240"/>
            <a:ext cx="2103120" cy="1920240"/>
          </a:xfrm>
          <a:prstGeom prst="roundRect">
            <a:avLst>
              <a:gd name="adj" fmla="val 5714"/>
            </a:avLst>
          </a:prstGeom>
          <a:solidFill>
            <a:schemeClr val="bg2"/>
          </a:solidFill>
          <a:ln/>
        </p:spPr>
      </p:sp>
      <p:sp>
        <p:nvSpPr>
          <p:cNvPr id="16" name="Place chip 3"/>
          <p:cNvSpPr/>
          <p:nvPr/>
        </p:nvSpPr>
        <p:spPr>
          <a:xfrm>
            <a:off x="6725717" y="2057400"/>
            <a:ext cx="402336" cy="402336"/>
          </a:xfrm>
          <a:prstGeom prst="roundRect">
            <a:avLst>
              <a:gd name="adj" fmla="val 18182"/>
            </a:avLst>
          </a:prstGeom>
          <a:solidFill>
            <a:schemeClr val="accent1"/>
          </a:solidFill>
          <a:ln/>
        </p:spPr>
      </p:sp>
      <p:sp>
        <p:nvSpPr>
          <p:cNvPr id="17" name="Place number"/>
          <p:cNvSpPr txBox="1"/>
          <p:nvPr/>
        </p:nvSpPr>
        <p:spPr>
          <a:xfrm>
            <a:off x="6725717" y="20574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8" name="Place title"/>
          <p:cNvSpPr txBox="1"/>
          <p:nvPr/>
        </p:nvSpPr>
        <p:spPr>
          <a:xfrm>
            <a:off x="6725717" y="2560320"/>
            <a:ext cx="1737360" cy="320040"/>
          </a:xfrm>
          <a:prstGeom prst="rect">
            <a:avLst/>
          </a:prstGeom>
          <a:noFill/>
          <a:ln/>
        </p:spPr>
        <p:txBody>
          <a:bodyPr wrap="square" lIns="0" tIns="0" rIns="0" bIns="0" rtlCol="0" anchor="t"/>
          <a:lstStyle/>
          <a:p>
            <a:pPr indent="0" marL="0">
              <a:buNone/>
            </a:pPr>
            <a:r>
              <a:rPr lang="en-US" sz="1550" b="1" dirty="0">
                <a:solidFill>
                  <a:schemeClr val="tx1"/>
                </a:solidFill>
                <a:latin typeface="+mj-lt" pitchFamily="34" charset="0"/>
                <a:ea typeface="+mj-lt" pitchFamily="34" charset="-122"/>
                <a:cs typeface="+mj-lt" pitchFamily="34" charset="-120"/>
              </a:rPr>
              <a:t>Local history</a:t>
            </a:r>
            <a:endParaRPr lang="en-US" sz="1550" dirty="0"/>
          </a:p>
        </p:txBody>
      </p:sp>
      <p:sp>
        <p:nvSpPr>
          <p:cNvPr id="19" name="Place text"/>
          <p:cNvSpPr txBox="1"/>
          <p:nvPr/>
        </p:nvSpPr>
        <p:spPr>
          <a:xfrm>
            <a:off x="6725717" y="2926080"/>
            <a:ext cx="1737360" cy="868680"/>
          </a:xfrm>
          <a:prstGeom prst="rect">
            <a:avLst/>
          </a:prstGeom>
          <a:noFill/>
          <a:ln/>
        </p:spPr>
        <p:txBody>
          <a:bodyPr wrap="square" lIns="0" tIns="0" rIns="0" bIns="0" rtlCol="0" anchor="t"/>
          <a:lstStyle/>
          <a:p>
            <a:pPr indent="0" marL="0">
              <a:buNone/>
            </a:pPr>
            <a:r>
              <a:rPr lang="en-US" sz="1200" dirty="0">
                <a:solidFill>
                  <a:schemeClr val="tx1"/>
                </a:solidFill>
              </a:rPr>
              <a:t>Your commits. They exist on your machine only.</a:t>
            </a:r>
            <a:endParaRPr lang="en-US" sz="1200" dirty="0"/>
          </a:p>
        </p:txBody>
      </p:sp>
      <p:sp>
        <p:nvSpPr>
          <p:cNvPr id="20" name="Remote box"/>
          <p:cNvSpPr/>
          <p:nvPr/>
        </p:nvSpPr>
        <p:spPr>
          <a:xfrm>
            <a:off x="9539935" y="1920240"/>
            <a:ext cx="2103120" cy="1920240"/>
          </a:xfrm>
          <a:prstGeom prst="roundRect">
            <a:avLst>
              <a:gd name="adj" fmla="val 5714"/>
            </a:avLst>
          </a:prstGeom>
          <a:solidFill>
            <a:schemeClr val="accent2">
              <a:alpha val="25000"/>
            </a:schemeClr>
          </a:solidFill>
          <a:ln/>
        </p:spPr>
      </p:sp>
      <p:sp>
        <p:nvSpPr>
          <p:cNvPr id="21" name="Place chip 4"/>
          <p:cNvSpPr/>
          <p:nvPr/>
        </p:nvSpPr>
        <p:spPr>
          <a:xfrm>
            <a:off x="9722815" y="2057400"/>
            <a:ext cx="402336" cy="402336"/>
          </a:xfrm>
          <a:prstGeom prst="roundRect">
            <a:avLst>
              <a:gd name="adj" fmla="val 18182"/>
            </a:avLst>
          </a:prstGeom>
          <a:solidFill>
            <a:schemeClr val="accent2"/>
          </a:solidFill>
          <a:ln/>
        </p:spPr>
      </p:sp>
      <p:sp>
        <p:nvSpPr>
          <p:cNvPr id="22" name="Place number"/>
          <p:cNvSpPr txBox="1"/>
          <p:nvPr/>
        </p:nvSpPr>
        <p:spPr>
          <a:xfrm>
            <a:off x="9722815" y="20574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3" name="Place title"/>
          <p:cNvSpPr txBox="1"/>
          <p:nvPr/>
        </p:nvSpPr>
        <p:spPr>
          <a:xfrm>
            <a:off x="9722815" y="2560320"/>
            <a:ext cx="1737360" cy="320040"/>
          </a:xfrm>
          <a:prstGeom prst="rect">
            <a:avLst/>
          </a:prstGeom>
          <a:noFill/>
          <a:ln/>
        </p:spPr>
        <p:txBody>
          <a:bodyPr wrap="square" lIns="0" tIns="0" rIns="0" bIns="0" rtlCol="0" anchor="t"/>
          <a:lstStyle/>
          <a:p>
            <a:pPr indent="0" marL="0">
              <a:buNone/>
            </a:pPr>
            <a:r>
              <a:rPr lang="en-US" sz="1550" b="1" dirty="0">
                <a:solidFill>
                  <a:schemeClr val="tx1"/>
                </a:solidFill>
                <a:latin typeface="+mj-lt" pitchFamily="34" charset="0"/>
                <a:ea typeface="+mj-lt" pitchFamily="34" charset="-122"/>
                <a:cs typeface="+mj-lt" pitchFamily="34" charset="-120"/>
              </a:rPr>
              <a:t>Remote</a:t>
            </a:r>
            <a:endParaRPr lang="en-US" sz="1550" dirty="0"/>
          </a:p>
        </p:txBody>
      </p:sp>
      <p:sp>
        <p:nvSpPr>
          <p:cNvPr id="24" name="Place text"/>
          <p:cNvSpPr txBox="1"/>
          <p:nvPr/>
        </p:nvSpPr>
        <p:spPr>
          <a:xfrm>
            <a:off x="9722815" y="2926080"/>
            <a:ext cx="1737360" cy="868680"/>
          </a:xfrm>
          <a:prstGeom prst="rect">
            <a:avLst/>
          </a:prstGeom>
          <a:noFill/>
          <a:ln/>
        </p:spPr>
        <p:txBody>
          <a:bodyPr wrap="square" lIns="0" tIns="0" rIns="0" bIns="0" rtlCol="0" anchor="t"/>
          <a:lstStyle/>
          <a:p>
            <a:pPr indent="0" marL="0">
              <a:buNone/>
            </a:pPr>
            <a:r>
              <a:rPr lang="en-US" sz="1200" dirty="0">
                <a:solidFill>
                  <a:schemeClr val="tx1"/>
                </a:solidFill>
              </a:rPr>
              <a:t>Azure Repos. Where others and the pipelines see it.</a:t>
            </a:r>
            <a:endParaRPr lang="en-US" sz="1200" dirty="0"/>
          </a:p>
        </p:txBody>
      </p:sp>
      <p:sp>
        <p:nvSpPr>
          <p:cNvPr id="25" name="Place arrow 1"/>
          <p:cNvSpPr/>
          <p:nvPr/>
        </p:nvSpPr>
        <p:spPr>
          <a:xfrm>
            <a:off x="2688336" y="2880360"/>
            <a:ext cx="820826" cy="0"/>
          </a:xfrm>
          <a:prstGeom prst="line">
            <a:avLst/>
          </a:prstGeom>
          <a:noFill/>
          <a:ln w="31750">
            <a:solidFill>
              <a:schemeClr val="accent5"/>
            </a:solidFill>
            <a:prstDash val="solid"/>
            <a:tailEnd type="triangle"/>
          </a:ln>
        </p:spPr>
      </p:sp>
      <p:sp>
        <p:nvSpPr>
          <p:cNvPr id="26" name="Place verb"/>
          <p:cNvSpPr txBox="1"/>
          <p:nvPr/>
        </p:nvSpPr>
        <p:spPr>
          <a:xfrm>
            <a:off x="2651760" y="2377440"/>
            <a:ext cx="893978" cy="274320"/>
          </a:xfrm>
          <a:prstGeom prst="rect">
            <a:avLst/>
          </a:prstGeom>
          <a:noFill/>
          <a:ln/>
        </p:spPr>
        <p:txBody>
          <a:bodyPr wrap="square" lIns="0" tIns="0" rIns="0" bIns="0" rtlCol="0" anchor="t"/>
          <a:lstStyle/>
          <a:p>
            <a:pPr algn="ctr" indent="0" marL="0">
              <a:buNone/>
            </a:pPr>
            <a:r>
              <a:rPr lang="en-US" sz="1050" b="1" dirty="0">
                <a:solidFill>
                  <a:schemeClr val="accent1"/>
                </a:solidFill>
                <a:latin typeface="Courier New" pitchFamily="34" charset="0"/>
                <a:ea typeface="Courier New" pitchFamily="34" charset="-122"/>
                <a:cs typeface="Courier New" pitchFamily="34" charset="-120"/>
              </a:rPr>
              <a:t>git add</a:t>
            </a:r>
            <a:endParaRPr lang="en-US" sz="1050" dirty="0"/>
          </a:p>
        </p:txBody>
      </p:sp>
      <p:sp>
        <p:nvSpPr>
          <p:cNvPr id="27" name="Place arrow 2"/>
          <p:cNvSpPr/>
          <p:nvPr/>
        </p:nvSpPr>
        <p:spPr>
          <a:xfrm>
            <a:off x="5685434" y="2880360"/>
            <a:ext cx="820826" cy="0"/>
          </a:xfrm>
          <a:prstGeom prst="line">
            <a:avLst/>
          </a:prstGeom>
          <a:noFill/>
          <a:ln w="31750">
            <a:solidFill>
              <a:schemeClr val="accent5"/>
            </a:solidFill>
            <a:prstDash val="solid"/>
            <a:tailEnd type="triangle"/>
          </a:ln>
        </p:spPr>
      </p:sp>
      <p:sp>
        <p:nvSpPr>
          <p:cNvPr id="28" name="Place verb"/>
          <p:cNvSpPr txBox="1"/>
          <p:nvPr/>
        </p:nvSpPr>
        <p:spPr>
          <a:xfrm>
            <a:off x="5648858" y="2377440"/>
            <a:ext cx="893978" cy="274320"/>
          </a:xfrm>
          <a:prstGeom prst="rect">
            <a:avLst/>
          </a:prstGeom>
          <a:noFill/>
          <a:ln/>
        </p:spPr>
        <p:txBody>
          <a:bodyPr wrap="square" lIns="0" tIns="0" rIns="0" bIns="0" rtlCol="0" anchor="t"/>
          <a:lstStyle/>
          <a:p>
            <a:pPr algn="ctr" indent="0" marL="0">
              <a:buNone/>
            </a:pPr>
            <a:r>
              <a:rPr lang="en-US" sz="1050" b="1" dirty="0">
                <a:solidFill>
                  <a:schemeClr val="accent1"/>
                </a:solidFill>
                <a:latin typeface="Courier New" pitchFamily="34" charset="0"/>
                <a:ea typeface="Courier New" pitchFamily="34" charset="-122"/>
                <a:cs typeface="Courier New" pitchFamily="34" charset="-120"/>
              </a:rPr>
              <a:t>git commit</a:t>
            </a:r>
            <a:endParaRPr lang="en-US" sz="1050" dirty="0"/>
          </a:p>
        </p:txBody>
      </p:sp>
      <p:sp>
        <p:nvSpPr>
          <p:cNvPr id="29" name="Place arrow 3"/>
          <p:cNvSpPr/>
          <p:nvPr/>
        </p:nvSpPr>
        <p:spPr>
          <a:xfrm>
            <a:off x="8682533" y="2880360"/>
            <a:ext cx="820826" cy="0"/>
          </a:xfrm>
          <a:prstGeom prst="line">
            <a:avLst/>
          </a:prstGeom>
          <a:noFill/>
          <a:ln w="31750">
            <a:solidFill>
              <a:schemeClr val="accent5"/>
            </a:solidFill>
            <a:prstDash val="solid"/>
            <a:tailEnd type="triangle"/>
          </a:ln>
        </p:spPr>
      </p:sp>
      <p:sp>
        <p:nvSpPr>
          <p:cNvPr id="30" name="Place verb"/>
          <p:cNvSpPr txBox="1"/>
          <p:nvPr/>
        </p:nvSpPr>
        <p:spPr>
          <a:xfrm>
            <a:off x="8645957" y="2377440"/>
            <a:ext cx="893978" cy="274320"/>
          </a:xfrm>
          <a:prstGeom prst="rect">
            <a:avLst/>
          </a:prstGeom>
          <a:noFill/>
          <a:ln/>
        </p:spPr>
        <p:txBody>
          <a:bodyPr wrap="square" lIns="0" tIns="0" rIns="0" bIns="0" rtlCol="0" anchor="t"/>
          <a:lstStyle/>
          <a:p>
            <a:pPr algn="ctr" indent="0" marL="0">
              <a:buNone/>
            </a:pPr>
            <a:r>
              <a:rPr lang="en-US" sz="1050" b="1" dirty="0">
                <a:solidFill>
                  <a:schemeClr val="accent1"/>
                </a:solidFill>
                <a:latin typeface="Courier New" pitchFamily="34" charset="0"/>
                <a:ea typeface="Courier New" pitchFamily="34" charset="-122"/>
                <a:cs typeface="Courier New" pitchFamily="34" charset="-120"/>
              </a:rPr>
              <a:t>git push</a:t>
            </a:r>
            <a:endParaRPr lang="en-US" sz="1050" dirty="0"/>
          </a:p>
        </p:txBody>
      </p:sp>
      <p:sp>
        <p:nvSpPr>
          <p:cNvPr id="31" name="Pull arrow"/>
          <p:cNvSpPr/>
          <p:nvPr/>
        </p:nvSpPr>
        <p:spPr>
          <a:xfrm flipH="1">
            <a:off x="1600200" y="4114800"/>
            <a:ext cx="8991295" cy="0"/>
          </a:xfrm>
          <a:prstGeom prst="line">
            <a:avLst/>
          </a:prstGeom>
          <a:noFill/>
          <a:ln w="31750">
            <a:solidFill>
              <a:schemeClr val="accent2"/>
            </a:solidFill>
            <a:prstDash val="solid"/>
            <a:tailEnd type="triangle"/>
          </a:ln>
        </p:spPr>
      </p:sp>
      <p:sp>
        <p:nvSpPr>
          <p:cNvPr id="32" name="Pull label"/>
          <p:cNvSpPr txBox="1"/>
          <p:nvPr/>
        </p:nvSpPr>
        <p:spPr>
          <a:xfrm>
            <a:off x="2926080" y="4206240"/>
            <a:ext cx="6400800" cy="274320"/>
          </a:xfrm>
          <a:prstGeom prst="rect">
            <a:avLst/>
          </a:prstGeom>
          <a:noFill/>
          <a:ln/>
        </p:spPr>
        <p:txBody>
          <a:bodyPr wrap="square" lIns="0" tIns="0" rIns="0" bIns="0" rtlCol="0" anchor="t"/>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git pull: bring other people's commits back to your folder</a:t>
            </a:r>
            <a:endParaRPr lang="en-US" sz="1200" dirty="0"/>
          </a:p>
        </p:txBody>
      </p:sp>
      <p:sp>
        <p:nvSpPr>
          <p:cNvPr id="33" name="Fabric note"/>
          <p:cNvSpPr/>
          <p:nvPr/>
        </p:nvSpPr>
        <p:spPr>
          <a:xfrm>
            <a:off x="548640" y="4709160"/>
            <a:ext cx="11094415" cy="1005840"/>
          </a:xfrm>
          <a:prstGeom prst="roundRect">
            <a:avLst>
              <a:gd name="adj" fmla="val 10909"/>
            </a:avLst>
          </a:prstGeom>
          <a:solidFill>
            <a:schemeClr val="accent3">
              <a:alpha val="20000"/>
            </a:schemeClr>
          </a:solidFill>
          <a:ln/>
        </p:spPr>
      </p:sp>
      <p:sp>
        <p:nvSpPr>
          <p:cNvPr id="34" name="Fabric note text"/>
          <p:cNvSpPr txBox="1"/>
          <p:nvPr/>
        </p:nvSpPr>
        <p:spPr>
          <a:xfrm>
            <a:off x="822960" y="4709160"/>
            <a:ext cx="10545775" cy="1005840"/>
          </a:xfrm>
          <a:prstGeom prst="rect">
            <a:avLst/>
          </a:prstGeom>
          <a:noFill/>
          <a:ln/>
        </p:spPr>
        <p:txBody>
          <a:bodyPr wrap="square" lIns="0" tIns="0" rIns="0" bIns="0" rtlCol="0" anchor="ctr"/>
          <a:lstStyle/>
          <a:p>
            <a:pPr indent="0" marL="0">
              <a:buNone/>
            </a:pPr>
            <a:r>
              <a:rPr lang="en-US" sz="1400" b="1" dirty="0">
                <a:solidFill>
                  <a:schemeClr val="tx1"/>
                </a:solidFill>
              </a:rPr>
              <a:t>Fabric follows the same shape. </a:t>
            </a:r>
            <a:pPr indent="0" marL="0">
              <a:buNone/>
            </a:pPr>
            <a:r>
              <a:rPr lang="en-US" sz="1400" dirty="0">
                <a:solidFill>
                  <a:schemeClr val="tx1"/>
                </a:solidFill>
              </a:rPr>
              <a:t>A workspace linked to Git has a Commit action (workspace to repository) and an Update action (repository to workspace). The four places are the same; the buttons just replace the commands.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everyday loop: look, stage, commit, look again</a:t>
            </a:r>
            <a:endParaRPr lang="en-US" sz="3200" dirty="0"/>
          </a:p>
        </p:txBody>
      </p:sp>
      <p:sp>
        <p:nvSpPr>
          <p:cNvPr id="5" name="Everyday loop"/>
          <p:cNvSpPr/>
          <p:nvPr/>
        </p:nvSpPr>
        <p:spPr>
          <a:xfrm>
            <a:off x="548640" y="1783080"/>
            <a:ext cx="7315200" cy="3850005"/>
          </a:xfrm>
          <a:prstGeom prst="roundRect">
            <a:avLst>
              <a:gd name="adj" fmla="val 2375"/>
            </a:avLst>
          </a:prstGeom>
          <a:solidFill>
            <a:schemeClr val="tx1"/>
          </a:solidFill>
          <a:ln/>
        </p:spPr>
      </p:sp>
      <p:sp>
        <p:nvSpPr>
          <p:cNvPr id="6"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TERMINAL · A PRACTICE REPOSITORY</a:t>
            </a:r>
            <a:endParaRPr lang="en-US" sz="1000" dirty="0"/>
          </a:p>
        </p:txBody>
      </p:sp>
      <p:sp>
        <p:nvSpPr>
          <p:cNvPr id="7" name="Everyday loop text"/>
          <p:cNvSpPr txBox="1"/>
          <p:nvPr/>
        </p:nvSpPr>
        <p:spPr>
          <a:xfrm>
            <a:off x="749808" y="2167128"/>
            <a:ext cx="6912864" cy="3356229"/>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status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.gitignore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README.md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add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README.md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.gitignore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status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.gitignore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README.md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fabric/lh_dst.Lakehouse/.platform</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fabric/lh_dst.Lakehouse/lakehouse.metadata.json</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fabric/nb_dst_apportion.Notebook/.platform</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fabric/pl_dst_apportion.DataPipeline/.platform</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fabric/pl_dst_apportion.DataPipeline/pipeline-content.json</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commit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"feat: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add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apportionment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notebook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and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pipeline"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"AB#1001"</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--oneline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2f446a2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feat: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add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apportionment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notebook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and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pipeline</a:t>
            </a:r>
            <a:endParaRPr lang="en-US" sz="1050" dirty="0"/>
          </a:p>
        </p:txBody>
      </p:sp>
      <p:sp>
        <p:nvSpPr>
          <p:cNvPr id="8" name="Key ??"/>
          <p:cNvSpPr/>
          <p:nvPr/>
        </p:nvSpPr>
        <p:spPr>
          <a:xfrm>
            <a:off x="8092440" y="1783080"/>
            <a:ext cx="3547872" cy="658368"/>
          </a:xfrm>
          <a:prstGeom prst="roundRect">
            <a:avLst>
              <a:gd name="adj" fmla="val 16667"/>
            </a:avLst>
          </a:prstGeom>
          <a:solidFill>
            <a:schemeClr val="bg2"/>
          </a:solidFill>
          <a:ln/>
        </p:spPr>
      </p:sp>
      <p:sp>
        <p:nvSpPr>
          <p:cNvPr id="9" name="Key symbol"/>
          <p:cNvSpPr txBox="1"/>
          <p:nvPr/>
        </p:nvSpPr>
        <p:spPr>
          <a:xfrm>
            <a:off x="8229600" y="1783080"/>
            <a:ext cx="731520" cy="658368"/>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a:t>
            </a:r>
            <a:endParaRPr lang="en-US" sz="1800" dirty="0"/>
          </a:p>
        </p:txBody>
      </p:sp>
      <p:sp>
        <p:nvSpPr>
          <p:cNvPr id="10" name="Key meaning"/>
          <p:cNvSpPr txBox="1"/>
          <p:nvPr/>
        </p:nvSpPr>
        <p:spPr>
          <a:xfrm>
            <a:off x="9006840" y="1783080"/>
            <a:ext cx="2560320" cy="658368"/>
          </a:xfrm>
          <a:prstGeom prst="rect">
            <a:avLst/>
          </a:prstGeom>
          <a:noFill/>
          <a:ln/>
        </p:spPr>
        <p:txBody>
          <a:bodyPr wrap="square" lIns="0" tIns="0" rIns="0" bIns="0" rtlCol="0" anchor="ctr"/>
          <a:lstStyle/>
          <a:p>
            <a:pPr indent="0" marL="0">
              <a:buNone/>
            </a:pPr>
            <a:r>
              <a:rPr lang="en-US" sz="1250" dirty="0">
                <a:solidFill>
                  <a:schemeClr val="tx1"/>
                </a:solidFill>
              </a:rPr>
              <a:t>Untracked: Git sees it, is not tracking it</a:t>
            </a:r>
            <a:endParaRPr lang="en-US" sz="1250" dirty="0"/>
          </a:p>
        </p:txBody>
      </p:sp>
      <p:sp>
        <p:nvSpPr>
          <p:cNvPr id="11" name="Key A"/>
          <p:cNvSpPr/>
          <p:nvPr/>
        </p:nvSpPr>
        <p:spPr>
          <a:xfrm>
            <a:off x="8092440" y="2532888"/>
            <a:ext cx="3547872" cy="658368"/>
          </a:xfrm>
          <a:prstGeom prst="roundRect">
            <a:avLst>
              <a:gd name="adj" fmla="val 16667"/>
            </a:avLst>
          </a:prstGeom>
          <a:solidFill>
            <a:schemeClr val="bg2"/>
          </a:solidFill>
          <a:ln/>
        </p:spPr>
      </p:sp>
      <p:sp>
        <p:nvSpPr>
          <p:cNvPr id="12" name="Key symbol"/>
          <p:cNvSpPr txBox="1"/>
          <p:nvPr/>
        </p:nvSpPr>
        <p:spPr>
          <a:xfrm>
            <a:off x="8229600" y="2532888"/>
            <a:ext cx="731520" cy="658368"/>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A</a:t>
            </a:r>
            <a:endParaRPr lang="en-US" sz="1800" dirty="0"/>
          </a:p>
        </p:txBody>
      </p:sp>
      <p:sp>
        <p:nvSpPr>
          <p:cNvPr id="13" name="Key meaning"/>
          <p:cNvSpPr txBox="1"/>
          <p:nvPr/>
        </p:nvSpPr>
        <p:spPr>
          <a:xfrm>
            <a:off x="9006840" y="2532888"/>
            <a:ext cx="2560320" cy="658368"/>
          </a:xfrm>
          <a:prstGeom prst="rect">
            <a:avLst/>
          </a:prstGeom>
          <a:noFill/>
          <a:ln/>
        </p:spPr>
        <p:txBody>
          <a:bodyPr wrap="square" lIns="0" tIns="0" rIns="0" bIns="0" rtlCol="0" anchor="ctr"/>
          <a:lstStyle/>
          <a:p>
            <a:pPr indent="0" marL="0">
              <a:buNone/>
            </a:pPr>
            <a:r>
              <a:rPr lang="en-US" sz="1250" dirty="0">
                <a:solidFill>
                  <a:schemeClr val="tx1"/>
                </a:solidFill>
              </a:rPr>
              <a:t>Added to the next commit</a:t>
            </a:r>
            <a:endParaRPr lang="en-US" sz="1250" dirty="0"/>
          </a:p>
        </p:txBody>
      </p:sp>
      <p:sp>
        <p:nvSpPr>
          <p:cNvPr id="14" name="Key M"/>
          <p:cNvSpPr/>
          <p:nvPr/>
        </p:nvSpPr>
        <p:spPr>
          <a:xfrm>
            <a:off x="8092440" y="3282696"/>
            <a:ext cx="3547872" cy="658368"/>
          </a:xfrm>
          <a:prstGeom prst="roundRect">
            <a:avLst>
              <a:gd name="adj" fmla="val 16667"/>
            </a:avLst>
          </a:prstGeom>
          <a:solidFill>
            <a:schemeClr val="bg2"/>
          </a:solidFill>
          <a:ln/>
        </p:spPr>
      </p:sp>
      <p:sp>
        <p:nvSpPr>
          <p:cNvPr id="15" name="Key symbol"/>
          <p:cNvSpPr txBox="1"/>
          <p:nvPr/>
        </p:nvSpPr>
        <p:spPr>
          <a:xfrm>
            <a:off x="8229600" y="3282696"/>
            <a:ext cx="731520" cy="658368"/>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M</a:t>
            </a:r>
            <a:endParaRPr lang="en-US" sz="1800" dirty="0"/>
          </a:p>
        </p:txBody>
      </p:sp>
      <p:sp>
        <p:nvSpPr>
          <p:cNvPr id="16" name="Key meaning"/>
          <p:cNvSpPr txBox="1"/>
          <p:nvPr/>
        </p:nvSpPr>
        <p:spPr>
          <a:xfrm>
            <a:off x="9006840" y="3282696"/>
            <a:ext cx="2560320" cy="658368"/>
          </a:xfrm>
          <a:prstGeom prst="rect">
            <a:avLst/>
          </a:prstGeom>
          <a:noFill/>
          <a:ln/>
        </p:spPr>
        <p:txBody>
          <a:bodyPr wrap="square" lIns="0" tIns="0" rIns="0" bIns="0" rtlCol="0" anchor="ctr"/>
          <a:lstStyle/>
          <a:p>
            <a:pPr indent="0" marL="0">
              <a:buNone/>
            </a:pPr>
            <a:r>
              <a:rPr lang="en-US" sz="1250" dirty="0">
                <a:solidFill>
                  <a:schemeClr val="tx1"/>
                </a:solidFill>
              </a:rPr>
              <a:t>Modified since the last commit</a:t>
            </a:r>
            <a:endParaRPr lang="en-US" sz="1250" dirty="0"/>
          </a:p>
        </p:txBody>
      </p:sp>
      <p:sp>
        <p:nvSpPr>
          <p:cNvPr id="17" name="Key UU"/>
          <p:cNvSpPr/>
          <p:nvPr/>
        </p:nvSpPr>
        <p:spPr>
          <a:xfrm>
            <a:off x="8092440" y="4032504"/>
            <a:ext cx="3547872" cy="658368"/>
          </a:xfrm>
          <a:prstGeom prst="roundRect">
            <a:avLst>
              <a:gd name="adj" fmla="val 16667"/>
            </a:avLst>
          </a:prstGeom>
          <a:solidFill>
            <a:schemeClr val="bg2"/>
          </a:solidFill>
          <a:ln/>
        </p:spPr>
      </p:sp>
      <p:sp>
        <p:nvSpPr>
          <p:cNvPr id="18" name="Key symbol"/>
          <p:cNvSpPr txBox="1"/>
          <p:nvPr/>
        </p:nvSpPr>
        <p:spPr>
          <a:xfrm>
            <a:off x="8229600" y="4032504"/>
            <a:ext cx="731520" cy="658368"/>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UU</a:t>
            </a:r>
            <a:endParaRPr lang="en-US" sz="1800" dirty="0"/>
          </a:p>
        </p:txBody>
      </p:sp>
      <p:sp>
        <p:nvSpPr>
          <p:cNvPr id="19" name="Key meaning"/>
          <p:cNvSpPr txBox="1"/>
          <p:nvPr/>
        </p:nvSpPr>
        <p:spPr>
          <a:xfrm>
            <a:off x="9006840" y="4032504"/>
            <a:ext cx="2560320" cy="658368"/>
          </a:xfrm>
          <a:prstGeom prst="rect">
            <a:avLst/>
          </a:prstGeom>
          <a:noFill/>
          <a:ln/>
        </p:spPr>
        <p:txBody>
          <a:bodyPr wrap="square" lIns="0" tIns="0" rIns="0" bIns="0" rtlCol="0" anchor="ctr"/>
          <a:lstStyle/>
          <a:p>
            <a:pPr indent="0" marL="0">
              <a:buNone/>
            </a:pPr>
            <a:r>
              <a:rPr lang="en-US" sz="1250" dirty="0">
                <a:solidFill>
                  <a:schemeClr val="tx1"/>
                </a:solidFill>
              </a:rPr>
              <a:t>Conflict: both sides changed it</a:t>
            </a:r>
            <a:endParaRPr lang="en-US" sz="1250" dirty="0"/>
          </a:p>
        </p:txBody>
      </p:sp>
      <p:sp>
        <p:nvSpPr>
          <p:cNvPr id="20" name="Push note"/>
          <p:cNvSpPr/>
          <p:nvPr/>
        </p:nvSpPr>
        <p:spPr>
          <a:xfrm>
            <a:off x="8092440" y="4846320"/>
            <a:ext cx="3547872" cy="868680"/>
          </a:xfrm>
          <a:prstGeom prst="roundRect">
            <a:avLst>
              <a:gd name="adj" fmla="val 12632"/>
            </a:avLst>
          </a:prstGeom>
          <a:solidFill>
            <a:schemeClr val="accent3">
              <a:alpha val="22000"/>
            </a:schemeClr>
          </a:solidFill>
          <a:ln/>
        </p:spPr>
      </p:sp>
      <p:sp>
        <p:nvSpPr>
          <p:cNvPr id="21" name="Push note text"/>
          <p:cNvSpPr txBox="1"/>
          <p:nvPr/>
        </p:nvSpPr>
        <p:spPr>
          <a:xfrm>
            <a:off x="8275320" y="4846320"/>
            <a:ext cx="3200400" cy="868680"/>
          </a:xfrm>
          <a:prstGeom prst="rect">
            <a:avLst/>
          </a:prstGeom>
          <a:noFill/>
          <a:ln/>
        </p:spPr>
        <p:txBody>
          <a:bodyPr wrap="square" lIns="0" tIns="0" rIns="0" bIns="0" rtlCol="0" anchor="ctr"/>
          <a:lstStyle/>
          <a:p>
            <a:pPr indent="0" marL="0">
              <a:buNone/>
            </a:pPr>
            <a:r>
              <a:rPr lang="en-US" sz="1300" b="1" dirty="0">
                <a:solidFill>
                  <a:schemeClr val="tx1"/>
                </a:solidFill>
              </a:rPr>
              <a:t>Not shared yet. </a:t>
            </a:r>
            <a:pPr indent="0" marL="0">
              <a:buNone/>
            </a:pPr>
            <a:r>
              <a:rPr lang="en-US" sz="1300" dirty="0">
                <a:solidFill>
                  <a:schemeClr val="tx1"/>
                </a:solidFill>
              </a:rPr>
              <a:t>git push sends the commit to the remote.</a:t>
            </a:r>
            <a:endParaRPr lang="en-US" sz="1300" dirty="0"/>
          </a:p>
        </p:txBody>
      </p:sp>
      <p:sp>
        <p:nvSpPr>
          <p:cNvPr id="22"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Real output from a practice repository with the Lab A notebook and Lab B pipeline as Fabric items.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commit is a snapshot with a note, and the note has a shape</a:t>
            </a:r>
            <a:endParaRPr lang="en-US" sz="3200" dirty="0"/>
          </a:p>
        </p:txBody>
      </p:sp>
      <p:sp>
        <p:nvSpPr>
          <p:cNvPr id="5" name="Commit graph"/>
          <p:cNvSpPr/>
          <p:nvPr/>
        </p:nvSpPr>
        <p:spPr>
          <a:xfrm>
            <a:off x="548640" y="1783080"/>
            <a:ext cx="5852160" cy="2509012"/>
          </a:xfrm>
          <a:prstGeom prst="roundRect">
            <a:avLst>
              <a:gd name="adj" fmla="val 3644"/>
            </a:avLst>
          </a:prstGeom>
          <a:solidFill>
            <a:schemeClr val="tx1"/>
          </a:solidFill>
          <a:ln/>
        </p:spPr>
      </p:sp>
      <p:sp>
        <p:nvSpPr>
          <p:cNvPr id="6" name="Code label"/>
          <p:cNvSpPr txBox="1"/>
          <p:nvPr/>
        </p:nvSpPr>
        <p:spPr>
          <a:xfrm>
            <a:off x="749808" y="1874520"/>
            <a:ext cx="54498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GIT LOG --ONELINE --GRAPH --ALL</a:t>
            </a:r>
            <a:endParaRPr lang="en-US" sz="1000" dirty="0"/>
          </a:p>
        </p:txBody>
      </p:sp>
      <p:sp>
        <p:nvSpPr>
          <p:cNvPr id="7" name="Commit graph text"/>
          <p:cNvSpPr txBox="1"/>
          <p:nvPr/>
        </p:nvSpPr>
        <p:spPr>
          <a:xfrm>
            <a:off x="749808" y="2167128"/>
            <a:ext cx="5449824" cy="2015236"/>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dbc5f1d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Merge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AB#1003:</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looser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2d1812f</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fix(gate):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allow</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ten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cents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of</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rounding</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40374a1</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Merge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AB#1002:</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tighter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6ae6f28</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fix(gate):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tighten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tie-out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tolerance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to</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one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cent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2f446a2</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feat: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add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DST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apportionment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notebook</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and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pipeline</a:t>
            </a:r>
            <a:endParaRPr lang="en-US" sz="1100" dirty="0"/>
          </a:p>
        </p:txBody>
      </p:sp>
      <p:sp>
        <p:nvSpPr>
          <p:cNvPr id="8" name="Anatomy card"/>
          <p:cNvSpPr/>
          <p:nvPr/>
        </p:nvSpPr>
        <p:spPr>
          <a:xfrm>
            <a:off x="548640" y="4480560"/>
            <a:ext cx="5852160" cy="1234440"/>
          </a:xfrm>
          <a:prstGeom prst="roundRect">
            <a:avLst>
              <a:gd name="adj" fmla="val 8889"/>
            </a:avLst>
          </a:prstGeom>
          <a:solidFill>
            <a:schemeClr val="bg2"/>
          </a:solidFill>
          <a:ln/>
        </p:spPr>
      </p:sp>
      <p:sp>
        <p:nvSpPr>
          <p:cNvPr id="9" name="Anatomy line"/>
          <p:cNvSpPr txBox="1"/>
          <p:nvPr/>
        </p:nvSpPr>
        <p:spPr>
          <a:xfrm>
            <a:off x="777240" y="4572000"/>
            <a:ext cx="5486400" cy="36576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fix</a:t>
            </a:r>
            <a:pPr indent="0" marL="0">
              <a:buNone/>
            </a:pPr>
            <a:r>
              <a:rPr lang="en-US" sz="1300" b="1" dirty="0">
                <a:solidFill>
                  <a:schemeClr val="accent2"/>
                </a:solidFill>
                <a:latin typeface="Courier New" pitchFamily="34" charset="0"/>
                <a:ea typeface="Courier New" pitchFamily="34" charset="-122"/>
                <a:cs typeface="Courier New" pitchFamily="34" charset="-120"/>
              </a:rPr>
              <a:t>(gate)</a:t>
            </a:r>
            <a:pPr indent="0" marL="0">
              <a:buNone/>
            </a:pPr>
            <a:r>
              <a:rPr lang="en-US" sz="1300" dirty="0">
                <a:solidFill>
                  <a:schemeClr val="tx1"/>
                </a:solidFill>
                <a:latin typeface="Courier New" pitchFamily="34" charset="0"/>
                <a:ea typeface="Courier New" pitchFamily="34" charset="-122"/>
                <a:cs typeface="Courier New" pitchFamily="34" charset="-120"/>
              </a:rPr>
              <a:t>: tighten tie-out tolerance to one cent</a:t>
            </a:r>
            <a:endParaRPr lang="en-US" sz="1400" dirty="0"/>
          </a:p>
        </p:txBody>
      </p:sp>
      <p:sp>
        <p:nvSpPr>
          <p:cNvPr id="10" name="Anatomy legend"/>
          <p:cNvSpPr txBox="1"/>
          <p:nvPr/>
        </p:nvSpPr>
        <p:spPr>
          <a:xfrm>
            <a:off x="777240" y="5029200"/>
            <a:ext cx="5486400" cy="548640"/>
          </a:xfrm>
          <a:prstGeom prst="rect">
            <a:avLst/>
          </a:prstGeom>
          <a:noFill/>
          <a:ln/>
        </p:spPr>
        <p:txBody>
          <a:bodyPr wrap="square" lIns="0" tIns="0" rIns="0" bIns="0" rtlCol="0" anchor="t"/>
          <a:lstStyle/>
          <a:p>
            <a:pPr indent="0" marL="0">
              <a:buNone/>
            </a:pPr>
            <a:r>
              <a:rPr lang="en-US" sz="1200" b="1" dirty="0">
                <a:solidFill>
                  <a:schemeClr val="accent1"/>
                </a:solidFill>
              </a:rPr>
              <a:t>type</a:t>
            </a:r>
            <a:pPr indent="0" marL="0">
              <a:buNone/>
            </a:pPr>
            <a:r>
              <a:rPr lang="en-US" sz="1200" dirty="0">
                <a:solidFill>
                  <a:schemeClr val="tx1"/>
                </a:solidFill>
              </a:rPr>
              <a:t>  what kind of change     </a:t>
            </a:r>
            <a:pPr indent="0" marL="0">
              <a:buNone/>
            </a:pPr>
            <a:r>
              <a:rPr lang="en-US" sz="1200" b="1" dirty="0">
                <a:solidFill>
                  <a:schemeClr val="accent2"/>
                </a:solidFill>
              </a:rPr>
              <a:t>scope</a:t>
            </a:r>
            <a:pPr indent="0" marL="0">
              <a:buNone/>
            </a:pPr>
            <a:r>
              <a:rPr lang="en-US" sz="1200" dirty="0">
                <a:solidFill>
                  <a:schemeClr val="tx1"/>
                </a:solidFill>
              </a:rPr>
              <a:t>  which part     </a:t>
            </a:r>
            <a:pPr indent="0" marL="0">
              <a:buNone/>
            </a:pPr>
            <a:r>
              <a:rPr lang="en-US" sz="1200" b="1" dirty="0">
                <a:solidFill>
                  <a:schemeClr val="tx1"/>
                </a:solidFill>
              </a:rPr>
              <a:t>AB#1002</a:t>
            </a:r>
            <a:pPr indent="0" marL="0">
              <a:buNone/>
            </a:pPr>
            <a:r>
              <a:rPr lang="en-US" sz="1200" dirty="0">
                <a:solidFill>
                  <a:schemeClr val="tx1"/>
                </a:solidFill>
              </a:rPr>
              <a:t>  the work item, in the body</a:t>
            </a:r>
            <a:endParaRPr lang="en-US" sz="1200" dirty="0"/>
          </a:p>
        </p:txBody>
      </p:sp>
      <p:graphicFrame>
        <p:nvGraphicFramePr>
          <p:cNvPr id="12" name="Commit types"/>
          <p:cNvGraphicFramePr>
            <a:graphicFrameLocks noGrp="1"/>
          </p:cNvGraphicFramePr>
          <p:nvPr>
            <p:extLst>
              <p:ext uri="{D42A27DB-BD31-4B8C-83A1-F6EECF244321}">
                <p14:modId xmlns:p14="http://schemas.microsoft.com/office/powerpoint/2010/main" val="1579011935"/>
              </p:ext>
            </p:extLst>
          </p:nvPr>
        </p:nvGraphicFramePr>
        <p:xfrm>
          <a:off x="6675120" y="1783080"/>
          <a:ext cx="4965192" cy="914400"/>
        </p:xfrm>
        <a:graphic>
          <a:graphicData uri="http://schemas.openxmlformats.org/drawingml/2006/table">
            <a:tbl>
              <a:tblPr/>
              <a:tblGrid>
                <a:gridCol w="1143000"/>
                <a:gridCol w="1463040"/>
                <a:gridCol w="2359152"/>
              </a:tblGrid>
              <a:tr h="347472">
                <a:tc>
                  <a:txBody>
                    <a:bodyPr/>
                    <a:lstStyle/>
                    <a:p>
                      <a:pPr indent="0" marL="0">
                        <a:buNone/>
                      </a:pPr>
                      <a:r>
                        <a:rPr lang="en-US" sz="1100" b="1" dirty="0">
                          <a:solidFill>
                            <a:schemeClr val="bg1"/>
                          </a:solidFill>
                        </a:rPr>
                        <a:t>Type</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Use it for</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Example</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150" b="1" dirty="0">
                          <a:solidFill>
                            <a:schemeClr val="tx1"/>
                          </a:solidFill>
                          <a:latin typeface="Courier New" pitchFamily="34" charset="0"/>
                          <a:ea typeface="Courier New" pitchFamily="34" charset="-122"/>
                          <a:cs typeface="Courier New" pitchFamily="34" charset="-120"/>
                        </a:rPr>
                        <a:t>feat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A new capability</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feat(front-door): add period parameter</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50" b="1" dirty="0">
                          <a:solidFill>
                            <a:schemeClr val="tx1"/>
                          </a:solidFill>
                          <a:latin typeface="Courier New" pitchFamily="34" charset="0"/>
                          <a:ea typeface="Courier New" pitchFamily="34" charset="-122"/>
                          <a:cs typeface="Courier New" pitchFamily="34" charset="-120"/>
                        </a:rPr>
                        <a:t>fix</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A bug fixed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fix(gate): stop on empty period</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150" b="1" dirty="0">
                          <a:solidFill>
                            <a:schemeClr val="tx1"/>
                          </a:solidFill>
                          <a:latin typeface="Courier New" pitchFamily="34" charset="0"/>
                          <a:ea typeface="Courier New" pitchFamily="34" charset="-122"/>
                          <a:cs typeface="Courier New" pitchFamily="34" charset="-120"/>
                        </a:rPr>
                        <a:t>docs</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Words only</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docs: explain the run log</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50" b="1" dirty="0">
                          <a:solidFill>
                            <a:schemeClr val="tx1"/>
                          </a:solidFill>
                          <a:latin typeface="Courier New" pitchFamily="34" charset="0"/>
                          <a:ea typeface="Courier New" pitchFamily="34" charset="-122"/>
                          <a:cs typeface="Courier New" pitchFamily="34" charset="-120"/>
                        </a:rPr>
                        <a:t>refactor</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Same behaviour, cleaner</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refactor(silver): name the join</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150" b="1" dirty="0">
                          <a:solidFill>
                            <a:schemeClr val="tx1"/>
                          </a:solidFill>
                          <a:latin typeface="Courier New" pitchFamily="34" charset="0"/>
                          <a:ea typeface="Courier New" pitchFamily="34" charset="-122"/>
                          <a:cs typeface="Courier New" pitchFamily="34" charset="-120"/>
                        </a:rPr>
                        <a:t>test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Tests added or changed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test(gate): cover a failed tie-out</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50" b="1" dirty="0">
                          <a:solidFill>
                            <a:schemeClr val="tx1"/>
                          </a:solidFill>
                          <a:latin typeface="Courier New" pitchFamily="34" charset="0"/>
                          <a:ea typeface="Courier New" pitchFamily="34" charset="-122"/>
                          <a:cs typeface="Courier New" pitchFamily="34" charset="-120"/>
                        </a:rPr>
                        <a:t>chore</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Housekeeping</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chore: bump fabric-cicd</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2"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Graph from the practice repository. Convention: Conventional Commits, with the Azure Boards work item as AB#&lt;id&gt;.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Branches keep work in parallel, and main stays shippable</a:t>
            </a:r>
            <a:endParaRPr lang="en-US" sz="3200" dirty="0"/>
          </a:p>
        </p:txBody>
      </p:sp>
      <p:sp>
        <p:nvSpPr>
          <p:cNvPr id="5" name="Main line"/>
          <p:cNvSpPr/>
          <p:nvPr/>
        </p:nvSpPr>
        <p:spPr>
          <a:xfrm>
            <a:off x="822960" y="3154680"/>
            <a:ext cx="6675120" cy="0"/>
          </a:xfrm>
          <a:prstGeom prst="line">
            <a:avLst/>
          </a:prstGeom>
          <a:noFill/>
          <a:ln w="63500">
            <a:solidFill>
              <a:schemeClr val="tx2"/>
            </a:solidFill>
            <a:prstDash val="solid"/>
          </a:ln>
        </p:spPr>
      </p:sp>
      <p:sp>
        <p:nvSpPr>
          <p:cNvPr id="6" name="Main commit 1"/>
          <p:cNvSpPr/>
          <p:nvPr/>
        </p:nvSpPr>
        <p:spPr>
          <a:xfrm>
            <a:off x="1271016" y="3054096"/>
            <a:ext cx="201168" cy="201168"/>
          </a:xfrm>
          <a:prstGeom prst="ellipse">
            <a:avLst/>
          </a:prstGeom>
          <a:solidFill>
            <a:schemeClr val="tx2"/>
          </a:solidFill>
          <a:ln w="19050">
            <a:solidFill>
              <a:schemeClr val="bg1"/>
            </a:solidFill>
            <a:prstDash val="solid"/>
          </a:ln>
        </p:spPr>
      </p:sp>
      <p:sp>
        <p:nvSpPr>
          <p:cNvPr id="7" name="Main commit 2"/>
          <p:cNvSpPr/>
          <p:nvPr/>
        </p:nvSpPr>
        <p:spPr>
          <a:xfrm>
            <a:off x="2185416" y="3054096"/>
            <a:ext cx="201168" cy="201168"/>
          </a:xfrm>
          <a:prstGeom prst="ellipse">
            <a:avLst/>
          </a:prstGeom>
          <a:solidFill>
            <a:schemeClr val="tx2"/>
          </a:solidFill>
          <a:ln w="19050">
            <a:solidFill>
              <a:schemeClr val="bg1"/>
            </a:solidFill>
            <a:prstDash val="solid"/>
          </a:ln>
        </p:spPr>
      </p:sp>
      <p:sp>
        <p:nvSpPr>
          <p:cNvPr id="8" name="Main commit 3"/>
          <p:cNvSpPr/>
          <p:nvPr/>
        </p:nvSpPr>
        <p:spPr>
          <a:xfrm>
            <a:off x="3099816" y="3054096"/>
            <a:ext cx="201168" cy="201168"/>
          </a:xfrm>
          <a:prstGeom prst="ellipse">
            <a:avLst/>
          </a:prstGeom>
          <a:solidFill>
            <a:schemeClr val="tx2"/>
          </a:solidFill>
          <a:ln w="19050">
            <a:solidFill>
              <a:schemeClr val="bg1"/>
            </a:solidFill>
            <a:prstDash val="solid"/>
          </a:ln>
        </p:spPr>
      </p:sp>
      <p:sp>
        <p:nvSpPr>
          <p:cNvPr id="9" name="Main commit 4"/>
          <p:cNvSpPr/>
          <p:nvPr/>
        </p:nvSpPr>
        <p:spPr>
          <a:xfrm>
            <a:off x="5477256" y="3054096"/>
            <a:ext cx="201168" cy="201168"/>
          </a:xfrm>
          <a:prstGeom prst="ellipse">
            <a:avLst/>
          </a:prstGeom>
          <a:solidFill>
            <a:schemeClr val="tx2"/>
          </a:solidFill>
          <a:ln w="19050">
            <a:solidFill>
              <a:schemeClr val="bg1"/>
            </a:solidFill>
            <a:prstDash val="solid"/>
          </a:ln>
        </p:spPr>
      </p:sp>
      <p:sp>
        <p:nvSpPr>
          <p:cNvPr id="10" name="Main commit 5"/>
          <p:cNvSpPr/>
          <p:nvPr/>
        </p:nvSpPr>
        <p:spPr>
          <a:xfrm>
            <a:off x="6391656" y="3054096"/>
            <a:ext cx="201168" cy="201168"/>
          </a:xfrm>
          <a:prstGeom prst="ellipse">
            <a:avLst/>
          </a:prstGeom>
          <a:solidFill>
            <a:schemeClr val="tx2"/>
          </a:solidFill>
          <a:ln w="19050">
            <a:solidFill>
              <a:schemeClr val="bg1"/>
            </a:solidFill>
            <a:prstDash val="solid"/>
          </a:ln>
        </p:spPr>
      </p:sp>
      <p:sp>
        <p:nvSpPr>
          <p:cNvPr id="11" name="Main commit 6"/>
          <p:cNvSpPr/>
          <p:nvPr/>
        </p:nvSpPr>
        <p:spPr>
          <a:xfrm>
            <a:off x="7123176" y="3054096"/>
            <a:ext cx="201168" cy="201168"/>
          </a:xfrm>
          <a:prstGeom prst="ellipse">
            <a:avLst/>
          </a:prstGeom>
          <a:solidFill>
            <a:schemeClr val="tx2"/>
          </a:solidFill>
          <a:ln w="19050">
            <a:solidFill>
              <a:schemeClr val="bg1"/>
            </a:solidFill>
            <a:prstDash val="solid"/>
          </a:ln>
        </p:spPr>
      </p:sp>
      <p:sp>
        <p:nvSpPr>
          <p:cNvPr id="12" name="Branch A up"/>
          <p:cNvSpPr/>
          <p:nvPr/>
        </p:nvSpPr>
        <p:spPr>
          <a:xfrm>
            <a:off x="3200400" y="2240280"/>
            <a:ext cx="0" cy="914400"/>
          </a:xfrm>
          <a:prstGeom prst="line">
            <a:avLst/>
          </a:prstGeom>
          <a:noFill/>
          <a:ln w="38100">
            <a:solidFill>
              <a:schemeClr val="accent1"/>
            </a:solidFill>
            <a:prstDash val="solid"/>
          </a:ln>
        </p:spPr>
      </p:sp>
      <p:sp>
        <p:nvSpPr>
          <p:cNvPr id="13" name="Branch A"/>
          <p:cNvSpPr/>
          <p:nvPr/>
        </p:nvSpPr>
        <p:spPr>
          <a:xfrm>
            <a:off x="3200400" y="2240280"/>
            <a:ext cx="2377440" cy="0"/>
          </a:xfrm>
          <a:prstGeom prst="line">
            <a:avLst/>
          </a:prstGeom>
          <a:noFill/>
          <a:ln w="38100">
            <a:solidFill>
              <a:schemeClr val="accent1"/>
            </a:solidFill>
            <a:prstDash val="solid"/>
          </a:ln>
        </p:spPr>
      </p:sp>
      <p:sp>
        <p:nvSpPr>
          <p:cNvPr id="14" name="Branch A down"/>
          <p:cNvSpPr/>
          <p:nvPr/>
        </p:nvSpPr>
        <p:spPr>
          <a:xfrm>
            <a:off x="5577840" y="2240280"/>
            <a:ext cx="0" cy="914400"/>
          </a:xfrm>
          <a:prstGeom prst="line">
            <a:avLst/>
          </a:prstGeom>
          <a:noFill/>
          <a:ln w="38100">
            <a:solidFill>
              <a:schemeClr val="accent1"/>
            </a:solidFill>
            <a:prstDash val="solid"/>
          </a:ln>
        </p:spPr>
      </p:sp>
      <p:sp>
        <p:nvSpPr>
          <p:cNvPr id="15" name="Branch A commit 1"/>
          <p:cNvSpPr/>
          <p:nvPr/>
        </p:nvSpPr>
        <p:spPr>
          <a:xfrm>
            <a:off x="3739896" y="2139696"/>
            <a:ext cx="201168" cy="201168"/>
          </a:xfrm>
          <a:prstGeom prst="ellipse">
            <a:avLst/>
          </a:prstGeom>
          <a:solidFill>
            <a:schemeClr val="accent1"/>
          </a:solidFill>
          <a:ln w="19050">
            <a:solidFill>
              <a:schemeClr val="bg1"/>
            </a:solidFill>
            <a:prstDash val="solid"/>
          </a:ln>
        </p:spPr>
      </p:sp>
      <p:sp>
        <p:nvSpPr>
          <p:cNvPr id="16" name="Branch A commit 2"/>
          <p:cNvSpPr/>
          <p:nvPr/>
        </p:nvSpPr>
        <p:spPr>
          <a:xfrm>
            <a:off x="4471416" y="2139696"/>
            <a:ext cx="201168" cy="201168"/>
          </a:xfrm>
          <a:prstGeom prst="ellipse">
            <a:avLst/>
          </a:prstGeom>
          <a:solidFill>
            <a:schemeClr val="accent1"/>
          </a:solidFill>
          <a:ln w="19050">
            <a:solidFill>
              <a:schemeClr val="bg1"/>
            </a:solidFill>
            <a:prstDash val="solid"/>
          </a:ln>
        </p:spPr>
      </p:sp>
      <p:sp>
        <p:nvSpPr>
          <p:cNvPr id="17" name="Branch A commit 3"/>
          <p:cNvSpPr/>
          <p:nvPr/>
        </p:nvSpPr>
        <p:spPr>
          <a:xfrm>
            <a:off x="5020056" y="2139696"/>
            <a:ext cx="201168" cy="201168"/>
          </a:xfrm>
          <a:prstGeom prst="ellipse">
            <a:avLst/>
          </a:prstGeom>
          <a:solidFill>
            <a:schemeClr val="accent1"/>
          </a:solidFill>
          <a:ln w="19050">
            <a:solidFill>
              <a:schemeClr val="bg1"/>
            </a:solidFill>
            <a:prstDash val="solid"/>
          </a:ln>
        </p:spPr>
      </p:sp>
      <p:sp>
        <p:nvSpPr>
          <p:cNvPr id="18" name="Branch B down"/>
          <p:cNvSpPr/>
          <p:nvPr/>
        </p:nvSpPr>
        <p:spPr>
          <a:xfrm>
            <a:off x="2286000" y="3154680"/>
            <a:ext cx="0" cy="914400"/>
          </a:xfrm>
          <a:prstGeom prst="line">
            <a:avLst/>
          </a:prstGeom>
          <a:noFill/>
          <a:ln w="38100">
            <a:solidFill>
              <a:schemeClr val="accent2"/>
            </a:solidFill>
            <a:prstDash val="solid"/>
          </a:ln>
        </p:spPr>
      </p:sp>
      <p:sp>
        <p:nvSpPr>
          <p:cNvPr id="19" name="Branch B"/>
          <p:cNvSpPr/>
          <p:nvPr/>
        </p:nvSpPr>
        <p:spPr>
          <a:xfrm>
            <a:off x="2286000" y="4069080"/>
            <a:ext cx="2286000" cy="0"/>
          </a:xfrm>
          <a:prstGeom prst="line">
            <a:avLst/>
          </a:prstGeom>
          <a:noFill/>
          <a:ln w="38100">
            <a:solidFill>
              <a:schemeClr val="accent2"/>
            </a:solidFill>
            <a:prstDash val="solid"/>
          </a:ln>
        </p:spPr>
      </p:sp>
      <p:sp>
        <p:nvSpPr>
          <p:cNvPr id="20" name="Branch B up"/>
          <p:cNvSpPr/>
          <p:nvPr/>
        </p:nvSpPr>
        <p:spPr>
          <a:xfrm>
            <a:off x="4572000" y="3154680"/>
            <a:ext cx="0" cy="914400"/>
          </a:xfrm>
          <a:prstGeom prst="line">
            <a:avLst/>
          </a:prstGeom>
          <a:noFill/>
          <a:ln w="38100">
            <a:solidFill>
              <a:schemeClr val="accent2"/>
            </a:solidFill>
            <a:prstDash val="solid"/>
          </a:ln>
        </p:spPr>
      </p:sp>
      <p:sp>
        <p:nvSpPr>
          <p:cNvPr id="21" name="Branch B commit 1"/>
          <p:cNvSpPr/>
          <p:nvPr/>
        </p:nvSpPr>
        <p:spPr>
          <a:xfrm>
            <a:off x="2825496" y="3968496"/>
            <a:ext cx="201168" cy="201168"/>
          </a:xfrm>
          <a:prstGeom prst="ellipse">
            <a:avLst/>
          </a:prstGeom>
          <a:solidFill>
            <a:schemeClr val="accent2"/>
          </a:solidFill>
          <a:ln w="19050">
            <a:solidFill>
              <a:schemeClr val="bg1"/>
            </a:solidFill>
            <a:prstDash val="solid"/>
          </a:ln>
        </p:spPr>
      </p:sp>
      <p:sp>
        <p:nvSpPr>
          <p:cNvPr id="22" name="Branch B commit 2"/>
          <p:cNvSpPr/>
          <p:nvPr/>
        </p:nvSpPr>
        <p:spPr>
          <a:xfrm>
            <a:off x="3557016" y="3968496"/>
            <a:ext cx="201168" cy="201168"/>
          </a:xfrm>
          <a:prstGeom prst="ellipse">
            <a:avLst/>
          </a:prstGeom>
          <a:solidFill>
            <a:schemeClr val="accent2"/>
          </a:solidFill>
          <a:ln w="19050">
            <a:solidFill>
              <a:schemeClr val="bg1"/>
            </a:solidFill>
            <a:prstDash val="solid"/>
          </a:ln>
        </p:spPr>
      </p:sp>
      <p:sp>
        <p:nvSpPr>
          <p:cNvPr id="23" name="Main label"/>
          <p:cNvSpPr txBox="1"/>
          <p:nvPr/>
        </p:nvSpPr>
        <p:spPr>
          <a:xfrm>
            <a:off x="822960" y="2743200"/>
            <a:ext cx="914400" cy="27432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main</a:t>
            </a:r>
            <a:endParaRPr lang="en-US" sz="1200" dirty="0"/>
          </a:p>
        </p:txBody>
      </p:sp>
      <p:sp>
        <p:nvSpPr>
          <p:cNvPr id="24" name="Branch A label"/>
          <p:cNvSpPr txBox="1"/>
          <p:nvPr/>
        </p:nvSpPr>
        <p:spPr>
          <a:xfrm>
            <a:off x="3246120" y="1856232"/>
            <a:ext cx="3200400" cy="274320"/>
          </a:xfrm>
          <a:prstGeom prst="rect">
            <a:avLst/>
          </a:prstGeom>
          <a:noFill/>
          <a:ln/>
        </p:spPr>
        <p:txBody>
          <a:bodyPr wrap="square" lIns="0" tIns="0" rIns="0" bIns="0" rtlCol="0" anchor="t"/>
          <a:lstStyle/>
          <a:p>
            <a:pPr indent="0" marL="0">
              <a:buNone/>
            </a:pPr>
            <a:r>
              <a:rPr lang="en-US" sz="1150" b="1" dirty="0">
                <a:solidFill>
                  <a:schemeClr val="accent1"/>
                </a:solidFill>
                <a:latin typeface="Courier New" pitchFamily="34" charset="0"/>
                <a:ea typeface="Courier New" pitchFamily="34" charset="-122"/>
                <a:cs typeface="Courier New" pitchFamily="34" charset="-120"/>
              </a:rPr>
              <a:t>feat/AB1002-tighter-gate</a:t>
            </a:r>
            <a:endParaRPr lang="en-US" sz="1150" dirty="0"/>
          </a:p>
        </p:txBody>
      </p:sp>
      <p:sp>
        <p:nvSpPr>
          <p:cNvPr id="25" name="Branch B label"/>
          <p:cNvSpPr txBox="1"/>
          <p:nvPr/>
        </p:nvSpPr>
        <p:spPr>
          <a:xfrm>
            <a:off x="2331720" y="4233672"/>
            <a:ext cx="3200400" cy="274320"/>
          </a:xfrm>
          <a:prstGeom prst="rect">
            <a:avLst/>
          </a:prstGeom>
          <a:noFill/>
          <a:ln/>
        </p:spPr>
        <p:txBody>
          <a:bodyPr wrap="square" lIns="0" tIns="0" rIns="0" bIns="0" rtlCol="0" anchor="t"/>
          <a:lstStyle/>
          <a:p>
            <a:pPr indent="0" marL="0">
              <a:buNone/>
            </a:pPr>
            <a:r>
              <a:rPr lang="en-US" sz="1150" b="1" dirty="0">
                <a:solidFill>
                  <a:schemeClr val="accent2"/>
                </a:solidFill>
                <a:latin typeface="Courier New" pitchFamily="34" charset="0"/>
                <a:ea typeface="Courier New" pitchFamily="34" charset="-122"/>
                <a:cs typeface="Courier New" pitchFamily="34" charset="-120"/>
              </a:rPr>
              <a:t>fix/AB1005-log-typo</a:t>
            </a:r>
            <a:endParaRPr lang="en-US" sz="1150" dirty="0"/>
          </a:p>
        </p:txBody>
      </p:sp>
      <p:sp>
        <p:nvSpPr>
          <p:cNvPr id="26" name="Branch commands"/>
          <p:cNvSpPr/>
          <p:nvPr/>
        </p:nvSpPr>
        <p:spPr>
          <a:xfrm>
            <a:off x="7772400" y="1783080"/>
            <a:ext cx="3867912" cy="1371600"/>
          </a:xfrm>
          <a:prstGeom prst="roundRect">
            <a:avLst>
              <a:gd name="adj" fmla="val 6667"/>
            </a:avLst>
          </a:prstGeom>
          <a:solidFill>
            <a:schemeClr val="tx1"/>
          </a:solidFill>
          <a:ln/>
        </p:spPr>
      </p:sp>
      <p:sp>
        <p:nvSpPr>
          <p:cNvPr id="27" name="Code label"/>
          <p:cNvSpPr txBox="1"/>
          <p:nvPr/>
        </p:nvSpPr>
        <p:spPr>
          <a:xfrm>
            <a:off x="7973568" y="1874520"/>
            <a:ext cx="34655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THREE COMMANDS</a:t>
            </a:r>
            <a:endParaRPr lang="en-US" sz="1000" dirty="0"/>
          </a:p>
        </p:txBody>
      </p:sp>
      <p:sp>
        <p:nvSpPr>
          <p:cNvPr id="28" name="Branch commands text"/>
          <p:cNvSpPr txBox="1"/>
          <p:nvPr/>
        </p:nvSpPr>
        <p:spPr>
          <a:xfrm>
            <a:off x="7973568" y="2167128"/>
            <a:ext cx="3465576" cy="877824"/>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git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switch</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feat/AB1002-tighter-gate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git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branch</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git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switch</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main</a:t>
            </a:r>
            <a:endParaRPr lang="en-US" sz="1100" dirty="0"/>
          </a:p>
        </p:txBody>
      </p:sp>
      <p:sp>
        <p:nvSpPr>
          <p:cNvPr id="29" name="Main is always shippable"/>
          <p:cNvSpPr/>
          <p:nvPr/>
        </p:nvSpPr>
        <p:spPr>
          <a:xfrm>
            <a:off x="7772400" y="3291840"/>
            <a:ext cx="3867912" cy="777240"/>
          </a:xfrm>
          <a:prstGeom prst="roundRect">
            <a:avLst>
              <a:gd name="adj" fmla="val 14118"/>
            </a:avLst>
          </a:prstGeom>
          <a:solidFill>
            <a:schemeClr val="bg2"/>
          </a:solidFill>
          <a:ln/>
        </p:spPr>
      </p:sp>
      <p:sp>
        <p:nvSpPr>
          <p:cNvPr id="30" name="Rule title"/>
          <p:cNvSpPr txBox="1"/>
          <p:nvPr/>
        </p:nvSpPr>
        <p:spPr>
          <a:xfrm>
            <a:off x="7955280" y="3364992"/>
            <a:ext cx="3566160" cy="2743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Main is always shippable</a:t>
            </a:r>
            <a:endParaRPr lang="en-US" sz="1350" dirty="0"/>
          </a:p>
        </p:txBody>
      </p:sp>
      <p:sp>
        <p:nvSpPr>
          <p:cNvPr id="31" name="Rule text"/>
          <p:cNvSpPr txBox="1"/>
          <p:nvPr/>
        </p:nvSpPr>
        <p:spPr>
          <a:xfrm>
            <a:off x="7955280" y="3694176"/>
            <a:ext cx="3566160" cy="320040"/>
          </a:xfrm>
          <a:prstGeom prst="rect">
            <a:avLst/>
          </a:prstGeom>
          <a:noFill/>
          <a:ln/>
        </p:spPr>
        <p:txBody>
          <a:bodyPr wrap="square" lIns="0" tIns="0" rIns="0" bIns="0" rtlCol="0" anchor="t"/>
          <a:lstStyle/>
          <a:p>
            <a:pPr indent="0" marL="0">
              <a:buNone/>
            </a:pPr>
            <a:r>
              <a:rPr lang="en-US" sz="1200" dirty="0">
                <a:solidFill>
                  <a:schemeClr val="tx1"/>
                </a:solidFill>
              </a:rPr>
              <a:t>Half-finished work lives on branches.</a:t>
            </a:r>
            <a:endParaRPr lang="en-US" sz="1200" dirty="0"/>
          </a:p>
        </p:txBody>
      </p:sp>
      <p:sp>
        <p:nvSpPr>
          <p:cNvPr id="32" name="Branches are short-lived"/>
          <p:cNvSpPr/>
          <p:nvPr/>
        </p:nvSpPr>
        <p:spPr>
          <a:xfrm>
            <a:off x="7772400" y="4160520"/>
            <a:ext cx="3867912" cy="777240"/>
          </a:xfrm>
          <a:prstGeom prst="roundRect">
            <a:avLst>
              <a:gd name="adj" fmla="val 14118"/>
            </a:avLst>
          </a:prstGeom>
          <a:solidFill>
            <a:schemeClr val="bg2"/>
          </a:solidFill>
          <a:ln/>
        </p:spPr>
      </p:sp>
      <p:sp>
        <p:nvSpPr>
          <p:cNvPr id="33" name="Rule title"/>
          <p:cNvSpPr txBox="1"/>
          <p:nvPr/>
        </p:nvSpPr>
        <p:spPr>
          <a:xfrm>
            <a:off x="7955280" y="4233672"/>
            <a:ext cx="3566160" cy="2743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Branches are short-lived</a:t>
            </a:r>
            <a:endParaRPr lang="en-US" sz="1350" dirty="0"/>
          </a:p>
        </p:txBody>
      </p:sp>
      <p:sp>
        <p:nvSpPr>
          <p:cNvPr id="34" name="Rule text"/>
          <p:cNvSpPr txBox="1"/>
          <p:nvPr/>
        </p:nvSpPr>
        <p:spPr>
          <a:xfrm>
            <a:off x="7955280" y="4562856"/>
            <a:ext cx="3566160" cy="320040"/>
          </a:xfrm>
          <a:prstGeom prst="rect">
            <a:avLst/>
          </a:prstGeom>
          <a:noFill/>
          <a:ln/>
        </p:spPr>
        <p:txBody>
          <a:bodyPr wrap="square" lIns="0" tIns="0" rIns="0" bIns="0" rtlCol="0" anchor="t"/>
          <a:lstStyle/>
          <a:p>
            <a:pPr indent="0" marL="0">
              <a:buNone/>
            </a:pPr>
            <a:r>
              <a:rPr lang="en-US" sz="1200" dirty="0">
                <a:solidFill>
                  <a:schemeClr val="tx1"/>
                </a:solidFill>
              </a:rPr>
              <a:t>Days, not weeks. Merge early.</a:t>
            </a:r>
            <a:endParaRPr lang="en-US" sz="1200" dirty="0"/>
          </a:p>
        </p:txBody>
      </p:sp>
      <p:sp>
        <p:nvSpPr>
          <p:cNvPr id="35" name="Names carry meaning"/>
          <p:cNvSpPr/>
          <p:nvPr/>
        </p:nvSpPr>
        <p:spPr>
          <a:xfrm>
            <a:off x="7772400" y="5029200"/>
            <a:ext cx="3867912" cy="777240"/>
          </a:xfrm>
          <a:prstGeom prst="roundRect">
            <a:avLst>
              <a:gd name="adj" fmla="val 14118"/>
            </a:avLst>
          </a:prstGeom>
          <a:solidFill>
            <a:schemeClr val="bg2"/>
          </a:solidFill>
          <a:ln/>
        </p:spPr>
      </p:sp>
      <p:sp>
        <p:nvSpPr>
          <p:cNvPr id="36" name="Rule title"/>
          <p:cNvSpPr txBox="1"/>
          <p:nvPr/>
        </p:nvSpPr>
        <p:spPr>
          <a:xfrm>
            <a:off x="7955280" y="5102352"/>
            <a:ext cx="3566160" cy="2743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Names carry meaning</a:t>
            </a:r>
            <a:endParaRPr lang="en-US" sz="1350" dirty="0"/>
          </a:p>
        </p:txBody>
      </p:sp>
      <p:sp>
        <p:nvSpPr>
          <p:cNvPr id="37" name="Rule text"/>
          <p:cNvSpPr txBox="1"/>
          <p:nvPr/>
        </p:nvSpPr>
        <p:spPr>
          <a:xfrm>
            <a:off x="7955280" y="5431536"/>
            <a:ext cx="3566160" cy="320040"/>
          </a:xfrm>
          <a:prstGeom prst="rect">
            <a:avLst/>
          </a:prstGeom>
          <a:noFill/>
          <a:ln/>
        </p:spPr>
        <p:txBody>
          <a:bodyPr wrap="square" lIns="0" tIns="0" rIns="0" bIns="0" rtlCol="0" anchor="t"/>
          <a:lstStyle/>
          <a:p>
            <a:pPr indent="0" marL="0">
              <a:buNone/>
            </a:pPr>
            <a:r>
              <a:rPr lang="en-US" sz="1200" dirty="0">
                <a:solidFill>
                  <a:schemeClr val="tx1"/>
                </a:solidFill>
              </a:rPr>
              <a:t>type/AB&lt;id&gt;-short-description</a:t>
            </a:r>
            <a:endParaRPr lang="en-US" sz="1200" dirty="0"/>
          </a:p>
        </p:txBody>
      </p:sp>
      <p:sp>
        <p:nvSpPr>
          <p:cNvPr id="38" name="Footnote"/>
          <p:cNvSpPr txBox="1"/>
          <p:nvPr/>
        </p:nvSpPr>
        <p:spPr>
          <a:xfrm>
            <a:off x="548640" y="58978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Diagram: two short-lived branches leave main and come back through pull requests.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pull request is where the rails and the people meet</a:t>
            </a:r>
            <a:endParaRPr lang="en-US" sz="3200" dirty="0"/>
          </a:p>
        </p:txBody>
      </p:sp>
      <p:sp>
        <p:nvSpPr>
          <p:cNvPr id="5" name="Push the branch card"/>
          <p:cNvSpPr/>
          <p:nvPr/>
        </p:nvSpPr>
        <p:spPr>
          <a:xfrm>
            <a:off x="548640" y="1783080"/>
            <a:ext cx="1700784" cy="1783080"/>
          </a:xfrm>
          <a:prstGeom prst="roundRect">
            <a:avLst>
              <a:gd name="adj" fmla="val 6452"/>
            </a:avLst>
          </a:prstGeom>
          <a:solidFill>
            <a:schemeClr val="bg2"/>
          </a:solidFill>
          <a:ln/>
        </p:spPr>
      </p:sp>
      <p:sp>
        <p:nvSpPr>
          <p:cNvPr id="6" name="Step chip 1"/>
          <p:cNvSpPr/>
          <p:nvPr/>
        </p:nvSpPr>
        <p:spPr>
          <a:xfrm>
            <a:off x="685800" y="1920240"/>
            <a:ext cx="384048" cy="384048"/>
          </a:xfrm>
          <a:prstGeom prst="roundRect">
            <a:avLst>
              <a:gd name="adj" fmla="val 19048"/>
            </a:avLst>
          </a:prstGeom>
          <a:solidFill>
            <a:schemeClr val="accent1"/>
          </a:solidFill>
          <a:ln/>
        </p:spPr>
      </p:sp>
      <p:sp>
        <p:nvSpPr>
          <p:cNvPr id="7" name="Step number"/>
          <p:cNvSpPr txBox="1"/>
          <p:nvPr/>
        </p:nvSpPr>
        <p:spPr>
          <a:xfrm>
            <a:off x="685800"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Step title"/>
          <p:cNvSpPr txBox="1"/>
          <p:nvPr/>
        </p:nvSpPr>
        <p:spPr>
          <a:xfrm>
            <a:off x="685800" y="2395728"/>
            <a:ext cx="1426464" cy="5029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Push the branch</a:t>
            </a:r>
            <a:endParaRPr lang="en-US" sz="1350" dirty="0"/>
          </a:p>
        </p:txBody>
      </p:sp>
      <p:sp>
        <p:nvSpPr>
          <p:cNvPr id="9" name="Step text"/>
          <p:cNvSpPr txBox="1"/>
          <p:nvPr/>
        </p:nvSpPr>
        <p:spPr>
          <a:xfrm>
            <a:off x="685800" y="2926080"/>
            <a:ext cx="1426464" cy="594360"/>
          </a:xfrm>
          <a:prstGeom prst="rect">
            <a:avLst/>
          </a:prstGeom>
          <a:noFill/>
          <a:ln/>
        </p:spPr>
        <p:txBody>
          <a:bodyPr wrap="square" lIns="0" tIns="0" rIns="0" bIns="0" rtlCol="0" anchor="t"/>
          <a:lstStyle/>
          <a:p>
            <a:pPr indent="0" marL="0">
              <a:buNone/>
            </a:pPr>
            <a:r>
              <a:rPr lang="en-US" sz="1050" dirty="0">
                <a:solidFill>
                  <a:schemeClr val="tx1"/>
                </a:solidFill>
              </a:rPr>
              <a:t>git push -u origin &lt;branch&gt;</a:t>
            </a:r>
            <a:endParaRPr lang="en-US" sz="1050" dirty="0"/>
          </a:p>
        </p:txBody>
      </p:sp>
      <p:sp>
        <p:nvSpPr>
          <p:cNvPr id="10" name="Step arrow 1"/>
          <p:cNvSpPr/>
          <p:nvPr/>
        </p:nvSpPr>
        <p:spPr>
          <a:xfrm>
            <a:off x="2276856" y="2112264"/>
            <a:ext cx="123078" cy="0"/>
          </a:xfrm>
          <a:prstGeom prst="line">
            <a:avLst/>
          </a:prstGeom>
          <a:noFill/>
          <a:ln w="25400">
            <a:solidFill>
              <a:schemeClr val="accent5"/>
            </a:solidFill>
            <a:prstDash val="solid"/>
            <a:tailEnd type="triangle"/>
          </a:ln>
        </p:spPr>
      </p:sp>
      <p:sp>
        <p:nvSpPr>
          <p:cNvPr id="11" name="Open the pull request card"/>
          <p:cNvSpPr/>
          <p:nvPr/>
        </p:nvSpPr>
        <p:spPr>
          <a:xfrm>
            <a:off x="2427366" y="1783080"/>
            <a:ext cx="1700784" cy="1783080"/>
          </a:xfrm>
          <a:prstGeom prst="roundRect">
            <a:avLst>
              <a:gd name="adj" fmla="val 6452"/>
            </a:avLst>
          </a:prstGeom>
          <a:solidFill>
            <a:schemeClr val="bg2"/>
          </a:solidFill>
          <a:ln/>
        </p:spPr>
      </p:sp>
      <p:sp>
        <p:nvSpPr>
          <p:cNvPr id="12" name="Step chip 2"/>
          <p:cNvSpPr/>
          <p:nvPr/>
        </p:nvSpPr>
        <p:spPr>
          <a:xfrm>
            <a:off x="2564526" y="1920240"/>
            <a:ext cx="384048" cy="384048"/>
          </a:xfrm>
          <a:prstGeom prst="roundRect">
            <a:avLst>
              <a:gd name="adj" fmla="val 19048"/>
            </a:avLst>
          </a:prstGeom>
          <a:solidFill>
            <a:schemeClr val="accent1"/>
          </a:solidFill>
          <a:ln/>
        </p:spPr>
      </p:sp>
      <p:sp>
        <p:nvSpPr>
          <p:cNvPr id="13" name="Step number"/>
          <p:cNvSpPr txBox="1"/>
          <p:nvPr/>
        </p:nvSpPr>
        <p:spPr>
          <a:xfrm>
            <a:off x="2564526"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4" name="Step title"/>
          <p:cNvSpPr txBox="1"/>
          <p:nvPr/>
        </p:nvSpPr>
        <p:spPr>
          <a:xfrm>
            <a:off x="2564526" y="2395728"/>
            <a:ext cx="1426464" cy="5029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Open the pull request</a:t>
            </a:r>
            <a:endParaRPr lang="en-US" sz="1350" dirty="0"/>
          </a:p>
        </p:txBody>
      </p:sp>
      <p:sp>
        <p:nvSpPr>
          <p:cNvPr id="15" name="Step text"/>
          <p:cNvSpPr txBox="1"/>
          <p:nvPr/>
        </p:nvSpPr>
        <p:spPr>
          <a:xfrm>
            <a:off x="2564526" y="2926080"/>
            <a:ext cx="1426464" cy="594360"/>
          </a:xfrm>
          <a:prstGeom prst="rect">
            <a:avLst/>
          </a:prstGeom>
          <a:noFill/>
          <a:ln/>
        </p:spPr>
        <p:txBody>
          <a:bodyPr wrap="square" lIns="0" tIns="0" rIns="0" bIns="0" rtlCol="0" anchor="t"/>
          <a:lstStyle/>
          <a:p>
            <a:pPr indent="0" marL="0">
              <a:buNone/>
            </a:pPr>
            <a:r>
              <a:rPr lang="en-US" sz="1050" dirty="0">
                <a:solidFill>
                  <a:schemeClr val="tx1"/>
                </a:solidFill>
              </a:rPr>
              <a:t>Title like a commit message. Link the work item.</a:t>
            </a:r>
            <a:endParaRPr lang="en-US" sz="1050" dirty="0"/>
          </a:p>
        </p:txBody>
      </p:sp>
      <p:sp>
        <p:nvSpPr>
          <p:cNvPr id="16" name="Step arrow 2"/>
          <p:cNvSpPr/>
          <p:nvPr/>
        </p:nvSpPr>
        <p:spPr>
          <a:xfrm>
            <a:off x="4155582" y="2112264"/>
            <a:ext cx="123078" cy="0"/>
          </a:xfrm>
          <a:prstGeom prst="line">
            <a:avLst/>
          </a:prstGeom>
          <a:noFill/>
          <a:ln w="25400">
            <a:solidFill>
              <a:schemeClr val="accent5"/>
            </a:solidFill>
            <a:prstDash val="solid"/>
            <a:tailEnd type="triangle"/>
          </a:ln>
        </p:spPr>
      </p:sp>
      <p:sp>
        <p:nvSpPr>
          <p:cNvPr id="17" name="Rails run card"/>
          <p:cNvSpPr/>
          <p:nvPr/>
        </p:nvSpPr>
        <p:spPr>
          <a:xfrm>
            <a:off x="4306092" y="1783080"/>
            <a:ext cx="1700784" cy="1783080"/>
          </a:xfrm>
          <a:prstGeom prst="roundRect">
            <a:avLst>
              <a:gd name="adj" fmla="val 6452"/>
            </a:avLst>
          </a:prstGeom>
          <a:solidFill>
            <a:schemeClr val="accent2">
              <a:alpha val="20000"/>
            </a:schemeClr>
          </a:solidFill>
          <a:ln/>
        </p:spPr>
      </p:sp>
      <p:sp>
        <p:nvSpPr>
          <p:cNvPr id="18" name="Step chip 3"/>
          <p:cNvSpPr/>
          <p:nvPr/>
        </p:nvSpPr>
        <p:spPr>
          <a:xfrm>
            <a:off x="4443252" y="1920240"/>
            <a:ext cx="384048" cy="384048"/>
          </a:xfrm>
          <a:prstGeom prst="roundRect">
            <a:avLst>
              <a:gd name="adj" fmla="val 19048"/>
            </a:avLst>
          </a:prstGeom>
          <a:solidFill>
            <a:schemeClr val="accent2"/>
          </a:solidFill>
          <a:ln/>
        </p:spPr>
      </p:sp>
      <p:sp>
        <p:nvSpPr>
          <p:cNvPr id="19" name="Step number"/>
          <p:cNvSpPr txBox="1"/>
          <p:nvPr/>
        </p:nvSpPr>
        <p:spPr>
          <a:xfrm>
            <a:off x="4443252"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0" name="Step title"/>
          <p:cNvSpPr txBox="1"/>
          <p:nvPr/>
        </p:nvSpPr>
        <p:spPr>
          <a:xfrm>
            <a:off x="4443252" y="2395728"/>
            <a:ext cx="1426464" cy="5029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Rails run</a:t>
            </a:r>
            <a:endParaRPr lang="en-US" sz="1350" dirty="0"/>
          </a:p>
        </p:txBody>
      </p:sp>
      <p:sp>
        <p:nvSpPr>
          <p:cNvPr id="21" name="Step text"/>
          <p:cNvSpPr txBox="1"/>
          <p:nvPr/>
        </p:nvSpPr>
        <p:spPr>
          <a:xfrm>
            <a:off x="4443252" y="2926080"/>
            <a:ext cx="1426464" cy="594360"/>
          </a:xfrm>
          <a:prstGeom prst="rect">
            <a:avLst/>
          </a:prstGeom>
          <a:noFill/>
          <a:ln/>
        </p:spPr>
        <p:txBody>
          <a:bodyPr wrap="square" lIns="0" tIns="0" rIns="0" bIns="0" rtlCol="0" anchor="t"/>
          <a:lstStyle/>
          <a:p>
            <a:pPr indent="0" marL="0">
              <a:buNone/>
            </a:pPr>
            <a:r>
              <a:rPr lang="en-US" sz="1050" dirty="0">
                <a:solidFill>
                  <a:schemeClr val="tx1"/>
                </a:solidFill>
              </a:rPr>
              <a:t>Secrets, IDs, messages. Automatic.</a:t>
            </a:r>
            <a:endParaRPr lang="en-US" sz="1050" dirty="0"/>
          </a:p>
        </p:txBody>
      </p:sp>
      <p:sp>
        <p:nvSpPr>
          <p:cNvPr id="22" name="Step arrow 3"/>
          <p:cNvSpPr/>
          <p:nvPr/>
        </p:nvSpPr>
        <p:spPr>
          <a:xfrm>
            <a:off x="6034308" y="2112264"/>
            <a:ext cx="123078" cy="0"/>
          </a:xfrm>
          <a:prstGeom prst="line">
            <a:avLst/>
          </a:prstGeom>
          <a:noFill/>
          <a:ln w="25400">
            <a:solidFill>
              <a:schemeClr val="accent5"/>
            </a:solidFill>
            <a:prstDash val="solid"/>
            <a:tailEnd type="triangle"/>
          </a:ln>
        </p:spPr>
      </p:sp>
      <p:sp>
        <p:nvSpPr>
          <p:cNvPr id="23" name="A person reviews card"/>
          <p:cNvSpPr/>
          <p:nvPr/>
        </p:nvSpPr>
        <p:spPr>
          <a:xfrm>
            <a:off x="6184819" y="1783080"/>
            <a:ext cx="1700784" cy="1783080"/>
          </a:xfrm>
          <a:prstGeom prst="roundRect">
            <a:avLst>
              <a:gd name="adj" fmla="val 6452"/>
            </a:avLst>
          </a:prstGeom>
          <a:solidFill>
            <a:schemeClr val="bg2"/>
          </a:solidFill>
          <a:ln/>
        </p:spPr>
      </p:sp>
      <p:sp>
        <p:nvSpPr>
          <p:cNvPr id="24" name="Step chip 4"/>
          <p:cNvSpPr/>
          <p:nvPr/>
        </p:nvSpPr>
        <p:spPr>
          <a:xfrm>
            <a:off x="6321979" y="1920240"/>
            <a:ext cx="384048" cy="384048"/>
          </a:xfrm>
          <a:prstGeom prst="roundRect">
            <a:avLst>
              <a:gd name="adj" fmla="val 19048"/>
            </a:avLst>
          </a:prstGeom>
          <a:solidFill>
            <a:schemeClr val="accent1"/>
          </a:solidFill>
          <a:ln/>
        </p:spPr>
      </p:sp>
      <p:sp>
        <p:nvSpPr>
          <p:cNvPr id="25" name="Step number"/>
          <p:cNvSpPr txBox="1"/>
          <p:nvPr/>
        </p:nvSpPr>
        <p:spPr>
          <a:xfrm>
            <a:off x="6321979"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6" name="Step title"/>
          <p:cNvSpPr txBox="1"/>
          <p:nvPr/>
        </p:nvSpPr>
        <p:spPr>
          <a:xfrm>
            <a:off x="6321979" y="2395728"/>
            <a:ext cx="1426464" cy="5029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A person reviews</a:t>
            </a:r>
            <a:endParaRPr lang="en-US" sz="1350" dirty="0"/>
          </a:p>
        </p:txBody>
      </p:sp>
      <p:sp>
        <p:nvSpPr>
          <p:cNvPr id="27" name="Step text"/>
          <p:cNvSpPr txBox="1"/>
          <p:nvPr/>
        </p:nvSpPr>
        <p:spPr>
          <a:xfrm>
            <a:off x="6321979" y="2926080"/>
            <a:ext cx="1426464" cy="594360"/>
          </a:xfrm>
          <a:prstGeom prst="rect">
            <a:avLst/>
          </a:prstGeom>
          <a:noFill/>
          <a:ln/>
        </p:spPr>
        <p:txBody>
          <a:bodyPr wrap="square" lIns="0" tIns="0" rIns="0" bIns="0" rtlCol="0" anchor="t"/>
          <a:lstStyle/>
          <a:p>
            <a:pPr indent="0" marL="0">
              <a:buNone/>
            </a:pPr>
            <a:r>
              <a:rPr lang="en-US" sz="1050" dirty="0">
                <a:solidFill>
                  <a:schemeClr val="tx1"/>
                </a:solidFill>
              </a:rPr>
              <a:t>Reads the diff. Asks. Approves or requests changes.</a:t>
            </a:r>
            <a:endParaRPr lang="en-US" sz="1050" dirty="0"/>
          </a:p>
        </p:txBody>
      </p:sp>
      <p:sp>
        <p:nvSpPr>
          <p:cNvPr id="28" name="Step arrow 4"/>
          <p:cNvSpPr/>
          <p:nvPr/>
        </p:nvSpPr>
        <p:spPr>
          <a:xfrm>
            <a:off x="7913035" y="2112264"/>
            <a:ext cx="123078" cy="0"/>
          </a:xfrm>
          <a:prstGeom prst="line">
            <a:avLst/>
          </a:prstGeom>
          <a:noFill/>
          <a:ln w="25400">
            <a:solidFill>
              <a:schemeClr val="accent5"/>
            </a:solidFill>
            <a:prstDash val="solid"/>
            <a:tailEnd type="triangle"/>
          </a:ln>
        </p:spPr>
      </p:sp>
      <p:sp>
        <p:nvSpPr>
          <p:cNvPr id="29" name="Approve card"/>
          <p:cNvSpPr/>
          <p:nvPr/>
        </p:nvSpPr>
        <p:spPr>
          <a:xfrm>
            <a:off x="8063545" y="1783080"/>
            <a:ext cx="1700784" cy="1783080"/>
          </a:xfrm>
          <a:prstGeom prst="roundRect">
            <a:avLst>
              <a:gd name="adj" fmla="val 6452"/>
            </a:avLst>
          </a:prstGeom>
          <a:solidFill>
            <a:schemeClr val="bg2"/>
          </a:solidFill>
          <a:ln/>
        </p:spPr>
      </p:sp>
      <p:sp>
        <p:nvSpPr>
          <p:cNvPr id="30" name="Step chip 5"/>
          <p:cNvSpPr/>
          <p:nvPr/>
        </p:nvSpPr>
        <p:spPr>
          <a:xfrm>
            <a:off x="8200705" y="1920240"/>
            <a:ext cx="384048" cy="384048"/>
          </a:xfrm>
          <a:prstGeom prst="roundRect">
            <a:avLst>
              <a:gd name="adj" fmla="val 19048"/>
            </a:avLst>
          </a:prstGeom>
          <a:solidFill>
            <a:schemeClr val="accent1"/>
          </a:solidFill>
          <a:ln/>
        </p:spPr>
      </p:sp>
      <p:sp>
        <p:nvSpPr>
          <p:cNvPr id="31" name="Step number"/>
          <p:cNvSpPr txBox="1"/>
          <p:nvPr/>
        </p:nvSpPr>
        <p:spPr>
          <a:xfrm>
            <a:off x="8200705"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32" name="Step title"/>
          <p:cNvSpPr txBox="1"/>
          <p:nvPr/>
        </p:nvSpPr>
        <p:spPr>
          <a:xfrm>
            <a:off x="8200705" y="2395728"/>
            <a:ext cx="1426464" cy="5029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Approve</a:t>
            </a:r>
            <a:endParaRPr lang="en-US" sz="1350" dirty="0"/>
          </a:p>
        </p:txBody>
      </p:sp>
      <p:sp>
        <p:nvSpPr>
          <p:cNvPr id="33" name="Step text"/>
          <p:cNvSpPr txBox="1"/>
          <p:nvPr/>
        </p:nvSpPr>
        <p:spPr>
          <a:xfrm>
            <a:off x="8200705" y="2926080"/>
            <a:ext cx="1426464" cy="594360"/>
          </a:xfrm>
          <a:prstGeom prst="rect">
            <a:avLst/>
          </a:prstGeom>
          <a:noFill/>
          <a:ln/>
        </p:spPr>
        <p:txBody>
          <a:bodyPr wrap="square" lIns="0" tIns="0" rIns="0" bIns="0" rtlCol="0" anchor="t"/>
          <a:lstStyle/>
          <a:p>
            <a:pPr indent="0" marL="0">
              <a:buNone/>
            </a:pPr>
            <a:r>
              <a:rPr lang="en-US" sz="1050" dirty="0">
                <a:solidFill>
                  <a:schemeClr val="tx1"/>
                </a:solidFill>
              </a:rPr>
              <a:t>Needs green rails and a reviewer.</a:t>
            </a:r>
            <a:endParaRPr lang="en-US" sz="1050" dirty="0"/>
          </a:p>
        </p:txBody>
      </p:sp>
      <p:sp>
        <p:nvSpPr>
          <p:cNvPr id="34" name="Step arrow 5"/>
          <p:cNvSpPr/>
          <p:nvPr/>
        </p:nvSpPr>
        <p:spPr>
          <a:xfrm>
            <a:off x="9791761" y="2112264"/>
            <a:ext cx="123078" cy="0"/>
          </a:xfrm>
          <a:prstGeom prst="line">
            <a:avLst/>
          </a:prstGeom>
          <a:noFill/>
          <a:ln w="25400">
            <a:solidFill>
              <a:schemeClr val="accent5"/>
            </a:solidFill>
            <a:prstDash val="solid"/>
            <a:tailEnd type="triangle"/>
          </a:ln>
        </p:spPr>
      </p:sp>
      <p:sp>
        <p:nvSpPr>
          <p:cNvPr id="35" name="Merge card"/>
          <p:cNvSpPr/>
          <p:nvPr/>
        </p:nvSpPr>
        <p:spPr>
          <a:xfrm>
            <a:off x="9942271" y="1783080"/>
            <a:ext cx="1700784" cy="1783080"/>
          </a:xfrm>
          <a:prstGeom prst="roundRect">
            <a:avLst>
              <a:gd name="adj" fmla="val 6452"/>
            </a:avLst>
          </a:prstGeom>
          <a:solidFill>
            <a:schemeClr val="bg2"/>
          </a:solidFill>
          <a:ln/>
        </p:spPr>
      </p:sp>
      <p:sp>
        <p:nvSpPr>
          <p:cNvPr id="36" name="Step chip 6"/>
          <p:cNvSpPr/>
          <p:nvPr/>
        </p:nvSpPr>
        <p:spPr>
          <a:xfrm>
            <a:off x="10079431" y="1920240"/>
            <a:ext cx="384048" cy="384048"/>
          </a:xfrm>
          <a:prstGeom prst="roundRect">
            <a:avLst>
              <a:gd name="adj" fmla="val 19048"/>
            </a:avLst>
          </a:prstGeom>
          <a:solidFill>
            <a:schemeClr val="accent1"/>
          </a:solidFill>
          <a:ln/>
        </p:spPr>
      </p:sp>
      <p:sp>
        <p:nvSpPr>
          <p:cNvPr id="37" name="Step number"/>
          <p:cNvSpPr txBox="1"/>
          <p:nvPr/>
        </p:nvSpPr>
        <p:spPr>
          <a:xfrm>
            <a:off x="10079431"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38" name="Step title"/>
          <p:cNvSpPr txBox="1"/>
          <p:nvPr/>
        </p:nvSpPr>
        <p:spPr>
          <a:xfrm>
            <a:off x="10079431" y="2395728"/>
            <a:ext cx="1426464" cy="5029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Merge</a:t>
            </a:r>
            <a:endParaRPr lang="en-US" sz="1350" dirty="0"/>
          </a:p>
        </p:txBody>
      </p:sp>
      <p:sp>
        <p:nvSpPr>
          <p:cNvPr id="39" name="Step text"/>
          <p:cNvSpPr txBox="1"/>
          <p:nvPr/>
        </p:nvSpPr>
        <p:spPr>
          <a:xfrm>
            <a:off x="10079431" y="2926080"/>
            <a:ext cx="1426464" cy="594360"/>
          </a:xfrm>
          <a:prstGeom prst="rect">
            <a:avLst/>
          </a:prstGeom>
          <a:noFill/>
          <a:ln/>
        </p:spPr>
        <p:txBody>
          <a:bodyPr wrap="square" lIns="0" tIns="0" rIns="0" bIns="0" rtlCol="0" anchor="t"/>
          <a:lstStyle/>
          <a:p>
            <a:pPr indent="0" marL="0">
              <a:buNone/>
            </a:pPr>
            <a:r>
              <a:rPr lang="en-US" sz="1050" dirty="0">
                <a:solidFill>
                  <a:schemeClr val="tx1"/>
                </a:solidFill>
              </a:rPr>
              <a:t>main moves forward. The branch is deleted.</a:t>
            </a:r>
            <a:endParaRPr lang="en-US" sz="1050" dirty="0"/>
          </a:p>
        </p:txBody>
      </p:sp>
      <p:sp>
        <p:nvSpPr>
          <p:cNvPr id="40" name="Description card"/>
          <p:cNvSpPr/>
          <p:nvPr/>
        </p:nvSpPr>
        <p:spPr>
          <a:xfrm>
            <a:off x="548640" y="3749040"/>
            <a:ext cx="5468112" cy="2011680"/>
          </a:xfrm>
          <a:prstGeom prst="roundRect">
            <a:avLst>
              <a:gd name="adj" fmla="val 5455"/>
            </a:avLst>
          </a:prstGeom>
          <a:solidFill>
            <a:schemeClr val="bg2"/>
          </a:solidFill>
          <a:ln/>
        </p:spPr>
      </p:sp>
      <p:sp>
        <p:nvSpPr>
          <p:cNvPr id="41" name="Description title"/>
          <p:cNvSpPr txBox="1"/>
          <p:nvPr/>
        </p:nvSpPr>
        <p:spPr>
          <a:xfrm>
            <a:off x="777240" y="3840480"/>
            <a:ext cx="49377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What the description says</a:t>
            </a:r>
            <a:endParaRPr lang="en-US" sz="1500" dirty="0"/>
          </a:p>
        </p:txBody>
      </p:sp>
      <p:sp>
        <p:nvSpPr>
          <p:cNvPr id="42" name="Description list"/>
          <p:cNvSpPr txBox="1"/>
          <p:nvPr/>
        </p:nvSpPr>
        <p:spPr>
          <a:xfrm>
            <a:off x="777240" y="4206240"/>
            <a:ext cx="502920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What changed, in a sentence.</a:t>
            </a:r>
            <a:endParaRPr lang="en-US" sz="1300" dirty="0"/>
          </a:p>
          <a:p>
            <a:pPr marL="342900" indent="-342900">
              <a:spcAft>
                <a:spcPts val="400"/>
              </a:spcAft>
              <a:buSzPct val="100000"/>
              <a:buChar char="•"/>
            </a:pPr>
            <a:r>
              <a:rPr lang="en-US" sz="1300" dirty="0">
                <a:solidFill>
                  <a:schemeClr val="tx1"/>
                </a:solidFill>
              </a:rPr>
              <a:t>Why: the work item, as AB#&lt;id&gt;.</a:t>
            </a:r>
            <a:endParaRPr lang="en-US" sz="1300" dirty="0"/>
          </a:p>
          <a:p>
            <a:pPr marL="342900" indent="-342900">
              <a:spcAft>
                <a:spcPts val="400"/>
              </a:spcAft>
              <a:buSzPct val="100000"/>
              <a:buChar char="•"/>
            </a:pPr>
            <a:r>
              <a:rPr lang="en-US" sz="1300" dirty="0">
                <a:solidFill>
                  <a:schemeClr val="tx1"/>
                </a:solidFill>
              </a:rPr>
              <a:t>How you tested it: a run, a log row, a screenshot.</a:t>
            </a:r>
            <a:endParaRPr lang="en-US" sz="1300" dirty="0"/>
          </a:p>
          <a:p>
            <a:pPr marL="342900" indent="-342900">
              <a:spcAft>
                <a:spcPts val="400"/>
              </a:spcAft>
              <a:buSzPct val="100000"/>
              <a:buChar char="•"/>
            </a:pPr>
            <a:r>
              <a:rPr lang="en-US" sz="1300" dirty="0">
                <a:solidFill>
                  <a:schemeClr val="tx1"/>
                </a:solidFill>
              </a:rPr>
              <a:t>Anything the reviewer should look at twice.</a:t>
            </a:r>
            <a:endParaRPr lang="en-US" sz="1300" dirty="0"/>
          </a:p>
        </p:txBody>
      </p:sp>
      <p:sp>
        <p:nvSpPr>
          <p:cNvPr id="43" name="Review card"/>
          <p:cNvSpPr/>
          <p:nvPr/>
        </p:nvSpPr>
        <p:spPr>
          <a:xfrm>
            <a:off x="6172200" y="3749040"/>
            <a:ext cx="5468112" cy="2011680"/>
          </a:xfrm>
          <a:prstGeom prst="roundRect">
            <a:avLst>
              <a:gd name="adj" fmla="val 5455"/>
            </a:avLst>
          </a:prstGeom>
          <a:solidFill>
            <a:schemeClr val="accent3">
              <a:alpha val="22000"/>
            </a:schemeClr>
          </a:solidFill>
          <a:ln/>
        </p:spPr>
      </p:sp>
      <p:sp>
        <p:nvSpPr>
          <p:cNvPr id="44" name="Review title"/>
          <p:cNvSpPr txBox="1"/>
          <p:nvPr/>
        </p:nvSpPr>
        <p:spPr>
          <a:xfrm>
            <a:off x="6400800" y="3840480"/>
            <a:ext cx="49377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Four review questions</a:t>
            </a:r>
            <a:endParaRPr lang="en-US" sz="1500" dirty="0"/>
          </a:p>
        </p:txBody>
      </p:sp>
      <p:sp>
        <p:nvSpPr>
          <p:cNvPr id="45" name="Review list"/>
          <p:cNvSpPr txBox="1"/>
          <p:nvPr/>
        </p:nvSpPr>
        <p:spPr>
          <a:xfrm>
            <a:off x="6400800" y="4206240"/>
            <a:ext cx="502920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Does it do what the description says?</a:t>
            </a:r>
            <a:endParaRPr lang="en-US" sz="1300" dirty="0"/>
          </a:p>
          <a:p>
            <a:pPr marL="342900" indent="-342900">
              <a:spcAft>
                <a:spcPts val="400"/>
              </a:spcAft>
              <a:buSzPct val="100000"/>
              <a:buChar char="•"/>
            </a:pPr>
            <a:r>
              <a:rPr lang="en-US" sz="1300" dirty="0">
                <a:solidFill>
                  <a:schemeClr val="tx1"/>
                </a:solidFill>
              </a:rPr>
              <a:t>Would it still work in TEST? Any hard-coded value?</a:t>
            </a:r>
            <a:endParaRPr lang="en-US" sz="1300" dirty="0"/>
          </a:p>
          <a:p>
            <a:pPr marL="342900" indent="-342900">
              <a:spcAft>
                <a:spcPts val="400"/>
              </a:spcAft>
              <a:buSzPct val="100000"/>
              <a:buChar char="•"/>
            </a:pPr>
            <a:r>
              <a:rPr lang="en-US" sz="1300" dirty="0">
                <a:solidFill>
                  <a:schemeClr val="tx1"/>
                </a:solidFill>
              </a:rPr>
              <a:t>Could it fail loudly? Is there a gate?</a:t>
            </a:r>
            <a:endParaRPr lang="en-US" sz="1300" dirty="0"/>
          </a:p>
          <a:p>
            <a:pPr marL="342900" indent="-342900">
              <a:spcAft>
                <a:spcPts val="400"/>
              </a:spcAft>
              <a:buSzPct val="100000"/>
              <a:buChar char="•"/>
            </a:pPr>
            <a:r>
              <a:rPr lang="en-US" sz="1300" dirty="0">
                <a:solidFill>
                  <a:schemeClr val="tx1"/>
                </a:solidFill>
              </a:rPr>
              <a:t>Would I understand this in six months?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merge conflict is a question, not an error</a:t>
            </a:r>
            <a:endParaRPr lang="en-US" sz="3200" dirty="0"/>
          </a:p>
        </p:txBody>
      </p:sp>
      <p:sp>
        <p:nvSpPr>
          <p:cNvPr id="5" name="Conflict output"/>
          <p:cNvSpPr/>
          <p:nvPr/>
        </p:nvSpPr>
        <p:spPr>
          <a:xfrm>
            <a:off x="548640" y="1783080"/>
            <a:ext cx="7223760" cy="3199257"/>
          </a:xfrm>
          <a:prstGeom prst="roundRect">
            <a:avLst>
              <a:gd name="adj" fmla="val 2858"/>
            </a:avLst>
          </a:prstGeom>
          <a:solidFill>
            <a:schemeClr val="tx1"/>
          </a:solidFill>
          <a:ln/>
        </p:spPr>
      </p:sp>
      <p:sp>
        <p:nvSpPr>
          <p:cNvPr id="6" name="Code label"/>
          <p:cNvSpPr txBox="1"/>
          <p:nvPr/>
        </p:nvSpPr>
        <p:spPr>
          <a:xfrm>
            <a:off x="749808" y="1874520"/>
            <a:ext cx="68214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TERMINAL · A REAL CONFLICT</a:t>
            </a:r>
            <a:endParaRPr lang="en-US" sz="1000" dirty="0"/>
          </a:p>
        </p:txBody>
      </p:sp>
      <p:sp>
        <p:nvSpPr>
          <p:cNvPr id="7" name="Conflict output text"/>
          <p:cNvSpPr txBox="1"/>
          <p:nvPr/>
        </p:nvSpPr>
        <p:spPr>
          <a:xfrm>
            <a:off x="749808" y="2167128"/>
            <a:ext cx="6821424" cy="2705481"/>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feat/AB1003-looser-gate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Auto-merging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CONFLICT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(content):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conflict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Automatic</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fix</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conflicts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and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commit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result.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status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UU</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file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now</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contains: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&lt;&lt;&lt;&lt;&lt;&lt;&lt;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HEAD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check.filter(F.abs("difference")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0.01).count()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check.filter(F.abs("difference")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0.10).count()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&gt;&gt;&gt;&gt;&gt;&gt;&gt;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feat/AB1003-looser-gate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unmapped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(spark.read.table("silver_dst_unmapped")</a:t>
            </a:r>
            <a:endParaRPr lang="en-US" sz="1050" dirty="0"/>
          </a:p>
        </p:txBody>
      </p:sp>
      <p:sp>
        <p:nvSpPr>
          <p:cNvPr id="8" name="Read both sides card"/>
          <p:cNvSpPr/>
          <p:nvPr/>
        </p:nvSpPr>
        <p:spPr>
          <a:xfrm>
            <a:off x="7955280" y="1783080"/>
            <a:ext cx="3685032" cy="1078992"/>
          </a:xfrm>
          <a:prstGeom prst="roundRect">
            <a:avLst>
              <a:gd name="adj" fmla="val 10169"/>
            </a:avLst>
          </a:prstGeom>
          <a:solidFill>
            <a:schemeClr val="bg2"/>
          </a:solidFill>
          <a:ln/>
        </p:spPr>
      </p:sp>
      <p:sp>
        <p:nvSpPr>
          <p:cNvPr id="9" name="Resolve chip 1"/>
          <p:cNvSpPr/>
          <p:nvPr/>
        </p:nvSpPr>
        <p:spPr>
          <a:xfrm>
            <a:off x="8119872" y="1911096"/>
            <a:ext cx="365760" cy="365760"/>
          </a:xfrm>
          <a:prstGeom prst="roundRect">
            <a:avLst>
              <a:gd name="adj" fmla="val 20000"/>
            </a:avLst>
          </a:prstGeom>
          <a:solidFill>
            <a:schemeClr val="accent1"/>
          </a:solidFill>
          <a:ln/>
        </p:spPr>
      </p:sp>
      <p:sp>
        <p:nvSpPr>
          <p:cNvPr id="10" name="Resolve number"/>
          <p:cNvSpPr txBox="1"/>
          <p:nvPr/>
        </p:nvSpPr>
        <p:spPr>
          <a:xfrm>
            <a:off x="8119872" y="191109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1" name="Resolve title"/>
          <p:cNvSpPr txBox="1"/>
          <p:nvPr/>
        </p:nvSpPr>
        <p:spPr>
          <a:xfrm>
            <a:off x="8595360" y="1874520"/>
            <a:ext cx="2971800" cy="457200"/>
          </a:xfrm>
          <a:prstGeom prst="rect">
            <a:avLst/>
          </a:prstGeom>
          <a:noFill/>
          <a:ln/>
        </p:spPr>
        <p:txBody>
          <a:bodyPr wrap="square" lIns="0" tIns="0" rIns="0" bIns="0" rtlCol="0" anchor="ctr"/>
          <a:lstStyle/>
          <a:p>
            <a:pPr indent="0" marL="0">
              <a:buNone/>
            </a:pPr>
            <a:r>
              <a:rPr lang="en-US" sz="1350" b="1" dirty="0">
                <a:solidFill>
                  <a:schemeClr val="tx1"/>
                </a:solidFill>
                <a:latin typeface="+mj-lt" pitchFamily="34" charset="0"/>
                <a:ea typeface="+mj-lt" pitchFamily="34" charset="-122"/>
                <a:cs typeface="+mj-lt" pitchFamily="34" charset="-120"/>
              </a:rPr>
              <a:t>Read both sides</a:t>
            </a:r>
            <a:endParaRPr lang="en-US" sz="1350" dirty="0"/>
          </a:p>
        </p:txBody>
      </p:sp>
      <p:sp>
        <p:nvSpPr>
          <p:cNvPr id="12" name="Resolve text"/>
          <p:cNvSpPr txBox="1"/>
          <p:nvPr/>
        </p:nvSpPr>
        <p:spPr>
          <a:xfrm>
            <a:off x="8119872" y="2350008"/>
            <a:ext cx="3429000" cy="502920"/>
          </a:xfrm>
          <a:prstGeom prst="rect">
            <a:avLst/>
          </a:prstGeom>
          <a:noFill/>
          <a:ln/>
        </p:spPr>
        <p:txBody>
          <a:bodyPr wrap="square" lIns="0" tIns="0" rIns="0" bIns="0" rtlCol="0" anchor="t"/>
          <a:lstStyle/>
          <a:p>
            <a:pPr indent="0" marL="0">
              <a:buNone/>
            </a:pPr>
            <a:r>
              <a:rPr lang="en-US" sz="1150" dirty="0">
                <a:solidFill>
                  <a:schemeClr val="tx1"/>
                </a:solidFill>
              </a:rPr>
              <a:t>Why did each person change this line?</a:t>
            </a:r>
            <a:endParaRPr lang="en-US" sz="1150" dirty="0"/>
          </a:p>
        </p:txBody>
      </p:sp>
      <p:sp>
        <p:nvSpPr>
          <p:cNvPr id="13" name="Decide what it should say card"/>
          <p:cNvSpPr/>
          <p:nvPr/>
        </p:nvSpPr>
        <p:spPr>
          <a:xfrm>
            <a:off x="7955280" y="2953512"/>
            <a:ext cx="3685032" cy="1078992"/>
          </a:xfrm>
          <a:prstGeom prst="roundRect">
            <a:avLst>
              <a:gd name="adj" fmla="val 10169"/>
            </a:avLst>
          </a:prstGeom>
          <a:solidFill>
            <a:schemeClr val="bg2"/>
          </a:solidFill>
          <a:ln/>
        </p:spPr>
      </p:sp>
      <p:sp>
        <p:nvSpPr>
          <p:cNvPr id="14" name="Resolve chip 2"/>
          <p:cNvSpPr/>
          <p:nvPr/>
        </p:nvSpPr>
        <p:spPr>
          <a:xfrm>
            <a:off x="8119872" y="3081528"/>
            <a:ext cx="365760" cy="365760"/>
          </a:xfrm>
          <a:prstGeom prst="roundRect">
            <a:avLst>
              <a:gd name="adj" fmla="val 20000"/>
            </a:avLst>
          </a:prstGeom>
          <a:solidFill>
            <a:schemeClr val="accent1"/>
          </a:solidFill>
          <a:ln/>
        </p:spPr>
      </p:sp>
      <p:sp>
        <p:nvSpPr>
          <p:cNvPr id="15" name="Resolve number"/>
          <p:cNvSpPr txBox="1"/>
          <p:nvPr/>
        </p:nvSpPr>
        <p:spPr>
          <a:xfrm>
            <a:off x="8119872" y="30815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6" name="Resolve title"/>
          <p:cNvSpPr txBox="1"/>
          <p:nvPr/>
        </p:nvSpPr>
        <p:spPr>
          <a:xfrm>
            <a:off x="8595360" y="3044952"/>
            <a:ext cx="2971800" cy="457200"/>
          </a:xfrm>
          <a:prstGeom prst="rect">
            <a:avLst/>
          </a:prstGeom>
          <a:noFill/>
          <a:ln/>
        </p:spPr>
        <p:txBody>
          <a:bodyPr wrap="square" lIns="0" tIns="0" rIns="0" bIns="0" rtlCol="0" anchor="ctr"/>
          <a:lstStyle/>
          <a:p>
            <a:pPr indent="0" marL="0">
              <a:buNone/>
            </a:pPr>
            <a:r>
              <a:rPr lang="en-US" sz="1350" b="1" dirty="0">
                <a:solidFill>
                  <a:schemeClr val="tx1"/>
                </a:solidFill>
                <a:latin typeface="+mj-lt" pitchFamily="34" charset="0"/>
                <a:ea typeface="+mj-lt" pitchFamily="34" charset="-122"/>
                <a:cs typeface="+mj-lt" pitchFamily="34" charset="-120"/>
              </a:rPr>
              <a:t>Decide what it should say</a:t>
            </a:r>
            <a:endParaRPr lang="en-US" sz="1350" dirty="0"/>
          </a:p>
        </p:txBody>
      </p:sp>
      <p:sp>
        <p:nvSpPr>
          <p:cNvPr id="17" name="Resolve text"/>
          <p:cNvSpPr txBox="1"/>
          <p:nvPr/>
        </p:nvSpPr>
        <p:spPr>
          <a:xfrm>
            <a:off x="8119872" y="3520440"/>
            <a:ext cx="3429000" cy="502920"/>
          </a:xfrm>
          <a:prstGeom prst="rect">
            <a:avLst/>
          </a:prstGeom>
          <a:noFill/>
          <a:ln/>
        </p:spPr>
        <p:txBody>
          <a:bodyPr wrap="square" lIns="0" tIns="0" rIns="0" bIns="0" rtlCol="0" anchor="t"/>
          <a:lstStyle/>
          <a:p>
            <a:pPr indent="0" marL="0">
              <a:buNone/>
            </a:pPr>
            <a:r>
              <a:rPr lang="en-US" sz="1150" dirty="0">
                <a:solidFill>
                  <a:schemeClr val="tx1"/>
                </a:solidFill>
              </a:rPr>
              <a:t>Keep one, keep both, or write a third. Sometimes it is a business decision.</a:t>
            </a:r>
            <a:endParaRPr lang="en-US" sz="1150" dirty="0"/>
          </a:p>
        </p:txBody>
      </p:sp>
      <p:sp>
        <p:nvSpPr>
          <p:cNvPr id="18" name="Remove the markers and commit card"/>
          <p:cNvSpPr/>
          <p:nvPr/>
        </p:nvSpPr>
        <p:spPr>
          <a:xfrm>
            <a:off x="7955280" y="4123944"/>
            <a:ext cx="3685032" cy="1078992"/>
          </a:xfrm>
          <a:prstGeom prst="roundRect">
            <a:avLst>
              <a:gd name="adj" fmla="val 10169"/>
            </a:avLst>
          </a:prstGeom>
          <a:solidFill>
            <a:schemeClr val="bg2"/>
          </a:solidFill>
          <a:ln/>
        </p:spPr>
      </p:sp>
      <p:sp>
        <p:nvSpPr>
          <p:cNvPr id="19" name="Resolve chip 3"/>
          <p:cNvSpPr/>
          <p:nvPr/>
        </p:nvSpPr>
        <p:spPr>
          <a:xfrm>
            <a:off x="8119872" y="4251960"/>
            <a:ext cx="365760" cy="365760"/>
          </a:xfrm>
          <a:prstGeom prst="roundRect">
            <a:avLst>
              <a:gd name="adj" fmla="val 20000"/>
            </a:avLst>
          </a:prstGeom>
          <a:solidFill>
            <a:schemeClr val="accent1"/>
          </a:solidFill>
          <a:ln/>
        </p:spPr>
      </p:sp>
      <p:sp>
        <p:nvSpPr>
          <p:cNvPr id="20" name="Resolve number"/>
          <p:cNvSpPr txBox="1"/>
          <p:nvPr/>
        </p:nvSpPr>
        <p:spPr>
          <a:xfrm>
            <a:off x="8119872" y="42519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1" name="Resolve title"/>
          <p:cNvSpPr txBox="1"/>
          <p:nvPr/>
        </p:nvSpPr>
        <p:spPr>
          <a:xfrm>
            <a:off x="8595360" y="4215384"/>
            <a:ext cx="2971800" cy="457200"/>
          </a:xfrm>
          <a:prstGeom prst="rect">
            <a:avLst/>
          </a:prstGeom>
          <a:noFill/>
          <a:ln/>
        </p:spPr>
        <p:txBody>
          <a:bodyPr wrap="square" lIns="0" tIns="0" rIns="0" bIns="0" rtlCol="0" anchor="ctr"/>
          <a:lstStyle/>
          <a:p>
            <a:pPr indent="0" marL="0">
              <a:buNone/>
            </a:pPr>
            <a:r>
              <a:rPr lang="en-US" sz="1350" b="1" dirty="0">
                <a:solidFill>
                  <a:schemeClr val="tx1"/>
                </a:solidFill>
                <a:latin typeface="+mj-lt" pitchFamily="34" charset="0"/>
                <a:ea typeface="+mj-lt" pitchFamily="34" charset="-122"/>
                <a:cs typeface="+mj-lt" pitchFamily="34" charset="-120"/>
              </a:rPr>
              <a:t>Remove the markers and commit</a:t>
            </a:r>
            <a:endParaRPr lang="en-US" sz="1350" dirty="0"/>
          </a:p>
        </p:txBody>
      </p:sp>
      <p:sp>
        <p:nvSpPr>
          <p:cNvPr id="22" name="Resolve text"/>
          <p:cNvSpPr txBox="1"/>
          <p:nvPr/>
        </p:nvSpPr>
        <p:spPr>
          <a:xfrm>
            <a:off x="8119872" y="4690872"/>
            <a:ext cx="3429000" cy="502920"/>
          </a:xfrm>
          <a:prstGeom prst="rect">
            <a:avLst/>
          </a:prstGeom>
          <a:noFill/>
          <a:ln/>
        </p:spPr>
        <p:txBody>
          <a:bodyPr wrap="square" lIns="0" tIns="0" rIns="0" bIns="0" rtlCol="0" anchor="t"/>
          <a:lstStyle/>
          <a:p>
            <a:pPr indent="0" marL="0">
              <a:buNone/>
            </a:pPr>
            <a:r>
              <a:rPr lang="en-US" sz="1150" dirty="0">
                <a:solidFill>
                  <a:schemeClr val="tx1"/>
                </a:solidFill>
              </a:rPr>
              <a:t>git add, then git commit. Then run the rails and the gate.</a:t>
            </a:r>
            <a:endParaRPr lang="en-US" sz="1150" dirty="0"/>
          </a:p>
        </p:txBody>
      </p:sp>
      <p:sp>
        <p:nvSpPr>
          <p:cNvPr id="23" name="Business note"/>
          <p:cNvSpPr/>
          <p:nvPr/>
        </p:nvSpPr>
        <p:spPr>
          <a:xfrm>
            <a:off x="7955280" y="5303520"/>
            <a:ext cx="3685032" cy="640080"/>
          </a:xfrm>
          <a:prstGeom prst="roundRect">
            <a:avLst>
              <a:gd name="adj" fmla="val 17143"/>
            </a:avLst>
          </a:prstGeom>
          <a:solidFill>
            <a:schemeClr val="accent3">
              <a:alpha val="22000"/>
            </a:schemeClr>
          </a:solidFill>
          <a:ln/>
        </p:spPr>
      </p:sp>
      <p:sp>
        <p:nvSpPr>
          <p:cNvPr id="24" name="Business note text"/>
          <p:cNvSpPr txBox="1"/>
          <p:nvPr/>
        </p:nvSpPr>
        <p:spPr>
          <a:xfrm>
            <a:off x="8092440" y="5303520"/>
            <a:ext cx="3429000" cy="640080"/>
          </a:xfrm>
          <a:prstGeom prst="rect">
            <a:avLst/>
          </a:prstGeom>
          <a:noFill/>
          <a:ln/>
        </p:spPr>
        <p:txBody>
          <a:bodyPr wrap="square" lIns="0" tIns="0" rIns="0" bIns="0" rtlCol="0" anchor="ctr"/>
          <a:lstStyle/>
          <a:p>
            <a:pPr indent="0" marL="0">
              <a:buNone/>
            </a:pPr>
            <a:r>
              <a:rPr lang="en-US" sz="1200" b="1" dirty="0">
                <a:solidFill>
                  <a:schemeClr val="tx1"/>
                </a:solidFill>
              </a:rPr>
              <a:t>One cent or ten cents? Git cannot decide. The process owner can.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Undo safely: three tools and one rule</a:t>
            </a:r>
            <a:endParaRPr lang="en-US" sz="3200" dirty="0"/>
          </a:p>
        </p:txBody>
      </p:sp>
      <p:graphicFrame>
        <p:nvGraphicFramePr>
          <p:cNvPr id="16" name="Undo tools"/>
          <p:cNvGraphicFramePr>
            <a:graphicFrameLocks noGrp="1"/>
          </p:cNvGraphicFramePr>
          <p:nvPr>
            <p:extLst>
              <p:ext uri="{D42A27DB-BD31-4B8C-83A1-F6EECF244321}">
                <p14:modId xmlns:p14="http://schemas.microsoft.com/office/powerpoint/2010/main" val="1579011935"/>
              </p:ext>
            </p:extLst>
          </p:nvPr>
        </p:nvGraphicFramePr>
        <p:xfrm>
          <a:off x="548640" y="1783080"/>
          <a:ext cx="7223760" cy="914400"/>
        </p:xfrm>
        <a:graphic>
          <a:graphicData uri="http://schemas.openxmlformats.org/drawingml/2006/table">
            <a:tbl>
              <a:tblPr/>
              <a:tblGrid>
                <a:gridCol w="2743200"/>
                <a:gridCol w="2286000"/>
                <a:gridCol w="2194560"/>
              </a:tblGrid>
              <a:tr h="365760">
                <a:tc>
                  <a:txBody>
                    <a:bodyPr/>
                    <a:lstStyle/>
                    <a:p>
                      <a:pPr indent="0" marL="0">
                        <a:buNone/>
                      </a:pPr>
                      <a:r>
                        <a:rPr lang="en-US" sz="1250" b="1" dirty="0">
                          <a:solidFill>
                            <a:schemeClr val="bg1"/>
                          </a:solidFill>
                        </a:rPr>
                        <a:t>Where you are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Use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What it does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640080">
                <a:tc>
                  <a:txBody>
                    <a:bodyPr/>
                    <a:lstStyle/>
                    <a:p>
                      <a:pPr indent="0" marL="0">
                        <a:buNone/>
                      </a:pPr>
                      <a:r>
                        <a:rPr lang="en-US" sz="1250" dirty="0">
                          <a:solidFill>
                            <a:schemeClr val="tx1"/>
                          </a:solidFill>
                        </a:rPr>
                        <a:t>Edited a file, not committed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git restore &lt;file&gt;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Puts the file back</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250" dirty="0">
                          <a:solidFill>
                            <a:schemeClr val="tx1"/>
                          </a:solidFill>
                        </a:rPr>
                        <a:t>Committed and pushed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git revert &lt;id&gt;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Adds a commit that undoes it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250" dirty="0">
                          <a:solidFill>
                            <a:schemeClr val="tx1"/>
                          </a:solidFill>
                        </a:rPr>
                        <a:t>Committed here, not pushed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git reset --soft HEAD~1</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Rewinds your own branch</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250" dirty="0">
                          <a:solidFill>
                            <a:schemeClr val="tx1"/>
                          </a:solidFill>
                        </a:rPr>
                        <a:t>Think you lost a commit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git reflog</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Shows where HEAD has been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Revert output"/>
          <p:cNvSpPr/>
          <p:nvPr/>
        </p:nvSpPr>
        <p:spPr>
          <a:xfrm>
            <a:off x="7955280" y="1783080"/>
            <a:ext cx="3685032" cy="1292733"/>
          </a:xfrm>
          <a:prstGeom prst="roundRect">
            <a:avLst>
              <a:gd name="adj" fmla="val 7073"/>
            </a:avLst>
          </a:prstGeom>
          <a:solidFill>
            <a:schemeClr val="tx1"/>
          </a:solidFill>
          <a:ln/>
        </p:spPr>
      </p:sp>
      <p:sp>
        <p:nvSpPr>
          <p:cNvPr id="7" name="Code label"/>
          <p:cNvSpPr txBox="1"/>
          <p:nvPr/>
        </p:nvSpPr>
        <p:spPr>
          <a:xfrm>
            <a:off x="8156448" y="1874520"/>
            <a:ext cx="328269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GIT REVERT, FOR REAL</a:t>
            </a:r>
            <a:endParaRPr lang="en-US" sz="1000" dirty="0"/>
          </a:p>
        </p:txBody>
      </p:sp>
      <p:sp>
        <p:nvSpPr>
          <p:cNvPr id="8" name="Revert output text"/>
          <p:cNvSpPr txBox="1"/>
          <p:nvPr/>
        </p:nvSpPr>
        <p:spPr>
          <a:xfrm>
            <a:off x="8156448" y="2167128"/>
            <a:ext cx="3282696" cy="798957"/>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[main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c31e9f2]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Revert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"chore: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touch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platform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file"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Date: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Oct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19</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09:00:00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2026</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+0000</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file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changed,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deletion(-)</a:t>
            </a:r>
            <a:endParaRPr lang="en-US" sz="1050" dirty="0"/>
          </a:p>
        </p:txBody>
      </p:sp>
      <p:sp>
        <p:nvSpPr>
          <p:cNvPr id="9" name="Revert note"/>
          <p:cNvSpPr/>
          <p:nvPr/>
        </p:nvSpPr>
        <p:spPr>
          <a:xfrm>
            <a:off x="7955280" y="3429000"/>
            <a:ext cx="3685032" cy="1234440"/>
          </a:xfrm>
          <a:prstGeom prst="roundRect">
            <a:avLst>
              <a:gd name="adj" fmla="val 8889"/>
            </a:avLst>
          </a:prstGeom>
          <a:solidFill>
            <a:schemeClr val="accent2">
              <a:alpha val="20000"/>
            </a:schemeClr>
          </a:solidFill>
          <a:ln/>
        </p:spPr>
      </p:sp>
      <p:sp>
        <p:nvSpPr>
          <p:cNvPr id="10" name="Revert note text"/>
          <p:cNvSpPr txBox="1"/>
          <p:nvPr/>
        </p:nvSpPr>
        <p:spPr>
          <a:xfrm>
            <a:off x="8138160" y="3429000"/>
            <a:ext cx="3337560" cy="1234440"/>
          </a:xfrm>
          <a:prstGeom prst="rect">
            <a:avLst/>
          </a:prstGeom>
          <a:noFill/>
          <a:ln/>
        </p:spPr>
        <p:txBody>
          <a:bodyPr wrap="square" lIns="0" tIns="0" rIns="0" bIns="0" rtlCol="0" anchor="ctr"/>
          <a:lstStyle/>
          <a:p>
            <a:pPr indent="0" marL="0">
              <a:buNone/>
            </a:pPr>
            <a:r>
              <a:rPr lang="en-US" sz="1350" dirty="0">
                <a:solidFill>
                  <a:schemeClr val="tx1"/>
                </a:solidFill>
              </a:rPr>
              <a:t>Revert keeps the whole story: the mistake and the fix are both in history.</a:t>
            </a:r>
            <a:endParaRPr lang="en-US" sz="1350" dirty="0"/>
          </a:p>
        </p:txBody>
      </p:sp>
      <p:sp>
        <p:nvSpPr>
          <p:cNvPr id="11" name="Rule strip"/>
          <p:cNvSpPr/>
          <p:nvPr/>
        </p:nvSpPr>
        <p:spPr>
          <a:xfrm>
            <a:off x="548640" y="4983480"/>
            <a:ext cx="11094415" cy="731520"/>
          </a:xfrm>
          <a:prstGeom prst="roundRect">
            <a:avLst>
              <a:gd name="adj" fmla="val 15000"/>
            </a:avLst>
          </a:prstGeom>
          <a:solidFill>
            <a:schemeClr val="tx1"/>
          </a:solidFill>
          <a:ln/>
        </p:spPr>
      </p:sp>
      <p:sp>
        <p:nvSpPr>
          <p:cNvPr id="12" name="Rule text"/>
          <p:cNvSpPr txBox="1"/>
          <p:nvPr/>
        </p:nvSpPr>
        <p:spPr>
          <a:xfrm>
            <a:off x="822960" y="4983480"/>
            <a:ext cx="10545775" cy="731520"/>
          </a:xfrm>
          <a:prstGeom prst="rect">
            <a:avLst/>
          </a:prstGeom>
          <a:noFill/>
          <a:ln/>
        </p:spPr>
        <p:txBody>
          <a:bodyPr wrap="square" lIns="0" tIns="0" rIns="0" bIns="0" rtlCol="0" anchor="ctr"/>
          <a:lstStyle/>
          <a:p>
            <a:pPr indent="0" marL="0">
              <a:buNone/>
            </a:pPr>
            <a:r>
              <a:rPr lang="en-US" sz="1600" b="1" dirty="0">
                <a:solidFill>
                  <a:schemeClr val="accent3"/>
                </a:solidFill>
              </a:rPr>
              <a:t>The rule: </a:t>
            </a:r>
            <a:pPr indent="0" marL="0">
              <a:buNone/>
            </a:pPr>
            <a:r>
              <a:rPr lang="en-US" sz="1600" dirty="0">
                <a:solidFill>
                  <a:schemeClr val="bg1"/>
                </a:solidFill>
              </a:rPr>
              <a:t>never rewrite shared history. No force push to main, ever.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What belongs in the repository, and what does not</a:t>
            </a:r>
            <a:endParaRPr lang="en-US" sz="3200" dirty="0"/>
          </a:p>
        </p:txBody>
      </p:sp>
      <p:sp>
        <p:nvSpPr>
          <p:cNvPr id="5" name="Belongs card"/>
          <p:cNvSpPr/>
          <p:nvPr/>
        </p:nvSpPr>
        <p:spPr>
          <a:xfrm>
            <a:off x="548640" y="1783080"/>
            <a:ext cx="3611880" cy="2743200"/>
          </a:xfrm>
          <a:prstGeom prst="roundRect">
            <a:avLst>
              <a:gd name="adj" fmla="val 4000"/>
            </a:avLst>
          </a:prstGeom>
          <a:solidFill>
            <a:schemeClr val="accent2">
              <a:alpha val="18000"/>
            </a:schemeClr>
          </a:solidFill>
          <a:ln/>
        </p:spPr>
      </p:sp>
      <p:sp>
        <p:nvSpPr>
          <p:cNvPr id="6" name="Pill"/>
          <p:cNvSpPr txBox="1"/>
          <p:nvPr/>
        </p:nvSpPr>
        <p:spPr>
          <a:xfrm>
            <a:off x="777240" y="1920240"/>
            <a:ext cx="11887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bg1"/>
                </a:solidFill>
              </a:rPr>
              <a:t>BELONGS</a:t>
            </a:r>
            <a:endParaRPr lang="en-US" sz="1000" dirty="0"/>
          </a:p>
        </p:txBody>
      </p:sp>
      <p:sp>
        <p:nvSpPr>
          <p:cNvPr id="7" name="Belongs list"/>
          <p:cNvSpPr txBox="1"/>
          <p:nvPr/>
        </p:nvSpPr>
        <p:spPr>
          <a:xfrm>
            <a:off x="777240" y="2377440"/>
            <a:ext cx="320040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Item definitions</a:t>
            </a:r>
            <a:endParaRPr lang="en-US" sz="1400" dirty="0"/>
          </a:p>
          <a:p>
            <a:pPr marL="342900" indent="-342900">
              <a:spcAft>
                <a:spcPts val="500"/>
              </a:spcAft>
              <a:buSzPct val="100000"/>
              <a:buChar char="•"/>
            </a:pPr>
            <a:r>
              <a:rPr lang="en-US" sz="1400" dirty="0">
                <a:solidFill>
                  <a:schemeClr val="tx1"/>
                </a:solidFill>
              </a:rPr>
              <a:t>Parameter files</a:t>
            </a:r>
            <a:endParaRPr lang="en-US" sz="1400" dirty="0"/>
          </a:p>
          <a:p>
            <a:pPr marL="342900" indent="-342900">
              <a:spcAft>
                <a:spcPts val="500"/>
              </a:spcAft>
              <a:buSzPct val="100000"/>
              <a:buChar char="•"/>
            </a:pPr>
            <a:r>
              <a:rPr lang="en-US" sz="1400" dirty="0">
                <a:solidFill>
                  <a:schemeClr val="tx1"/>
                </a:solidFill>
              </a:rPr>
              <a:t>Tests and fixtures</a:t>
            </a:r>
            <a:endParaRPr lang="en-US" sz="1400" dirty="0"/>
          </a:p>
          <a:p>
            <a:pPr marL="342900" indent="-342900">
              <a:spcAft>
                <a:spcPts val="500"/>
              </a:spcAft>
              <a:buSzPct val="100000"/>
              <a:buChar char="•"/>
            </a:pPr>
            <a:r>
              <a:rPr lang="en-US" sz="1400" dirty="0">
                <a:solidFill>
                  <a:schemeClr val="tx1"/>
                </a:solidFill>
              </a:rPr>
              <a:t>Documentation</a:t>
            </a:r>
            <a:endParaRPr lang="en-US" sz="1400" dirty="0"/>
          </a:p>
          <a:p>
            <a:pPr marL="342900" indent="-342900">
              <a:spcAft>
                <a:spcPts val="500"/>
              </a:spcAft>
              <a:buSzPct val="100000"/>
              <a:buChar char="•"/>
            </a:pPr>
            <a:r>
              <a:rPr lang="en-US" sz="1400" dirty="0">
                <a:solidFill>
                  <a:schemeClr val="tx1"/>
                </a:solidFill>
              </a:rPr>
              <a:t>Pipeline and rail scripts</a:t>
            </a:r>
            <a:endParaRPr lang="en-US" sz="1400" dirty="0"/>
          </a:p>
        </p:txBody>
      </p:sp>
      <p:sp>
        <p:nvSpPr>
          <p:cNvPr id="8" name="Never card"/>
          <p:cNvSpPr/>
          <p:nvPr/>
        </p:nvSpPr>
        <p:spPr>
          <a:xfrm>
            <a:off x="4297680" y="1783080"/>
            <a:ext cx="3611880" cy="2743200"/>
          </a:xfrm>
          <a:prstGeom prst="roundRect">
            <a:avLst>
              <a:gd name="adj" fmla="val 4000"/>
            </a:avLst>
          </a:prstGeom>
          <a:solidFill>
            <a:schemeClr val="accent3">
              <a:alpha val="22000"/>
            </a:schemeClr>
          </a:solidFill>
          <a:ln/>
        </p:spPr>
      </p:sp>
      <p:sp>
        <p:nvSpPr>
          <p:cNvPr id="9" name="Pill"/>
          <p:cNvSpPr txBox="1"/>
          <p:nvPr/>
        </p:nvSpPr>
        <p:spPr>
          <a:xfrm>
            <a:off x="4526280" y="1920240"/>
            <a:ext cx="100584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200" kern="0" dirty="0">
                <a:solidFill>
                  <a:schemeClr val="tx1"/>
                </a:solidFill>
              </a:rPr>
              <a:t>NEVER</a:t>
            </a:r>
            <a:endParaRPr lang="en-US" sz="1000" dirty="0"/>
          </a:p>
        </p:txBody>
      </p:sp>
      <p:sp>
        <p:nvSpPr>
          <p:cNvPr id="10" name="Never list"/>
          <p:cNvSpPr txBox="1"/>
          <p:nvPr/>
        </p:nvSpPr>
        <p:spPr>
          <a:xfrm>
            <a:off x="4526280" y="2377440"/>
            <a:ext cx="320040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Data of any kind</a:t>
            </a:r>
            <a:endParaRPr lang="en-US" sz="1400" dirty="0"/>
          </a:p>
          <a:p>
            <a:pPr marL="342900" indent="-342900">
              <a:spcAft>
                <a:spcPts val="500"/>
              </a:spcAft>
              <a:buSzPct val="100000"/>
              <a:buChar char="•"/>
            </a:pPr>
            <a:r>
              <a:rPr lang="en-US" sz="1400" dirty="0">
                <a:solidFill>
                  <a:schemeClr val="tx1"/>
                </a:solidFill>
              </a:rPr>
              <a:t>Production data, ever</a:t>
            </a:r>
            <a:endParaRPr lang="en-US" sz="1400" dirty="0"/>
          </a:p>
          <a:p>
            <a:pPr marL="342900" indent="-342900">
              <a:spcAft>
                <a:spcPts val="500"/>
              </a:spcAft>
              <a:buSzPct val="100000"/>
              <a:buChar char="•"/>
            </a:pPr>
            <a:r>
              <a:rPr lang="en-US" sz="1400" dirty="0">
                <a:solidFill>
                  <a:schemeClr val="tx1"/>
                </a:solidFill>
              </a:rPr>
              <a:t>Secrets and credentials</a:t>
            </a:r>
            <a:endParaRPr lang="en-US" sz="1400" dirty="0"/>
          </a:p>
          <a:p>
            <a:pPr marL="342900" indent="-342900">
              <a:spcAft>
                <a:spcPts val="500"/>
              </a:spcAft>
              <a:buSzPct val="100000"/>
              <a:buChar char="•"/>
            </a:pPr>
            <a:r>
              <a:rPr lang="en-US" sz="1400" dirty="0">
                <a:solidFill>
                  <a:schemeClr val="tx1"/>
                </a:solidFill>
              </a:rPr>
              <a:t>Notebook outputs</a:t>
            </a:r>
            <a:endParaRPr lang="en-US" sz="1400" dirty="0"/>
          </a:p>
          <a:p>
            <a:pPr marL="342900" indent="-342900">
              <a:spcAft>
                <a:spcPts val="500"/>
              </a:spcAft>
              <a:buSzPct val="100000"/>
              <a:buChar char="•"/>
            </a:pPr>
            <a:r>
              <a:rPr lang="en-US" sz="1400" dirty="0">
                <a:solidFill>
                  <a:schemeClr val="tx1"/>
                </a:solidFill>
              </a:rPr>
              <a:t>Personal settings</a:t>
            </a:r>
            <a:endParaRPr lang="en-US" sz="1400" dirty="0"/>
          </a:p>
        </p:txBody>
      </p:sp>
      <p:sp>
        <p:nvSpPr>
          <p:cNvPr id="11" name="Gitignore"/>
          <p:cNvSpPr/>
          <p:nvPr/>
        </p:nvSpPr>
        <p:spPr>
          <a:xfrm>
            <a:off x="8092440" y="1783080"/>
            <a:ext cx="3547872" cy="1737360"/>
          </a:xfrm>
          <a:prstGeom prst="roundRect">
            <a:avLst>
              <a:gd name="adj" fmla="val 5263"/>
            </a:avLst>
          </a:prstGeom>
          <a:solidFill>
            <a:schemeClr val="tx1"/>
          </a:solidFill>
          <a:ln/>
        </p:spPr>
      </p:sp>
      <p:sp>
        <p:nvSpPr>
          <p:cNvPr id="12" name="Code label"/>
          <p:cNvSpPr txBox="1"/>
          <p:nvPr/>
        </p:nvSpPr>
        <p:spPr>
          <a:xfrm>
            <a:off x="8293608" y="1874520"/>
            <a:ext cx="314553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.GITIGNORE</a:t>
            </a:r>
            <a:endParaRPr lang="en-US" sz="1000" dirty="0"/>
          </a:p>
        </p:txBody>
      </p:sp>
      <p:sp>
        <p:nvSpPr>
          <p:cNvPr id="13" name="Gitignore text"/>
          <p:cNvSpPr txBox="1"/>
          <p:nvPr/>
        </p:nvSpPr>
        <p:spPr>
          <a:xfrm>
            <a:off x="8293608" y="2167128"/>
            <a:ext cx="3145536" cy="1243584"/>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__pycache__/</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.venv/</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*.csv</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*.parquet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.env</a:t>
            </a:r>
            <a:endParaRPr lang="en-US" sz="1150" dirty="0"/>
          </a:p>
        </p:txBody>
      </p:sp>
      <p:sp>
        <p:nvSpPr>
          <p:cNvPr id="14" name="Rails note"/>
          <p:cNvSpPr/>
          <p:nvPr/>
        </p:nvSpPr>
        <p:spPr>
          <a:xfrm>
            <a:off x="8092440" y="3657600"/>
            <a:ext cx="3547872" cy="868680"/>
          </a:xfrm>
          <a:prstGeom prst="roundRect">
            <a:avLst>
              <a:gd name="adj" fmla="val 12632"/>
            </a:avLst>
          </a:prstGeom>
          <a:solidFill>
            <a:schemeClr val="bg2"/>
          </a:solidFill>
          <a:ln/>
        </p:spPr>
      </p:sp>
      <p:sp>
        <p:nvSpPr>
          <p:cNvPr id="15" name="Rails note text"/>
          <p:cNvSpPr txBox="1"/>
          <p:nvPr/>
        </p:nvSpPr>
        <p:spPr>
          <a:xfrm>
            <a:off x="8275320" y="3657600"/>
            <a:ext cx="3200400" cy="868680"/>
          </a:xfrm>
          <a:prstGeom prst="rect">
            <a:avLst/>
          </a:prstGeom>
          <a:noFill/>
          <a:ln/>
        </p:spPr>
        <p:txBody>
          <a:bodyPr wrap="square" lIns="0" tIns="0" rIns="0" bIns="0" rtlCol="0" anchor="ctr"/>
          <a:lstStyle/>
          <a:p>
            <a:pPr indent="0" marL="0">
              <a:buNone/>
            </a:pPr>
            <a:r>
              <a:rPr lang="en-US" sz="1250" dirty="0">
                <a:solidFill>
                  <a:schemeClr val="tx1"/>
                </a:solidFill>
              </a:rPr>
              <a:t>Two rails back it up: a secret scan and a production-data guard.</a:t>
            </a:r>
            <a:endParaRPr lang="en-US" sz="1250" dirty="0"/>
          </a:p>
        </p:txBody>
      </p:sp>
      <p:sp>
        <p:nvSpPr>
          <p:cNvPr id="16" name="Export fact card"/>
          <p:cNvSpPr/>
          <p:nvPr/>
        </p:nvSpPr>
        <p:spPr>
          <a:xfrm>
            <a:off x="548640" y="4754880"/>
            <a:ext cx="11094415" cy="960120"/>
          </a:xfrm>
          <a:prstGeom prst="roundRect">
            <a:avLst>
              <a:gd name="adj" fmla="val 11429"/>
            </a:avLst>
          </a:prstGeom>
          <a:solidFill>
            <a:schemeClr val="bg2"/>
          </a:solidFill>
          <a:ln/>
        </p:spPr>
      </p:sp>
      <p:sp>
        <p:nvSpPr>
          <p:cNvPr id="17" name="Export fact"/>
          <p:cNvSpPr txBox="1"/>
          <p:nvPr/>
        </p:nvSpPr>
        <p:spPr>
          <a:xfrm>
            <a:off x="822960" y="4754880"/>
            <a:ext cx="10545775" cy="960120"/>
          </a:xfrm>
          <a:prstGeom prst="rect">
            <a:avLst/>
          </a:prstGeom>
          <a:noFill/>
          <a:ln/>
        </p:spPr>
        <p:txBody>
          <a:bodyPr wrap="square" lIns="0" tIns="0" rIns="0" bIns="0" rtlCol="0" anchor="ctr"/>
          <a:lstStyle/>
          <a:p>
            <a:pPr indent="0" marL="0">
              <a:buNone/>
            </a:pPr>
            <a:r>
              <a:rPr lang="en-US" sz="1350" b="1" dirty="0">
                <a:solidFill>
                  <a:schemeClr val="tx1"/>
                </a:solidFill>
              </a:rPr>
              <a:t>From the real files: </a:t>
            </a:r>
            <a:pPr indent="0" marL="0">
              <a:buNone/>
            </a:pPr>
            <a:r>
              <a:rPr lang="en-US" sz="1350" dirty="0">
                <a:solidFill>
                  <a:schemeClr val="tx1"/>
                </a:solidFill>
              </a:rPr>
              <a:t>an exported pipeline carries the object ID of the person who last modified it. Commit what Fabric's Git integration writes, not an export.</a:t>
            </a:r>
            <a:endParaRPr lang="en-US" sz="1350" dirty="0"/>
          </a:p>
        </p:txBody>
      </p:sp>
      <p:sp>
        <p:nvSpPr>
          <p:cNvPr id="18"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pipeline_Run exports in the Disney Fabric Files folder; .gitignore from the practice repository.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What Git sees of a Fabric item: a folder of readable files</a:t>
            </a:r>
            <a:endParaRPr lang="en-US" sz="3200" dirty="0"/>
          </a:p>
        </p:txBody>
      </p:sp>
      <p:sp>
        <p:nvSpPr>
          <p:cNvPr id="5" name="Repository tree"/>
          <p:cNvSpPr/>
          <p:nvPr/>
        </p:nvSpPr>
        <p:spPr>
          <a:xfrm>
            <a:off x="548640" y="1783080"/>
            <a:ext cx="4297680" cy="2897124"/>
          </a:xfrm>
          <a:prstGeom prst="roundRect">
            <a:avLst>
              <a:gd name="adj" fmla="val 3156"/>
            </a:avLst>
          </a:prstGeom>
          <a:solidFill>
            <a:schemeClr val="tx1"/>
          </a:solidFill>
          <a:ln/>
        </p:spPr>
      </p:sp>
      <p:sp>
        <p:nvSpPr>
          <p:cNvPr id="6" name="Code label"/>
          <p:cNvSpPr txBox="1"/>
          <p:nvPr/>
        </p:nvSpPr>
        <p:spPr>
          <a:xfrm>
            <a:off x="749808" y="1874520"/>
            <a:ext cx="389534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THE PRACTICE REPOSITORY</a:t>
            </a:r>
            <a:endParaRPr lang="en-US" sz="1000" dirty="0"/>
          </a:p>
        </p:txBody>
      </p:sp>
      <p:sp>
        <p:nvSpPr>
          <p:cNvPr id="7" name="Repository tree text"/>
          <p:cNvSpPr txBox="1"/>
          <p:nvPr/>
        </p:nvSpPr>
        <p:spPr>
          <a:xfrm>
            <a:off x="749808" y="2167128"/>
            <a:ext cx="3895344" cy="2403348"/>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fabric/</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lh_dst.Lakehouse/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.platform</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lakehouse.metadata.json</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nb_dst_apportion.Notebook/</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.platform</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notebook-content.py</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pl_dst_apportion.DataPipeline/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.platform</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pipeline-content.json</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README.md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.gitignore</a:t>
            </a:r>
            <a:endParaRPr lang="en-US" sz="1150" dirty="0"/>
          </a:p>
        </p:txBody>
      </p:sp>
      <p:sp>
        <p:nvSpPr>
          <p:cNvPr id="8" name="Diff"/>
          <p:cNvSpPr/>
          <p:nvPr/>
        </p:nvSpPr>
        <p:spPr>
          <a:xfrm>
            <a:off x="5074920" y="1783080"/>
            <a:ext cx="6565392" cy="2331720"/>
          </a:xfrm>
          <a:prstGeom prst="roundRect">
            <a:avLst>
              <a:gd name="adj" fmla="val 3922"/>
            </a:avLst>
          </a:prstGeom>
          <a:solidFill>
            <a:schemeClr val="tx1"/>
          </a:solidFill>
          <a:ln/>
        </p:spPr>
      </p:sp>
      <p:sp>
        <p:nvSpPr>
          <p:cNvPr id="9" name="Code label"/>
          <p:cNvSpPr txBox="1"/>
          <p:nvPr/>
        </p:nvSpPr>
        <p:spPr>
          <a:xfrm>
            <a:off x="5276088" y="1874520"/>
            <a:ext cx="61630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GIT DIFF · TIGHTEN THE TOLERANCE</a:t>
            </a:r>
            <a:endParaRPr lang="en-US" sz="1000" dirty="0"/>
          </a:p>
        </p:txBody>
      </p:sp>
      <p:sp>
        <p:nvSpPr>
          <p:cNvPr id="10" name="Diff text"/>
          <p:cNvSpPr txBox="1"/>
          <p:nvPr/>
        </p:nvSpPr>
        <p:spPr>
          <a:xfrm>
            <a:off x="5276088" y="2167128"/>
            <a:ext cx="6163056" cy="1837944"/>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diff</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--git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a/fabric/nb_dst_apportion.Notebook/notebook-content.py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b/fabric/nb_dst_apportion.Notebook/notebook-content.py</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index</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346f1b6..c9087e9</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100644</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a/fabric/nb_dst_apportion.Notebook/notebook-content.py</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b/fabric/nb_dst_apportion.Notebook/notebook-content.py</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-127,3</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+127,3</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check.show()</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-failed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check.filter(F.abs("difference")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0.05).count()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+failed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check.filter(F.abs("difference")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0.01).count()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unmapped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(spark.read.table("silver_dst_unmapped")</a:t>
            </a:r>
            <a:endParaRPr lang="en-US" sz="950" dirty="0"/>
          </a:p>
        </p:txBody>
      </p:sp>
      <p:sp>
        <p:nvSpPr>
          <p:cNvPr id="11" name="One folder per item card"/>
          <p:cNvSpPr/>
          <p:nvPr/>
        </p:nvSpPr>
        <p:spPr>
          <a:xfrm>
            <a:off x="5074920" y="4251960"/>
            <a:ext cx="2103120" cy="1508760"/>
          </a:xfrm>
          <a:prstGeom prst="roundRect">
            <a:avLst>
              <a:gd name="adj" fmla="val 7273"/>
            </a:avLst>
          </a:prstGeom>
          <a:solidFill>
            <a:schemeClr val="bg2"/>
          </a:solidFill>
          <a:ln/>
        </p:spPr>
      </p:sp>
      <p:sp>
        <p:nvSpPr>
          <p:cNvPr id="12" name="Fact title"/>
          <p:cNvSpPr txBox="1"/>
          <p:nvPr/>
        </p:nvSpPr>
        <p:spPr>
          <a:xfrm>
            <a:off x="5212080" y="43159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mj-lt" pitchFamily="34" charset="0"/>
                <a:ea typeface="+mj-lt" pitchFamily="34" charset="-122"/>
                <a:cs typeface="+mj-lt" pitchFamily="34" charset="-120"/>
              </a:rPr>
              <a:t>One folder per item</a:t>
            </a:r>
            <a:endParaRPr lang="en-US" sz="1300" dirty="0"/>
          </a:p>
        </p:txBody>
      </p:sp>
      <p:sp>
        <p:nvSpPr>
          <p:cNvPr id="13" name="Fact text"/>
          <p:cNvSpPr txBox="1"/>
          <p:nvPr/>
        </p:nvSpPr>
        <p:spPr>
          <a:xfrm>
            <a:off x="5212080" y="4800600"/>
            <a:ext cx="1828800" cy="914400"/>
          </a:xfrm>
          <a:prstGeom prst="rect">
            <a:avLst/>
          </a:prstGeom>
          <a:noFill/>
          <a:ln/>
        </p:spPr>
        <p:txBody>
          <a:bodyPr wrap="square" lIns="0" tIns="0" rIns="0" bIns="0" rtlCol="0" anchor="t"/>
          <a:lstStyle/>
          <a:p>
            <a:pPr indent="0" marL="0">
              <a:buNone/>
            </a:pPr>
            <a:r>
              <a:rPr lang="en-US" sz="1150" dirty="0">
                <a:solidFill>
                  <a:schemeClr val="tx1"/>
                </a:solidFill>
              </a:rPr>
              <a:t>Named &lt;item&gt;.&lt;Type&gt;, such as nb_dst_apportion.Notebook.</a:t>
            </a:r>
            <a:endParaRPr lang="en-US" sz="1150" dirty="0"/>
          </a:p>
        </p:txBody>
      </p:sp>
      <p:sp>
        <p:nvSpPr>
          <p:cNvPr id="14" name="A .platform file card"/>
          <p:cNvSpPr/>
          <p:nvPr/>
        </p:nvSpPr>
        <p:spPr>
          <a:xfrm>
            <a:off x="7296912" y="4251960"/>
            <a:ext cx="2103120" cy="1508760"/>
          </a:xfrm>
          <a:prstGeom prst="roundRect">
            <a:avLst>
              <a:gd name="adj" fmla="val 7273"/>
            </a:avLst>
          </a:prstGeom>
          <a:solidFill>
            <a:schemeClr val="bg2"/>
          </a:solidFill>
          <a:ln/>
        </p:spPr>
      </p:sp>
      <p:sp>
        <p:nvSpPr>
          <p:cNvPr id="15" name="Fact title"/>
          <p:cNvSpPr txBox="1"/>
          <p:nvPr/>
        </p:nvSpPr>
        <p:spPr>
          <a:xfrm>
            <a:off x="7434072" y="43159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mj-lt" pitchFamily="34" charset="0"/>
                <a:ea typeface="+mj-lt" pitchFamily="34" charset="-122"/>
                <a:cs typeface="+mj-lt" pitchFamily="34" charset="-120"/>
              </a:rPr>
              <a:t>A .platform file</a:t>
            </a:r>
            <a:endParaRPr lang="en-US" sz="1300" dirty="0"/>
          </a:p>
        </p:txBody>
      </p:sp>
      <p:sp>
        <p:nvSpPr>
          <p:cNvPr id="16" name="Fact text"/>
          <p:cNvSpPr txBox="1"/>
          <p:nvPr/>
        </p:nvSpPr>
        <p:spPr>
          <a:xfrm>
            <a:off x="7434072" y="4800600"/>
            <a:ext cx="1828800" cy="914400"/>
          </a:xfrm>
          <a:prstGeom prst="rect">
            <a:avLst/>
          </a:prstGeom>
          <a:noFill/>
          <a:ln/>
        </p:spPr>
        <p:txBody>
          <a:bodyPr wrap="square" lIns="0" tIns="0" rIns="0" bIns="0" rtlCol="0" anchor="t"/>
          <a:lstStyle/>
          <a:p>
            <a:pPr indent="0" marL="0">
              <a:buNone/>
            </a:pPr>
            <a:r>
              <a:rPr lang="en-US" sz="1150" dirty="0">
                <a:solidFill>
                  <a:schemeClr val="tx1"/>
                </a:solidFill>
              </a:rPr>
              <a:t>Type, display name and a logical ID that items use to find each other.</a:t>
            </a:r>
            <a:endParaRPr lang="en-US" sz="1150" dirty="0"/>
          </a:p>
        </p:txBody>
      </p:sp>
      <p:sp>
        <p:nvSpPr>
          <p:cNvPr id="17" name="Definition as text card"/>
          <p:cNvSpPr/>
          <p:nvPr/>
        </p:nvSpPr>
        <p:spPr>
          <a:xfrm>
            <a:off x="9518904" y="4251960"/>
            <a:ext cx="2103120" cy="1508760"/>
          </a:xfrm>
          <a:prstGeom prst="roundRect">
            <a:avLst>
              <a:gd name="adj" fmla="val 7273"/>
            </a:avLst>
          </a:prstGeom>
          <a:solidFill>
            <a:schemeClr val="bg2"/>
          </a:solidFill>
          <a:ln/>
        </p:spPr>
      </p:sp>
      <p:sp>
        <p:nvSpPr>
          <p:cNvPr id="18" name="Fact title"/>
          <p:cNvSpPr txBox="1"/>
          <p:nvPr/>
        </p:nvSpPr>
        <p:spPr>
          <a:xfrm>
            <a:off x="9656064" y="43159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mj-lt" pitchFamily="34" charset="0"/>
                <a:ea typeface="+mj-lt" pitchFamily="34" charset="-122"/>
                <a:cs typeface="+mj-lt" pitchFamily="34" charset="-120"/>
              </a:rPr>
              <a:t>Definition as text</a:t>
            </a:r>
            <a:endParaRPr lang="en-US" sz="1300" dirty="0"/>
          </a:p>
        </p:txBody>
      </p:sp>
      <p:sp>
        <p:nvSpPr>
          <p:cNvPr id="19" name="Fact text"/>
          <p:cNvSpPr txBox="1"/>
          <p:nvPr/>
        </p:nvSpPr>
        <p:spPr>
          <a:xfrm>
            <a:off x="9656064" y="4800600"/>
            <a:ext cx="1828800" cy="914400"/>
          </a:xfrm>
          <a:prstGeom prst="rect">
            <a:avLst/>
          </a:prstGeom>
          <a:noFill/>
          <a:ln/>
        </p:spPr>
        <p:txBody>
          <a:bodyPr wrap="square" lIns="0" tIns="0" rIns="0" bIns="0" rtlCol="0" anchor="t"/>
          <a:lstStyle/>
          <a:p>
            <a:pPr indent="0" marL="0">
              <a:buNone/>
            </a:pPr>
            <a:r>
              <a:rPr lang="en-US" sz="1150" dirty="0">
                <a:solidFill>
                  <a:schemeClr val="tx1"/>
                </a:solidFill>
              </a:rPr>
              <a:t>Cells in notebook-content.py. Activities in pipeline-content.json.</a:t>
            </a:r>
            <a:endParaRPr lang="en-US" sz="1150" dirty="0"/>
          </a:p>
        </p:txBody>
      </p:sp>
      <p:sp>
        <p:nvSpPr>
          <p:cNvPr id="20"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Illustrative layout, as at the time of writing. Confirm against your own repository.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Fabric Git integration: link a workspace to a branch</a:t>
            </a:r>
            <a:endParaRPr lang="en-US" sz="3200" dirty="0"/>
          </a:p>
        </p:txBody>
      </p:sp>
      <p:graphicFrame>
        <p:nvGraphicFramePr>
          <p:cNvPr id="19" name="Git connection fields"/>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914400"/>
        </p:xfrm>
        <a:graphic>
          <a:graphicData uri="http://schemas.openxmlformats.org/drawingml/2006/table">
            <a:tbl>
              <a:tblPr/>
              <a:tblGrid>
                <a:gridCol w="1828800"/>
                <a:gridCol w="2011680"/>
                <a:gridCol w="2011680"/>
              </a:tblGrid>
              <a:tr h="365760">
                <a:tc>
                  <a:txBody>
                    <a:bodyPr/>
                    <a:lstStyle/>
                    <a:p>
                      <a:pPr indent="0" marL="0">
                        <a:buNone/>
                      </a:pPr>
                      <a:r>
                        <a:rPr lang="en-US" sz="1250" b="1" dirty="0">
                          <a:solidFill>
                            <a:schemeClr val="bg1"/>
                          </a:solidFill>
                        </a:rPr>
                        <a:t>Field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Example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Note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250" b="1" dirty="0">
                          <a:solidFill>
                            <a:schemeClr val="tx1"/>
                          </a:solidFill>
                        </a:rPr>
                        <a:t>Provider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Azure DevOps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Where the repo lives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50" b="1" dirty="0">
                          <a:solidFill>
                            <a:schemeClr val="tx1"/>
                          </a:solidFill>
                        </a:rPr>
                        <a:t>Organization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&lt;your org&gt;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Set by the facilitator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50" b="1" dirty="0">
                          <a:solidFill>
                            <a:schemeClr val="tx1"/>
                          </a:solidFill>
                        </a:rPr>
                        <a:t>Project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&lt;your project&gt;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One per team</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50" b="1" dirty="0">
                          <a:solidFill>
                            <a:schemeClr val="tx1"/>
                          </a:solidFill>
                        </a:rPr>
                        <a:t>Repository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dst-fabric</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Placeholder name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50" b="1" dirty="0">
                          <a:solidFill>
                            <a:schemeClr val="tx1"/>
                          </a:solidFill>
                        </a:rPr>
                        <a:t>Branch</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main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Or your feature branch</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50" b="1" dirty="0">
                          <a:solidFill>
                            <a:schemeClr val="tx1"/>
                          </a:solidFill>
                        </a:rPr>
                        <a:t>Folder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/fabric</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Keeps items in one place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Commit card"/>
          <p:cNvSpPr/>
          <p:nvPr/>
        </p:nvSpPr>
        <p:spPr>
          <a:xfrm>
            <a:off x="6675120" y="1783080"/>
            <a:ext cx="4965192" cy="822960"/>
          </a:xfrm>
          <a:prstGeom prst="roundRect">
            <a:avLst>
              <a:gd name="adj" fmla="val 13333"/>
            </a:avLst>
          </a:prstGeom>
          <a:solidFill>
            <a:schemeClr val="bg2"/>
          </a:solidFill>
          <a:ln/>
        </p:spPr>
      </p:sp>
      <p:sp>
        <p:nvSpPr>
          <p:cNvPr id="7" name="Commit badge"/>
          <p:cNvSpPr/>
          <p:nvPr/>
        </p:nvSpPr>
        <p:spPr>
          <a:xfrm>
            <a:off x="6858000" y="1938528"/>
            <a:ext cx="512064" cy="512064"/>
          </a:xfrm>
          <a:prstGeom prst="ellipse">
            <a:avLst/>
          </a:prstGeom>
          <a:solidFill>
            <a:schemeClr val="accent1"/>
          </a:solidFill>
          <a:ln/>
        </p:spPr>
      </p:sp>
      <p:pic>
        <p:nvPicPr>
          <p:cNvPr id="8" name="Image 0" descr="Commit icon">    </p:cNvPr>
          <p:cNvPicPr>
            <a:picLocks noChangeAspect="1"/>
          </p:cNvPicPr>
          <p:nvPr/>
        </p:nvPicPr>
        <p:blipFill>
          <a:blip r:embed="rId1"/>
          <a:stretch>
            <a:fillRect/>
          </a:stretch>
        </p:blipFill>
        <p:spPr>
          <a:xfrm>
            <a:off x="6986016" y="2066544"/>
            <a:ext cx="256032" cy="256032"/>
          </a:xfrm>
          <a:prstGeom prst="rect">
            <a:avLst/>
          </a:prstGeom>
        </p:spPr>
      </p:pic>
      <p:sp>
        <p:nvSpPr>
          <p:cNvPr id="9" name="Verb"/>
          <p:cNvSpPr txBox="1"/>
          <p:nvPr/>
        </p:nvSpPr>
        <p:spPr>
          <a:xfrm>
            <a:off x="7543800" y="1856232"/>
            <a:ext cx="39319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Commit</a:t>
            </a:r>
            <a:endParaRPr lang="en-US" sz="1500" dirty="0"/>
          </a:p>
        </p:txBody>
      </p:sp>
      <p:sp>
        <p:nvSpPr>
          <p:cNvPr id="10" name="Verb meaning"/>
          <p:cNvSpPr txBox="1"/>
          <p:nvPr/>
        </p:nvSpPr>
        <p:spPr>
          <a:xfrm>
            <a:off x="7543800" y="2203704"/>
            <a:ext cx="3931920" cy="320040"/>
          </a:xfrm>
          <a:prstGeom prst="rect">
            <a:avLst/>
          </a:prstGeom>
          <a:noFill/>
          <a:ln/>
        </p:spPr>
        <p:txBody>
          <a:bodyPr wrap="square" lIns="0" tIns="0" rIns="0" bIns="0" rtlCol="0" anchor="t"/>
          <a:lstStyle/>
          <a:p>
            <a:pPr indent="0" marL="0">
              <a:buNone/>
            </a:pPr>
            <a:r>
              <a:rPr lang="en-US" sz="1250" dirty="0">
                <a:solidFill>
                  <a:schemeClr val="tx1"/>
                </a:solidFill>
              </a:rPr>
              <a:t>Workspace to branch</a:t>
            </a:r>
            <a:endParaRPr lang="en-US" sz="1250" dirty="0"/>
          </a:p>
        </p:txBody>
      </p:sp>
      <p:sp>
        <p:nvSpPr>
          <p:cNvPr id="11" name="Update card"/>
          <p:cNvSpPr/>
          <p:nvPr/>
        </p:nvSpPr>
        <p:spPr>
          <a:xfrm>
            <a:off x="6675120" y="2697480"/>
            <a:ext cx="4965192" cy="822960"/>
          </a:xfrm>
          <a:prstGeom prst="roundRect">
            <a:avLst>
              <a:gd name="adj" fmla="val 13333"/>
            </a:avLst>
          </a:prstGeom>
          <a:solidFill>
            <a:schemeClr val="bg2"/>
          </a:solidFill>
          <a:ln/>
        </p:spPr>
      </p:sp>
      <p:sp>
        <p:nvSpPr>
          <p:cNvPr id="12" name="Update badge"/>
          <p:cNvSpPr/>
          <p:nvPr/>
        </p:nvSpPr>
        <p:spPr>
          <a:xfrm>
            <a:off x="6858000" y="2852928"/>
            <a:ext cx="512064" cy="512064"/>
          </a:xfrm>
          <a:prstGeom prst="ellipse">
            <a:avLst/>
          </a:prstGeom>
          <a:solidFill>
            <a:schemeClr val="accent2"/>
          </a:solidFill>
          <a:ln/>
        </p:spPr>
      </p:sp>
      <p:pic>
        <p:nvPicPr>
          <p:cNvPr id="13" name="Image 1" descr="Update icon">    </p:cNvPr>
          <p:cNvPicPr>
            <a:picLocks noChangeAspect="1"/>
          </p:cNvPicPr>
          <p:nvPr/>
        </p:nvPicPr>
        <p:blipFill>
          <a:blip r:embed="rId2"/>
          <a:stretch>
            <a:fillRect/>
          </a:stretch>
        </p:blipFill>
        <p:spPr>
          <a:xfrm>
            <a:off x="6986016" y="2980944"/>
            <a:ext cx="256032" cy="256032"/>
          </a:xfrm>
          <a:prstGeom prst="rect">
            <a:avLst/>
          </a:prstGeom>
        </p:spPr>
      </p:pic>
      <p:sp>
        <p:nvSpPr>
          <p:cNvPr id="14" name="Verb"/>
          <p:cNvSpPr txBox="1"/>
          <p:nvPr/>
        </p:nvSpPr>
        <p:spPr>
          <a:xfrm>
            <a:off x="7543800" y="2770632"/>
            <a:ext cx="39319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Update</a:t>
            </a:r>
            <a:endParaRPr lang="en-US" sz="1500" dirty="0"/>
          </a:p>
        </p:txBody>
      </p:sp>
      <p:sp>
        <p:nvSpPr>
          <p:cNvPr id="15" name="Verb meaning"/>
          <p:cNvSpPr txBox="1"/>
          <p:nvPr/>
        </p:nvSpPr>
        <p:spPr>
          <a:xfrm>
            <a:off x="7543800" y="3118104"/>
            <a:ext cx="3931920" cy="320040"/>
          </a:xfrm>
          <a:prstGeom prst="rect">
            <a:avLst/>
          </a:prstGeom>
          <a:noFill/>
          <a:ln/>
        </p:spPr>
        <p:txBody>
          <a:bodyPr wrap="square" lIns="0" tIns="0" rIns="0" bIns="0" rtlCol="0" anchor="t"/>
          <a:lstStyle/>
          <a:p>
            <a:pPr indent="0" marL="0">
              <a:buNone/>
            </a:pPr>
            <a:r>
              <a:rPr lang="en-US" sz="1250" dirty="0">
                <a:solidFill>
                  <a:schemeClr val="tx1"/>
                </a:solidFill>
              </a:rPr>
              <a:t>Branch to workspace</a:t>
            </a:r>
            <a:endParaRPr lang="en-US" sz="1250" dirty="0"/>
          </a:p>
        </p:txBody>
      </p:sp>
      <p:sp>
        <p:nvSpPr>
          <p:cNvPr id="16" name="Branch out card"/>
          <p:cNvSpPr/>
          <p:nvPr/>
        </p:nvSpPr>
        <p:spPr>
          <a:xfrm>
            <a:off x="6675120" y="3611880"/>
            <a:ext cx="4965192" cy="822960"/>
          </a:xfrm>
          <a:prstGeom prst="roundRect">
            <a:avLst>
              <a:gd name="adj" fmla="val 13333"/>
            </a:avLst>
          </a:prstGeom>
          <a:solidFill>
            <a:schemeClr val="bg2"/>
          </a:solidFill>
          <a:ln/>
        </p:spPr>
      </p:sp>
      <p:sp>
        <p:nvSpPr>
          <p:cNvPr id="17" name="Branch out badge"/>
          <p:cNvSpPr/>
          <p:nvPr/>
        </p:nvSpPr>
        <p:spPr>
          <a:xfrm>
            <a:off x="6858000" y="3767328"/>
            <a:ext cx="512064" cy="512064"/>
          </a:xfrm>
          <a:prstGeom prst="ellipse">
            <a:avLst/>
          </a:prstGeom>
          <a:solidFill>
            <a:schemeClr val="tx2"/>
          </a:solidFill>
          <a:ln/>
        </p:spPr>
      </p:sp>
      <p:pic>
        <p:nvPicPr>
          <p:cNvPr id="18" name="Image 2" descr="Branch out icon">    </p:cNvPr>
          <p:cNvPicPr>
            <a:picLocks noChangeAspect="1"/>
          </p:cNvPicPr>
          <p:nvPr/>
        </p:nvPicPr>
        <p:blipFill>
          <a:blip r:embed="rId3"/>
          <a:stretch>
            <a:fillRect/>
          </a:stretch>
        </p:blipFill>
        <p:spPr>
          <a:xfrm>
            <a:off x="6986016" y="3895344"/>
            <a:ext cx="256032" cy="256032"/>
          </a:xfrm>
          <a:prstGeom prst="rect">
            <a:avLst/>
          </a:prstGeom>
        </p:spPr>
      </p:pic>
      <p:sp>
        <p:nvSpPr>
          <p:cNvPr id="19" name="Verb"/>
          <p:cNvSpPr txBox="1"/>
          <p:nvPr/>
        </p:nvSpPr>
        <p:spPr>
          <a:xfrm>
            <a:off x="7543800" y="3685032"/>
            <a:ext cx="39319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Branch out</a:t>
            </a:r>
            <a:endParaRPr lang="en-US" sz="1500" dirty="0"/>
          </a:p>
        </p:txBody>
      </p:sp>
      <p:sp>
        <p:nvSpPr>
          <p:cNvPr id="20" name="Verb meaning"/>
          <p:cNvSpPr txBox="1"/>
          <p:nvPr/>
        </p:nvSpPr>
        <p:spPr>
          <a:xfrm>
            <a:off x="7543800" y="4032504"/>
            <a:ext cx="3931920" cy="320040"/>
          </a:xfrm>
          <a:prstGeom prst="rect">
            <a:avLst/>
          </a:prstGeom>
          <a:noFill/>
          <a:ln/>
        </p:spPr>
        <p:txBody>
          <a:bodyPr wrap="square" lIns="0" tIns="0" rIns="0" bIns="0" rtlCol="0" anchor="t"/>
          <a:lstStyle/>
          <a:p>
            <a:pPr indent="0" marL="0">
              <a:buNone/>
            </a:pPr>
            <a:r>
              <a:rPr lang="en-US" sz="1250" dirty="0">
                <a:solidFill>
                  <a:schemeClr val="tx1"/>
                </a:solidFill>
              </a:rPr>
              <a:t>New branch and new workspace</a:t>
            </a:r>
            <a:endParaRPr lang="en-US" sz="1250" dirty="0"/>
          </a:p>
        </p:txBody>
      </p:sp>
      <p:sp>
        <p:nvSpPr>
          <p:cNvPr id="21" name="Switch branch card"/>
          <p:cNvSpPr/>
          <p:nvPr/>
        </p:nvSpPr>
        <p:spPr>
          <a:xfrm>
            <a:off x="6675120" y="4526280"/>
            <a:ext cx="4965192" cy="822960"/>
          </a:xfrm>
          <a:prstGeom prst="roundRect">
            <a:avLst>
              <a:gd name="adj" fmla="val 13333"/>
            </a:avLst>
          </a:prstGeom>
          <a:solidFill>
            <a:schemeClr val="bg2"/>
          </a:solidFill>
          <a:ln/>
        </p:spPr>
      </p:sp>
      <p:sp>
        <p:nvSpPr>
          <p:cNvPr id="22" name="Switch branch badge"/>
          <p:cNvSpPr/>
          <p:nvPr/>
        </p:nvSpPr>
        <p:spPr>
          <a:xfrm>
            <a:off x="6858000" y="4681728"/>
            <a:ext cx="512064" cy="512064"/>
          </a:xfrm>
          <a:prstGeom prst="ellipse">
            <a:avLst/>
          </a:prstGeom>
          <a:solidFill>
            <a:schemeClr val="accent3"/>
          </a:solidFill>
          <a:ln/>
        </p:spPr>
      </p:sp>
      <p:pic>
        <p:nvPicPr>
          <p:cNvPr id="23" name="Image 3" descr="Switch branch icon">    </p:cNvPr>
          <p:cNvPicPr>
            <a:picLocks noChangeAspect="1"/>
          </p:cNvPicPr>
          <p:nvPr/>
        </p:nvPicPr>
        <p:blipFill>
          <a:blip r:embed="rId4"/>
          <a:stretch>
            <a:fillRect/>
          </a:stretch>
        </p:blipFill>
        <p:spPr>
          <a:xfrm>
            <a:off x="6986016" y="4809744"/>
            <a:ext cx="256032" cy="256032"/>
          </a:xfrm>
          <a:prstGeom prst="rect">
            <a:avLst/>
          </a:prstGeom>
        </p:spPr>
      </p:pic>
      <p:sp>
        <p:nvSpPr>
          <p:cNvPr id="24" name="Verb"/>
          <p:cNvSpPr txBox="1"/>
          <p:nvPr/>
        </p:nvSpPr>
        <p:spPr>
          <a:xfrm>
            <a:off x="7543800" y="4599432"/>
            <a:ext cx="39319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Switch branch</a:t>
            </a:r>
            <a:endParaRPr lang="en-US" sz="1500" dirty="0"/>
          </a:p>
        </p:txBody>
      </p:sp>
      <p:sp>
        <p:nvSpPr>
          <p:cNvPr id="25" name="Verb meaning"/>
          <p:cNvSpPr txBox="1"/>
          <p:nvPr/>
        </p:nvSpPr>
        <p:spPr>
          <a:xfrm>
            <a:off x="7543800" y="4946904"/>
            <a:ext cx="3931920" cy="320040"/>
          </a:xfrm>
          <a:prstGeom prst="rect">
            <a:avLst/>
          </a:prstGeom>
          <a:noFill/>
          <a:ln/>
        </p:spPr>
        <p:txBody>
          <a:bodyPr wrap="square" lIns="0" tIns="0" rIns="0" bIns="0" rtlCol="0" anchor="t"/>
          <a:lstStyle/>
          <a:p>
            <a:pPr indent="0" marL="0">
              <a:buNone/>
            </a:pPr>
            <a:r>
              <a:rPr lang="en-US" sz="1250" dirty="0">
                <a:solidFill>
                  <a:schemeClr val="tx1"/>
                </a:solidFill>
              </a:rPr>
              <a:t>Repoint the workspace</a:t>
            </a:r>
            <a:endParaRPr lang="en-US" sz="1250" dirty="0"/>
          </a:p>
        </p:txBody>
      </p:sp>
      <p:sp>
        <p:nvSpPr>
          <p:cNvPr id="26" name="Permissions note"/>
          <p:cNvSpPr/>
          <p:nvPr/>
        </p:nvSpPr>
        <p:spPr>
          <a:xfrm>
            <a:off x="548640" y="5440680"/>
            <a:ext cx="11094415" cy="502920"/>
          </a:xfrm>
          <a:prstGeom prst="roundRect">
            <a:avLst>
              <a:gd name="adj" fmla="val 21818"/>
            </a:avLst>
          </a:prstGeom>
          <a:solidFill>
            <a:schemeClr val="accent3">
              <a:alpha val="22000"/>
            </a:schemeClr>
          </a:solidFill>
          <a:ln/>
        </p:spPr>
      </p:sp>
      <p:sp>
        <p:nvSpPr>
          <p:cNvPr id="27" name="Permissions text"/>
          <p:cNvSpPr txBox="1"/>
          <p:nvPr/>
        </p:nvSpPr>
        <p:spPr>
          <a:xfrm>
            <a:off x="777240" y="5440680"/>
            <a:ext cx="10637215" cy="502920"/>
          </a:xfrm>
          <a:prstGeom prst="rect">
            <a:avLst/>
          </a:prstGeom>
          <a:noFill/>
          <a:ln/>
        </p:spPr>
        <p:txBody>
          <a:bodyPr wrap="square" lIns="0" tIns="0" rIns="0" bIns="0" rtlCol="0" anchor="ctr"/>
          <a:lstStyle/>
          <a:p>
            <a:pPr indent="0" marL="0">
              <a:buNone/>
            </a:pPr>
            <a:r>
              <a:rPr lang="en-US" sz="1250" dirty="0">
                <a:solidFill>
                  <a:schemeClr val="tx1"/>
                </a:solidFill>
              </a:rPr>
              <a:t>Connecting needs the workspace Admin role and permission on the repository. Menu labels change between releases.</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One workspace per branch: the developer loop</a:t>
            </a:r>
            <a:endParaRPr lang="en-US" sz="3200" dirty="0"/>
          </a:p>
        </p:txBody>
      </p:sp>
      <p:sp>
        <p:nvSpPr>
          <p:cNvPr id="5" name="Feature workspace box"/>
          <p:cNvSpPr/>
          <p:nvPr/>
        </p:nvSpPr>
        <p:spPr>
          <a:xfrm>
            <a:off x="548640" y="2011680"/>
            <a:ext cx="3474720" cy="1325880"/>
          </a:xfrm>
          <a:prstGeom prst="roundRect">
            <a:avLst>
              <a:gd name="adj" fmla="val 8276"/>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6" name="Node title"/>
          <p:cNvSpPr txBox="1"/>
          <p:nvPr/>
        </p:nvSpPr>
        <p:spPr>
          <a:xfrm>
            <a:off x="731520" y="217627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Feature workspace</a:t>
            </a:r>
            <a:endParaRPr lang="en-US" sz="1700" dirty="0"/>
          </a:p>
        </p:txBody>
      </p:sp>
      <p:sp>
        <p:nvSpPr>
          <p:cNvPr id="7" name="Node text"/>
          <p:cNvSpPr txBox="1"/>
          <p:nvPr/>
        </p:nvSpPr>
        <p:spPr>
          <a:xfrm>
            <a:off x="731520" y="2651760"/>
            <a:ext cx="3108960" cy="548640"/>
          </a:xfrm>
          <a:prstGeom prst="rect">
            <a:avLst/>
          </a:prstGeom>
          <a:noFill/>
          <a:ln/>
        </p:spPr>
        <p:txBody>
          <a:bodyPr wrap="square" lIns="0" tIns="0" rIns="0" bIns="0" rtlCol="0" anchor="t"/>
          <a:lstStyle/>
          <a:p>
            <a:pPr indent="0" marL="0">
              <a:buNone/>
            </a:pPr>
            <a:r>
              <a:rPr lang="en-US" sz="1300" dirty="0">
                <a:solidFill>
                  <a:schemeClr val="tx1"/>
                </a:solidFill>
              </a:rPr>
              <a:t>Your private copy. Edit here.</a:t>
            </a:r>
            <a:endParaRPr lang="en-US" sz="1300" dirty="0"/>
          </a:p>
        </p:txBody>
      </p:sp>
      <p:sp>
        <p:nvSpPr>
          <p:cNvPr id="8" name="Feature branch box"/>
          <p:cNvSpPr/>
          <p:nvPr/>
        </p:nvSpPr>
        <p:spPr>
          <a:xfrm>
            <a:off x="548640" y="3749040"/>
            <a:ext cx="3474720" cy="1325880"/>
          </a:xfrm>
          <a:prstGeom prst="roundRect">
            <a:avLst>
              <a:gd name="adj" fmla="val 8276"/>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9" name="Node title"/>
          <p:cNvSpPr txBox="1"/>
          <p:nvPr/>
        </p:nvSpPr>
        <p:spPr>
          <a:xfrm>
            <a:off x="731520" y="391363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Feature branch</a:t>
            </a:r>
            <a:endParaRPr lang="en-US" sz="1700" dirty="0"/>
          </a:p>
        </p:txBody>
      </p:sp>
      <p:sp>
        <p:nvSpPr>
          <p:cNvPr id="10" name="Node text"/>
          <p:cNvSpPr txBox="1"/>
          <p:nvPr/>
        </p:nvSpPr>
        <p:spPr>
          <a:xfrm>
            <a:off x="731520" y="4389120"/>
            <a:ext cx="3108960" cy="54864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feat/AB1002-tighter-gate</a:t>
            </a:r>
            <a:endParaRPr lang="en-US" sz="1300" dirty="0"/>
          </a:p>
        </p:txBody>
      </p:sp>
      <p:sp>
        <p:nvSpPr>
          <p:cNvPr id="11" name="main box"/>
          <p:cNvSpPr/>
          <p:nvPr/>
        </p:nvSpPr>
        <p:spPr>
          <a:xfrm>
            <a:off x="5212080" y="3749040"/>
            <a:ext cx="3474720" cy="1325880"/>
          </a:xfrm>
          <a:prstGeom prst="roundRect">
            <a:avLst>
              <a:gd name="adj" fmla="val 8276"/>
            </a:avLst>
          </a:prstGeom>
          <a:solidFill>
            <a:schemeClr val="accent2">
              <a:alpha val="15000"/>
            </a:schemeClr>
          </a:solidFill>
          <a:ln/>
        </p:spPr>
      </p:sp>
      <p:sp>
        <p:nvSpPr>
          <p:cNvPr id="12" name="Node title"/>
          <p:cNvSpPr txBox="1"/>
          <p:nvPr/>
        </p:nvSpPr>
        <p:spPr>
          <a:xfrm>
            <a:off x="5394960" y="391363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main</a:t>
            </a:r>
            <a:endParaRPr lang="en-US" sz="1700" dirty="0"/>
          </a:p>
        </p:txBody>
      </p:sp>
      <p:sp>
        <p:nvSpPr>
          <p:cNvPr id="13" name="Node text"/>
          <p:cNvSpPr txBox="1"/>
          <p:nvPr/>
        </p:nvSpPr>
        <p:spPr>
          <a:xfrm>
            <a:off x="5394960" y="4389120"/>
            <a:ext cx="3108960" cy="548640"/>
          </a:xfrm>
          <a:prstGeom prst="rect">
            <a:avLst/>
          </a:prstGeom>
          <a:noFill/>
          <a:ln/>
        </p:spPr>
        <p:txBody>
          <a:bodyPr wrap="square" lIns="0" tIns="0" rIns="0" bIns="0" rtlCol="0" anchor="t"/>
          <a:lstStyle/>
          <a:p>
            <a:pPr indent="0" marL="0">
              <a:buNone/>
            </a:pPr>
            <a:r>
              <a:rPr lang="en-US" sz="1300" dirty="0">
                <a:solidFill>
                  <a:schemeClr val="tx1"/>
                </a:solidFill>
              </a:rPr>
              <a:t>Always shippable.</a:t>
            </a:r>
            <a:endParaRPr lang="en-US" sz="1300" dirty="0"/>
          </a:p>
        </p:txBody>
      </p:sp>
      <p:sp>
        <p:nvSpPr>
          <p:cNvPr id="14" name="DEV workspace box"/>
          <p:cNvSpPr/>
          <p:nvPr/>
        </p:nvSpPr>
        <p:spPr>
          <a:xfrm>
            <a:off x="5212080" y="2011680"/>
            <a:ext cx="3474720" cy="1325880"/>
          </a:xfrm>
          <a:prstGeom prst="roundRect">
            <a:avLst>
              <a:gd name="adj" fmla="val 8276"/>
            </a:avLst>
          </a:prstGeom>
          <a:solidFill>
            <a:schemeClr val="accent2">
              <a:alpha val="15000"/>
            </a:schemeClr>
          </a:solidFill>
          <a:ln/>
        </p:spPr>
      </p:sp>
      <p:sp>
        <p:nvSpPr>
          <p:cNvPr id="15" name="Node title"/>
          <p:cNvSpPr txBox="1"/>
          <p:nvPr/>
        </p:nvSpPr>
        <p:spPr>
          <a:xfrm>
            <a:off x="5394960" y="217627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DEV workspace</a:t>
            </a:r>
            <a:endParaRPr lang="en-US" sz="1700" dirty="0"/>
          </a:p>
        </p:txBody>
      </p:sp>
      <p:sp>
        <p:nvSpPr>
          <p:cNvPr id="16" name="Node text"/>
          <p:cNvSpPr txBox="1"/>
          <p:nvPr/>
        </p:nvSpPr>
        <p:spPr>
          <a:xfrm>
            <a:off x="5394960" y="2651760"/>
            <a:ext cx="3108960" cy="548640"/>
          </a:xfrm>
          <a:prstGeom prst="rect">
            <a:avLst/>
          </a:prstGeom>
          <a:noFill/>
          <a:ln/>
        </p:spPr>
        <p:txBody>
          <a:bodyPr wrap="square" lIns="0" tIns="0" rIns="0" bIns="0" rtlCol="0" anchor="t"/>
          <a:lstStyle/>
          <a:p>
            <a:pPr indent="0" marL="0">
              <a:buNone/>
            </a:pPr>
            <a:r>
              <a:rPr lang="en-US" sz="1300" dirty="0">
                <a:solidFill>
                  <a:schemeClr val="tx1"/>
                </a:solidFill>
              </a:rPr>
              <a:t>Shared. Updated from main.</a:t>
            </a:r>
            <a:endParaRPr lang="en-US" sz="1300" dirty="0"/>
          </a:p>
        </p:txBody>
      </p:sp>
      <p:sp>
        <p:nvSpPr>
          <p:cNvPr id="17" name="Commit arrow"/>
          <p:cNvSpPr/>
          <p:nvPr/>
        </p:nvSpPr>
        <p:spPr>
          <a:xfrm>
            <a:off x="2286000" y="3383280"/>
            <a:ext cx="0" cy="320040"/>
          </a:xfrm>
          <a:prstGeom prst="line">
            <a:avLst/>
          </a:prstGeom>
          <a:noFill/>
          <a:ln w="31750">
            <a:solidFill>
              <a:schemeClr val="accent5"/>
            </a:solidFill>
            <a:prstDash val="solid"/>
            <a:tailEnd type="triangle"/>
          </a:ln>
        </p:spPr>
      </p:sp>
      <p:sp>
        <p:nvSpPr>
          <p:cNvPr id="18" name="Commit label"/>
          <p:cNvSpPr txBox="1"/>
          <p:nvPr/>
        </p:nvSpPr>
        <p:spPr>
          <a:xfrm>
            <a:off x="2423160" y="3246120"/>
            <a:ext cx="1371600" cy="274320"/>
          </a:xfrm>
          <a:prstGeom prst="rect">
            <a:avLst/>
          </a:prstGeom>
          <a:noFill/>
          <a:ln/>
        </p:spPr>
        <p:txBody>
          <a:bodyPr wrap="square" lIns="0" tIns="0" rIns="0" bIns="0" rtlCol="0" anchor="t"/>
          <a:lstStyle/>
          <a:p>
            <a:pPr indent="0" marL="0">
              <a:buNone/>
            </a:pPr>
            <a:r>
              <a:rPr lang="en-US" sz="1200" b="1" dirty="0">
                <a:solidFill>
                  <a:schemeClr val="accent1"/>
                </a:solidFill>
              </a:rPr>
              <a:t>Commit</a:t>
            </a:r>
            <a:endParaRPr lang="en-US" sz="1200" dirty="0"/>
          </a:p>
        </p:txBody>
      </p:sp>
      <p:sp>
        <p:nvSpPr>
          <p:cNvPr id="19" name="Pull request arrow"/>
          <p:cNvSpPr/>
          <p:nvPr/>
        </p:nvSpPr>
        <p:spPr>
          <a:xfrm>
            <a:off x="4069080" y="4407408"/>
            <a:ext cx="1097280" cy="0"/>
          </a:xfrm>
          <a:prstGeom prst="line">
            <a:avLst/>
          </a:prstGeom>
          <a:noFill/>
          <a:ln w="31750">
            <a:solidFill>
              <a:schemeClr val="accent3"/>
            </a:solidFill>
            <a:prstDash val="solid"/>
            <a:tailEnd type="triangle"/>
          </a:ln>
        </p:spPr>
      </p:sp>
      <p:sp>
        <p:nvSpPr>
          <p:cNvPr id="20" name="PR label"/>
          <p:cNvSpPr txBox="1"/>
          <p:nvPr/>
        </p:nvSpPr>
        <p:spPr>
          <a:xfrm>
            <a:off x="4114800" y="3931920"/>
            <a:ext cx="1188720" cy="457200"/>
          </a:xfrm>
          <a:prstGeom prst="rect">
            <a:avLst/>
          </a:prstGeom>
          <a:noFill/>
          <a:ln/>
        </p:spPr>
        <p:txBody>
          <a:bodyPr wrap="square" lIns="0" tIns="0" rIns="0" bIns="0" rtlCol="0" anchor="t"/>
          <a:lstStyle/>
          <a:p>
            <a:pPr algn="ctr" indent="0" marL="0">
              <a:buNone/>
            </a:pPr>
            <a:r>
              <a:rPr lang="en-US" sz="1200" b="1" dirty="0">
                <a:solidFill>
                  <a:schemeClr val="accent4"/>
                </a:solidFill>
              </a:rPr>
              <a:t>Pull request</a:t>
            </a:r>
            <a:endParaRPr lang="en-US" sz="1200" dirty="0"/>
          </a:p>
        </p:txBody>
      </p:sp>
      <p:sp>
        <p:nvSpPr>
          <p:cNvPr id="21" name="Update arrow"/>
          <p:cNvSpPr/>
          <p:nvPr/>
        </p:nvSpPr>
        <p:spPr>
          <a:xfrm flipV="1">
            <a:off x="6949440" y="3383280"/>
            <a:ext cx="0" cy="320040"/>
          </a:xfrm>
          <a:prstGeom prst="line">
            <a:avLst/>
          </a:prstGeom>
          <a:noFill/>
          <a:ln w="31750">
            <a:solidFill>
              <a:schemeClr val="accent5"/>
            </a:solidFill>
            <a:prstDash val="solid"/>
            <a:tailEnd type="triangle"/>
          </a:ln>
        </p:spPr>
      </p:sp>
      <p:sp>
        <p:nvSpPr>
          <p:cNvPr id="22" name="Update label"/>
          <p:cNvSpPr txBox="1"/>
          <p:nvPr/>
        </p:nvSpPr>
        <p:spPr>
          <a:xfrm>
            <a:off x="7086600" y="3246120"/>
            <a:ext cx="1371600" cy="274320"/>
          </a:xfrm>
          <a:prstGeom prst="rect">
            <a:avLst/>
          </a:prstGeom>
          <a:noFill/>
          <a:ln/>
        </p:spPr>
        <p:txBody>
          <a:bodyPr wrap="square" lIns="0" tIns="0" rIns="0" bIns="0" rtlCol="0" anchor="t"/>
          <a:lstStyle/>
          <a:p>
            <a:pPr indent="0" marL="0">
              <a:buNone/>
            </a:pPr>
            <a:r>
              <a:rPr lang="en-US" sz="1200" b="1" dirty="0">
                <a:solidFill>
                  <a:schemeClr val="accent1"/>
                </a:solidFill>
              </a:rPr>
              <a:t>Update</a:t>
            </a:r>
            <a:endParaRPr lang="en-US" sz="1200" dirty="0"/>
          </a:p>
        </p:txBody>
      </p:sp>
      <p:sp>
        <p:nvSpPr>
          <p:cNvPr id="23" name="Loop notes"/>
          <p:cNvSpPr/>
          <p:nvPr/>
        </p:nvSpPr>
        <p:spPr>
          <a:xfrm>
            <a:off x="8732520" y="2011680"/>
            <a:ext cx="2907792" cy="3063240"/>
          </a:xfrm>
          <a:prstGeom prst="roundRect">
            <a:avLst>
              <a:gd name="adj" fmla="val 3774"/>
            </a:avLst>
          </a:prstGeom>
          <a:solidFill>
            <a:schemeClr val="accent3">
              <a:alpha val="22000"/>
            </a:schemeClr>
          </a:solidFill>
          <a:ln/>
        </p:spPr>
      </p:sp>
      <p:sp>
        <p:nvSpPr>
          <p:cNvPr id="24" name="Loop notes title"/>
          <p:cNvSpPr txBox="1"/>
          <p:nvPr/>
        </p:nvSpPr>
        <p:spPr>
          <a:xfrm>
            <a:off x="8915400" y="2103120"/>
            <a:ext cx="256032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Why it works</a:t>
            </a:r>
            <a:endParaRPr lang="en-US" sz="1500" dirty="0"/>
          </a:p>
        </p:txBody>
      </p:sp>
      <p:sp>
        <p:nvSpPr>
          <p:cNvPr id="25" name="Loop notes list"/>
          <p:cNvSpPr txBox="1"/>
          <p:nvPr/>
        </p:nvSpPr>
        <p:spPr>
          <a:xfrm>
            <a:off x="8915400" y="2468880"/>
            <a:ext cx="2606040" cy="2560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DEV changes only through a reviewed merge.</a:t>
            </a:r>
            <a:endParaRPr lang="en-US" sz="1250" dirty="0"/>
          </a:p>
          <a:p>
            <a:pPr marL="342900" indent="-342900">
              <a:spcAft>
                <a:spcPts val="600"/>
              </a:spcAft>
              <a:buSzPct val="100000"/>
              <a:buChar char="•"/>
            </a:pPr>
            <a:r>
              <a:rPr lang="en-US" sz="1250" dirty="0">
                <a:solidFill>
                  <a:schemeClr val="tx1"/>
                </a:solidFill>
              </a:rPr>
              <a:t>Your edits stay private until you ask.</a:t>
            </a:r>
            <a:endParaRPr lang="en-US" sz="1250" dirty="0"/>
          </a:p>
          <a:p>
            <a:pPr marL="342900" indent="-342900">
              <a:spcAft>
                <a:spcPts val="600"/>
              </a:spcAft>
              <a:buSzPct val="100000"/>
              <a:buChar char="•"/>
            </a:pPr>
            <a:r>
              <a:rPr lang="en-US" sz="1250" dirty="0">
                <a:solidFill>
                  <a:schemeClr val="tx1"/>
                </a:solidFill>
              </a:rPr>
              <a:t>Delete the personal workspace when the branch merges.</a:t>
            </a:r>
            <a:endParaRPr lang="en-US" sz="1250" dirty="0"/>
          </a:p>
        </p:txBody>
      </p:sp>
      <p:sp>
        <p:nvSpPr>
          <p:cNvPr id="26" name="Footnote"/>
          <p:cNvSpPr txBox="1"/>
          <p:nvPr/>
        </p:nvSpPr>
        <p:spPr>
          <a:xfrm>
            <a:off x="548640" y="53492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Promotion beyond DEV is a separate step: see Deployment patterns.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Git holds the recipe, not the meal</a:t>
            </a:r>
            <a:endParaRPr lang="en-US" sz="3200" dirty="0"/>
          </a:p>
        </p:txBody>
      </p:sp>
      <p:graphicFrame>
        <p:nvGraphicFramePr>
          <p:cNvPr id="21" name="In Git or not"/>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926080"/>
                <a:gridCol w="4023360"/>
                <a:gridCol w="4142232"/>
              </a:tblGrid>
              <a:tr h="384048">
                <a:tc>
                  <a:txBody>
                    <a:bodyPr/>
                    <a:lstStyle/>
                    <a:p>
                      <a:pPr indent="0" marL="0">
                        <a:buNone/>
                      </a:pPr>
                      <a:r>
                        <a:rPr lang="en-US" sz="1250" b="1" dirty="0">
                          <a:solidFill>
                            <a:schemeClr val="bg1"/>
                          </a:solidFill>
                        </a:rPr>
                        <a:t>Thing</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In Git?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How you protect or rebuild it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250" b="1" dirty="0">
                          <a:solidFill>
                            <a:schemeClr val="tx1"/>
                          </a:solidFill>
                        </a:rPr>
                        <a:t>Notebook cells, pipeline activities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b="1" dirty="0">
                          <a:solidFill>
                            <a:schemeClr val="accent2"/>
                          </a:solidFill>
                        </a:rPr>
                        <a:t>Yes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Commit them. Review them.</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50" b="1" dirty="0">
                          <a:solidFill>
                            <a:schemeClr val="tx1"/>
                          </a:solidFill>
                        </a:rPr>
                        <a:t>Parameter files, tests, documentation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b="1" dirty="0">
                          <a:solidFill>
                            <a:schemeClr val="accent2"/>
                          </a:solidFill>
                        </a:rPr>
                        <a:t>Yes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Part of the same pull request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250" b="1" dirty="0">
                          <a:solidFill>
                            <a:schemeClr val="tx1"/>
                          </a:solidFill>
                        </a:rPr>
                        <a:t>Table and file contents in the lakehouse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b="1" dirty="0">
                          <a:solidFill>
                            <a:schemeClr val="accent4"/>
                          </a:solidFill>
                        </a:rPr>
                        <a:t>No</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Rebuild by running the pipeline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50" b="1" dirty="0">
                          <a:solidFill>
                            <a:schemeClr val="tx1"/>
                          </a:solidFill>
                        </a:rPr>
                        <a:t>Run history and the run log</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b="1" dirty="0">
                          <a:solidFill>
                            <a:schemeClr val="accent4"/>
                          </a:solidFill>
                        </a:rPr>
                        <a:t>No</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Lives in Fabric. Export what audit needs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250" b="1" dirty="0">
                          <a:solidFill>
                            <a:schemeClr val="tx1"/>
                          </a:solidFill>
                        </a:rPr>
                        <a:t>Secrets, permissions, capacity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b="1" dirty="0">
                          <a:solidFill>
                            <a:schemeClr val="accent4"/>
                          </a:solidFill>
                        </a:rPr>
                        <a:t>No</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Vault, workspace roles, platform settings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25780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If you cannot rebuild a table by running what is in Git, you have found a gap.</a:t>
            </a:r>
            <a:endParaRPr lang="en-US" sz="1600" dirty="0"/>
          </a:p>
        </p:txBody>
      </p:sp>
      <p:sp>
        <p:nvSpPr>
          <p:cNvPr id="7"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Coverage varies by item type and changes over time. Check the supported-items list for your tenant.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branching strategy: main plus short branches</a:t>
            </a:r>
            <a:endParaRPr lang="en-US" sz="3200" dirty="0"/>
          </a:p>
        </p:txBody>
      </p:sp>
      <p:graphicFrame>
        <p:nvGraphicFramePr>
          <p:cNvPr id="22" name="Branching strategie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286000"/>
                <a:gridCol w="3017520"/>
                <a:gridCol w="2926080"/>
                <a:gridCol w="2862072"/>
              </a:tblGrid>
              <a:tr h="384048">
                <a:tc>
                  <a:txBody>
                    <a:bodyPr/>
                    <a:lstStyle/>
                    <a:p>
                      <a:pPr indent="0" marL="0">
                        <a:buNone/>
                      </a:pPr>
                      <a:r>
                        <a:rPr lang="en-US" sz="1200" b="1" dirty="0">
                          <a:solidFill>
                            <a:schemeClr val="bg1"/>
                          </a:solidFill>
                        </a:rPr>
                        <a:t>Approach</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Shape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Good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Watch for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1097280">
                <a:tc>
                  <a:txBody>
                    <a:bodyPr/>
                    <a:lstStyle/>
                    <a:p>
                      <a:pPr indent="0" marL="0">
                        <a:buNone/>
                      </a:pPr>
                      <a:r>
                        <a:rPr lang="en-US" sz="1200" b="1" dirty="0">
                          <a:solidFill>
                            <a:schemeClr val="accent2"/>
                          </a:solidFill>
                        </a:rPr>
                        <a:t>Main plus short branches (recommended)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One long-lived branch. Feature branches live for days. Environments are reached by promoting the same commit or tag.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Simple. TEST runs exactly what DEV ran. Few merges.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Needs discipline: main must stay shippable.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1097280">
                <a:tc>
                  <a:txBody>
                    <a:bodyPr/>
                    <a:lstStyle/>
                    <a:p>
                      <a:pPr indent="0" marL="0">
                        <a:buNone/>
                      </a:pPr>
                      <a:r>
                        <a:rPr lang="en-US" sz="1200" b="1" dirty="0">
                          <a:solidFill>
                            <a:schemeClr val="tx1"/>
                          </a:solidFill>
                        </a:rPr>
                        <a:t>A branch per environment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dev, test and prod branches. Promote by merging one into the next.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Mirrors the environments. Easy to picture.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Many merges. TEST drifts from DEV. Hotfixes diverge.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Protect main card"/>
          <p:cNvSpPr/>
          <p:nvPr/>
        </p:nvSpPr>
        <p:spPr>
          <a:xfrm>
            <a:off x="548640" y="4434840"/>
            <a:ext cx="3593592" cy="1280160"/>
          </a:xfrm>
          <a:prstGeom prst="roundRect">
            <a:avLst>
              <a:gd name="adj" fmla="val 8571"/>
            </a:avLst>
          </a:prstGeom>
          <a:solidFill>
            <a:schemeClr val="accent2">
              <a:alpha val="15000"/>
            </a:schemeClr>
          </a:solidFill>
          <a:ln/>
        </p:spPr>
      </p:sp>
      <p:sp>
        <p:nvSpPr>
          <p:cNvPr id="7" name="Habit title"/>
          <p:cNvSpPr txBox="1"/>
          <p:nvPr/>
        </p:nvSpPr>
        <p:spPr>
          <a:xfrm>
            <a:off x="777240" y="4526280"/>
            <a:ext cx="315468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Protect main</a:t>
            </a:r>
            <a:endParaRPr lang="en-US" sz="1500" dirty="0"/>
          </a:p>
        </p:txBody>
      </p:sp>
      <p:sp>
        <p:nvSpPr>
          <p:cNvPr id="8" name="Habit text"/>
          <p:cNvSpPr txBox="1"/>
          <p:nvPr/>
        </p:nvSpPr>
        <p:spPr>
          <a:xfrm>
            <a:off x="777240" y="4919472"/>
            <a:ext cx="3154680" cy="731520"/>
          </a:xfrm>
          <a:prstGeom prst="rect">
            <a:avLst/>
          </a:prstGeom>
          <a:noFill/>
          <a:ln/>
        </p:spPr>
        <p:txBody>
          <a:bodyPr wrap="square" lIns="0" tIns="0" rIns="0" bIns="0" rtlCol="0" anchor="t"/>
          <a:lstStyle/>
          <a:p>
            <a:pPr indent="0" marL="0">
              <a:buNone/>
            </a:pPr>
            <a:r>
              <a:rPr lang="en-US" sz="1300" dirty="0">
                <a:solidFill>
                  <a:schemeClr val="tx1"/>
                </a:solidFill>
              </a:rPr>
              <a:t>Pull request, reviewers and green rails before any merge.</a:t>
            </a:r>
            <a:endParaRPr lang="en-US" sz="1300" dirty="0"/>
          </a:p>
        </p:txBody>
      </p:sp>
      <p:sp>
        <p:nvSpPr>
          <p:cNvPr id="9" name="Keep branches short card"/>
          <p:cNvSpPr/>
          <p:nvPr/>
        </p:nvSpPr>
        <p:spPr>
          <a:xfrm>
            <a:off x="4297680" y="4434840"/>
            <a:ext cx="3593592" cy="1280160"/>
          </a:xfrm>
          <a:prstGeom prst="roundRect">
            <a:avLst>
              <a:gd name="adj" fmla="val 8571"/>
            </a:avLst>
          </a:prstGeom>
          <a:solidFill>
            <a:schemeClr val="accent2">
              <a:alpha val="15000"/>
            </a:schemeClr>
          </a:solidFill>
          <a:ln/>
        </p:spPr>
      </p:sp>
      <p:sp>
        <p:nvSpPr>
          <p:cNvPr id="10" name="Habit title"/>
          <p:cNvSpPr txBox="1"/>
          <p:nvPr/>
        </p:nvSpPr>
        <p:spPr>
          <a:xfrm>
            <a:off x="4526280" y="4526280"/>
            <a:ext cx="315468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Keep branches short</a:t>
            </a:r>
            <a:endParaRPr lang="en-US" sz="1500" dirty="0"/>
          </a:p>
        </p:txBody>
      </p:sp>
      <p:sp>
        <p:nvSpPr>
          <p:cNvPr id="11" name="Habit text"/>
          <p:cNvSpPr txBox="1"/>
          <p:nvPr/>
        </p:nvSpPr>
        <p:spPr>
          <a:xfrm>
            <a:off x="4526280" y="4919472"/>
            <a:ext cx="3154680" cy="731520"/>
          </a:xfrm>
          <a:prstGeom prst="rect">
            <a:avLst/>
          </a:prstGeom>
          <a:noFill/>
          <a:ln/>
        </p:spPr>
        <p:txBody>
          <a:bodyPr wrap="square" lIns="0" tIns="0" rIns="0" bIns="0" rtlCol="0" anchor="t"/>
          <a:lstStyle/>
          <a:p>
            <a:pPr indent="0" marL="0">
              <a:buNone/>
            </a:pPr>
            <a:r>
              <a:rPr lang="en-US" sz="1300" dirty="0">
                <a:solidFill>
                  <a:schemeClr val="tx1"/>
                </a:solidFill>
              </a:rPr>
              <a:t>Merge in days. Split big changes.</a:t>
            </a:r>
            <a:endParaRPr lang="en-US" sz="1300" dirty="0"/>
          </a:p>
        </p:txBody>
      </p:sp>
      <p:sp>
        <p:nvSpPr>
          <p:cNvPr id="12" name="Tag what you release card"/>
          <p:cNvSpPr/>
          <p:nvPr/>
        </p:nvSpPr>
        <p:spPr>
          <a:xfrm>
            <a:off x="8046720" y="4434840"/>
            <a:ext cx="3593592" cy="1280160"/>
          </a:xfrm>
          <a:prstGeom prst="roundRect">
            <a:avLst>
              <a:gd name="adj" fmla="val 8571"/>
            </a:avLst>
          </a:prstGeom>
          <a:solidFill>
            <a:schemeClr val="accent2">
              <a:alpha val="15000"/>
            </a:schemeClr>
          </a:solidFill>
          <a:ln/>
        </p:spPr>
      </p:sp>
      <p:sp>
        <p:nvSpPr>
          <p:cNvPr id="13" name="Habit title"/>
          <p:cNvSpPr txBox="1"/>
          <p:nvPr/>
        </p:nvSpPr>
        <p:spPr>
          <a:xfrm>
            <a:off x="8275320" y="4526280"/>
            <a:ext cx="315468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Tag what you release</a:t>
            </a:r>
            <a:endParaRPr lang="en-US" sz="1500" dirty="0"/>
          </a:p>
        </p:txBody>
      </p:sp>
      <p:sp>
        <p:nvSpPr>
          <p:cNvPr id="14" name="Habit text"/>
          <p:cNvSpPr txBox="1"/>
          <p:nvPr/>
        </p:nvSpPr>
        <p:spPr>
          <a:xfrm>
            <a:off x="8275320" y="4919472"/>
            <a:ext cx="3154680" cy="731520"/>
          </a:xfrm>
          <a:prstGeom prst="rect">
            <a:avLst/>
          </a:prstGeom>
          <a:noFill/>
          <a:ln/>
        </p:spPr>
        <p:txBody>
          <a:bodyPr wrap="square" lIns="0" tIns="0" rIns="0" bIns="0" rtlCol="0" anchor="t"/>
          <a:lstStyle/>
          <a:p>
            <a:pPr indent="0" marL="0">
              <a:buNone/>
            </a:pPr>
            <a:r>
              <a:rPr lang="en-US" sz="1300" dirty="0">
                <a:solidFill>
                  <a:schemeClr val="tx1"/>
                </a:solidFill>
              </a:rPr>
              <a:t>v1.0.0 is a permanent name for the thing you tested.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6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6: Git by hand</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30 MIN</a:t>
            </a:r>
            <a:endParaRPr lang="en-US" sz="1100" dirty="0"/>
          </a:p>
        </p:txBody>
      </p:sp>
      <p:sp>
        <p:nvSpPr>
          <p:cNvPr id="6" name="Task 1"/>
          <p:cNvSpPr/>
          <p:nvPr/>
        </p:nvSpPr>
        <p:spPr>
          <a:xfrm>
            <a:off x="548640" y="1783080"/>
            <a:ext cx="3108960" cy="932688"/>
          </a:xfrm>
          <a:prstGeom prst="roundRect">
            <a:avLst>
              <a:gd name="adj" fmla="val 11765"/>
            </a:avLst>
          </a:prstGeom>
          <a:solidFill>
            <a:schemeClr val="bg2"/>
          </a:solidFill>
          <a:ln/>
        </p:spPr>
      </p:sp>
      <p:sp>
        <p:nvSpPr>
          <p:cNvPr id="7" name="Task chip 1"/>
          <p:cNvSpPr/>
          <p:nvPr/>
        </p:nvSpPr>
        <p:spPr>
          <a:xfrm>
            <a:off x="685800" y="2039112"/>
            <a:ext cx="420624" cy="420624"/>
          </a:xfrm>
          <a:prstGeom prst="roundRect">
            <a:avLst>
              <a:gd name="adj" fmla="val 17391"/>
            </a:avLst>
          </a:prstGeom>
          <a:solidFill>
            <a:schemeClr val="accent1"/>
          </a:solidFill>
          <a:ln/>
        </p:spPr>
      </p:sp>
      <p:sp>
        <p:nvSpPr>
          <p:cNvPr id="8" name="Task number"/>
          <p:cNvSpPr txBox="1"/>
          <p:nvPr/>
        </p:nvSpPr>
        <p:spPr>
          <a:xfrm>
            <a:off x="685800" y="203911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9" name="Task text"/>
          <p:cNvSpPr txBox="1"/>
          <p:nvPr/>
        </p:nvSpPr>
        <p:spPr>
          <a:xfrm>
            <a:off x="1234440" y="1783080"/>
            <a:ext cx="2331720" cy="932688"/>
          </a:xfrm>
          <a:prstGeom prst="rect">
            <a:avLst/>
          </a:prstGeom>
          <a:noFill/>
          <a:ln/>
        </p:spPr>
        <p:txBody>
          <a:bodyPr wrap="square" lIns="0" tIns="0" rIns="0" bIns="0" rtlCol="0" anchor="ctr"/>
          <a:lstStyle/>
          <a:p>
            <a:pPr indent="0" marL="0">
              <a:buNone/>
            </a:pPr>
            <a:r>
              <a:rPr lang="en-US" sz="1150" dirty="0">
                <a:solidFill>
                  <a:schemeClr val="tx1"/>
                </a:solidFill>
              </a:rPr>
              <a:t>Check status. Stage the files and make the first commit.</a:t>
            </a:r>
            <a:endParaRPr lang="en-US" sz="1150" dirty="0"/>
          </a:p>
        </p:txBody>
      </p:sp>
      <p:sp>
        <p:nvSpPr>
          <p:cNvPr id="10" name="Task 2"/>
          <p:cNvSpPr/>
          <p:nvPr/>
        </p:nvSpPr>
        <p:spPr>
          <a:xfrm>
            <a:off x="548640" y="2807208"/>
            <a:ext cx="3108960" cy="932688"/>
          </a:xfrm>
          <a:prstGeom prst="roundRect">
            <a:avLst>
              <a:gd name="adj" fmla="val 11765"/>
            </a:avLst>
          </a:prstGeom>
          <a:solidFill>
            <a:schemeClr val="bg2"/>
          </a:solidFill>
          <a:ln/>
        </p:spPr>
      </p:sp>
      <p:sp>
        <p:nvSpPr>
          <p:cNvPr id="11" name="Task chip 2"/>
          <p:cNvSpPr/>
          <p:nvPr/>
        </p:nvSpPr>
        <p:spPr>
          <a:xfrm>
            <a:off x="685800" y="3063240"/>
            <a:ext cx="420624" cy="420624"/>
          </a:xfrm>
          <a:prstGeom prst="roundRect">
            <a:avLst>
              <a:gd name="adj" fmla="val 17391"/>
            </a:avLst>
          </a:prstGeom>
          <a:solidFill>
            <a:schemeClr val="accent1"/>
          </a:solidFill>
          <a:ln/>
        </p:spPr>
      </p:sp>
      <p:sp>
        <p:nvSpPr>
          <p:cNvPr id="12" name="Task number"/>
          <p:cNvSpPr txBox="1"/>
          <p:nvPr/>
        </p:nvSpPr>
        <p:spPr>
          <a:xfrm>
            <a:off x="685800"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3" name="Task text"/>
          <p:cNvSpPr txBox="1"/>
          <p:nvPr/>
        </p:nvSpPr>
        <p:spPr>
          <a:xfrm>
            <a:off x="1234440" y="2807208"/>
            <a:ext cx="2331720" cy="932688"/>
          </a:xfrm>
          <a:prstGeom prst="rect">
            <a:avLst/>
          </a:prstGeom>
          <a:noFill/>
          <a:ln/>
        </p:spPr>
        <p:txBody>
          <a:bodyPr wrap="square" lIns="0" tIns="0" rIns="0" bIns="0" rtlCol="0" anchor="ctr"/>
          <a:lstStyle/>
          <a:p>
            <a:pPr indent="0" marL="0">
              <a:buNone/>
            </a:pPr>
            <a:r>
              <a:rPr lang="en-US" sz="1150" dirty="0">
                <a:solidFill>
                  <a:schemeClr val="tx1"/>
                </a:solidFill>
              </a:rPr>
              <a:t>Try the message 'updated stuff'. Read the rejection. Fix it.</a:t>
            </a:r>
            <a:endParaRPr lang="en-US" sz="1150" dirty="0"/>
          </a:p>
        </p:txBody>
      </p:sp>
      <p:sp>
        <p:nvSpPr>
          <p:cNvPr id="14" name="Task 3"/>
          <p:cNvSpPr/>
          <p:nvPr/>
        </p:nvSpPr>
        <p:spPr>
          <a:xfrm>
            <a:off x="548640" y="3831336"/>
            <a:ext cx="3108960" cy="932688"/>
          </a:xfrm>
          <a:prstGeom prst="roundRect">
            <a:avLst>
              <a:gd name="adj" fmla="val 11765"/>
            </a:avLst>
          </a:prstGeom>
          <a:solidFill>
            <a:schemeClr val="bg2"/>
          </a:solidFill>
          <a:ln/>
        </p:spPr>
      </p:sp>
      <p:sp>
        <p:nvSpPr>
          <p:cNvPr id="15" name="Task chip 3"/>
          <p:cNvSpPr/>
          <p:nvPr/>
        </p:nvSpPr>
        <p:spPr>
          <a:xfrm>
            <a:off x="685800" y="4087368"/>
            <a:ext cx="420624" cy="420624"/>
          </a:xfrm>
          <a:prstGeom prst="roundRect">
            <a:avLst>
              <a:gd name="adj" fmla="val 17391"/>
            </a:avLst>
          </a:prstGeom>
          <a:solidFill>
            <a:schemeClr val="accent1"/>
          </a:solidFill>
          <a:ln/>
        </p:spPr>
      </p:sp>
      <p:sp>
        <p:nvSpPr>
          <p:cNvPr id="16" name="Task number"/>
          <p:cNvSpPr txBox="1"/>
          <p:nvPr/>
        </p:nvSpPr>
        <p:spPr>
          <a:xfrm>
            <a:off x="685800" y="40873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7" name="Task text"/>
          <p:cNvSpPr txBox="1"/>
          <p:nvPr/>
        </p:nvSpPr>
        <p:spPr>
          <a:xfrm>
            <a:off x="1234440" y="3831336"/>
            <a:ext cx="2331720" cy="932688"/>
          </a:xfrm>
          <a:prstGeom prst="rect">
            <a:avLst/>
          </a:prstGeom>
          <a:noFill/>
          <a:ln/>
        </p:spPr>
        <p:txBody>
          <a:bodyPr wrap="square" lIns="0" tIns="0" rIns="0" bIns="0" rtlCol="0" anchor="ctr"/>
          <a:lstStyle/>
          <a:p>
            <a:pPr indent="0" marL="0">
              <a:buNone/>
            </a:pPr>
            <a:r>
              <a:rPr lang="en-US" sz="1150" dirty="0">
                <a:solidFill>
                  <a:schemeClr val="tx1"/>
                </a:solidFill>
              </a:rPr>
              <a:t>Branch. Change the tolerance in the gate cell to 0.01. Commit.</a:t>
            </a:r>
            <a:endParaRPr lang="en-US" sz="1150" dirty="0"/>
          </a:p>
        </p:txBody>
      </p:sp>
      <p:sp>
        <p:nvSpPr>
          <p:cNvPr id="18" name="Task 4"/>
          <p:cNvSpPr/>
          <p:nvPr/>
        </p:nvSpPr>
        <p:spPr>
          <a:xfrm>
            <a:off x="548640" y="4855464"/>
            <a:ext cx="3108960" cy="932688"/>
          </a:xfrm>
          <a:prstGeom prst="roundRect">
            <a:avLst>
              <a:gd name="adj" fmla="val 11765"/>
            </a:avLst>
          </a:prstGeom>
          <a:solidFill>
            <a:schemeClr val="bg2"/>
          </a:solidFill>
          <a:ln/>
        </p:spPr>
      </p:sp>
      <p:sp>
        <p:nvSpPr>
          <p:cNvPr id="19" name="Task chip 4"/>
          <p:cNvSpPr/>
          <p:nvPr/>
        </p:nvSpPr>
        <p:spPr>
          <a:xfrm>
            <a:off x="685800" y="5111496"/>
            <a:ext cx="420624" cy="420624"/>
          </a:xfrm>
          <a:prstGeom prst="roundRect">
            <a:avLst>
              <a:gd name="adj" fmla="val 17391"/>
            </a:avLst>
          </a:prstGeom>
          <a:solidFill>
            <a:schemeClr val="accent1"/>
          </a:solidFill>
          <a:ln/>
        </p:spPr>
      </p:sp>
      <p:sp>
        <p:nvSpPr>
          <p:cNvPr id="20" name="Task number"/>
          <p:cNvSpPr txBox="1"/>
          <p:nvPr/>
        </p:nvSpPr>
        <p:spPr>
          <a:xfrm>
            <a:off x="685800" y="511149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1" name="Task text"/>
          <p:cNvSpPr txBox="1"/>
          <p:nvPr/>
        </p:nvSpPr>
        <p:spPr>
          <a:xfrm>
            <a:off x="1234440" y="4855464"/>
            <a:ext cx="2331720" cy="932688"/>
          </a:xfrm>
          <a:prstGeom prst="rect">
            <a:avLst/>
          </a:prstGeom>
          <a:noFill/>
          <a:ln/>
        </p:spPr>
        <p:txBody>
          <a:bodyPr wrap="square" lIns="0" tIns="0" rIns="0" bIns="0" rtlCol="0" anchor="ctr"/>
          <a:lstStyle/>
          <a:p>
            <a:pPr indent="0" marL="0">
              <a:buNone/>
            </a:pPr>
            <a:r>
              <a:rPr lang="en-US" sz="1150" dirty="0">
                <a:solidFill>
                  <a:schemeClr val="tx1"/>
                </a:solidFill>
              </a:rPr>
              <a:t>From main, branch again. Change the same line to 0.10. Commit.</a:t>
            </a:r>
            <a:endParaRPr lang="en-US" sz="1150" dirty="0"/>
          </a:p>
        </p:txBody>
      </p:sp>
      <p:sp>
        <p:nvSpPr>
          <p:cNvPr id="22" name="Task 5"/>
          <p:cNvSpPr/>
          <p:nvPr/>
        </p:nvSpPr>
        <p:spPr>
          <a:xfrm>
            <a:off x="3794760" y="1783080"/>
            <a:ext cx="3108960" cy="932688"/>
          </a:xfrm>
          <a:prstGeom prst="roundRect">
            <a:avLst>
              <a:gd name="adj" fmla="val 11765"/>
            </a:avLst>
          </a:prstGeom>
          <a:solidFill>
            <a:schemeClr val="bg2"/>
          </a:solidFill>
          <a:ln/>
        </p:spPr>
      </p:sp>
      <p:sp>
        <p:nvSpPr>
          <p:cNvPr id="23" name="Task chip 5"/>
          <p:cNvSpPr/>
          <p:nvPr/>
        </p:nvSpPr>
        <p:spPr>
          <a:xfrm>
            <a:off x="3931920" y="2039112"/>
            <a:ext cx="420624" cy="420624"/>
          </a:xfrm>
          <a:prstGeom prst="roundRect">
            <a:avLst>
              <a:gd name="adj" fmla="val 17391"/>
            </a:avLst>
          </a:prstGeom>
          <a:solidFill>
            <a:schemeClr val="accent1"/>
          </a:solidFill>
          <a:ln/>
        </p:spPr>
      </p:sp>
      <p:sp>
        <p:nvSpPr>
          <p:cNvPr id="24" name="Task number"/>
          <p:cNvSpPr txBox="1"/>
          <p:nvPr/>
        </p:nvSpPr>
        <p:spPr>
          <a:xfrm>
            <a:off x="3931920" y="203911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25" name="Task text"/>
          <p:cNvSpPr txBox="1"/>
          <p:nvPr/>
        </p:nvSpPr>
        <p:spPr>
          <a:xfrm>
            <a:off x="4480560" y="1783080"/>
            <a:ext cx="2331720" cy="932688"/>
          </a:xfrm>
          <a:prstGeom prst="rect">
            <a:avLst/>
          </a:prstGeom>
          <a:noFill/>
          <a:ln/>
        </p:spPr>
        <p:txBody>
          <a:bodyPr wrap="square" lIns="0" tIns="0" rIns="0" bIns="0" rtlCol="0" anchor="ctr"/>
          <a:lstStyle/>
          <a:p>
            <a:pPr indent="0" marL="0">
              <a:buNone/>
            </a:pPr>
            <a:r>
              <a:rPr lang="en-US" sz="1150" dirty="0">
                <a:solidFill>
                  <a:schemeClr val="tx1"/>
                </a:solidFill>
              </a:rPr>
              <a:t>Merge the first branch, then the second. Meet the conflict.</a:t>
            </a:r>
            <a:endParaRPr lang="en-US" sz="1150" dirty="0"/>
          </a:p>
        </p:txBody>
      </p:sp>
      <p:sp>
        <p:nvSpPr>
          <p:cNvPr id="26" name="Task 6"/>
          <p:cNvSpPr/>
          <p:nvPr/>
        </p:nvSpPr>
        <p:spPr>
          <a:xfrm>
            <a:off x="3794760" y="2807208"/>
            <a:ext cx="3108960" cy="932688"/>
          </a:xfrm>
          <a:prstGeom prst="roundRect">
            <a:avLst>
              <a:gd name="adj" fmla="val 11765"/>
            </a:avLst>
          </a:prstGeom>
          <a:solidFill>
            <a:schemeClr val="bg2"/>
          </a:solidFill>
          <a:ln/>
        </p:spPr>
      </p:sp>
      <p:sp>
        <p:nvSpPr>
          <p:cNvPr id="27" name="Task chip 6"/>
          <p:cNvSpPr/>
          <p:nvPr/>
        </p:nvSpPr>
        <p:spPr>
          <a:xfrm>
            <a:off x="3931920" y="3063240"/>
            <a:ext cx="420624" cy="420624"/>
          </a:xfrm>
          <a:prstGeom prst="roundRect">
            <a:avLst>
              <a:gd name="adj" fmla="val 17391"/>
            </a:avLst>
          </a:prstGeom>
          <a:solidFill>
            <a:schemeClr val="accent1"/>
          </a:solidFill>
          <a:ln/>
        </p:spPr>
      </p:sp>
      <p:sp>
        <p:nvSpPr>
          <p:cNvPr id="28" name="Task number"/>
          <p:cNvSpPr txBox="1"/>
          <p:nvPr/>
        </p:nvSpPr>
        <p:spPr>
          <a:xfrm>
            <a:off x="3931920"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6</a:t>
            </a:r>
            <a:endParaRPr lang="en-US" sz="1600" dirty="0"/>
          </a:p>
        </p:txBody>
      </p:sp>
      <p:sp>
        <p:nvSpPr>
          <p:cNvPr id="29" name="Task text"/>
          <p:cNvSpPr txBox="1"/>
          <p:nvPr/>
        </p:nvSpPr>
        <p:spPr>
          <a:xfrm>
            <a:off x="4480560" y="2807208"/>
            <a:ext cx="2331720" cy="932688"/>
          </a:xfrm>
          <a:prstGeom prst="rect">
            <a:avLst/>
          </a:prstGeom>
          <a:noFill/>
          <a:ln/>
        </p:spPr>
        <p:txBody>
          <a:bodyPr wrap="square" lIns="0" tIns="0" rIns="0" bIns="0" rtlCol="0" anchor="ctr"/>
          <a:lstStyle/>
          <a:p>
            <a:pPr indent="0" marL="0">
              <a:buNone/>
            </a:pPr>
            <a:r>
              <a:rPr lang="en-US" sz="1150" dirty="0">
                <a:solidFill>
                  <a:schemeClr val="tx1"/>
                </a:solidFill>
              </a:rPr>
              <a:t>Decide what the line should say. Resolve and commit.</a:t>
            </a:r>
            <a:endParaRPr lang="en-US" sz="1150" dirty="0"/>
          </a:p>
        </p:txBody>
      </p:sp>
      <p:sp>
        <p:nvSpPr>
          <p:cNvPr id="30" name="Task 7"/>
          <p:cNvSpPr/>
          <p:nvPr/>
        </p:nvSpPr>
        <p:spPr>
          <a:xfrm>
            <a:off x="3794760" y="3831336"/>
            <a:ext cx="3108960" cy="932688"/>
          </a:xfrm>
          <a:prstGeom prst="roundRect">
            <a:avLst>
              <a:gd name="adj" fmla="val 11765"/>
            </a:avLst>
          </a:prstGeom>
          <a:solidFill>
            <a:schemeClr val="bg2"/>
          </a:solidFill>
          <a:ln/>
        </p:spPr>
      </p:sp>
      <p:sp>
        <p:nvSpPr>
          <p:cNvPr id="31" name="Task chip 7"/>
          <p:cNvSpPr/>
          <p:nvPr/>
        </p:nvSpPr>
        <p:spPr>
          <a:xfrm>
            <a:off x="3931920" y="4087368"/>
            <a:ext cx="420624" cy="420624"/>
          </a:xfrm>
          <a:prstGeom prst="roundRect">
            <a:avLst>
              <a:gd name="adj" fmla="val 17391"/>
            </a:avLst>
          </a:prstGeom>
          <a:solidFill>
            <a:schemeClr val="accent2"/>
          </a:solidFill>
          <a:ln/>
        </p:spPr>
      </p:sp>
      <p:sp>
        <p:nvSpPr>
          <p:cNvPr id="32" name="Task number"/>
          <p:cNvSpPr txBox="1"/>
          <p:nvPr/>
        </p:nvSpPr>
        <p:spPr>
          <a:xfrm>
            <a:off x="3931920" y="40873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7</a:t>
            </a:r>
            <a:endParaRPr lang="en-US" sz="1600" dirty="0"/>
          </a:p>
        </p:txBody>
      </p:sp>
      <p:sp>
        <p:nvSpPr>
          <p:cNvPr id="33" name="Task text"/>
          <p:cNvSpPr txBox="1"/>
          <p:nvPr/>
        </p:nvSpPr>
        <p:spPr>
          <a:xfrm>
            <a:off x="4480560" y="3831336"/>
            <a:ext cx="2331720" cy="932688"/>
          </a:xfrm>
          <a:prstGeom prst="rect">
            <a:avLst/>
          </a:prstGeom>
          <a:noFill/>
          <a:ln/>
        </p:spPr>
        <p:txBody>
          <a:bodyPr wrap="square" lIns="0" tIns="0" rIns="0" bIns="0" rtlCol="0" anchor="ctr"/>
          <a:lstStyle/>
          <a:p>
            <a:pPr indent="0" marL="0">
              <a:buNone/>
            </a:pPr>
            <a:r>
              <a:rPr lang="en-US" sz="1150" dirty="0">
                <a:solidFill>
                  <a:schemeClr val="tx1"/>
                </a:solidFill>
              </a:rPr>
              <a:t>Make a throwaway commit. Revert it. Read the history.</a:t>
            </a:r>
            <a:endParaRPr lang="en-US" sz="1150" dirty="0"/>
          </a:p>
        </p:txBody>
      </p:sp>
      <p:sp>
        <p:nvSpPr>
          <p:cNvPr id="34" name="Task 8"/>
          <p:cNvSpPr/>
          <p:nvPr/>
        </p:nvSpPr>
        <p:spPr>
          <a:xfrm>
            <a:off x="3794760" y="4855464"/>
            <a:ext cx="3108960" cy="932688"/>
          </a:xfrm>
          <a:prstGeom prst="roundRect">
            <a:avLst>
              <a:gd name="adj" fmla="val 11765"/>
            </a:avLst>
          </a:prstGeom>
          <a:solidFill>
            <a:schemeClr val="bg2"/>
          </a:solidFill>
          <a:ln/>
        </p:spPr>
      </p:sp>
      <p:sp>
        <p:nvSpPr>
          <p:cNvPr id="35" name="Task chip 8"/>
          <p:cNvSpPr/>
          <p:nvPr/>
        </p:nvSpPr>
        <p:spPr>
          <a:xfrm>
            <a:off x="3931920" y="5111496"/>
            <a:ext cx="420624" cy="420624"/>
          </a:xfrm>
          <a:prstGeom prst="roundRect">
            <a:avLst>
              <a:gd name="adj" fmla="val 17391"/>
            </a:avLst>
          </a:prstGeom>
          <a:solidFill>
            <a:schemeClr val="accent2"/>
          </a:solidFill>
          <a:ln/>
        </p:spPr>
      </p:sp>
      <p:sp>
        <p:nvSpPr>
          <p:cNvPr id="36" name="Task number"/>
          <p:cNvSpPr txBox="1"/>
          <p:nvPr/>
        </p:nvSpPr>
        <p:spPr>
          <a:xfrm>
            <a:off x="3931920" y="511149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8</a:t>
            </a:r>
            <a:endParaRPr lang="en-US" sz="1600" dirty="0"/>
          </a:p>
        </p:txBody>
      </p:sp>
      <p:sp>
        <p:nvSpPr>
          <p:cNvPr id="37" name="Task text"/>
          <p:cNvSpPr txBox="1"/>
          <p:nvPr/>
        </p:nvSpPr>
        <p:spPr>
          <a:xfrm>
            <a:off x="4480560" y="4855464"/>
            <a:ext cx="2331720" cy="932688"/>
          </a:xfrm>
          <a:prstGeom prst="rect">
            <a:avLst/>
          </a:prstGeom>
          <a:noFill/>
          <a:ln/>
        </p:spPr>
        <p:txBody>
          <a:bodyPr wrap="square" lIns="0" tIns="0" rIns="0" bIns="0" rtlCol="0" anchor="ctr"/>
          <a:lstStyle/>
          <a:p>
            <a:pPr indent="0" marL="0">
              <a:buNone/>
            </a:pPr>
            <a:r>
              <a:rPr lang="en-US" sz="1150" dirty="0">
                <a:solidFill>
                  <a:schemeClr val="tx1"/>
                </a:solidFill>
              </a:rPr>
              <a:t>Tag the result v1.0.0. List the tags.</a:t>
            </a:r>
            <a:endParaRPr lang="en-US" sz="1150" dirty="0"/>
          </a:p>
        </p:txBody>
      </p:sp>
      <p:sp>
        <p:nvSpPr>
          <p:cNvPr id="38" name="Exercise commands"/>
          <p:cNvSpPr/>
          <p:nvPr/>
        </p:nvSpPr>
        <p:spPr>
          <a:xfrm>
            <a:off x="7178040" y="1783080"/>
            <a:ext cx="4462272" cy="2463292"/>
          </a:xfrm>
          <a:prstGeom prst="roundRect">
            <a:avLst>
              <a:gd name="adj" fmla="val 3712"/>
            </a:avLst>
          </a:prstGeom>
          <a:solidFill>
            <a:schemeClr val="tx1"/>
          </a:solidFill>
          <a:ln/>
        </p:spPr>
      </p:sp>
      <p:sp>
        <p:nvSpPr>
          <p:cNvPr id="39" name="Code label"/>
          <p:cNvSpPr txBox="1"/>
          <p:nvPr/>
        </p:nvSpPr>
        <p:spPr>
          <a:xfrm>
            <a:off x="7379208" y="1874520"/>
            <a:ext cx="405993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COMMANDS YOU WILL NEED</a:t>
            </a:r>
            <a:endParaRPr lang="en-US" sz="1000" dirty="0"/>
          </a:p>
        </p:txBody>
      </p:sp>
      <p:sp>
        <p:nvSpPr>
          <p:cNvPr id="40" name="Exercise commands text"/>
          <p:cNvSpPr txBox="1"/>
          <p:nvPr/>
        </p:nvSpPr>
        <p:spPr>
          <a:xfrm>
            <a:off x="7379208" y="2167128"/>
            <a:ext cx="4059936" cy="196951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status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add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fabric</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README.md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.gitignore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"feat: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"AB#1001"</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switch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feat/AB1002-tighter-gate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diff</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add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&amp;&amp;</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"fix(gate):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"AB#1002"</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switch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main</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merge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--no-ff</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feat/AB1002-tighter-gate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merge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--no-ff</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feat/AB1003-looser-gate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revert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--no-edit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HEAD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tag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v1.0.0</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"Release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1.0.0"</a:t>
            </a:r>
            <a:endParaRPr lang="en-US" sz="1000" dirty="0"/>
          </a:p>
        </p:txBody>
      </p:sp>
      <p:sp>
        <p:nvSpPr>
          <p:cNvPr id="41"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Practice repository: the Lab A notebook and Lab B pipeline as Fabric items. The commit-message rail runs as a local hook.</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6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6: what you should see</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30 MIN</a:t>
            </a:r>
            <a:endParaRPr lang="en-US" sz="1100" dirty="0"/>
          </a:p>
        </p:txBody>
      </p:sp>
      <p:sp>
        <p:nvSpPr>
          <p:cNvPr id="6" name="Answer 2"/>
          <p:cNvSpPr/>
          <p:nvPr/>
        </p:nvSpPr>
        <p:spPr>
          <a:xfrm>
            <a:off x="548640" y="1783080"/>
            <a:ext cx="5486400" cy="1097280"/>
          </a:xfrm>
          <a:prstGeom prst="roundRect">
            <a:avLst>
              <a:gd name="adj" fmla="val 8333"/>
            </a:avLst>
          </a:prstGeom>
          <a:solidFill>
            <a:schemeClr val="tx1"/>
          </a:solidFill>
          <a:ln/>
        </p:spPr>
      </p:sp>
      <p:sp>
        <p:nvSpPr>
          <p:cNvPr id="7" name="Code label"/>
          <p:cNvSpPr txBox="1"/>
          <p:nvPr/>
        </p:nvSpPr>
        <p:spPr>
          <a:xfrm>
            <a:off x="749808" y="1874520"/>
            <a:ext cx="50840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2 · THE REJECTION</a:t>
            </a:r>
            <a:endParaRPr lang="en-US" sz="1000" dirty="0"/>
          </a:p>
        </p:txBody>
      </p:sp>
      <p:sp>
        <p:nvSpPr>
          <p:cNvPr id="8" name="Answer 2 text"/>
          <p:cNvSpPr txBox="1"/>
          <p:nvPr/>
        </p:nvSpPr>
        <p:spPr>
          <a:xfrm>
            <a:off x="749808" y="2167128"/>
            <a:ext cx="5084064" cy="60350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commit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message: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subject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must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look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like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'type(scope):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summary'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(72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characters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max)</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commit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message: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reference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work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item,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example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AB#1234</a:t>
            </a:r>
            <a:endParaRPr lang="en-US" sz="1050" dirty="0"/>
          </a:p>
        </p:txBody>
      </p:sp>
      <p:sp>
        <p:nvSpPr>
          <p:cNvPr id="9" name="Answer 3"/>
          <p:cNvSpPr/>
          <p:nvPr/>
        </p:nvSpPr>
        <p:spPr>
          <a:xfrm>
            <a:off x="548640" y="2990088"/>
            <a:ext cx="5486400" cy="822960"/>
          </a:xfrm>
          <a:prstGeom prst="roundRect">
            <a:avLst>
              <a:gd name="adj" fmla="val 11111"/>
            </a:avLst>
          </a:prstGeom>
          <a:solidFill>
            <a:schemeClr val="tx1"/>
          </a:solidFill>
          <a:ln/>
        </p:spPr>
      </p:sp>
      <p:sp>
        <p:nvSpPr>
          <p:cNvPr id="10" name="Code label"/>
          <p:cNvSpPr txBox="1"/>
          <p:nvPr/>
        </p:nvSpPr>
        <p:spPr>
          <a:xfrm>
            <a:off x="749808" y="3081528"/>
            <a:ext cx="50840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3 · STATUS</a:t>
            </a:r>
            <a:endParaRPr lang="en-US" sz="1000" dirty="0"/>
          </a:p>
        </p:txBody>
      </p:sp>
      <p:sp>
        <p:nvSpPr>
          <p:cNvPr id="11" name="Answer 3 text"/>
          <p:cNvSpPr txBox="1"/>
          <p:nvPr/>
        </p:nvSpPr>
        <p:spPr>
          <a:xfrm>
            <a:off x="749808" y="3374136"/>
            <a:ext cx="5084064" cy="32918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p:txBody>
      </p:sp>
      <p:sp>
        <p:nvSpPr>
          <p:cNvPr id="12" name="Answer 5"/>
          <p:cNvSpPr/>
          <p:nvPr/>
        </p:nvSpPr>
        <p:spPr>
          <a:xfrm>
            <a:off x="548640" y="3922776"/>
            <a:ext cx="5486400" cy="1783080"/>
          </a:xfrm>
          <a:prstGeom prst="roundRect">
            <a:avLst>
              <a:gd name="adj" fmla="val 5128"/>
            </a:avLst>
          </a:prstGeom>
          <a:solidFill>
            <a:schemeClr val="tx1"/>
          </a:solidFill>
          <a:ln/>
        </p:spPr>
      </p:sp>
      <p:sp>
        <p:nvSpPr>
          <p:cNvPr id="13" name="Code label"/>
          <p:cNvSpPr txBox="1"/>
          <p:nvPr/>
        </p:nvSpPr>
        <p:spPr>
          <a:xfrm>
            <a:off x="749808" y="4014216"/>
            <a:ext cx="50840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5 · THE CONFLICT</a:t>
            </a:r>
            <a:endParaRPr lang="en-US" sz="1000" dirty="0"/>
          </a:p>
        </p:txBody>
      </p:sp>
      <p:sp>
        <p:nvSpPr>
          <p:cNvPr id="14" name="Answer 5 text"/>
          <p:cNvSpPr txBox="1"/>
          <p:nvPr/>
        </p:nvSpPr>
        <p:spPr>
          <a:xfrm>
            <a:off x="749808" y="4306824"/>
            <a:ext cx="5084064" cy="128930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Auto-merging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CONFLICT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(content):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conflict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Automatic</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fix</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conflicts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and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commit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result.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UU</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p:txBody>
      </p:sp>
      <p:sp>
        <p:nvSpPr>
          <p:cNvPr id="15" name="Answer 6"/>
          <p:cNvSpPr/>
          <p:nvPr/>
        </p:nvSpPr>
        <p:spPr>
          <a:xfrm>
            <a:off x="6172200" y="1783080"/>
            <a:ext cx="5468112" cy="2385822"/>
          </a:xfrm>
          <a:prstGeom prst="roundRect">
            <a:avLst>
              <a:gd name="adj" fmla="val 3833"/>
            </a:avLst>
          </a:prstGeom>
          <a:solidFill>
            <a:schemeClr val="tx1"/>
          </a:solidFill>
          <a:ln/>
        </p:spPr>
      </p:sp>
      <p:sp>
        <p:nvSpPr>
          <p:cNvPr id="16" name="Code label"/>
          <p:cNvSpPr txBox="1"/>
          <p:nvPr/>
        </p:nvSpPr>
        <p:spPr>
          <a:xfrm>
            <a:off x="6373368" y="187452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6 · THE HISTORY</a:t>
            </a:r>
            <a:endParaRPr lang="en-US" sz="1000" dirty="0"/>
          </a:p>
        </p:txBody>
      </p:sp>
      <p:sp>
        <p:nvSpPr>
          <p:cNvPr id="17" name="Answer 6 text"/>
          <p:cNvSpPr txBox="1"/>
          <p:nvPr/>
        </p:nvSpPr>
        <p:spPr>
          <a:xfrm>
            <a:off x="6373368" y="2167128"/>
            <a:ext cx="5065776" cy="1892046"/>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dbc5f1d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AB#1003:</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looser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2d1812f</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fix(gate):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allow</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ten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cents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of</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rounding</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40374a1</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AB#1002: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tighter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6ae6f28</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fix(gate):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tighten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tie-out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tolerance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cent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2f446a2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feat: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add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apportionment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notebook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and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pipeline</a:t>
            </a:r>
            <a:endParaRPr lang="en-US" sz="1050" dirty="0"/>
          </a:p>
        </p:txBody>
      </p:sp>
      <p:sp>
        <p:nvSpPr>
          <p:cNvPr id="18" name="Answer 8"/>
          <p:cNvSpPr/>
          <p:nvPr/>
        </p:nvSpPr>
        <p:spPr>
          <a:xfrm>
            <a:off x="6172200" y="4389120"/>
            <a:ext cx="5468112" cy="868680"/>
          </a:xfrm>
          <a:prstGeom prst="roundRect">
            <a:avLst>
              <a:gd name="adj" fmla="val 10526"/>
            </a:avLst>
          </a:prstGeom>
          <a:solidFill>
            <a:schemeClr val="tx1"/>
          </a:solidFill>
          <a:ln/>
        </p:spPr>
      </p:sp>
      <p:sp>
        <p:nvSpPr>
          <p:cNvPr id="19" name="Code label"/>
          <p:cNvSpPr txBox="1"/>
          <p:nvPr/>
        </p:nvSpPr>
        <p:spPr>
          <a:xfrm>
            <a:off x="6373368" y="448056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8 · THE TAG</a:t>
            </a:r>
            <a:endParaRPr lang="en-US" sz="1000" dirty="0"/>
          </a:p>
        </p:txBody>
      </p:sp>
      <p:sp>
        <p:nvSpPr>
          <p:cNvPr id="20" name="Answer 8 text"/>
          <p:cNvSpPr txBox="1"/>
          <p:nvPr/>
        </p:nvSpPr>
        <p:spPr>
          <a:xfrm>
            <a:off x="6373368" y="4773168"/>
            <a:ext cx="5065776" cy="37490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v1.0.0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Release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1.0.0</a:t>
            </a:r>
            <a:endParaRPr lang="en-US" sz="1050" dirty="0"/>
          </a:p>
        </p:txBody>
      </p:sp>
      <p:sp>
        <p:nvSpPr>
          <p:cNvPr id="21" name="Footnote"/>
          <p:cNvSpPr txBox="1"/>
          <p:nvPr/>
        </p:nvSpPr>
        <p:spPr>
          <a:xfrm>
            <a:off x="548640" y="58064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Real output from the practice repository. Commit IDs differ on your machine.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Environments: the same items, different surroundings</a:t>
            </a:r>
            <a:endParaRPr lang="en-US" sz="3200" dirty="0"/>
          </a:p>
        </p:txBody>
      </p:sp>
      <p:graphicFrame>
        <p:nvGraphicFramePr>
          <p:cNvPr id="25" name="Environment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920240"/>
                <a:gridCol w="3054096"/>
                <a:gridCol w="3054096"/>
                <a:gridCol w="3063240"/>
              </a:tblGrid>
              <a:tr h="384048">
                <a:tc>
                  <a:txBody>
                    <a:bodyPr/>
                    <a:lstStyle/>
                    <a:p>
                      <a:pPr indent="0" marL="0">
                        <a:buNone/>
                      </a:pP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DEV</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TEST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PROD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621792">
                <a:tc>
                  <a:txBody>
                    <a:bodyPr/>
                    <a:lstStyle/>
                    <a:p>
                      <a:pPr indent="0" marL="0">
                        <a:buNone/>
                      </a:pPr>
                      <a:r>
                        <a:rPr lang="en-US" sz="1250" b="1" dirty="0">
                          <a:solidFill>
                            <a:schemeClr val="tx1"/>
                          </a:solidFill>
                        </a:rPr>
                        <a:t>Purpose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Build and try. Breaking things is fine.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Prove it works as it will in production. UAT happens here.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Run the business.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250" b="1" dirty="0">
                          <a:solidFill>
                            <a:schemeClr val="tx1"/>
                          </a:solidFill>
                        </a:rPr>
                        <a:t>Data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Invented, or small samples.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Representative, and approved for testing.</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The real thing.</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250" b="1" dirty="0">
                          <a:solidFill>
                            <a:schemeClr val="tx1"/>
                          </a:solidFill>
                        </a:rPr>
                        <a:t>Who changes it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Developers, through branches.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The pipeline, after a merge.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The pipeline, after sign-off and approval.</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250" b="1" dirty="0">
                          <a:solidFill>
                            <a:schemeClr val="tx1"/>
                          </a:solidFill>
                        </a:rPr>
                        <a:t>Runs as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Your own identity.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 service identity for TEST.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 separate, tightly scoped identity.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250" b="1" dirty="0">
                          <a:solidFill>
                            <a:schemeClr val="tx1"/>
                          </a:solidFill>
                        </a:rPr>
                        <a:t>Schedules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Off.</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On request.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486400"/>
            <a:ext cx="11094415" cy="548640"/>
          </a:xfrm>
          <a:prstGeom prst="roundRect">
            <a:avLst>
              <a:gd name="adj" fmla="val 16667"/>
            </a:avLst>
          </a:prstGeom>
          <a:solidFill>
            <a:schemeClr val="tx1"/>
          </a:solidFill>
          <a:ln/>
        </p:spPr>
        <p:txBody>
          <a:bodyPr wrap="square" lIns="279400" tIns="0" rIns="279400" bIns="0" rtlCol="0" anchor="ctr"/>
          <a:lstStyle/>
          <a:p>
            <a:pPr indent="0" marL="0">
              <a:buNone/>
            </a:pPr>
            <a:r>
              <a:rPr lang="en-US" sz="1600" i="1" dirty="0">
                <a:solidFill>
                  <a:schemeClr val="bg1"/>
                </a:solidFill>
              </a:rPr>
              <a:t>Nobody edits TEST or production by hand. They change when a pipeline promotes a reviewed change.</a:t>
            </a:r>
            <a:endParaRPr lang="en-US" sz="1600" dirty="0"/>
          </a:p>
        </p:txBody>
      </p:sp>
      <p:sp>
        <p:nvSpPr>
          <p:cNvPr id="7"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 common pattern. Disney's own standard governs the details, including data rules for TEST.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Three ways to move a change, and how to choose</a:t>
            </a:r>
            <a:endParaRPr lang="en-US" sz="3200" dirty="0"/>
          </a:p>
        </p:txBody>
      </p:sp>
      <p:graphicFrame>
        <p:nvGraphicFramePr>
          <p:cNvPr id="26" name="Deployment pattern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554480"/>
                <a:gridCol w="3200400"/>
                <a:gridCol w="3200400"/>
                <a:gridCol w="3136392"/>
              </a:tblGrid>
              <a:tr h="384048">
                <a:tc>
                  <a:txBody>
                    <a:bodyPr/>
                    <a:lstStyle/>
                    <a:p>
                      <a:pPr indent="0" marL="0">
                        <a:buNone/>
                      </a:pP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Fabric deployment pipelines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Git-driven promotion</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Code-first CI/CD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777240">
                <a:tc>
                  <a:txBody>
                    <a:bodyPr/>
                    <a:lstStyle/>
                    <a:p>
                      <a:pPr indent="0" marL="0">
                        <a:buNone/>
                      </a:pPr>
                      <a:r>
                        <a:rPr lang="en-US" sz="1150" b="1" dirty="0">
                          <a:solidFill>
                            <a:schemeClr val="tx1"/>
                          </a:solidFill>
                        </a:rPr>
                        <a:t>How it works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 workspace per stage. Deploy forward in the Fabric UI. Rules swap values.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Each stage's workspace tracks a branch. Merge, then update the workspace.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An Azure pipeline publishes the repository to a target workspace with a script.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indent="0" marL="0">
                        <a:buNone/>
                      </a:pPr>
                      <a:r>
                        <a:rPr lang="en-US" sz="1150" b="1" dirty="0">
                          <a:solidFill>
                            <a:schemeClr val="tx1"/>
                          </a:solidFill>
                        </a:rPr>
                        <a:t>Good for</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Getting started. Small teams. No code.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Teams that like to see every stage as a branch.</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Repeatable releases with approvals and rails.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777240">
                <a:tc>
                  <a:txBody>
                    <a:bodyPr/>
                    <a:lstStyle/>
                    <a:p>
                      <a:pPr indent="0" marL="0">
                        <a:buNone/>
                      </a:pPr>
                      <a:r>
                        <a:rPr lang="en-US" sz="1150" b="1" dirty="0">
                          <a:solidFill>
                            <a:schemeClr val="tx1"/>
                          </a:solidFill>
                        </a:rPr>
                        <a:t>Control</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Medium. Clicks, with rules.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Medium. Merges are the control.</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Highest. Everything is a reviewed file.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indent="0" marL="0">
                        <a:buNone/>
                      </a:pPr>
                      <a:r>
                        <a:rPr lang="en-US" sz="1150" b="1" dirty="0">
                          <a:solidFill>
                            <a:schemeClr val="tx1"/>
                          </a:solidFill>
                        </a:rPr>
                        <a:t>Watch for</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Item types and settings that are not covered. Manual clicks.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Many merges. TEST drifts from DEV.</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Most setup: identities, connections, approvals.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Lab note"/>
          <p:cNvSpPr/>
          <p:nvPr/>
        </p:nvSpPr>
        <p:spPr>
          <a:xfrm>
            <a:off x="548640" y="5486400"/>
            <a:ext cx="11094415" cy="566928"/>
          </a:xfrm>
          <a:prstGeom prst="roundRect">
            <a:avLst>
              <a:gd name="adj" fmla="val 19355"/>
            </a:avLst>
          </a:prstGeom>
          <a:solidFill>
            <a:schemeClr val="accent2">
              <a:alpha val="20000"/>
            </a:schemeClr>
          </a:solidFill>
          <a:ln/>
        </p:spPr>
      </p:sp>
      <p:sp>
        <p:nvSpPr>
          <p:cNvPr id="7" name="Lab note text"/>
          <p:cNvSpPr txBox="1"/>
          <p:nvPr/>
        </p:nvSpPr>
        <p:spPr>
          <a:xfrm>
            <a:off x="777240" y="5486400"/>
            <a:ext cx="10637215" cy="566928"/>
          </a:xfrm>
          <a:prstGeom prst="rect">
            <a:avLst/>
          </a:prstGeom>
          <a:noFill/>
          <a:ln/>
        </p:spPr>
        <p:txBody>
          <a:bodyPr wrap="square" lIns="0" tIns="0" rIns="0" bIns="0" rtlCol="0" anchor="ctr"/>
          <a:lstStyle/>
          <a:p>
            <a:pPr indent="0" marL="0">
              <a:buNone/>
            </a:pPr>
            <a:r>
              <a:rPr lang="en-US" sz="1350" b="1" dirty="0">
                <a:solidFill>
                  <a:schemeClr val="tx1"/>
                </a:solidFill>
              </a:rPr>
              <a:t>Lab C </a:t>
            </a:r>
            <a:pPr indent="0" marL="0">
              <a:buNone/>
            </a:pPr>
            <a:r>
              <a:rPr lang="en-US" sz="1350" dirty="0">
                <a:solidFill>
                  <a:schemeClr val="tx1"/>
                </a:solidFill>
              </a:rPr>
              <a:t>uses code-first CI/CD, with deployment pipelines as the alternative path.</a:t>
            </a:r>
            <a:endParaRPr lang="en-US" sz="1350" dirty="0"/>
          </a:p>
        </p:txBody>
      </p:sp>
      <p:sp>
        <p:nvSpPr>
          <p:cNvPr id="8" name="Footnote"/>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Pick one family per team and use it everywhere.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Fabric deployment pipelines in six moves</a:t>
            </a:r>
            <a:endParaRPr lang="en-US" sz="3200" dirty="0"/>
          </a:p>
        </p:txBody>
      </p:sp>
      <p:sp>
        <p:nvSpPr>
          <p:cNvPr id="5" name="Create the pipeline card"/>
          <p:cNvSpPr/>
          <p:nvPr/>
        </p:nvSpPr>
        <p:spPr>
          <a:xfrm>
            <a:off x="548640" y="1783080"/>
            <a:ext cx="3593592" cy="1554480"/>
          </a:xfrm>
          <a:prstGeom prst="roundRect">
            <a:avLst>
              <a:gd name="adj" fmla="val 7059"/>
            </a:avLst>
          </a:prstGeom>
          <a:solidFill>
            <a:schemeClr val="bg2"/>
          </a:solidFill>
          <a:ln/>
        </p:spPr>
      </p:sp>
      <p:sp>
        <p:nvSpPr>
          <p:cNvPr id="6" name="Move chip 1"/>
          <p:cNvSpPr/>
          <p:nvPr/>
        </p:nvSpPr>
        <p:spPr>
          <a:xfrm>
            <a:off x="731520" y="1965960"/>
            <a:ext cx="420624" cy="420624"/>
          </a:xfrm>
          <a:prstGeom prst="roundRect">
            <a:avLst>
              <a:gd name="adj" fmla="val 17391"/>
            </a:avLst>
          </a:prstGeom>
          <a:solidFill>
            <a:schemeClr val="accent1"/>
          </a:solidFill>
          <a:ln/>
        </p:spPr>
      </p:sp>
      <p:sp>
        <p:nvSpPr>
          <p:cNvPr id="7" name="Move number"/>
          <p:cNvSpPr txBox="1"/>
          <p:nvPr/>
        </p:nvSpPr>
        <p:spPr>
          <a:xfrm>
            <a:off x="731520"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Move title"/>
          <p:cNvSpPr txBox="1"/>
          <p:nvPr/>
        </p:nvSpPr>
        <p:spPr>
          <a:xfrm>
            <a:off x="1325880" y="1965960"/>
            <a:ext cx="269748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Create the pipeline</a:t>
            </a:r>
            <a:endParaRPr lang="en-US" sz="1600" dirty="0"/>
          </a:p>
        </p:txBody>
      </p:sp>
      <p:sp>
        <p:nvSpPr>
          <p:cNvPr id="9" name="Move text"/>
          <p:cNvSpPr txBox="1"/>
          <p:nvPr/>
        </p:nvSpPr>
        <p:spPr>
          <a:xfrm>
            <a:off x="777240" y="2560320"/>
            <a:ext cx="3200400" cy="685800"/>
          </a:xfrm>
          <a:prstGeom prst="rect">
            <a:avLst/>
          </a:prstGeom>
          <a:noFill/>
          <a:ln/>
        </p:spPr>
        <p:txBody>
          <a:bodyPr wrap="square" lIns="0" tIns="0" rIns="0" bIns="0" rtlCol="0" anchor="t"/>
          <a:lstStyle/>
          <a:p>
            <a:pPr indent="0" marL="0">
              <a:buNone/>
            </a:pPr>
            <a:r>
              <a:rPr lang="en-US" sz="1350" dirty="0">
                <a:solidFill>
                  <a:schemeClr val="tx1"/>
                </a:solidFill>
              </a:rPr>
              <a:t>Development, test and production stages.</a:t>
            </a:r>
            <a:endParaRPr lang="en-US" sz="1350" dirty="0"/>
          </a:p>
        </p:txBody>
      </p:sp>
      <p:sp>
        <p:nvSpPr>
          <p:cNvPr id="10" name="Assign a workspace card"/>
          <p:cNvSpPr/>
          <p:nvPr/>
        </p:nvSpPr>
        <p:spPr>
          <a:xfrm>
            <a:off x="4297680" y="1783080"/>
            <a:ext cx="3593592" cy="1554480"/>
          </a:xfrm>
          <a:prstGeom prst="roundRect">
            <a:avLst>
              <a:gd name="adj" fmla="val 7059"/>
            </a:avLst>
          </a:prstGeom>
          <a:solidFill>
            <a:schemeClr val="bg2"/>
          </a:solidFill>
          <a:ln/>
        </p:spPr>
      </p:sp>
      <p:sp>
        <p:nvSpPr>
          <p:cNvPr id="11" name="Move chip 2"/>
          <p:cNvSpPr/>
          <p:nvPr/>
        </p:nvSpPr>
        <p:spPr>
          <a:xfrm>
            <a:off x="4480560" y="1965960"/>
            <a:ext cx="420624" cy="420624"/>
          </a:xfrm>
          <a:prstGeom prst="roundRect">
            <a:avLst>
              <a:gd name="adj" fmla="val 17391"/>
            </a:avLst>
          </a:prstGeom>
          <a:solidFill>
            <a:schemeClr val="accent1"/>
          </a:solidFill>
          <a:ln/>
        </p:spPr>
      </p:sp>
      <p:sp>
        <p:nvSpPr>
          <p:cNvPr id="12" name="Move number"/>
          <p:cNvSpPr txBox="1"/>
          <p:nvPr/>
        </p:nvSpPr>
        <p:spPr>
          <a:xfrm>
            <a:off x="4480560"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3" name="Move title"/>
          <p:cNvSpPr txBox="1"/>
          <p:nvPr/>
        </p:nvSpPr>
        <p:spPr>
          <a:xfrm>
            <a:off x="5074920" y="1965960"/>
            <a:ext cx="269748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Assign a workspace</a:t>
            </a:r>
            <a:endParaRPr lang="en-US" sz="1600" dirty="0"/>
          </a:p>
        </p:txBody>
      </p:sp>
      <p:sp>
        <p:nvSpPr>
          <p:cNvPr id="14" name="Move text"/>
          <p:cNvSpPr txBox="1"/>
          <p:nvPr/>
        </p:nvSpPr>
        <p:spPr>
          <a:xfrm>
            <a:off x="4526280" y="2560320"/>
            <a:ext cx="3200400" cy="685800"/>
          </a:xfrm>
          <a:prstGeom prst="rect">
            <a:avLst/>
          </a:prstGeom>
          <a:noFill/>
          <a:ln/>
        </p:spPr>
        <p:txBody>
          <a:bodyPr wrap="square" lIns="0" tIns="0" rIns="0" bIns="0" rtlCol="0" anchor="t"/>
          <a:lstStyle/>
          <a:p>
            <a:pPr indent="0" marL="0">
              <a:buNone/>
            </a:pPr>
            <a:r>
              <a:rPr lang="en-US" sz="1350" dirty="0">
                <a:solidFill>
                  <a:schemeClr val="tx1"/>
                </a:solidFill>
              </a:rPr>
              <a:t>One workspace per stage.</a:t>
            </a:r>
            <a:endParaRPr lang="en-US" sz="1350" dirty="0"/>
          </a:p>
        </p:txBody>
      </p:sp>
      <p:sp>
        <p:nvSpPr>
          <p:cNvPr id="15" name="Compare card"/>
          <p:cNvSpPr/>
          <p:nvPr/>
        </p:nvSpPr>
        <p:spPr>
          <a:xfrm>
            <a:off x="8046720" y="1783080"/>
            <a:ext cx="3593592" cy="1554480"/>
          </a:xfrm>
          <a:prstGeom prst="roundRect">
            <a:avLst>
              <a:gd name="adj" fmla="val 7059"/>
            </a:avLst>
          </a:prstGeom>
          <a:solidFill>
            <a:schemeClr val="bg2"/>
          </a:solidFill>
          <a:ln/>
        </p:spPr>
      </p:sp>
      <p:sp>
        <p:nvSpPr>
          <p:cNvPr id="16" name="Move chip 3"/>
          <p:cNvSpPr/>
          <p:nvPr/>
        </p:nvSpPr>
        <p:spPr>
          <a:xfrm>
            <a:off x="8229600" y="1965960"/>
            <a:ext cx="420624" cy="420624"/>
          </a:xfrm>
          <a:prstGeom prst="roundRect">
            <a:avLst>
              <a:gd name="adj" fmla="val 17391"/>
            </a:avLst>
          </a:prstGeom>
          <a:solidFill>
            <a:schemeClr val="accent1"/>
          </a:solidFill>
          <a:ln/>
        </p:spPr>
      </p:sp>
      <p:sp>
        <p:nvSpPr>
          <p:cNvPr id="17" name="Move number"/>
          <p:cNvSpPr txBox="1"/>
          <p:nvPr/>
        </p:nvSpPr>
        <p:spPr>
          <a:xfrm>
            <a:off x="8229600"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8" name="Move title"/>
          <p:cNvSpPr txBox="1"/>
          <p:nvPr/>
        </p:nvSpPr>
        <p:spPr>
          <a:xfrm>
            <a:off x="8823960" y="1965960"/>
            <a:ext cx="269748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Compare</a:t>
            </a:r>
            <a:endParaRPr lang="en-US" sz="1600" dirty="0"/>
          </a:p>
        </p:txBody>
      </p:sp>
      <p:sp>
        <p:nvSpPr>
          <p:cNvPr id="19" name="Move text"/>
          <p:cNvSpPr txBox="1"/>
          <p:nvPr/>
        </p:nvSpPr>
        <p:spPr>
          <a:xfrm>
            <a:off x="8275320" y="2560320"/>
            <a:ext cx="3200400" cy="685800"/>
          </a:xfrm>
          <a:prstGeom prst="rect">
            <a:avLst/>
          </a:prstGeom>
          <a:noFill/>
          <a:ln/>
        </p:spPr>
        <p:txBody>
          <a:bodyPr wrap="square" lIns="0" tIns="0" rIns="0" bIns="0" rtlCol="0" anchor="t"/>
          <a:lstStyle/>
          <a:p>
            <a:pPr indent="0" marL="0">
              <a:buNone/>
            </a:pPr>
            <a:r>
              <a:rPr lang="en-US" sz="1350" dirty="0">
                <a:solidFill>
                  <a:schemeClr val="tx1"/>
                </a:solidFill>
              </a:rPr>
              <a:t>See what differs before you deploy.</a:t>
            </a:r>
            <a:endParaRPr lang="en-US" sz="1350" dirty="0"/>
          </a:p>
        </p:txBody>
      </p:sp>
      <p:sp>
        <p:nvSpPr>
          <p:cNvPr id="20" name="Set rules card"/>
          <p:cNvSpPr/>
          <p:nvPr/>
        </p:nvSpPr>
        <p:spPr>
          <a:xfrm>
            <a:off x="548640" y="3474720"/>
            <a:ext cx="3593592" cy="1554480"/>
          </a:xfrm>
          <a:prstGeom prst="roundRect">
            <a:avLst>
              <a:gd name="adj" fmla="val 7059"/>
            </a:avLst>
          </a:prstGeom>
          <a:solidFill>
            <a:schemeClr val="bg2"/>
          </a:solidFill>
          <a:ln/>
        </p:spPr>
      </p:sp>
      <p:sp>
        <p:nvSpPr>
          <p:cNvPr id="21" name="Move chip 4"/>
          <p:cNvSpPr/>
          <p:nvPr/>
        </p:nvSpPr>
        <p:spPr>
          <a:xfrm>
            <a:off x="731520" y="3657600"/>
            <a:ext cx="420624" cy="420624"/>
          </a:xfrm>
          <a:prstGeom prst="roundRect">
            <a:avLst>
              <a:gd name="adj" fmla="val 17391"/>
            </a:avLst>
          </a:prstGeom>
          <a:solidFill>
            <a:schemeClr val="accent1"/>
          </a:solidFill>
          <a:ln/>
        </p:spPr>
      </p:sp>
      <p:sp>
        <p:nvSpPr>
          <p:cNvPr id="22" name="Move number"/>
          <p:cNvSpPr txBox="1"/>
          <p:nvPr/>
        </p:nvSpPr>
        <p:spPr>
          <a:xfrm>
            <a:off x="731520" y="36576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3" name="Move title"/>
          <p:cNvSpPr txBox="1"/>
          <p:nvPr/>
        </p:nvSpPr>
        <p:spPr>
          <a:xfrm>
            <a:off x="1325880" y="3657600"/>
            <a:ext cx="269748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Set rules</a:t>
            </a:r>
            <a:endParaRPr lang="en-US" sz="1600" dirty="0"/>
          </a:p>
        </p:txBody>
      </p:sp>
      <p:sp>
        <p:nvSpPr>
          <p:cNvPr id="24" name="Move text"/>
          <p:cNvSpPr txBox="1"/>
          <p:nvPr/>
        </p:nvSpPr>
        <p:spPr>
          <a:xfrm>
            <a:off x="777240" y="4251960"/>
            <a:ext cx="3200400" cy="685800"/>
          </a:xfrm>
          <a:prstGeom prst="rect">
            <a:avLst/>
          </a:prstGeom>
          <a:noFill/>
          <a:ln/>
        </p:spPr>
        <p:txBody>
          <a:bodyPr wrap="square" lIns="0" tIns="0" rIns="0" bIns="0" rtlCol="0" anchor="t"/>
          <a:lstStyle/>
          <a:p>
            <a:pPr indent="0" marL="0">
              <a:buNone/>
            </a:pPr>
            <a:r>
              <a:rPr lang="en-US" sz="1350" dirty="0">
                <a:solidFill>
                  <a:schemeClr val="tx1"/>
                </a:solidFill>
              </a:rPr>
              <a:t>Swap data sources, parameters, default lakehouse.</a:t>
            </a:r>
            <a:endParaRPr lang="en-US" sz="1350" dirty="0"/>
          </a:p>
        </p:txBody>
      </p:sp>
      <p:sp>
        <p:nvSpPr>
          <p:cNvPr id="25" name="Deploy forward card"/>
          <p:cNvSpPr/>
          <p:nvPr/>
        </p:nvSpPr>
        <p:spPr>
          <a:xfrm>
            <a:off x="4297680" y="3474720"/>
            <a:ext cx="3593592" cy="1554480"/>
          </a:xfrm>
          <a:prstGeom prst="roundRect">
            <a:avLst>
              <a:gd name="adj" fmla="val 7059"/>
            </a:avLst>
          </a:prstGeom>
          <a:solidFill>
            <a:schemeClr val="bg2"/>
          </a:solidFill>
          <a:ln/>
        </p:spPr>
      </p:sp>
      <p:sp>
        <p:nvSpPr>
          <p:cNvPr id="26" name="Move chip 5"/>
          <p:cNvSpPr/>
          <p:nvPr/>
        </p:nvSpPr>
        <p:spPr>
          <a:xfrm>
            <a:off x="4480560" y="3657600"/>
            <a:ext cx="420624" cy="420624"/>
          </a:xfrm>
          <a:prstGeom prst="roundRect">
            <a:avLst>
              <a:gd name="adj" fmla="val 17391"/>
            </a:avLst>
          </a:prstGeom>
          <a:solidFill>
            <a:schemeClr val="accent1"/>
          </a:solidFill>
          <a:ln/>
        </p:spPr>
      </p:sp>
      <p:sp>
        <p:nvSpPr>
          <p:cNvPr id="27" name="Move number"/>
          <p:cNvSpPr txBox="1"/>
          <p:nvPr/>
        </p:nvSpPr>
        <p:spPr>
          <a:xfrm>
            <a:off x="4480560" y="36576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28" name="Move title"/>
          <p:cNvSpPr txBox="1"/>
          <p:nvPr/>
        </p:nvSpPr>
        <p:spPr>
          <a:xfrm>
            <a:off x="5074920" y="3657600"/>
            <a:ext cx="269748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Deploy forward</a:t>
            </a:r>
            <a:endParaRPr lang="en-US" sz="1600" dirty="0"/>
          </a:p>
        </p:txBody>
      </p:sp>
      <p:sp>
        <p:nvSpPr>
          <p:cNvPr id="29" name="Move text"/>
          <p:cNvSpPr txBox="1"/>
          <p:nvPr/>
        </p:nvSpPr>
        <p:spPr>
          <a:xfrm>
            <a:off x="4526280" y="4251960"/>
            <a:ext cx="3200400" cy="685800"/>
          </a:xfrm>
          <a:prstGeom prst="rect">
            <a:avLst/>
          </a:prstGeom>
          <a:noFill/>
          <a:ln/>
        </p:spPr>
        <p:txBody>
          <a:bodyPr wrap="square" lIns="0" tIns="0" rIns="0" bIns="0" rtlCol="0" anchor="t"/>
          <a:lstStyle/>
          <a:p>
            <a:pPr indent="0" marL="0">
              <a:buNone/>
            </a:pPr>
            <a:r>
              <a:rPr lang="en-US" sz="1350" dirty="0">
                <a:solidFill>
                  <a:schemeClr val="tx1"/>
                </a:solidFill>
              </a:rPr>
              <a:t>All items, or a selection.</a:t>
            </a:r>
            <a:endParaRPr lang="en-US" sz="1350" dirty="0"/>
          </a:p>
        </p:txBody>
      </p:sp>
      <p:sp>
        <p:nvSpPr>
          <p:cNvPr id="30" name="Verify card"/>
          <p:cNvSpPr/>
          <p:nvPr/>
        </p:nvSpPr>
        <p:spPr>
          <a:xfrm>
            <a:off x="8046720" y="3474720"/>
            <a:ext cx="3593592" cy="1554480"/>
          </a:xfrm>
          <a:prstGeom prst="roundRect">
            <a:avLst>
              <a:gd name="adj" fmla="val 7059"/>
            </a:avLst>
          </a:prstGeom>
          <a:solidFill>
            <a:schemeClr val="accent2">
              <a:alpha val="20000"/>
            </a:schemeClr>
          </a:solidFill>
          <a:ln/>
        </p:spPr>
      </p:sp>
      <p:sp>
        <p:nvSpPr>
          <p:cNvPr id="31" name="Move chip 6"/>
          <p:cNvSpPr/>
          <p:nvPr/>
        </p:nvSpPr>
        <p:spPr>
          <a:xfrm>
            <a:off x="8229600" y="3657600"/>
            <a:ext cx="420624" cy="420624"/>
          </a:xfrm>
          <a:prstGeom prst="roundRect">
            <a:avLst>
              <a:gd name="adj" fmla="val 17391"/>
            </a:avLst>
          </a:prstGeom>
          <a:solidFill>
            <a:schemeClr val="accent2"/>
          </a:solidFill>
          <a:ln/>
        </p:spPr>
      </p:sp>
      <p:sp>
        <p:nvSpPr>
          <p:cNvPr id="32" name="Move number"/>
          <p:cNvSpPr txBox="1"/>
          <p:nvPr/>
        </p:nvSpPr>
        <p:spPr>
          <a:xfrm>
            <a:off x="8229600" y="36576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6</a:t>
            </a:r>
            <a:endParaRPr lang="en-US" sz="1600" dirty="0"/>
          </a:p>
        </p:txBody>
      </p:sp>
      <p:sp>
        <p:nvSpPr>
          <p:cNvPr id="33" name="Move title"/>
          <p:cNvSpPr txBox="1"/>
          <p:nvPr/>
        </p:nvSpPr>
        <p:spPr>
          <a:xfrm>
            <a:off x="8823960" y="3657600"/>
            <a:ext cx="269748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Verify</a:t>
            </a:r>
            <a:endParaRPr lang="en-US" sz="1600" dirty="0"/>
          </a:p>
        </p:txBody>
      </p:sp>
      <p:sp>
        <p:nvSpPr>
          <p:cNvPr id="34" name="Move text"/>
          <p:cNvSpPr txBox="1"/>
          <p:nvPr/>
        </p:nvSpPr>
        <p:spPr>
          <a:xfrm>
            <a:off x="8275320" y="4251960"/>
            <a:ext cx="3200400" cy="685800"/>
          </a:xfrm>
          <a:prstGeom prst="rect">
            <a:avLst/>
          </a:prstGeom>
          <a:noFill/>
          <a:ln/>
        </p:spPr>
        <p:txBody>
          <a:bodyPr wrap="square" lIns="0" tIns="0" rIns="0" bIns="0" rtlCol="0" anchor="t"/>
          <a:lstStyle/>
          <a:p>
            <a:pPr indent="0" marL="0">
              <a:buNone/>
            </a:pPr>
            <a:r>
              <a:rPr lang="en-US" sz="1350" dirty="0">
                <a:solidFill>
                  <a:schemeClr val="tx1"/>
                </a:solidFill>
              </a:rPr>
              <a:t>Run it in the target. Do not assume.</a:t>
            </a:r>
            <a:endParaRPr lang="en-US" sz="1350" dirty="0"/>
          </a:p>
        </p:txBody>
      </p:sp>
      <p:sp>
        <p:nvSpPr>
          <p:cNvPr id="35" name="Caution card"/>
          <p:cNvSpPr/>
          <p:nvPr/>
        </p:nvSpPr>
        <p:spPr>
          <a:xfrm>
            <a:off x="548640" y="5303520"/>
            <a:ext cx="11094415" cy="640080"/>
          </a:xfrm>
          <a:prstGeom prst="roundRect">
            <a:avLst>
              <a:gd name="adj" fmla="val 17143"/>
            </a:avLst>
          </a:prstGeom>
          <a:solidFill>
            <a:schemeClr val="accent3">
              <a:alpha val="22000"/>
            </a:schemeClr>
          </a:solidFill>
          <a:ln/>
        </p:spPr>
      </p:sp>
      <p:sp>
        <p:nvSpPr>
          <p:cNvPr id="36" name="Caution text"/>
          <p:cNvSpPr txBox="1"/>
          <p:nvPr/>
        </p:nvSpPr>
        <p:spPr>
          <a:xfrm>
            <a:off x="777240" y="5303520"/>
            <a:ext cx="10637215" cy="640080"/>
          </a:xfrm>
          <a:prstGeom prst="rect">
            <a:avLst/>
          </a:prstGeom>
          <a:noFill/>
          <a:ln/>
        </p:spPr>
        <p:txBody>
          <a:bodyPr wrap="square" lIns="0" tIns="0" rIns="0" bIns="0" rtlCol="0" anchor="ctr"/>
          <a:lstStyle/>
          <a:p>
            <a:pPr indent="0" marL="0">
              <a:buNone/>
            </a:pPr>
            <a:r>
              <a:rPr lang="en-US" sz="1300" b="1" dirty="0">
                <a:solidFill>
                  <a:schemeClr val="tx1"/>
                </a:solidFill>
              </a:rPr>
              <a:t>Two cautions. </a:t>
            </a:r>
            <a:pPr indent="0" marL="0">
              <a:buNone/>
            </a:pPr>
            <a:r>
              <a:rPr lang="en-US" sz="1300" dirty="0">
                <a:solidFill>
                  <a:schemeClr val="tx1"/>
                </a:solidFill>
              </a:rPr>
              <a:t>Definitions move, data does not. And not every item type or setting is covered: check the supported list for your tenant.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Items deploy in dependency order</a:t>
            </a:r>
            <a:endParaRPr lang="en-US" sz="3200" dirty="0"/>
          </a:p>
        </p:txBody>
      </p:sp>
      <p:sp>
        <p:nvSpPr>
          <p:cNvPr id="5" name="Lakehouse card"/>
          <p:cNvSpPr/>
          <p:nvPr/>
        </p:nvSpPr>
        <p:spPr>
          <a:xfrm>
            <a:off x="548640" y="2011680"/>
            <a:ext cx="1700784" cy="2103120"/>
          </a:xfrm>
          <a:prstGeom prst="roundRect">
            <a:avLst>
              <a:gd name="adj" fmla="val 6452"/>
            </a:avLst>
          </a:prstGeom>
          <a:solidFill>
            <a:schemeClr val="accent2">
              <a:alpha val="25000"/>
            </a:schemeClr>
          </a:solidFill>
          <a:ln/>
        </p:spPr>
      </p:sp>
      <p:sp>
        <p:nvSpPr>
          <p:cNvPr id="6" name="Order chip 1"/>
          <p:cNvSpPr/>
          <p:nvPr/>
        </p:nvSpPr>
        <p:spPr>
          <a:xfrm>
            <a:off x="685800" y="2148840"/>
            <a:ext cx="384048" cy="384048"/>
          </a:xfrm>
          <a:prstGeom prst="roundRect">
            <a:avLst>
              <a:gd name="adj" fmla="val 19048"/>
            </a:avLst>
          </a:prstGeom>
          <a:solidFill>
            <a:schemeClr val="accent2"/>
          </a:solidFill>
          <a:ln/>
        </p:spPr>
      </p:sp>
      <p:sp>
        <p:nvSpPr>
          <p:cNvPr id="7" name="Order number"/>
          <p:cNvSpPr txBox="1"/>
          <p:nvPr/>
        </p:nvSpPr>
        <p:spPr>
          <a:xfrm>
            <a:off x="685800" y="2148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Item title"/>
          <p:cNvSpPr txBox="1"/>
          <p:nvPr/>
        </p:nvSpPr>
        <p:spPr>
          <a:xfrm>
            <a:off x="685800" y="2651760"/>
            <a:ext cx="1426464" cy="54864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Lakehouse</a:t>
            </a:r>
            <a:endParaRPr lang="en-US" sz="1450" dirty="0"/>
          </a:p>
        </p:txBody>
      </p:sp>
      <p:sp>
        <p:nvSpPr>
          <p:cNvPr id="9" name="Item text"/>
          <p:cNvSpPr txBox="1"/>
          <p:nvPr/>
        </p:nvSpPr>
        <p:spPr>
          <a:xfrm>
            <a:off x="685800" y="3246120"/>
            <a:ext cx="1426464" cy="822960"/>
          </a:xfrm>
          <a:prstGeom prst="rect">
            <a:avLst/>
          </a:prstGeom>
          <a:noFill/>
          <a:ln/>
        </p:spPr>
        <p:txBody>
          <a:bodyPr wrap="square" lIns="0" tIns="0" rIns="0" bIns="0" rtlCol="0" anchor="t"/>
          <a:lstStyle/>
          <a:p>
            <a:pPr indent="0" marL="0">
              <a:buNone/>
            </a:pPr>
            <a:r>
              <a:rPr lang="en-US" sz="1150" dirty="0">
                <a:solidFill>
                  <a:schemeClr val="tx1"/>
                </a:solidFill>
              </a:rPr>
              <a:t>Created if missing. Its tables and files are not touched.</a:t>
            </a:r>
            <a:endParaRPr lang="en-US" sz="1150" dirty="0"/>
          </a:p>
        </p:txBody>
      </p:sp>
      <p:sp>
        <p:nvSpPr>
          <p:cNvPr id="10" name="Order arrow 1"/>
          <p:cNvSpPr/>
          <p:nvPr/>
        </p:nvSpPr>
        <p:spPr>
          <a:xfrm>
            <a:off x="2276856" y="2340864"/>
            <a:ext cx="123078" cy="0"/>
          </a:xfrm>
          <a:prstGeom prst="line">
            <a:avLst/>
          </a:prstGeom>
          <a:noFill/>
          <a:ln w="25400">
            <a:solidFill>
              <a:schemeClr val="accent5"/>
            </a:solidFill>
            <a:prstDash val="solid"/>
            <a:tailEnd type="triangle"/>
          </a:ln>
        </p:spPr>
      </p:sp>
      <p:sp>
        <p:nvSpPr>
          <p:cNvPr id="11" name="Notebook card"/>
          <p:cNvSpPr/>
          <p:nvPr/>
        </p:nvSpPr>
        <p:spPr>
          <a:xfrm>
            <a:off x="2427366" y="2011680"/>
            <a:ext cx="1700784" cy="2103120"/>
          </a:xfrm>
          <a:prstGeom prst="roundRect">
            <a:avLst>
              <a:gd name="adj" fmla="val 6452"/>
            </a:avLst>
          </a:prstGeom>
          <a:solidFill>
            <a:schemeClr val="accent2">
              <a:alpha val="25000"/>
            </a:schemeClr>
          </a:solidFill>
          <a:ln/>
        </p:spPr>
      </p:sp>
      <p:sp>
        <p:nvSpPr>
          <p:cNvPr id="12" name="Order chip 2"/>
          <p:cNvSpPr/>
          <p:nvPr/>
        </p:nvSpPr>
        <p:spPr>
          <a:xfrm>
            <a:off x="2564526" y="2148840"/>
            <a:ext cx="384048" cy="384048"/>
          </a:xfrm>
          <a:prstGeom prst="roundRect">
            <a:avLst>
              <a:gd name="adj" fmla="val 19048"/>
            </a:avLst>
          </a:prstGeom>
          <a:solidFill>
            <a:schemeClr val="accent2"/>
          </a:solidFill>
          <a:ln/>
        </p:spPr>
      </p:sp>
      <p:sp>
        <p:nvSpPr>
          <p:cNvPr id="13" name="Order number"/>
          <p:cNvSpPr txBox="1"/>
          <p:nvPr/>
        </p:nvSpPr>
        <p:spPr>
          <a:xfrm>
            <a:off x="2564526" y="2148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4" name="Item title"/>
          <p:cNvSpPr txBox="1"/>
          <p:nvPr/>
        </p:nvSpPr>
        <p:spPr>
          <a:xfrm>
            <a:off x="2564526" y="2651760"/>
            <a:ext cx="1426464" cy="54864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Notebook</a:t>
            </a:r>
            <a:endParaRPr lang="en-US" sz="1450" dirty="0"/>
          </a:p>
        </p:txBody>
      </p:sp>
      <p:sp>
        <p:nvSpPr>
          <p:cNvPr id="15" name="Item text"/>
          <p:cNvSpPr txBox="1"/>
          <p:nvPr/>
        </p:nvSpPr>
        <p:spPr>
          <a:xfrm>
            <a:off x="2564526" y="3246120"/>
            <a:ext cx="1426464" cy="822960"/>
          </a:xfrm>
          <a:prstGeom prst="rect">
            <a:avLst/>
          </a:prstGeom>
          <a:noFill/>
          <a:ln/>
        </p:spPr>
        <p:txBody>
          <a:bodyPr wrap="square" lIns="0" tIns="0" rIns="0" bIns="0" rtlCol="0" anchor="t"/>
          <a:lstStyle/>
          <a:p>
            <a:pPr indent="0" marL="0">
              <a:buNone/>
            </a:pPr>
            <a:r>
              <a:rPr lang="en-US" sz="1150" dirty="0">
                <a:solidFill>
                  <a:schemeClr val="tx1"/>
                </a:solidFill>
              </a:rPr>
              <a:t>Needs the lakehouse to exist.</a:t>
            </a:r>
            <a:endParaRPr lang="en-US" sz="1150" dirty="0"/>
          </a:p>
        </p:txBody>
      </p:sp>
      <p:sp>
        <p:nvSpPr>
          <p:cNvPr id="16" name="Order arrow 2"/>
          <p:cNvSpPr/>
          <p:nvPr/>
        </p:nvSpPr>
        <p:spPr>
          <a:xfrm>
            <a:off x="4155582" y="2340864"/>
            <a:ext cx="123078" cy="0"/>
          </a:xfrm>
          <a:prstGeom prst="line">
            <a:avLst/>
          </a:prstGeom>
          <a:noFill/>
          <a:ln w="25400">
            <a:solidFill>
              <a:schemeClr val="accent5"/>
            </a:solidFill>
            <a:prstDash val="solid"/>
            <a:tailEnd type="triangle"/>
          </a:ln>
        </p:spPr>
      </p:sp>
      <p:sp>
        <p:nvSpPr>
          <p:cNvPr id="17" name="Semantic model card"/>
          <p:cNvSpPr/>
          <p:nvPr/>
        </p:nvSpPr>
        <p:spPr>
          <a:xfrm>
            <a:off x="4306092" y="2011680"/>
            <a:ext cx="1700784" cy="2103120"/>
          </a:xfrm>
          <a:prstGeom prst="roundRect">
            <a:avLst>
              <a:gd name="adj" fmla="val 6452"/>
            </a:avLst>
          </a:prstGeom>
          <a:solidFill>
            <a:schemeClr val="accent2">
              <a:alpha val="25000"/>
            </a:schemeClr>
          </a:solidFill>
          <a:ln/>
        </p:spPr>
      </p:sp>
      <p:sp>
        <p:nvSpPr>
          <p:cNvPr id="18" name="Order chip 3"/>
          <p:cNvSpPr/>
          <p:nvPr/>
        </p:nvSpPr>
        <p:spPr>
          <a:xfrm>
            <a:off x="4443252" y="2148840"/>
            <a:ext cx="384048" cy="384048"/>
          </a:xfrm>
          <a:prstGeom prst="roundRect">
            <a:avLst>
              <a:gd name="adj" fmla="val 19048"/>
            </a:avLst>
          </a:prstGeom>
          <a:solidFill>
            <a:schemeClr val="accent2"/>
          </a:solidFill>
          <a:ln/>
        </p:spPr>
      </p:sp>
      <p:sp>
        <p:nvSpPr>
          <p:cNvPr id="19" name="Order number"/>
          <p:cNvSpPr txBox="1"/>
          <p:nvPr/>
        </p:nvSpPr>
        <p:spPr>
          <a:xfrm>
            <a:off x="4443252" y="2148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0" name="Item title"/>
          <p:cNvSpPr txBox="1"/>
          <p:nvPr/>
        </p:nvSpPr>
        <p:spPr>
          <a:xfrm>
            <a:off x="4443252" y="2651760"/>
            <a:ext cx="1426464" cy="54864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Semantic model</a:t>
            </a:r>
            <a:endParaRPr lang="en-US" sz="1450" dirty="0"/>
          </a:p>
        </p:txBody>
      </p:sp>
      <p:sp>
        <p:nvSpPr>
          <p:cNvPr id="21" name="Item text"/>
          <p:cNvSpPr txBox="1"/>
          <p:nvPr/>
        </p:nvSpPr>
        <p:spPr>
          <a:xfrm>
            <a:off x="4443252" y="3246120"/>
            <a:ext cx="1426464" cy="822960"/>
          </a:xfrm>
          <a:prstGeom prst="rect">
            <a:avLst/>
          </a:prstGeom>
          <a:noFill/>
          <a:ln/>
        </p:spPr>
        <p:txBody>
          <a:bodyPr wrap="square" lIns="0" tIns="0" rIns="0" bIns="0" rtlCol="0" anchor="t"/>
          <a:lstStyle/>
          <a:p>
            <a:pPr indent="0" marL="0">
              <a:buNone/>
            </a:pPr>
            <a:r>
              <a:rPr lang="en-US" sz="1150" dirty="0">
                <a:solidFill>
                  <a:schemeClr val="tx1"/>
                </a:solidFill>
              </a:rPr>
              <a:t>Reads the tables the notebook writes.</a:t>
            </a:r>
            <a:endParaRPr lang="en-US" sz="1150" dirty="0"/>
          </a:p>
        </p:txBody>
      </p:sp>
      <p:sp>
        <p:nvSpPr>
          <p:cNvPr id="22" name="Order arrow 3"/>
          <p:cNvSpPr/>
          <p:nvPr/>
        </p:nvSpPr>
        <p:spPr>
          <a:xfrm>
            <a:off x="6034308" y="2340864"/>
            <a:ext cx="123078" cy="0"/>
          </a:xfrm>
          <a:prstGeom prst="line">
            <a:avLst/>
          </a:prstGeom>
          <a:noFill/>
          <a:ln w="25400">
            <a:solidFill>
              <a:schemeClr val="accent5"/>
            </a:solidFill>
            <a:prstDash val="solid"/>
            <a:tailEnd type="triangle"/>
          </a:ln>
        </p:spPr>
      </p:sp>
      <p:sp>
        <p:nvSpPr>
          <p:cNvPr id="23" name="Report card"/>
          <p:cNvSpPr/>
          <p:nvPr/>
        </p:nvSpPr>
        <p:spPr>
          <a:xfrm>
            <a:off x="6184819" y="2011680"/>
            <a:ext cx="1700784" cy="2103120"/>
          </a:xfrm>
          <a:prstGeom prst="roundRect">
            <a:avLst>
              <a:gd name="adj" fmla="val 6452"/>
            </a:avLst>
          </a:prstGeom>
          <a:solidFill>
            <a:schemeClr val="accent2">
              <a:alpha val="25000"/>
            </a:schemeClr>
          </a:solidFill>
          <a:ln/>
        </p:spPr>
      </p:sp>
      <p:sp>
        <p:nvSpPr>
          <p:cNvPr id="24" name="Order chip 4"/>
          <p:cNvSpPr/>
          <p:nvPr/>
        </p:nvSpPr>
        <p:spPr>
          <a:xfrm>
            <a:off x="6321979" y="2148840"/>
            <a:ext cx="384048" cy="384048"/>
          </a:xfrm>
          <a:prstGeom prst="roundRect">
            <a:avLst>
              <a:gd name="adj" fmla="val 19048"/>
            </a:avLst>
          </a:prstGeom>
          <a:solidFill>
            <a:schemeClr val="accent2"/>
          </a:solidFill>
          <a:ln/>
        </p:spPr>
      </p:sp>
      <p:sp>
        <p:nvSpPr>
          <p:cNvPr id="25" name="Order number"/>
          <p:cNvSpPr txBox="1"/>
          <p:nvPr/>
        </p:nvSpPr>
        <p:spPr>
          <a:xfrm>
            <a:off x="6321979" y="2148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6" name="Item title"/>
          <p:cNvSpPr txBox="1"/>
          <p:nvPr/>
        </p:nvSpPr>
        <p:spPr>
          <a:xfrm>
            <a:off x="6321979" y="2651760"/>
            <a:ext cx="1426464" cy="54864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Report</a:t>
            </a:r>
            <a:endParaRPr lang="en-US" sz="1450" dirty="0"/>
          </a:p>
        </p:txBody>
      </p:sp>
      <p:sp>
        <p:nvSpPr>
          <p:cNvPr id="27" name="Item text"/>
          <p:cNvSpPr txBox="1"/>
          <p:nvPr/>
        </p:nvSpPr>
        <p:spPr>
          <a:xfrm>
            <a:off x="6321979" y="3246120"/>
            <a:ext cx="1426464" cy="822960"/>
          </a:xfrm>
          <a:prstGeom prst="rect">
            <a:avLst/>
          </a:prstGeom>
          <a:noFill/>
          <a:ln/>
        </p:spPr>
        <p:txBody>
          <a:bodyPr wrap="square" lIns="0" tIns="0" rIns="0" bIns="0" rtlCol="0" anchor="t"/>
          <a:lstStyle/>
          <a:p>
            <a:pPr indent="0" marL="0">
              <a:buNone/>
            </a:pPr>
            <a:r>
              <a:rPr lang="en-US" sz="1150" dirty="0">
                <a:solidFill>
                  <a:schemeClr val="tx1"/>
                </a:solidFill>
              </a:rPr>
              <a:t>Needs its model.</a:t>
            </a:r>
            <a:endParaRPr lang="en-US" sz="1150" dirty="0"/>
          </a:p>
        </p:txBody>
      </p:sp>
      <p:sp>
        <p:nvSpPr>
          <p:cNvPr id="28" name="Order arrow 4"/>
          <p:cNvSpPr/>
          <p:nvPr/>
        </p:nvSpPr>
        <p:spPr>
          <a:xfrm>
            <a:off x="7913035" y="2340864"/>
            <a:ext cx="123078" cy="0"/>
          </a:xfrm>
          <a:prstGeom prst="line">
            <a:avLst/>
          </a:prstGeom>
          <a:noFill/>
          <a:ln w="25400">
            <a:solidFill>
              <a:schemeClr val="accent5"/>
            </a:solidFill>
            <a:prstDash val="solid"/>
            <a:tailEnd type="triangle"/>
          </a:ln>
        </p:spPr>
      </p:sp>
      <p:sp>
        <p:nvSpPr>
          <p:cNvPr id="29" name="Dataflow card"/>
          <p:cNvSpPr/>
          <p:nvPr/>
        </p:nvSpPr>
        <p:spPr>
          <a:xfrm>
            <a:off x="8063545" y="2011680"/>
            <a:ext cx="1700784" cy="2103120"/>
          </a:xfrm>
          <a:prstGeom prst="roundRect">
            <a:avLst>
              <a:gd name="adj" fmla="val 6452"/>
            </a:avLst>
          </a:prstGeom>
          <a:solidFill>
            <a:schemeClr val="bg2"/>
          </a:solidFill>
          <a:ln/>
        </p:spPr>
      </p:sp>
      <p:sp>
        <p:nvSpPr>
          <p:cNvPr id="30" name="Order chip 5"/>
          <p:cNvSpPr/>
          <p:nvPr/>
        </p:nvSpPr>
        <p:spPr>
          <a:xfrm>
            <a:off x="8200705" y="2148840"/>
            <a:ext cx="384048" cy="384048"/>
          </a:xfrm>
          <a:prstGeom prst="roundRect">
            <a:avLst>
              <a:gd name="adj" fmla="val 19048"/>
            </a:avLst>
          </a:prstGeom>
          <a:solidFill>
            <a:schemeClr val="accent5"/>
          </a:solidFill>
          <a:ln/>
        </p:spPr>
      </p:sp>
      <p:sp>
        <p:nvSpPr>
          <p:cNvPr id="31" name="Order number"/>
          <p:cNvSpPr txBox="1"/>
          <p:nvPr/>
        </p:nvSpPr>
        <p:spPr>
          <a:xfrm>
            <a:off x="8200705" y="21488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mj-lt" pitchFamily="34" charset="0"/>
                <a:ea typeface="+mj-lt" pitchFamily="34" charset="-122"/>
                <a:cs typeface="+mj-lt" pitchFamily="34" charset="-120"/>
              </a:rPr>
              <a:t>5</a:t>
            </a:r>
            <a:endParaRPr lang="en-US" sz="1400" dirty="0"/>
          </a:p>
        </p:txBody>
      </p:sp>
      <p:sp>
        <p:nvSpPr>
          <p:cNvPr id="32" name="Item title"/>
          <p:cNvSpPr txBox="1"/>
          <p:nvPr/>
        </p:nvSpPr>
        <p:spPr>
          <a:xfrm>
            <a:off x="8200705" y="2651760"/>
            <a:ext cx="1426464" cy="54864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Dataflow</a:t>
            </a:r>
            <a:endParaRPr lang="en-US" sz="1450" dirty="0"/>
          </a:p>
        </p:txBody>
      </p:sp>
      <p:sp>
        <p:nvSpPr>
          <p:cNvPr id="33" name="Item text"/>
          <p:cNvSpPr txBox="1"/>
          <p:nvPr/>
        </p:nvSpPr>
        <p:spPr>
          <a:xfrm>
            <a:off x="8200705" y="3246120"/>
            <a:ext cx="1426464" cy="822960"/>
          </a:xfrm>
          <a:prstGeom prst="rect">
            <a:avLst/>
          </a:prstGeom>
          <a:noFill/>
          <a:ln/>
        </p:spPr>
        <p:txBody>
          <a:bodyPr wrap="square" lIns="0" tIns="0" rIns="0" bIns="0" rtlCol="0" anchor="t"/>
          <a:lstStyle/>
          <a:p>
            <a:pPr indent="0" marL="0">
              <a:buNone/>
            </a:pPr>
            <a:r>
              <a:rPr lang="en-US" sz="1150" dirty="0">
                <a:solidFill>
                  <a:schemeClr val="tx1"/>
                </a:solidFill>
              </a:rPr>
              <a:t>Reference data loads. Not in the lab.</a:t>
            </a:r>
            <a:endParaRPr lang="en-US" sz="1150" dirty="0"/>
          </a:p>
        </p:txBody>
      </p:sp>
      <p:sp>
        <p:nvSpPr>
          <p:cNvPr id="34" name="Order arrow 5"/>
          <p:cNvSpPr/>
          <p:nvPr/>
        </p:nvSpPr>
        <p:spPr>
          <a:xfrm>
            <a:off x="9791761" y="2340864"/>
            <a:ext cx="123078" cy="0"/>
          </a:xfrm>
          <a:prstGeom prst="line">
            <a:avLst/>
          </a:prstGeom>
          <a:noFill/>
          <a:ln w="25400">
            <a:solidFill>
              <a:schemeClr val="accent5"/>
            </a:solidFill>
            <a:prstDash val="solid"/>
            <a:tailEnd type="triangle"/>
          </a:ln>
        </p:spPr>
      </p:sp>
      <p:sp>
        <p:nvSpPr>
          <p:cNvPr id="35" name="Data pipeline card"/>
          <p:cNvSpPr/>
          <p:nvPr/>
        </p:nvSpPr>
        <p:spPr>
          <a:xfrm>
            <a:off x="9942271" y="2011680"/>
            <a:ext cx="1700784" cy="2103120"/>
          </a:xfrm>
          <a:prstGeom prst="roundRect">
            <a:avLst>
              <a:gd name="adj" fmla="val 6452"/>
            </a:avLst>
          </a:prstGeom>
          <a:solidFill>
            <a:schemeClr val="accent2">
              <a:alpha val="25000"/>
            </a:schemeClr>
          </a:solidFill>
          <a:ln/>
        </p:spPr>
      </p:sp>
      <p:sp>
        <p:nvSpPr>
          <p:cNvPr id="36" name="Order chip 6"/>
          <p:cNvSpPr/>
          <p:nvPr/>
        </p:nvSpPr>
        <p:spPr>
          <a:xfrm>
            <a:off x="10079431" y="2148840"/>
            <a:ext cx="384048" cy="384048"/>
          </a:xfrm>
          <a:prstGeom prst="roundRect">
            <a:avLst>
              <a:gd name="adj" fmla="val 19048"/>
            </a:avLst>
          </a:prstGeom>
          <a:solidFill>
            <a:schemeClr val="accent2"/>
          </a:solidFill>
          <a:ln/>
        </p:spPr>
      </p:sp>
      <p:sp>
        <p:nvSpPr>
          <p:cNvPr id="37" name="Order number"/>
          <p:cNvSpPr txBox="1"/>
          <p:nvPr/>
        </p:nvSpPr>
        <p:spPr>
          <a:xfrm>
            <a:off x="10079431" y="2148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38" name="Item title"/>
          <p:cNvSpPr txBox="1"/>
          <p:nvPr/>
        </p:nvSpPr>
        <p:spPr>
          <a:xfrm>
            <a:off x="10079431" y="2651760"/>
            <a:ext cx="1426464" cy="54864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Data pipeline</a:t>
            </a:r>
            <a:endParaRPr lang="en-US" sz="1450" dirty="0"/>
          </a:p>
        </p:txBody>
      </p:sp>
      <p:sp>
        <p:nvSpPr>
          <p:cNvPr id="39" name="Item text"/>
          <p:cNvSpPr txBox="1"/>
          <p:nvPr/>
        </p:nvSpPr>
        <p:spPr>
          <a:xfrm>
            <a:off x="10079431" y="3246120"/>
            <a:ext cx="1426464" cy="822960"/>
          </a:xfrm>
          <a:prstGeom prst="rect">
            <a:avLst/>
          </a:prstGeom>
          <a:noFill/>
          <a:ln/>
        </p:spPr>
        <p:txBody>
          <a:bodyPr wrap="square" lIns="0" tIns="0" rIns="0" bIns="0" rtlCol="0" anchor="t"/>
          <a:lstStyle/>
          <a:p>
            <a:pPr indent="0" marL="0">
              <a:buNone/>
            </a:pPr>
            <a:r>
              <a:rPr lang="en-US" sz="1150" dirty="0">
                <a:solidFill>
                  <a:schemeClr val="tx1"/>
                </a:solidFill>
              </a:rPr>
              <a:t>Calls the notebook. Goes last.</a:t>
            </a:r>
            <a:endParaRPr lang="en-US" sz="1150" dirty="0"/>
          </a:p>
        </p:txBody>
      </p:sp>
      <p:sp>
        <p:nvSpPr>
          <p:cNvPr id="40" name="Legend card"/>
          <p:cNvSpPr/>
          <p:nvPr/>
        </p:nvSpPr>
        <p:spPr>
          <a:xfrm>
            <a:off x="548640" y="4343400"/>
            <a:ext cx="5468112" cy="1325880"/>
          </a:xfrm>
          <a:prstGeom prst="roundRect">
            <a:avLst>
              <a:gd name="adj" fmla="val 8276"/>
            </a:avLst>
          </a:prstGeom>
          <a:solidFill>
            <a:schemeClr val="bg2"/>
          </a:solidFill>
          <a:ln/>
        </p:spPr>
      </p:sp>
      <p:sp>
        <p:nvSpPr>
          <p:cNvPr id="41" name="Legend text"/>
          <p:cNvSpPr txBox="1"/>
          <p:nvPr/>
        </p:nvSpPr>
        <p:spPr>
          <a:xfrm>
            <a:off x="777240" y="4343400"/>
            <a:ext cx="5029200" cy="548640"/>
          </a:xfrm>
          <a:prstGeom prst="rect">
            <a:avLst/>
          </a:prstGeom>
          <a:noFill/>
          <a:ln/>
        </p:spPr>
        <p:txBody>
          <a:bodyPr wrap="square" lIns="0" tIns="0" rIns="0" bIns="0" rtlCol="0" anchor="ctr"/>
          <a:lstStyle/>
          <a:p>
            <a:pPr indent="0" marL="0">
              <a:buNone/>
            </a:pPr>
            <a:r>
              <a:rPr lang="en-US" sz="1350" b="1" dirty="0">
                <a:solidFill>
                  <a:schemeClr val="accent2"/>
                </a:solidFill>
              </a:rPr>
              <a:t>Teal: </a:t>
            </a:r>
            <a:pPr indent="0" marL="0">
              <a:buNone/>
            </a:pPr>
            <a:r>
              <a:rPr lang="en-US" sz="1350" dirty="0">
                <a:solidFill>
                  <a:schemeClr val="tx1"/>
                </a:solidFill>
              </a:rPr>
              <a:t>the items in your lab. Grey: used in other projects.</a:t>
            </a:r>
            <a:endParaRPr lang="en-US" sz="1350" dirty="0"/>
          </a:p>
        </p:txBody>
      </p:sp>
      <p:sp>
        <p:nvSpPr>
          <p:cNvPr id="42" name="Delete text"/>
          <p:cNvSpPr txBox="1"/>
          <p:nvPr/>
        </p:nvSpPr>
        <p:spPr>
          <a:xfrm>
            <a:off x="777240" y="4892040"/>
            <a:ext cx="5029200" cy="685800"/>
          </a:xfrm>
          <a:prstGeom prst="rect">
            <a:avLst/>
          </a:prstGeom>
          <a:noFill/>
          <a:ln/>
        </p:spPr>
        <p:txBody>
          <a:bodyPr wrap="square" lIns="0" tIns="0" rIns="0" bIns="0" rtlCol="0" anchor="ctr"/>
          <a:lstStyle/>
          <a:p>
            <a:pPr indent="0" marL="0">
              <a:buNone/>
            </a:pPr>
            <a:r>
              <a:rPr lang="en-US" sz="1350" dirty="0">
                <a:solidFill>
                  <a:schemeClr val="tx1"/>
                </a:solidFill>
              </a:rPr>
              <a:t>Deleting goes the other way round: the pipeline first, the lakehouse last.</a:t>
            </a:r>
            <a:endParaRPr lang="en-US" sz="1350" dirty="0"/>
          </a:p>
        </p:txBody>
      </p:sp>
      <p:sp>
        <p:nvSpPr>
          <p:cNvPr id="43" name="Repeatable card"/>
          <p:cNvSpPr/>
          <p:nvPr/>
        </p:nvSpPr>
        <p:spPr>
          <a:xfrm>
            <a:off x="6172200" y="4343400"/>
            <a:ext cx="5468112" cy="1325880"/>
          </a:xfrm>
          <a:prstGeom prst="roundRect">
            <a:avLst>
              <a:gd name="adj" fmla="val 8276"/>
            </a:avLst>
          </a:prstGeom>
          <a:solidFill>
            <a:schemeClr val="accent3">
              <a:alpha val="22000"/>
            </a:schemeClr>
          </a:solidFill>
          <a:ln/>
        </p:spPr>
      </p:sp>
      <p:sp>
        <p:nvSpPr>
          <p:cNvPr id="44" name="Repeatable text"/>
          <p:cNvSpPr txBox="1"/>
          <p:nvPr/>
        </p:nvSpPr>
        <p:spPr>
          <a:xfrm>
            <a:off x="6400800" y="4343400"/>
            <a:ext cx="5029200" cy="1325880"/>
          </a:xfrm>
          <a:prstGeom prst="rect">
            <a:avLst/>
          </a:prstGeom>
          <a:noFill/>
          <a:ln/>
        </p:spPr>
        <p:txBody>
          <a:bodyPr wrap="square" lIns="0" tIns="0" rIns="0" bIns="0" rtlCol="0" anchor="ctr"/>
          <a:lstStyle/>
          <a:p>
            <a:pPr indent="0" marL="0">
              <a:buNone/>
            </a:pPr>
            <a:r>
              <a:rPr lang="en-US" sz="1350" b="1" dirty="0">
                <a:solidFill>
                  <a:schemeClr val="tx1"/>
                </a:solidFill>
              </a:rPr>
              <a:t>A deployment can fail halfway. </a:t>
            </a:r>
            <a:pPr indent="0" marL="0">
              <a:buNone/>
            </a:pPr>
            <a:r>
              <a:rPr lang="en-US" sz="1350" dirty="0">
                <a:solidFill>
                  <a:schemeClr val="tx1"/>
                </a:solidFill>
              </a:rPr>
              <a:t>Make it repeatable: running it again must be safe, just like the notebook's slice write.</a:t>
            </a:r>
            <a:endParaRPr lang="en-US" sz="1350" dirty="0"/>
          </a:p>
        </p:txBody>
      </p:sp>
      <p:sp>
        <p:nvSpPr>
          <p:cNvPr id="45" name="Footnote"/>
          <p:cNvSpPr txBox="1"/>
          <p:nvPr/>
        </p:nvSpPr>
        <p:spPr>
          <a:xfrm>
            <a:off x="548640" y="58978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Order from the publish sequence in fabric-cicd 1.4.0, an open-source Microsoft library.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What the real files say about promotion</a:t>
            </a:r>
            <a:endParaRPr lang="en-US" sz="3200" dirty="0"/>
          </a:p>
        </p:txBody>
      </p:sp>
      <p:sp>
        <p:nvSpPr>
          <p:cNvPr id="5" name="Tile complex_transforms notebook"/>
          <p:cNvSpPr/>
          <p:nvPr/>
        </p:nvSpPr>
        <p:spPr>
          <a:xfrm>
            <a:off x="548640" y="1783080"/>
            <a:ext cx="6583680" cy="1216152"/>
          </a:xfrm>
          <a:prstGeom prst="roundRect">
            <a:avLst>
              <a:gd name="adj" fmla="val 9023"/>
            </a:avLst>
          </a:prstGeom>
          <a:solidFill>
            <a:schemeClr val="bg2"/>
          </a:solidFill>
          <a:ln/>
        </p:spPr>
      </p:sp>
      <p:sp>
        <p:nvSpPr>
          <p:cNvPr id="6" name="Count"/>
          <p:cNvSpPr txBox="1"/>
          <p:nvPr/>
        </p:nvSpPr>
        <p:spPr>
          <a:xfrm>
            <a:off x="731520" y="1783080"/>
            <a:ext cx="914400" cy="1216152"/>
          </a:xfrm>
          <a:prstGeom prst="rect">
            <a:avLst/>
          </a:prstGeom>
          <a:noFill/>
          <a:ln/>
        </p:spPr>
        <p:txBody>
          <a:bodyPr wrap="square" lIns="0" tIns="0" rIns="0" bIns="0" rtlCol="0" anchor="ctr"/>
          <a:lstStyle/>
          <a:p>
            <a:pPr algn="ctr" indent="0" marL="0">
              <a:buNone/>
            </a:pPr>
            <a:r>
              <a:rPr lang="en-US" sz="4400" b="1" dirty="0">
                <a:solidFill>
                  <a:schemeClr val="accent4"/>
                </a:solidFill>
                <a:latin typeface="+mj-lt" pitchFamily="34" charset="0"/>
                <a:ea typeface="+mj-lt" pitchFamily="34" charset="-122"/>
                <a:cs typeface="+mj-lt" pitchFamily="34" charset="-120"/>
              </a:rPr>
              <a:t>2</a:t>
            </a:r>
            <a:endParaRPr lang="en-US" sz="4400" dirty="0"/>
          </a:p>
        </p:txBody>
      </p:sp>
      <p:sp>
        <p:nvSpPr>
          <p:cNvPr id="7" name="Tile title"/>
          <p:cNvSpPr txBox="1"/>
          <p:nvPr/>
        </p:nvSpPr>
        <p:spPr>
          <a:xfrm>
            <a:off x="1783080" y="1920240"/>
            <a:ext cx="5212080" cy="320040"/>
          </a:xfrm>
          <a:prstGeom prst="rect">
            <a:avLst/>
          </a:prstGeom>
          <a:noFill/>
          <a:ln/>
        </p:spPr>
        <p:txBody>
          <a:bodyPr wrap="square" lIns="0" tIns="0" rIns="0" bIns="0" rtlCol="0" anchor="t"/>
          <a:lstStyle/>
          <a:p>
            <a:pPr indent="0" marL="0">
              <a:buNone/>
            </a:pPr>
            <a:r>
              <a:rPr lang="en-US" sz="1450" b="1" dirty="0">
                <a:solidFill>
                  <a:schemeClr val="tx1"/>
                </a:solidFill>
              </a:rPr>
              <a:t>environment IDs typed into a notebook cell</a:t>
            </a:r>
            <a:endParaRPr lang="en-US" sz="1450" dirty="0"/>
          </a:p>
        </p:txBody>
      </p:sp>
      <p:sp>
        <p:nvSpPr>
          <p:cNvPr id="8" name="Tile file"/>
          <p:cNvSpPr txBox="1"/>
          <p:nvPr/>
        </p:nvSpPr>
        <p:spPr>
          <a:xfrm>
            <a:off x="1783080" y="2258568"/>
            <a:ext cx="5212080" cy="274320"/>
          </a:xfrm>
          <a:prstGeom prst="rect">
            <a:avLst/>
          </a:prstGeom>
          <a:noFill/>
          <a:ln/>
        </p:spPr>
        <p:txBody>
          <a:bodyPr wrap="square" lIns="0" tIns="0" rIns="0" bIns="0" rtlCol="0" anchor="t"/>
          <a:lstStyle/>
          <a:p>
            <a:pPr indent="0" marL="0">
              <a:buNone/>
            </a:pPr>
            <a:r>
              <a:rPr lang="en-US" sz="1150" dirty="0">
                <a:solidFill>
                  <a:schemeClr val="accent1"/>
                </a:solidFill>
                <a:latin typeface="Courier New" pitchFamily="34" charset="0"/>
                <a:ea typeface="Courier New" pitchFamily="34" charset="-122"/>
                <a:cs typeface="Courier New" pitchFamily="34" charset="-120"/>
              </a:rPr>
              <a:t>complex_transforms notebook</a:t>
            </a:r>
            <a:endParaRPr lang="en-US" sz="1150" dirty="0"/>
          </a:p>
        </p:txBody>
      </p:sp>
      <p:sp>
        <p:nvSpPr>
          <p:cNvPr id="9" name="Tile detail"/>
          <p:cNvSpPr txBox="1"/>
          <p:nvPr/>
        </p:nvSpPr>
        <p:spPr>
          <a:xfrm>
            <a:off x="1783080" y="2569464"/>
            <a:ext cx="5212080" cy="320040"/>
          </a:xfrm>
          <a:prstGeom prst="rect">
            <a:avLst/>
          </a:prstGeom>
          <a:noFill/>
          <a:ln/>
        </p:spPr>
        <p:txBody>
          <a:bodyPr wrap="square" lIns="0" tIns="0" rIns="0" bIns="0" rtlCol="0" anchor="t"/>
          <a:lstStyle/>
          <a:p>
            <a:pPr indent="0" marL="0">
              <a:buNone/>
            </a:pPr>
            <a:r>
              <a:rPr lang="en-US" sz="1200" dirty="0">
                <a:solidFill>
                  <a:schemeClr val="tx1"/>
                </a:solidFill>
              </a:rPr>
              <a:t>WORKSPACE_ID and LAKEHOUSE_ID</a:t>
            </a:r>
            <a:endParaRPr lang="en-US" sz="1200" dirty="0"/>
          </a:p>
        </p:txBody>
      </p:sp>
      <p:sp>
        <p:nvSpPr>
          <p:cNvPr id="10" name="Tile pipeline_Run"/>
          <p:cNvSpPr/>
          <p:nvPr/>
        </p:nvSpPr>
        <p:spPr>
          <a:xfrm>
            <a:off x="548640" y="3108960"/>
            <a:ext cx="6583680" cy="1216152"/>
          </a:xfrm>
          <a:prstGeom prst="roundRect">
            <a:avLst>
              <a:gd name="adj" fmla="val 9023"/>
            </a:avLst>
          </a:prstGeom>
          <a:solidFill>
            <a:schemeClr val="bg2"/>
          </a:solidFill>
          <a:ln/>
        </p:spPr>
      </p:sp>
      <p:sp>
        <p:nvSpPr>
          <p:cNvPr id="11" name="Count"/>
          <p:cNvSpPr txBox="1"/>
          <p:nvPr/>
        </p:nvSpPr>
        <p:spPr>
          <a:xfrm>
            <a:off x="731520" y="3108960"/>
            <a:ext cx="914400" cy="1216152"/>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3</a:t>
            </a:r>
            <a:endParaRPr lang="en-US" sz="4400" dirty="0"/>
          </a:p>
        </p:txBody>
      </p:sp>
      <p:sp>
        <p:nvSpPr>
          <p:cNvPr id="12" name="Tile title"/>
          <p:cNvSpPr txBox="1"/>
          <p:nvPr/>
        </p:nvSpPr>
        <p:spPr>
          <a:xfrm>
            <a:off x="1783080" y="3246120"/>
            <a:ext cx="5212080" cy="320040"/>
          </a:xfrm>
          <a:prstGeom prst="rect">
            <a:avLst/>
          </a:prstGeom>
          <a:noFill/>
          <a:ln/>
        </p:spPr>
        <p:txBody>
          <a:bodyPr wrap="square" lIns="0" tIns="0" rIns="0" bIns="0" rtlCol="0" anchor="t"/>
          <a:lstStyle/>
          <a:p>
            <a:pPr indent="0" marL="0">
              <a:buNone/>
            </a:pPr>
            <a:r>
              <a:rPr lang="en-US" sz="1450" b="1" dirty="0">
                <a:solidFill>
                  <a:schemeClr val="tx1"/>
                </a:solidFill>
              </a:rPr>
              <a:t>IDs in the Run pipeline export</a:t>
            </a:r>
            <a:endParaRPr lang="en-US" sz="1450" dirty="0"/>
          </a:p>
        </p:txBody>
      </p:sp>
      <p:sp>
        <p:nvSpPr>
          <p:cNvPr id="13" name="Tile file"/>
          <p:cNvSpPr txBox="1"/>
          <p:nvPr/>
        </p:nvSpPr>
        <p:spPr>
          <a:xfrm>
            <a:off x="1783080" y="3584448"/>
            <a:ext cx="5212080" cy="274320"/>
          </a:xfrm>
          <a:prstGeom prst="rect">
            <a:avLst/>
          </a:prstGeom>
          <a:noFill/>
          <a:ln/>
        </p:spPr>
        <p:txBody>
          <a:bodyPr wrap="square" lIns="0" tIns="0" rIns="0" bIns="0" rtlCol="0" anchor="t"/>
          <a:lstStyle/>
          <a:p>
            <a:pPr indent="0" marL="0">
              <a:buNone/>
            </a:pPr>
            <a:r>
              <a:rPr lang="en-US" sz="1150" dirty="0">
                <a:solidFill>
                  <a:schemeClr val="accent1"/>
                </a:solidFill>
                <a:latin typeface="Courier New" pitchFamily="34" charset="0"/>
                <a:ea typeface="Courier New" pitchFamily="34" charset="-122"/>
                <a:cs typeface="Courier New" pitchFamily="34" charset="-120"/>
              </a:rPr>
              <a:t>pipeline_Run</a:t>
            </a:r>
            <a:endParaRPr lang="en-US" sz="1150" dirty="0"/>
          </a:p>
        </p:txBody>
      </p:sp>
      <p:sp>
        <p:nvSpPr>
          <p:cNvPr id="14" name="Tile detail"/>
          <p:cNvSpPr txBox="1"/>
          <p:nvPr/>
        </p:nvSpPr>
        <p:spPr>
          <a:xfrm>
            <a:off x="1783080" y="3895344"/>
            <a:ext cx="5212080" cy="320040"/>
          </a:xfrm>
          <a:prstGeom prst="rect">
            <a:avLst/>
          </a:prstGeom>
          <a:noFill/>
          <a:ln/>
        </p:spPr>
        <p:txBody>
          <a:bodyPr wrap="square" lIns="0" tIns="0" rIns="0" bIns="0" rtlCol="0" anchor="t"/>
          <a:lstStyle/>
          <a:p>
            <a:pPr indent="0" marL="0">
              <a:buNone/>
            </a:pPr>
            <a:r>
              <a:rPr lang="en-US" sz="1200" dirty="0">
                <a:solidFill>
                  <a:schemeClr val="tx1"/>
                </a:solidFill>
              </a:rPr>
              <a:t>notebook, workspace, author</a:t>
            </a:r>
            <a:endParaRPr lang="en-US" sz="1200" dirty="0"/>
          </a:p>
        </p:txBody>
      </p:sp>
      <p:sp>
        <p:nvSpPr>
          <p:cNvPr id="15" name="Tile pipeline_Run_withDataRefresh"/>
          <p:cNvSpPr/>
          <p:nvPr/>
        </p:nvSpPr>
        <p:spPr>
          <a:xfrm>
            <a:off x="548640" y="4434840"/>
            <a:ext cx="6583680" cy="1216152"/>
          </a:xfrm>
          <a:prstGeom prst="roundRect">
            <a:avLst>
              <a:gd name="adj" fmla="val 9023"/>
            </a:avLst>
          </a:prstGeom>
          <a:solidFill>
            <a:schemeClr val="bg2"/>
          </a:solidFill>
          <a:ln/>
        </p:spPr>
      </p:sp>
      <p:sp>
        <p:nvSpPr>
          <p:cNvPr id="16" name="Count"/>
          <p:cNvSpPr txBox="1"/>
          <p:nvPr/>
        </p:nvSpPr>
        <p:spPr>
          <a:xfrm>
            <a:off x="731520" y="4434840"/>
            <a:ext cx="914400" cy="1216152"/>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5</a:t>
            </a:r>
            <a:endParaRPr lang="en-US" sz="4400" dirty="0"/>
          </a:p>
        </p:txBody>
      </p:sp>
      <p:sp>
        <p:nvSpPr>
          <p:cNvPr id="17" name="Tile title"/>
          <p:cNvSpPr txBox="1"/>
          <p:nvPr/>
        </p:nvSpPr>
        <p:spPr>
          <a:xfrm>
            <a:off x="1783080" y="4572000"/>
            <a:ext cx="5212080" cy="320040"/>
          </a:xfrm>
          <a:prstGeom prst="rect">
            <a:avLst/>
          </a:prstGeom>
          <a:noFill/>
          <a:ln/>
        </p:spPr>
        <p:txBody>
          <a:bodyPr wrap="square" lIns="0" tIns="0" rIns="0" bIns="0" rtlCol="0" anchor="t"/>
          <a:lstStyle/>
          <a:p>
            <a:pPr indent="0" marL="0">
              <a:buNone/>
            </a:pPr>
            <a:r>
              <a:rPr lang="en-US" sz="1450" b="1" dirty="0">
                <a:solidFill>
                  <a:schemeClr val="tx1"/>
                </a:solidFill>
              </a:rPr>
              <a:t>IDs in the data refresh pipeline export</a:t>
            </a:r>
            <a:endParaRPr lang="en-US" sz="1450" dirty="0"/>
          </a:p>
        </p:txBody>
      </p:sp>
      <p:sp>
        <p:nvSpPr>
          <p:cNvPr id="18" name="Tile file"/>
          <p:cNvSpPr txBox="1"/>
          <p:nvPr/>
        </p:nvSpPr>
        <p:spPr>
          <a:xfrm>
            <a:off x="1783080" y="4910328"/>
            <a:ext cx="5212080" cy="274320"/>
          </a:xfrm>
          <a:prstGeom prst="rect">
            <a:avLst/>
          </a:prstGeom>
          <a:noFill/>
          <a:ln/>
        </p:spPr>
        <p:txBody>
          <a:bodyPr wrap="square" lIns="0" tIns="0" rIns="0" bIns="0" rtlCol="0" anchor="t"/>
          <a:lstStyle/>
          <a:p>
            <a:pPr indent="0" marL="0">
              <a:buNone/>
            </a:pPr>
            <a:r>
              <a:rPr lang="en-US" sz="1150" dirty="0">
                <a:solidFill>
                  <a:schemeClr val="accent1"/>
                </a:solidFill>
                <a:latin typeface="Courier New" pitchFamily="34" charset="0"/>
                <a:ea typeface="Courier New" pitchFamily="34" charset="-122"/>
                <a:cs typeface="Courier New" pitchFamily="34" charset="-120"/>
              </a:rPr>
              <a:t>pipeline_Run_withDataRefresh</a:t>
            </a:r>
            <a:endParaRPr lang="en-US" sz="1150" dirty="0"/>
          </a:p>
        </p:txBody>
      </p:sp>
      <p:sp>
        <p:nvSpPr>
          <p:cNvPr id="19" name="Tile detail"/>
          <p:cNvSpPr txBox="1"/>
          <p:nvPr/>
        </p:nvSpPr>
        <p:spPr>
          <a:xfrm>
            <a:off x="1783080" y="5221224"/>
            <a:ext cx="5212080" cy="320040"/>
          </a:xfrm>
          <a:prstGeom prst="rect">
            <a:avLst/>
          </a:prstGeom>
          <a:noFill/>
          <a:ln/>
        </p:spPr>
        <p:txBody>
          <a:bodyPr wrap="square" lIns="0" tIns="0" rIns="0" bIns="0" rtlCol="0" anchor="t"/>
          <a:lstStyle/>
          <a:p>
            <a:pPr indent="0" marL="0">
              <a:buNone/>
            </a:pPr>
            <a:r>
              <a:rPr lang="en-US" sz="1200" dirty="0">
                <a:solidFill>
                  <a:schemeClr val="tx1"/>
                </a:solidFill>
              </a:rPr>
              <a:t>dataflow, notebook, workspace twice, author</a:t>
            </a:r>
            <a:endParaRPr lang="en-US" sz="1200" dirty="0"/>
          </a:p>
        </p:txBody>
      </p:sp>
      <p:sp>
        <p:nvSpPr>
          <p:cNvPr id="20" name="Copy them to TEST unchanged"/>
          <p:cNvSpPr/>
          <p:nvPr/>
        </p:nvSpPr>
        <p:spPr>
          <a:xfrm>
            <a:off x="7315200" y="1783080"/>
            <a:ext cx="4325112" cy="1216152"/>
          </a:xfrm>
          <a:prstGeom prst="roundRect">
            <a:avLst>
              <a:gd name="adj" fmla="val 9023"/>
            </a:avLst>
          </a:prstGeom>
          <a:solidFill>
            <a:schemeClr val="accent3">
              <a:alpha val="22000"/>
            </a:schemeClr>
          </a:solidFill>
          <a:ln/>
        </p:spPr>
      </p:sp>
      <p:sp>
        <p:nvSpPr>
          <p:cNvPr id="21" name="Consequence"/>
          <p:cNvSpPr txBox="1"/>
          <p:nvPr/>
        </p:nvSpPr>
        <p:spPr>
          <a:xfrm>
            <a:off x="7498080" y="1892808"/>
            <a:ext cx="3977640" cy="54864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Copy them to TEST unchanged</a:t>
            </a:r>
            <a:endParaRPr lang="en-US" sz="1350" dirty="0"/>
          </a:p>
        </p:txBody>
      </p:sp>
      <p:sp>
        <p:nvSpPr>
          <p:cNvPr id="22" name="Consequence text"/>
          <p:cNvSpPr txBox="1"/>
          <p:nvPr/>
        </p:nvSpPr>
        <p:spPr>
          <a:xfrm>
            <a:off x="7498080" y="2468880"/>
            <a:ext cx="3977640" cy="457200"/>
          </a:xfrm>
          <a:prstGeom prst="rect">
            <a:avLst/>
          </a:prstGeom>
          <a:noFill/>
          <a:ln/>
        </p:spPr>
        <p:txBody>
          <a:bodyPr wrap="square" lIns="0" tIns="0" rIns="0" bIns="0" rtlCol="0" anchor="t"/>
          <a:lstStyle/>
          <a:p>
            <a:pPr indent="0" marL="0">
              <a:buNone/>
            </a:pPr>
            <a:r>
              <a:rPr lang="en-US" sz="1250" dirty="0">
                <a:solidFill>
                  <a:schemeClr val="tx1"/>
                </a:solidFill>
              </a:rPr>
              <a:t>and TEST quietly keeps using DEV. Nothing fails.</a:t>
            </a:r>
            <a:endParaRPr lang="en-US" sz="1250" dirty="0"/>
          </a:p>
        </p:txBody>
      </p:sp>
      <p:sp>
        <p:nvSpPr>
          <p:cNvPr id="23" name="The same workspace ID is in all three files"/>
          <p:cNvSpPr/>
          <p:nvPr/>
        </p:nvSpPr>
        <p:spPr>
          <a:xfrm>
            <a:off x="7315200" y="3108960"/>
            <a:ext cx="4325112" cy="1216152"/>
          </a:xfrm>
          <a:prstGeom prst="roundRect">
            <a:avLst>
              <a:gd name="adj" fmla="val 9023"/>
            </a:avLst>
          </a:prstGeom>
          <a:solidFill>
            <a:schemeClr val="bg2"/>
          </a:solidFill>
          <a:ln/>
        </p:spPr>
      </p:sp>
      <p:sp>
        <p:nvSpPr>
          <p:cNvPr id="24" name="Consequence"/>
          <p:cNvSpPr txBox="1"/>
          <p:nvPr/>
        </p:nvSpPr>
        <p:spPr>
          <a:xfrm>
            <a:off x="7498080" y="3218688"/>
            <a:ext cx="3977640" cy="54864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The same workspace ID is in all three files</a:t>
            </a:r>
            <a:endParaRPr lang="en-US" sz="1350" dirty="0"/>
          </a:p>
        </p:txBody>
      </p:sp>
      <p:sp>
        <p:nvSpPr>
          <p:cNvPr id="25" name="Consequence text"/>
          <p:cNvSpPr txBox="1"/>
          <p:nvPr/>
        </p:nvSpPr>
        <p:spPr>
          <a:xfrm>
            <a:off x="7498080" y="3794760"/>
            <a:ext cx="3977640" cy="457200"/>
          </a:xfrm>
          <a:prstGeom prst="rect">
            <a:avLst/>
          </a:prstGeom>
          <a:noFill/>
          <a:ln/>
        </p:spPr>
        <p:txBody>
          <a:bodyPr wrap="square" lIns="0" tIns="0" rIns="0" bIns="0" rtlCol="0" anchor="t"/>
          <a:lstStyle/>
          <a:p>
            <a:pPr indent="0" marL="0">
              <a:buNone/>
            </a:pPr>
            <a:r>
              <a:rPr lang="en-US" sz="1250" dirty="0">
                <a:solidFill>
                  <a:schemeClr val="tx1"/>
                </a:solidFill>
              </a:rPr>
              <a:t>so one search finds every place to fix.</a:t>
            </a:r>
            <a:endParaRPr lang="en-US" sz="1250" dirty="0"/>
          </a:p>
        </p:txBody>
      </p:sp>
      <p:sp>
        <p:nvSpPr>
          <p:cNvPr id="26" name="The exports are one line each"/>
          <p:cNvSpPr/>
          <p:nvPr/>
        </p:nvSpPr>
        <p:spPr>
          <a:xfrm>
            <a:off x="7315200" y="4434840"/>
            <a:ext cx="4325112" cy="1216152"/>
          </a:xfrm>
          <a:prstGeom prst="roundRect">
            <a:avLst>
              <a:gd name="adj" fmla="val 9023"/>
            </a:avLst>
          </a:prstGeom>
          <a:solidFill>
            <a:schemeClr val="bg2"/>
          </a:solidFill>
          <a:ln/>
        </p:spPr>
      </p:sp>
      <p:sp>
        <p:nvSpPr>
          <p:cNvPr id="27" name="Consequence"/>
          <p:cNvSpPr txBox="1"/>
          <p:nvPr/>
        </p:nvSpPr>
        <p:spPr>
          <a:xfrm>
            <a:off x="7498080" y="4544568"/>
            <a:ext cx="3977640" cy="54864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The exports are one line each</a:t>
            </a:r>
            <a:endParaRPr lang="en-US" sz="1350" dirty="0"/>
          </a:p>
        </p:txBody>
      </p:sp>
      <p:sp>
        <p:nvSpPr>
          <p:cNvPr id="28" name="Consequence text"/>
          <p:cNvSpPr txBox="1"/>
          <p:nvPr/>
        </p:nvSpPr>
        <p:spPr>
          <a:xfrm>
            <a:off x="7498080" y="5120640"/>
            <a:ext cx="3977640" cy="457200"/>
          </a:xfrm>
          <a:prstGeom prst="rect">
            <a:avLst/>
          </a:prstGeom>
          <a:noFill/>
          <a:ln/>
        </p:spPr>
        <p:txBody>
          <a:bodyPr wrap="square" lIns="0" tIns="0" rIns="0" bIns="0" rtlCol="0" anchor="t"/>
          <a:lstStyle/>
          <a:p>
            <a:pPr indent="0" marL="0">
              <a:buNone/>
            </a:pPr>
            <a:r>
              <a:rPr lang="en-US" sz="1250" dirty="0">
                <a:solidFill>
                  <a:schemeClr val="tx1"/>
                </a:solidFill>
              </a:rPr>
              <a:t>so a diff cannot show what changed.</a:t>
            </a:r>
            <a:endParaRPr lang="en-US" sz="1250" dirty="0"/>
          </a:p>
        </p:txBody>
      </p:sp>
      <p:sp>
        <p:nvSpPr>
          <p:cNvPr id="29" name="Footnote"/>
          <p:cNvSpPr txBox="1"/>
          <p:nvPr/>
        </p:nvSpPr>
        <p:spPr>
          <a:xfrm>
            <a:off x="548640" y="58064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Scanned with the hard-coded ID rail over the Disney Fabric Files folder. IDs are not shown. Notebook cell IDs and outputs are ignored.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Four ways to stop hard-coding</a:t>
            </a:r>
            <a:endParaRPr lang="en-US" sz="3200" dirty="0"/>
          </a:p>
        </p:txBody>
      </p:sp>
      <p:graphicFrame>
        <p:nvGraphicFramePr>
          <p:cNvPr id="30" name="Four technique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743200"/>
                <a:gridCol w="2834640"/>
                <a:gridCol w="3017520"/>
                <a:gridCol w="2496312"/>
              </a:tblGrid>
              <a:tr h="384048">
                <a:tc>
                  <a:txBody>
                    <a:bodyPr/>
                    <a:lstStyle/>
                    <a:p>
                      <a:pPr indent="0" marL="0">
                        <a:buNone/>
                      </a:pPr>
                      <a:r>
                        <a:rPr lang="en-US" sz="1200" b="1" dirty="0">
                          <a:solidFill>
                            <a:schemeClr val="bg1"/>
                          </a:solidFill>
                        </a:rPr>
                        <a:t>Technique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Where it lives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Best for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Example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713232">
                <a:tc>
                  <a:txBody>
                    <a:bodyPr/>
                    <a:lstStyle/>
                    <a:p>
                      <a:pPr indent="0" marL="0">
                        <a:buNone/>
                      </a:pPr>
                      <a:r>
                        <a:rPr lang="en-US" sz="1200" b="1" dirty="0">
                          <a:solidFill>
                            <a:schemeClr val="tx1"/>
                          </a:solidFill>
                        </a:rPr>
                        <a:t>Pipeline parameters and system variables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In the pipeline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Values that change per run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@pipeline().RunId</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13232">
                <a:tc>
                  <a:txBody>
                    <a:bodyPr/>
                    <a:lstStyle/>
                    <a:p>
                      <a:pPr indent="0" marL="0">
                        <a:buNone/>
                      </a:pPr>
                      <a:r>
                        <a:rPr lang="en-US" sz="1200" b="1" dirty="0">
                          <a:solidFill>
                            <a:schemeClr val="tx1"/>
                          </a:solidFill>
                        </a:rPr>
                        <a:t>Variable library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Fabric item, with a value set per stage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Constants that change per environment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vault_url</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713232">
                <a:tc>
                  <a:txBody>
                    <a:bodyPr/>
                    <a:lstStyle/>
                    <a:p>
                      <a:pPr indent="0" marL="0">
                        <a:buNone/>
                      </a:pPr>
                      <a:r>
                        <a:rPr lang="en-US" sz="1200" b="1" dirty="0">
                          <a:solidFill>
                            <a:schemeClr val="tx1"/>
                          </a:solidFill>
                        </a:rPr>
                        <a:t>Deployment rules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In a deployment pipeline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Rebinding a source, parameter or default lakehouse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lakehouse: test</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13232">
                <a:tc>
                  <a:txBody>
                    <a:bodyPr/>
                    <a:lstStyle/>
                    <a:p>
                      <a:pPr indent="0" marL="0">
                        <a:buNone/>
                      </a:pPr>
                      <a:r>
                        <a:rPr lang="en-US" sz="1200" b="1" dirty="0">
                          <a:solidFill>
                            <a:schemeClr val="tx1"/>
                          </a:solidFill>
                        </a:rPr>
                        <a:t>A parameter file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parameter.yml in the repository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IDs and names inside item definitions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find_value → replace_value</a:t>
                      </a:r>
                      <a:endParaRPr lang="en-US" sz="10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Takeaway"/>
          <p:cNvSpPr txBox="1"/>
          <p:nvPr/>
        </p:nvSpPr>
        <p:spPr>
          <a:xfrm>
            <a:off x="548640" y="534924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Prefer the first two: nothing to find and replace. Use the others for what you cannot remove.</a:t>
            </a:r>
            <a:endParaRPr lang="en-US" sz="1600" dirty="0"/>
          </a:p>
        </p:txBody>
      </p:sp>
      <p:sp>
        <p:nvSpPr>
          <p:cNvPr id="7"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Availability of variable libraries and deployment rules depends on item type and tenant. Check the supported list.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parameter.yml: one file, three environments</a:t>
            </a:r>
            <a:endParaRPr lang="en-US" sz="3200" dirty="0"/>
          </a:p>
        </p:txBody>
      </p:sp>
      <p:sp>
        <p:nvSpPr>
          <p:cNvPr id="5" name="Parameter file"/>
          <p:cNvSpPr/>
          <p:nvPr/>
        </p:nvSpPr>
        <p:spPr>
          <a:xfrm>
            <a:off x="548640" y="1783080"/>
            <a:ext cx="5943600" cy="2928112"/>
          </a:xfrm>
          <a:prstGeom prst="roundRect">
            <a:avLst>
              <a:gd name="adj" fmla="val 3123"/>
            </a:avLst>
          </a:prstGeom>
          <a:solidFill>
            <a:schemeClr val="tx1"/>
          </a:solidFill>
          <a:ln/>
        </p:spPr>
      </p:sp>
      <p:sp>
        <p:nvSpPr>
          <p:cNvPr id="6" name="Code label"/>
          <p:cNvSpPr txBox="1"/>
          <p:nvPr/>
        </p:nvSpPr>
        <p:spPr>
          <a:xfrm>
            <a:off x="749808" y="1874520"/>
            <a:ext cx="55412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FABRIC/PARAMETER.YML</a:t>
            </a:r>
            <a:endParaRPr lang="en-US" sz="1000" dirty="0"/>
          </a:p>
        </p:txBody>
      </p:sp>
      <p:sp>
        <p:nvSpPr>
          <p:cNvPr id="7" name="Parameter file text"/>
          <p:cNvSpPr txBox="1"/>
          <p:nvPr/>
        </p:nvSpPr>
        <p:spPr>
          <a:xfrm>
            <a:off x="749808" y="2167128"/>
            <a:ext cx="5541264" cy="243433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fabric/parameter.yml:</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what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changes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per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environment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find_replace: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The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DEV</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workspace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typed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into</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notebook</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cell</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find_value: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"11111111-aaaa-4bbb-8ccc-222222222222"</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replace_value: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TEST: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"$workspace.$id"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PROD: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"$workspace.$id"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item_type: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"Notebook"</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The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DEV</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lakehouse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look</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up</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name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the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target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find_value: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"33333333-dddd-4eee-8fff-444444444444"</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replace_value: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TEST: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"$items.Lakehouse.lh_dst.$id"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PROD: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"$items.Lakehouse.lh_dst.$id"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item_type: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"Notebook"</a:t>
            </a:r>
            <a:endParaRPr lang="en-US" sz="1000" dirty="0"/>
          </a:p>
        </p:txBody>
      </p:sp>
      <p:graphicFrame>
        <p:nvGraphicFramePr>
          <p:cNvPr id="31" name="Parameter result"/>
          <p:cNvGraphicFramePr>
            <a:graphicFrameLocks noGrp="1"/>
          </p:cNvGraphicFramePr>
          <p:nvPr>
            <p:extLst>
              <p:ext uri="{D42A27DB-BD31-4B8C-83A1-F6EECF244321}">
                <p14:modId xmlns:p14="http://schemas.microsoft.com/office/powerpoint/2010/main" val="1579011935"/>
              </p:ext>
            </p:extLst>
          </p:nvPr>
        </p:nvGraphicFramePr>
        <p:xfrm>
          <a:off x="6675120" y="1783080"/>
          <a:ext cx="4965192" cy="914400"/>
        </p:xfrm>
        <a:graphic>
          <a:graphicData uri="http://schemas.openxmlformats.org/drawingml/2006/table">
            <a:tbl>
              <a:tblPr/>
              <a:tblGrid>
                <a:gridCol w="1097280"/>
                <a:gridCol w="1920240"/>
                <a:gridCol w="1947672"/>
              </a:tblGrid>
              <a:tr h="384048">
                <a:tc>
                  <a:txBody>
                    <a:bodyPr/>
                    <a:lstStyle/>
                    <a:p>
                      <a:pPr indent="0" marL="0">
                        <a:buNone/>
                      </a:pP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WORKSPACE_ID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LAKEHOUSE_ID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200" b="1" dirty="0">
                          <a:solidFill>
                            <a:schemeClr val="tx1"/>
                          </a:solidFill>
                        </a:rPr>
                        <a:t>DEV</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11111111…</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33333333…</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tx1"/>
                          </a:solidFill>
                        </a:rPr>
                        <a:t>TEST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aaaaaaaa…</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cccccccc…</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00" b="1" dirty="0">
                          <a:solidFill>
                            <a:schemeClr val="tx1"/>
                          </a:solidFill>
                        </a:rPr>
                        <a:t>PROD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bbbbbbbb…</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dddddddd…</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9" name="Result note"/>
          <p:cNvSpPr/>
          <p:nvPr/>
        </p:nvSpPr>
        <p:spPr>
          <a:xfrm>
            <a:off x="6675120" y="3840480"/>
            <a:ext cx="4965192" cy="1005840"/>
          </a:xfrm>
          <a:prstGeom prst="roundRect">
            <a:avLst>
              <a:gd name="adj" fmla="val 10909"/>
            </a:avLst>
          </a:prstGeom>
          <a:solidFill>
            <a:schemeClr val="accent2">
              <a:alpha val="20000"/>
            </a:schemeClr>
          </a:solidFill>
          <a:ln/>
        </p:spPr>
      </p:sp>
      <p:sp>
        <p:nvSpPr>
          <p:cNvPr id="10" name="Result note text"/>
          <p:cNvSpPr txBox="1"/>
          <p:nvPr/>
        </p:nvSpPr>
        <p:spPr>
          <a:xfrm>
            <a:off x="6858000" y="3840480"/>
            <a:ext cx="4617720" cy="1005840"/>
          </a:xfrm>
          <a:prstGeom prst="rect">
            <a:avLst/>
          </a:prstGeom>
          <a:noFill/>
          <a:ln/>
        </p:spPr>
        <p:txBody>
          <a:bodyPr wrap="square" lIns="0" tIns="0" rIns="0" bIns="0" rtlCol="0" anchor="ctr"/>
          <a:lstStyle/>
          <a:p>
            <a:pPr indent="0" marL="0">
              <a:buNone/>
            </a:pPr>
            <a:r>
              <a:rPr lang="en-US" sz="1250" dirty="0">
                <a:solidFill>
                  <a:schemeClr val="tx1"/>
                </a:solidFill>
              </a:rPr>
              <a:t>Run through the library's own engine and validator. DEV stays as committed; each target gets its own IDs.</a:t>
            </a:r>
            <a:endParaRPr lang="en-US" sz="1250" dirty="0"/>
          </a:p>
        </p:txBody>
      </p:sp>
      <p:sp>
        <p:nvSpPr>
          <p:cNvPr id="11" name="Stopgap note"/>
          <p:cNvSpPr/>
          <p:nvPr/>
        </p:nvSpPr>
        <p:spPr>
          <a:xfrm>
            <a:off x="6675120" y="4983480"/>
            <a:ext cx="4965192" cy="777240"/>
          </a:xfrm>
          <a:prstGeom prst="roundRect">
            <a:avLst>
              <a:gd name="adj" fmla="val 14118"/>
            </a:avLst>
          </a:prstGeom>
          <a:solidFill>
            <a:schemeClr val="accent3">
              <a:alpha val="22000"/>
            </a:schemeClr>
          </a:solidFill>
          <a:ln/>
        </p:spPr>
      </p:sp>
      <p:sp>
        <p:nvSpPr>
          <p:cNvPr id="12" name="Stopgap text"/>
          <p:cNvSpPr txBox="1"/>
          <p:nvPr/>
        </p:nvSpPr>
        <p:spPr>
          <a:xfrm>
            <a:off x="6858000" y="4983480"/>
            <a:ext cx="4617720" cy="777240"/>
          </a:xfrm>
          <a:prstGeom prst="rect">
            <a:avLst/>
          </a:prstGeom>
          <a:noFill/>
          <a:ln/>
        </p:spPr>
        <p:txBody>
          <a:bodyPr wrap="square" lIns="0" tIns="0" rIns="0" bIns="0" rtlCol="0" anchor="ctr"/>
          <a:lstStyle/>
          <a:p>
            <a:pPr indent="0" marL="0">
              <a:buNone/>
            </a:pPr>
            <a:r>
              <a:rPr lang="en-US" sz="1250" b="1" dirty="0">
                <a:solidFill>
                  <a:schemeClr val="tx1"/>
                </a:solidFill>
              </a:rPr>
              <a:t>A stopgap. </a:t>
            </a:r>
            <a:pPr indent="0" marL="0">
              <a:buNone/>
            </a:pPr>
            <a:r>
              <a:rPr lang="en-US" sz="1250" dirty="0">
                <a:solidFill>
                  <a:schemeClr val="tx1"/>
                </a:solidFill>
              </a:rPr>
              <a:t>The better fix is to remove the constants and delete this file.</a:t>
            </a:r>
            <a:endParaRPr lang="en-US" sz="1250" dirty="0"/>
          </a:p>
        </p:txBody>
      </p:sp>
      <p:sp>
        <p:nvSpPr>
          <p:cNvPr id="13"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Tested offline with fabric-cicd 1.4.0, lookups stubbed, on a notebook with made-up IDs. Not run against a tenant.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deploy script is short, and every line is a decision</a:t>
            </a:r>
            <a:endParaRPr lang="en-US" sz="3200" dirty="0"/>
          </a:p>
        </p:txBody>
      </p:sp>
      <p:sp>
        <p:nvSpPr>
          <p:cNvPr id="5" name="Deploy script"/>
          <p:cNvSpPr/>
          <p:nvPr/>
        </p:nvSpPr>
        <p:spPr>
          <a:xfrm>
            <a:off x="548640" y="1783080"/>
            <a:ext cx="6949440" cy="4098798"/>
          </a:xfrm>
          <a:prstGeom prst="roundRect">
            <a:avLst>
              <a:gd name="adj" fmla="val 2231"/>
            </a:avLst>
          </a:prstGeom>
          <a:solidFill>
            <a:schemeClr val="tx1"/>
          </a:solidFill>
          <a:ln/>
        </p:spPr>
      </p:sp>
      <p:sp>
        <p:nvSpPr>
          <p:cNvPr id="6" name="Code label"/>
          <p:cNvSpPr txBox="1"/>
          <p:nvPr/>
        </p:nvSpPr>
        <p:spPr>
          <a:xfrm>
            <a:off x="749808" y="1874520"/>
            <a:ext cx="654710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DEPLOY.PY</a:t>
            </a:r>
            <a:endParaRPr lang="en-US" sz="1000" dirty="0"/>
          </a:p>
        </p:txBody>
      </p:sp>
      <p:sp>
        <p:nvSpPr>
          <p:cNvPr id="7" name="Deploy script text"/>
          <p:cNvSpPr txBox="1"/>
          <p:nvPr/>
        </p:nvSpPr>
        <p:spPr>
          <a:xfrm>
            <a:off x="749808" y="2167128"/>
            <a:ext cx="6547104" cy="3605022"/>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"""Publish the repository's Fabric items to one environment."""</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argparse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from</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azure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identity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AzureCliCredential</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from</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fabric_cicd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FabricWorkspace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publish_all_items</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from</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fabric_cicd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unpublish_all_orphan_items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parser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argparse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ArgumentParser</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parser</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add_argument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"--env"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required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2"/>
                </a:solidFill>
                <a:latin typeface="Courier New" pitchFamily="34" charset="0"/>
                <a:ea typeface="Courier New" pitchFamily="34" charset="-122"/>
                <a:cs typeface="Courier New" pitchFamily="34" charset="-120"/>
              </a:rPr>
              <a:t>True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choices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"TEST"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"PROD"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parser</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add_argument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"--workspace-id"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required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2"/>
                </a:solidFill>
                <a:latin typeface="Courier New" pitchFamily="34" charset="0"/>
                <a:ea typeface="Courier New" pitchFamily="34" charset="-122"/>
                <a:cs typeface="Courier New" pitchFamily="34" charset="-120"/>
              </a:rPr>
              <a:t>True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parser</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add_argument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"--cleanup"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action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"store_true"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help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"also remove items that are not in the repo"</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args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parser</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parse_args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workspace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FabricWorkspace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workspace_id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workspace_id</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environment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env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i="1" dirty="0">
                <a:solidFill>
                  <a:schemeClr val="accent5"/>
                </a:solidFill>
                <a:latin typeface="Courier New" pitchFamily="34" charset="0"/>
                <a:ea typeface="Courier New" pitchFamily="34" charset="-122"/>
                <a:cs typeface="Courier New" pitchFamily="34" charset="-120"/>
              </a:rPr>
              <a:t># picks the column in parameter.yml</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repository_directory</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"fabric"</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item_type_in_scope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"Lakehouse"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"Notebook"</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"DataPipeline"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"SemanticModel"</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"Report"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token_credential</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AzureCliCredential</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i="1" dirty="0">
                <a:solidFill>
                  <a:schemeClr val="accent5"/>
                </a:solidFill>
                <a:latin typeface="Courier New" pitchFamily="34" charset="0"/>
                <a:ea typeface="Courier New" pitchFamily="34" charset="-122"/>
                <a:cs typeface="Courier New" pitchFamily="34" charset="-120"/>
              </a:rPr>
              <a:t># the service connection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publish_all_items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workspace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args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cleanup</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unpublish_all_orphan_items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workspace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p:txBody>
      </p:sp>
      <p:sp>
        <p:nvSpPr>
          <p:cNvPr id="8" name="The environment picks the column"/>
          <p:cNvSpPr/>
          <p:nvPr/>
        </p:nvSpPr>
        <p:spPr>
          <a:xfrm>
            <a:off x="7680960" y="1783080"/>
            <a:ext cx="3959352" cy="896112"/>
          </a:xfrm>
          <a:prstGeom prst="roundRect">
            <a:avLst>
              <a:gd name="adj" fmla="val 12245"/>
            </a:avLst>
          </a:prstGeom>
          <a:solidFill>
            <a:schemeClr val="bg2"/>
          </a:solidFill>
          <a:ln/>
        </p:spPr>
      </p:sp>
      <p:sp>
        <p:nvSpPr>
          <p:cNvPr id="9" name="Note title"/>
          <p:cNvSpPr txBox="1"/>
          <p:nvPr/>
        </p:nvSpPr>
        <p:spPr>
          <a:xfrm>
            <a:off x="7863840" y="1856232"/>
            <a:ext cx="3657600" cy="292608"/>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The environment picks the column</a:t>
            </a:r>
            <a:endParaRPr lang="en-US" sz="1350" dirty="0"/>
          </a:p>
        </p:txBody>
      </p:sp>
      <p:sp>
        <p:nvSpPr>
          <p:cNvPr id="10" name="Note text"/>
          <p:cNvSpPr txBox="1"/>
          <p:nvPr/>
        </p:nvSpPr>
        <p:spPr>
          <a:xfrm>
            <a:off x="7863840" y="2194560"/>
            <a:ext cx="3657600" cy="457200"/>
          </a:xfrm>
          <a:prstGeom prst="rect">
            <a:avLst/>
          </a:prstGeom>
          <a:noFill/>
          <a:ln/>
        </p:spPr>
        <p:txBody>
          <a:bodyPr wrap="square" lIns="0" tIns="0" rIns="0" bIns="0" rtlCol="0" anchor="t"/>
          <a:lstStyle/>
          <a:p>
            <a:pPr indent="0" marL="0">
              <a:buNone/>
            </a:pPr>
            <a:r>
              <a:rPr lang="en-US" sz="1200" dirty="0">
                <a:solidFill>
                  <a:schemeClr val="tx1"/>
                </a:solidFill>
              </a:rPr>
              <a:t>TEST or PROD selects the values in parameter.yml.</a:t>
            </a:r>
            <a:endParaRPr lang="en-US" sz="1200" dirty="0"/>
          </a:p>
        </p:txBody>
      </p:sp>
      <p:sp>
        <p:nvSpPr>
          <p:cNvPr id="11" name="The identity is not in the script"/>
          <p:cNvSpPr/>
          <p:nvPr/>
        </p:nvSpPr>
        <p:spPr>
          <a:xfrm>
            <a:off x="7680960" y="2770632"/>
            <a:ext cx="3959352" cy="896112"/>
          </a:xfrm>
          <a:prstGeom prst="roundRect">
            <a:avLst>
              <a:gd name="adj" fmla="val 12245"/>
            </a:avLst>
          </a:prstGeom>
          <a:solidFill>
            <a:schemeClr val="bg2"/>
          </a:solidFill>
          <a:ln/>
        </p:spPr>
      </p:sp>
      <p:sp>
        <p:nvSpPr>
          <p:cNvPr id="12" name="Note title"/>
          <p:cNvSpPr txBox="1"/>
          <p:nvPr/>
        </p:nvSpPr>
        <p:spPr>
          <a:xfrm>
            <a:off x="7863840" y="2843784"/>
            <a:ext cx="3657600" cy="292608"/>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The identity is not in the script</a:t>
            </a:r>
            <a:endParaRPr lang="en-US" sz="1350" dirty="0"/>
          </a:p>
        </p:txBody>
      </p:sp>
      <p:sp>
        <p:nvSpPr>
          <p:cNvPr id="13" name="Note text"/>
          <p:cNvSpPr txBox="1"/>
          <p:nvPr/>
        </p:nvSpPr>
        <p:spPr>
          <a:xfrm>
            <a:off x="7863840" y="3182112"/>
            <a:ext cx="3657600" cy="457200"/>
          </a:xfrm>
          <a:prstGeom prst="rect">
            <a:avLst/>
          </a:prstGeom>
          <a:noFill/>
          <a:ln/>
        </p:spPr>
        <p:txBody>
          <a:bodyPr wrap="square" lIns="0" tIns="0" rIns="0" bIns="0" rtlCol="0" anchor="t"/>
          <a:lstStyle/>
          <a:p>
            <a:pPr indent="0" marL="0">
              <a:buNone/>
            </a:pPr>
            <a:r>
              <a:rPr lang="en-US" sz="1200" dirty="0">
                <a:solidFill>
                  <a:schemeClr val="tx1"/>
                </a:solidFill>
              </a:rPr>
              <a:t>It comes from the pipeline's service connection.</a:t>
            </a:r>
            <a:endParaRPr lang="en-US" sz="1200" dirty="0"/>
          </a:p>
        </p:txBody>
      </p:sp>
      <p:sp>
        <p:nvSpPr>
          <p:cNvPr id="14" name="Scope is what the repo owns"/>
          <p:cNvSpPr/>
          <p:nvPr/>
        </p:nvSpPr>
        <p:spPr>
          <a:xfrm>
            <a:off x="7680960" y="3758184"/>
            <a:ext cx="3959352" cy="896112"/>
          </a:xfrm>
          <a:prstGeom prst="roundRect">
            <a:avLst>
              <a:gd name="adj" fmla="val 12245"/>
            </a:avLst>
          </a:prstGeom>
          <a:solidFill>
            <a:schemeClr val="bg2"/>
          </a:solidFill>
          <a:ln/>
        </p:spPr>
      </p:sp>
      <p:sp>
        <p:nvSpPr>
          <p:cNvPr id="15" name="Note title"/>
          <p:cNvSpPr txBox="1"/>
          <p:nvPr/>
        </p:nvSpPr>
        <p:spPr>
          <a:xfrm>
            <a:off x="7863840" y="3831336"/>
            <a:ext cx="3657600" cy="292608"/>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Scope is what the repo owns</a:t>
            </a:r>
            <a:endParaRPr lang="en-US" sz="1350" dirty="0"/>
          </a:p>
        </p:txBody>
      </p:sp>
      <p:sp>
        <p:nvSpPr>
          <p:cNvPr id="16" name="Note text"/>
          <p:cNvSpPr txBox="1"/>
          <p:nvPr/>
        </p:nvSpPr>
        <p:spPr>
          <a:xfrm>
            <a:off x="7863840" y="4169664"/>
            <a:ext cx="3657600" cy="457200"/>
          </a:xfrm>
          <a:prstGeom prst="rect">
            <a:avLst/>
          </a:prstGeom>
          <a:noFill/>
          <a:ln/>
        </p:spPr>
        <p:txBody>
          <a:bodyPr wrap="square" lIns="0" tIns="0" rIns="0" bIns="0" rtlCol="0" anchor="t"/>
          <a:lstStyle/>
          <a:p>
            <a:pPr indent="0" marL="0">
              <a:buNone/>
            </a:pPr>
            <a:r>
              <a:rPr lang="en-US" sz="1200" dirty="0">
                <a:solidFill>
                  <a:schemeClr val="tx1"/>
                </a:solidFill>
              </a:rPr>
              <a:t>The lakehouse is in scope so notebooks can bind to it. Its data stays put.</a:t>
            </a:r>
            <a:endParaRPr lang="en-US" sz="1200" dirty="0"/>
          </a:p>
        </p:txBody>
      </p:sp>
      <p:sp>
        <p:nvSpPr>
          <p:cNvPr id="17" name="Cleanup is a choice"/>
          <p:cNvSpPr/>
          <p:nvPr/>
        </p:nvSpPr>
        <p:spPr>
          <a:xfrm>
            <a:off x="7680960" y="4745736"/>
            <a:ext cx="3959352" cy="896112"/>
          </a:xfrm>
          <a:prstGeom prst="roundRect">
            <a:avLst>
              <a:gd name="adj" fmla="val 12245"/>
            </a:avLst>
          </a:prstGeom>
          <a:solidFill>
            <a:schemeClr val="bg2"/>
          </a:solidFill>
          <a:ln/>
        </p:spPr>
      </p:sp>
      <p:sp>
        <p:nvSpPr>
          <p:cNvPr id="18" name="Note title"/>
          <p:cNvSpPr txBox="1"/>
          <p:nvPr/>
        </p:nvSpPr>
        <p:spPr>
          <a:xfrm>
            <a:off x="7863840" y="4818888"/>
            <a:ext cx="3657600" cy="292608"/>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Cleanup is a choice</a:t>
            </a:r>
            <a:endParaRPr lang="en-US" sz="1350" dirty="0"/>
          </a:p>
        </p:txBody>
      </p:sp>
      <p:sp>
        <p:nvSpPr>
          <p:cNvPr id="19" name="Note text"/>
          <p:cNvSpPr txBox="1"/>
          <p:nvPr/>
        </p:nvSpPr>
        <p:spPr>
          <a:xfrm>
            <a:off x="7863840" y="5157216"/>
            <a:ext cx="3657600" cy="457200"/>
          </a:xfrm>
          <a:prstGeom prst="rect">
            <a:avLst/>
          </a:prstGeom>
          <a:noFill/>
          <a:ln/>
        </p:spPr>
        <p:txBody>
          <a:bodyPr wrap="square" lIns="0" tIns="0" rIns="0" bIns="0" rtlCol="0" anchor="t"/>
          <a:lstStyle/>
          <a:p>
            <a:pPr indent="0" marL="0">
              <a:buNone/>
            </a:pPr>
            <a:r>
              <a:rPr lang="en-US" sz="1200" dirty="0">
                <a:solidFill>
                  <a:schemeClr val="tx1"/>
                </a:solidFill>
              </a:rPr>
              <a:t>Deleting is a decision. Most deletes go to the recycle bin.</a:t>
            </a:r>
            <a:endParaRPr lang="en-US" sz="1200" dirty="0"/>
          </a:p>
        </p:txBody>
      </p:sp>
      <p:sp>
        <p:nvSpPr>
          <p:cNvPr id="20"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Checked against the real fabric-cicd 1.4.0 signature, and --help runs. Not run against a tenant.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pipeline: rails first, TEST on merge, PROD after approval</a:t>
            </a:r>
            <a:endParaRPr lang="en-US" sz="3200" dirty="0"/>
          </a:p>
        </p:txBody>
      </p:sp>
      <p:sp>
        <p:nvSpPr>
          <p:cNvPr id="5" name="Rails stage"/>
          <p:cNvSpPr/>
          <p:nvPr/>
        </p:nvSpPr>
        <p:spPr>
          <a:xfrm>
            <a:off x="548640" y="1783080"/>
            <a:ext cx="4297680" cy="1170432"/>
          </a:xfrm>
          <a:prstGeom prst="roundRect">
            <a:avLst>
              <a:gd name="adj" fmla="val 9375"/>
            </a:avLst>
          </a:prstGeom>
          <a:solidFill>
            <a:schemeClr val="bg2"/>
          </a:solidFill>
          <a:ln/>
        </p:spPr>
      </p:sp>
      <p:sp>
        <p:nvSpPr>
          <p:cNvPr id="6" name="Stage chip 1"/>
          <p:cNvSpPr/>
          <p:nvPr/>
        </p:nvSpPr>
        <p:spPr>
          <a:xfrm>
            <a:off x="731520" y="1947672"/>
            <a:ext cx="420624" cy="420624"/>
          </a:xfrm>
          <a:prstGeom prst="roundRect">
            <a:avLst>
              <a:gd name="adj" fmla="val 17391"/>
            </a:avLst>
          </a:prstGeom>
          <a:solidFill>
            <a:schemeClr val="accent2"/>
          </a:solidFill>
          <a:ln/>
        </p:spPr>
      </p:sp>
      <p:sp>
        <p:nvSpPr>
          <p:cNvPr id="7" name="Stage number"/>
          <p:cNvSpPr txBox="1"/>
          <p:nvPr/>
        </p:nvSpPr>
        <p:spPr>
          <a:xfrm>
            <a:off x="731520" y="194767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Stage title"/>
          <p:cNvSpPr txBox="1"/>
          <p:nvPr/>
        </p:nvSpPr>
        <p:spPr>
          <a:xfrm>
            <a:off x="1325880" y="1892808"/>
            <a:ext cx="146304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Rails</a:t>
            </a:r>
            <a:endParaRPr lang="en-US" sz="1700" dirty="0"/>
          </a:p>
        </p:txBody>
      </p:sp>
      <p:sp>
        <p:nvSpPr>
          <p:cNvPr id="9" name="Stage trigger"/>
          <p:cNvSpPr txBox="1"/>
          <p:nvPr/>
        </p:nvSpPr>
        <p:spPr>
          <a:xfrm>
            <a:off x="2743200" y="1920240"/>
            <a:ext cx="2011680" cy="320040"/>
          </a:xfrm>
          <a:prstGeom prst="rect">
            <a:avLst/>
          </a:prstGeom>
          <a:noFill/>
          <a:ln/>
        </p:spPr>
        <p:txBody>
          <a:bodyPr wrap="square" lIns="0" tIns="0" rIns="0" bIns="0" rtlCol="0" anchor="t"/>
          <a:lstStyle/>
          <a:p>
            <a:pPr indent="0" marL="0">
              <a:buNone/>
            </a:pPr>
            <a:r>
              <a:rPr lang="en-US" sz="1150" i="1" dirty="0">
                <a:solidFill>
                  <a:schemeClr val="accent1"/>
                </a:solidFill>
              </a:rPr>
              <a:t>Every change</a:t>
            </a:r>
            <a:endParaRPr lang="en-US" sz="1150" dirty="0"/>
          </a:p>
        </p:txBody>
      </p:sp>
      <p:sp>
        <p:nvSpPr>
          <p:cNvPr id="10" name="Stage text"/>
          <p:cNvSpPr txBox="1"/>
          <p:nvPr/>
        </p:nvSpPr>
        <p:spPr>
          <a:xfrm>
            <a:off x="777240" y="2377440"/>
            <a:ext cx="3931920" cy="548640"/>
          </a:xfrm>
          <a:prstGeom prst="rect">
            <a:avLst/>
          </a:prstGeom>
          <a:noFill/>
          <a:ln/>
        </p:spPr>
        <p:txBody>
          <a:bodyPr wrap="square" lIns="0" tIns="0" rIns="0" bIns="0" rtlCol="0" anchor="t"/>
          <a:lstStyle/>
          <a:p>
            <a:pPr indent="0" marL="0">
              <a:buNone/>
            </a:pPr>
            <a:r>
              <a:rPr lang="en-US" sz="1250" dirty="0">
                <a:solidFill>
                  <a:schemeClr val="tx1"/>
                </a:solidFill>
              </a:rPr>
              <a:t>No hard-coded IDs. No secrets. Conforming messages.</a:t>
            </a:r>
            <a:endParaRPr lang="en-US" sz="1250" dirty="0"/>
          </a:p>
        </p:txBody>
      </p:sp>
      <p:sp>
        <p:nvSpPr>
          <p:cNvPr id="11" name="Stage arrow 1"/>
          <p:cNvSpPr/>
          <p:nvPr/>
        </p:nvSpPr>
        <p:spPr>
          <a:xfrm>
            <a:off x="2697480" y="2971800"/>
            <a:ext cx="0" cy="91440"/>
          </a:xfrm>
          <a:prstGeom prst="line">
            <a:avLst/>
          </a:prstGeom>
          <a:noFill/>
          <a:ln w="31750">
            <a:solidFill>
              <a:schemeClr val="accent5"/>
            </a:solidFill>
            <a:prstDash val="solid"/>
            <a:tailEnd type="triangle"/>
          </a:ln>
        </p:spPr>
      </p:sp>
      <p:sp>
        <p:nvSpPr>
          <p:cNvPr id="12" name="TEST stage"/>
          <p:cNvSpPr/>
          <p:nvPr/>
        </p:nvSpPr>
        <p:spPr>
          <a:xfrm>
            <a:off x="548640" y="3063240"/>
            <a:ext cx="4297680" cy="1170432"/>
          </a:xfrm>
          <a:prstGeom prst="roundRect">
            <a:avLst>
              <a:gd name="adj" fmla="val 9375"/>
            </a:avLst>
          </a:prstGeom>
          <a:solidFill>
            <a:schemeClr val="bg2"/>
          </a:solidFill>
          <a:ln/>
        </p:spPr>
      </p:sp>
      <p:sp>
        <p:nvSpPr>
          <p:cNvPr id="13" name="Stage chip 2"/>
          <p:cNvSpPr/>
          <p:nvPr/>
        </p:nvSpPr>
        <p:spPr>
          <a:xfrm>
            <a:off x="731520" y="3227832"/>
            <a:ext cx="420624" cy="420624"/>
          </a:xfrm>
          <a:prstGeom prst="roundRect">
            <a:avLst>
              <a:gd name="adj" fmla="val 17391"/>
            </a:avLst>
          </a:prstGeom>
          <a:solidFill>
            <a:schemeClr val="accent1"/>
          </a:solidFill>
          <a:ln/>
        </p:spPr>
      </p:sp>
      <p:sp>
        <p:nvSpPr>
          <p:cNvPr id="14" name="Stage number"/>
          <p:cNvSpPr txBox="1"/>
          <p:nvPr/>
        </p:nvSpPr>
        <p:spPr>
          <a:xfrm>
            <a:off x="731520" y="322783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5" name="Stage title"/>
          <p:cNvSpPr txBox="1"/>
          <p:nvPr/>
        </p:nvSpPr>
        <p:spPr>
          <a:xfrm>
            <a:off x="1325880" y="3172968"/>
            <a:ext cx="146304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TEST</a:t>
            </a:r>
            <a:endParaRPr lang="en-US" sz="1700" dirty="0"/>
          </a:p>
        </p:txBody>
      </p:sp>
      <p:sp>
        <p:nvSpPr>
          <p:cNvPr id="16" name="Stage trigger"/>
          <p:cNvSpPr txBox="1"/>
          <p:nvPr/>
        </p:nvSpPr>
        <p:spPr>
          <a:xfrm>
            <a:off x="2743200" y="3200400"/>
            <a:ext cx="2011680" cy="320040"/>
          </a:xfrm>
          <a:prstGeom prst="rect">
            <a:avLst/>
          </a:prstGeom>
          <a:noFill/>
          <a:ln/>
        </p:spPr>
        <p:txBody>
          <a:bodyPr wrap="square" lIns="0" tIns="0" rIns="0" bIns="0" rtlCol="0" anchor="t"/>
          <a:lstStyle/>
          <a:p>
            <a:pPr indent="0" marL="0">
              <a:buNone/>
            </a:pPr>
            <a:r>
              <a:rPr lang="en-US" sz="1150" i="1" dirty="0">
                <a:solidFill>
                  <a:schemeClr val="accent1"/>
                </a:solidFill>
              </a:rPr>
              <a:t>On merge to main</a:t>
            </a:r>
            <a:endParaRPr lang="en-US" sz="1150" dirty="0"/>
          </a:p>
        </p:txBody>
      </p:sp>
      <p:sp>
        <p:nvSpPr>
          <p:cNvPr id="17" name="Stage text"/>
          <p:cNvSpPr txBox="1"/>
          <p:nvPr/>
        </p:nvSpPr>
        <p:spPr>
          <a:xfrm>
            <a:off x="777240" y="3657600"/>
            <a:ext cx="3931920" cy="548640"/>
          </a:xfrm>
          <a:prstGeom prst="rect">
            <a:avLst/>
          </a:prstGeom>
          <a:noFill/>
          <a:ln/>
        </p:spPr>
        <p:txBody>
          <a:bodyPr wrap="square" lIns="0" tIns="0" rIns="0" bIns="0" rtlCol="0" anchor="t"/>
          <a:lstStyle/>
          <a:p>
            <a:pPr indent="0" marL="0">
              <a:buNone/>
            </a:pPr>
            <a:r>
              <a:rPr lang="en-US" sz="1250" dirty="0">
                <a:solidFill>
                  <a:schemeClr val="tx1"/>
                </a:solidFill>
              </a:rPr>
              <a:t>deploy.py --env TEST</a:t>
            </a:r>
            <a:endParaRPr lang="en-US" sz="1250" dirty="0"/>
          </a:p>
        </p:txBody>
      </p:sp>
      <p:sp>
        <p:nvSpPr>
          <p:cNvPr id="18" name="Stage arrow 2"/>
          <p:cNvSpPr/>
          <p:nvPr/>
        </p:nvSpPr>
        <p:spPr>
          <a:xfrm>
            <a:off x="2697480" y="4251960"/>
            <a:ext cx="0" cy="91440"/>
          </a:xfrm>
          <a:prstGeom prst="line">
            <a:avLst/>
          </a:prstGeom>
          <a:noFill/>
          <a:ln w="31750">
            <a:solidFill>
              <a:schemeClr val="accent5"/>
            </a:solidFill>
            <a:prstDash val="solid"/>
            <a:tailEnd type="triangle"/>
          </a:ln>
        </p:spPr>
      </p:sp>
      <p:sp>
        <p:nvSpPr>
          <p:cNvPr id="19" name="PROD stage"/>
          <p:cNvSpPr/>
          <p:nvPr/>
        </p:nvSpPr>
        <p:spPr>
          <a:xfrm>
            <a:off x="548640" y="4343400"/>
            <a:ext cx="4297680" cy="1170432"/>
          </a:xfrm>
          <a:prstGeom prst="roundRect">
            <a:avLst>
              <a:gd name="adj" fmla="val 9375"/>
            </a:avLst>
          </a:prstGeom>
          <a:solidFill>
            <a:schemeClr val="bg2"/>
          </a:solidFill>
          <a:ln/>
        </p:spPr>
      </p:sp>
      <p:sp>
        <p:nvSpPr>
          <p:cNvPr id="20" name="Stage chip 3"/>
          <p:cNvSpPr/>
          <p:nvPr/>
        </p:nvSpPr>
        <p:spPr>
          <a:xfrm>
            <a:off x="731520" y="4507992"/>
            <a:ext cx="420624" cy="420624"/>
          </a:xfrm>
          <a:prstGeom prst="roundRect">
            <a:avLst>
              <a:gd name="adj" fmla="val 17391"/>
            </a:avLst>
          </a:prstGeom>
          <a:solidFill>
            <a:schemeClr val="accent4"/>
          </a:solidFill>
          <a:ln/>
        </p:spPr>
      </p:sp>
      <p:sp>
        <p:nvSpPr>
          <p:cNvPr id="21" name="Stage number"/>
          <p:cNvSpPr txBox="1"/>
          <p:nvPr/>
        </p:nvSpPr>
        <p:spPr>
          <a:xfrm>
            <a:off x="731520" y="450799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22" name="Stage title"/>
          <p:cNvSpPr txBox="1"/>
          <p:nvPr/>
        </p:nvSpPr>
        <p:spPr>
          <a:xfrm>
            <a:off x="1325880" y="4453128"/>
            <a:ext cx="146304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PROD</a:t>
            </a:r>
            <a:endParaRPr lang="en-US" sz="1700" dirty="0"/>
          </a:p>
        </p:txBody>
      </p:sp>
      <p:sp>
        <p:nvSpPr>
          <p:cNvPr id="23" name="Stage trigger"/>
          <p:cNvSpPr txBox="1"/>
          <p:nvPr/>
        </p:nvSpPr>
        <p:spPr>
          <a:xfrm>
            <a:off x="2743200" y="4480560"/>
            <a:ext cx="2011680" cy="320040"/>
          </a:xfrm>
          <a:prstGeom prst="rect">
            <a:avLst/>
          </a:prstGeom>
          <a:noFill/>
          <a:ln/>
        </p:spPr>
        <p:txBody>
          <a:bodyPr wrap="square" lIns="0" tIns="0" rIns="0" bIns="0" rtlCol="0" anchor="t"/>
          <a:lstStyle/>
          <a:p>
            <a:pPr indent="0" marL="0">
              <a:buNone/>
            </a:pPr>
            <a:r>
              <a:rPr lang="en-US" sz="1150" i="1" dirty="0">
                <a:solidFill>
                  <a:schemeClr val="accent1"/>
                </a:solidFill>
              </a:rPr>
              <a:t>After approval</a:t>
            </a:r>
            <a:endParaRPr lang="en-US" sz="1150" dirty="0"/>
          </a:p>
        </p:txBody>
      </p:sp>
      <p:sp>
        <p:nvSpPr>
          <p:cNvPr id="24" name="Stage text"/>
          <p:cNvSpPr txBox="1"/>
          <p:nvPr/>
        </p:nvSpPr>
        <p:spPr>
          <a:xfrm>
            <a:off x="777240" y="4937760"/>
            <a:ext cx="3931920" cy="548640"/>
          </a:xfrm>
          <a:prstGeom prst="rect">
            <a:avLst/>
          </a:prstGeom>
          <a:noFill/>
          <a:ln/>
        </p:spPr>
        <p:txBody>
          <a:bodyPr wrap="square" lIns="0" tIns="0" rIns="0" bIns="0" rtlCol="0" anchor="t"/>
          <a:lstStyle/>
          <a:p>
            <a:pPr indent="0" marL="0">
              <a:buNone/>
            </a:pPr>
            <a:r>
              <a:rPr lang="en-US" sz="1250" dirty="0">
                <a:solidFill>
                  <a:schemeClr val="tx1"/>
                </a:solidFill>
              </a:rPr>
              <a:t>Same commit. Waits on the environment.</a:t>
            </a:r>
            <a:endParaRPr lang="en-US" sz="1250" dirty="0"/>
          </a:p>
        </p:txBody>
      </p:sp>
      <p:sp>
        <p:nvSpPr>
          <p:cNvPr id="25" name="Rails stage"/>
          <p:cNvSpPr/>
          <p:nvPr/>
        </p:nvSpPr>
        <p:spPr>
          <a:xfrm>
            <a:off x="5074920" y="1783080"/>
            <a:ext cx="6565392" cy="2083689"/>
          </a:xfrm>
          <a:prstGeom prst="roundRect">
            <a:avLst>
              <a:gd name="adj" fmla="val 4388"/>
            </a:avLst>
          </a:prstGeom>
          <a:solidFill>
            <a:schemeClr val="tx1"/>
          </a:solidFill>
          <a:ln/>
        </p:spPr>
      </p:sp>
      <p:sp>
        <p:nvSpPr>
          <p:cNvPr id="26" name="Code label"/>
          <p:cNvSpPr txBox="1"/>
          <p:nvPr/>
        </p:nvSpPr>
        <p:spPr>
          <a:xfrm>
            <a:off x="5276088" y="1874520"/>
            <a:ext cx="61630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AZURE-PIPELINES.YML · THE RAILS STAGE (EXCERPT)</a:t>
            </a:r>
            <a:endParaRPr lang="en-US" sz="1000" dirty="0"/>
          </a:p>
        </p:txBody>
      </p:sp>
      <p:sp>
        <p:nvSpPr>
          <p:cNvPr id="27" name="Rails stage text"/>
          <p:cNvSpPr txBox="1"/>
          <p:nvPr/>
        </p:nvSpPr>
        <p:spPr>
          <a:xfrm>
            <a:off x="5276088" y="2167128"/>
            <a:ext cx="6163056" cy="1589913"/>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stages: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stage: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rails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jobs: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job:</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checks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steps: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script: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sync</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--frozen</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script: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run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python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rails/scan_ids.py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script: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run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python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script: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run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python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rails/check_commit_msg.py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origin/main..HEAD</a:t>
            </a:r>
            <a:endParaRPr lang="en-US" sz="950" dirty="0"/>
          </a:p>
        </p:txBody>
      </p:sp>
      <p:sp>
        <p:nvSpPr>
          <p:cNvPr id="28" name="Prod stage"/>
          <p:cNvSpPr/>
          <p:nvPr/>
        </p:nvSpPr>
        <p:spPr>
          <a:xfrm>
            <a:off x="5074920" y="4003929"/>
            <a:ext cx="6565392" cy="1642110"/>
          </a:xfrm>
          <a:prstGeom prst="roundRect">
            <a:avLst>
              <a:gd name="adj" fmla="val 5568"/>
            </a:avLst>
          </a:prstGeom>
          <a:solidFill>
            <a:schemeClr val="tx1"/>
          </a:solidFill>
          <a:ln/>
        </p:spPr>
      </p:sp>
      <p:sp>
        <p:nvSpPr>
          <p:cNvPr id="29" name="Code label"/>
          <p:cNvSpPr txBox="1"/>
          <p:nvPr/>
        </p:nvSpPr>
        <p:spPr>
          <a:xfrm>
            <a:off x="5276088" y="4095369"/>
            <a:ext cx="61630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…AND THE PROD STAGE HEADER</a:t>
            </a:r>
            <a:endParaRPr lang="en-US" sz="1000" dirty="0"/>
          </a:p>
        </p:txBody>
      </p:sp>
      <p:sp>
        <p:nvSpPr>
          <p:cNvPr id="30" name="Prod stage text"/>
          <p:cNvSpPr txBox="1"/>
          <p:nvPr/>
        </p:nvSpPr>
        <p:spPr>
          <a:xfrm>
            <a:off x="5276088" y="4387977"/>
            <a:ext cx="6163056" cy="1148334"/>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stage: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prod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dependsOn: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test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jobs: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deployment: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deploy_prod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environment: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fabric-prod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approvals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live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here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p:txBody>
      </p:sp>
      <p:sp>
        <p:nvSpPr>
          <p:cNvPr id="31" name="Footnote"/>
          <p:cNvSpPr txBox="1"/>
          <p:nvPr/>
        </p:nvSpPr>
        <p:spPr>
          <a:xfrm>
            <a:off x="548640" y="5943600"/>
            <a:ext cx="4297680" cy="41148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Illustrative. Names are placeholders. Structure checked by parsing; not run in Azure DevOps.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Build once, promote the same commit</a:t>
            </a:r>
            <a:endParaRPr lang="en-US" sz="3200" dirty="0"/>
          </a:p>
        </p:txBody>
      </p:sp>
      <p:sp>
        <p:nvSpPr>
          <p:cNvPr id="5" name="Merge card"/>
          <p:cNvSpPr/>
          <p:nvPr/>
        </p:nvSpPr>
        <p:spPr>
          <a:xfrm>
            <a:off x="548640" y="1783080"/>
            <a:ext cx="1280160" cy="1600200"/>
          </a:xfrm>
          <a:prstGeom prst="roundRect">
            <a:avLst>
              <a:gd name="adj" fmla="val 8571"/>
            </a:avLst>
          </a:prstGeom>
          <a:solidFill>
            <a:schemeClr val="bg2"/>
          </a:solidFill>
          <a:ln/>
        </p:spPr>
      </p:sp>
      <p:sp>
        <p:nvSpPr>
          <p:cNvPr id="6" name="Step chip 1"/>
          <p:cNvSpPr/>
          <p:nvPr/>
        </p:nvSpPr>
        <p:spPr>
          <a:xfrm>
            <a:off x="658368" y="1892808"/>
            <a:ext cx="365760" cy="365760"/>
          </a:xfrm>
          <a:prstGeom prst="roundRect">
            <a:avLst>
              <a:gd name="adj" fmla="val 20000"/>
            </a:avLst>
          </a:prstGeom>
          <a:solidFill>
            <a:schemeClr val="accent1"/>
          </a:solidFill>
          <a:ln/>
        </p:spPr>
      </p:sp>
      <p:sp>
        <p:nvSpPr>
          <p:cNvPr id="7" name="Step number"/>
          <p:cNvSpPr txBox="1"/>
          <p:nvPr/>
        </p:nvSpPr>
        <p:spPr>
          <a:xfrm>
            <a:off x="658368"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Step title"/>
          <p:cNvSpPr txBox="1"/>
          <p:nvPr/>
        </p:nvSpPr>
        <p:spPr>
          <a:xfrm>
            <a:off x="658368"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Merge</a:t>
            </a:r>
            <a:endParaRPr lang="en-US" sz="1250" dirty="0"/>
          </a:p>
        </p:txBody>
      </p:sp>
      <p:sp>
        <p:nvSpPr>
          <p:cNvPr id="9" name="Step text"/>
          <p:cNvSpPr txBox="1"/>
          <p:nvPr/>
        </p:nvSpPr>
        <p:spPr>
          <a:xfrm>
            <a:off x="658368"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PR merged to main</a:t>
            </a:r>
            <a:endParaRPr lang="en-US" sz="1050" dirty="0"/>
          </a:p>
        </p:txBody>
      </p:sp>
      <p:sp>
        <p:nvSpPr>
          <p:cNvPr id="10" name="Step arrow 1"/>
          <p:cNvSpPr/>
          <p:nvPr/>
        </p:nvSpPr>
        <p:spPr>
          <a:xfrm>
            <a:off x="1847088" y="2075688"/>
            <a:ext cx="85300" cy="0"/>
          </a:xfrm>
          <a:prstGeom prst="line">
            <a:avLst/>
          </a:prstGeom>
          <a:noFill/>
          <a:ln w="25400">
            <a:solidFill>
              <a:schemeClr val="accent5"/>
            </a:solidFill>
            <a:prstDash val="solid"/>
            <a:tailEnd type="triangle"/>
          </a:ln>
        </p:spPr>
      </p:sp>
      <p:sp>
        <p:nvSpPr>
          <p:cNvPr id="11" name="Tag card"/>
          <p:cNvSpPr/>
          <p:nvPr/>
        </p:nvSpPr>
        <p:spPr>
          <a:xfrm>
            <a:off x="1950676" y="1783080"/>
            <a:ext cx="1280160" cy="1600200"/>
          </a:xfrm>
          <a:prstGeom prst="roundRect">
            <a:avLst>
              <a:gd name="adj" fmla="val 8571"/>
            </a:avLst>
          </a:prstGeom>
          <a:solidFill>
            <a:schemeClr val="accent3">
              <a:alpha val="22000"/>
            </a:schemeClr>
          </a:solidFill>
          <a:ln/>
        </p:spPr>
      </p:sp>
      <p:sp>
        <p:nvSpPr>
          <p:cNvPr id="12" name="Step chip 2"/>
          <p:cNvSpPr/>
          <p:nvPr/>
        </p:nvSpPr>
        <p:spPr>
          <a:xfrm>
            <a:off x="2060404" y="1892808"/>
            <a:ext cx="365760" cy="365760"/>
          </a:xfrm>
          <a:prstGeom prst="roundRect">
            <a:avLst>
              <a:gd name="adj" fmla="val 20000"/>
            </a:avLst>
          </a:prstGeom>
          <a:solidFill>
            <a:schemeClr val="accent3"/>
          </a:solidFill>
          <a:ln/>
        </p:spPr>
      </p:sp>
      <p:sp>
        <p:nvSpPr>
          <p:cNvPr id="13" name="Step number"/>
          <p:cNvSpPr txBox="1"/>
          <p:nvPr/>
        </p:nvSpPr>
        <p:spPr>
          <a:xfrm>
            <a:off x="2060404" y="1892808"/>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mj-lt" pitchFamily="34" charset="0"/>
                <a:ea typeface="+mj-lt" pitchFamily="34" charset="-122"/>
                <a:cs typeface="+mj-lt" pitchFamily="34" charset="-120"/>
              </a:rPr>
              <a:t>2</a:t>
            </a:r>
            <a:endParaRPr lang="en-US" sz="1400" dirty="0"/>
          </a:p>
        </p:txBody>
      </p:sp>
      <p:sp>
        <p:nvSpPr>
          <p:cNvPr id="14" name="Step title"/>
          <p:cNvSpPr txBox="1"/>
          <p:nvPr/>
        </p:nvSpPr>
        <p:spPr>
          <a:xfrm>
            <a:off x="2060404"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Tag</a:t>
            </a:r>
            <a:endParaRPr lang="en-US" sz="1250" dirty="0"/>
          </a:p>
        </p:txBody>
      </p:sp>
      <p:sp>
        <p:nvSpPr>
          <p:cNvPr id="15" name="Step text"/>
          <p:cNvSpPr txBox="1"/>
          <p:nvPr/>
        </p:nvSpPr>
        <p:spPr>
          <a:xfrm>
            <a:off x="2060404"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v1.0.0</a:t>
            </a:r>
            <a:endParaRPr lang="en-US" sz="1050" dirty="0"/>
          </a:p>
        </p:txBody>
      </p:sp>
      <p:sp>
        <p:nvSpPr>
          <p:cNvPr id="16" name="Step arrow 2"/>
          <p:cNvSpPr/>
          <p:nvPr/>
        </p:nvSpPr>
        <p:spPr>
          <a:xfrm>
            <a:off x="3249124" y="2075688"/>
            <a:ext cx="85300" cy="0"/>
          </a:xfrm>
          <a:prstGeom prst="line">
            <a:avLst/>
          </a:prstGeom>
          <a:noFill/>
          <a:ln w="25400">
            <a:solidFill>
              <a:schemeClr val="accent5"/>
            </a:solidFill>
            <a:prstDash val="solid"/>
            <a:tailEnd type="triangle"/>
          </a:ln>
        </p:spPr>
      </p:sp>
      <p:sp>
        <p:nvSpPr>
          <p:cNvPr id="17" name="Deploy TEST card"/>
          <p:cNvSpPr/>
          <p:nvPr/>
        </p:nvSpPr>
        <p:spPr>
          <a:xfrm>
            <a:off x="3352713" y="1783080"/>
            <a:ext cx="1280160" cy="1600200"/>
          </a:xfrm>
          <a:prstGeom prst="roundRect">
            <a:avLst>
              <a:gd name="adj" fmla="val 8571"/>
            </a:avLst>
          </a:prstGeom>
          <a:solidFill>
            <a:schemeClr val="bg2"/>
          </a:solidFill>
          <a:ln/>
        </p:spPr>
      </p:sp>
      <p:sp>
        <p:nvSpPr>
          <p:cNvPr id="18" name="Step chip 3"/>
          <p:cNvSpPr/>
          <p:nvPr/>
        </p:nvSpPr>
        <p:spPr>
          <a:xfrm>
            <a:off x="3462441" y="1892808"/>
            <a:ext cx="365760" cy="365760"/>
          </a:xfrm>
          <a:prstGeom prst="roundRect">
            <a:avLst>
              <a:gd name="adj" fmla="val 20000"/>
            </a:avLst>
          </a:prstGeom>
          <a:solidFill>
            <a:schemeClr val="accent1"/>
          </a:solidFill>
          <a:ln/>
        </p:spPr>
      </p:sp>
      <p:sp>
        <p:nvSpPr>
          <p:cNvPr id="19" name="Step number"/>
          <p:cNvSpPr txBox="1"/>
          <p:nvPr/>
        </p:nvSpPr>
        <p:spPr>
          <a:xfrm>
            <a:off x="3462441"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0" name="Step title"/>
          <p:cNvSpPr txBox="1"/>
          <p:nvPr/>
        </p:nvSpPr>
        <p:spPr>
          <a:xfrm>
            <a:off x="3462441"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Deploy TEST</a:t>
            </a:r>
            <a:endParaRPr lang="en-US" sz="1250" dirty="0"/>
          </a:p>
        </p:txBody>
      </p:sp>
      <p:sp>
        <p:nvSpPr>
          <p:cNvPr id="21" name="Step text"/>
          <p:cNvSpPr txBox="1"/>
          <p:nvPr/>
        </p:nvSpPr>
        <p:spPr>
          <a:xfrm>
            <a:off x="3462441"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Same tag</a:t>
            </a:r>
            <a:endParaRPr lang="en-US" sz="1050" dirty="0"/>
          </a:p>
        </p:txBody>
      </p:sp>
      <p:sp>
        <p:nvSpPr>
          <p:cNvPr id="22" name="Step arrow 3"/>
          <p:cNvSpPr/>
          <p:nvPr/>
        </p:nvSpPr>
        <p:spPr>
          <a:xfrm>
            <a:off x="4651161" y="2075688"/>
            <a:ext cx="85300" cy="0"/>
          </a:xfrm>
          <a:prstGeom prst="line">
            <a:avLst/>
          </a:prstGeom>
          <a:noFill/>
          <a:ln w="25400">
            <a:solidFill>
              <a:schemeClr val="accent5"/>
            </a:solidFill>
            <a:prstDash val="solid"/>
            <a:tailEnd type="triangle"/>
          </a:ln>
        </p:spPr>
      </p:sp>
      <p:sp>
        <p:nvSpPr>
          <p:cNvPr id="23" name="UAT card"/>
          <p:cNvSpPr/>
          <p:nvPr/>
        </p:nvSpPr>
        <p:spPr>
          <a:xfrm>
            <a:off x="4754749" y="1783080"/>
            <a:ext cx="1280160" cy="1600200"/>
          </a:xfrm>
          <a:prstGeom prst="roundRect">
            <a:avLst>
              <a:gd name="adj" fmla="val 8571"/>
            </a:avLst>
          </a:prstGeom>
          <a:solidFill>
            <a:schemeClr val="bg2"/>
          </a:solidFill>
          <a:ln/>
        </p:spPr>
      </p:sp>
      <p:sp>
        <p:nvSpPr>
          <p:cNvPr id="24" name="Step chip 4"/>
          <p:cNvSpPr/>
          <p:nvPr/>
        </p:nvSpPr>
        <p:spPr>
          <a:xfrm>
            <a:off x="4864477" y="1892808"/>
            <a:ext cx="365760" cy="365760"/>
          </a:xfrm>
          <a:prstGeom prst="roundRect">
            <a:avLst>
              <a:gd name="adj" fmla="val 20000"/>
            </a:avLst>
          </a:prstGeom>
          <a:solidFill>
            <a:schemeClr val="accent1"/>
          </a:solidFill>
          <a:ln/>
        </p:spPr>
      </p:sp>
      <p:sp>
        <p:nvSpPr>
          <p:cNvPr id="25" name="Step number"/>
          <p:cNvSpPr txBox="1"/>
          <p:nvPr/>
        </p:nvSpPr>
        <p:spPr>
          <a:xfrm>
            <a:off x="4864477"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6" name="Step title"/>
          <p:cNvSpPr txBox="1"/>
          <p:nvPr/>
        </p:nvSpPr>
        <p:spPr>
          <a:xfrm>
            <a:off x="4864477"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UAT</a:t>
            </a:r>
            <a:endParaRPr lang="en-US" sz="1250" dirty="0"/>
          </a:p>
        </p:txBody>
      </p:sp>
      <p:sp>
        <p:nvSpPr>
          <p:cNvPr id="27" name="Step text"/>
          <p:cNvSpPr txBox="1"/>
          <p:nvPr/>
        </p:nvSpPr>
        <p:spPr>
          <a:xfrm>
            <a:off x="4864477"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Business runs the cycle</a:t>
            </a:r>
            <a:endParaRPr lang="en-US" sz="1050" dirty="0"/>
          </a:p>
        </p:txBody>
      </p:sp>
      <p:sp>
        <p:nvSpPr>
          <p:cNvPr id="28" name="Step arrow 4"/>
          <p:cNvSpPr/>
          <p:nvPr/>
        </p:nvSpPr>
        <p:spPr>
          <a:xfrm>
            <a:off x="6053197" y="2075688"/>
            <a:ext cx="85300" cy="0"/>
          </a:xfrm>
          <a:prstGeom prst="line">
            <a:avLst/>
          </a:prstGeom>
          <a:noFill/>
          <a:ln w="25400">
            <a:solidFill>
              <a:schemeClr val="accent5"/>
            </a:solidFill>
            <a:prstDash val="solid"/>
            <a:tailEnd type="triangle"/>
          </a:ln>
        </p:spPr>
      </p:sp>
      <p:sp>
        <p:nvSpPr>
          <p:cNvPr id="29" name="Sign-off card"/>
          <p:cNvSpPr/>
          <p:nvPr/>
        </p:nvSpPr>
        <p:spPr>
          <a:xfrm>
            <a:off x="6156786" y="1783080"/>
            <a:ext cx="1280160" cy="1600200"/>
          </a:xfrm>
          <a:prstGeom prst="roundRect">
            <a:avLst>
              <a:gd name="adj" fmla="val 8571"/>
            </a:avLst>
          </a:prstGeom>
          <a:solidFill>
            <a:schemeClr val="bg2"/>
          </a:solidFill>
          <a:ln/>
        </p:spPr>
      </p:sp>
      <p:sp>
        <p:nvSpPr>
          <p:cNvPr id="30" name="Step chip 5"/>
          <p:cNvSpPr/>
          <p:nvPr/>
        </p:nvSpPr>
        <p:spPr>
          <a:xfrm>
            <a:off x="6266514" y="1892808"/>
            <a:ext cx="365760" cy="365760"/>
          </a:xfrm>
          <a:prstGeom prst="roundRect">
            <a:avLst>
              <a:gd name="adj" fmla="val 20000"/>
            </a:avLst>
          </a:prstGeom>
          <a:solidFill>
            <a:schemeClr val="accent1"/>
          </a:solidFill>
          <a:ln/>
        </p:spPr>
      </p:sp>
      <p:sp>
        <p:nvSpPr>
          <p:cNvPr id="31" name="Step number"/>
          <p:cNvSpPr txBox="1"/>
          <p:nvPr/>
        </p:nvSpPr>
        <p:spPr>
          <a:xfrm>
            <a:off x="6266514"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32" name="Step title"/>
          <p:cNvSpPr txBox="1"/>
          <p:nvPr/>
        </p:nvSpPr>
        <p:spPr>
          <a:xfrm>
            <a:off x="6266514"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Sign-off</a:t>
            </a:r>
            <a:endParaRPr lang="en-US" sz="1250" dirty="0"/>
          </a:p>
        </p:txBody>
      </p:sp>
      <p:sp>
        <p:nvSpPr>
          <p:cNvPr id="33" name="Step text"/>
          <p:cNvSpPr txBox="1"/>
          <p:nvPr/>
        </p:nvSpPr>
        <p:spPr>
          <a:xfrm>
            <a:off x="6266514"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Process owner signs</a:t>
            </a:r>
            <a:endParaRPr lang="en-US" sz="1050" dirty="0"/>
          </a:p>
        </p:txBody>
      </p:sp>
      <p:sp>
        <p:nvSpPr>
          <p:cNvPr id="34" name="Step arrow 5"/>
          <p:cNvSpPr/>
          <p:nvPr/>
        </p:nvSpPr>
        <p:spPr>
          <a:xfrm>
            <a:off x="7455234" y="2075688"/>
            <a:ext cx="85300" cy="0"/>
          </a:xfrm>
          <a:prstGeom prst="line">
            <a:avLst/>
          </a:prstGeom>
          <a:noFill/>
          <a:ln w="25400">
            <a:solidFill>
              <a:schemeClr val="accent5"/>
            </a:solidFill>
            <a:prstDash val="solid"/>
            <a:tailEnd type="triangle"/>
          </a:ln>
        </p:spPr>
      </p:sp>
      <p:sp>
        <p:nvSpPr>
          <p:cNvPr id="35" name="Approve card"/>
          <p:cNvSpPr/>
          <p:nvPr/>
        </p:nvSpPr>
        <p:spPr>
          <a:xfrm>
            <a:off x="7558822" y="1783080"/>
            <a:ext cx="1280160" cy="1600200"/>
          </a:xfrm>
          <a:prstGeom prst="roundRect">
            <a:avLst>
              <a:gd name="adj" fmla="val 8571"/>
            </a:avLst>
          </a:prstGeom>
          <a:solidFill>
            <a:schemeClr val="accent2">
              <a:alpha val="22000"/>
            </a:schemeClr>
          </a:solidFill>
          <a:ln/>
        </p:spPr>
      </p:sp>
      <p:sp>
        <p:nvSpPr>
          <p:cNvPr id="36" name="Step chip 6"/>
          <p:cNvSpPr/>
          <p:nvPr/>
        </p:nvSpPr>
        <p:spPr>
          <a:xfrm>
            <a:off x="7668550" y="1892808"/>
            <a:ext cx="365760" cy="365760"/>
          </a:xfrm>
          <a:prstGeom prst="roundRect">
            <a:avLst>
              <a:gd name="adj" fmla="val 20000"/>
            </a:avLst>
          </a:prstGeom>
          <a:solidFill>
            <a:schemeClr val="accent1"/>
          </a:solidFill>
          <a:ln/>
        </p:spPr>
      </p:sp>
      <p:sp>
        <p:nvSpPr>
          <p:cNvPr id="37" name="Step number"/>
          <p:cNvSpPr txBox="1"/>
          <p:nvPr/>
        </p:nvSpPr>
        <p:spPr>
          <a:xfrm>
            <a:off x="7668550"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38" name="Step title"/>
          <p:cNvSpPr txBox="1"/>
          <p:nvPr/>
        </p:nvSpPr>
        <p:spPr>
          <a:xfrm>
            <a:off x="7668550"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Approve</a:t>
            </a:r>
            <a:endParaRPr lang="en-US" sz="1250" dirty="0"/>
          </a:p>
        </p:txBody>
      </p:sp>
      <p:sp>
        <p:nvSpPr>
          <p:cNvPr id="39" name="Step text"/>
          <p:cNvSpPr txBox="1"/>
          <p:nvPr/>
        </p:nvSpPr>
        <p:spPr>
          <a:xfrm>
            <a:off x="7668550"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Environment approval</a:t>
            </a:r>
            <a:endParaRPr lang="en-US" sz="1050" dirty="0"/>
          </a:p>
        </p:txBody>
      </p:sp>
      <p:sp>
        <p:nvSpPr>
          <p:cNvPr id="40" name="Step arrow 6"/>
          <p:cNvSpPr/>
          <p:nvPr/>
        </p:nvSpPr>
        <p:spPr>
          <a:xfrm>
            <a:off x="8857270" y="2075688"/>
            <a:ext cx="85300" cy="0"/>
          </a:xfrm>
          <a:prstGeom prst="line">
            <a:avLst/>
          </a:prstGeom>
          <a:noFill/>
          <a:ln w="25400">
            <a:solidFill>
              <a:schemeClr val="accent5"/>
            </a:solidFill>
            <a:prstDash val="solid"/>
            <a:tailEnd type="triangle"/>
          </a:ln>
        </p:spPr>
      </p:sp>
      <p:sp>
        <p:nvSpPr>
          <p:cNvPr id="41" name="Deploy PROD card"/>
          <p:cNvSpPr/>
          <p:nvPr/>
        </p:nvSpPr>
        <p:spPr>
          <a:xfrm>
            <a:off x="8960859" y="1783080"/>
            <a:ext cx="1280160" cy="1600200"/>
          </a:xfrm>
          <a:prstGeom prst="roundRect">
            <a:avLst>
              <a:gd name="adj" fmla="val 8571"/>
            </a:avLst>
          </a:prstGeom>
          <a:solidFill>
            <a:schemeClr val="accent2">
              <a:alpha val="22000"/>
            </a:schemeClr>
          </a:solidFill>
          <a:ln/>
        </p:spPr>
      </p:sp>
      <p:sp>
        <p:nvSpPr>
          <p:cNvPr id="42" name="Step chip 7"/>
          <p:cNvSpPr/>
          <p:nvPr/>
        </p:nvSpPr>
        <p:spPr>
          <a:xfrm>
            <a:off x="9070587" y="1892808"/>
            <a:ext cx="365760" cy="365760"/>
          </a:xfrm>
          <a:prstGeom prst="roundRect">
            <a:avLst>
              <a:gd name="adj" fmla="val 20000"/>
            </a:avLst>
          </a:prstGeom>
          <a:solidFill>
            <a:schemeClr val="accent1"/>
          </a:solidFill>
          <a:ln/>
        </p:spPr>
      </p:sp>
      <p:sp>
        <p:nvSpPr>
          <p:cNvPr id="43" name="Step number"/>
          <p:cNvSpPr txBox="1"/>
          <p:nvPr/>
        </p:nvSpPr>
        <p:spPr>
          <a:xfrm>
            <a:off x="9070587"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7</a:t>
            </a:r>
            <a:endParaRPr lang="en-US" sz="1400" dirty="0"/>
          </a:p>
        </p:txBody>
      </p:sp>
      <p:sp>
        <p:nvSpPr>
          <p:cNvPr id="44" name="Step title"/>
          <p:cNvSpPr txBox="1"/>
          <p:nvPr/>
        </p:nvSpPr>
        <p:spPr>
          <a:xfrm>
            <a:off x="9070587"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Deploy PROD</a:t>
            </a:r>
            <a:endParaRPr lang="en-US" sz="1250" dirty="0"/>
          </a:p>
        </p:txBody>
      </p:sp>
      <p:sp>
        <p:nvSpPr>
          <p:cNvPr id="45" name="Step text"/>
          <p:cNvSpPr txBox="1"/>
          <p:nvPr/>
        </p:nvSpPr>
        <p:spPr>
          <a:xfrm>
            <a:off x="9070587"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Same tag</a:t>
            </a:r>
            <a:endParaRPr lang="en-US" sz="1050" dirty="0"/>
          </a:p>
        </p:txBody>
      </p:sp>
      <p:sp>
        <p:nvSpPr>
          <p:cNvPr id="46" name="Step arrow 7"/>
          <p:cNvSpPr/>
          <p:nvPr/>
        </p:nvSpPr>
        <p:spPr>
          <a:xfrm>
            <a:off x="10259307" y="2075688"/>
            <a:ext cx="85300" cy="0"/>
          </a:xfrm>
          <a:prstGeom prst="line">
            <a:avLst/>
          </a:prstGeom>
          <a:noFill/>
          <a:ln w="25400">
            <a:solidFill>
              <a:schemeClr val="accent5"/>
            </a:solidFill>
            <a:prstDash val="solid"/>
            <a:tailEnd type="triangle"/>
          </a:ln>
        </p:spPr>
      </p:sp>
      <p:sp>
        <p:nvSpPr>
          <p:cNvPr id="47" name="Verify card"/>
          <p:cNvSpPr/>
          <p:nvPr/>
        </p:nvSpPr>
        <p:spPr>
          <a:xfrm>
            <a:off x="10362895" y="1783080"/>
            <a:ext cx="1280160" cy="1600200"/>
          </a:xfrm>
          <a:prstGeom prst="roundRect">
            <a:avLst>
              <a:gd name="adj" fmla="val 8571"/>
            </a:avLst>
          </a:prstGeom>
          <a:solidFill>
            <a:schemeClr val="accent2">
              <a:alpha val="22000"/>
            </a:schemeClr>
          </a:solidFill>
          <a:ln/>
        </p:spPr>
      </p:sp>
      <p:sp>
        <p:nvSpPr>
          <p:cNvPr id="48" name="Step chip 8"/>
          <p:cNvSpPr/>
          <p:nvPr/>
        </p:nvSpPr>
        <p:spPr>
          <a:xfrm>
            <a:off x="10472623" y="1892808"/>
            <a:ext cx="365760" cy="365760"/>
          </a:xfrm>
          <a:prstGeom prst="roundRect">
            <a:avLst>
              <a:gd name="adj" fmla="val 20000"/>
            </a:avLst>
          </a:prstGeom>
          <a:solidFill>
            <a:schemeClr val="accent1"/>
          </a:solidFill>
          <a:ln/>
        </p:spPr>
      </p:sp>
      <p:sp>
        <p:nvSpPr>
          <p:cNvPr id="49" name="Step number"/>
          <p:cNvSpPr txBox="1"/>
          <p:nvPr/>
        </p:nvSpPr>
        <p:spPr>
          <a:xfrm>
            <a:off x="10472623"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8</a:t>
            </a:r>
            <a:endParaRPr lang="en-US" sz="1400" dirty="0"/>
          </a:p>
        </p:txBody>
      </p:sp>
      <p:sp>
        <p:nvSpPr>
          <p:cNvPr id="50" name="Step title"/>
          <p:cNvSpPr txBox="1"/>
          <p:nvPr/>
        </p:nvSpPr>
        <p:spPr>
          <a:xfrm>
            <a:off x="10472623"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Verify</a:t>
            </a:r>
            <a:endParaRPr lang="en-US" sz="1250" dirty="0"/>
          </a:p>
        </p:txBody>
      </p:sp>
      <p:sp>
        <p:nvSpPr>
          <p:cNvPr id="51" name="Step text"/>
          <p:cNvSpPr txBox="1"/>
          <p:nvPr/>
        </p:nvSpPr>
        <p:spPr>
          <a:xfrm>
            <a:off x="10472623"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The running thing answers</a:t>
            </a:r>
            <a:endParaRPr lang="en-US" sz="1050" dirty="0"/>
          </a:p>
        </p:txBody>
      </p:sp>
      <p:sp>
        <p:nvSpPr>
          <p:cNvPr id="52" name="Tag output"/>
          <p:cNvSpPr/>
          <p:nvPr/>
        </p:nvSpPr>
        <p:spPr>
          <a:xfrm>
            <a:off x="548640" y="3611880"/>
            <a:ext cx="6766560" cy="1897761"/>
          </a:xfrm>
          <a:prstGeom prst="roundRect">
            <a:avLst>
              <a:gd name="adj" fmla="val 4818"/>
            </a:avLst>
          </a:prstGeom>
          <a:solidFill>
            <a:schemeClr val="tx1"/>
          </a:solidFill>
          <a:ln/>
        </p:spPr>
      </p:sp>
      <p:sp>
        <p:nvSpPr>
          <p:cNvPr id="53" name="Code label"/>
          <p:cNvSpPr txBox="1"/>
          <p:nvPr/>
        </p:nvSpPr>
        <p:spPr>
          <a:xfrm>
            <a:off x="749808" y="3703320"/>
            <a:ext cx="63642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 TAG, FOR REAL</a:t>
            </a:r>
            <a:endParaRPr lang="en-US" sz="1000" dirty="0"/>
          </a:p>
        </p:txBody>
      </p:sp>
      <p:sp>
        <p:nvSpPr>
          <p:cNvPr id="54" name="Tag output text"/>
          <p:cNvSpPr txBox="1"/>
          <p:nvPr/>
        </p:nvSpPr>
        <p:spPr>
          <a:xfrm>
            <a:off x="749808" y="3995928"/>
            <a:ext cx="6364224" cy="1403985"/>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tag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v1.0.0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"Release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1.0.0"</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tag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-n1</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v1.0.0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Release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1.0.0</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--oneline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--decorate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-3</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c31e9f2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(HEAD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tag: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v1.0.0)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Revert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"chore: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touch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platform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file"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4ef9ec2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chore: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touch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platform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file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dbc5f1d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AB#1003:</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looser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gate</a:t>
            </a:r>
            <a:endParaRPr lang="en-US" sz="1050" dirty="0"/>
          </a:p>
        </p:txBody>
      </p:sp>
      <p:sp>
        <p:nvSpPr>
          <p:cNvPr id="55" name="Change note"/>
          <p:cNvSpPr/>
          <p:nvPr/>
        </p:nvSpPr>
        <p:spPr>
          <a:xfrm>
            <a:off x="7543800" y="3611880"/>
            <a:ext cx="4096512" cy="2240280"/>
          </a:xfrm>
          <a:prstGeom prst="roundRect">
            <a:avLst>
              <a:gd name="adj" fmla="val 4898"/>
            </a:avLst>
          </a:prstGeom>
          <a:solidFill>
            <a:schemeClr val="accent3">
              <a:alpha val="22000"/>
            </a:schemeClr>
          </a:solidFill>
          <a:ln/>
        </p:spPr>
      </p:sp>
      <p:sp>
        <p:nvSpPr>
          <p:cNvPr id="56" name="Change title"/>
          <p:cNvSpPr txBox="1"/>
          <p:nvPr/>
        </p:nvSpPr>
        <p:spPr>
          <a:xfrm>
            <a:off x="7726680" y="3703320"/>
            <a:ext cx="374904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If something must change</a:t>
            </a:r>
            <a:endParaRPr lang="en-US" sz="1500" dirty="0"/>
          </a:p>
        </p:txBody>
      </p:sp>
      <p:sp>
        <p:nvSpPr>
          <p:cNvPr id="57" name="Change text"/>
          <p:cNvSpPr txBox="1"/>
          <p:nvPr/>
        </p:nvSpPr>
        <p:spPr>
          <a:xfrm>
            <a:off x="7726680" y="4114800"/>
            <a:ext cx="3749040" cy="1645920"/>
          </a:xfrm>
          <a:prstGeom prst="rect">
            <a:avLst/>
          </a:prstGeom>
          <a:noFill/>
          <a:ln/>
        </p:spPr>
        <p:txBody>
          <a:bodyPr wrap="square" lIns="0" tIns="0" rIns="0" bIns="0" rtlCol="0" anchor="t"/>
          <a:lstStyle/>
          <a:p>
            <a:pPr indent="0" marL="0">
              <a:buNone/>
            </a:pPr>
            <a:r>
              <a:rPr lang="en-US" sz="1350" dirty="0">
                <a:solidFill>
                  <a:schemeClr val="tx1"/>
                </a:solidFill>
              </a:rPr>
              <a:t>It becomes a new commit and a new tag, and the journey starts again from TEST. No edits on the way.</a:t>
            </a:r>
            <a:endParaRPr lang="en-US" sz="1350" dirty="0"/>
          </a:p>
        </p:txBody>
      </p:sp>
      <p:sp>
        <p:nvSpPr>
          <p:cNvPr id="58"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Tag and log output from the practice repository. Delivery standard: the same tag, after sign-off.</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Green is not proof: check that the running thing answers</a:t>
            </a:r>
            <a:endParaRPr lang="en-US" sz="3200" dirty="0"/>
          </a:p>
        </p:txBody>
      </p:sp>
      <p:sp>
        <p:nvSpPr>
          <p:cNvPr id="5" name="Smoke check"/>
          <p:cNvSpPr/>
          <p:nvPr/>
        </p:nvSpPr>
        <p:spPr>
          <a:xfrm>
            <a:off x="548640" y="1783080"/>
            <a:ext cx="6858000" cy="2385822"/>
          </a:xfrm>
          <a:prstGeom prst="roundRect">
            <a:avLst>
              <a:gd name="adj" fmla="val 3833"/>
            </a:avLst>
          </a:prstGeom>
          <a:solidFill>
            <a:schemeClr val="tx1"/>
          </a:solidFill>
          <a:ln/>
        </p:spPr>
      </p:sp>
      <p:sp>
        <p:nvSpPr>
          <p:cNvPr id="6" name="Code label"/>
          <p:cNvSpPr txBox="1"/>
          <p:nvPr/>
        </p:nvSpPr>
        <p:spPr>
          <a:xfrm>
            <a:off x="749808" y="1874520"/>
            <a:ext cx="64556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SMOKE_CHECK: RUN AFTER EVERY DEPLOY</a:t>
            </a:r>
            <a:endParaRPr lang="en-US" sz="1000" dirty="0"/>
          </a:p>
        </p:txBody>
      </p:sp>
      <p:sp>
        <p:nvSpPr>
          <p:cNvPr id="7" name="Smoke check text"/>
          <p:cNvSpPr txBox="1"/>
          <p:nvPr/>
        </p:nvSpPr>
        <p:spPr>
          <a:xfrm>
            <a:off x="749808" y="2167128"/>
            <a:ext cx="6455664" cy="1892046"/>
          </a:xfrm>
          <a:prstGeom prst="rect">
            <a:avLst/>
          </a:prstGeom>
          <a:noFill/>
          <a:ln/>
        </p:spPr>
        <p:txBody>
          <a:bodyPr wrap="square" lIns="0" tIns="0" rIns="0" bIns="0" rtlCol="0" anchor="t"/>
          <a:lstStyle/>
          <a:p>
            <a:pPr indent="0" marL="0">
              <a:buNone/>
            </a:pPr>
            <a:r>
              <a:rPr lang="en-US" sz="1050" dirty="0">
                <a:solidFill>
                  <a:schemeClr val="accent2"/>
                </a:solidFill>
                <a:latin typeface="Courier New" pitchFamily="34" charset="0"/>
                <a:ea typeface="Courier New" pitchFamily="34" charset="-122"/>
                <a:cs typeface="Courier New" pitchFamily="34" charset="-120"/>
              </a:rPr>
              <a:t>def</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smoke_check</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expected_run_id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table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"gold_dst_run_log"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"""After a deploy: the newest run must be ours, and it must have passed."""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spark</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read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table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table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orderBy</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F</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col</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"finished_at"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desc</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latest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first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assert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latest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not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None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"run log is empty: the pipeline never ran"</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latest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"run_id"</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assert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expected_run_id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t>
            </a:r>
            <a:pPr indent="0" marL="0">
              <a:buNone/>
            </a:pPr>
            <a:r>
              <a:rPr lang="en-US" sz="1050" dirty="0">
                <a:solidFill>
                  <a:schemeClr val="accent3"/>
                </a:solidFill>
                <a:latin typeface="Courier New" pitchFamily="34" charset="0"/>
                <a:ea typeface="Courier New" pitchFamily="34" charset="-122"/>
                <a:cs typeface="Courier New" pitchFamily="34" charset="-120"/>
              </a:rPr>
              <a:t>"newest run is {got}, not {expected_run_id}"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status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latest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"status"</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assert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status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"passed"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t>
            </a:r>
            <a:pPr indent="0" marL="0">
              <a:buNone/>
            </a:pPr>
            <a:r>
              <a:rPr lang="en-US" sz="1050" dirty="0">
                <a:solidFill>
                  <a:schemeClr val="accent3"/>
                </a:solidFill>
                <a:latin typeface="Courier New" pitchFamily="34" charset="0"/>
                <a:ea typeface="Courier New" pitchFamily="34" charset="-122"/>
                <a:cs typeface="Courier New" pitchFamily="34" charset="-120"/>
              </a:rPr>
              <a:t>"run {expected_run_id} finished {status}"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return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latest</a:t>
            </a:r>
            <a:endParaRPr lang="en-US" sz="1050" dirty="0"/>
          </a:p>
        </p:txBody>
      </p:sp>
      <p:sp>
        <p:nvSpPr>
          <p:cNvPr id="8" name="Smoke results"/>
          <p:cNvSpPr/>
          <p:nvPr/>
        </p:nvSpPr>
        <p:spPr>
          <a:xfrm>
            <a:off x="548640" y="4306062"/>
            <a:ext cx="6858000" cy="1409700"/>
          </a:xfrm>
          <a:prstGeom prst="roundRect">
            <a:avLst>
              <a:gd name="adj" fmla="val 6486"/>
            </a:avLst>
          </a:prstGeom>
          <a:solidFill>
            <a:schemeClr val="tx1"/>
          </a:solidFill>
          <a:ln/>
        </p:spPr>
      </p:sp>
      <p:sp>
        <p:nvSpPr>
          <p:cNvPr id="9" name="Code label"/>
          <p:cNvSpPr txBox="1"/>
          <p:nvPr/>
        </p:nvSpPr>
        <p:spPr>
          <a:xfrm>
            <a:off x="749808" y="4397502"/>
            <a:ext cx="64556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RUN ON REAL DELTA TABLES</a:t>
            </a:r>
            <a:endParaRPr lang="en-US" sz="1000" dirty="0"/>
          </a:p>
        </p:txBody>
      </p:sp>
      <p:sp>
        <p:nvSpPr>
          <p:cNvPr id="10" name="Smoke results text"/>
          <p:cNvSpPr txBox="1"/>
          <p:nvPr/>
        </p:nvSpPr>
        <p:spPr>
          <a:xfrm>
            <a:off x="749808" y="4690110"/>
            <a:ext cx="6455664" cy="91592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&gt;&gt;&gt;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smoke_check("run-B")</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started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passed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&gt;&gt;&gt;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smoke_check("run-Z")</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does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exist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AssertionError: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newest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run-B,</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run-Z</a:t>
            </a:r>
            <a:endParaRPr lang="en-US" sz="1050" dirty="0"/>
          </a:p>
        </p:txBody>
      </p:sp>
      <p:sp>
        <p:nvSpPr>
          <p:cNvPr id="11" name="Run it card"/>
          <p:cNvSpPr/>
          <p:nvPr/>
        </p:nvSpPr>
        <p:spPr>
          <a:xfrm>
            <a:off x="7589520" y="1783080"/>
            <a:ext cx="4050792" cy="1216152"/>
          </a:xfrm>
          <a:prstGeom prst="roundRect">
            <a:avLst>
              <a:gd name="adj" fmla="val 9023"/>
            </a:avLst>
          </a:prstGeom>
          <a:solidFill>
            <a:schemeClr val="accent2">
              <a:alpha val="18000"/>
            </a:schemeClr>
          </a:solidFill>
          <a:ln/>
        </p:spPr>
      </p:sp>
      <p:sp>
        <p:nvSpPr>
          <p:cNvPr id="12" name="Check chip 1"/>
          <p:cNvSpPr/>
          <p:nvPr/>
        </p:nvSpPr>
        <p:spPr>
          <a:xfrm>
            <a:off x="7772400" y="1965960"/>
            <a:ext cx="384048" cy="384048"/>
          </a:xfrm>
          <a:prstGeom prst="roundRect">
            <a:avLst>
              <a:gd name="adj" fmla="val 19048"/>
            </a:avLst>
          </a:prstGeom>
          <a:solidFill>
            <a:schemeClr val="accent2"/>
          </a:solidFill>
          <a:ln/>
        </p:spPr>
      </p:sp>
      <p:sp>
        <p:nvSpPr>
          <p:cNvPr id="13" name="Check number"/>
          <p:cNvSpPr txBox="1"/>
          <p:nvPr/>
        </p:nvSpPr>
        <p:spPr>
          <a:xfrm>
            <a:off x="7772400" y="1965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4" name="Check title"/>
          <p:cNvSpPr txBox="1"/>
          <p:nvPr/>
        </p:nvSpPr>
        <p:spPr>
          <a:xfrm>
            <a:off x="8321040" y="1965960"/>
            <a:ext cx="3200400" cy="38404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Run it</a:t>
            </a:r>
            <a:endParaRPr lang="en-US" sz="1500" dirty="0"/>
          </a:p>
        </p:txBody>
      </p:sp>
      <p:sp>
        <p:nvSpPr>
          <p:cNvPr id="15" name="Check text"/>
          <p:cNvSpPr txBox="1"/>
          <p:nvPr/>
        </p:nvSpPr>
        <p:spPr>
          <a:xfrm>
            <a:off x="7772400" y="2468880"/>
            <a:ext cx="3703320" cy="457200"/>
          </a:xfrm>
          <a:prstGeom prst="rect">
            <a:avLst/>
          </a:prstGeom>
          <a:noFill/>
          <a:ln/>
        </p:spPr>
        <p:txBody>
          <a:bodyPr wrap="square" lIns="0" tIns="0" rIns="0" bIns="0" rtlCol="0" anchor="t"/>
          <a:lstStyle/>
          <a:p>
            <a:pPr indent="0" marL="0">
              <a:buNone/>
            </a:pPr>
            <a:r>
              <a:rPr lang="en-US" sz="1250" dirty="0">
                <a:solidFill>
                  <a:schemeClr val="tx1"/>
                </a:solidFill>
              </a:rPr>
              <a:t>In the target, with small known parameters.</a:t>
            </a:r>
            <a:endParaRPr lang="en-US" sz="1250" dirty="0"/>
          </a:p>
        </p:txBody>
      </p:sp>
      <p:sp>
        <p:nvSpPr>
          <p:cNvPr id="16" name="Read the receipt card"/>
          <p:cNvSpPr/>
          <p:nvPr/>
        </p:nvSpPr>
        <p:spPr>
          <a:xfrm>
            <a:off x="7589520" y="3108960"/>
            <a:ext cx="4050792" cy="1216152"/>
          </a:xfrm>
          <a:prstGeom prst="roundRect">
            <a:avLst>
              <a:gd name="adj" fmla="val 9023"/>
            </a:avLst>
          </a:prstGeom>
          <a:solidFill>
            <a:schemeClr val="accent2">
              <a:alpha val="18000"/>
            </a:schemeClr>
          </a:solidFill>
          <a:ln/>
        </p:spPr>
      </p:sp>
      <p:sp>
        <p:nvSpPr>
          <p:cNvPr id="17" name="Check chip 2"/>
          <p:cNvSpPr/>
          <p:nvPr/>
        </p:nvSpPr>
        <p:spPr>
          <a:xfrm>
            <a:off x="7772400" y="3291840"/>
            <a:ext cx="384048" cy="384048"/>
          </a:xfrm>
          <a:prstGeom prst="roundRect">
            <a:avLst>
              <a:gd name="adj" fmla="val 19048"/>
            </a:avLst>
          </a:prstGeom>
          <a:solidFill>
            <a:schemeClr val="accent2"/>
          </a:solidFill>
          <a:ln/>
        </p:spPr>
      </p:sp>
      <p:sp>
        <p:nvSpPr>
          <p:cNvPr id="18" name="Check number"/>
          <p:cNvSpPr txBox="1"/>
          <p:nvPr/>
        </p:nvSpPr>
        <p:spPr>
          <a:xfrm>
            <a:off x="777240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9" name="Check title"/>
          <p:cNvSpPr txBox="1"/>
          <p:nvPr/>
        </p:nvSpPr>
        <p:spPr>
          <a:xfrm>
            <a:off x="8321040" y="3291840"/>
            <a:ext cx="3200400" cy="38404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Read the receipt</a:t>
            </a:r>
            <a:endParaRPr lang="en-US" sz="1500" dirty="0"/>
          </a:p>
        </p:txBody>
      </p:sp>
      <p:sp>
        <p:nvSpPr>
          <p:cNvPr id="20" name="Check text"/>
          <p:cNvSpPr txBox="1"/>
          <p:nvPr/>
        </p:nvSpPr>
        <p:spPr>
          <a:xfrm>
            <a:off x="7772400" y="3794760"/>
            <a:ext cx="3703320" cy="457200"/>
          </a:xfrm>
          <a:prstGeom prst="rect">
            <a:avLst/>
          </a:prstGeom>
          <a:noFill/>
          <a:ln/>
        </p:spPr>
        <p:txBody>
          <a:bodyPr wrap="square" lIns="0" tIns="0" rIns="0" bIns="0" rtlCol="0" anchor="t"/>
          <a:lstStyle/>
          <a:p>
            <a:pPr indent="0" marL="0">
              <a:buNone/>
            </a:pPr>
            <a:r>
              <a:rPr lang="en-US" sz="1250" dirty="0">
                <a:solidFill>
                  <a:schemeClr val="tx1"/>
                </a:solidFill>
              </a:rPr>
              <a:t>Newest run-log row: your run, status passed.</a:t>
            </a:r>
            <a:endParaRPr lang="en-US" sz="1250" dirty="0"/>
          </a:p>
        </p:txBody>
      </p:sp>
      <p:sp>
        <p:nvSpPr>
          <p:cNvPr id="21" name="Look at the report card"/>
          <p:cNvSpPr/>
          <p:nvPr/>
        </p:nvSpPr>
        <p:spPr>
          <a:xfrm>
            <a:off x="7589520" y="4434840"/>
            <a:ext cx="4050792" cy="1216152"/>
          </a:xfrm>
          <a:prstGeom prst="roundRect">
            <a:avLst>
              <a:gd name="adj" fmla="val 9023"/>
            </a:avLst>
          </a:prstGeom>
          <a:solidFill>
            <a:schemeClr val="accent2">
              <a:alpha val="18000"/>
            </a:schemeClr>
          </a:solidFill>
          <a:ln/>
        </p:spPr>
      </p:sp>
      <p:sp>
        <p:nvSpPr>
          <p:cNvPr id="22" name="Check chip 3"/>
          <p:cNvSpPr/>
          <p:nvPr/>
        </p:nvSpPr>
        <p:spPr>
          <a:xfrm>
            <a:off x="7772400" y="4617720"/>
            <a:ext cx="384048" cy="384048"/>
          </a:xfrm>
          <a:prstGeom prst="roundRect">
            <a:avLst>
              <a:gd name="adj" fmla="val 19048"/>
            </a:avLst>
          </a:prstGeom>
          <a:solidFill>
            <a:schemeClr val="accent2"/>
          </a:solidFill>
          <a:ln/>
        </p:spPr>
      </p:sp>
      <p:sp>
        <p:nvSpPr>
          <p:cNvPr id="23" name="Check number"/>
          <p:cNvSpPr txBox="1"/>
          <p:nvPr/>
        </p:nvSpPr>
        <p:spPr>
          <a:xfrm>
            <a:off x="7772400" y="4617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4" name="Check title"/>
          <p:cNvSpPr txBox="1"/>
          <p:nvPr/>
        </p:nvSpPr>
        <p:spPr>
          <a:xfrm>
            <a:off x="8321040" y="4617720"/>
            <a:ext cx="3200400" cy="38404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Look at the report</a:t>
            </a:r>
            <a:endParaRPr lang="en-US" sz="1500" dirty="0"/>
          </a:p>
        </p:txBody>
      </p:sp>
      <p:sp>
        <p:nvSpPr>
          <p:cNvPr id="25" name="Check text"/>
          <p:cNvSpPr txBox="1"/>
          <p:nvPr/>
        </p:nvSpPr>
        <p:spPr>
          <a:xfrm>
            <a:off x="7772400" y="5120640"/>
            <a:ext cx="3703320" cy="457200"/>
          </a:xfrm>
          <a:prstGeom prst="rect">
            <a:avLst/>
          </a:prstGeom>
          <a:noFill/>
          <a:ln/>
        </p:spPr>
        <p:txBody>
          <a:bodyPr wrap="square" lIns="0" tIns="0" rIns="0" bIns="0" rtlCol="0" anchor="t"/>
          <a:lstStyle/>
          <a:p>
            <a:pPr indent="0" marL="0">
              <a:buNone/>
            </a:pPr>
            <a:r>
              <a:rPr lang="en-US" sz="1250" dirty="0">
                <a:solidFill>
                  <a:schemeClr val="tx1"/>
                </a:solidFill>
              </a:rPr>
              <a:t>The numbers match the expected results.</a:t>
            </a:r>
            <a:endParaRPr lang="en-US" sz="1250" dirty="0"/>
          </a:p>
        </p:txBody>
      </p:sp>
      <p:sp>
        <p:nvSpPr>
          <p:cNvPr id="26"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Run on real Delta tables with the Lab A notebook. Delivery standard: the running application answers a request.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Rolling back: code and data are different things</a:t>
            </a:r>
            <a:endParaRPr lang="en-US" sz="3200" dirty="0"/>
          </a:p>
        </p:txBody>
      </p:sp>
      <p:sp>
        <p:nvSpPr>
          <p:cNvPr id="5" name="Code rollback"/>
          <p:cNvSpPr/>
          <p:nvPr/>
        </p:nvSpPr>
        <p:spPr>
          <a:xfrm>
            <a:off x="548640" y="1783080"/>
            <a:ext cx="3931920" cy="3931920"/>
          </a:xfrm>
          <a:prstGeom prst="roundRect">
            <a:avLst>
              <a:gd name="adj" fmla="val 2791"/>
            </a:avLst>
          </a:prstGeom>
          <a:solidFill>
            <a:schemeClr val="bg2"/>
          </a:solidFill>
          <a:ln/>
        </p:spPr>
      </p:sp>
      <p:sp>
        <p:nvSpPr>
          <p:cNvPr id="6" name="Pill"/>
          <p:cNvSpPr txBox="1"/>
          <p:nvPr/>
        </p:nvSpPr>
        <p:spPr>
          <a:xfrm>
            <a:off x="777240" y="1920240"/>
            <a:ext cx="91440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200" kern="0" dirty="0">
                <a:solidFill>
                  <a:schemeClr val="bg1"/>
                </a:solidFill>
              </a:rPr>
              <a:t>CODE</a:t>
            </a:r>
            <a:endParaRPr lang="en-US" sz="1000" dirty="0"/>
          </a:p>
        </p:txBody>
      </p:sp>
      <p:sp>
        <p:nvSpPr>
          <p:cNvPr id="7" name="Code title"/>
          <p:cNvSpPr txBox="1"/>
          <p:nvPr/>
        </p:nvSpPr>
        <p:spPr>
          <a:xfrm>
            <a:off x="777240" y="2377440"/>
            <a:ext cx="3474720" cy="36576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Deploy the previous tag</a:t>
            </a:r>
            <a:endParaRPr lang="en-US" sz="1600" dirty="0"/>
          </a:p>
        </p:txBody>
      </p:sp>
      <p:sp>
        <p:nvSpPr>
          <p:cNvPr id="8" name="Code list"/>
          <p:cNvSpPr txBox="1"/>
          <p:nvPr/>
        </p:nvSpPr>
        <p:spPr>
          <a:xfrm>
            <a:off x="777240" y="2880360"/>
            <a:ext cx="3520440" cy="26517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Or revert the commit and promote that.</a:t>
            </a:r>
            <a:endParaRPr lang="en-US" sz="1350" dirty="0"/>
          </a:p>
          <a:p>
            <a:pPr marL="342900" indent="-342900">
              <a:spcAft>
                <a:spcPts val="800"/>
              </a:spcAft>
              <a:buSzPct val="100000"/>
              <a:buChar char="•"/>
            </a:pPr>
            <a:r>
              <a:rPr lang="en-US" sz="1350" dirty="0">
                <a:solidFill>
                  <a:schemeClr val="tx1"/>
                </a:solidFill>
              </a:rPr>
              <a:t>It travels the same road and passes the same checks.</a:t>
            </a:r>
            <a:endParaRPr lang="en-US" sz="1350" dirty="0"/>
          </a:p>
          <a:p>
            <a:pPr marL="342900" indent="-342900">
              <a:spcAft>
                <a:spcPts val="800"/>
              </a:spcAft>
              <a:buSzPct val="100000"/>
              <a:buChar char="•"/>
            </a:pPr>
            <a:r>
              <a:rPr lang="en-US" sz="1350" dirty="0">
                <a:solidFill>
                  <a:schemeClr val="tx1"/>
                </a:solidFill>
              </a:rPr>
              <a:t>The rollback is a commit and a tag, so it is on record.</a:t>
            </a:r>
            <a:endParaRPr lang="en-US" sz="1350" dirty="0"/>
          </a:p>
        </p:txBody>
      </p:sp>
      <p:sp>
        <p:nvSpPr>
          <p:cNvPr id="9" name="Restore"/>
          <p:cNvSpPr/>
          <p:nvPr/>
        </p:nvSpPr>
        <p:spPr>
          <a:xfrm>
            <a:off x="4663440" y="1783080"/>
            <a:ext cx="6976872" cy="868680"/>
          </a:xfrm>
          <a:prstGeom prst="roundRect">
            <a:avLst>
              <a:gd name="adj" fmla="val 10526"/>
            </a:avLst>
          </a:prstGeom>
          <a:solidFill>
            <a:schemeClr val="tx1"/>
          </a:solidFill>
          <a:ln/>
        </p:spPr>
      </p:sp>
      <p:sp>
        <p:nvSpPr>
          <p:cNvPr id="10" name="Code label"/>
          <p:cNvSpPr txBox="1"/>
          <p:nvPr/>
        </p:nvSpPr>
        <p:spPr>
          <a:xfrm>
            <a:off x="4864608" y="1874520"/>
            <a:ext cx="657453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DATA: DELTA KEEPS A HISTORY</a:t>
            </a:r>
            <a:endParaRPr lang="en-US" sz="1000" dirty="0"/>
          </a:p>
        </p:txBody>
      </p:sp>
      <p:sp>
        <p:nvSpPr>
          <p:cNvPr id="11" name="Restore text"/>
          <p:cNvSpPr txBox="1"/>
          <p:nvPr/>
        </p:nvSpPr>
        <p:spPr>
          <a:xfrm>
            <a:off x="4864608" y="2167128"/>
            <a:ext cx="6574536" cy="37490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RESTORE</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TABLE</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gold_dst_apportioned</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TO</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VERSION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AS</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OF</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6"/>
                </a:solidFill>
                <a:latin typeface="Courier New" pitchFamily="34" charset="0"/>
                <a:ea typeface="Courier New" pitchFamily="34" charset="-122"/>
                <a:cs typeface="Courier New" pitchFamily="34" charset="-120"/>
              </a:rPr>
              <a:t>0</a:t>
            </a:r>
            <a:endParaRPr lang="en-US" sz="1200" dirty="0"/>
          </a:p>
        </p:txBody>
      </p:sp>
      <p:graphicFrame>
        <p:nvGraphicFramePr>
          <p:cNvPr id="36" name="Rollback result"/>
          <p:cNvGraphicFramePr>
            <a:graphicFrameLocks noGrp="1"/>
          </p:cNvGraphicFramePr>
          <p:nvPr>
            <p:extLst>
              <p:ext uri="{D42A27DB-BD31-4B8C-83A1-F6EECF244321}">
                <p14:modId xmlns:p14="http://schemas.microsoft.com/office/powerpoint/2010/main" val="1579011935"/>
              </p:ext>
            </p:extLst>
          </p:nvPr>
        </p:nvGraphicFramePr>
        <p:xfrm>
          <a:off x="4663440" y="2788920"/>
          <a:ext cx="6976872" cy="914400"/>
        </p:xfrm>
        <a:graphic>
          <a:graphicData uri="http://schemas.openxmlformats.org/drawingml/2006/table">
            <a:tbl>
              <a:tblPr/>
              <a:tblGrid>
                <a:gridCol w="2926080"/>
                <a:gridCol w="2011680"/>
                <a:gridCol w="2039112"/>
              </a:tblGrid>
              <a:tr h="365760">
                <a:tc>
                  <a:txBody>
                    <a:bodyPr/>
                    <a:lstStyle/>
                    <a:p>
                      <a:pPr indent="0" marL="0">
                        <a:buNone/>
                      </a:pPr>
                      <a:r>
                        <a:rPr lang="en-US" sz="1200" b="1" dirty="0">
                          <a:solidFill>
                            <a:schemeClr val="bg1"/>
                          </a:solidFill>
                        </a:rPr>
                        <a:t>Gold table, rows per slice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Before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After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indent="0" marL="0">
                        <a:buNone/>
                      </a:pPr>
                      <a:r>
                        <a:rPr lang="en-US" sz="1200" dirty="0">
                          <a:solidFill>
                            <a:schemeClr val="tx1"/>
                          </a:solidFill>
                        </a:rPr>
                        <a:t>2025-01 without_na</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4</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4</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200" dirty="0">
                          <a:solidFill>
                            <a:schemeClr val="tx1"/>
                          </a:solidFill>
                        </a:rPr>
                        <a:t>2025-02 without_na</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4</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0</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200" dirty="0">
                          <a:solidFill>
                            <a:schemeClr val="tx1"/>
                          </a:solidFill>
                        </a:rPr>
                        <a:t>History versions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0, 1</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0, 1, 2 (RESTORE)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13" name="Log warning"/>
          <p:cNvSpPr/>
          <p:nvPr/>
        </p:nvSpPr>
        <p:spPr>
          <a:xfrm>
            <a:off x="4663440" y="4709160"/>
            <a:ext cx="6976872" cy="1005840"/>
          </a:xfrm>
          <a:prstGeom prst="roundRect">
            <a:avLst>
              <a:gd name="adj" fmla="val 10909"/>
            </a:avLst>
          </a:prstGeom>
          <a:solidFill>
            <a:schemeClr val="accent3">
              <a:alpha val="22000"/>
            </a:schemeClr>
          </a:solidFill>
          <a:ln/>
        </p:spPr>
      </p:sp>
      <p:sp>
        <p:nvSpPr>
          <p:cNvPr id="14" name="Log warning text"/>
          <p:cNvSpPr txBox="1"/>
          <p:nvPr/>
        </p:nvSpPr>
        <p:spPr>
          <a:xfrm>
            <a:off x="4846320" y="4709160"/>
            <a:ext cx="6629400" cy="1005840"/>
          </a:xfrm>
          <a:prstGeom prst="rect">
            <a:avLst/>
          </a:prstGeom>
          <a:noFill/>
          <a:ln/>
        </p:spPr>
        <p:txBody>
          <a:bodyPr wrap="square" lIns="0" tIns="0" rIns="0" bIns="0" rtlCol="0" anchor="ctr"/>
          <a:lstStyle/>
          <a:p>
            <a:pPr indent="0" marL="0">
              <a:buNone/>
            </a:pPr>
            <a:r>
              <a:rPr lang="en-US" sz="1300" b="1" dirty="0">
                <a:solidFill>
                  <a:schemeClr val="tx1"/>
                </a:solidFill>
              </a:rPr>
              <a:t>The run log is untouched. </a:t>
            </a:r>
            <a:pPr indent="0" marL="0">
              <a:buNone/>
            </a:pPr>
            <a:r>
              <a:rPr lang="en-US" sz="1300" dirty="0">
                <a:solidFill>
                  <a:schemeClr val="tx1"/>
                </a:solidFill>
              </a:rPr>
              <a:t>It still says the February run happened. Write a row for the rollback so the log tells the truth.</a:t>
            </a:r>
            <a:endParaRPr lang="en-US" sz="1300" dirty="0"/>
          </a:p>
        </p:txBody>
      </p:sp>
      <p:sp>
        <p:nvSpPr>
          <p:cNvPr id="15"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Run on real Delta tables with the Lab A notebook. Roll back when you do not understand the fault; roll forward when the fix is small and clear.</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One identity, one vault and one approval per environment</a:t>
            </a:r>
            <a:endParaRPr lang="en-US" sz="3200" dirty="0"/>
          </a:p>
        </p:txBody>
      </p:sp>
      <p:graphicFrame>
        <p:nvGraphicFramePr>
          <p:cNvPr id="37" name="Identities per environment"/>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011680"/>
                <a:gridCol w="3017520"/>
                <a:gridCol w="3017520"/>
                <a:gridCol w="3044952"/>
              </a:tblGrid>
              <a:tr h="384048">
                <a:tc>
                  <a:txBody>
                    <a:bodyPr/>
                    <a:lstStyle/>
                    <a:p>
                      <a:pPr indent="0" marL="0">
                        <a:buNone/>
                      </a:pP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DEV</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TEST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PROD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250" b="1" dirty="0">
                          <a:solidFill>
                            <a:schemeClr val="tx1"/>
                          </a:solidFill>
                        </a:rPr>
                        <a:t>Workspace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ws-dst-dev</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ws-dst-test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ws-dst-prod</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50" b="1" dirty="0">
                          <a:solidFill>
                            <a:schemeClr val="tx1"/>
                          </a:solidFill>
                        </a:rPr>
                        <a:t>Service connection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Your own sign-in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sc-fabric-test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sc-fabric-prod</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250" b="1" dirty="0">
                          <a:solidFill>
                            <a:schemeClr val="tx1"/>
                          </a:solidFill>
                        </a:rPr>
                        <a:t>Service identity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None needed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sp-dst-test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sp-dst-prod</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50" b="1" dirty="0">
                          <a:solidFill>
                            <a:schemeClr val="tx1"/>
                          </a:solidFill>
                        </a:rPr>
                        <a:t>Vault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kv-dst-dev</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kv-dst-test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kv-dst-prod</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822960">
                <a:tc>
                  <a:txBody>
                    <a:bodyPr/>
                    <a:lstStyle/>
                    <a:p>
                      <a:pPr indent="0" marL="0">
                        <a:buNone/>
                      </a:pPr>
                      <a:r>
                        <a:rPr lang="en-US" sz="1250" b="1" dirty="0">
                          <a:solidFill>
                            <a:schemeClr val="tx1"/>
                          </a:solidFill>
                        </a:rPr>
                        <a:t>Approval</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None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TEST admin consent: delegated scopes. Gates UAT.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PROD admin consent: constrained app permissions. Before go-live.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34924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A mistake or a leak in TEST must never be able to touch production.</a:t>
            </a:r>
            <a:endParaRPr lang="en-US" sz="1600" dirty="0"/>
          </a:p>
        </p:txBody>
      </p:sp>
      <p:sp>
        <p:nvSpPr>
          <p:cNvPr id="7" name="Footnote"/>
          <p:cNvSpPr txBox="1"/>
          <p:nvPr/>
        </p:nvSpPr>
        <p:spPr>
          <a:xfrm>
            <a:off x="548640" y="60350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All names are placeholders showing the pattern. Approved names and vault: Enterprise Technology. Approvals are covered in Part 6.</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Eight traps when a change crosses workspaces</a:t>
            </a:r>
            <a:endParaRPr lang="en-US" sz="3200" dirty="0"/>
          </a:p>
        </p:txBody>
      </p:sp>
      <p:sp>
        <p:nvSpPr>
          <p:cNvPr id="5" name="Hard-coded IDs card"/>
          <p:cNvSpPr/>
          <p:nvPr/>
        </p:nvSpPr>
        <p:spPr>
          <a:xfrm>
            <a:off x="548640" y="1783080"/>
            <a:ext cx="2679192" cy="1920240"/>
          </a:xfrm>
          <a:prstGeom prst="roundRect">
            <a:avLst>
              <a:gd name="adj" fmla="val 5714"/>
            </a:avLst>
          </a:prstGeom>
          <a:solidFill>
            <a:schemeClr val="bg2"/>
          </a:solidFill>
          <a:ln/>
        </p:spPr>
      </p:sp>
      <p:sp>
        <p:nvSpPr>
          <p:cNvPr id="6" name="Trap chip 1"/>
          <p:cNvSpPr/>
          <p:nvPr/>
        </p:nvSpPr>
        <p:spPr>
          <a:xfrm>
            <a:off x="731520" y="1965960"/>
            <a:ext cx="420624" cy="420624"/>
          </a:xfrm>
          <a:prstGeom prst="roundRect">
            <a:avLst>
              <a:gd name="adj" fmla="val 17391"/>
            </a:avLst>
          </a:prstGeom>
          <a:solidFill>
            <a:schemeClr val="accent1"/>
          </a:solidFill>
          <a:ln/>
        </p:spPr>
      </p:sp>
      <p:sp>
        <p:nvSpPr>
          <p:cNvPr id="7" name="Trap number"/>
          <p:cNvSpPr txBox="1"/>
          <p:nvPr/>
        </p:nvSpPr>
        <p:spPr>
          <a:xfrm>
            <a:off x="731520"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Trap title"/>
          <p:cNvSpPr txBox="1"/>
          <p:nvPr/>
        </p:nvSpPr>
        <p:spPr>
          <a:xfrm>
            <a:off x="731520" y="25146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Hard-coded IDs</a:t>
            </a:r>
            <a:endParaRPr lang="en-US" sz="1500" dirty="0"/>
          </a:p>
        </p:txBody>
      </p:sp>
      <p:sp>
        <p:nvSpPr>
          <p:cNvPr id="9" name="Trap text"/>
          <p:cNvSpPr txBox="1"/>
          <p:nvPr/>
        </p:nvSpPr>
        <p:spPr>
          <a:xfrm>
            <a:off x="731520" y="2926080"/>
            <a:ext cx="2331720" cy="731520"/>
          </a:xfrm>
          <a:prstGeom prst="rect">
            <a:avLst/>
          </a:prstGeom>
          <a:noFill/>
          <a:ln/>
        </p:spPr>
        <p:txBody>
          <a:bodyPr wrap="square" lIns="0" tIns="0" rIns="0" bIns="0" rtlCol="0" anchor="t"/>
          <a:lstStyle/>
          <a:p>
            <a:pPr indent="0" marL="0">
              <a:buNone/>
            </a:pPr>
            <a:r>
              <a:rPr lang="en-US" sz="1200" dirty="0">
                <a:solidFill>
                  <a:schemeClr val="tx1"/>
                </a:solidFill>
              </a:rPr>
              <a:t>Scan for them. Remove them.</a:t>
            </a:r>
            <a:endParaRPr lang="en-US" sz="1200" dirty="0"/>
          </a:p>
        </p:txBody>
      </p:sp>
      <p:sp>
        <p:nvSpPr>
          <p:cNvPr id="10" name="Default lakehouse card"/>
          <p:cNvSpPr/>
          <p:nvPr/>
        </p:nvSpPr>
        <p:spPr>
          <a:xfrm>
            <a:off x="3355848" y="1783080"/>
            <a:ext cx="2679192" cy="1920240"/>
          </a:xfrm>
          <a:prstGeom prst="roundRect">
            <a:avLst>
              <a:gd name="adj" fmla="val 5714"/>
            </a:avLst>
          </a:prstGeom>
          <a:solidFill>
            <a:schemeClr val="bg2"/>
          </a:solidFill>
          <a:ln/>
        </p:spPr>
      </p:sp>
      <p:sp>
        <p:nvSpPr>
          <p:cNvPr id="11" name="Trap chip 2"/>
          <p:cNvSpPr/>
          <p:nvPr/>
        </p:nvSpPr>
        <p:spPr>
          <a:xfrm>
            <a:off x="3538728" y="1965960"/>
            <a:ext cx="420624" cy="420624"/>
          </a:xfrm>
          <a:prstGeom prst="roundRect">
            <a:avLst>
              <a:gd name="adj" fmla="val 17391"/>
            </a:avLst>
          </a:prstGeom>
          <a:solidFill>
            <a:schemeClr val="accent1"/>
          </a:solidFill>
          <a:ln/>
        </p:spPr>
      </p:sp>
      <p:sp>
        <p:nvSpPr>
          <p:cNvPr id="12" name="Trap number"/>
          <p:cNvSpPr txBox="1"/>
          <p:nvPr/>
        </p:nvSpPr>
        <p:spPr>
          <a:xfrm>
            <a:off x="3538728"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3" name="Trap title"/>
          <p:cNvSpPr txBox="1"/>
          <p:nvPr/>
        </p:nvSpPr>
        <p:spPr>
          <a:xfrm>
            <a:off x="3538728" y="25146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Default lakehouse</a:t>
            </a:r>
            <a:endParaRPr lang="en-US" sz="1500" dirty="0"/>
          </a:p>
        </p:txBody>
      </p:sp>
      <p:sp>
        <p:nvSpPr>
          <p:cNvPr id="14" name="Trap text"/>
          <p:cNvSpPr txBox="1"/>
          <p:nvPr/>
        </p:nvSpPr>
        <p:spPr>
          <a:xfrm>
            <a:off x="3538728" y="2926080"/>
            <a:ext cx="2331720" cy="731520"/>
          </a:xfrm>
          <a:prstGeom prst="rect">
            <a:avLst/>
          </a:prstGeom>
          <a:noFill/>
          <a:ln/>
        </p:spPr>
        <p:txBody>
          <a:bodyPr wrap="square" lIns="0" tIns="0" rIns="0" bIns="0" rtlCol="0" anchor="t"/>
          <a:lstStyle/>
          <a:p>
            <a:pPr indent="0" marL="0">
              <a:buNone/>
            </a:pPr>
            <a:r>
              <a:rPr lang="en-US" sz="1200" dirty="0">
                <a:solidFill>
                  <a:schemeClr val="tx1"/>
                </a:solidFill>
              </a:rPr>
              <a:t>The binding is saved with the notebook. Rebind it.</a:t>
            </a:r>
            <a:endParaRPr lang="en-US" sz="1200" dirty="0"/>
          </a:p>
        </p:txBody>
      </p:sp>
      <p:sp>
        <p:nvSpPr>
          <p:cNvPr id="15" name="Connections card"/>
          <p:cNvSpPr/>
          <p:nvPr/>
        </p:nvSpPr>
        <p:spPr>
          <a:xfrm>
            <a:off x="6163056" y="1783080"/>
            <a:ext cx="2679192" cy="1920240"/>
          </a:xfrm>
          <a:prstGeom prst="roundRect">
            <a:avLst>
              <a:gd name="adj" fmla="val 5714"/>
            </a:avLst>
          </a:prstGeom>
          <a:solidFill>
            <a:schemeClr val="bg2"/>
          </a:solidFill>
          <a:ln/>
        </p:spPr>
      </p:sp>
      <p:sp>
        <p:nvSpPr>
          <p:cNvPr id="16" name="Trap chip 3"/>
          <p:cNvSpPr/>
          <p:nvPr/>
        </p:nvSpPr>
        <p:spPr>
          <a:xfrm>
            <a:off x="6345936" y="1965960"/>
            <a:ext cx="420624" cy="420624"/>
          </a:xfrm>
          <a:prstGeom prst="roundRect">
            <a:avLst>
              <a:gd name="adj" fmla="val 17391"/>
            </a:avLst>
          </a:prstGeom>
          <a:solidFill>
            <a:schemeClr val="accent1"/>
          </a:solidFill>
          <a:ln/>
        </p:spPr>
      </p:sp>
      <p:sp>
        <p:nvSpPr>
          <p:cNvPr id="17" name="Trap number"/>
          <p:cNvSpPr txBox="1"/>
          <p:nvPr/>
        </p:nvSpPr>
        <p:spPr>
          <a:xfrm>
            <a:off x="6345936"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8" name="Trap title"/>
          <p:cNvSpPr txBox="1"/>
          <p:nvPr/>
        </p:nvSpPr>
        <p:spPr>
          <a:xfrm>
            <a:off x="6345936" y="25146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Connections</a:t>
            </a:r>
            <a:endParaRPr lang="en-US" sz="1500" dirty="0"/>
          </a:p>
        </p:txBody>
      </p:sp>
      <p:sp>
        <p:nvSpPr>
          <p:cNvPr id="19" name="Trap text"/>
          <p:cNvSpPr txBox="1"/>
          <p:nvPr/>
        </p:nvSpPr>
        <p:spPr>
          <a:xfrm>
            <a:off x="6345936" y="2926080"/>
            <a:ext cx="2331720" cy="731520"/>
          </a:xfrm>
          <a:prstGeom prst="rect">
            <a:avLst/>
          </a:prstGeom>
          <a:noFill/>
          <a:ln/>
        </p:spPr>
        <p:txBody>
          <a:bodyPr wrap="square" lIns="0" tIns="0" rIns="0" bIns="0" rtlCol="0" anchor="t"/>
          <a:lstStyle/>
          <a:p>
            <a:pPr indent="0" marL="0">
              <a:buNone/>
            </a:pPr>
            <a:r>
              <a:rPr lang="en-US" sz="1200" dirty="0">
                <a:solidFill>
                  <a:schemeClr val="tx1"/>
                </a:solidFill>
              </a:rPr>
              <a:t>They do not travel. Create them in each environment.</a:t>
            </a:r>
            <a:endParaRPr lang="en-US" sz="1200" dirty="0"/>
          </a:p>
        </p:txBody>
      </p:sp>
      <p:sp>
        <p:nvSpPr>
          <p:cNvPr id="20" name="Schedules card"/>
          <p:cNvSpPr/>
          <p:nvPr/>
        </p:nvSpPr>
        <p:spPr>
          <a:xfrm>
            <a:off x="8970264" y="1783080"/>
            <a:ext cx="2679192" cy="1920240"/>
          </a:xfrm>
          <a:prstGeom prst="roundRect">
            <a:avLst>
              <a:gd name="adj" fmla="val 5714"/>
            </a:avLst>
          </a:prstGeom>
          <a:solidFill>
            <a:schemeClr val="bg2"/>
          </a:solidFill>
          <a:ln/>
        </p:spPr>
      </p:sp>
      <p:sp>
        <p:nvSpPr>
          <p:cNvPr id="21" name="Trap chip 4"/>
          <p:cNvSpPr/>
          <p:nvPr/>
        </p:nvSpPr>
        <p:spPr>
          <a:xfrm>
            <a:off x="9153144" y="1965960"/>
            <a:ext cx="420624" cy="420624"/>
          </a:xfrm>
          <a:prstGeom prst="roundRect">
            <a:avLst>
              <a:gd name="adj" fmla="val 17391"/>
            </a:avLst>
          </a:prstGeom>
          <a:solidFill>
            <a:schemeClr val="accent1"/>
          </a:solidFill>
          <a:ln/>
        </p:spPr>
      </p:sp>
      <p:sp>
        <p:nvSpPr>
          <p:cNvPr id="22" name="Trap number"/>
          <p:cNvSpPr txBox="1"/>
          <p:nvPr/>
        </p:nvSpPr>
        <p:spPr>
          <a:xfrm>
            <a:off x="9153144"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3" name="Trap title"/>
          <p:cNvSpPr txBox="1"/>
          <p:nvPr/>
        </p:nvSpPr>
        <p:spPr>
          <a:xfrm>
            <a:off x="9153144" y="25146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Schedules</a:t>
            </a:r>
            <a:endParaRPr lang="en-US" sz="1500" dirty="0"/>
          </a:p>
        </p:txBody>
      </p:sp>
      <p:sp>
        <p:nvSpPr>
          <p:cNvPr id="24" name="Trap text"/>
          <p:cNvSpPr txBox="1"/>
          <p:nvPr/>
        </p:nvSpPr>
        <p:spPr>
          <a:xfrm>
            <a:off x="9153144" y="2926080"/>
            <a:ext cx="2331720" cy="731520"/>
          </a:xfrm>
          <a:prstGeom prst="rect">
            <a:avLst/>
          </a:prstGeom>
          <a:noFill/>
          <a:ln/>
        </p:spPr>
        <p:txBody>
          <a:bodyPr wrap="square" lIns="0" tIns="0" rIns="0" bIns="0" rtlCol="0" anchor="t"/>
          <a:lstStyle/>
          <a:p>
            <a:pPr indent="0" marL="0">
              <a:buNone/>
            </a:pPr>
            <a:r>
              <a:rPr lang="en-US" sz="1200" dirty="0">
                <a:solidFill>
                  <a:schemeClr val="tx1"/>
                </a:solidFill>
              </a:rPr>
              <a:t>Left on in TEST, or off in PROD. Check both.</a:t>
            </a:r>
            <a:endParaRPr lang="en-US" sz="1200" dirty="0"/>
          </a:p>
        </p:txBody>
      </p:sp>
      <p:sp>
        <p:nvSpPr>
          <p:cNvPr id="25" name="Model binding card"/>
          <p:cNvSpPr/>
          <p:nvPr/>
        </p:nvSpPr>
        <p:spPr>
          <a:xfrm>
            <a:off x="548640" y="3840480"/>
            <a:ext cx="2679192" cy="1920240"/>
          </a:xfrm>
          <a:prstGeom prst="roundRect">
            <a:avLst>
              <a:gd name="adj" fmla="val 5714"/>
            </a:avLst>
          </a:prstGeom>
          <a:solidFill>
            <a:schemeClr val="bg2"/>
          </a:solidFill>
          <a:ln/>
        </p:spPr>
      </p:sp>
      <p:sp>
        <p:nvSpPr>
          <p:cNvPr id="26" name="Trap chip 5"/>
          <p:cNvSpPr/>
          <p:nvPr/>
        </p:nvSpPr>
        <p:spPr>
          <a:xfrm>
            <a:off x="731520" y="4023360"/>
            <a:ext cx="420624" cy="420624"/>
          </a:xfrm>
          <a:prstGeom prst="roundRect">
            <a:avLst>
              <a:gd name="adj" fmla="val 17391"/>
            </a:avLst>
          </a:prstGeom>
          <a:solidFill>
            <a:schemeClr val="accent4"/>
          </a:solidFill>
          <a:ln/>
        </p:spPr>
      </p:sp>
      <p:sp>
        <p:nvSpPr>
          <p:cNvPr id="27" name="Trap number"/>
          <p:cNvSpPr txBox="1"/>
          <p:nvPr/>
        </p:nvSpPr>
        <p:spPr>
          <a:xfrm>
            <a:off x="731520" y="40233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28" name="Trap title"/>
          <p:cNvSpPr txBox="1"/>
          <p:nvPr/>
        </p:nvSpPr>
        <p:spPr>
          <a:xfrm>
            <a:off x="731520" y="45720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Model binding</a:t>
            </a:r>
            <a:endParaRPr lang="en-US" sz="1500" dirty="0"/>
          </a:p>
        </p:txBody>
      </p:sp>
      <p:sp>
        <p:nvSpPr>
          <p:cNvPr id="29" name="Trap text"/>
          <p:cNvSpPr txBox="1"/>
          <p:nvPr/>
        </p:nvSpPr>
        <p:spPr>
          <a:xfrm>
            <a:off x="731520" y="4983480"/>
            <a:ext cx="2331720" cy="731520"/>
          </a:xfrm>
          <a:prstGeom prst="rect">
            <a:avLst/>
          </a:prstGeom>
          <a:noFill/>
          <a:ln/>
        </p:spPr>
        <p:txBody>
          <a:bodyPr wrap="square" lIns="0" tIns="0" rIns="0" bIns="0" rtlCol="0" anchor="t"/>
          <a:lstStyle/>
          <a:p>
            <a:pPr indent="0" marL="0">
              <a:buNone/>
            </a:pPr>
            <a:r>
              <a:rPr lang="en-US" sz="1200" dirty="0">
                <a:solidFill>
                  <a:schemeClr val="tx1"/>
                </a:solidFill>
              </a:rPr>
              <a:t>A Direct Lake model must point at its own lakehouse.</a:t>
            </a:r>
            <a:endParaRPr lang="en-US" sz="1200" dirty="0"/>
          </a:p>
        </p:txBody>
      </p:sp>
      <p:sp>
        <p:nvSpPr>
          <p:cNvPr id="30" name="Capacity and region card"/>
          <p:cNvSpPr/>
          <p:nvPr/>
        </p:nvSpPr>
        <p:spPr>
          <a:xfrm>
            <a:off x="3355848" y="3840480"/>
            <a:ext cx="2679192" cy="1920240"/>
          </a:xfrm>
          <a:prstGeom prst="roundRect">
            <a:avLst>
              <a:gd name="adj" fmla="val 5714"/>
            </a:avLst>
          </a:prstGeom>
          <a:solidFill>
            <a:schemeClr val="bg2"/>
          </a:solidFill>
          <a:ln/>
        </p:spPr>
      </p:sp>
      <p:sp>
        <p:nvSpPr>
          <p:cNvPr id="31" name="Trap chip 6"/>
          <p:cNvSpPr/>
          <p:nvPr/>
        </p:nvSpPr>
        <p:spPr>
          <a:xfrm>
            <a:off x="3538728" y="4023360"/>
            <a:ext cx="420624" cy="420624"/>
          </a:xfrm>
          <a:prstGeom prst="roundRect">
            <a:avLst>
              <a:gd name="adj" fmla="val 17391"/>
            </a:avLst>
          </a:prstGeom>
          <a:solidFill>
            <a:schemeClr val="accent4"/>
          </a:solidFill>
          <a:ln/>
        </p:spPr>
      </p:sp>
      <p:sp>
        <p:nvSpPr>
          <p:cNvPr id="32" name="Trap number"/>
          <p:cNvSpPr txBox="1"/>
          <p:nvPr/>
        </p:nvSpPr>
        <p:spPr>
          <a:xfrm>
            <a:off x="3538728" y="40233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6</a:t>
            </a:r>
            <a:endParaRPr lang="en-US" sz="1600" dirty="0"/>
          </a:p>
        </p:txBody>
      </p:sp>
      <p:sp>
        <p:nvSpPr>
          <p:cNvPr id="33" name="Trap title"/>
          <p:cNvSpPr txBox="1"/>
          <p:nvPr/>
        </p:nvSpPr>
        <p:spPr>
          <a:xfrm>
            <a:off x="3538728" y="45720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Capacity and region</a:t>
            </a:r>
            <a:endParaRPr lang="en-US" sz="1500" dirty="0"/>
          </a:p>
        </p:txBody>
      </p:sp>
      <p:sp>
        <p:nvSpPr>
          <p:cNvPr id="34" name="Trap text"/>
          <p:cNvSpPr txBox="1"/>
          <p:nvPr/>
        </p:nvSpPr>
        <p:spPr>
          <a:xfrm>
            <a:off x="3538728" y="4983480"/>
            <a:ext cx="2331720" cy="731520"/>
          </a:xfrm>
          <a:prstGeom prst="rect">
            <a:avLst/>
          </a:prstGeom>
          <a:noFill/>
          <a:ln/>
        </p:spPr>
        <p:txBody>
          <a:bodyPr wrap="square" lIns="0" tIns="0" rIns="0" bIns="0" rtlCol="0" anchor="t"/>
          <a:lstStyle/>
          <a:p>
            <a:pPr indent="0" marL="0">
              <a:buNone/>
            </a:pPr>
            <a:r>
              <a:rPr lang="en-US" sz="1200" dirty="0">
                <a:solidFill>
                  <a:schemeClr val="tx1"/>
                </a:solidFill>
              </a:rPr>
              <a:t>Limits and behaviour can differ. Test on TEST.</a:t>
            </a:r>
            <a:endParaRPr lang="en-US" sz="1200" dirty="0"/>
          </a:p>
        </p:txBody>
      </p:sp>
      <p:sp>
        <p:nvSpPr>
          <p:cNvPr id="35" name="Permissions card"/>
          <p:cNvSpPr/>
          <p:nvPr/>
        </p:nvSpPr>
        <p:spPr>
          <a:xfrm>
            <a:off x="6163056" y="3840480"/>
            <a:ext cx="2679192" cy="1920240"/>
          </a:xfrm>
          <a:prstGeom prst="roundRect">
            <a:avLst>
              <a:gd name="adj" fmla="val 5714"/>
            </a:avLst>
          </a:prstGeom>
          <a:solidFill>
            <a:schemeClr val="bg2"/>
          </a:solidFill>
          <a:ln/>
        </p:spPr>
      </p:sp>
      <p:sp>
        <p:nvSpPr>
          <p:cNvPr id="36" name="Trap chip 7"/>
          <p:cNvSpPr/>
          <p:nvPr/>
        </p:nvSpPr>
        <p:spPr>
          <a:xfrm>
            <a:off x="6345936" y="4023360"/>
            <a:ext cx="420624" cy="420624"/>
          </a:xfrm>
          <a:prstGeom prst="roundRect">
            <a:avLst>
              <a:gd name="adj" fmla="val 17391"/>
            </a:avLst>
          </a:prstGeom>
          <a:solidFill>
            <a:schemeClr val="accent4"/>
          </a:solidFill>
          <a:ln/>
        </p:spPr>
      </p:sp>
      <p:sp>
        <p:nvSpPr>
          <p:cNvPr id="37" name="Trap number"/>
          <p:cNvSpPr txBox="1"/>
          <p:nvPr/>
        </p:nvSpPr>
        <p:spPr>
          <a:xfrm>
            <a:off x="6345936" y="40233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7</a:t>
            </a:r>
            <a:endParaRPr lang="en-US" sz="1600" dirty="0"/>
          </a:p>
        </p:txBody>
      </p:sp>
      <p:sp>
        <p:nvSpPr>
          <p:cNvPr id="38" name="Trap title"/>
          <p:cNvSpPr txBox="1"/>
          <p:nvPr/>
        </p:nvSpPr>
        <p:spPr>
          <a:xfrm>
            <a:off x="6345936" y="45720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Permissions</a:t>
            </a:r>
            <a:endParaRPr lang="en-US" sz="1500" dirty="0"/>
          </a:p>
        </p:txBody>
      </p:sp>
      <p:sp>
        <p:nvSpPr>
          <p:cNvPr id="39" name="Trap text"/>
          <p:cNvSpPr txBox="1"/>
          <p:nvPr/>
        </p:nvSpPr>
        <p:spPr>
          <a:xfrm>
            <a:off x="6345936" y="4983480"/>
            <a:ext cx="2331720" cy="731520"/>
          </a:xfrm>
          <a:prstGeom prst="rect">
            <a:avLst/>
          </a:prstGeom>
          <a:noFill/>
          <a:ln/>
        </p:spPr>
        <p:txBody>
          <a:bodyPr wrap="square" lIns="0" tIns="0" rIns="0" bIns="0" rtlCol="0" anchor="t"/>
          <a:lstStyle/>
          <a:p>
            <a:pPr indent="0" marL="0">
              <a:buNone/>
            </a:pPr>
            <a:r>
              <a:rPr lang="en-US" sz="1200" dirty="0">
                <a:solidFill>
                  <a:schemeClr val="tx1"/>
                </a:solidFill>
              </a:rPr>
              <a:t>Who can read in DEV cannot automatically read in TEST.</a:t>
            </a:r>
            <a:endParaRPr lang="en-US" sz="1200" dirty="0"/>
          </a:p>
        </p:txBody>
      </p:sp>
      <p:sp>
        <p:nvSpPr>
          <p:cNvPr id="40" name="Orphan cleanup card"/>
          <p:cNvSpPr/>
          <p:nvPr/>
        </p:nvSpPr>
        <p:spPr>
          <a:xfrm>
            <a:off x="8970264" y="3840480"/>
            <a:ext cx="2679192" cy="1920240"/>
          </a:xfrm>
          <a:prstGeom prst="roundRect">
            <a:avLst>
              <a:gd name="adj" fmla="val 5714"/>
            </a:avLst>
          </a:prstGeom>
          <a:solidFill>
            <a:schemeClr val="bg2"/>
          </a:solidFill>
          <a:ln/>
        </p:spPr>
      </p:sp>
      <p:sp>
        <p:nvSpPr>
          <p:cNvPr id="41" name="Trap chip 8"/>
          <p:cNvSpPr/>
          <p:nvPr/>
        </p:nvSpPr>
        <p:spPr>
          <a:xfrm>
            <a:off x="9153144" y="4023360"/>
            <a:ext cx="420624" cy="420624"/>
          </a:xfrm>
          <a:prstGeom prst="roundRect">
            <a:avLst>
              <a:gd name="adj" fmla="val 17391"/>
            </a:avLst>
          </a:prstGeom>
          <a:solidFill>
            <a:schemeClr val="accent4"/>
          </a:solidFill>
          <a:ln/>
        </p:spPr>
      </p:sp>
      <p:sp>
        <p:nvSpPr>
          <p:cNvPr id="42" name="Trap number"/>
          <p:cNvSpPr txBox="1"/>
          <p:nvPr/>
        </p:nvSpPr>
        <p:spPr>
          <a:xfrm>
            <a:off x="9153144" y="40233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8</a:t>
            </a:r>
            <a:endParaRPr lang="en-US" sz="1600" dirty="0"/>
          </a:p>
        </p:txBody>
      </p:sp>
      <p:sp>
        <p:nvSpPr>
          <p:cNvPr id="43" name="Trap title"/>
          <p:cNvSpPr txBox="1"/>
          <p:nvPr/>
        </p:nvSpPr>
        <p:spPr>
          <a:xfrm>
            <a:off x="9153144" y="45720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Orphan cleanup</a:t>
            </a:r>
            <a:endParaRPr lang="en-US" sz="1500" dirty="0"/>
          </a:p>
        </p:txBody>
      </p:sp>
      <p:sp>
        <p:nvSpPr>
          <p:cNvPr id="44" name="Trap text"/>
          <p:cNvSpPr txBox="1"/>
          <p:nvPr/>
        </p:nvSpPr>
        <p:spPr>
          <a:xfrm>
            <a:off x="9153144" y="4983480"/>
            <a:ext cx="2331720" cy="731520"/>
          </a:xfrm>
          <a:prstGeom prst="rect">
            <a:avLst/>
          </a:prstGeom>
          <a:noFill/>
          <a:ln/>
        </p:spPr>
        <p:txBody>
          <a:bodyPr wrap="square" lIns="0" tIns="0" rIns="0" bIns="0" rtlCol="0" anchor="t"/>
          <a:lstStyle/>
          <a:p>
            <a:pPr indent="0" marL="0">
              <a:buNone/>
            </a:pPr>
            <a:r>
              <a:rPr lang="en-US" sz="1200" dirty="0">
                <a:solidFill>
                  <a:schemeClr val="tx1"/>
                </a:solidFill>
              </a:rPr>
              <a:t>Deleting what is not in the repo is deliberate. Not a default.</a:t>
            </a:r>
            <a:endParaRPr lang="en-US" sz="1200" dirty="0"/>
          </a:p>
        </p:txBody>
      </p:sp>
      <p:sp>
        <p:nvSpPr>
          <p:cNvPr id="45" name="Takeaway"/>
          <p:cNvSpPr txBox="1"/>
          <p:nvPr/>
        </p:nvSpPr>
        <p:spPr>
          <a:xfrm>
            <a:off x="548640" y="5943600"/>
            <a:ext cx="11094415" cy="457200"/>
          </a:xfrm>
          <a:prstGeom prst="roundRect">
            <a:avLst>
              <a:gd name="adj" fmla="val 20000"/>
            </a:avLst>
          </a:prstGeom>
          <a:solidFill>
            <a:schemeClr val="tx1"/>
          </a:solidFill>
          <a:ln/>
        </p:spPr>
        <p:txBody>
          <a:bodyPr wrap="square" lIns="279400" tIns="0" rIns="279400" bIns="0" rtlCol="0" anchor="ctr"/>
          <a:lstStyle/>
          <a:p>
            <a:pPr indent="0" marL="0">
              <a:buNone/>
            </a:pPr>
            <a:r>
              <a:rPr lang="en-US" sz="1600" i="1" dirty="0">
                <a:solidFill>
                  <a:schemeClr val="bg1"/>
                </a:solidFill>
              </a:rPr>
              <a:t>Most of these fail quietly. That is why the check after the deploy matters.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Three systems on three clocks: process, rails, record</a:t>
            </a:r>
            <a:endParaRPr lang="en-US" sz="3200" dirty="0"/>
          </a:p>
        </p:txBody>
      </p:sp>
      <p:sp>
        <p:nvSpPr>
          <p:cNvPr id="5" name="The process card"/>
          <p:cNvSpPr/>
          <p:nvPr/>
        </p:nvSpPr>
        <p:spPr>
          <a:xfrm>
            <a:off x="548640" y="1783080"/>
            <a:ext cx="3593592" cy="3200400"/>
          </a:xfrm>
          <a:prstGeom prst="roundRect">
            <a:avLst>
              <a:gd name="adj" fmla="val 3429"/>
            </a:avLst>
          </a:prstGeom>
          <a:solidFill>
            <a:schemeClr val="bg2"/>
          </a:solidFill>
          <a:ln/>
        </p:spPr>
      </p:sp>
      <p:sp>
        <p:nvSpPr>
          <p:cNvPr id="6" name="The process badge"/>
          <p:cNvSpPr/>
          <p:nvPr/>
        </p:nvSpPr>
        <p:spPr>
          <a:xfrm>
            <a:off x="777240" y="1965960"/>
            <a:ext cx="603504" cy="603504"/>
          </a:xfrm>
          <a:prstGeom prst="ellipse">
            <a:avLst/>
          </a:prstGeom>
          <a:solidFill>
            <a:schemeClr val="accent1"/>
          </a:solidFill>
          <a:ln/>
        </p:spPr>
      </p:sp>
      <p:pic>
        <p:nvPicPr>
          <p:cNvPr id="7" name="Image 0" descr="The process icon">    </p:cNvPr>
          <p:cNvPicPr>
            <a:picLocks noChangeAspect="1"/>
          </p:cNvPicPr>
          <p:nvPr/>
        </p:nvPicPr>
        <p:blipFill>
          <a:blip r:embed="rId1"/>
          <a:stretch>
            <a:fillRect/>
          </a:stretch>
        </p:blipFill>
        <p:spPr>
          <a:xfrm>
            <a:off x="928116" y="2116836"/>
            <a:ext cx="301752" cy="301752"/>
          </a:xfrm>
          <a:prstGeom prst="rect">
            <a:avLst/>
          </a:prstGeom>
        </p:spPr>
      </p:pic>
      <p:sp>
        <p:nvSpPr>
          <p:cNvPr id="8" name="System title"/>
          <p:cNvSpPr txBox="1"/>
          <p:nvPr/>
        </p:nvSpPr>
        <p:spPr>
          <a:xfrm>
            <a:off x="1554480" y="1965960"/>
            <a:ext cx="246888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The process</a:t>
            </a:r>
            <a:endParaRPr lang="en-US" sz="1900" dirty="0"/>
          </a:p>
        </p:txBody>
      </p:sp>
      <p:sp>
        <p:nvSpPr>
          <p:cNvPr id="9" name="System subtitle"/>
          <p:cNvSpPr txBox="1"/>
          <p:nvPr/>
        </p:nvSpPr>
        <p:spPr>
          <a:xfrm>
            <a:off x="1554480" y="2331720"/>
            <a:ext cx="2468880" cy="274320"/>
          </a:xfrm>
          <a:prstGeom prst="rect">
            <a:avLst/>
          </a:prstGeom>
          <a:noFill/>
          <a:ln/>
        </p:spPr>
        <p:txBody>
          <a:bodyPr wrap="square" lIns="0" tIns="0" rIns="0" bIns="0" rtlCol="0" anchor="t"/>
          <a:lstStyle/>
          <a:p>
            <a:pPr indent="0" marL="0">
              <a:buNone/>
            </a:pPr>
            <a:r>
              <a:rPr lang="en-US" sz="1200" i="1" dirty="0">
                <a:solidFill>
                  <a:schemeClr val="accent1"/>
                </a:solidFill>
              </a:rPr>
              <a:t>The path work travels</a:t>
            </a:r>
            <a:endParaRPr lang="en-US" sz="1200" dirty="0"/>
          </a:p>
        </p:txBody>
      </p:sp>
      <p:sp>
        <p:nvSpPr>
          <p:cNvPr id="10" name="System text"/>
          <p:cNvSpPr txBox="1"/>
          <p:nvPr/>
        </p:nvSpPr>
        <p:spPr>
          <a:xfrm>
            <a:off x="777240" y="2971800"/>
            <a:ext cx="3154680" cy="1920240"/>
          </a:xfrm>
          <a:prstGeom prst="rect">
            <a:avLst/>
          </a:prstGeom>
          <a:noFill/>
          <a:ln/>
        </p:spPr>
        <p:txBody>
          <a:bodyPr wrap="square" lIns="0" tIns="0" rIns="0" bIns="0" rtlCol="0" anchor="t"/>
          <a:lstStyle/>
          <a:p>
            <a:pPr indent="0" marL="0">
              <a:buNone/>
            </a:pPr>
            <a:r>
              <a:rPr lang="en-US" sz="1400" dirty="0">
                <a:solidFill>
                  <a:schemeClr val="tx1"/>
                </a:solidFill>
              </a:rPr>
              <a:t>Phases and gates. Each gate tests something you can point at, and none of them is a meeting.</a:t>
            </a:r>
            <a:endParaRPr lang="en-US" sz="1400" dirty="0"/>
          </a:p>
        </p:txBody>
      </p:sp>
      <p:sp>
        <p:nvSpPr>
          <p:cNvPr id="11" name="The rails card"/>
          <p:cNvSpPr/>
          <p:nvPr/>
        </p:nvSpPr>
        <p:spPr>
          <a:xfrm>
            <a:off x="4297680" y="1783080"/>
            <a:ext cx="3593592" cy="3200400"/>
          </a:xfrm>
          <a:prstGeom prst="roundRect">
            <a:avLst>
              <a:gd name="adj" fmla="val 3429"/>
            </a:avLst>
          </a:prstGeom>
          <a:solidFill>
            <a:schemeClr val="bg2"/>
          </a:solidFill>
          <a:ln/>
        </p:spPr>
      </p:sp>
      <p:sp>
        <p:nvSpPr>
          <p:cNvPr id="12" name="The rails badge"/>
          <p:cNvSpPr/>
          <p:nvPr/>
        </p:nvSpPr>
        <p:spPr>
          <a:xfrm>
            <a:off x="4526280" y="1965960"/>
            <a:ext cx="603504" cy="603504"/>
          </a:xfrm>
          <a:prstGeom prst="ellipse">
            <a:avLst/>
          </a:prstGeom>
          <a:solidFill>
            <a:schemeClr val="accent2"/>
          </a:solidFill>
          <a:ln/>
        </p:spPr>
      </p:sp>
      <p:pic>
        <p:nvPicPr>
          <p:cNvPr id="13" name="Image 1" descr="The rails icon">    </p:cNvPr>
          <p:cNvPicPr>
            <a:picLocks noChangeAspect="1"/>
          </p:cNvPicPr>
          <p:nvPr/>
        </p:nvPicPr>
        <p:blipFill>
          <a:blip r:embed="rId2"/>
          <a:stretch>
            <a:fillRect/>
          </a:stretch>
        </p:blipFill>
        <p:spPr>
          <a:xfrm>
            <a:off x="4677156" y="2116836"/>
            <a:ext cx="301752" cy="301752"/>
          </a:xfrm>
          <a:prstGeom prst="rect">
            <a:avLst/>
          </a:prstGeom>
        </p:spPr>
      </p:pic>
      <p:sp>
        <p:nvSpPr>
          <p:cNvPr id="14" name="System title"/>
          <p:cNvSpPr txBox="1"/>
          <p:nvPr/>
        </p:nvSpPr>
        <p:spPr>
          <a:xfrm>
            <a:off x="5303520" y="1965960"/>
            <a:ext cx="246888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The rails</a:t>
            </a:r>
            <a:endParaRPr lang="en-US" sz="1900" dirty="0"/>
          </a:p>
        </p:txBody>
      </p:sp>
      <p:sp>
        <p:nvSpPr>
          <p:cNvPr id="15" name="System subtitle"/>
          <p:cNvSpPr txBox="1"/>
          <p:nvPr/>
        </p:nvSpPr>
        <p:spPr>
          <a:xfrm>
            <a:off x="5303520" y="2331720"/>
            <a:ext cx="2468880" cy="274320"/>
          </a:xfrm>
          <a:prstGeom prst="rect">
            <a:avLst/>
          </a:prstGeom>
          <a:noFill/>
          <a:ln/>
        </p:spPr>
        <p:txBody>
          <a:bodyPr wrap="square" lIns="0" tIns="0" rIns="0" bIns="0" rtlCol="0" anchor="t"/>
          <a:lstStyle/>
          <a:p>
            <a:pPr indent="0" marL="0">
              <a:buNone/>
            </a:pPr>
            <a:r>
              <a:rPr lang="en-US" sz="1200" i="1" dirty="0">
                <a:solidFill>
                  <a:schemeClr val="accent1"/>
                </a:solidFill>
              </a:rPr>
              <a:t>Quality obligations</a:t>
            </a:r>
            <a:endParaRPr lang="en-US" sz="1200" dirty="0"/>
          </a:p>
        </p:txBody>
      </p:sp>
      <p:sp>
        <p:nvSpPr>
          <p:cNvPr id="16" name="System text"/>
          <p:cNvSpPr txBox="1"/>
          <p:nvPr/>
        </p:nvSpPr>
        <p:spPr>
          <a:xfrm>
            <a:off x="4526280" y="2971800"/>
            <a:ext cx="3154680" cy="1920240"/>
          </a:xfrm>
          <a:prstGeom prst="rect">
            <a:avLst/>
          </a:prstGeom>
          <a:noFill/>
          <a:ln/>
        </p:spPr>
        <p:txBody>
          <a:bodyPr wrap="square" lIns="0" tIns="0" rIns="0" bIns="0" rtlCol="0" anchor="t"/>
          <a:lstStyle/>
          <a:p>
            <a:pPr indent="0" marL="0">
              <a:buNone/>
            </a:pPr>
            <a:r>
              <a:rPr lang="en-US" sz="1400" dirty="0">
                <a:solidFill>
                  <a:schemeClr val="tx1"/>
                </a:solidFill>
              </a:rPr>
              <a:t>Some run on every change, in seconds. Some run once, on another team's clock, and take weeks.</a:t>
            </a:r>
            <a:endParaRPr lang="en-US" sz="1400" dirty="0"/>
          </a:p>
        </p:txBody>
      </p:sp>
      <p:sp>
        <p:nvSpPr>
          <p:cNvPr id="17" name="The record card"/>
          <p:cNvSpPr/>
          <p:nvPr/>
        </p:nvSpPr>
        <p:spPr>
          <a:xfrm>
            <a:off x="8046720" y="1783080"/>
            <a:ext cx="3593592" cy="3200400"/>
          </a:xfrm>
          <a:prstGeom prst="roundRect">
            <a:avLst>
              <a:gd name="adj" fmla="val 3429"/>
            </a:avLst>
          </a:prstGeom>
          <a:solidFill>
            <a:schemeClr val="bg2"/>
          </a:solidFill>
          <a:ln/>
        </p:spPr>
      </p:sp>
      <p:sp>
        <p:nvSpPr>
          <p:cNvPr id="18" name="The record badge"/>
          <p:cNvSpPr/>
          <p:nvPr/>
        </p:nvSpPr>
        <p:spPr>
          <a:xfrm>
            <a:off x="8275320" y="1965960"/>
            <a:ext cx="603504" cy="603504"/>
          </a:xfrm>
          <a:prstGeom prst="ellipse">
            <a:avLst/>
          </a:prstGeom>
          <a:solidFill>
            <a:schemeClr val="tx2"/>
          </a:solidFill>
          <a:ln/>
        </p:spPr>
      </p:sp>
      <p:pic>
        <p:nvPicPr>
          <p:cNvPr id="19" name="Image 2" descr="The record icon">    </p:cNvPr>
          <p:cNvPicPr>
            <a:picLocks noChangeAspect="1"/>
          </p:cNvPicPr>
          <p:nvPr/>
        </p:nvPicPr>
        <p:blipFill>
          <a:blip r:embed="rId3"/>
          <a:stretch>
            <a:fillRect/>
          </a:stretch>
        </p:blipFill>
        <p:spPr>
          <a:xfrm>
            <a:off x="8426196" y="2116836"/>
            <a:ext cx="301752" cy="301752"/>
          </a:xfrm>
          <a:prstGeom prst="rect">
            <a:avLst/>
          </a:prstGeom>
        </p:spPr>
      </p:pic>
      <p:sp>
        <p:nvSpPr>
          <p:cNvPr id="20" name="System title"/>
          <p:cNvSpPr txBox="1"/>
          <p:nvPr/>
        </p:nvSpPr>
        <p:spPr>
          <a:xfrm>
            <a:off x="9052560" y="1965960"/>
            <a:ext cx="246888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The record</a:t>
            </a:r>
            <a:endParaRPr lang="en-US" sz="1900" dirty="0"/>
          </a:p>
        </p:txBody>
      </p:sp>
      <p:sp>
        <p:nvSpPr>
          <p:cNvPr id="21" name="System subtitle"/>
          <p:cNvSpPr txBox="1"/>
          <p:nvPr/>
        </p:nvSpPr>
        <p:spPr>
          <a:xfrm>
            <a:off x="9052560" y="2331720"/>
            <a:ext cx="2468880" cy="274320"/>
          </a:xfrm>
          <a:prstGeom prst="rect">
            <a:avLst/>
          </a:prstGeom>
          <a:noFill/>
          <a:ln/>
        </p:spPr>
        <p:txBody>
          <a:bodyPr wrap="square" lIns="0" tIns="0" rIns="0" bIns="0" rtlCol="0" anchor="t"/>
          <a:lstStyle/>
          <a:p>
            <a:pPr indent="0" marL="0">
              <a:buNone/>
            </a:pPr>
            <a:r>
              <a:rPr lang="en-US" sz="1200" i="1" dirty="0">
                <a:solidFill>
                  <a:schemeClr val="accent1"/>
                </a:solidFill>
              </a:rPr>
              <a:t>What flows outward</a:t>
            </a:r>
            <a:endParaRPr lang="en-US" sz="1200" dirty="0"/>
          </a:p>
        </p:txBody>
      </p:sp>
      <p:sp>
        <p:nvSpPr>
          <p:cNvPr id="22" name="System text"/>
          <p:cNvSpPr txBox="1"/>
          <p:nvPr/>
        </p:nvSpPr>
        <p:spPr>
          <a:xfrm>
            <a:off x="8275320" y="2971800"/>
            <a:ext cx="3154680" cy="1920240"/>
          </a:xfrm>
          <a:prstGeom prst="rect">
            <a:avLst/>
          </a:prstGeom>
          <a:noFill/>
          <a:ln/>
        </p:spPr>
        <p:txBody>
          <a:bodyPr wrap="square" lIns="0" tIns="0" rIns="0" bIns="0" rtlCol="0" anchor="t"/>
          <a:lstStyle/>
          <a:p>
            <a:pPr indent="0" marL="0">
              <a:buNone/>
            </a:pPr>
            <a:r>
              <a:rPr lang="en-US" sz="1400" dirty="0">
                <a:solidFill>
                  <a:schemeClr val="tx1"/>
                </a:solidFill>
              </a:rPr>
              <a:t>Phase changes and gate outcomes, for the people who plan rather than build.</a:t>
            </a:r>
            <a:endParaRPr lang="en-US" sz="1400" dirty="0"/>
          </a:p>
        </p:txBody>
      </p:sp>
      <p:sp>
        <p:nvSpPr>
          <p:cNvPr id="23" name="Takeaway"/>
          <p:cNvSpPr txBox="1"/>
          <p:nvPr/>
        </p:nvSpPr>
        <p:spPr>
          <a:xfrm>
            <a:off x="548640" y="525780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A check that runs on every commit and a review that takes six weeks do not belong on the same line.</a:t>
            </a:r>
            <a:endParaRPr lang="en-US" sz="1600" dirty="0"/>
          </a:p>
        </p:txBody>
      </p:sp>
      <p:sp>
        <p:nvSpPr>
          <p:cNvPr id="24" name="Footnote"/>
          <p:cNvSpPr txBox="1"/>
          <p:nvPr/>
        </p:nvSpPr>
        <p:spPr>
          <a:xfrm>
            <a:off x="548640" y="60350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Framing from the TDMI delivery standard: process, quality control and documentation run on different clocks.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eight continuous rails, applied to a Fabric repository</a:t>
            </a:r>
            <a:endParaRPr lang="en-US" sz="3200" dirty="0"/>
          </a:p>
        </p:txBody>
      </p:sp>
      <p:graphicFrame>
        <p:nvGraphicFramePr>
          <p:cNvPr id="40" name="Eight rail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194560"/>
                <a:gridCol w="2926080"/>
                <a:gridCol w="4507992"/>
                <a:gridCol w="1463040"/>
              </a:tblGrid>
              <a:tr h="365760">
                <a:tc>
                  <a:txBody>
                    <a:bodyPr/>
                    <a:lstStyle/>
                    <a:p>
                      <a:pPr indent="0" marL="0">
                        <a:buNone/>
                      </a:pPr>
                      <a:r>
                        <a:rPr lang="en-US" sz="1150" b="1" dirty="0">
                          <a:solidFill>
                            <a:schemeClr val="bg1"/>
                          </a:solidFill>
                        </a:rPr>
                        <a:t>Rail</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Blocks the merge on</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In a Fabric repository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In Lab C</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20624">
                <a:tc>
                  <a:txBody>
                    <a:bodyPr/>
                    <a:lstStyle/>
                    <a:p>
                      <a:pPr indent="0" marL="0">
                        <a:buNone/>
                      </a:pPr>
                      <a:r>
                        <a:rPr lang="en-US" sz="1150" b="1" dirty="0">
                          <a:solidFill>
                            <a:schemeClr val="tx1"/>
                          </a:solidFill>
                        </a:rPr>
                        <a:t>Unit tests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Any failure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Pytest on functions pulled out of notebooks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150" dirty="0">
                          <a:solidFill>
                            <a:schemeClr val="accent5"/>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150" b="1" dirty="0">
                          <a:solidFill>
                            <a:schemeClr val="tx1"/>
                          </a:solidFill>
                        </a:rPr>
                        <a:t>Lint, format, types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Any failure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A linter and formatter on notebook .py files and scripts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150" dirty="0">
                          <a:solidFill>
                            <a:schemeClr val="accent5"/>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150" b="1" dirty="0">
                          <a:solidFill>
                            <a:schemeClr val="tx1"/>
                          </a:solidFill>
                        </a:rPr>
                        <a:t>Commit messages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Any commit off Conventional Commits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check_commit_msg.py: type, summary, work item</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150" b="1" dirty="0">
                          <a:solidFill>
                            <a:schemeClr val="accent2"/>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150" b="1" dirty="0">
                          <a:solidFill>
                            <a:schemeClr val="tx1"/>
                          </a:solidFill>
                        </a:rPr>
                        <a:t>Static analysis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A new finding above the agreed severity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The same tools, run over the repository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150" dirty="0">
                          <a:solidFill>
                            <a:schemeClr val="accent5"/>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150" b="1" dirty="0">
                          <a:solidFill>
                            <a:schemeClr val="tx1"/>
                          </a:solidFill>
                        </a:rPr>
                        <a:t>Dependency licensing</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 copyleft or unreviewed licence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Check each library you add (fabric-cicd is MIT)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150" dirty="0">
                          <a:solidFill>
                            <a:schemeClr val="accent5"/>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150" b="1" dirty="0">
                          <a:solidFill>
                            <a:schemeClr val="tx1"/>
                          </a:solidFill>
                        </a:rPr>
                        <a:t>Container image scan</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A finding above the agreed severity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Not yet: it matters once a container ships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150" dirty="0">
                          <a:solidFill>
                            <a:schemeClr val="accent5"/>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150" b="1" dirty="0">
                          <a:solidFill>
                            <a:schemeClr val="tx1"/>
                          </a:solidFill>
                        </a:rPr>
                        <a:t>Secret scanning</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Any credential-shaped string. No threshold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scan_secrets.py over the whole repository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150" b="1" dirty="0">
                          <a:solidFill>
                            <a:schemeClr val="accent2"/>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150" b="1" dirty="0">
                          <a:solidFill>
                            <a:schemeClr val="tx1"/>
                          </a:solidFill>
                        </a:rPr>
                        <a:t>Production-data guard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Any production data. No threshold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.gitignore for data files. A size limit in the pipeline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150" dirty="0">
                          <a:solidFill>
                            <a:schemeClr val="accent5"/>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150" b="1" dirty="0">
                          <a:solidFill>
                            <a:schemeClr val="accent2"/>
                          </a:solidFill>
                        </a:rPr>
                        <a:t>Proposed ninth: no hard-coded IDs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Any workspace, lakehouse or item ID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scan_ids.py over fabric/. Logical IDs are allowed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150" b="1" dirty="0">
                          <a:solidFill>
                            <a:schemeClr val="accent2"/>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Footnote"/>
          <p:cNvSpPr txBox="1"/>
          <p:nvPr/>
        </p:nvSpPr>
        <p:spPr>
          <a:xfrm>
            <a:off x="548640" y="608076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Eight rails from the TDMI delivery standard. The ninth is proposed for Fabric repositories. ● = in Lab C.</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Rails you can run today: three small scripts</a:t>
            </a:r>
            <a:endParaRPr lang="en-US" sz="3200" dirty="0"/>
          </a:p>
        </p:txBody>
      </p:sp>
      <p:sp>
        <p:nvSpPr>
          <p:cNvPr id="5" name="Clean run"/>
          <p:cNvSpPr/>
          <p:nvPr/>
        </p:nvSpPr>
        <p:spPr>
          <a:xfrm>
            <a:off x="548640" y="1783080"/>
            <a:ext cx="5486400" cy="1409700"/>
          </a:xfrm>
          <a:prstGeom prst="roundRect">
            <a:avLst>
              <a:gd name="adj" fmla="val 6486"/>
            </a:avLst>
          </a:prstGeom>
          <a:solidFill>
            <a:schemeClr val="tx1"/>
          </a:solidFill>
          <a:ln/>
        </p:spPr>
      </p:sp>
      <p:sp>
        <p:nvSpPr>
          <p:cNvPr id="6" name="Code label"/>
          <p:cNvSpPr txBox="1"/>
          <p:nvPr/>
        </p:nvSpPr>
        <p:spPr>
          <a:xfrm>
            <a:off x="749808" y="1874520"/>
            <a:ext cx="50840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 CLEAN REPOSITORY</a:t>
            </a:r>
            <a:endParaRPr lang="en-US" sz="1000" dirty="0"/>
          </a:p>
        </p:txBody>
      </p:sp>
      <p:sp>
        <p:nvSpPr>
          <p:cNvPr id="7" name="Clean run text"/>
          <p:cNvSpPr txBox="1"/>
          <p:nvPr/>
        </p:nvSpPr>
        <p:spPr>
          <a:xfrm>
            <a:off x="749808" y="2167128"/>
            <a:ext cx="5084064" cy="91592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rails/scan_ids.py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hard-coded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ID(s)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finding(s)</a:t>
            </a:r>
            <a:endParaRPr lang="en-US" sz="1050" dirty="0"/>
          </a:p>
        </p:txBody>
      </p:sp>
      <p:sp>
        <p:nvSpPr>
          <p:cNvPr id="8" name="Planted run"/>
          <p:cNvSpPr/>
          <p:nvPr/>
        </p:nvSpPr>
        <p:spPr>
          <a:xfrm>
            <a:off x="548640" y="3329940"/>
            <a:ext cx="5486400" cy="1735074"/>
          </a:xfrm>
          <a:prstGeom prst="roundRect">
            <a:avLst>
              <a:gd name="adj" fmla="val 5270"/>
            </a:avLst>
          </a:prstGeom>
          <a:solidFill>
            <a:schemeClr val="tx1"/>
          </a:solidFill>
          <a:ln/>
        </p:spPr>
      </p:sp>
      <p:sp>
        <p:nvSpPr>
          <p:cNvPr id="9" name="Code label"/>
          <p:cNvSpPr txBox="1"/>
          <p:nvPr/>
        </p:nvSpPr>
        <p:spPr>
          <a:xfrm>
            <a:off x="749808" y="3421380"/>
            <a:ext cx="50840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TWO PLANTED MISTAKES</a:t>
            </a:r>
            <a:endParaRPr lang="en-US" sz="1000" dirty="0"/>
          </a:p>
        </p:txBody>
      </p:sp>
      <p:sp>
        <p:nvSpPr>
          <p:cNvPr id="10" name="Planted run text"/>
          <p:cNvSpPr txBox="1"/>
          <p:nvPr/>
        </p:nvSpPr>
        <p:spPr>
          <a:xfrm>
            <a:off x="749808" y="3713988"/>
            <a:ext cx="5084064" cy="1241298"/>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rails/scan_ids.py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fabric/nb_dst_apportion.Notebook/notebook-content.py:169:</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hard-coded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5d1f0c3a-****</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1</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hard-coded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ID(s)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fabric/nb_dst_apportion.Notebook/notebook-content.py:170: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assigned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secret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1</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finding(s)</a:t>
            </a:r>
            <a:endParaRPr lang="en-US" sz="1050" dirty="0"/>
          </a:p>
        </p:txBody>
      </p:sp>
      <p:sp>
        <p:nvSpPr>
          <p:cNvPr id="11" name="Names the file and the line card"/>
          <p:cNvSpPr/>
          <p:nvPr/>
        </p:nvSpPr>
        <p:spPr>
          <a:xfrm>
            <a:off x="6309360" y="1783080"/>
            <a:ext cx="5330952" cy="1216152"/>
          </a:xfrm>
          <a:prstGeom prst="roundRect">
            <a:avLst>
              <a:gd name="adj" fmla="val 9023"/>
            </a:avLst>
          </a:prstGeom>
          <a:solidFill>
            <a:schemeClr val="bg2"/>
          </a:solidFill>
          <a:ln/>
        </p:spPr>
      </p:sp>
      <p:sp>
        <p:nvSpPr>
          <p:cNvPr id="12" name="Point chip 1"/>
          <p:cNvSpPr/>
          <p:nvPr/>
        </p:nvSpPr>
        <p:spPr>
          <a:xfrm>
            <a:off x="6492240" y="1965960"/>
            <a:ext cx="402336" cy="402336"/>
          </a:xfrm>
          <a:prstGeom prst="roundRect">
            <a:avLst>
              <a:gd name="adj" fmla="val 18182"/>
            </a:avLst>
          </a:prstGeom>
          <a:solidFill>
            <a:schemeClr val="accent1"/>
          </a:solidFill>
          <a:ln/>
        </p:spPr>
      </p:sp>
      <p:sp>
        <p:nvSpPr>
          <p:cNvPr id="13" name="Point number"/>
          <p:cNvSpPr txBox="1"/>
          <p:nvPr/>
        </p:nvSpPr>
        <p:spPr>
          <a:xfrm>
            <a:off x="6492240" y="196596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4" name="Point title"/>
          <p:cNvSpPr txBox="1"/>
          <p:nvPr/>
        </p:nvSpPr>
        <p:spPr>
          <a:xfrm>
            <a:off x="7086600" y="1920240"/>
            <a:ext cx="4389120" cy="457200"/>
          </a:xfrm>
          <a:prstGeom prst="rect">
            <a:avLst/>
          </a:prstGeom>
          <a:noFill/>
          <a:ln/>
        </p:spPr>
        <p:txBody>
          <a:bodyPr wrap="square" lIns="0" tIns="0" rIns="0" bIns="0" rtlCol="0" anchor="ctr"/>
          <a:lstStyle/>
          <a:p>
            <a:pPr indent="0" marL="0">
              <a:buNone/>
            </a:pPr>
            <a:r>
              <a:rPr lang="en-US" sz="1450" b="1" dirty="0">
                <a:solidFill>
                  <a:schemeClr val="tx1"/>
                </a:solidFill>
                <a:latin typeface="+mj-lt" pitchFamily="34" charset="0"/>
                <a:ea typeface="+mj-lt" pitchFamily="34" charset="-122"/>
                <a:cs typeface="+mj-lt" pitchFamily="34" charset="-120"/>
              </a:rPr>
              <a:t>Names the file and the line</a:t>
            </a:r>
            <a:endParaRPr lang="en-US" sz="1450" dirty="0"/>
          </a:p>
        </p:txBody>
      </p:sp>
      <p:sp>
        <p:nvSpPr>
          <p:cNvPr id="15" name="Point text"/>
          <p:cNvSpPr txBox="1"/>
          <p:nvPr/>
        </p:nvSpPr>
        <p:spPr>
          <a:xfrm>
            <a:off x="6492240" y="2441448"/>
            <a:ext cx="4983480" cy="502920"/>
          </a:xfrm>
          <a:prstGeom prst="rect">
            <a:avLst/>
          </a:prstGeom>
          <a:noFill/>
          <a:ln/>
        </p:spPr>
        <p:txBody>
          <a:bodyPr wrap="square" lIns="0" tIns="0" rIns="0" bIns="0" rtlCol="0" anchor="t"/>
          <a:lstStyle/>
          <a:p>
            <a:pPr indent="0" marL="0">
              <a:buNone/>
            </a:pPr>
            <a:r>
              <a:rPr lang="en-US" sz="1250" dirty="0">
                <a:solidFill>
                  <a:schemeClr val="tx1"/>
                </a:solidFill>
              </a:rPr>
              <a:t>And says what kind of finding it is. IDs are masked in the report.</a:t>
            </a:r>
            <a:endParaRPr lang="en-US" sz="1250" dirty="0"/>
          </a:p>
        </p:txBody>
      </p:sp>
      <p:sp>
        <p:nvSpPr>
          <p:cNvPr id="16" name="Exit code 1 stops the pipeline card"/>
          <p:cNvSpPr/>
          <p:nvPr/>
        </p:nvSpPr>
        <p:spPr>
          <a:xfrm>
            <a:off x="6309360" y="3108960"/>
            <a:ext cx="5330952" cy="1216152"/>
          </a:xfrm>
          <a:prstGeom prst="roundRect">
            <a:avLst>
              <a:gd name="adj" fmla="val 9023"/>
            </a:avLst>
          </a:prstGeom>
          <a:solidFill>
            <a:schemeClr val="bg2"/>
          </a:solidFill>
          <a:ln/>
        </p:spPr>
      </p:sp>
      <p:sp>
        <p:nvSpPr>
          <p:cNvPr id="17" name="Point chip 2"/>
          <p:cNvSpPr/>
          <p:nvPr/>
        </p:nvSpPr>
        <p:spPr>
          <a:xfrm>
            <a:off x="6492240" y="3291840"/>
            <a:ext cx="402336" cy="402336"/>
          </a:xfrm>
          <a:prstGeom prst="roundRect">
            <a:avLst>
              <a:gd name="adj" fmla="val 18182"/>
            </a:avLst>
          </a:prstGeom>
          <a:solidFill>
            <a:schemeClr val="accent1"/>
          </a:solidFill>
          <a:ln/>
        </p:spPr>
      </p:sp>
      <p:sp>
        <p:nvSpPr>
          <p:cNvPr id="18" name="Point number"/>
          <p:cNvSpPr txBox="1"/>
          <p:nvPr/>
        </p:nvSpPr>
        <p:spPr>
          <a:xfrm>
            <a:off x="6492240" y="329184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9" name="Point title"/>
          <p:cNvSpPr txBox="1"/>
          <p:nvPr/>
        </p:nvSpPr>
        <p:spPr>
          <a:xfrm>
            <a:off x="7086600" y="3246120"/>
            <a:ext cx="4389120" cy="457200"/>
          </a:xfrm>
          <a:prstGeom prst="rect">
            <a:avLst/>
          </a:prstGeom>
          <a:noFill/>
          <a:ln/>
        </p:spPr>
        <p:txBody>
          <a:bodyPr wrap="square" lIns="0" tIns="0" rIns="0" bIns="0" rtlCol="0" anchor="ctr"/>
          <a:lstStyle/>
          <a:p>
            <a:pPr indent="0" marL="0">
              <a:buNone/>
            </a:pPr>
            <a:r>
              <a:rPr lang="en-US" sz="1450" b="1" dirty="0">
                <a:solidFill>
                  <a:schemeClr val="tx1"/>
                </a:solidFill>
                <a:latin typeface="+mj-lt" pitchFamily="34" charset="0"/>
                <a:ea typeface="+mj-lt" pitchFamily="34" charset="-122"/>
                <a:cs typeface="+mj-lt" pitchFamily="34" charset="-120"/>
              </a:rPr>
              <a:t>Exit code 1 stops the pipeline</a:t>
            </a:r>
            <a:endParaRPr lang="en-US" sz="1450" dirty="0"/>
          </a:p>
        </p:txBody>
      </p:sp>
      <p:sp>
        <p:nvSpPr>
          <p:cNvPr id="20" name="Point text"/>
          <p:cNvSpPr txBox="1"/>
          <p:nvPr/>
        </p:nvSpPr>
        <p:spPr>
          <a:xfrm>
            <a:off x="6492240" y="3767328"/>
            <a:ext cx="4983480" cy="502920"/>
          </a:xfrm>
          <a:prstGeom prst="rect">
            <a:avLst/>
          </a:prstGeom>
          <a:noFill/>
          <a:ln/>
        </p:spPr>
        <p:txBody>
          <a:bodyPr wrap="square" lIns="0" tIns="0" rIns="0" bIns="0" rtlCol="0" anchor="t"/>
          <a:lstStyle/>
          <a:p>
            <a:pPr indent="0" marL="0">
              <a:buNone/>
            </a:pPr>
            <a:r>
              <a:rPr lang="en-US" sz="1250" dirty="0">
                <a:solidFill>
                  <a:schemeClr val="tx1"/>
                </a:solidFill>
              </a:rPr>
              <a:t>Any finding blocks the merge. There is no threshold.</a:t>
            </a:r>
            <a:endParaRPr lang="en-US" sz="1250" dirty="0"/>
          </a:p>
        </p:txBody>
      </p:sp>
      <p:sp>
        <p:nvSpPr>
          <p:cNvPr id="21" name="Under sixty lines, standard library only card"/>
          <p:cNvSpPr/>
          <p:nvPr/>
        </p:nvSpPr>
        <p:spPr>
          <a:xfrm>
            <a:off x="6309360" y="4434840"/>
            <a:ext cx="5330952" cy="1216152"/>
          </a:xfrm>
          <a:prstGeom prst="roundRect">
            <a:avLst>
              <a:gd name="adj" fmla="val 9023"/>
            </a:avLst>
          </a:prstGeom>
          <a:solidFill>
            <a:schemeClr val="bg2"/>
          </a:solidFill>
          <a:ln/>
        </p:spPr>
      </p:sp>
      <p:sp>
        <p:nvSpPr>
          <p:cNvPr id="22" name="Point chip 3"/>
          <p:cNvSpPr/>
          <p:nvPr/>
        </p:nvSpPr>
        <p:spPr>
          <a:xfrm>
            <a:off x="6492240" y="4617720"/>
            <a:ext cx="402336" cy="402336"/>
          </a:xfrm>
          <a:prstGeom prst="roundRect">
            <a:avLst>
              <a:gd name="adj" fmla="val 18182"/>
            </a:avLst>
          </a:prstGeom>
          <a:solidFill>
            <a:schemeClr val="accent1"/>
          </a:solidFill>
          <a:ln/>
        </p:spPr>
      </p:sp>
      <p:sp>
        <p:nvSpPr>
          <p:cNvPr id="23" name="Point number"/>
          <p:cNvSpPr txBox="1"/>
          <p:nvPr/>
        </p:nvSpPr>
        <p:spPr>
          <a:xfrm>
            <a:off x="6492240" y="461772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4" name="Point title"/>
          <p:cNvSpPr txBox="1"/>
          <p:nvPr/>
        </p:nvSpPr>
        <p:spPr>
          <a:xfrm>
            <a:off x="7086600" y="4572000"/>
            <a:ext cx="4389120" cy="457200"/>
          </a:xfrm>
          <a:prstGeom prst="rect">
            <a:avLst/>
          </a:prstGeom>
          <a:noFill/>
          <a:ln/>
        </p:spPr>
        <p:txBody>
          <a:bodyPr wrap="square" lIns="0" tIns="0" rIns="0" bIns="0" rtlCol="0" anchor="ctr"/>
          <a:lstStyle/>
          <a:p>
            <a:pPr indent="0" marL="0">
              <a:buNone/>
            </a:pPr>
            <a:r>
              <a:rPr lang="en-US" sz="1450" b="1" dirty="0">
                <a:solidFill>
                  <a:schemeClr val="tx1"/>
                </a:solidFill>
                <a:latin typeface="+mj-lt" pitchFamily="34" charset="0"/>
                <a:ea typeface="+mj-lt" pitchFamily="34" charset="-122"/>
                <a:cs typeface="+mj-lt" pitchFamily="34" charset="-120"/>
              </a:rPr>
              <a:t>Under sixty lines, standard library only</a:t>
            </a:r>
            <a:endParaRPr lang="en-US" sz="1450" dirty="0"/>
          </a:p>
        </p:txBody>
      </p:sp>
      <p:sp>
        <p:nvSpPr>
          <p:cNvPr id="25" name="Point text"/>
          <p:cNvSpPr txBox="1"/>
          <p:nvPr/>
        </p:nvSpPr>
        <p:spPr>
          <a:xfrm>
            <a:off x="6492240" y="5093208"/>
            <a:ext cx="4983480" cy="502920"/>
          </a:xfrm>
          <a:prstGeom prst="rect">
            <a:avLst/>
          </a:prstGeom>
          <a:noFill/>
          <a:ln/>
        </p:spPr>
        <p:txBody>
          <a:bodyPr wrap="square" lIns="0" tIns="0" rIns="0" bIns="0" rtlCol="0" anchor="t"/>
          <a:lstStyle/>
          <a:p>
            <a:pPr indent="0" marL="0">
              <a:buNone/>
            </a:pPr>
            <a:r>
              <a:rPr lang="en-US" sz="1250" dirty="0">
                <a:solidFill>
                  <a:schemeClr val="tx1"/>
                </a:solidFill>
              </a:rPr>
              <a:t>Short enough to read. A rail nobody can read is a rail nobody trusts.</a:t>
            </a:r>
            <a:endParaRPr lang="en-US" sz="1250" dirty="0"/>
          </a:p>
        </p:txBody>
      </p:sp>
      <p:sp>
        <p:nvSpPr>
          <p:cNvPr id="26" name="Footnote"/>
          <p:cNvSpPr txBox="1"/>
          <p:nvPr/>
        </p:nvSpPr>
        <p:spPr>
          <a:xfrm>
            <a:off x="548640" y="58064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Real output from the practice repository. The planted workspace ID and secret are made up. Scripts are in the appendix.</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Branch policy: the repository enforces the rules for you</a:t>
            </a:r>
            <a:endParaRPr lang="en-US" sz="3200" dirty="0"/>
          </a:p>
        </p:txBody>
      </p:sp>
      <p:sp>
        <p:nvSpPr>
          <p:cNvPr id="5" name="Minimum reviewers card"/>
          <p:cNvSpPr/>
          <p:nvPr/>
        </p:nvSpPr>
        <p:spPr>
          <a:xfrm>
            <a:off x="548640" y="1783080"/>
            <a:ext cx="3593592" cy="1645920"/>
          </a:xfrm>
          <a:prstGeom prst="roundRect">
            <a:avLst>
              <a:gd name="adj" fmla="val 6667"/>
            </a:avLst>
          </a:prstGeom>
          <a:solidFill>
            <a:schemeClr val="bg2"/>
          </a:solidFill>
          <a:ln/>
        </p:spPr>
      </p:sp>
      <p:sp>
        <p:nvSpPr>
          <p:cNvPr id="6" name="Minimum reviewers badge"/>
          <p:cNvSpPr/>
          <p:nvPr/>
        </p:nvSpPr>
        <p:spPr>
          <a:xfrm>
            <a:off x="749808" y="1984248"/>
            <a:ext cx="512064" cy="512064"/>
          </a:xfrm>
          <a:prstGeom prst="ellipse">
            <a:avLst/>
          </a:prstGeom>
          <a:solidFill>
            <a:schemeClr val="accent1"/>
          </a:solidFill>
          <a:ln/>
        </p:spPr>
      </p:sp>
      <p:pic>
        <p:nvPicPr>
          <p:cNvPr id="7" name="Image 0" descr="Minimum reviewers icon">    </p:cNvPr>
          <p:cNvPicPr>
            <a:picLocks noChangeAspect="1"/>
          </p:cNvPicPr>
          <p:nvPr/>
        </p:nvPicPr>
        <p:blipFill>
          <a:blip r:embed="rId1"/>
          <a:stretch>
            <a:fillRect/>
          </a:stretch>
        </p:blipFill>
        <p:spPr>
          <a:xfrm>
            <a:off x="877824" y="2112264"/>
            <a:ext cx="256032" cy="256032"/>
          </a:xfrm>
          <a:prstGeom prst="rect">
            <a:avLst/>
          </a:prstGeom>
        </p:spPr>
      </p:pic>
      <p:sp>
        <p:nvSpPr>
          <p:cNvPr id="8" name="Policy title"/>
          <p:cNvSpPr txBox="1"/>
          <p:nvPr/>
        </p:nvSpPr>
        <p:spPr>
          <a:xfrm>
            <a:off x="1417320" y="1984248"/>
            <a:ext cx="2606040" cy="51206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Minimum reviewers</a:t>
            </a:r>
            <a:endParaRPr lang="en-US" sz="1500" dirty="0"/>
          </a:p>
        </p:txBody>
      </p:sp>
      <p:sp>
        <p:nvSpPr>
          <p:cNvPr id="9" name="Policy text"/>
          <p:cNvSpPr txBox="1"/>
          <p:nvPr/>
        </p:nvSpPr>
        <p:spPr>
          <a:xfrm>
            <a:off x="777240" y="2697480"/>
            <a:ext cx="3154680" cy="640080"/>
          </a:xfrm>
          <a:prstGeom prst="rect">
            <a:avLst/>
          </a:prstGeom>
          <a:noFill/>
          <a:ln/>
        </p:spPr>
        <p:txBody>
          <a:bodyPr wrap="square" lIns="0" tIns="0" rIns="0" bIns="0" rtlCol="0" anchor="t"/>
          <a:lstStyle/>
          <a:p>
            <a:pPr indent="0" marL="0">
              <a:buNone/>
            </a:pPr>
            <a:r>
              <a:rPr lang="en-US" sz="1300" dirty="0">
                <a:solidFill>
                  <a:schemeClr val="tx1"/>
                </a:solidFill>
              </a:rPr>
              <a:t>Nobody merges their own change unreviewed.</a:t>
            </a:r>
            <a:endParaRPr lang="en-US" sz="1300" dirty="0"/>
          </a:p>
        </p:txBody>
      </p:sp>
      <p:sp>
        <p:nvSpPr>
          <p:cNvPr id="10" name="Linked work item card"/>
          <p:cNvSpPr/>
          <p:nvPr/>
        </p:nvSpPr>
        <p:spPr>
          <a:xfrm>
            <a:off x="4297680" y="1783080"/>
            <a:ext cx="3593592" cy="1645920"/>
          </a:xfrm>
          <a:prstGeom prst="roundRect">
            <a:avLst>
              <a:gd name="adj" fmla="val 6667"/>
            </a:avLst>
          </a:prstGeom>
          <a:solidFill>
            <a:schemeClr val="bg2"/>
          </a:solidFill>
          <a:ln/>
        </p:spPr>
      </p:sp>
      <p:sp>
        <p:nvSpPr>
          <p:cNvPr id="11" name="Linked work item badge"/>
          <p:cNvSpPr/>
          <p:nvPr/>
        </p:nvSpPr>
        <p:spPr>
          <a:xfrm>
            <a:off x="4498848" y="1984248"/>
            <a:ext cx="512064" cy="512064"/>
          </a:xfrm>
          <a:prstGeom prst="ellipse">
            <a:avLst/>
          </a:prstGeom>
          <a:solidFill>
            <a:schemeClr val="accent2"/>
          </a:solidFill>
          <a:ln/>
        </p:spPr>
      </p:sp>
      <p:pic>
        <p:nvPicPr>
          <p:cNvPr id="12" name="Image 1" descr="Linked work item icon">    </p:cNvPr>
          <p:cNvPicPr>
            <a:picLocks noChangeAspect="1"/>
          </p:cNvPicPr>
          <p:nvPr/>
        </p:nvPicPr>
        <p:blipFill>
          <a:blip r:embed="rId2"/>
          <a:stretch>
            <a:fillRect/>
          </a:stretch>
        </p:blipFill>
        <p:spPr>
          <a:xfrm>
            <a:off x="4626864" y="2112264"/>
            <a:ext cx="256032" cy="256032"/>
          </a:xfrm>
          <a:prstGeom prst="rect">
            <a:avLst/>
          </a:prstGeom>
        </p:spPr>
      </p:pic>
      <p:sp>
        <p:nvSpPr>
          <p:cNvPr id="13" name="Policy title"/>
          <p:cNvSpPr txBox="1"/>
          <p:nvPr/>
        </p:nvSpPr>
        <p:spPr>
          <a:xfrm>
            <a:off x="5166360" y="1984248"/>
            <a:ext cx="2606040" cy="51206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Linked work item</a:t>
            </a:r>
            <a:endParaRPr lang="en-US" sz="1500" dirty="0"/>
          </a:p>
        </p:txBody>
      </p:sp>
      <p:sp>
        <p:nvSpPr>
          <p:cNvPr id="14" name="Policy text"/>
          <p:cNvSpPr txBox="1"/>
          <p:nvPr/>
        </p:nvSpPr>
        <p:spPr>
          <a:xfrm>
            <a:off x="4526280" y="2697480"/>
            <a:ext cx="3154680" cy="640080"/>
          </a:xfrm>
          <a:prstGeom prst="rect">
            <a:avLst/>
          </a:prstGeom>
          <a:noFill/>
          <a:ln/>
        </p:spPr>
        <p:txBody>
          <a:bodyPr wrap="square" lIns="0" tIns="0" rIns="0" bIns="0" rtlCol="0" anchor="t"/>
          <a:lstStyle/>
          <a:p>
            <a:pPr indent="0" marL="0">
              <a:buNone/>
            </a:pPr>
            <a:r>
              <a:rPr lang="en-US" sz="1300" dirty="0">
                <a:solidFill>
                  <a:schemeClr val="tx1"/>
                </a:solidFill>
              </a:rPr>
              <a:t>Every change traces to an AB number.</a:t>
            </a:r>
            <a:endParaRPr lang="en-US" sz="1300" dirty="0"/>
          </a:p>
        </p:txBody>
      </p:sp>
      <p:sp>
        <p:nvSpPr>
          <p:cNvPr id="15" name="Build validation card"/>
          <p:cNvSpPr/>
          <p:nvPr/>
        </p:nvSpPr>
        <p:spPr>
          <a:xfrm>
            <a:off x="8046720" y="1783080"/>
            <a:ext cx="3593592" cy="1645920"/>
          </a:xfrm>
          <a:prstGeom prst="roundRect">
            <a:avLst>
              <a:gd name="adj" fmla="val 6667"/>
            </a:avLst>
          </a:prstGeom>
          <a:solidFill>
            <a:schemeClr val="bg2"/>
          </a:solidFill>
          <a:ln/>
        </p:spPr>
      </p:sp>
      <p:sp>
        <p:nvSpPr>
          <p:cNvPr id="16" name="Build validation badge"/>
          <p:cNvSpPr/>
          <p:nvPr/>
        </p:nvSpPr>
        <p:spPr>
          <a:xfrm>
            <a:off x="8247888" y="1984248"/>
            <a:ext cx="512064" cy="512064"/>
          </a:xfrm>
          <a:prstGeom prst="ellipse">
            <a:avLst/>
          </a:prstGeom>
          <a:solidFill>
            <a:schemeClr val="tx2"/>
          </a:solidFill>
          <a:ln/>
        </p:spPr>
      </p:sp>
      <p:pic>
        <p:nvPicPr>
          <p:cNvPr id="17" name="Image 2" descr="Build validation icon">    </p:cNvPr>
          <p:cNvPicPr>
            <a:picLocks noChangeAspect="1"/>
          </p:cNvPicPr>
          <p:nvPr/>
        </p:nvPicPr>
        <p:blipFill>
          <a:blip r:embed="rId3"/>
          <a:stretch>
            <a:fillRect/>
          </a:stretch>
        </p:blipFill>
        <p:spPr>
          <a:xfrm>
            <a:off x="8375904" y="2112264"/>
            <a:ext cx="256032" cy="256032"/>
          </a:xfrm>
          <a:prstGeom prst="rect">
            <a:avLst/>
          </a:prstGeom>
        </p:spPr>
      </p:pic>
      <p:sp>
        <p:nvSpPr>
          <p:cNvPr id="18" name="Policy title"/>
          <p:cNvSpPr txBox="1"/>
          <p:nvPr/>
        </p:nvSpPr>
        <p:spPr>
          <a:xfrm>
            <a:off x="8915400" y="1984248"/>
            <a:ext cx="2606040" cy="51206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Build validation</a:t>
            </a:r>
            <a:endParaRPr lang="en-US" sz="1500" dirty="0"/>
          </a:p>
        </p:txBody>
      </p:sp>
      <p:sp>
        <p:nvSpPr>
          <p:cNvPr id="19" name="Policy text"/>
          <p:cNvSpPr txBox="1"/>
          <p:nvPr/>
        </p:nvSpPr>
        <p:spPr>
          <a:xfrm>
            <a:off x="8275320" y="2697480"/>
            <a:ext cx="3154680" cy="640080"/>
          </a:xfrm>
          <a:prstGeom prst="rect">
            <a:avLst/>
          </a:prstGeom>
          <a:noFill/>
          <a:ln/>
        </p:spPr>
        <p:txBody>
          <a:bodyPr wrap="square" lIns="0" tIns="0" rIns="0" bIns="0" rtlCol="0" anchor="t"/>
          <a:lstStyle/>
          <a:p>
            <a:pPr indent="0" marL="0">
              <a:buNone/>
            </a:pPr>
            <a:r>
              <a:rPr lang="en-US" sz="1300" dirty="0">
                <a:solidFill>
                  <a:schemeClr val="tx1"/>
                </a:solidFill>
              </a:rPr>
              <a:t>The rails pipeline must pass before merge.</a:t>
            </a:r>
            <a:endParaRPr lang="en-US" sz="1300" dirty="0"/>
          </a:p>
        </p:txBody>
      </p:sp>
      <p:sp>
        <p:nvSpPr>
          <p:cNvPr id="20" name="Comment resolution card"/>
          <p:cNvSpPr/>
          <p:nvPr/>
        </p:nvSpPr>
        <p:spPr>
          <a:xfrm>
            <a:off x="548640" y="3566160"/>
            <a:ext cx="3593592" cy="1645920"/>
          </a:xfrm>
          <a:prstGeom prst="roundRect">
            <a:avLst>
              <a:gd name="adj" fmla="val 6667"/>
            </a:avLst>
          </a:prstGeom>
          <a:solidFill>
            <a:schemeClr val="bg2"/>
          </a:solidFill>
          <a:ln/>
        </p:spPr>
      </p:sp>
      <p:sp>
        <p:nvSpPr>
          <p:cNvPr id="21" name="Comment resolution badge"/>
          <p:cNvSpPr/>
          <p:nvPr/>
        </p:nvSpPr>
        <p:spPr>
          <a:xfrm>
            <a:off x="749808" y="3767328"/>
            <a:ext cx="512064" cy="512064"/>
          </a:xfrm>
          <a:prstGeom prst="ellipse">
            <a:avLst/>
          </a:prstGeom>
          <a:solidFill>
            <a:schemeClr val="accent3"/>
          </a:solidFill>
          <a:ln/>
        </p:spPr>
      </p:sp>
      <p:pic>
        <p:nvPicPr>
          <p:cNvPr id="22" name="Image 3" descr="Comment resolution icon">    </p:cNvPr>
          <p:cNvPicPr>
            <a:picLocks noChangeAspect="1"/>
          </p:cNvPicPr>
          <p:nvPr/>
        </p:nvPicPr>
        <p:blipFill>
          <a:blip r:embed="rId4"/>
          <a:stretch>
            <a:fillRect/>
          </a:stretch>
        </p:blipFill>
        <p:spPr>
          <a:xfrm>
            <a:off x="877824" y="3895344"/>
            <a:ext cx="256032" cy="256032"/>
          </a:xfrm>
          <a:prstGeom prst="rect">
            <a:avLst/>
          </a:prstGeom>
        </p:spPr>
      </p:pic>
      <p:sp>
        <p:nvSpPr>
          <p:cNvPr id="23" name="Policy title"/>
          <p:cNvSpPr txBox="1"/>
          <p:nvPr/>
        </p:nvSpPr>
        <p:spPr>
          <a:xfrm>
            <a:off x="1417320" y="3767328"/>
            <a:ext cx="2606040" cy="51206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Comment resolution</a:t>
            </a:r>
            <a:endParaRPr lang="en-US" sz="1500" dirty="0"/>
          </a:p>
        </p:txBody>
      </p:sp>
      <p:sp>
        <p:nvSpPr>
          <p:cNvPr id="24" name="Policy text"/>
          <p:cNvSpPr txBox="1"/>
          <p:nvPr/>
        </p:nvSpPr>
        <p:spPr>
          <a:xfrm>
            <a:off x="777240" y="4480560"/>
            <a:ext cx="3154680" cy="640080"/>
          </a:xfrm>
          <a:prstGeom prst="rect">
            <a:avLst/>
          </a:prstGeom>
          <a:noFill/>
          <a:ln/>
        </p:spPr>
        <p:txBody>
          <a:bodyPr wrap="square" lIns="0" tIns="0" rIns="0" bIns="0" rtlCol="0" anchor="t"/>
          <a:lstStyle/>
          <a:p>
            <a:pPr indent="0" marL="0">
              <a:buNone/>
            </a:pPr>
            <a:r>
              <a:rPr lang="en-US" sz="1300" dirty="0">
                <a:solidFill>
                  <a:schemeClr val="tx1"/>
                </a:solidFill>
              </a:rPr>
              <a:t>A reviewer's question cannot be ignored.</a:t>
            </a:r>
            <a:endParaRPr lang="en-US" sz="1300" dirty="0"/>
          </a:p>
        </p:txBody>
      </p:sp>
      <p:sp>
        <p:nvSpPr>
          <p:cNvPr id="25" name="Merge type card"/>
          <p:cNvSpPr/>
          <p:nvPr/>
        </p:nvSpPr>
        <p:spPr>
          <a:xfrm>
            <a:off x="4297680" y="3566160"/>
            <a:ext cx="3593592" cy="1645920"/>
          </a:xfrm>
          <a:prstGeom prst="roundRect">
            <a:avLst>
              <a:gd name="adj" fmla="val 6667"/>
            </a:avLst>
          </a:prstGeom>
          <a:solidFill>
            <a:schemeClr val="bg2"/>
          </a:solidFill>
          <a:ln/>
        </p:spPr>
      </p:sp>
      <p:sp>
        <p:nvSpPr>
          <p:cNvPr id="26" name="Merge type badge"/>
          <p:cNvSpPr/>
          <p:nvPr/>
        </p:nvSpPr>
        <p:spPr>
          <a:xfrm>
            <a:off x="4498848" y="3767328"/>
            <a:ext cx="512064" cy="512064"/>
          </a:xfrm>
          <a:prstGeom prst="ellipse">
            <a:avLst/>
          </a:prstGeom>
          <a:solidFill>
            <a:schemeClr val="accent4"/>
          </a:solidFill>
          <a:ln/>
        </p:spPr>
      </p:sp>
      <p:pic>
        <p:nvPicPr>
          <p:cNvPr id="27" name="Image 4" descr="Merge type icon">    </p:cNvPr>
          <p:cNvPicPr>
            <a:picLocks noChangeAspect="1"/>
          </p:cNvPicPr>
          <p:nvPr/>
        </p:nvPicPr>
        <p:blipFill>
          <a:blip r:embed="rId5"/>
          <a:stretch>
            <a:fillRect/>
          </a:stretch>
        </p:blipFill>
        <p:spPr>
          <a:xfrm>
            <a:off x="4626864" y="3895344"/>
            <a:ext cx="256032" cy="256032"/>
          </a:xfrm>
          <a:prstGeom prst="rect">
            <a:avLst/>
          </a:prstGeom>
        </p:spPr>
      </p:pic>
      <p:sp>
        <p:nvSpPr>
          <p:cNvPr id="28" name="Policy title"/>
          <p:cNvSpPr txBox="1"/>
          <p:nvPr/>
        </p:nvSpPr>
        <p:spPr>
          <a:xfrm>
            <a:off x="5166360" y="3767328"/>
            <a:ext cx="2606040" cy="51206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Merge type</a:t>
            </a:r>
            <a:endParaRPr lang="en-US" sz="1500" dirty="0"/>
          </a:p>
        </p:txBody>
      </p:sp>
      <p:sp>
        <p:nvSpPr>
          <p:cNvPr id="29" name="Policy text"/>
          <p:cNvSpPr txBox="1"/>
          <p:nvPr/>
        </p:nvSpPr>
        <p:spPr>
          <a:xfrm>
            <a:off x="4526280" y="4480560"/>
            <a:ext cx="3154680" cy="640080"/>
          </a:xfrm>
          <a:prstGeom prst="rect">
            <a:avLst/>
          </a:prstGeom>
          <a:noFill/>
          <a:ln/>
        </p:spPr>
        <p:txBody>
          <a:bodyPr wrap="square" lIns="0" tIns="0" rIns="0" bIns="0" rtlCol="0" anchor="t"/>
          <a:lstStyle/>
          <a:p>
            <a:pPr indent="0" marL="0">
              <a:buNone/>
            </a:pPr>
            <a:r>
              <a:rPr lang="en-US" sz="1300" dirty="0">
                <a:solidFill>
                  <a:schemeClr val="tx1"/>
                </a:solidFill>
              </a:rPr>
              <a:t>Squash, so main's history stays readable.</a:t>
            </a:r>
            <a:endParaRPr lang="en-US" sz="1300" dirty="0"/>
          </a:p>
        </p:txBody>
      </p:sp>
      <p:sp>
        <p:nvSpPr>
          <p:cNvPr id="30" name="No force push, no bypass card"/>
          <p:cNvSpPr/>
          <p:nvPr/>
        </p:nvSpPr>
        <p:spPr>
          <a:xfrm>
            <a:off x="8046720" y="3566160"/>
            <a:ext cx="3593592" cy="1645920"/>
          </a:xfrm>
          <a:prstGeom prst="roundRect">
            <a:avLst>
              <a:gd name="adj" fmla="val 6667"/>
            </a:avLst>
          </a:prstGeom>
          <a:solidFill>
            <a:schemeClr val="bg2"/>
          </a:solidFill>
          <a:ln/>
        </p:spPr>
      </p:sp>
      <p:sp>
        <p:nvSpPr>
          <p:cNvPr id="31" name="No force push, no bypass badge"/>
          <p:cNvSpPr/>
          <p:nvPr/>
        </p:nvSpPr>
        <p:spPr>
          <a:xfrm>
            <a:off x="8247888" y="3767328"/>
            <a:ext cx="512064" cy="512064"/>
          </a:xfrm>
          <a:prstGeom prst="ellipse">
            <a:avLst/>
          </a:prstGeom>
          <a:solidFill>
            <a:schemeClr val="accent6"/>
          </a:solidFill>
          <a:ln/>
        </p:spPr>
      </p:sp>
      <p:pic>
        <p:nvPicPr>
          <p:cNvPr id="32" name="Image 5" descr="No force push, no bypass icon">    </p:cNvPr>
          <p:cNvPicPr>
            <a:picLocks noChangeAspect="1"/>
          </p:cNvPicPr>
          <p:nvPr/>
        </p:nvPicPr>
        <p:blipFill>
          <a:blip r:embed="rId6"/>
          <a:stretch>
            <a:fillRect/>
          </a:stretch>
        </p:blipFill>
        <p:spPr>
          <a:xfrm>
            <a:off x="8375904" y="3895344"/>
            <a:ext cx="256032" cy="256032"/>
          </a:xfrm>
          <a:prstGeom prst="rect">
            <a:avLst/>
          </a:prstGeom>
        </p:spPr>
      </p:pic>
      <p:sp>
        <p:nvSpPr>
          <p:cNvPr id="33" name="Policy title"/>
          <p:cNvSpPr txBox="1"/>
          <p:nvPr/>
        </p:nvSpPr>
        <p:spPr>
          <a:xfrm>
            <a:off x="8915400" y="3767328"/>
            <a:ext cx="2606040" cy="51206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No force push, no bypass</a:t>
            </a:r>
            <a:endParaRPr lang="en-US" sz="1500" dirty="0"/>
          </a:p>
        </p:txBody>
      </p:sp>
      <p:sp>
        <p:nvSpPr>
          <p:cNvPr id="34" name="Policy text"/>
          <p:cNvSpPr txBox="1"/>
          <p:nvPr/>
        </p:nvSpPr>
        <p:spPr>
          <a:xfrm>
            <a:off x="8275320" y="4480560"/>
            <a:ext cx="3154680" cy="640080"/>
          </a:xfrm>
          <a:prstGeom prst="rect">
            <a:avLst/>
          </a:prstGeom>
          <a:noFill/>
          <a:ln/>
        </p:spPr>
        <p:txBody>
          <a:bodyPr wrap="square" lIns="0" tIns="0" rIns="0" bIns="0" rtlCol="0" anchor="t"/>
          <a:lstStyle/>
          <a:p>
            <a:pPr indent="0" marL="0">
              <a:buNone/>
            </a:pPr>
            <a:r>
              <a:rPr lang="en-US" sz="1300" dirty="0">
                <a:solidFill>
                  <a:schemeClr val="tx1"/>
                </a:solidFill>
              </a:rPr>
              <a:t>Not even on a busy day.</a:t>
            </a:r>
            <a:endParaRPr lang="en-US" sz="1300" dirty="0"/>
          </a:p>
        </p:txBody>
      </p:sp>
      <p:sp>
        <p:nvSpPr>
          <p:cNvPr id="35" name="Takeaway"/>
          <p:cNvSpPr txBox="1"/>
          <p:nvPr/>
        </p:nvSpPr>
        <p:spPr>
          <a:xfrm>
            <a:off x="548640" y="539496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A policy an administrator can switch off on a busy day is a suggestion.</a:t>
            </a:r>
            <a:endParaRPr lang="en-US" sz="1600" dirty="0"/>
          </a:p>
        </p:txBody>
      </p:sp>
      <p:sp>
        <p:nvSpPr>
          <p:cNvPr id="36" name="Footnote"/>
          <p:cNvSpPr txBox="1"/>
          <p:nvPr/>
        </p:nvSpPr>
        <p:spPr>
          <a:xfrm>
            <a:off x="548640" y="60350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Azure Repos branch policies; names as at the time of writing. Any exception is itself a reviewed change.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Who may do what: authors never approve alone</a:t>
            </a:r>
            <a:endParaRPr lang="en-US" sz="3200" dirty="0"/>
          </a:p>
        </p:txBody>
      </p:sp>
      <p:graphicFrame>
        <p:nvGraphicFramePr>
          <p:cNvPr id="43" name="Roles and action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4206240"/>
                <a:gridCol w="1371600"/>
                <a:gridCol w="1371600"/>
                <a:gridCol w="1371600"/>
                <a:gridCol w="1371600"/>
                <a:gridCol w="1399032"/>
              </a:tblGrid>
              <a:tr h="502920">
                <a:tc>
                  <a:txBody>
                    <a:bodyPr/>
                    <a:lstStyle/>
                    <a:p>
                      <a:pPr indent="0" marL="0">
                        <a:buNone/>
                      </a:pP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200" b="1" dirty="0">
                          <a:solidFill>
                            <a:schemeClr val="bg1"/>
                          </a:solidFill>
                        </a:rPr>
                        <a:t>Developer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200" b="1" dirty="0">
                          <a:solidFill>
                            <a:schemeClr val="bg1"/>
                          </a:solidFill>
                        </a:rPr>
                        <a:t>Reviewer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200" b="1" dirty="0">
                          <a:solidFill>
                            <a:schemeClr val="bg1"/>
                          </a:solidFill>
                        </a:rPr>
                        <a:t>Process owner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200" b="1" dirty="0">
                          <a:solidFill>
                            <a:schemeClr val="bg1"/>
                          </a:solidFill>
                        </a:rPr>
                        <a:t>Technical owner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200" b="1" dirty="0">
                          <a:solidFill>
                            <a:schemeClr val="bg1"/>
                          </a:solidFill>
                        </a:rPr>
                        <a:t>Platform admin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200" b="1" dirty="0">
                          <a:solidFill>
                            <a:schemeClr val="tx1"/>
                          </a:solidFill>
                        </a:rPr>
                        <a:t>Write and commit on a branch</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tx1"/>
                          </a:solidFill>
                        </a:rPr>
                        <a:t>Approve a pull request (never your own)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00" b="1" dirty="0">
                          <a:solidFill>
                            <a:schemeClr val="tx1"/>
                          </a:solidFill>
                        </a:rPr>
                        <a:t>Run acceptance testing in TEST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tx1"/>
                          </a:solidFill>
                        </a:rPr>
                        <a:t>Sign off for production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00" b="1" dirty="0">
                          <a:solidFill>
                            <a:schemeClr val="tx1"/>
                          </a:solidFill>
                        </a:rPr>
                        <a:t>Approve the PROD deployment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tx1"/>
                          </a:solidFill>
                        </a:rPr>
                        <a:t>Change branch policies and environment approvals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Principle card"/>
          <p:cNvSpPr/>
          <p:nvPr/>
        </p:nvSpPr>
        <p:spPr>
          <a:xfrm>
            <a:off x="548640" y="5440680"/>
            <a:ext cx="11094415" cy="566928"/>
          </a:xfrm>
          <a:prstGeom prst="roundRect">
            <a:avLst>
              <a:gd name="adj" fmla="val 19355"/>
            </a:avLst>
          </a:prstGeom>
          <a:solidFill>
            <a:schemeClr val="accent3">
              <a:alpha val="22000"/>
            </a:schemeClr>
          </a:solidFill>
          <a:ln/>
        </p:spPr>
      </p:sp>
      <p:sp>
        <p:nvSpPr>
          <p:cNvPr id="7" name="Principle text"/>
          <p:cNvSpPr txBox="1"/>
          <p:nvPr/>
        </p:nvSpPr>
        <p:spPr>
          <a:xfrm>
            <a:off x="777240" y="5440680"/>
            <a:ext cx="10637215" cy="566928"/>
          </a:xfrm>
          <a:prstGeom prst="rect">
            <a:avLst/>
          </a:prstGeom>
          <a:noFill/>
          <a:ln/>
        </p:spPr>
        <p:txBody>
          <a:bodyPr wrap="square" lIns="0" tIns="0" rIns="0" bIns="0" rtlCol="0" anchor="ctr"/>
          <a:lstStyle/>
          <a:p>
            <a:pPr indent="0" marL="0">
              <a:buNone/>
            </a:pPr>
            <a:r>
              <a:rPr lang="en-US" sz="1300" b="1" dirty="0">
                <a:solidFill>
                  <a:schemeClr val="tx1"/>
                </a:solidFill>
              </a:rPr>
              <a:t>Two principles: </a:t>
            </a:r>
            <a:pPr indent="0" marL="0">
              <a:buNone/>
            </a:pPr>
            <a:r>
              <a:rPr lang="en-US" sz="1300" dirty="0">
                <a:solidFill>
                  <a:schemeClr val="tx1"/>
                </a:solidFill>
              </a:rPr>
              <a:t>the author is never the only approver, and whoever deploys to production is not the only one who approved it.</a:t>
            </a:r>
            <a:endParaRPr lang="en-US" sz="1300" dirty="0"/>
          </a:p>
        </p:txBody>
      </p:sp>
      <p:sp>
        <p:nvSpPr>
          <p:cNvPr id="8"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 starting point. Sign-off by the process owner with the technical owner countersigning is from the delivery standard; confirm the rest.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Event gates run on someone else's clock</a:t>
            </a:r>
            <a:endParaRPr lang="en-US" sz="3200" dirty="0"/>
          </a:p>
        </p:txBody>
      </p:sp>
      <p:graphicFrame>
        <p:nvGraphicFramePr>
          <p:cNvPr id="44" name="Event gate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377440"/>
                <a:gridCol w="6336792"/>
                <a:gridCol w="2377440"/>
              </a:tblGrid>
              <a:tr h="365760">
                <a:tc>
                  <a:txBody>
                    <a:bodyPr/>
                    <a:lstStyle/>
                    <a:p>
                      <a:pPr indent="0" marL="0">
                        <a:buNone/>
                      </a:pPr>
                      <a:r>
                        <a:rPr lang="en-US" sz="1150" b="1" dirty="0">
                          <a:solidFill>
                            <a:schemeClr val="bg1"/>
                          </a:solidFill>
                        </a:rPr>
                        <a:t>Gate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What it is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Opens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20624">
                <a:tc>
                  <a:txBody>
                    <a:bodyPr/>
                    <a:lstStyle/>
                    <a:p>
                      <a:pPr indent="0" marL="0">
                        <a:buNone/>
                      </a:pPr>
                      <a:r>
                        <a:rPr lang="en-US" sz="1150" b="1" dirty="0">
                          <a:solidFill>
                            <a:schemeClr val="tx1"/>
                          </a:solidFill>
                        </a:rPr>
                        <a:t>BAPPID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 ServiceNow configuration record, with a named technical owner</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Week one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150" b="1" dirty="0">
                          <a:solidFill>
                            <a:schemeClr val="tx1"/>
                          </a:solidFill>
                        </a:rPr>
                        <a:t>ESIS request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Five sequential reviews: Service Management, Engineering, Security, Legal, Operations. Four to eight weeks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Week one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150" b="1" dirty="0">
                          <a:solidFill>
                            <a:schemeClr val="tx1"/>
                          </a:solidFill>
                        </a:rPr>
                        <a:t>AI intake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Required for any AI use case, through the intake portal</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Week one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150" b="1" dirty="0">
                          <a:solidFill>
                            <a:schemeClr val="tx1"/>
                          </a:solidFill>
                        </a:rPr>
                        <a:t>Email relay onboarding</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Messaging team onboarding. Required before go-live, not after</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Before go-live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150" b="1" dirty="0">
                          <a:solidFill>
                            <a:schemeClr val="tx1"/>
                          </a:solidFill>
                        </a:rPr>
                        <a:t>TEST admin consent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Delegated scopes. Nothing can be tested without it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Before UAT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150" b="1" dirty="0">
                          <a:solidFill>
                            <a:schemeClr val="tx1"/>
                          </a:solidFill>
                        </a:rPr>
                        <a:t>PROD admin consent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Constrained app permissions on the production tenant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Before go-live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150" b="1" dirty="0">
                          <a:solidFill>
                            <a:schemeClr val="tx1"/>
                          </a:solidFill>
                        </a:rPr>
                        <a:t>Functional sign-off</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The process owner signs. This gates the production build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Before go-live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53212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A gate nobody opened is still open at go-live.</a:t>
            </a:r>
            <a:endParaRPr lang="en-US" sz="1600" dirty="0"/>
          </a:p>
        </p:txBody>
      </p:sp>
      <p:sp>
        <p:nvSpPr>
          <p:cNvPr id="7"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From the TDMI delivery standard and the agreed agenda. Part 6 covers the track end to end.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Evidence: emit it as you go, do not write it at the end</a:t>
            </a:r>
            <a:endParaRPr lang="en-US" sz="3200" dirty="0"/>
          </a:p>
        </p:txBody>
      </p:sp>
      <p:sp>
        <p:nvSpPr>
          <p:cNvPr id="5" name="Pull request card"/>
          <p:cNvSpPr/>
          <p:nvPr/>
        </p:nvSpPr>
        <p:spPr>
          <a:xfrm>
            <a:off x="548640" y="1783080"/>
            <a:ext cx="3593592" cy="1783080"/>
          </a:xfrm>
          <a:prstGeom prst="roundRect">
            <a:avLst>
              <a:gd name="adj" fmla="val 6154"/>
            </a:avLst>
          </a:prstGeom>
          <a:solidFill>
            <a:schemeClr val="bg2"/>
          </a:solidFill>
          <a:ln/>
        </p:spPr>
      </p:sp>
      <p:sp>
        <p:nvSpPr>
          <p:cNvPr id="6" name="Pull request badge"/>
          <p:cNvSpPr/>
          <p:nvPr/>
        </p:nvSpPr>
        <p:spPr>
          <a:xfrm>
            <a:off x="749808" y="1965960"/>
            <a:ext cx="512064" cy="512064"/>
          </a:xfrm>
          <a:prstGeom prst="ellipse">
            <a:avLst/>
          </a:prstGeom>
          <a:solidFill>
            <a:schemeClr val="accent1"/>
          </a:solidFill>
          <a:ln/>
        </p:spPr>
      </p:sp>
      <p:pic>
        <p:nvPicPr>
          <p:cNvPr id="7" name="Image 0" descr="Pull request icon">    </p:cNvPr>
          <p:cNvPicPr>
            <a:picLocks noChangeAspect="1"/>
          </p:cNvPicPr>
          <p:nvPr/>
        </p:nvPicPr>
        <p:blipFill>
          <a:blip r:embed="rId1"/>
          <a:stretch>
            <a:fillRect/>
          </a:stretch>
        </p:blipFill>
        <p:spPr>
          <a:xfrm>
            <a:off x="877824" y="2093976"/>
            <a:ext cx="256032" cy="256032"/>
          </a:xfrm>
          <a:prstGeom prst="rect">
            <a:avLst/>
          </a:prstGeom>
        </p:spPr>
      </p:pic>
      <p:sp>
        <p:nvSpPr>
          <p:cNvPr id="8" name="Evidence title"/>
          <p:cNvSpPr txBox="1"/>
          <p:nvPr/>
        </p:nvSpPr>
        <p:spPr>
          <a:xfrm>
            <a:off x="1417320" y="1965960"/>
            <a:ext cx="2606040" cy="51206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Pull request</a:t>
            </a:r>
            <a:endParaRPr lang="en-US" sz="1600" dirty="0"/>
          </a:p>
        </p:txBody>
      </p:sp>
      <p:sp>
        <p:nvSpPr>
          <p:cNvPr id="9" name="Evidence text"/>
          <p:cNvSpPr txBox="1"/>
          <p:nvPr/>
        </p:nvSpPr>
        <p:spPr>
          <a:xfrm>
            <a:off x="777240" y="2624328"/>
            <a:ext cx="3154680" cy="502920"/>
          </a:xfrm>
          <a:prstGeom prst="rect">
            <a:avLst/>
          </a:prstGeom>
          <a:noFill/>
          <a:ln/>
        </p:spPr>
        <p:txBody>
          <a:bodyPr wrap="square" lIns="0" tIns="0" rIns="0" bIns="0" rtlCol="0" anchor="t"/>
          <a:lstStyle/>
          <a:p>
            <a:pPr indent="0" marL="0">
              <a:buNone/>
            </a:pPr>
            <a:r>
              <a:rPr lang="en-US" sz="1300" dirty="0">
                <a:solidFill>
                  <a:schemeClr val="tx1"/>
                </a:solidFill>
              </a:rPr>
              <a:t>Who reviewed what. The work item is linked.</a:t>
            </a:r>
            <a:endParaRPr lang="en-US" sz="1300" dirty="0"/>
          </a:p>
        </p:txBody>
      </p:sp>
      <p:sp>
        <p:nvSpPr>
          <p:cNvPr id="10" name="Evidence home"/>
          <p:cNvSpPr txBox="1"/>
          <p:nvPr/>
        </p:nvSpPr>
        <p:spPr>
          <a:xfrm>
            <a:off x="777240" y="3154680"/>
            <a:ext cx="3154680" cy="274320"/>
          </a:xfrm>
          <a:prstGeom prst="rect">
            <a:avLst/>
          </a:prstGeom>
          <a:noFill/>
          <a:ln/>
        </p:spPr>
        <p:txBody>
          <a:bodyPr wrap="square" lIns="0" tIns="0" rIns="0" bIns="0" rtlCol="0" anchor="t"/>
          <a:lstStyle/>
          <a:p>
            <a:pPr indent="0" marL="0">
              <a:buNone/>
            </a:pPr>
            <a:r>
              <a:rPr lang="en-US" sz="1100" i="1" dirty="0">
                <a:solidFill>
                  <a:schemeClr val="accent1"/>
                </a:solidFill>
              </a:rPr>
              <a:t>Lives in: Azure Repos</a:t>
            </a:r>
            <a:endParaRPr lang="en-US" sz="1100" dirty="0"/>
          </a:p>
        </p:txBody>
      </p:sp>
      <p:sp>
        <p:nvSpPr>
          <p:cNvPr id="11" name="Rails run card"/>
          <p:cNvSpPr/>
          <p:nvPr/>
        </p:nvSpPr>
        <p:spPr>
          <a:xfrm>
            <a:off x="4297680" y="1783080"/>
            <a:ext cx="3593592" cy="1783080"/>
          </a:xfrm>
          <a:prstGeom prst="roundRect">
            <a:avLst>
              <a:gd name="adj" fmla="val 6154"/>
            </a:avLst>
          </a:prstGeom>
          <a:solidFill>
            <a:schemeClr val="bg2"/>
          </a:solidFill>
          <a:ln/>
        </p:spPr>
      </p:sp>
      <p:sp>
        <p:nvSpPr>
          <p:cNvPr id="12" name="Rails run badge"/>
          <p:cNvSpPr/>
          <p:nvPr/>
        </p:nvSpPr>
        <p:spPr>
          <a:xfrm>
            <a:off x="4498848" y="1965960"/>
            <a:ext cx="512064" cy="512064"/>
          </a:xfrm>
          <a:prstGeom prst="ellipse">
            <a:avLst/>
          </a:prstGeom>
          <a:solidFill>
            <a:schemeClr val="accent2"/>
          </a:solidFill>
          <a:ln/>
        </p:spPr>
      </p:sp>
      <p:pic>
        <p:nvPicPr>
          <p:cNvPr id="13" name="Image 1" descr="Rails run icon">    </p:cNvPr>
          <p:cNvPicPr>
            <a:picLocks noChangeAspect="1"/>
          </p:cNvPicPr>
          <p:nvPr/>
        </p:nvPicPr>
        <p:blipFill>
          <a:blip r:embed="rId2"/>
          <a:stretch>
            <a:fillRect/>
          </a:stretch>
        </p:blipFill>
        <p:spPr>
          <a:xfrm>
            <a:off x="4626864" y="2093976"/>
            <a:ext cx="256032" cy="256032"/>
          </a:xfrm>
          <a:prstGeom prst="rect">
            <a:avLst/>
          </a:prstGeom>
        </p:spPr>
      </p:pic>
      <p:sp>
        <p:nvSpPr>
          <p:cNvPr id="14" name="Evidence title"/>
          <p:cNvSpPr txBox="1"/>
          <p:nvPr/>
        </p:nvSpPr>
        <p:spPr>
          <a:xfrm>
            <a:off x="5166360" y="1965960"/>
            <a:ext cx="2606040" cy="51206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Rails run</a:t>
            </a:r>
            <a:endParaRPr lang="en-US" sz="1600" dirty="0"/>
          </a:p>
        </p:txBody>
      </p:sp>
      <p:sp>
        <p:nvSpPr>
          <p:cNvPr id="15" name="Evidence text"/>
          <p:cNvSpPr txBox="1"/>
          <p:nvPr/>
        </p:nvSpPr>
        <p:spPr>
          <a:xfrm>
            <a:off x="4526280" y="2624328"/>
            <a:ext cx="3154680" cy="502920"/>
          </a:xfrm>
          <a:prstGeom prst="rect">
            <a:avLst/>
          </a:prstGeom>
          <a:noFill/>
          <a:ln/>
        </p:spPr>
        <p:txBody>
          <a:bodyPr wrap="square" lIns="0" tIns="0" rIns="0" bIns="0" rtlCol="0" anchor="t"/>
          <a:lstStyle/>
          <a:p>
            <a:pPr indent="0" marL="0">
              <a:buNone/>
            </a:pPr>
            <a:r>
              <a:rPr lang="en-US" sz="1300" dirty="0">
                <a:solidFill>
                  <a:schemeClr val="tx1"/>
                </a:solidFill>
              </a:rPr>
              <a:t>What was checked, and that it passed.</a:t>
            </a:r>
            <a:endParaRPr lang="en-US" sz="1300" dirty="0"/>
          </a:p>
        </p:txBody>
      </p:sp>
      <p:sp>
        <p:nvSpPr>
          <p:cNvPr id="16" name="Evidence home"/>
          <p:cNvSpPr txBox="1"/>
          <p:nvPr/>
        </p:nvSpPr>
        <p:spPr>
          <a:xfrm>
            <a:off x="4526280" y="3154680"/>
            <a:ext cx="3154680" cy="274320"/>
          </a:xfrm>
          <a:prstGeom prst="rect">
            <a:avLst/>
          </a:prstGeom>
          <a:noFill/>
          <a:ln/>
        </p:spPr>
        <p:txBody>
          <a:bodyPr wrap="square" lIns="0" tIns="0" rIns="0" bIns="0" rtlCol="0" anchor="t"/>
          <a:lstStyle/>
          <a:p>
            <a:pPr indent="0" marL="0">
              <a:buNone/>
            </a:pPr>
            <a:r>
              <a:rPr lang="en-US" sz="1100" i="1" dirty="0">
                <a:solidFill>
                  <a:schemeClr val="accent1"/>
                </a:solidFill>
              </a:rPr>
              <a:t>Lives in: The pipeline run</a:t>
            </a:r>
            <a:endParaRPr lang="en-US" sz="1100" dirty="0"/>
          </a:p>
        </p:txBody>
      </p:sp>
      <p:sp>
        <p:nvSpPr>
          <p:cNvPr id="17" name="Tag card"/>
          <p:cNvSpPr/>
          <p:nvPr/>
        </p:nvSpPr>
        <p:spPr>
          <a:xfrm>
            <a:off x="8046720" y="1783080"/>
            <a:ext cx="3593592" cy="1783080"/>
          </a:xfrm>
          <a:prstGeom prst="roundRect">
            <a:avLst>
              <a:gd name="adj" fmla="val 6154"/>
            </a:avLst>
          </a:prstGeom>
          <a:solidFill>
            <a:schemeClr val="bg2"/>
          </a:solidFill>
          <a:ln/>
        </p:spPr>
      </p:sp>
      <p:sp>
        <p:nvSpPr>
          <p:cNvPr id="18" name="Tag badge"/>
          <p:cNvSpPr/>
          <p:nvPr/>
        </p:nvSpPr>
        <p:spPr>
          <a:xfrm>
            <a:off x="8247888" y="1965960"/>
            <a:ext cx="512064" cy="512064"/>
          </a:xfrm>
          <a:prstGeom prst="ellipse">
            <a:avLst/>
          </a:prstGeom>
          <a:solidFill>
            <a:schemeClr val="tx2"/>
          </a:solidFill>
          <a:ln/>
        </p:spPr>
      </p:sp>
      <p:pic>
        <p:nvPicPr>
          <p:cNvPr id="19" name="Image 2" descr="Tag icon">    </p:cNvPr>
          <p:cNvPicPr>
            <a:picLocks noChangeAspect="1"/>
          </p:cNvPicPr>
          <p:nvPr/>
        </p:nvPicPr>
        <p:blipFill>
          <a:blip r:embed="rId3"/>
          <a:stretch>
            <a:fillRect/>
          </a:stretch>
        </p:blipFill>
        <p:spPr>
          <a:xfrm>
            <a:off x="8375904" y="2093976"/>
            <a:ext cx="256032" cy="256032"/>
          </a:xfrm>
          <a:prstGeom prst="rect">
            <a:avLst/>
          </a:prstGeom>
        </p:spPr>
      </p:pic>
      <p:sp>
        <p:nvSpPr>
          <p:cNvPr id="20" name="Evidence title"/>
          <p:cNvSpPr txBox="1"/>
          <p:nvPr/>
        </p:nvSpPr>
        <p:spPr>
          <a:xfrm>
            <a:off x="8915400" y="1965960"/>
            <a:ext cx="2606040" cy="51206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Tag</a:t>
            </a:r>
            <a:endParaRPr lang="en-US" sz="1600" dirty="0"/>
          </a:p>
        </p:txBody>
      </p:sp>
      <p:sp>
        <p:nvSpPr>
          <p:cNvPr id="21" name="Evidence text"/>
          <p:cNvSpPr txBox="1"/>
          <p:nvPr/>
        </p:nvSpPr>
        <p:spPr>
          <a:xfrm>
            <a:off x="8275320" y="2624328"/>
            <a:ext cx="3154680" cy="502920"/>
          </a:xfrm>
          <a:prstGeom prst="rect">
            <a:avLst/>
          </a:prstGeom>
          <a:noFill/>
          <a:ln/>
        </p:spPr>
        <p:txBody>
          <a:bodyPr wrap="square" lIns="0" tIns="0" rIns="0" bIns="0" rtlCol="0" anchor="t"/>
          <a:lstStyle/>
          <a:p>
            <a:pPr indent="0" marL="0">
              <a:buNone/>
            </a:pPr>
            <a:r>
              <a:rPr lang="en-US" sz="1300" dirty="0">
                <a:solidFill>
                  <a:schemeClr val="tx1"/>
                </a:solidFill>
              </a:rPr>
              <a:t>Exactly what shipped.</a:t>
            </a:r>
            <a:endParaRPr lang="en-US" sz="1300" dirty="0"/>
          </a:p>
        </p:txBody>
      </p:sp>
      <p:sp>
        <p:nvSpPr>
          <p:cNvPr id="22" name="Evidence home"/>
          <p:cNvSpPr txBox="1"/>
          <p:nvPr/>
        </p:nvSpPr>
        <p:spPr>
          <a:xfrm>
            <a:off x="8275320" y="3154680"/>
            <a:ext cx="3154680" cy="274320"/>
          </a:xfrm>
          <a:prstGeom prst="rect">
            <a:avLst/>
          </a:prstGeom>
          <a:noFill/>
          <a:ln/>
        </p:spPr>
        <p:txBody>
          <a:bodyPr wrap="square" lIns="0" tIns="0" rIns="0" bIns="0" rtlCol="0" anchor="t"/>
          <a:lstStyle/>
          <a:p>
            <a:pPr indent="0" marL="0">
              <a:buNone/>
            </a:pPr>
            <a:r>
              <a:rPr lang="en-US" sz="1100" i="1" dirty="0">
                <a:solidFill>
                  <a:schemeClr val="accent1"/>
                </a:solidFill>
              </a:rPr>
              <a:t>Lives in: The repository</a:t>
            </a:r>
            <a:endParaRPr lang="en-US" sz="1100" dirty="0"/>
          </a:p>
        </p:txBody>
      </p:sp>
      <p:sp>
        <p:nvSpPr>
          <p:cNvPr id="23" name="Run log card"/>
          <p:cNvSpPr/>
          <p:nvPr/>
        </p:nvSpPr>
        <p:spPr>
          <a:xfrm>
            <a:off x="548640" y="3703320"/>
            <a:ext cx="3593592" cy="1783080"/>
          </a:xfrm>
          <a:prstGeom prst="roundRect">
            <a:avLst>
              <a:gd name="adj" fmla="val 6154"/>
            </a:avLst>
          </a:prstGeom>
          <a:solidFill>
            <a:schemeClr val="bg2"/>
          </a:solidFill>
          <a:ln/>
        </p:spPr>
      </p:sp>
      <p:sp>
        <p:nvSpPr>
          <p:cNvPr id="24" name="Run log badge"/>
          <p:cNvSpPr/>
          <p:nvPr/>
        </p:nvSpPr>
        <p:spPr>
          <a:xfrm>
            <a:off x="749808" y="3886200"/>
            <a:ext cx="512064" cy="512064"/>
          </a:xfrm>
          <a:prstGeom prst="ellipse">
            <a:avLst/>
          </a:prstGeom>
          <a:solidFill>
            <a:schemeClr val="accent3"/>
          </a:solidFill>
          <a:ln/>
        </p:spPr>
      </p:sp>
      <p:pic>
        <p:nvPicPr>
          <p:cNvPr id="25" name="Image 3" descr="Run log icon">    </p:cNvPr>
          <p:cNvPicPr>
            <a:picLocks noChangeAspect="1"/>
          </p:cNvPicPr>
          <p:nvPr/>
        </p:nvPicPr>
        <p:blipFill>
          <a:blip r:embed="rId4"/>
          <a:stretch>
            <a:fillRect/>
          </a:stretch>
        </p:blipFill>
        <p:spPr>
          <a:xfrm>
            <a:off x="877824" y="4014216"/>
            <a:ext cx="256032" cy="256032"/>
          </a:xfrm>
          <a:prstGeom prst="rect">
            <a:avLst/>
          </a:prstGeom>
        </p:spPr>
      </p:pic>
      <p:sp>
        <p:nvSpPr>
          <p:cNvPr id="26" name="Evidence title"/>
          <p:cNvSpPr txBox="1"/>
          <p:nvPr/>
        </p:nvSpPr>
        <p:spPr>
          <a:xfrm>
            <a:off x="1417320" y="3886200"/>
            <a:ext cx="2606040" cy="51206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Run log</a:t>
            </a:r>
            <a:endParaRPr lang="en-US" sz="1600" dirty="0"/>
          </a:p>
        </p:txBody>
      </p:sp>
      <p:sp>
        <p:nvSpPr>
          <p:cNvPr id="27" name="Evidence text"/>
          <p:cNvSpPr txBox="1"/>
          <p:nvPr/>
        </p:nvSpPr>
        <p:spPr>
          <a:xfrm>
            <a:off x="777240" y="4544568"/>
            <a:ext cx="3154680" cy="502920"/>
          </a:xfrm>
          <a:prstGeom prst="rect">
            <a:avLst/>
          </a:prstGeom>
          <a:noFill/>
          <a:ln/>
        </p:spPr>
        <p:txBody>
          <a:bodyPr wrap="square" lIns="0" tIns="0" rIns="0" bIns="0" rtlCol="0" anchor="t"/>
          <a:lstStyle/>
          <a:p>
            <a:pPr indent="0" marL="0">
              <a:buNone/>
            </a:pPr>
            <a:r>
              <a:rPr lang="en-US" sz="1300" dirty="0">
                <a:solidFill>
                  <a:schemeClr val="tx1"/>
                </a:solidFill>
              </a:rPr>
              <a:t>What the workflow did, in each environment.</a:t>
            </a:r>
            <a:endParaRPr lang="en-US" sz="1300" dirty="0"/>
          </a:p>
        </p:txBody>
      </p:sp>
      <p:sp>
        <p:nvSpPr>
          <p:cNvPr id="28" name="Evidence home"/>
          <p:cNvSpPr txBox="1"/>
          <p:nvPr/>
        </p:nvSpPr>
        <p:spPr>
          <a:xfrm>
            <a:off x="777240" y="5074920"/>
            <a:ext cx="3154680" cy="274320"/>
          </a:xfrm>
          <a:prstGeom prst="rect">
            <a:avLst/>
          </a:prstGeom>
          <a:noFill/>
          <a:ln/>
        </p:spPr>
        <p:txBody>
          <a:bodyPr wrap="square" lIns="0" tIns="0" rIns="0" bIns="0" rtlCol="0" anchor="t"/>
          <a:lstStyle/>
          <a:p>
            <a:pPr indent="0" marL="0">
              <a:buNone/>
            </a:pPr>
            <a:r>
              <a:rPr lang="en-US" sz="1100" i="1" dirty="0">
                <a:solidFill>
                  <a:schemeClr val="accent1"/>
                </a:solidFill>
              </a:rPr>
              <a:t>Lives in: The lakehouse</a:t>
            </a:r>
            <a:endParaRPr lang="en-US" sz="1100" dirty="0"/>
          </a:p>
        </p:txBody>
      </p:sp>
      <p:sp>
        <p:nvSpPr>
          <p:cNvPr id="29" name="Smoke check card"/>
          <p:cNvSpPr/>
          <p:nvPr/>
        </p:nvSpPr>
        <p:spPr>
          <a:xfrm>
            <a:off x="4297680" y="3703320"/>
            <a:ext cx="3593592" cy="1783080"/>
          </a:xfrm>
          <a:prstGeom prst="roundRect">
            <a:avLst>
              <a:gd name="adj" fmla="val 6154"/>
            </a:avLst>
          </a:prstGeom>
          <a:solidFill>
            <a:schemeClr val="bg2"/>
          </a:solidFill>
          <a:ln/>
        </p:spPr>
      </p:sp>
      <p:sp>
        <p:nvSpPr>
          <p:cNvPr id="30" name="Smoke check badge"/>
          <p:cNvSpPr/>
          <p:nvPr/>
        </p:nvSpPr>
        <p:spPr>
          <a:xfrm>
            <a:off x="4498848" y="3886200"/>
            <a:ext cx="512064" cy="512064"/>
          </a:xfrm>
          <a:prstGeom prst="ellipse">
            <a:avLst/>
          </a:prstGeom>
          <a:solidFill>
            <a:schemeClr val="accent4"/>
          </a:solidFill>
          <a:ln/>
        </p:spPr>
      </p:sp>
      <p:pic>
        <p:nvPicPr>
          <p:cNvPr id="31" name="Image 4" descr="Smoke check icon">    </p:cNvPr>
          <p:cNvPicPr>
            <a:picLocks noChangeAspect="1"/>
          </p:cNvPicPr>
          <p:nvPr/>
        </p:nvPicPr>
        <p:blipFill>
          <a:blip r:embed="rId5"/>
          <a:stretch>
            <a:fillRect/>
          </a:stretch>
        </p:blipFill>
        <p:spPr>
          <a:xfrm>
            <a:off x="4626864" y="4014216"/>
            <a:ext cx="256032" cy="256032"/>
          </a:xfrm>
          <a:prstGeom prst="rect">
            <a:avLst/>
          </a:prstGeom>
        </p:spPr>
      </p:pic>
      <p:sp>
        <p:nvSpPr>
          <p:cNvPr id="32" name="Evidence title"/>
          <p:cNvSpPr txBox="1"/>
          <p:nvPr/>
        </p:nvSpPr>
        <p:spPr>
          <a:xfrm>
            <a:off x="5166360" y="3886200"/>
            <a:ext cx="2606040" cy="51206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Smoke check</a:t>
            </a:r>
            <a:endParaRPr lang="en-US" sz="1600" dirty="0"/>
          </a:p>
        </p:txBody>
      </p:sp>
      <p:sp>
        <p:nvSpPr>
          <p:cNvPr id="33" name="Evidence text"/>
          <p:cNvSpPr txBox="1"/>
          <p:nvPr/>
        </p:nvSpPr>
        <p:spPr>
          <a:xfrm>
            <a:off x="4526280" y="4544568"/>
            <a:ext cx="3154680" cy="502920"/>
          </a:xfrm>
          <a:prstGeom prst="rect">
            <a:avLst/>
          </a:prstGeom>
          <a:noFill/>
          <a:ln/>
        </p:spPr>
        <p:txBody>
          <a:bodyPr wrap="square" lIns="0" tIns="0" rIns="0" bIns="0" rtlCol="0" anchor="t"/>
          <a:lstStyle/>
          <a:p>
            <a:pPr indent="0" marL="0">
              <a:buNone/>
            </a:pPr>
            <a:r>
              <a:rPr lang="en-US" sz="1300" dirty="0">
                <a:solidFill>
                  <a:schemeClr val="tx1"/>
                </a:solidFill>
              </a:rPr>
              <a:t>What was verified after the deploy.</a:t>
            </a:r>
            <a:endParaRPr lang="en-US" sz="1300" dirty="0"/>
          </a:p>
        </p:txBody>
      </p:sp>
      <p:sp>
        <p:nvSpPr>
          <p:cNvPr id="34" name="Evidence home"/>
          <p:cNvSpPr txBox="1"/>
          <p:nvPr/>
        </p:nvSpPr>
        <p:spPr>
          <a:xfrm>
            <a:off x="4526280" y="5074920"/>
            <a:ext cx="3154680" cy="274320"/>
          </a:xfrm>
          <a:prstGeom prst="rect">
            <a:avLst/>
          </a:prstGeom>
          <a:noFill/>
          <a:ln/>
        </p:spPr>
        <p:txBody>
          <a:bodyPr wrap="square" lIns="0" tIns="0" rIns="0" bIns="0" rtlCol="0" anchor="t"/>
          <a:lstStyle/>
          <a:p>
            <a:pPr indent="0" marL="0">
              <a:buNone/>
            </a:pPr>
            <a:r>
              <a:rPr lang="en-US" sz="1100" i="1" dirty="0">
                <a:solidFill>
                  <a:schemeClr val="accent1"/>
                </a:solidFill>
              </a:rPr>
              <a:t>Lives in: The pipeline run</a:t>
            </a:r>
            <a:endParaRPr lang="en-US" sz="1100" dirty="0"/>
          </a:p>
        </p:txBody>
      </p:sp>
      <p:sp>
        <p:nvSpPr>
          <p:cNvPr id="35" name="Approvals card"/>
          <p:cNvSpPr/>
          <p:nvPr/>
        </p:nvSpPr>
        <p:spPr>
          <a:xfrm>
            <a:off x="8046720" y="3703320"/>
            <a:ext cx="3593592" cy="1783080"/>
          </a:xfrm>
          <a:prstGeom prst="roundRect">
            <a:avLst>
              <a:gd name="adj" fmla="val 6154"/>
            </a:avLst>
          </a:prstGeom>
          <a:solidFill>
            <a:schemeClr val="bg2"/>
          </a:solidFill>
          <a:ln/>
        </p:spPr>
      </p:sp>
      <p:sp>
        <p:nvSpPr>
          <p:cNvPr id="36" name="Approvals badge"/>
          <p:cNvSpPr/>
          <p:nvPr/>
        </p:nvSpPr>
        <p:spPr>
          <a:xfrm>
            <a:off x="8247888" y="3886200"/>
            <a:ext cx="512064" cy="512064"/>
          </a:xfrm>
          <a:prstGeom prst="ellipse">
            <a:avLst/>
          </a:prstGeom>
          <a:solidFill>
            <a:schemeClr val="accent6"/>
          </a:solidFill>
          <a:ln/>
        </p:spPr>
      </p:sp>
      <p:pic>
        <p:nvPicPr>
          <p:cNvPr id="37" name="Image 5" descr="Approvals icon">    </p:cNvPr>
          <p:cNvPicPr>
            <a:picLocks noChangeAspect="1"/>
          </p:cNvPicPr>
          <p:nvPr/>
        </p:nvPicPr>
        <p:blipFill>
          <a:blip r:embed="rId6"/>
          <a:stretch>
            <a:fillRect/>
          </a:stretch>
        </p:blipFill>
        <p:spPr>
          <a:xfrm>
            <a:off x="8375904" y="4014216"/>
            <a:ext cx="256032" cy="256032"/>
          </a:xfrm>
          <a:prstGeom prst="rect">
            <a:avLst/>
          </a:prstGeom>
        </p:spPr>
      </p:pic>
      <p:sp>
        <p:nvSpPr>
          <p:cNvPr id="38" name="Evidence title"/>
          <p:cNvSpPr txBox="1"/>
          <p:nvPr/>
        </p:nvSpPr>
        <p:spPr>
          <a:xfrm>
            <a:off x="8915400" y="3886200"/>
            <a:ext cx="2606040" cy="51206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Approvals</a:t>
            </a:r>
            <a:endParaRPr lang="en-US" sz="1600" dirty="0"/>
          </a:p>
        </p:txBody>
      </p:sp>
      <p:sp>
        <p:nvSpPr>
          <p:cNvPr id="39" name="Evidence text"/>
          <p:cNvSpPr txBox="1"/>
          <p:nvPr/>
        </p:nvSpPr>
        <p:spPr>
          <a:xfrm>
            <a:off x="8275320" y="4544568"/>
            <a:ext cx="3154680" cy="502920"/>
          </a:xfrm>
          <a:prstGeom prst="rect">
            <a:avLst/>
          </a:prstGeom>
          <a:noFill/>
          <a:ln/>
        </p:spPr>
        <p:txBody>
          <a:bodyPr wrap="square" lIns="0" tIns="0" rIns="0" bIns="0" rtlCol="0" anchor="t"/>
          <a:lstStyle/>
          <a:p>
            <a:pPr indent="0" marL="0">
              <a:buNone/>
            </a:pPr>
            <a:r>
              <a:rPr lang="en-US" sz="1300" dirty="0">
                <a:solidFill>
                  <a:schemeClr val="tx1"/>
                </a:solidFill>
              </a:rPr>
              <a:t>Who said yes, and when.</a:t>
            </a:r>
            <a:endParaRPr lang="en-US" sz="1300" dirty="0"/>
          </a:p>
        </p:txBody>
      </p:sp>
      <p:sp>
        <p:nvSpPr>
          <p:cNvPr id="40" name="Evidence home"/>
          <p:cNvSpPr txBox="1"/>
          <p:nvPr/>
        </p:nvSpPr>
        <p:spPr>
          <a:xfrm>
            <a:off x="8275320" y="5074920"/>
            <a:ext cx="3154680" cy="274320"/>
          </a:xfrm>
          <a:prstGeom prst="rect">
            <a:avLst/>
          </a:prstGeom>
          <a:noFill/>
          <a:ln/>
        </p:spPr>
        <p:txBody>
          <a:bodyPr wrap="square" lIns="0" tIns="0" rIns="0" bIns="0" rtlCol="0" anchor="t"/>
          <a:lstStyle/>
          <a:p>
            <a:pPr indent="0" marL="0">
              <a:buNone/>
            </a:pPr>
            <a:r>
              <a:rPr lang="en-US" sz="1100" i="1" dirty="0">
                <a:solidFill>
                  <a:schemeClr val="accent1"/>
                </a:solidFill>
              </a:rPr>
              <a:t>Lives in: The environment</a:t>
            </a:r>
            <a:endParaRPr lang="en-US" sz="1100" dirty="0"/>
          </a:p>
        </p:txBody>
      </p:sp>
      <p:sp>
        <p:nvSpPr>
          <p:cNvPr id="41" name="Record rule"/>
          <p:cNvSpPr/>
          <p:nvPr/>
        </p:nvSpPr>
        <p:spPr>
          <a:xfrm>
            <a:off x="548640" y="5669280"/>
            <a:ext cx="11094415" cy="457200"/>
          </a:xfrm>
          <a:prstGeom prst="roundRect">
            <a:avLst>
              <a:gd name="adj" fmla="val 24000"/>
            </a:avLst>
          </a:prstGeom>
          <a:solidFill>
            <a:schemeClr val="accent2">
              <a:alpha val="18000"/>
            </a:schemeClr>
          </a:solidFill>
          <a:ln/>
        </p:spPr>
      </p:sp>
      <p:sp>
        <p:nvSpPr>
          <p:cNvPr id="42" name="Record rule text"/>
          <p:cNvSpPr txBox="1"/>
          <p:nvPr/>
        </p:nvSpPr>
        <p:spPr>
          <a:xfrm>
            <a:off x="777240" y="5669280"/>
            <a:ext cx="10637215" cy="457200"/>
          </a:xfrm>
          <a:prstGeom prst="rect">
            <a:avLst/>
          </a:prstGeom>
          <a:noFill/>
          <a:ln/>
        </p:spPr>
        <p:txBody>
          <a:bodyPr wrap="square" lIns="0" tIns="0" rIns="0" bIns="0" rtlCol="0" anchor="ctr"/>
          <a:lstStyle/>
          <a:p>
            <a:pPr indent="0" marL="0">
              <a:buNone/>
            </a:pPr>
            <a:r>
              <a:rPr lang="en-US" sz="1250" dirty="0">
                <a:solidFill>
                  <a:schemeClr val="tx1"/>
                </a:solidFill>
              </a:rPr>
              <a:t>One system holds each fact: project state in the project record, engineering detail in Boards, with one pointer between them.</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Data governance in a code repository: yours and theirs</a:t>
            </a:r>
            <a:endParaRPr lang="en-US" sz="3200" dirty="0"/>
          </a:p>
        </p:txBody>
      </p:sp>
      <p:sp>
        <p:nvSpPr>
          <p:cNvPr id="5" name="In your hands card"/>
          <p:cNvSpPr/>
          <p:nvPr/>
        </p:nvSpPr>
        <p:spPr>
          <a:xfrm>
            <a:off x="548640" y="1783080"/>
            <a:ext cx="5468112" cy="3566160"/>
          </a:xfrm>
          <a:prstGeom prst="roundRect">
            <a:avLst>
              <a:gd name="adj" fmla="val 3077"/>
            </a:avLst>
          </a:prstGeom>
          <a:solidFill>
            <a:schemeClr val="accent2">
              <a:alpha val="18000"/>
            </a:schemeClr>
          </a:solidFill>
          <a:ln/>
        </p:spPr>
      </p:sp>
      <p:sp>
        <p:nvSpPr>
          <p:cNvPr id="6" name="Pill"/>
          <p:cNvSpPr txBox="1"/>
          <p:nvPr/>
        </p:nvSpPr>
        <p:spPr>
          <a:xfrm>
            <a:off x="777240" y="1920240"/>
            <a:ext cx="173736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bg1"/>
                </a:solidFill>
              </a:rPr>
              <a:t>IN YOUR HANDS</a:t>
            </a:r>
            <a:endParaRPr lang="en-US" sz="1000" dirty="0"/>
          </a:p>
        </p:txBody>
      </p:sp>
      <p:sp>
        <p:nvSpPr>
          <p:cNvPr id="7" name="In your hands list"/>
          <p:cNvSpPr txBox="1"/>
          <p:nvPr/>
        </p:nvSpPr>
        <p:spPr>
          <a:xfrm>
            <a:off x="822960" y="2423160"/>
            <a:ext cx="4937760" cy="28346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What you commit: no data, no secrets</a:t>
            </a:r>
            <a:endParaRPr lang="en-US" sz="1400" dirty="0"/>
          </a:p>
          <a:p>
            <a:pPr marL="342900" indent="-342900">
              <a:spcAft>
                <a:spcPts val="900"/>
              </a:spcAft>
              <a:buSzPct val="100000"/>
              <a:buChar char="•"/>
            </a:pPr>
            <a:r>
              <a:rPr lang="en-US" sz="1400" dirty="0">
                <a:solidFill>
                  <a:schemeClr val="tx1"/>
                </a:solidFill>
              </a:rPr>
              <a:t>Test data: synthetic or approved samples</a:t>
            </a:r>
            <a:endParaRPr lang="en-US" sz="1400" dirty="0"/>
          </a:p>
          <a:p>
            <a:pPr marL="342900" indent="-342900">
              <a:spcAft>
                <a:spcPts val="900"/>
              </a:spcAft>
              <a:buSzPct val="100000"/>
              <a:buChar char="•"/>
            </a:pPr>
            <a:r>
              <a:rPr lang="en-US" sz="1400" dirty="0">
                <a:solidFill>
                  <a:schemeClr val="tx1"/>
                </a:solidFill>
              </a:rPr>
              <a:t>Notebook outputs: cleared, or left to Git integration</a:t>
            </a:r>
            <a:endParaRPr lang="en-US" sz="1400" dirty="0"/>
          </a:p>
          <a:p>
            <a:pPr marL="342900" indent="-342900">
              <a:spcAft>
                <a:spcPts val="900"/>
              </a:spcAft>
              <a:buSzPct val="100000"/>
              <a:buChar char="•"/>
            </a:pPr>
            <a:r>
              <a:rPr lang="en-US" sz="1400" dirty="0">
                <a:solidFill>
                  <a:schemeClr val="tx1"/>
                </a:solidFill>
              </a:rPr>
              <a:t>Exports: commit what Git writes, not an export</a:t>
            </a:r>
            <a:endParaRPr lang="en-US" sz="1400" dirty="0"/>
          </a:p>
          <a:p>
            <a:pPr marL="342900" indent="-342900">
              <a:spcAft>
                <a:spcPts val="900"/>
              </a:spcAft>
              <a:buSzPct val="100000"/>
              <a:buChar char="•"/>
            </a:pPr>
            <a:r>
              <a:rPr lang="en-US" sz="1400" dirty="0">
                <a:solidFill>
                  <a:schemeClr val="tx1"/>
                </a:solidFill>
              </a:rPr>
              <a:t>Names that say what an item is</a:t>
            </a:r>
            <a:endParaRPr lang="en-US" sz="1400" dirty="0"/>
          </a:p>
        </p:txBody>
      </p:sp>
      <p:sp>
        <p:nvSpPr>
          <p:cNvPr id="8" name="Enterprise Technology's card"/>
          <p:cNvSpPr/>
          <p:nvPr/>
        </p:nvSpPr>
        <p:spPr>
          <a:xfrm>
            <a:off x="6172200" y="1783080"/>
            <a:ext cx="5468112" cy="3566160"/>
          </a:xfrm>
          <a:prstGeom prst="roundRect">
            <a:avLst>
              <a:gd name="adj" fmla="val 3077"/>
            </a:avLst>
          </a:prstGeom>
          <a:solidFill>
            <a:schemeClr val="bg2"/>
          </a:solidFill>
          <a:ln/>
        </p:spPr>
      </p:sp>
      <p:sp>
        <p:nvSpPr>
          <p:cNvPr id="9" name="Pill"/>
          <p:cNvSpPr txBox="1"/>
          <p:nvPr/>
        </p:nvSpPr>
        <p:spPr>
          <a:xfrm>
            <a:off x="6400800" y="1920240"/>
            <a:ext cx="2468880"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spc="200" kern="0" dirty="0">
                <a:solidFill>
                  <a:schemeClr val="bg1"/>
                </a:solidFill>
              </a:rPr>
              <a:t>ENTERPRISE TECHNOLOGY'S</a:t>
            </a:r>
            <a:endParaRPr lang="en-US" sz="1000" dirty="0"/>
          </a:p>
        </p:txBody>
      </p:sp>
      <p:sp>
        <p:nvSpPr>
          <p:cNvPr id="10" name="Enterprise Technology's list"/>
          <p:cNvSpPr txBox="1"/>
          <p:nvPr/>
        </p:nvSpPr>
        <p:spPr>
          <a:xfrm>
            <a:off x="6446520" y="2423160"/>
            <a:ext cx="4937760" cy="28346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Tenant settings and the workspace role policy</a:t>
            </a:r>
            <a:endParaRPr lang="en-US" sz="1400" dirty="0"/>
          </a:p>
          <a:p>
            <a:pPr marL="342900" indent="-342900">
              <a:spcAft>
                <a:spcPts val="900"/>
              </a:spcAft>
              <a:buSzPct val="100000"/>
              <a:buChar char="•"/>
            </a:pPr>
            <a:r>
              <a:rPr lang="en-US" sz="1400" dirty="0">
                <a:solidFill>
                  <a:schemeClr val="tx1"/>
                </a:solidFill>
              </a:rPr>
              <a:t>Sensitivity labels and the data catalogue</a:t>
            </a:r>
            <a:endParaRPr lang="en-US" sz="1400" dirty="0"/>
          </a:p>
          <a:p>
            <a:pPr marL="342900" indent="-342900">
              <a:spcAft>
                <a:spcPts val="900"/>
              </a:spcAft>
              <a:buSzPct val="100000"/>
              <a:buChar char="•"/>
            </a:pPr>
            <a:r>
              <a:rPr lang="en-US" sz="1400" dirty="0">
                <a:solidFill>
                  <a:schemeClr val="tx1"/>
                </a:solidFill>
              </a:rPr>
              <a:t>Security on OneLake data</a:t>
            </a:r>
            <a:endParaRPr lang="en-US" sz="1400" dirty="0"/>
          </a:p>
          <a:p>
            <a:pPr marL="342900" indent="-342900">
              <a:spcAft>
                <a:spcPts val="900"/>
              </a:spcAft>
              <a:buSzPct val="100000"/>
              <a:buChar char="•"/>
            </a:pPr>
            <a:r>
              <a:rPr lang="en-US" sz="1400" dirty="0">
                <a:solidFill>
                  <a:schemeClr val="tx1"/>
                </a:solidFill>
              </a:rPr>
              <a:t>The approved vault and approved identities</a:t>
            </a:r>
            <a:endParaRPr lang="en-US" sz="1400" dirty="0"/>
          </a:p>
          <a:p>
            <a:pPr marL="342900" indent="-342900">
              <a:spcAft>
                <a:spcPts val="900"/>
              </a:spcAft>
              <a:buSzPct val="100000"/>
              <a:buChar char="•"/>
            </a:pPr>
            <a:r>
              <a:rPr lang="en-US" sz="1400" dirty="0">
                <a:solidFill>
                  <a:schemeClr val="tx1"/>
                </a:solidFill>
              </a:rPr>
              <a:t>Which AI tools are approved for tax data</a:t>
            </a:r>
            <a:endParaRPr lang="en-US" sz="1400" dirty="0"/>
          </a:p>
        </p:txBody>
      </p:sp>
      <p:sp>
        <p:nvSpPr>
          <p:cNvPr id="11" name="Takeaway"/>
          <p:cNvSpPr txBox="1"/>
          <p:nvPr/>
        </p:nvSpPr>
        <p:spPr>
          <a:xfrm>
            <a:off x="548640" y="5532120"/>
            <a:ext cx="11094415" cy="530352"/>
          </a:xfrm>
          <a:prstGeom prst="roundRect">
            <a:avLst>
              <a:gd name="adj" fmla="val 17241"/>
            </a:avLst>
          </a:prstGeom>
          <a:solidFill>
            <a:schemeClr val="tx1"/>
          </a:solidFill>
          <a:ln/>
        </p:spPr>
        <p:txBody>
          <a:bodyPr wrap="square" lIns="279400" tIns="0" rIns="279400" bIns="0" rtlCol="0" anchor="ctr"/>
          <a:lstStyle/>
          <a:p>
            <a:pPr indent="0" marL="0">
              <a:buNone/>
            </a:pPr>
            <a:r>
              <a:rPr lang="en-US" sz="1600" i="1" dirty="0">
                <a:solidFill>
                  <a:schemeClr val="bg1"/>
                </a:solidFill>
              </a:rPr>
              <a:t>If you are unsure which side something is on, ask before you commit.</a:t>
            </a:r>
            <a:endParaRPr lang="en-US" sz="1600" dirty="0"/>
          </a:p>
        </p:txBody>
      </p:sp>
      <p:sp>
        <p:nvSpPr>
          <p:cNvPr id="12"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Platform security and governance sit with Disney Enterprise Technology, per the agreed agenda.</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lIns="0" tIns="0" rIns="0" bIns="0" rtlCol="0" anchor="t"/>
          <a:lstStyle/>
          <a:p>
            <a:pPr algn="l" indent="0" marL="0">
              <a:buNone/>
            </a:pPr>
            <a:r>
              <a:rPr lang="en-US" sz="1400" b="1" spc="400" kern="0" dirty="0">
                <a:solidFill>
                  <a:schemeClr val="bg2"/>
                </a:solidFill>
              </a:rPr>
              <a:t>PART 5 · MODULE 4</a:t>
            </a: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AI in DevOps</a:t>
            </a: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lIns="0" tIns="0" rIns="0" bIns="0" rtlCol="0" anchor="t"/>
          <a:lstStyle/>
          <a:p>
            <a:pPr algn="l" indent="0" marL="0">
              <a:buNone/>
            </a:pPr>
            <a:r>
              <a:rPr lang="en-US" sz="1800" dirty="0">
                <a:solidFill>
                  <a:schemeClr val="bg2"/>
                </a:solidFill>
              </a:rPr>
              <a:t>Where assistants help across the loop, and where people decide.</a:t>
            </a:r>
            <a:endParaRPr lang="en-US" sz="1800" dirty="0"/>
          </a:p>
        </p:txBody>
      </p:sp>
      <p:sp>
        <p:nvSpPr>
          <p:cNvPr id="6" name="Part number watermark"/>
          <p:cNvSpPr txBox="1"/>
          <p:nvPr/>
        </p:nvSpPr>
        <p:spPr>
          <a:xfrm>
            <a:off x="7498080" y="822960"/>
            <a:ext cx="4206240" cy="2926080"/>
          </a:xfrm>
          <a:prstGeom prst="rect">
            <a:avLst/>
          </a:prstGeom>
          <a:noFill/>
          <a:ln/>
        </p:spPr>
        <p:txBody>
          <a:bodyPr wrap="square" lIns="0" tIns="0" rIns="0" bIns="0" rtlCol="0" anchor="ctr"/>
          <a:lstStyle/>
          <a:p>
            <a:pPr algn="r" indent="0" marL="0">
              <a:buNone/>
            </a:pPr>
            <a:r>
              <a:rPr lang="en-US" sz="20000" b="1" dirty="0">
                <a:solidFill>
                  <a:schemeClr val="bg1">
                    <a:alpha val="18000"/>
                  </a:schemeClr>
                </a:solidFill>
                <a:latin typeface="+mj-lt" pitchFamily="34" charset="0"/>
                <a:ea typeface="+mj-lt" pitchFamily="34" charset="-122"/>
                <a:cs typeface="+mj-lt" pitchFamily="34" charset="-120"/>
              </a:rPr>
              <a:t>AI</a:t>
            </a:r>
            <a:endParaRPr lang="en-US" sz="20000" dirty="0"/>
          </a:p>
        </p:txBody>
      </p:sp>
      <p:sp>
        <p:nvSpPr>
          <p:cNvPr id="7" name="Module list"/>
          <p:cNvSpPr txBox="1"/>
          <p:nvPr/>
        </p:nvSpPr>
        <p:spPr>
          <a:xfrm>
            <a:off x="7680960" y="3931920"/>
            <a:ext cx="4023360" cy="1645920"/>
          </a:xfrm>
          <a:prstGeom prst="rect">
            <a:avLst/>
          </a:prstGeom>
          <a:noFill/>
          <a:ln/>
        </p:spPr>
        <p:txBody>
          <a:bodyPr wrap="square" lIns="0" tIns="0" rIns="0" bIns="0" rtlCol="0" anchor="t"/>
          <a:lstStyle/>
          <a:p>
            <a:pPr indent="0" marL="0">
              <a:spcAft>
                <a:spcPts val="500"/>
              </a:spcAft>
              <a:buNone/>
            </a:pPr>
            <a:r>
              <a:rPr lang="en-US" sz="1700" dirty="0">
                <a:solidFill>
                  <a:schemeClr val="bg1"/>
                </a:solidFill>
              </a:rPr>
              <a:t>1   The loop, with AI in it</a:t>
            </a:r>
            <a:endParaRPr lang="en-US" sz="1700" dirty="0"/>
          </a:p>
          <a:p>
            <a:pPr indent="0" marL="0">
              <a:spcAft>
                <a:spcPts val="500"/>
              </a:spcAft>
              <a:buNone/>
            </a:pPr>
            <a:r>
              <a:rPr lang="en-US" sz="1700" dirty="0">
                <a:solidFill>
                  <a:schemeClr val="bg1"/>
                </a:solidFill>
              </a:rPr>
              <a:t>2   Context and prompting</a:t>
            </a:r>
            <a:endParaRPr lang="en-US" sz="1700" dirty="0"/>
          </a:p>
          <a:p>
            <a:pPr indent="0" marL="0">
              <a:spcAft>
                <a:spcPts val="500"/>
              </a:spcAft>
              <a:buNone/>
            </a:pPr>
            <a:r>
              <a:rPr lang="en-US" sz="1700" dirty="0">
                <a:solidFill>
                  <a:schemeClr val="bg1"/>
                </a:solidFill>
              </a:rPr>
              <a:t>3   Reviewing what comes back</a:t>
            </a:r>
            <a:endParaRPr lang="en-US" sz="1700" dirty="0"/>
          </a:p>
          <a:p>
            <a:pPr indent="0" marL="0">
              <a:spcAft>
                <a:spcPts val="500"/>
              </a:spcAft>
              <a:buNone/>
            </a:pPr>
            <a:r>
              <a:rPr lang="en-US" sz="1700" dirty="0">
                <a:solidFill>
                  <a:schemeClr val="bg1"/>
                </a:solidFill>
              </a:rPr>
              <a:t>4   Guardrails around an assistant</a:t>
            </a:r>
            <a:endParaRPr lang="en-US" sz="1700" dirty="0"/>
          </a:p>
          <a:p>
            <a:pPr indent="0" marL="0">
              <a:spcAft>
                <a:spcPts val="500"/>
              </a:spcAft>
              <a:buNone/>
            </a:pPr>
            <a:r>
              <a:rPr lang="en-US" sz="1700" dirty="0">
                <a:solidFill>
                  <a:schemeClr val="bg1"/>
                </a:solidFill>
              </a:rPr>
              <a:t>5   Governing AI use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DevOps loop, with AI in it</a:t>
            </a:r>
            <a:endParaRPr lang="en-US" sz="3200" dirty="0"/>
          </a:p>
        </p:txBody>
      </p:sp>
      <p:sp>
        <p:nvSpPr>
          <p:cNvPr id="5" name="Plan header"/>
          <p:cNvSpPr/>
          <p:nvPr/>
        </p:nvSpPr>
        <p:spPr>
          <a:xfrm>
            <a:off x="548640" y="1783080"/>
            <a:ext cx="1737360" cy="640080"/>
          </a:xfrm>
          <a:prstGeom prst="roundRect">
            <a:avLst>
              <a:gd name="adj" fmla="val 17143"/>
            </a:avLst>
          </a:prstGeom>
          <a:solidFill>
            <a:schemeClr val="tx1"/>
          </a:solidFill>
          <a:ln/>
        </p:spPr>
      </p:sp>
      <p:sp>
        <p:nvSpPr>
          <p:cNvPr id="6" name="Stage name"/>
          <p:cNvSpPr txBox="1"/>
          <p:nvPr/>
        </p:nvSpPr>
        <p:spPr>
          <a:xfrm>
            <a:off x="685800" y="1783080"/>
            <a:ext cx="1463040" cy="64008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Plan</a:t>
            </a:r>
            <a:endParaRPr lang="en-US" sz="1600" dirty="0"/>
          </a:p>
        </p:txBody>
      </p:sp>
      <p:sp>
        <p:nvSpPr>
          <p:cNvPr id="7" name="Plan AI"/>
          <p:cNvSpPr/>
          <p:nvPr/>
        </p:nvSpPr>
        <p:spPr>
          <a:xfrm>
            <a:off x="548640" y="2514600"/>
            <a:ext cx="1737360" cy="1554480"/>
          </a:xfrm>
          <a:prstGeom prst="roundRect">
            <a:avLst>
              <a:gd name="adj" fmla="val 7059"/>
            </a:avLst>
          </a:prstGeom>
          <a:solidFill>
            <a:schemeClr val="accent2">
              <a:alpha val="22000"/>
            </a:schemeClr>
          </a:solidFill>
          <a:ln/>
        </p:spPr>
      </p:sp>
      <p:sp>
        <p:nvSpPr>
          <p:cNvPr id="8" name="AI label"/>
          <p:cNvSpPr txBox="1"/>
          <p:nvPr/>
        </p:nvSpPr>
        <p:spPr>
          <a:xfrm>
            <a:off x="685800" y="2587752"/>
            <a:ext cx="146304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AI CAN</a:t>
            </a:r>
            <a:endParaRPr lang="en-US" sz="900" dirty="0"/>
          </a:p>
        </p:txBody>
      </p:sp>
      <p:sp>
        <p:nvSpPr>
          <p:cNvPr id="9" name="AI text"/>
          <p:cNvSpPr txBox="1"/>
          <p:nvPr/>
        </p:nvSpPr>
        <p:spPr>
          <a:xfrm>
            <a:off x="685800" y="2834640"/>
            <a:ext cx="1463040" cy="1188720"/>
          </a:xfrm>
          <a:prstGeom prst="rect">
            <a:avLst/>
          </a:prstGeom>
          <a:noFill/>
          <a:ln/>
        </p:spPr>
        <p:txBody>
          <a:bodyPr wrap="square" lIns="0" tIns="0" rIns="0" bIns="0" rtlCol="0" anchor="t"/>
          <a:lstStyle/>
          <a:p>
            <a:pPr indent="0" marL="0">
              <a:buNone/>
            </a:pPr>
            <a:r>
              <a:rPr lang="en-US" sz="1150" dirty="0">
                <a:solidFill>
                  <a:schemeClr val="tx1"/>
                </a:solidFill>
              </a:rPr>
              <a:t>Draft work items and acceptance criteria from a request</a:t>
            </a:r>
            <a:endParaRPr lang="en-US" sz="1150" dirty="0"/>
          </a:p>
        </p:txBody>
      </p:sp>
      <p:sp>
        <p:nvSpPr>
          <p:cNvPr id="10" name="Plan person"/>
          <p:cNvSpPr/>
          <p:nvPr/>
        </p:nvSpPr>
        <p:spPr>
          <a:xfrm>
            <a:off x="548640" y="4160520"/>
            <a:ext cx="1737360" cy="1325880"/>
          </a:xfrm>
          <a:prstGeom prst="roundRect">
            <a:avLst>
              <a:gd name="adj" fmla="val 8276"/>
            </a:avLst>
          </a:prstGeom>
          <a:solidFill>
            <a:schemeClr val="accent3">
              <a:alpha val="22000"/>
            </a:schemeClr>
          </a:solidFill>
          <a:ln/>
        </p:spPr>
      </p:sp>
      <p:sp>
        <p:nvSpPr>
          <p:cNvPr id="11" name="Person label"/>
          <p:cNvSpPr txBox="1"/>
          <p:nvPr/>
        </p:nvSpPr>
        <p:spPr>
          <a:xfrm>
            <a:off x="685800" y="4233672"/>
            <a:ext cx="146304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 DECIDE</a:t>
            </a:r>
            <a:endParaRPr lang="en-US" sz="900" dirty="0"/>
          </a:p>
        </p:txBody>
      </p:sp>
      <p:sp>
        <p:nvSpPr>
          <p:cNvPr id="12" name="Person text"/>
          <p:cNvSpPr txBox="1"/>
          <p:nvPr/>
        </p:nvSpPr>
        <p:spPr>
          <a:xfrm>
            <a:off x="685800" y="4480560"/>
            <a:ext cx="1463040" cy="960120"/>
          </a:xfrm>
          <a:prstGeom prst="rect">
            <a:avLst/>
          </a:prstGeom>
          <a:noFill/>
          <a:ln/>
        </p:spPr>
        <p:txBody>
          <a:bodyPr wrap="square" lIns="0" tIns="0" rIns="0" bIns="0" rtlCol="0" anchor="t"/>
          <a:lstStyle/>
          <a:p>
            <a:pPr indent="0" marL="0">
              <a:buNone/>
            </a:pPr>
            <a:r>
              <a:rPr lang="en-US" sz="1150" b="1" dirty="0">
                <a:solidFill>
                  <a:schemeClr val="tx1"/>
                </a:solidFill>
              </a:rPr>
              <a:t>What is in scope</a:t>
            </a:r>
            <a:endParaRPr lang="en-US" sz="1150" dirty="0"/>
          </a:p>
        </p:txBody>
      </p:sp>
      <p:sp>
        <p:nvSpPr>
          <p:cNvPr id="13" name="Code header"/>
          <p:cNvSpPr/>
          <p:nvPr/>
        </p:nvSpPr>
        <p:spPr>
          <a:xfrm>
            <a:off x="2420051" y="1783080"/>
            <a:ext cx="1737360" cy="640080"/>
          </a:xfrm>
          <a:prstGeom prst="roundRect">
            <a:avLst>
              <a:gd name="adj" fmla="val 17143"/>
            </a:avLst>
          </a:prstGeom>
          <a:solidFill>
            <a:schemeClr val="tx1"/>
          </a:solidFill>
          <a:ln/>
        </p:spPr>
      </p:sp>
      <p:sp>
        <p:nvSpPr>
          <p:cNvPr id="14" name="Stage name"/>
          <p:cNvSpPr txBox="1"/>
          <p:nvPr/>
        </p:nvSpPr>
        <p:spPr>
          <a:xfrm>
            <a:off x="2557211" y="1783080"/>
            <a:ext cx="1463040" cy="64008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Code</a:t>
            </a:r>
            <a:endParaRPr lang="en-US" sz="1600" dirty="0"/>
          </a:p>
        </p:txBody>
      </p:sp>
      <p:sp>
        <p:nvSpPr>
          <p:cNvPr id="15" name="Code AI"/>
          <p:cNvSpPr/>
          <p:nvPr/>
        </p:nvSpPr>
        <p:spPr>
          <a:xfrm>
            <a:off x="2420051" y="2514600"/>
            <a:ext cx="1737360" cy="1554480"/>
          </a:xfrm>
          <a:prstGeom prst="roundRect">
            <a:avLst>
              <a:gd name="adj" fmla="val 7059"/>
            </a:avLst>
          </a:prstGeom>
          <a:solidFill>
            <a:schemeClr val="accent2">
              <a:alpha val="22000"/>
            </a:schemeClr>
          </a:solidFill>
          <a:ln/>
        </p:spPr>
      </p:sp>
      <p:sp>
        <p:nvSpPr>
          <p:cNvPr id="16" name="AI label"/>
          <p:cNvSpPr txBox="1"/>
          <p:nvPr/>
        </p:nvSpPr>
        <p:spPr>
          <a:xfrm>
            <a:off x="2557211" y="2587752"/>
            <a:ext cx="146304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AI CAN</a:t>
            </a:r>
            <a:endParaRPr lang="en-US" sz="900" dirty="0"/>
          </a:p>
        </p:txBody>
      </p:sp>
      <p:sp>
        <p:nvSpPr>
          <p:cNvPr id="17" name="AI text"/>
          <p:cNvSpPr txBox="1"/>
          <p:nvPr/>
        </p:nvSpPr>
        <p:spPr>
          <a:xfrm>
            <a:off x="2557211" y="2834640"/>
            <a:ext cx="1463040" cy="1188720"/>
          </a:xfrm>
          <a:prstGeom prst="rect">
            <a:avLst/>
          </a:prstGeom>
          <a:noFill/>
          <a:ln/>
        </p:spPr>
        <p:txBody>
          <a:bodyPr wrap="square" lIns="0" tIns="0" rIns="0" bIns="0" rtlCol="0" anchor="t"/>
          <a:lstStyle/>
          <a:p>
            <a:pPr indent="0" marL="0">
              <a:buNone/>
            </a:pPr>
            <a:r>
              <a:rPr lang="en-US" sz="1150" dirty="0">
                <a:solidFill>
                  <a:schemeClr val="tx1"/>
                </a:solidFill>
              </a:rPr>
              <a:t>Draft notebook cells, SQL and YAML. Translate Alteryx logic</a:t>
            </a:r>
            <a:endParaRPr lang="en-US" sz="1150" dirty="0"/>
          </a:p>
        </p:txBody>
      </p:sp>
      <p:sp>
        <p:nvSpPr>
          <p:cNvPr id="18" name="Code person"/>
          <p:cNvSpPr/>
          <p:nvPr/>
        </p:nvSpPr>
        <p:spPr>
          <a:xfrm>
            <a:off x="2420051" y="4160520"/>
            <a:ext cx="1737360" cy="1325880"/>
          </a:xfrm>
          <a:prstGeom prst="roundRect">
            <a:avLst>
              <a:gd name="adj" fmla="val 8276"/>
            </a:avLst>
          </a:prstGeom>
          <a:solidFill>
            <a:schemeClr val="accent3">
              <a:alpha val="22000"/>
            </a:schemeClr>
          </a:solidFill>
          <a:ln/>
        </p:spPr>
      </p:sp>
      <p:sp>
        <p:nvSpPr>
          <p:cNvPr id="19" name="Person label"/>
          <p:cNvSpPr txBox="1"/>
          <p:nvPr/>
        </p:nvSpPr>
        <p:spPr>
          <a:xfrm>
            <a:off x="2557211" y="4233672"/>
            <a:ext cx="146304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 DECIDE</a:t>
            </a:r>
            <a:endParaRPr lang="en-US" sz="900" dirty="0"/>
          </a:p>
        </p:txBody>
      </p:sp>
      <p:sp>
        <p:nvSpPr>
          <p:cNvPr id="20" name="Person text"/>
          <p:cNvSpPr txBox="1"/>
          <p:nvPr/>
        </p:nvSpPr>
        <p:spPr>
          <a:xfrm>
            <a:off x="2557211" y="4480560"/>
            <a:ext cx="1463040" cy="960120"/>
          </a:xfrm>
          <a:prstGeom prst="rect">
            <a:avLst/>
          </a:prstGeom>
          <a:noFill/>
          <a:ln/>
        </p:spPr>
        <p:txBody>
          <a:bodyPr wrap="square" lIns="0" tIns="0" rIns="0" bIns="0" rtlCol="0" anchor="t"/>
          <a:lstStyle/>
          <a:p>
            <a:pPr indent="0" marL="0">
              <a:buNone/>
            </a:pPr>
            <a:r>
              <a:rPr lang="en-US" sz="1150" b="1" dirty="0">
                <a:solidFill>
                  <a:schemeClr val="tx1"/>
                </a:solidFill>
              </a:rPr>
              <a:t>Whether it is right for the business</a:t>
            </a:r>
            <a:endParaRPr lang="en-US" sz="1150" dirty="0"/>
          </a:p>
        </p:txBody>
      </p:sp>
      <p:sp>
        <p:nvSpPr>
          <p:cNvPr id="21" name="Review header"/>
          <p:cNvSpPr/>
          <p:nvPr/>
        </p:nvSpPr>
        <p:spPr>
          <a:xfrm>
            <a:off x="4291462" y="1783080"/>
            <a:ext cx="1737360" cy="640080"/>
          </a:xfrm>
          <a:prstGeom prst="roundRect">
            <a:avLst>
              <a:gd name="adj" fmla="val 17143"/>
            </a:avLst>
          </a:prstGeom>
          <a:solidFill>
            <a:schemeClr val="tx1"/>
          </a:solidFill>
          <a:ln/>
        </p:spPr>
      </p:sp>
      <p:sp>
        <p:nvSpPr>
          <p:cNvPr id="22" name="Stage name"/>
          <p:cNvSpPr txBox="1"/>
          <p:nvPr/>
        </p:nvSpPr>
        <p:spPr>
          <a:xfrm>
            <a:off x="4428622" y="1783080"/>
            <a:ext cx="1463040" cy="64008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Review</a:t>
            </a:r>
            <a:endParaRPr lang="en-US" sz="1600" dirty="0"/>
          </a:p>
        </p:txBody>
      </p:sp>
      <p:sp>
        <p:nvSpPr>
          <p:cNvPr id="23" name="Review AI"/>
          <p:cNvSpPr/>
          <p:nvPr/>
        </p:nvSpPr>
        <p:spPr>
          <a:xfrm>
            <a:off x="4291462" y="2514600"/>
            <a:ext cx="1737360" cy="1554480"/>
          </a:xfrm>
          <a:prstGeom prst="roundRect">
            <a:avLst>
              <a:gd name="adj" fmla="val 7059"/>
            </a:avLst>
          </a:prstGeom>
          <a:solidFill>
            <a:schemeClr val="accent2">
              <a:alpha val="22000"/>
            </a:schemeClr>
          </a:solidFill>
          <a:ln/>
        </p:spPr>
      </p:sp>
      <p:sp>
        <p:nvSpPr>
          <p:cNvPr id="24" name="AI label"/>
          <p:cNvSpPr txBox="1"/>
          <p:nvPr/>
        </p:nvSpPr>
        <p:spPr>
          <a:xfrm>
            <a:off x="4428622" y="2587752"/>
            <a:ext cx="146304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AI CAN</a:t>
            </a:r>
            <a:endParaRPr lang="en-US" sz="900" dirty="0"/>
          </a:p>
        </p:txBody>
      </p:sp>
      <p:sp>
        <p:nvSpPr>
          <p:cNvPr id="25" name="AI text"/>
          <p:cNvSpPr txBox="1"/>
          <p:nvPr/>
        </p:nvSpPr>
        <p:spPr>
          <a:xfrm>
            <a:off x="4428622" y="2834640"/>
            <a:ext cx="1463040" cy="1188720"/>
          </a:xfrm>
          <a:prstGeom prst="rect">
            <a:avLst/>
          </a:prstGeom>
          <a:noFill/>
          <a:ln/>
        </p:spPr>
        <p:txBody>
          <a:bodyPr wrap="square" lIns="0" tIns="0" rIns="0" bIns="0" rtlCol="0" anchor="t"/>
          <a:lstStyle/>
          <a:p>
            <a:pPr indent="0" marL="0">
              <a:buNone/>
            </a:pPr>
            <a:r>
              <a:rPr lang="en-US" sz="1150" dirty="0">
                <a:solidFill>
                  <a:schemeClr val="tx1"/>
                </a:solidFill>
              </a:rPr>
              <a:t>Summarise a diff. Flag hard-coded IDs and missing gates</a:t>
            </a:r>
            <a:endParaRPr lang="en-US" sz="1150" dirty="0"/>
          </a:p>
        </p:txBody>
      </p:sp>
      <p:sp>
        <p:nvSpPr>
          <p:cNvPr id="26" name="Review person"/>
          <p:cNvSpPr/>
          <p:nvPr/>
        </p:nvSpPr>
        <p:spPr>
          <a:xfrm>
            <a:off x="4291462" y="4160520"/>
            <a:ext cx="1737360" cy="1325880"/>
          </a:xfrm>
          <a:prstGeom prst="roundRect">
            <a:avLst>
              <a:gd name="adj" fmla="val 8276"/>
            </a:avLst>
          </a:prstGeom>
          <a:solidFill>
            <a:schemeClr val="accent3">
              <a:alpha val="22000"/>
            </a:schemeClr>
          </a:solidFill>
          <a:ln/>
        </p:spPr>
      </p:sp>
      <p:sp>
        <p:nvSpPr>
          <p:cNvPr id="27" name="Person label"/>
          <p:cNvSpPr txBox="1"/>
          <p:nvPr/>
        </p:nvSpPr>
        <p:spPr>
          <a:xfrm>
            <a:off x="4428622" y="4233672"/>
            <a:ext cx="146304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 DECIDE</a:t>
            </a:r>
            <a:endParaRPr lang="en-US" sz="900" dirty="0"/>
          </a:p>
        </p:txBody>
      </p:sp>
      <p:sp>
        <p:nvSpPr>
          <p:cNvPr id="28" name="Person text"/>
          <p:cNvSpPr txBox="1"/>
          <p:nvPr/>
        </p:nvSpPr>
        <p:spPr>
          <a:xfrm>
            <a:off x="4428622" y="4480560"/>
            <a:ext cx="1463040" cy="960120"/>
          </a:xfrm>
          <a:prstGeom prst="rect">
            <a:avLst/>
          </a:prstGeom>
          <a:noFill/>
          <a:ln/>
        </p:spPr>
        <p:txBody>
          <a:bodyPr wrap="square" lIns="0" tIns="0" rIns="0" bIns="0" rtlCol="0" anchor="t"/>
          <a:lstStyle/>
          <a:p>
            <a:pPr indent="0" marL="0">
              <a:buNone/>
            </a:pPr>
            <a:r>
              <a:rPr lang="en-US" sz="1150" b="1" dirty="0">
                <a:solidFill>
                  <a:schemeClr val="tx1"/>
                </a:solidFill>
              </a:rPr>
              <a:t>Approve or request changes</a:t>
            </a:r>
            <a:endParaRPr lang="en-US" sz="1150" dirty="0"/>
          </a:p>
        </p:txBody>
      </p:sp>
      <p:sp>
        <p:nvSpPr>
          <p:cNvPr id="29" name="Test header"/>
          <p:cNvSpPr/>
          <p:nvPr/>
        </p:nvSpPr>
        <p:spPr>
          <a:xfrm>
            <a:off x="6162873" y="1783080"/>
            <a:ext cx="1737360" cy="640080"/>
          </a:xfrm>
          <a:prstGeom prst="roundRect">
            <a:avLst>
              <a:gd name="adj" fmla="val 17143"/>
            </a:avLst>
          </a:prstGeom>
          <a:solidFill>
            <a:schemeClr val="tx1"/>
          </a:solidFill>
          <a:ln/>
        </p:spPr>
      </p:sp>
      <p:sp>
        <p:nvSpPr>
          <p:cNvPr id="30" name="Stage name"/>
          <p:cNvSpPr txBox="1"/>
          <p:nvPr/>
        </p:nvSpPr>
        <p:spPr>
          <a:xfrm>
            <a:off x="6300033" y="1783080"/>
            <a:ext cx="1463040" cy="64008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Test</a:t>
            </a:r>
            <a:endParaRPr lang="en-US" sz="1600" dirty="0"/>
          </a:p>
        </p:txBody>
      </p:sp>
      <p:sp>
        <p:nvSpPr>
          <p:cNvPr id="31" name="Test AI"/>
          <p:cNvSpPr/>
          <p:nvPr/>
        </p:nvSpPr>
        <p:spPr>
          <a:xfrm>
            <a:off x="6162873" y="2514600"/>
            <a:ext cx="1737360" cy="1554480"/>
          </a:xfrm>
          <a:prstGeom prst="roundRect">
            <a:avLst>
              <a:gd name="adj" fmla="val 7059"/>
            </a:avLst>
          </a:prstGeom>
          <a:solidFill>
            <a:schemeClr val="accent2">
              <a:alpha val="22000"/>
            </a:schemeClr>
          </a:solidFill>
          <a:ln/>
        </p:spPr>
      </p:sp>
      <p:sp>
        <p:nvSpPr>
          <p:cNvPr id="32" name="AI label"/>
          <p:cNvSpPr txBox="1"/>
          <p:nvPr/>
        </p:nvSpPr>
        <p:spPr>
          <a:xfrm>
            <a:off x="6300033" y="2587752"/>
            <a:ext cx="146304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AI CAN</a:t>
            </a:r>
            <a:endParaRPr lang="en-US" sz="900" dirty="0"/>
          </a:p>
        </p:txBody>
      </p:sp>
      <p:sp>
        <p:nvSpPr>
          <p:cNvPr id="33" name="AI text"/>
          <p:cNvSpPr txBox="1"/>
          <p:nvPr/>
        </p:nvSpPr>
        <p:spPr>
          <a:xfrm>
            <a:off x="6300033" y="2834640"/>
            <a:ext cx="1463040" cy="1188720"/>
          </a:xfrm>
          <a:prstGeom prst="rect">
            <a:avLst/>
          </a:prstGeom>
          <a:noFill/>
          <a:ln/>
        </p:spPr>
        <p:txBody>
          <a:bodyPr wrap="square" lIns="0" tIns="0" rIns="0" bIns="0" rtlCol="0" anchor="t"/>
          <a:lstStyle/>
          <a:p>
            <a:pPr indent="0" marL="0">
              <a:buNone/>
            </a:pPr>
            <a:r>
              <a:rPr lang="en-US" sz="1150" dirty="0">
                <a:solidFill>
                  <a:schemeClr val="tx1"/>
                </a:solidFill>
              </a:rPr>
              <a:t>Propose cases and synthetic fixtures</a:t>
            </a:r>
            <a:endParaRPr lang="en-US" sz="1150" dirty="0"/>
          </a:p>
        </p:txBody>
      </p:sp>
      <p:sp>
        <p:nvSpPr>
          <p:cNvPr id="34" name="Test person"/>
          <p:cNvSpPr/>
          <p:nvPr/>
        </p:nvSpPr>
        <p:spPr>
          <a:xfrm>
            <a:off x="6162873" y="4160520"/>
            <a:ext cx="1737360" cy="1325880"/>
          </a:xfrm>
          <a:prstGeom prst="roundRect">
            <a:avLst>
              <a:gd name="adj" fmla="val 8276"/>
            </a:avLst>
          </a:prstGeom>
          <a:solidFill>
            <a:schemeClr val="accent3">
              <a:alpha val="22000"/>
            </a:schemeClr>
          </a:solidFill>
          <a:ln/>
        </p:spPr>
      </p:sp>
      <p:sp>
        <p:nvSpPr>
          <p:cNvPr id="35" name="Person label"/>
          <p:cNvSpPr txBox="1"/>
          <p:nvPr/>
        </p:nvSpPr>
        <p:spPr>
          <a:xfrm>
            <a:off x="6300033" y="4233672"/>
            <a:ext cx="146304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 DECIDE</a:t>
            </a:r>
            <a:endParaRPr lang="en-US" sz="900" dirty="0"/>
          </a:p>
        </p:txBody>
      </p:sp>
      <p:sp>
        <p:nvSpPr>
          <p:cNvPr id="36" name="Person text"/>
          <p:cNvSpPr txBox="1"/>
          <p:nvPr/>
        </p:nvSpPr>
        <p:spPr>
          <a:xfrm>
            <a:off x="6300033" y="4480560"/>
            <a:ext cx="1463040" cy="960120"/>
          </a:xfrm>
          <a:prstGeom prst="rect">
            <a:avLst/>
          </a:prstGeom>
          <a:noFill/>
          <a:ln/>
        </p:spPr>
        <p:txBody>
          <a:bodyPr wrap="square" lIns="0" tIns="0" rIns="0" bIns="0" rtlCol="0" anchor="t"/>
          <a:lstStyle/>
          <a:p>
            <a:pPr indent="0" marL="0">
              <a:buNone/>
            </a:pPr>
            <a:r>
              <a:rPr lang="en-US" sz="1150" b="1" dirty="0">
                <a:solidFill>
                  <a:schemeClr val="tx1"/>
                </a:solidFill>
              </a:rPr>
              <a:t>Which cases matter</a:t>
            </a:r>
            <a:endParaRPr lang="en-US" sz="1150" dirty="0"/>
          </a:p>
        </p:txBody>
      </p:sp>
      <p:sp>
        <p:nvSpPr>
          <p:cNvPr id="37" name="Release header"/>
          <p:cNvSpPr/>
          <p:nvPr/>
        </p:nvSpPr>
        <p:spPr>
          <a:xfrm>
            <a:off x="8034284" y="1783080"/>
            <a:ext cx="1737360" cy="640080"/>
          </a:xfrm>
          <a:prstGeom prst="roundRect">
            <a:avLst>
              <a:gd name="adj" fmla="val 17143"/>
            </a:avLst>
          </a:prstGeom>
          <a:solidFill>
            <a:schemeClr val="tx1"/>
          </a:solidFill>
          <a:ln/>
        </p:spPr>
      </p:sp>
      <p:sp>
        <p:nvSpPr>
          <p:cNvPr id="38" name="Stage name"/>
          <p:cNvSpPr txBox="1"/>
          <p:nvPr/>
        </p:nvSpPr>
        <p:spPr>
          <a:xfrm>
            <a:off x="8171444" y="1783080"/>
            <a:ext cx="1463040" cy="64008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Release</a:t>
            </a:r>
            <a:endParaRPr lang="en-US" sz="1600" dirty="0"/>
          </a:p>
        </p:txBody>
      </p:sp>
      <p:sp>
        <p:nvSpPr>
          <p:cNvPr id="39" name="Release AI"/>
          <p:cNvSpPr/>
          <p:nvPr/>
        </p:nvSpPr>
        <p:spPr>
          <a:xfrm>
            <a:off x="8034284" y="2514600"/>
            <a:ext cx="1737360" cy="1554480"/>
          </a:xfrm>
          <a:prstGeom prst="roundRect">
            <a:avLst>
              <a:gd name="adj" fmla="val 7059"/>
            </a:avLst>
          </a:prstGeom>
          <a:solidFill>
            <a:schemeClr val="accent2">
              <a:alpha val="22000"/>
            </a:schemeClr>
          </a:solidFill>
          <a:ln/>
        </p:spPr>
      </p:sp>
      <p:sp>
        <p:nvSpPr>
          <p:cNvPr id="40" name="AI label"/>
          <p:cNvSpPr txBox="1"/>
          <p:nvPr/>
        </p:nvSpPr>
        <p:spPr>
          <a:xfrm>
            <a:off x="8171444" y="2587752"/>
            <a:ext cx="146304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AI CAN</a:t>
            </a:r>
            <a:endParaRPr lang="en-US" sz="900" dirty="0"/>
          </a:p>
        </p:txBody>
      </p:sp>
      <p:sp>
        <p:nvSpPr>
          <p:cNvPr id="41" name="AI text"/>
          <p:cNvSpPr txBox="1"/>
          <p:nvPr/>
        </p:nvSpPr>
        <p:spPr>
          <a:xfrm>
            <a:off x="8171444" y="2834640"/>
            <a:ext cx="1463040" cy="1188720"/>
          </a:xfrm>
          <a:prstGeom prst="rect">
            <a:avLst/>
          </a:prstGeom>
          <a:noFill/>
          <a:ln/>
        </p:spPr>
        <p:txBody>
          <a:bodyPr wrap="square" lIns="0" tIns="0" rIns="0" bIns="0" rtlCol="0" anchor="t"/>
          <a:lstStyle/>
          <a:p>
            <a:pPr indent="0" marL="0">
              <a:buNone/>
            </a:pPr>
            <a:r>
              <a:rPr lang="en-US" sz="1150" dirty="0">
                <a:solidFill>
                  <a:schemeClr val="tx1"/>
                </a:solidFill>
              </a:rPr>
              <a:t>Draft the pull request text and release notes</a:t>
            </a:r>
            <a:endParaRPr lang="en-US" sz="1150" dirty="0"/>
          </a:p>
        </p:txBody>
      </p:sp>
      <p:sp>
        <p:nvSpPr>
          <p:cNvPr id="42" name="Release person"/>
          <p:cNvSpPr/>
          <p:nvPr/>
        </p:nvSpPr>
        <p:spPr>
          <a:xfrm>
            <a:off x="8034284" y="4160520"/>
            <a:ext cx="1737360" cy="1325880"/>
          </a:xfrm>
          <a:prstGeom prst="roundRect">
            <a:avLst>
              <a:gd name="adj" fmla="val 8276"/>
            </a:avLst>
          </a:prstGeom>
          <a:solidFill>
            <a:schemeClr val="accent3">
              <a:alpha val="22000"/>
            </a:schemeClr>
          </a:solidFill>
          <a:ln/>
        </p:spPr>
      </p:sp>
      <p:sp>
        <p:nvSpPr>
          <p:cNvPr id="43" name="Person label"/>
          <p:cNvSpPr txBox="1"/>
          <p:nvPr/>
        </p:nvSpPr>
        <p:spPr>
          <a:xfrm>
            <a:off x="8171444" y="4233672"/>
            <a:ext cx="146304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 DECIDE</a:t>
            </a:r>
            <a:endParaRPr lang="en-US" sz="900" dirty="0"/>
          </a:p>
        </p:txBody>
      </p:sp>
      <p:sp>
        <p:nvSpPr>
          <p:cNvPr id="44" name="Person text"/>
          <p:cNvSpPr txBox="1"/>
          <p:nvPr/>
        </p:nvSpPr>
        <p:spPr>
          <a:xfrm>
            <a:off x="8171444" y="4480560"/>
            <a:ext cx="1463040" cy="960120"/>
          </a:xfrm>
          <a:prstGeom prst="rect">
            <a:avLst/>
          </a:prstGeom>
          <a:noFill/>
          <a:ln/>
        </p:spPr>
        <p:txBody>
          <a:bodyPr wrap="square" lIns="0" tIns="0" rIns="0" bIns="0" rtlCol="0" anchor="t"/>
          <a:lstStyle/>
          <a:p>
            <a:pPr indent="0" marL="0">
              <a:buNone/>
            </a:pPr>
            <a:r>
              <a:rPr lang="en-US" sz="1150" b="1" dirty="0">
                <a:solidFill>
                  <a:schemeClr val="tx1"/>
                </a:solidFill>
              </a:rPr>
              <a:t>Cut the tag. Promote it</a:t>
            </a:r>
            <a:endParaRPr lang="en-US" sz="1150" dirty="0"/>
          </a:p>
        </p:txBody>
      </p:sp>
      <p:sp>
        <p:nvSpPr>
          <p:cNvPr id="45" name="Operate header"/>
          <p:cNvSpPr/>
          <p:nvPr/>
        </p:nvSpPr>
        <p:spPr>
          <a:xfrm>
            <a:off x="9905695" y="1783080"/>
            <a:ext cx="1737360" cy="640080"/>
          </a:xfrm>
          <a:prstGeom prst="roundRect">
            <a:avLst>
              <a:gd name="adj" fmla="val 17143"/>
            </a:avLst>
          </a:prstGeom>
          <a:solidFill>
            <a:schemeClr val="tx1"/>
          </a:solidFill>
          <a:ln/>
        </p:spPr>
      </p:sp>
      <p:sp>
        <p:nvSpPr>
          <p:cNvPr id="46" name="Stage name"/>
          <p:cNvSpPr txBox="1"/>
          <p:nvPr/>
        </p:nvSpPr>
        <p:spPr>
          <a:xfrm>
            <a:off x="10042855" y="1783080"/>
            <a:ext cx="1463040" cy="64008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Operate</a:t>
            </a:r>
            <a:endParaRPr lang="en-US" sz="1600" dirty="0"/>
          </a:p>
        </p:txBody>
      </p:sp>
      <p:sp>
        <p:nvSpPr>
          <p:cNvPr id="47" name="Operate AI"/>
          <p:cNvSpPr/>
          <p:nvPr/>
        </p:nvSpPr>
        <p:spPr>
          <a:xfrm>
            <a:off x="9905695" y="2514600"/>
            <a:ext cx="1737360" cy="1554480"/>
          </a:xfrm>
          <a:prstGeom prst="roundRect">
            <a:avLst>
              <a:gd name="adj" fmla="val 7059"/>
            </a:avLst>
          </a:prstGeom>
          <a:solidFill>
            <a:schemeClr val="accent2">
              <a:alpha val="22000"/>
            </a:schemeClr>
          </a:solidFill>
          <a:ln/>
        </p:spPr>
      </p:sp>
      <p:sp>
        <p:nvSpPr>
          <p:cNvPr id="48" name="AI label"/>
          <p:cNvSpPr txBox="1"/>
          <p:nvPr/>
        </p:nvSpPr>
        <p:spPr>
          <a:xfrm>
            <a:off x="10042855" y="2587752"/>
            <a:ext cx="146304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AI CAN</a:t>
            </a:r>
            <a:endParaRPr lang="en-US" sz="900" dirty="0"/>
          </a:p>
        </p:txBody>
      </p:sp>
      <p:sp>
        <p:nvSpPr>
          <p:cNvPr id="49" name="AI text"/>
          <p:cNvSpPr txBox="1"/>
          <p:nvPr/>
        </p:nvSpPr>
        <p:spPr>
          <a:xfrm>
            <a:off x="10042855" y="2834640"/>
            <a:ext cx="1463040" cy="1188720"/>
          </a:xfrm>
          <a:prstGeom prst="rect">
            <a:avLst/>
          </a:prstGeom>
          <a:noFill/>
          <a:ln/>
        </p:spPr>
        <p:txBody>
          <a:bodyPr wrap="square" lIns="0" tIns="0" rIns="0" bIns="0" rtlCol="0" anchor="t"/>
          <a:lstStyle/>
          <a:p>
            <a:pPr indent="0" marL="0">
              <a:buNone/>
            </a:pPr>
            <a:r>
              <a:rPr lang="en-US" sz="1150" dirty="0">
                <a:solidFill>
                  <a:schemeClr val="tx1"/>
                </a:solidFill>
              </a:rPr>
              <a:t>Summarise a failed run. Suggest causes</a:t>
            </a:r>
            <a:endParaRPr lang="en-US" sz="1150" dirty="0"/>
          </a:p>
        </p:txBody>
      </p:sp>
      <p:sp>
        <p:nvSpPr>
          <p:cNvPr id="50" name="Operate person"/>
          <p:cNvSpPr/>
          <p:nvPr/>
        </p:nvSpPr>
        <p:spPr>
          <a:xfrm>
            <a:off x="9905695" y="4160520"/>
            <a:ext cx="1737360" cy="1325880"/>
          </a:xfrm>
          <a:prstGeom prst="roundRect">
            <a:avLst>
              <a:gd name="adj" fmla="val 8276"/>
            </a:avLst>
          </a:prstGeom>
          <a:solidFill>
            <a:schemeClr val="accent3">
              <a:alpha val="22000"/>
            </a:schemeClr>
          </a:solidFill>
          <a:ln/>
        </p:spPr>
      </p:sp>
      <p:sp>
        <p:nvSpPr>
          <p:cNvPr id="51" name="Person label"/>
          <p:cNvSpPr txBox="1"/>
          <p:nvPr/>
        </p:nvSpPr>
        <p:spPr>
          <a:xfrm>
            <a:off x="10042855" y="4233672"/>
            <a:ext cx="146304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 DECIDE</a:t>
            </a:r>
            <a:endParaRPr lang="en-US" sz="900" dirty="0"/>
          </a:p>
        </p:txBody>
      </p:sp>
      <p:sp>
        <p:nvSpPr>
          <p:cNvPr id="52" name="Person text"/>
          <p:cNvSpPr txBox="1"/>
          <p:nvPr/>
        </p:nvSpPr>
        <p:spPr>
          <a:xfrm>
            <a:off x="10042855" y="4480560"/>
            <a:ext cx="1463040" cy="960120"/>
          </a:xfrm>
          <a:prstGeom prst="rect">
            <a:avLst/>
          </a:prstGeom>
          <a:noFill/>
          <a:ln/>
        </p:spPr>
        <p:txBody>
          <a:bodyPr wrap="square" lIns="0" tIns="0" rIns="0" bIns="0" rtlCol="0" anchor="t"/>
          <a:lstStyle/>
          <a:p>
            <a:pPr indent="0" marL="0">
              <a:buNone/>
            </a:pPr>
            <a:r>
              <a:rPr lang="en-US" sz="1150" b="1" dirty="0">
                <a:solidFill>
                  <a:schemeClr val="tx1"/>
                </a:solidFill>
              </a:rPr>
              <a:t>Decide. Fix. Close</a:t>
            </a:r>
            <a:endParaRPr lang="en-US" sz="1150" dirty="0"/>
          </a:p>
        </p:txBody>
      </p:sp>
      <p:sp>
        <p:nvSpPr>
          <p:cNvPr id="53" name="Takeaway"/>
          <p:cNvSpPr txBox="1"/>
          <p:nvPr/>
        </p:nvSpPr>
        <p:spPr>
          <a:xfrm>
            <a:off x="548640" y="5623560"/>
            <a:ext cx="11094415" cy="530352"/>
          </a:xfrm>
          <a:prstGeom prst="roundRect">
            <a:avLst>
              <a:gd name="adj" fmla="val 17241"/>
            </a:avLst>
          </a:prstGeom>
          <a:solidFill>
            <a:schemeClr val="tx1"/>
          </a:solidFill>
          <a:ln/>
        </p:spPr>
        <p:txBody>
          <a:bodyPr wrap="square" lIns="279400" tIns="0" rIns="279400" bIns="0" rtlCol="0" anchor="ctr"/>
          <a:lstStyle/>
          <a:p>
            <a:pPr indent="0" marL="0">
              <a:buNone/>
            </a:pPr>
            <a:r>
              <a:rPr lang="en-US" sz="1600" i="1" dirty="0">
                <a:solidFill>
                  <a:schemeClr val="bg1"/>
                </a:solidFill>
              </a:rPr>
              <a:t>Every amber box is a decision or an approval. Accountability does not move to a tool.</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AI changes how a draft is made, not the standard</a:t>
            </a:r>
            <a:endParaRPr lang="en-US" sz="3200" dirty="0"/>
          </a:p>
        </p:txBody>
      </p:sp>
      <p:sp>
        <p:nvSpPr>
          <p:cNvPr id="5" name="Good at card"/>
          <p:cNvSpPr/>
          <p:nvPr/>
        </p:nvSpPr>
        <p:spPr>
          <a:xfrm>
            <a:off x="548640" y="1783080"/>
            <a:ext cx="5468112" cy="3017520"/>
          </a:xfrm>
          <a:prstGeom prst="roundRect">
            <a:avLst>
              <a:gd name="adj" fmla="val 3636"/>
            </a:avLst>
          </a:prstGeom>
          <a:solidFill>
            <a:schemeClr val="accent2">
              <a:alpha val="18000"/>
            </a:schemeClr>
          </a:solidFill>
          <a:ln/>
        </p:spPr>
      </p:sp>
      <p:sp>
        <p:nvSpPr>
          <p:cNvPr id="6" name="Pill"/>
          <p:cNvSpPr txBox="1"/>
          <p:nvPr/>
        </p:nvSpPr>
        <p:spPr>
          <a:xfrm>
            <a:off x="777240" y="1920240"/>
            <a:ext cx="25603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bg1"/>
                </a:solidFill>
              </a:rPr>
              <a:t>ASSISTANTS ARE GOOD AT</a:t>
            </a:r>
            <a:endParaRPr lang="en-US" sz="1000" dirty="0"/>
          </a:p>
        </p:txBody>
      </p:sp>
      <p:sp>
        <p:nvSpPr>
          <p:cNvPr id="7" name="Good at list"/>
          <p:cNvSpPr txBox="1"/>
          <p:nvPr/>
        </p:nvSpPr>
        <p:spPr>
          <a:xfrm>
            <a:off x="822960" y="2423160"/>
            <a:ext cx="49377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Drafting boilerplate and first versions</a:t>
            </a:r>
            <a:endParaRPr lang="en-US" sz="1400" dirty="0"/>
          </a:p>
          <a:p>
            <a:pPr marL="342900" indent="-342900">
              <a:spcAft>
                <a:spcPts val="800"/>
              </a:spcAft>
              <a:buSzPct val="100000"/>
              <a:buChar char="•"/>
            </a:pPr>
            <a:r>
              <a:rPr lang="en-US" sz="1400" dirty="0">
                <a:solidFill>
                  <a:schemeClr val="tx1"/>
                </a:solidFill>
              </a:rPr>
              <a:t>Explaining code or an error in plain words</a:t>
            </a:r>
            <a:endParaRPr lang="en-US" sz="1400" dirty="0"/>
          </a:p>
          <a:p>
            <a:pPr marL="342900" indent="-342900">
              <a:spcAft>
                <a:spcPts val="800"/>
              </a:spcAft>
              <a:buSzPct val="100000"/>
              <a:buChar char="•"/>
            </a:pPr>
            <a:r>
              <a:rPr lang="en-US" sz="1400" dirty="0">
                <a:solidFill>
                  <a:schemeClr val="tx1"/>
                </a:solidFill>
              </a:rPr>
              <a:t>Translating one language or pattern into another</a:t>
            </a:r>
            <a:endParaRPr lang="en-US" sz="1400" dirty="0"/>
          </a:p>
          <a:p>
            <a:pPr marL="342900" indent="-342900">
              <a:spcAft>
                <a:spcPts val="800"/>
              </a:spcAft>
              <a:buSzPct val="100000"/>
              <a:buChar char="•"/>
            </a:pPr>
            <a:r>
              <a:rPr lang="en-US" sz="1400" dirty="0">
                <a:solidFill>
                  <a:schemeClr val="tx1"/>
                </a:solidFill>
              </a:rPr>
              <a:t>Summarising a diff, a log or a run</a:t>
            </a:r>
            <a:endParaRPr lang="en-US" sz="1400" dirty="0"/>
          </a:p>
          <a:p>
            <a:pPr marL="342900" indent="-342900">
              <a:spcAft>
                <a:spcPts val="800"/>
              </a:spcAft>
              <a:buSzPct val="100000"/>
              <a:buChar char="•"/>
            </a:pPr>
            <a:r>
              <a:rPr lang="en-US" sz="1400" dirty="0">
                <a:solidFill>
                  <a:schemeClr val="tx1"/>
                </a:solidFill>
              </a:rPr>
              <a:t>A first-pass review against a checklist</a:t>
            </a:r>
            <a:endParaRPr lang="en-US" sz="1400" dirty="0"/>
          </a:p>
        </p:txBody>
      </p:sp>
      <p:sp>
        <p:nvSpPr>
          <p:cNvPr id="8" name="People card"/>
          <p:cNvSpPr/>
          <p:nvPr/>
        </p:nvSpPr>
        <p:spPr>
          <a:xfrm>
            <a:off x="6172200" y="1783080"/>
            <a:ext cx="5468112" cy="3017520"/>
          </a:xfrm>
          <a:prstGeom prst="roundRect">
            <a:avLst>
              <a:gd name="adj" fmla="val 3636"/>
            </a:avLst>
          </a:prstGeom>
          <a:solidFill>
            <a:schemeClr val="accent3">
              <a:alpha val="22000"/>
            </a:schemeClr>
          </a:solidFill>
          <a:ln/>
        </p:spPr>
      </p:sp>
      <p:sp>
        <p:nvSpPr>
          <p:cNvPr id="9" name="Pill"/>
          <p:cNvSpPr txBox="1"/>
          <p:nvPr/>
        </p:nvSpPr>
        <p:spPr>
          <a:xfrm>
            <a:off x="6400800" y="1920240"/>
            <a:ext cx="21031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200" kern="0" dirty="0">
                <a:solidFill>
                  <a:schemeClr val="tx1"/>
                </a:solidFill>
              </a:rPr>
              <a:t>STAYS WITH PEOPLE</a:t>
            </a:r>
            <a:endParaRPr lang="en-US" sz="1000" dirty="0"/>
          </a:p>
        </p:txBody>
      </p:sp>
      <p:sp>
        <p:nvSpPr>
          <p:cNvPr id="10" name="People list"/>
          <p:cNvSpPr txBox="1"/>
          <p:nvPr/>
        </p:nvSpPr>
        <p:spPr>
          <a:xfrm>
            <a:off x="6446520" y="2423160"/>
            <a:ext cx="49377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Approving a pull request</a:t>
            </a:r>
            <a:endParaRPr lang="en-US" sz="1400" dirty="0"/>
          </a:p>
          <a:p>
            <a:pPr marL="342900" indent="-342900">
              <a:spcAft>
                <a:spcPts val="800"/>
              </a:spcAft>
              <a:buSzPct val="100000"/>
              <a:buChar char="•"/>
            </a:pPr>
            <a:r>
              <a:rPr lang="en-US" sz="1400" dirty="0">
                <a:solidFill>
                  <a:schemeClr val="tx1"/>
                </a:solidFill>
              </a:rPr>
              <a:t>Deciding scope and priorities</a:t>
            </a:r>
            <a:endParaRPr lang="en-US" sz="1400" dirty="0"/>
          </a:p>
          <a:p>
            <a:pPr marL="342900" indent="-342900">
              <a:spcAft>
                <a:spcPts val="800"/>
              </a:spcAft>
              <a:buSzPct val="100000"/>
              <a:buChar char="•"/>
            </a:pPr>
            <a:r>
              <a:rPr lang="en-US" sz="1400" dirty="0">
                <a:solidFill>
                  <a:schemeClr val="tx1"/>
                </a:solidFill>
              </a:rPr>
              <a:t>Holding credentials and secrets</a:t>
            </a:r>
            <a:endParaRPr lang="en-US" sz="1400" dirty="0"/>
          </a:p>
          <a:p>
            <a:pPr marL="342900" indent="-342900">
              <a:spcAft>
                <a:spcPts val="800"/>
              </a:spcAft>
              <a:buSzPct val="100000"/>
              <a:buChar char="•"/>
            </a:pPr>
            <a:r>
              <a:rPr lang="en-US" sz="1400" dirty="0">
                <a:solidFill>
                  <a:schemeClr val="tx1"/>
                </a:solidFill>
              </a:rPr>
              <a:t>Promoting to production, and signing off</a:t>
            </a:r>
            <a:endParaRPr lang="en-US" sz="1400" dirty="0"/>
          </a:p>
          <a:p>
            <a:pPr marL="342900" indent="-342900">
              <a:spcAft>
                <a:spcPts val="800"/>
              </a:spcAft>
              <a:buSzPct val="100000"/>
              <a:buChar char="•"/>
            </a:pPr>
            <a:r>
              <a:rPr lang="en-US" sz="1400" dirty="0">
                <a:solidFill>
                  <a:schemeClr val="tx1"/>
                </a:solidFill>
              </a:rPr>
              <a:t>Deciding what the numbers should be</a:t>
            </a:r>
            <a:endParaRPr lang="en-US" sz="1400" dirty="0"/>
          </a:p>
        </p:txBody>
      </p:sp>
      <p:sp>
        <p:nvSpPr>
          <p:cNvPr id="11" name="Ground rules"/>
          <p:cNvSpPr/>
          <p:nvPr/>
        </p:nvSpPr>
        <p:spPr>
          <a:xfrm>
            <a:off x="548640" y="4983480"/>
            <a:ext cx="11094415" cy="868680"/>
          </a:xfrm>
          <a:prstGeom prst="roundRect">
            <a:avLst>
              <a:gd name="adj" fmla="val 12632"/>
            </a:avLst>
          </a:prstGeom>
          <a:solidFill>
            <a:schemeClr val="tx1"/>
          </a:solidFill>
          <a:ln/>
        </p:spPr>
      </p:sp>
      <p:sp>
        <p:nvSpPr>
          <p:cNvPr id="12" name="Ground rules text"/>
          <p:cNvSpPr txBox="1"/>
          <p:nvPr/>
        </p:nvSpPr>
        <p:spPr>
          <a:xfrm>
            <a:off x="822960" y="4983480"/>
            <a:ext cx="10545775" cy="868680"/>
          </a:xfrm>
          <a:prstGeom prst="rect">
            <a:avLst/>
          </a:prstGeom>
          <a:noFill/>
          <a:ln/>
        </p:spPr>
        <p:txBody>
          <a:bodyPr wrap="square" lIns="0" tIns="0" rIns="0" bIns="0" rtlCol="0" anchor="ctr"/>
          <a:lstStyle/>
          <a:p>
            <a:pPr indent="0" marL="0">
              <a:buNone/>
            </a:pPr>
            <a:r>
              <a:rPr lang="en-US" sz="1600" b="1" dirty="0">
                <a:solidFill>
                  <a:schemeClr val="accent3"/>
                </a:solidFill>
              </a:rPr>
              <a:t>Two ground rules. </a:t>
            </a:r>
            <a:pPr indent="0" marL="0">
              <a:buNone/>
            </a:pPr>
            <a:r>
              <a:rPr lang="en-US" sz="1600" dirty="0">
                <a:solidFill>
                  <a:schemeClr val="bg1"/>
                </a:solidFill>
              </a:rPr>
              <a:t>Never put production data or a secret in a prompt. Never let an assistant approve its own work.</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Context is the lever: one canon in every repository</a:t>
            </a:r>
            <a:endParaRPr lang="en-US" sz="3200" dirty="0"/>
          </a:p>
        </p:txBody>
      </p:sp>
      <p:sp>
        <p:nvSpPr>
          <p:cNvPr id="5" name="What it is card"/>
          <p:cNvSpPr/>
          <p:nvPr/>
        </p:nvSpPr>
        <p:spPr>
          <a:xfrm>
            <a:off x="548640" y="1783080"/>
            <a:ext cx="4572000" cy="1216152"/>
          </a:xfrm>
          <a:prstGeom prst="roundRect">
            <a:avLst>
              <a:gd name="adj" fmla="val 9023"/>
            </a:avLst>
          </a:prstGeom>
          <a:solidFill>
            <a:schemeClr val="bg2"/>
          </a:solidFill>
          <a:ln/>
        </p:spPr>
      </p:sp>
      <p:sp>
        <p:nvSpPr>
          <p:cNvPr id="6" name="Canon title"/>
          <p:cNvSpPr txBox="1"/>
          <p:nvPr/>
        </p:nvSpPr>
        <p:spPr>
          <a:xfrm>
            <a:off x="777240" y="1892808"/>
            <a:ext cx="411480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What it is</a:t>
            </a:r>
            <a:endParaRPr lang="en-US" sz="1500" dirty="0"/>
          </a:p>
        </p:txBody>
      </p:sp>
      <p:sp>
        <p:nvSpPr>
          <p:cNvPr id="7" name="Canon text"/>
          <p:cNvSpPr txBox="1"/>
          <p:nvPr/>
        </p:nvSpPr>
        <p:spPr>
          <a:xfrm>
            <a:off x="777240" y="2286000"/>
            <a:ext cx="4114800" cy="685800"/>
          </a:xfrm>
          <a:prstGeom prst="rect">
            <a:avLst/>
          </a:prstGeom>
          <a:noFill/>
          <a:ln/>
        </p:spPr>
        <p:txBody>
          <a:bodyPr wrap="square" lIns="0" tIns="0" rIns="0" bIns="0" rtlCol="0" anchor="t"/>
          <a:lstStyle/>
          <a:p>
            <a:pPr indent="0" marL="0">
              <a:buNone/>
            </a:pPr>
            <a:r>
              <a:rPr lang="en-US" sz="1300" dirty="0">
                <a:solidFill>
                  <a:schemeClr val="tx1"/>
                </a:solidFill>
              </a:rPr>
              <a:t>A short file at the repository root, loaded at the start of every session.</a:t>
            </a:r>
            <a:endParaRPr lang="en-US" sz="1300" dirty="0"/>
          </a:p>
        </p:txBody>
      </p:sp>
      <p:sp>
        <p:nvSpPr>
          <p:cNvPr id="8" name="Why it works card"/>
          <p:cNvSpPr/>
          <p:nvPr/>
        </p:nvSpPr>
        <p:spPr>
          <a:xfrm>
            <a:off x="548640" y="3108960"/>
            <a:ext cx="4572000" cy="1216152"/>
          </a:xfrm>
          <a:prstGeom prst="roundRect">
            <a:avLst>
              <a:gd name="adj" fmla="val 9023"/>
            </a:avLst>
          </a:prstGeom>
          <a:solidFill>
            <a:schemeClr val="bg2"/>
          </a:solidFill>
          <a:ln/>
        </p:spPr>
      </p:sp>
      <p:sp>
        <p:nvSpPr>
          <p:cNvPr id="9" name="Canon title"/>
          <p:cNvSpPr txBox="1"/>
          <p:nvPr/>
        </p:nvSpPr>
        <p:spPr>
          <a:xfrm>
            <a:off x="777240" y="3218688"/>
            <a:ext cx="411480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Why it works</a:t>
            </a:r>
            <a:endParaRPr lang="en-US" sz="1500" dirty="0"/>
          </a:p>
        </p:txBody>
      </p:sp>
      <p:sp>
        <p:nvSpPr>
          <p:cNvPr id="10" name="Canon text"/>
          <p:cNvSpPr txBox="1"/>
          <p:nvPr/>
        </p:nvSpPr>
        <p:spPr>
          <a:xfrm>
            <a:off x="777240" y="3611880"/>
            <a:ext cx="4114800" cy="685800"/>
          </a:xfrm>
          <a:prstGeom prst="rect">
            <a:avLst/>
          </a:prstGeom>
          <a:noFill/>
          <a:ln/>
        </p:spPr>
        <p:txBody>
          <a:bodyPr wrap="square" lIns="0" tIns="0" rIns="0" bIns="0" rtlCol="0" anchor="t"/>
          <a:lstStyle/>
          <a:p>
            <a:pPr indent="0" marL="0">
              <a:buNone/>
            </a:pPr>
            <a:r>
              <a:rPr lang="en-US" sz="1300" dirty="0">
                <a:solidFill>
                  <a:schemeClr val="tx1"/>
                </a:solidFill>
              </a:rPr>
              <a:t>The assistant starts with your layout, your rules and your checks.</a:t>
            </a:r>
            <a:endParaRPr lang="en-US" sz="1300" dirty="0"/>
          </a:p>
        </p:txBody>
      </p:sp>
      <p:sp>
        <p:nvSpPr>
          <p:cNvPr id="11" name="The rule card"/>
          <p:cNvSpPr/>
          <p:nvPr/>
        </p:nvSpPr>
        <p:spPr>
          <a:xfrm>
            <a:off x="548640" y="4434840"/>
            <a:ext cx="4572000" cy="1216152"/>
          </a:xfrm>
          <a:prstGeom prst="roundRect">
            <a:avLst>
              <a:gd name="adj" fmla="val 9023"/>
            </a:avLst>
          </a:prstGeom>
          <a:solidFill>
            <a:schemeClr val="bg2"/>
          </a:solidFill>
          <a:ln/>
        </p:spPr>
      </p:sp>
      <p:sp>
        <p:nvSpPr>
          <p:cNvPr id="12" name="Canon title"/>
          <p:cNvSpPr txBox="1"/>
          <p:nvPr/>
        </p:nvSpPr>
        <p:spPr>
          <a:xfrm>
            <a:off x="777240" y="4544568"/>
            <a:ext cx="411480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The rule</a:t>
            </a:r>
            <a:endParaRPr lang="en-US" sz="1500" dirty="0"/>
          </a:p>
        </p:txBody>
      </p:sp>
      <p:sp>
        <p:nvSpPr>
          <p:cNvPr id="13" name="Canon text"/>
          <p:cNvSpPr txBox="1"/>
          <p:nvPr/>
        </p:nvSpPr>
        <p:spPr>
          <a:xfrm>
            <a:off x="777240" y="4937760"/>
            <a:ext cx="4114800" cy="685800"/>
          </a:xfrm>
          <a:prstGeom prst="rect">
            <a:avLst/>
          </a:prstGeom>
          <a:noFill/>
          <a:ln/>
        </p:spPr>
        <p:txBody>
          <a:bodyPr wrap="square" lIns="0" tIns="0" rIns="0" bIns="0" rtlCol="0" anchor="t"/>
          <a:lstStyle/>
          <a:p>
            <a:pPr indent="0" marL="0">
              <a:buNone/>
            </a:pPr>
            <a:r>
              <a:rPr lang="en-US" sz="1300" dirty="0">
                <a:solidFill>
                  <a:schemeClr val="tx1"/>
                </a:solidFill>
              </a:rPr>
              <a:t>If your copy disagrees with the organisation's, your copy is stale. Sync it.</a:t>
            </a:r>
            <a:endParaRPr lang="en-US" sz="1300" dirty="0"/>
          </a:p>
        </p:txBody>
      </p:sp>
      <p:sp>
        <p:nvSpPr>
          <p:cNvPr id="14" name="Canon sample"/>
          <p:cNvSpPr/>
          <p:nvPr/>
        </p:nvSpPr>
        <p:spPr>
          <a:xfrm>
            <a:off x="5303520" y="1783080"/>
            <a:ext cx="6336792" cy="3524631"/>
          </a:xfrm>
          <a:prstGeom prst="roundRect">
            <a:avLst>
              <a:gd name="adj" fmla="val 2594"/>
            </a:avLst>
          </a:prstGeom>
          <a:solidFill>
            <a:schemeClr val="tx1"/>
          </a:solidFill>
          <a:ln/>
        </p:spPr>
      </p:sp>
      <p:sp>
        <p:nvSpPr>
          <p:cNvPr id="15" name="Code label"/>
          <p:cNvSpPr txBox="1"/>
          <p:nvPr/>
        </p:nvSpPr>
        <p:spPr>
          <a:xfrm>
            <a:off x="5504688" y="1874520"/>
            <a:ext cx="59344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CLAUDE.MD · ILLUSTRATIVE, FOR THE PRACTICE REPOSITORY</a:t>
            </a:r>
            <a:endParaRPr lang="en-US" sz="1000" dirty="0"/>
          </a:p>
        </p:txBody>
      </p:sp>
      <p:sp>
        <p:nvSpPr>
          <p:cNvPr id="16" name="Canon sample text"/>
          <p:cNvSpPr txBox="1"/>
          <p:nvPr/>
        </p:nvSpPr>
        <p:spPr>
          <a:xfrm>
            <a:off x="5504688" y="2167128"/>
            <a:ext cx="5934456" cy="3030855"/>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apportionment: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notes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AI</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assistants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Layout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holds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items.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folder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item.</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holds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every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pull</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request.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Rules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Never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hard-code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workspace,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lakehouse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item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Every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notebook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starts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with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validated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parameters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cell.</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Write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slice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with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replaceWhere.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Never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overwrite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gold.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Never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commit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outputs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secrets.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Commits: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Conventional</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Commits,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work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item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AB#&lt;id&gt;.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Use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uv</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packages.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use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pip</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install.</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Before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you</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say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you</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are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done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uv</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rails/scan_ids.py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uv</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p:txBody>
      </p:sp>
      <p:sp>
        <p:nvSpPr>
          <p:cNvPr id="17"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Canon practice from the TDMI delivery standard. The sample file is illustrative. It is context, not enforcement: the rails still enforce.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Prompting for DevOps: five parts of a good ask</a:t>
            </a:r>
            <a:endParaRPr lang="en-US" sz="3200" dirty="0"/>
          </a:p>
        </p:txBody>
      </p:sp>
      <p:sp>
        <p:nvSpPr>
          <p:cNvPr id="5" name="Context card"/>
          <p:cNvSpPr/>
          <p:nvPr/>
        </p:nvSpPr>
        <p:spPr>
          <a:xfrm>
            <a:off x="548640" y="1783080"/>
            <a:ext cx="2130552" cy="1371600"/>
          </a:xfrm>
          <a:prstGeom prst="roundRect">
            <a:avLst>
              <a:gd name="adj" fmla="val 8000"/>
            </a:avLst>
          </a:prstGeom>
          <a:solidFill>
            <a:schemeClr val="bg2"/>
          </a:solidFill>
          <a:ln/>
        </p:spPr>
      </p:sp>
      <p:sp>
        <p:nvSpPr>
          <p:cNvPr id="6" name="Part chip 1"/>
          <p:cNvSpPr/>
          <p:nvPr/>
        </p:nvSpPr>
        <p:spPr>
          <a:xfrm>
            <a:off x="685800" y="1901952"/>
            <a:ext cx="365760" cy="365760"/>
          </a:xfrm>
          <a:prstGeom prst="roundRect">
            <a:avLst>
              <a:gd name="adj" fmla="val 20000"/>
            </a:avLst>
          </a:prstGeom>
          <a:solidFill>
            <a:schemeClr val="accent1"/>
          </a:solidFill>
          <a:ln/>
        </p:spPr>
      </p:sp>
      <p:sp>
        <p:nvSpPr>
          <p:cNvPr id="7" name="Part number"/>
          <p:cNvSpPr txBox="1"/>
          <p:nvPr/>
        </p:nvSpPr>
        <p:spPr>
          <a:xfrm>
            <a:off x="685800" y="19019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Part title"/>
          <p:cNvSpPr txBox="1"/>
          <p:nvPr/>
        </p:nvSpPr>
        <p:spPr>
          <a:xfrm>
            <a:off x="685800" y="2331720"/>
            <a:ext cx="187452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Context</a:t>
            </a:r>
            <a:endParaRPr lang="en-US" sz="1400" dirty="0"/>
          </a:p>
        </p:txBody>
      </p:sp>
      <p:sp>
        <p:nvSpPr>
          <p:cNvPr id="9" name="Part text"/>
          <p:cNvSpPr txBox="1"/>
          <p:nvPr/>
        </p:nvSpPr>
        <p:spPr>
          <a:xfrm>
            <a:off x="685800" y="2633472"/>
            <a:ext cx="1874520" cy="502920"/>
          </a:xfrm>
          <a:prstGeom prst="rect">
            <a:avLst/>
          </a:prstGeom>
          <a:noFill/>
          <a:ln/>
        </p:spPr>
        <p:txBody>
          <a:bodyPr wrap="square" lIns="0" tIns="0" rIns="0" bIns="0" rtlCol="0" anchor="t"/>
          <a:lstStyle/>
          <a:p>
            <a:pPr indent="0" marL="0">
              <a:buNone/>
            </a:pPr>
            <a:r>
              <a:rPr lang="en-US" sz="1100" dirty="0">
                <a:solidFill>
                  <a:schemeClr val="tx1"/>
                </a:solidFill>
              </a:rPr>
              <a:t>Which item, which environment, what happened.</a:t>
            </a:r>
            <a:endParaRPr lang="en-US" sz="1100" dirty="0"/>
          </a:p>
        </p:txBody>
      </p:sp>
      <p:sp>
        <p:nvSpPr>
          <p:cNvPr id="10" name="Task card"/>
          <p:cNvSpPr/>
          <p:nvPr/>
        </p:nvSpPr>
        <p:spPr>
          <a:xfrm>
            <a:off x="2788920" y="1783080"/>
            <a:ext cx="2130552" cy="1371600"/>
          </a:xfrm>
          <a:prstGeom prst="roundRect">
            <a:avLst>
              <a:gd name="adj" fmla="val 8000"/>
            </a:avLst>
          </a:prstGeom>
          <a:solidFill>
            <a:schemeClr val="bg2"/>
          </a:solidFill>
          <a:ln/>
        </p:spPr>
      </p:sp>
      <p:sp>
        <p:nvSpPr>
          <p:cNvPr id="11" name="Part chip 2"/>
          <p:cNvSpPr/>
          <p:nvPr/>
        </p:nvSpPr>
        <p:spPr>
          <a:xfrm>
            <a:off x="2926080" y="1901952"/>
            <a:ext cx="365760" cy="365760"/>
          </a:xfrm>
          <a:prstGeom prst="roundRect">
            <a:avLst>
              <a:gd name="adj" fmla="val 20000"/>
            </a:avLst>
          </a:prstGeom>
          <a:solidFill>
            <a:schemeClr val="accent1"/>
          </a:solidFill>
          <a:ln/>
        </p:spPr>
      </p:sp>
      <p:sp>
        <p:nvSpPr>
          <p:cNvPr id="12" name="Part number"/>
          <p:cNvSpPr txBox="1"/>
          <p:nvPr/>
        </p:nvSpPr>
        <p:spPr>
          <a:xfrm>
            <a:off x="2926080" y="19019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3" name="Part title"/>
          <p:cNvSpPr txBox="1"/>
          <p:nvPr/>
        </p:nvSpPr>
        <p:spPr>
          <a:xfrm>
            <a:off x="2926080" y="2331720"/>
            <a:ext cx="187452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Task</a:t>
            </a:r>
            <a:endParaRPr lang="en-US" sz="1400" dirty="0"/>
          </a:p>
        </p:txBody>
      </p:sp>
      <p:sp>
        <p:nvSpPr>
          <p:cNvPr id="14" name="Part text"/>
          <p:cNvSpPr txBox="1"/>
          <p:nvPr/>
        </p:nvSpPr>
        <p:spPr>
          <a:xfrm>
            <a:off x="2926080" y="2633472"/>
            <a:ext cx="1874520" cy="502920"/>
          </a:xfrm>
          <a:prstGeom prst="rect">
            <a:avLst/>
          </a:prstGeom>
          <a:noFill/>
          <a:ln/>
        </p:spPr>
        <p:txBody>
          <a:bodyPr wrap="square" lIns="0" tIns="0" rIns="0" bIns="0" rtlCol="0" anchor="t"/>
          <a:lstStyle/>
          <a:p>
            <a:pPr indent="0" marL="0">
              <a:buNone/>
            </a:pPr>
            <a:r>
              <a:rPr lang="en-US" sz="1100" dirty="0">
                <a:solidFill>
                  <a:schemeClr val="tx1"/>
                </a:solidFill>
              </a:rPr>
              <a:t>One clear job, not three.</a:t>
            </a:r>
            <a:endParaRPr lang="en-US" sz="1100" dirty="0"/>
          </a:p>
        </p:txBody>
      </p:sp>
      <p:sp>
        <p:nvSpPr>
          <p:cNvPr id="15" name="Constraints card"/>
          <p:cNvSpPr/>
          <p:nvPr/>
        </p:nvSpPr>
        <p:spPr>
          <a:xfrm>
            <a:off x="5029200" y="1783080"/>
            <a:ext cx="2130552" cy="1371600"/>
          </a:xfrm>
          <a:prstGeom prst="roundRect">
            <a:avLst>
              <a:gd name="adj" fmla="val 8000"/>
            </a:avLst>
          </a:prstGeom>
          <a:solidFill>
            <a:schemeClr val="bg2"/>
          </a:solidFill>
          <a:ln/>
        </p:spPr>
      </p:sp>
      <p:sp>
        <p:nvSpPr>
          <p:cNvPr id="16" name="Part chip 3"/>
          <p:cNvSpPr/>
          <p:nvPr/>
        </p:nvSpPr>
        <p:spPr>
          <a:xfrm>
            <a:off x="5166360" y="1901952"/>
            <a:ext cx="365760" cy="365760"/>
          </a:xfrm>
          <a:prstGeom prst="roundRect">
            <a:avLst>
              <a:gd name="adj" fmla="val 20000"/>
            </a:avLst>
          </a:prstGeom>
          <a:solidFill>
            <a:schemeClr val="accent1"/>
          </a:solidFill>
          <a:ln/>
        </p:spPr>
      </p:sp>
      <p:sp>
        <p:nvSpPr>
          <p:cNvPr id="17" name="Part number"/>
          <p:cNvSpPr txBox="1"/>
          <p:nvPr/>
        </p:nvSpPr>
        <p:spPr>
          <a:xfrm>
            <a:off x="5166360" y="19019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8" name="Part title"/>
          <p:cNvSpPr txBox="1"/>
          <p:nvPr/>
        </p:nvSpPr>
        <p:spPr>
          <a:xfrm>
            <a:off x="5166360" y="2331720"/>
            <a:ext cx="187452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Constraints</a:t>
            </a:r>
            <a:endParaRPr lang="en-US" sz="1400" dirty="0"/>
          </a:p>
        </p:txBody>
      </p:sp>
      <p:sp>
        <p:nvSpPr>
          <p:cNvPr id="19" name="Part text"/>
          <p:cNvSpPr txBox="1"/>
          <p:nvPr/>
        </p:nvSpPr>
        <p:spPr>
          <a:xfrm>
            <a:off x="5166360" y="2633472"/>
            <a:ext cx="1874520" cy="502920"/>
          </a:xfrm>
          <a:prstGeom prst="rect">
            <a:avLst/>
          </a:prstGeom>
          <a:noFill/>
          <a:ln/>
        </p:spPr>
        <p:txBody>
          <a:bodyPr wrap="square" lIns="0" tIns="0" rIns="0" bIns="0" rtlCol="0" anchor="t"/>
          <a:lstStyle/>
          <a:p>
            <a:pPr indent="0" marL="0">
              <a:buNone/>
            </a:pPr>
            <a:r>
              <a:rPr lang="en-US" sz="1100" dirty="0">
                <a:solidFill>
                  <a:schemeClr val="tx1"/>
                </a:solidFill>
              </a:rPr>
              <a:t>The rules that must hold. What not to touch.</a:t>
            </a:r>
            <a:endParaRPr lang="en-US" sz="1100" dirty="0"/>
          </a:p>
        </p:txBody>
      </p:sp>
      <p:sp>
        <p:nvSpPr>
          <p:cNvPr id="20" name="Output shape card"/>
          <p:cNvSpPr/>
          <p:nvPr/>
        </p:nvSpPr>
        <p:spPr>
          <a:xfrm>
            <a:off x="7269480" y="1783080"/>
            <a:ext cx="2130552" cy="1371600"/>
          </a:xfrm>
          <a:prstGeom prst="roundRect">
            <a:avLst>
              <a:gd name="adj" fmla="val 8000"/>
            </a:avLst>
          </a:prstGeom>
          <a:solidFill>
            <a:schemeClr val="bg2"/>
          </a:solidFill>
          <a:ln/>
        </p:spPr>
      </p:sp>
      <p:sp>
        <p:nvSpPr>
          <p:cNvPr id="21" name="Part chip 4"/>
          <p:cNvSpPr/>
          <p:nvPr/>
        </p:nvSpPr>
        <p:spPr>
          <a:xfrm>
            <a:off x="7406640" y="1901952"/>
            <a:ext cx="365760" cy="365760"/>
          </a:xfrm>
          <a:prstGeom prst="roundRect">
            <a:avLst>
              <a:gd name="adj" fmla="val 20000"/>
            </a:avLst>
          </a:prstGeom>
          <a:solidFill>
            <a:schemeClr val="accent1"/>
          </a:solidFill>
          <a:ln/>
        </p:spPr>
      </p:sp>
      <p:sp>
        <p:nvSpPr>
          <p:cNvPr id="22" name="Part number"/>
          <p:cNvSpPr txBox="1"/>
          <p:nvPr/>
        </p:nvSpPr>
        <p:spPr>
          <a:xfrm>
            <a:off x="7406640" y="19019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3" name="Part title"/>
          <p:cNvSpPr txBox="1"/>
          <p:nvPr/>
        </p:nvSpPr>
        <p:spPr>
          <a:xfrm>
            <a:off x="7406640" y="2331720"/>
            <a:ext cx="187452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Output shape</a:t>
            </a:r>
            <a:endParaRPr lang="en-US" sz="1400" dirty="0"/>
          </a:p>
        </p:txBody>
      </p:sp>
      <p:sp>
        <p:nvSpPr>
          <p:cNvPr id="24" name="Part text"/>
          <p:cNvSpPr txBox="1"/>
          <p:nvPr/>
        </p:nvSpPr>
        <p:spPr>
          <a:xfrm>
            <a:off x="7406640" y="2633472"/>
            <a:ext cx="1874520" cy="502920"/>
          </a:xfrm>
          <a:prstGeom prst="rect">
            <a:avLst/>
          </a:prstGeom>
          <a:noFill/>
          <a:ln/>
        </p:spPr>
        <p:txBody>
          <a:bodyPr wrap="square" lIns="0" tIns="0" rIns="0" bIns="0" rtlCol="0" anchor="t"/>
          <a:lstStyle/>
          <a:p>
            <a:pPr indent="0" marL="0">
              <a:buNone/>
            </a:pPr>
            <a:r>
              <a:rPr lang="en-US" sz="1100" dirty="0">
                <a:solidFill>
                  <a:schemeClr val="tx1"/>
                </a:solidFill>
              </a:rPr>
              <a:t>A diff, a table, two sentences. Something you can check.</a:t>
            </a:r>
            <a:endParaRPr lang="en-US" sz="1100" dirty="0"/>
          </a:p>
        </p:txBody>
      </p:sp>
      <p:sp>
        <p:nvSpPr>
          <p:cNvPr id="25" name="The check card"/>
          <p:cNvSpPr/>
          <p:nvPr/>
        </p:nvSpPr>
        <p:spPr>
          <a:xfrm>
            <a:off x="9509760" y="1783080"/>
            <a:ext cx="2130552" cy="1371600"/>
          </a:xfrm>
          <a:prstGeom prst="roundRect">
            <a:avLst>
              <a:gd name="adj" fmla="val 8000"/>
            </a:avLst>
          </a:prstGeom>
          <a:solidFill>
            <a:schemeClr val="bg2"/>
          </a:solidFill>
          <a:ln/>
        </p:spPr>
      </p:sp>
      <p:sp>
        <p:nvSpPr>
          <p:cNvPr id="26" name="Part chip 5"/>
          <p:cNvSpPr/>
          <p:nvPr/>
        </p:nvSpPr>
        <p:spPr>
          <a:xfrm>
            <a:off x="9646920" y="1901952"/>
            <a:ext cx="365760" cy="365760"/>
          </a:xfrm>
          <a:prstGeom prst="roundRect">
            <a:avLst>
              <a:gd name="adj" fmla="val 20000"/>
            </a:avLst>
          </a:prstGeom>
          <a:solidFill>
            <a:schemeClr val="accent1"/>
          </a:solidFill>
          <a:ln/>
        </p:spPr>
      </p:sp>
      <p:sp>
        <p:nvSpPr>
          <p:cNvPr id="27" name="Part number"/>
          <p:cNvSpPr txBox="1"/>
          <p:nvPr/>
        </p:nvSpPr>
        <p:spPr>
          <a:xfrm>
            <a:off x="9646920" y="19019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28" name="Part title"/>
          <p:cNvSpPr txBox="1"/>
          <p:nvPr/>
        </p:nvSpPr>
        <p:spPr>
          <a:xfrm>
            <a:off x="9646920" y="2331720"/>
            <a:ext cx="187452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The check</a:t>
            </a:r>
            <a:endParaRPr lang="en-US" sz="1400" dirty="0"/>
          </a:p>
        </p:txBody>
      </p:sp>
      <p:sp>
        <p:nvSpPr>
          <p:cNvPr id="29" name="Part text"/>
          <p:cNvSpPr txBox="1"/>
          <p:nvPr/>
        </p:nvSpPr>
        <p:spPr>
          <a:xfrm>
            <a:off x="9646920" y="2633472"/>
            <a:ext cx="1874520" cy="502920"/>
          </a:xfrm>
          <a:prstGeom prst="rect">
            <a:avLst/>
          </a:prstGeom>
          <a:noFill/>
          <a:ln/>
        </p:spPr>
        <p:txBody>
          <a:bodyPr wrap="square" lIns="0" tIns="0" rIns="0" bIns="0" rtlCol="0" anchor="t"/>
          <a:lstStyle/>
          <a:p>
            <a:pPr indent="0" marL="0">
              <a:buNone/>
            </a:pPr>
            <a:r>
              <a:rPr lang="en-US" sz="1100" dirty="0">
                <a:solidFill>
                  <a:schemeClr val="tx1"/>
                </a:solidFill>
              </a:rPr>
              <a:t>How you will know it is right. Run the rails.</a:t>
            </a:r>
            <a:endParaRPr lang="en-US" sz="1100" dirty="0"/>
          </a:p>
        </p:txBody>
      </p:sp>
      <p:sp>
        <p:nvSpPr>
          <p:cNvPr id="30" name="Weak prompt"/>
          <p:cNvSpPr/>
          <p:nvPr/>
        </p:nvSpPr>
        <p:spPr>
          <a:xfrm>
            <a:off x="548640" y="3337560"/>
            <a:ext cx="3291840" cy="1691640"/>
          </a:xfrm>
          <a:prstGeom prst="roundRect">
            <a:avLst>
              <a:gd name="adj" fmla="val 5405"/>
            </a:avLst>
          </a:prstGeom>
          <a:solidFill>
            <a:schemeClr val="tx1"/>
          </a:solidFill>
          <a:ln/>
        </p:spPr>
      </p:sp>
      <p:sp>
        <p:nvSpPr>
          <p:cNvPr id="31" name="Code label"/>
          <p:cNvSpPr txBox="1"/>
          <p:nvPr/>
        </p:nvSpPr>
        <p:spPr>
          <a:xfrm>
            <a:off x="749808" y="3429000"/>
            <a:ext cx="288950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WEAK</a:t>
            </a:r>
            <a:endParaRPr lang="en-US" sz="1000" dirty="0"/>
          </a:p>
        </p:txBody>
      </p:sp>
      <p:sp>
        <p:nvSpPr>
          <p:cNvPr id="32" name="Weak prompt text"/>
          <p:cNvSpPr txBox="1"/>
          <p:nvPr/>
        </p:nvSpPr>
        <p:spPr>
          <a:xfrm>
            <a:off x="749808" y="3721608"/>
            <a:ext cx="2889504" cy="1197864"/>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Fix</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my</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pipeline.</a:t>
            </a:r>
            <a:endParaRPr lang="en-US" sz="1400" dirty="0"/>
          </a:p>
        </p:txBody>
      </p:sp>
      <p:sp>
        <p:nvSpPr>
          <p:cNvPr id="33" name="Strong prompt"/>
          <p:cNvSpPr/>
          <p:nvPr/>
        </p:nvSpPr>
        <p:spPr>
          <a:xfrm>
            <a:off x="4023360" y="3337560"/>
            <a:ext cx="7616952" cy="1691640"/>
          </a:xfrm>
          <a:prstGeom prst="roundRect">
            <a:avLst>
              <a:gd name="adj" fmla="val 5405"/>
            </a:avLst>
          </a:prstGeom>
          <a:solidFill>
            <a:schemeClr val="tx1"/>
          </a:solidFill>
          <a:ln/>
        </p:spPr>
      </p:sp>
      <p:sp>
        <p:nvSpPr>
          <p:cNvPr id="34" name="Code label"/>
          <p:cNvSpPr txBox="1"/>
          <p:nvPr/>
        </p:nvSpPr>
        <p:spPr>
          <a:xfrm>
            <a:off x="4224528" y="3429000"/>
            <a:ext cx="721461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STRONG</a:t>
            </a:r>
            <a:endParaRPr lang="en-US" sz="1000" dirty="0"/>
          </a:p>
        </p:txBody>
      </p:sp>
      <p:sp>
        <p:nvSpPr>
          <p:cNvPr id="35" name="Strong prompt text"/>
          <p:cNvSpPr txBox="1"/>
          <p:nvPr/>
        </p:nvSpPr>
        <p:spPr>
          <a:xfrm>
            <a:off x="4224528" y="3721608"/>
            <a:ext cx="7214616" cy="119786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fabric/pl_dst_apportion.DataPipeline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Notebook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activity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was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started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with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period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"Jan-25".</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Explain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cause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two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sentences.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propose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smallest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change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diff.</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touch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other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files.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add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IDs.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Tell</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which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should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confirm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it.</a:t>
            </a:r>
            <a:endParaRPr lang="en-US" sz="1050" dirty="0"/>
          </a:p>
        </p:txBody>
      </p:sp>
      <p:sp>
        <p:nvSpPr>
          <p:cNvPr id="36" name="Weak note"/>
          <p:cNvSpPr/>
          <p:nvPr/>
        </p:nvSpPr>
        <p:spPr>
          <a:xfrm>
            <a:off x="548640" y="5166360"/>
            <a:ext cx="3291840" cy="731520"/>
          </a:xfrm>
          <a:prstGeom prst="roundRect">
            <a:avLst>
              <a:gd name="adj" fmla="val 15000"/>
            </a:avLst>
          </a:prstGeom>
          <a:solidFill>
            <a:schemeClr val="accent3">
              <a:alpha val="22000"/>
            </a:schemeClr>
          </a:solidFill>
          <a:ln/>
        </p:spPr>
      </p:sp>
      <p:sp>
        <p:nvSpPr>
          <p:cNvPr id="37" name="Weak note text"/>
          <p:cNvSpPr txBox="1"/>
          <p:nvPr/>
        </p:nvSpPr>
        <p:spPr>
          <a:xfrm>
            <a:off x="731520" y="5166360"/>
            <a:ext cx="2926080" cy="731520"/>
          </a:xfrm>
          <a:prstGeom prst="rect">
            <a:avLst/>
          </a:prstGeom>
          <a:noFill/>
          <a:ln/>
        </p:spPr>
        <p:txBody>
          <a:bodyPr wrap="square" lIns="0" tIns="0" rIns="0" bIns="0" rtlCol="0" anchor="ctr"/>
          <a:lstStyle/>
          <a:p>
            <a:pPr indent="0" marL="0">
              <a:buNone/>
            </a:pPr>
            <a:r>
              <a:rPr lang="en-US" sz="1200" dirty="0">
                <a:solidFill>
                  <a:schemeClr val="tx1"/>
                </a:solidFill>
              </a:rPr>
              <a:t>No context, no constraint, no shape. It will guess, confidently.</a:t>
            </a:r>
            <a:endParaRPr lang="en-US" sz="1200" dirty="0"/>
          </a:p>
        </p:txBody>
      </p:sp>
      <p:sp>
        <p:nvSpPr>
          <p:cNvPr id="38" name="Strong note"/>
          <p:cNvSpPr/>
          <p:nvPr/>
        </p:nvSpPr>
        <p:spPr>
          <a:xfrm>
            <a:off x="4023360" y="5166360"/>
            <a:ext cx="7616952" cy="731520"/>
          </a:xfrm>
          <a:prstGeom prst="roundRect">
            <a:avLst>
              <a:gd name="adj" fmla="val 15000"/>
            </a:avLst>
          </a:prstGeom>
          <a:solidFill>
            <a:schemeClr val="accent2">
              <a:alpha val="20000"/>
            </a:schemeClr>
          </a:solidFill>
          <a:ln/>
        </p:spPr>
      </p:sp>
      <p:sp>
        <p:nvSpPr>
          <p:cNvPr id="39" name="Strong note text"/>
          <p:cNvSpPr txBox="1"/>
          <p:nvPr/>
        </p:nvSpPr>
        <p:spPr>
          <a:xfrm>
            <a:off x="4206240" y="5166360"/>
            <a:ext cx="7269480" cy="731520"/>
          </a:xfrm>
          <a:prstGeom prst="rect">
            <a:avLst/>
          </a:prstGeom>
          <a:noFill/>
          <a:ln/>
        </p:spPr>
        <p:txBody>
          <a:bodyPr wrap="square" lIns="0" tIns="0" rIns="0" bIns="0" rtlCol="0" anchor="ctr"/>
          <a:lstStyle/>
          <a:p>
            <a:pPr indent="0" marL="0">
              <a:buNone/>
            </a:pPr>
            <a:r>
              <a:rPr lang="en-US" sz="1250" dirty="0">
                <a:solidFill>
                  <a:schemeClr val="tx1"/>
                </a:solidFill>
              </a:rPr>
              <a:t>Says what happened, what to produce, what not to touch, and how to check. A small change is a reviewable change.</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AI-assisted Git: messages, descriptions and conflicts</a:t>
            </a:r>
            <a:endParaRPr lang="en-US" sz="3200" dirty="0"/>
          </a:p>
        </p:txBody>
      </p:sp>
      <p:sp>
        <p:nvSpPr>
          <p:cNvPr id="5" name="Commit message card"/>
          <p:cNvSpPr/>
          <p:nvPr/>
        </p:nvSpPr>
        <p:spPr>
          <a:xfrm>
            <a:off x="548640" y="1783080"/>
            <a:ext cx="3593592" cy="4023360"/>
          </a:xfrm>
          <a:prstGeom prst="roundRect">
            <a:avLst>
              <a:gd name="adj" fmla="val 3053"/>
            </a:avLst>
          </a:prstGeom>
          <a:solidFill>
            <a:schemeClr val="bg2"/>
          </a:solidFill>
          <a:ln/>
        </p:spPr>
      </p:sp>
      <p:sp>
        <p:nvSpPr>
          <p:cNvPr id="6" name="Pill"/>
          <p:cNvSpPr txBox="1"/>
          <p:nvPr/>
        </p:nvSpPr>
        <p:spPr>
          <a:xfrm>
            <a:off x="731520" y="1901952"/>
            <a:ext cx="201168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950" b="1" spc="200" kern="0" dirty="0">
                <a:solidFill>
                  <a:schemeClr val="bg1"/>
                </a:solidFill>
              </a:rPr>
              <a:t>COMMIT MESSAGE</a:t>
            </a:r>
            <a:endParaRPr lang="en-US" sz="950" dirty="0"/>
          </a:p>
        </p:txBody>
      </p:sp>
      <p:sp>
        <p:nvSpPr>
          <p:cNvPr id="7" name="Ask label"/>
          <p:cNvSpPr txBox="1"/>
          <p:nvPr/>
        </p:nvSpPr>
        <p:spPr>
          <a:xfrm>
            <a:off x="731520" y="2331720"/>
            <a:ext cx="914400" cy="201168"/>
          </a:xfrm>
          <a:prstGeom prst="rect">
            <a:avLst/>
          </a:prstGeom>
          <a:noFill/>
          <a:ln/>
        </p:spPr>
        <p:txBody>
          <a:bodyPr wrap="square" lIns="0" tIns="0" rIns="0" bIns="0" rtlCol="0" anchor="t"/>
          <a:lstStyle/>
          <a:p>
            <a:pPr indent="0" marL="0">
              <a:buNone/>
            </a:pPr>
            <a:r>
              <a:rPr lang="en-US" sz="900" b="1" spc="200" kern="0" dirty="0">
                <a:solidFill>
                  <a:schemeClr val="accent1"/>
                </a:solidFill>
              </a:rPr>
              <a:t>ASK</a:t>
            </a:r>
            <a:endParaRPr lang="en-US" sz="900" dirty="0"/>
          </a:p>
        </p:txBody>
      </p:sp>
      <p:sp>
        <p:nvSpPr>
          <p:cNvPr id="8" name="Ask text"/>
          <p:cNvSpPr txBox="1"/>
          <p:nvPr/>
        </p:nvSpPr>
        <p:spPr>
          <a:xfrm>
            <a:off x="731520" y="2560320"/>
            <a:ext cx="3246120" cy="685800"/>
          </a:xfrm>
          <a:prstGeom prst="rect">
            <a:avLst/>
          </a:prstGeom>
          <a:noFill/>
          <a:ln/>
        </p:spPr>
        <p:txBody>
          <a:bodyPr wrap="square" lIns="0" tIns="0" rIns="0" bIns="0" rtlCol="0" anchor="t"/>
          <a:lstStyle/>
          <a:p>
            <a:pPr indent="0" marL="0">
              <a:buNone/>
            </a:pPr>
            <a:r>
              <a:rPr lang="en-US" sz="1250" i="1" dirty="0">
                <a:solidFill>
                  <a:schemeClr val="tx1"/>
                </a:solidFill>
              </a:rPr>
              <a:t>Write a Conventional Commit for this diff. Work item AB#1002.</a:t>
            </a:r>
            <a:endParaRPr lang="en-US" sz="1250" dirty="0"/>
          </a:p>
        </p:txBody>
      </p:sp>
      <p:sp>
        <p:nvSpPr>
          <p:cNvPr id="9" name="Answer label"/>
          <p:cNvSpPr txBox="1"/>
          <p:nvPr/>
        </p:nvSpPr>
        <p:spPr>
          <a:xfrm>
            <a:off x="731520" y="3337560"/>
            <a:ext cx="274320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 GOOD ANSWER</a:t>
            </a:r>
            <a:endParaRPr lang="en-US" sz="900" dirty="0"/>
          </a:p>
        </p:txBody>
      </p:sp>
      <p:sp>
        <p:nvSpPr>
          <p:cNvPr id="10" name="Answer text"/>
          <p:cNvSpPr txBox="1"/>
          <p:nvPr/>
        </p:nvSpPr>
        <p:spPr>
          <a:xfrm>
            <a:off x="731520" y="3566160"/>
            <a:ext cx="3246120" cy="109728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fix(gate): tighten tie-out tolerance to one cent</a:t>
            </a:r>
            <a:endParaRPr lang="en-US" sz="1100" dirty="0"/>
          </a:p>
          <a:p>
            <a:pPr indent="0" marL="0">
              <a:buNone/>
            </a:pP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AB#1002</a:t>
            </a:r>
            <a:endParaRPr lang="en-US" sz="1100" dirty="0"/>
          </a:p>
        </p:txBody>
      </p:sp>
      <p:sp>
        <p:nvSpPr>
          <p:cNvPr id="11" name="Check label"/>
          <p:cNvSpPr txBox="1"/>
          <p:nvPr/>
        </p:nvSpPr>
        <p:spPr>
          <a:xfrm>
            <a:off x="731520" y="4754880"/>
            <a:ext cx="274320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YOUR CHECK</a:t>
            </a:r>
            <a:endParaRPr lang="en-US" sz="900" dirty="0"/>
          </a:p>
        </p:txBody>
      </p:sp>
      <p:sp>
        <p:nvSpPr>
          <p:cNvPr id="12" name="Check text"/>
          <p:cNvSpPr txBox="1"/>
          <p:nvPr/>
        </p:nvSpPr>
        <p:spPr>
          <a:xfrm>
            <a:off x="731520" y="4983480"/>
            <a:ext cx="3246120" cy="777240"/>
          </a:xfrm>
          <a:prstGeom prst="rect">
            <a:avLst/>
          </a:prstGeom>
          <a:noFill/>
          <a:ln/>
        </p:spPr>
        <p:txBody>
          <a:bodyPr wrap="square" lIns="0" tIns="0" rIns="0" bIns="0" rtlCol="0" anchor="t"/>
          <a:lstStyle/>
          <a:p>
            <a:pPr indent="0" marL="0">
              <a:buNone/>
            </a:pPr>
            <a:r>
              <a:rPr lang="en-US" sz="1250" b="1" dirty="0">
                <a:solidFill>
                  <a:schemeClr val="tx1"/>
                </a:solidFill>
              </a:rPr>
              <a:t>Run the commit rail. Does it say what you changed?</a:t>
            </a:r>
            <a:endParaRPr lang="en-US" sz="1250" dirty="0"/>
          </a:p>
        </p:txBody>
      </p:sp>
      <p:sp>
        <p:nvSpPr>
          <p:cNvPr id="13" name="Pull request text card"/>
          <p:cNvSpPr/>
          <p:nvPr/>
        </p:nvSpPr>
        <p:spPr>
          <a:xfrm>
            <a:off x="4297680" y="1783080"/>
            <a:ext cx="3593592" cy="4023360"/>
          </a:xfrm>
          <a:prstGeom prst="roundRect">
            <a:avLst>
              <a:gd name="adj" fmla="val 3053"/>
            </a:avLst>
          </a:prstGeom>
          <a:solidFill>
            <a:schemeClr val="bg2"/>
          </a:solidFill>
          <a:ln/>
        </p:spPr>
      </p:sp>
      <p:sp>
        <p:nvSpPr>
          <p:cNvPr id="14" name="Pill"/>
          <p:cNvSpPr txBox="1"/>
          <p:nvPr/>
        </p:nvSpPr>
        <p:spPr>
          <a:xfrm>
            <a:off x="4480560" y="1901952"/>
            <a:ext cx="201168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950" b="1" spc="200" kern="0" dirty="0">
                <a:solidFill>
                  <a:schemeClr val="bg1"/>
                </a:solidFill>
              </a:rPr>
              <a:t>PULL REQUEST TEXT</a:t>
            </a:r>
            <a:endParaRPr lang="en-US" sz="950" dirty="0"/>
          </a:p>
        </p:txBody>
      </p:sp>
      <p:sp>
        <p:nvSpPr>
          <p:cNvPr id="15" name="Ask label"/>
          <p:cNvSpPr txBox="1"/>
          <p:nvPr/>
        </p:nvSpPr>
        <p:spPr>
          <a:xfrm>
            <a:off x="4480560" y="2331720"/>
            <a:ext cx="914400" cy="201168"/>
          </a:xfrm>
          <a:prstGeom prst="rect">
            <a:avLst/>
          </a:prstGeom>
          <a:noFill/>
          <a:ln/>
        </p:spPr>
        <p:txBody>
          <a:bodyPr wrap="square" lIns="0" tIns="0" rIns="0" bIns="0" rtlCol="0" anchor="t"/>
          <a:lstStyle/>
          <a:p>
            <a:pPr indent="0" marL="0">
              <a:buNone/>
            </a:pPr>
            <a:r>
              <a:rPr lang="en-US" sz="900" b="1" spc="200" kern="0" dirty="0">
                <a:solidFill>
                  <a:schemeClr val="accent1"/>
                </a:solidFill>
              </a:rPr>
              <a:t>ASK</a:t>
            </a:r>
            <a:endParaRPr lang="en-US" sz="900" dirty="0"/>
          </a:p>
        </p:txBody>
      </p:sp>
      <p:sp>
        <p:nvSpPr>
          <p:cNvPr id="16" name="Ask text"/>
          <p:cNvSpPr txBox="1"/>
          <p:nvPr/>
        </p:nvSpPr>
        <p:spPr>
          <a:xfrm>
            <a:off x="4480560" y="2560320"/>
            <a:ext cx="3246120" cy="685800"/>
          </a:xfrm>
          <a:prstGeom prst="rect">
            <a:avLst/>
          </a:prstGeom>
          <a:noFill/>
          <a:ln/>
        </p:spPr>
        <p:txBody>
          <a:bodyPr wrap="square" lIns="0" tIns="0" rIns="0" bIns="0" rtlCol="0" anchor="t"/>
          <a:lstStyle/>
          <a:p>
            <a:pPr indent="0" marL="0">
              <a:buNone/>
            </a:pPr>
            <a:r>
              <a:rPr lang="en-US" sz="1250" i="1" dirty="0">
                <a:solidFill>
                  <a:schemeClr val="tx1"/>
                </a:solidFill>
              </a:rPr>
              <a:t>Summarise this diff for a reviewer: what changed, why, how to test.</a:t>
            </a:r>
            <a:endParaRPr lang="en-US" sz="1250" dirty="0"/>
          </a:p>
        </p:txBody>
      </p:sp>
      <p:sp>
        <p:nvSpPr>
          <p:cNvPr id="17" name="Answer label"/>
          <p:cNvSpPr txBox="1"/>
          <p:nvPr/>
        </p:nvSpPr>
        <p:spPr>
          <a:xfrm>
            <a:off x="4480560" y="3337560"/>
            <a:ext cx="274320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 GOOD ANSWER</a:t>
            </a:r>
            <a:endParaRPr lang="en-US" sz="900" dirty="0"/>
          </a:p>
        </p:txBody>
      </p:sp>
      <p:sp>
        <p:nvSpPr>
          <p:cNvPr id="18" name="Answer text"/>
          <p:cNvSpPr txBox="1"/>
          <p:nvPr/>
        </p:nvSpPr>
        <p:spPr>
          <a:xfrm>
            <a:off x="4480560" y="3566160"/>
            <a:ext cx="3246120" cy="1097280"/>
          </a:xfrm>
          <a:prstGeom prst="rect">
            <a:avLst/>
          </a:prstGeom>
          <a:noFill/>
          <a:ln/>
        </p:spPr>
        <p:txBody>
          <a:bodyPr wrap="square" lIns="0" tIns="0" rIns="0" bIns="0" rtlCol="0" anchor="t"/>
          <a:lstStyle/>
          <a:p>
            <a:pPr indent="0" marL="0">
              <a:buNone/>
            </a:pPr>
            <a:r>
              <a:rPr lang="en-US" sz="1250" dirty="0">
                <a:solidFill>
                  <a:schemeClr val="tx1"/>
                </a:solidFill>
              </a:rPr>
              <a:t>Four bullets: the change, the reason, the test run, and what to look at twice.</a:t>
            </a:r>
            <a:endParaRPr lang="en-US" sz="1250" dirty="0"/>
          </a:p>
        </p:txBody>
      </p:sp>
      <p:sp>
        <p:nvSpPr>
          <p:cNvPr id="19" name="Check label"/>
          <p:cNvSpPr txBox="1"/>
          <p:nvPr/>
        </p:nvSpPr>
        <p:spPr>
          <a:xfrm>
            <a:off x="4480560" y="4754880"/>
            <a:ext cx="274320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YOUR CHECK</a:t>
            </a:r>
            <a:endParaRPr lang="en-US" sz="900" dirty="0"/>
          </a:p>
        </p:txBody>
      </p:sp>
      <p:sp>
        <p:nvSpPr>
          <p:cNvPr id="20" name="Check text"/>
          <p:cNvSpPr txBox="1"/>
          <p:nvPr/>
        </p:nvSpPr>
        <p:spPr>
          <a:xfrm>
            <a:off x="4480560" y="4983480"/>
            <a:ext cx="3246120" cy="777240"/>
          </a:xfrm>
          <a:prstGeom prst="rect">
            <a:avLst/>
          </a:prstGeom>
          <a:noFill/>
          <a:ln/>
        </p:spPr>
        <p:txBody>
          <a:bodyPr wrap="square" lIns="0" tIns="0" rIns="0" bIns="0" rtlCol="0" anchor="t"/>
          <a:lstStyle/>
          <a:p>
            <a:pPr indent="0" marL="0">
              <a:buNone/>
            </a:pPr>
            <a:r>
              <a:rPr lang="en-US" sz="1250" b="1" dirty="0">
                <a:solidFill>
                  <a:schemeClr val="tx1"/>
                </a:solidFill>
              </a:rPr>
              <a:t>Is every claim true? Did it describe something you did not do?</a:t>
            </a:r>
            <a:endParaRPr lang="en-US" sz="1250" dirty="0"/>
          </a:p>
        </p:txBody>
      </p:sp>
      <p:sp>
        <p:nvSpPr>
          <p:cNvPr id="21" name="A merge conflict card"/>
          <p:cNvSpPr/>
          <p:nvPr/>
        </p:nvSpPr>
        <p:spPr>
          <a:xfrm>
            <a:off x="8046720" y="1783080"/>
            <a:ext cx="3593592" cy="4023360"/>
          </a:xfrm>
          <a:prstGeom prst="roundRect">
            <a:avLst>
              <a:gd name="adj" fmla="val 3053"/>
            </a:avLst>
          </a:prstGeom>
          <a:solidFill>
            <a:schemeClr val="bg2"/>
          </a:solidFill>
          <a:ln/>
        </p:spPr>
      </p:sp>
      <p:sp>
        <p:nvSpPr>
          <p:cNvPr id="22" name="Pill"/>
          <p:cNvSpPr txBox="1"/>
          <p:nvPr/>
        </p:nvSpPr>
        <p:spPr>
          <a:xfrm>
            <a:off x="8229600" y="1901952"/>
            <a:ext cx="201168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950" b="1" spc="200" kern="0" dirty="0">
                <a:solidFill>
                  <a:schemeClr val="bg1"/>
                </a:solidFill>
              </a:rPr>
              <a:t>A MERGE CONFLICT</a:t>
            </a:r>
            <a:endParaRPr lang="en-US" sz="950" dirty="0"/>
          </a:p>
        </p:txBody>
      </p:sp>
      <p:sp>
        <p:nvSpPr>
          <p:cNvPr id="23" name="Ask label"/>
          <p:cNvSpPr txBox="1"/>
          <p:nvPr/>
        </p:nvSpPr>
        <p:spPr>
          <a:xfrm>
            <a:off x="8229600" y="2331720"/>
            <a:ext cx="914400" cy="201168"/>
          </a:xfrm>
          <a:prstGeom prst="rect">
            <a:avLst/>
          </a:prstGeom>
          <a:noFill/>
          <a:ln/>
        </p:spPr>
        <p:txBody>
          <a:bodyPr wrap="square" lIns="0" tIns="0" rIns="0" bIns="0" rtlCol="0" anchor="t"/>
          <a:lstStyle/>
          <a:p>
            <a:pPr indent="0" marL="0">
              <a:buNone/>
            </a:pPr>
            <a:r>
              <a:rPr lang="en-US" sz="900" b="1" spc="200" kern="0" dirty="0">
                <a:solidFill>
                  <a:schemeClr val="accent1"/>
                </a:solidFill>
              </a:rPr>
              <a:t>ASK</a:t>
            </a:r>
            <a:endParaRPr lang="en-US" sz="900" dirty="0"/>
          </a:p>
        </p:txBody>
      </p:sp>
      <p:sp>
        <p:nvSpPr>
          <p:cNvPr id="24" name="Ask text"/>
          <p:cNvSpPr txBox="1"/>
          <p:nvPr/>
        </p:nvSpPr>
        <p:spPr>
          <a:xfrm>
            <a:off x="8229600" y="2560320"/>
            <a:ext cx="3246120" cy="685800"/>
          </a:xfrm>
          <a:prstGeom prst="rect">
            <a:avLst/>
          </a:prstGeom>
          <a:noFill/>
          <a:ln/>
        </p:spPr>
        <p:txBody>
          <a:bodyPr wrap="square" lIns="0" tIns="0" rIns="0" bIns="0" rtlCol="0" anchor="t"/>
          <a:lstStyle/>
          <a:p>
            <a:pPr indent="0" marL="0">
              <a:buNone/>
            </a:pPr>
            <a:r>
              <a:rPr lang="en-US" sz="1250" i="1" dirty="0">
                <a:solidFill>
                  <a:schemeClr val="tx1"/>
                </a:solidFill>
              </a:rPr>
              <a:t>Explain both sides of this conflict. Do not resolve it.</a:t>
            </a:r>
            <a:endParaRPr lang="en-US" sz="1250" dirty="0"/>
          </a:p>
        </p:txBody>
      </p:sp>
      <p:sp>
        <p:nvSpPr>
          <p:cNvPr id="25" name="Answer label"/>
          <p:cNvSpPr txBox="1"/>
          <p:nvPr/>
        </p:nvSpPr>
        <p:spPr>
          <a:xfrm>
            <a:off x="8229600" y="3337560"/>
            <a:ext cx="274320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 GOOD ANSWER</a:t>
            </a:r>
            <a:endParaRPr lang="en-US" sz="900" dirty="0"/>
          </a:p>
        </p:txBody>
      </p:sp>
      <p:sp>
        <p:nvSpPr>
          <p:cNvPr id="26" name="Answer text"/>
          <p:cNvSpPr txBox="1"/>
          <p:nvPr/>
        </p:nvSpPr>
        <p:spPr>
          <a:xfrm>
            <a:off x="8229600" y="3566160"/>
            <a:ext cx="3246120" cy="1097280"/>
          </a:xfrm>
          <a:prstGeom prst="rect">
            <a:avLst/>
          </a:prstGeom>
          <a:noFill/>
          <a:ln/>
        </p:spPr>
        <p:txBody>
          <a:bodyPr wrap="square" lIns="0" tIns="0" rIns="0" bIns="0" rtlCol="0" anchor="t"/>
          <a:lstStyle/>
          <a:p>
            <a:pPr indent="0" marL="0">
              <a:buNone/>
            </a:pPr>
            <a:r>
              <a:rPr lang="en-US" sz="1250" dirty="0">
                <a:solidFill>
                  <a:schemeClr val="tx1"/>
                </a:solidFill>
              </a:rPr>
              <a:t>One side tightens the tolerance to 0.01, the other loosens it to 0.10. This is a business decision.</a:t>
            </a:r>
            <a:endParaRPr lang="en-US" sz="1250" dirty="0"/>
          </a:p>
        </p:txBody>
      </p:sp>
      <p:sp>
        <p:nvSpPr>
          <p:cNvPr id="27" name="Check label"/>
          <p:cNvSpPr txBox="1"/>
          <p:nvPr/>
        </p:nvSpPr>
        <p:spPr>
          <a:xfrm>
            <a:off x="8229600" y="4754880"/>
            <a:ext cx="274320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YOUR CHECK</a:t>
            </a:r>
            <a:endParaRPr lang="en-US" sz="900" dirty="0"/>
          </a:p>
        </p:txBody>
      </p:sp>
      <p:sp>
        <p:nvSpPr>
          <p:cNvPr id="28" name="Check text"/>
          <p:cNvSpPr txBox="1"/>
          <p:nvPr/>
        </p:nvSpPr>
        <p:spPr>
          <a:xfrm>
            <a:off x="8229600" y="4983480"/>
            <a:ext cx="3246120" cy="777240"/>
          </a:xfrm>
          <a:prstGeom prst="rect">
            <a:avLst/>
          </a:prstGeom>
          <a:noFill/>
          <a:ln/>
        </p:spPr>
        <p:txBody>
          <a:bodyPr wrap="square" lIns="0" tIns="0" rIns="0" bIns="0" rtlCol="0" anchor="t"/>
          <a:lstStyle/>
          <a:p>
            <a:pPr indent="0" marL="0">
              <a:buNone/>
            </a:pPr>
            <a:r>
              <a:rPr lang="en-US" sz="1250" b="1" dirty="0">
                <a:solidFill>
                  <a:schemeClr val="tx1"/>
                </a:solidFill>
              </a:rPr>
              <a:t>You decide. Then run the rails and the gate.</a:t>
            </a:r>
            <a:endParaRPr lang="en-US" sz="1250" dirty="0"/>
          </a:p>
        </p:txBody>
      </p:sp>
      <p:sp>
        <p:nvSpPr>
          <p:cNvPr id="29"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The example commit message is the one the practice repository accepted. You own whatever you commit.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AI as a reviewer: what it catches and what it misses</a:t>
            </a:r>
            <a:endParaRPr lang="en-US" sz="3200" dirty="0"/>
          </a:p>
        </p:txBody>
      </p:sp>
      <p:sp>
        <p:nvSpPr>
          <p:cNvPr id="5" name="Catches card"/>
          <p:cNvSpPr/>
          <p:nvPr/>
        </p:nvSpPr>
        <p:spPr>
          <a:xfrm>
            <a:off x="548640" y="1783080"/>
            <a:ext cx="5468112" cy="2240280"/>
          </a:xfrm>
          <a:prstGeom prst="roundRect">
            <a:avLst>
              <a:gd name="adj" fmla="val 4898"/>
            </a:avLst>
          </a:prstGeom>
          <a:solidFill>
            <a:schemeClr val="accent2">
              <a:alpha val="18000"/>
            </a:schemeClr>
          </a:solidFill>
          <a:ln/>
        </p:spPr>
      </p:sp>
      <p:sp>
        <p:nvSpPr>
          <p:cNvPr id="6" name="Pill"/>
          <p:cNvSpPr txBox="1"/>
          <p:nvPr/>
        </p:nvSpPr>
        <p:spPr>
          <a:xfrm>
            <a:off x="777240" y="1901952"/>
            <a:ext cx="246888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bg1"/>
                </a:solidFill>
              </a:rPr>
              <a:t>CATCHES WELL: PATTERNS</a:t>
            </a:r>
            <a:endParaRPr lang="en-US" sz="1000" dirty="0"/>
          </a:p>
        </p:txBody>
      </p:sp>
      <p:sp>
        <p:nvSpPr>
          <p:cNvPr id="7" name="Catches list"/>
          <p:cNvSpPr txBox="1"/>
          <p:nvPr/>
        </p:nvSpPr>
        <p:spPr>
          <a:xfrm>
            <a:off x="822960" y="2331720"/>
            <a:ext cx="4937760" cy="164592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rPr>
              <a:t>Hard-coded IDs and paths</a:t>
            </a:r>
            <a:endParaRPr lang="en-US" sz="1350" dirty="0"/>
          </a:p>
          <a:p>
            <a:pPr marL="342900" indent="-342900">
              <a:spcAft>
                <a:spcPts val="400"/>
              </a:spcAft>
              <a:buSzPct val="100000"/>
              <a:buChar char="•"/>
            </a:pPr>
            <a:r>
              <a:rPr lang="en-US" sz="1350" dirty="0">
                <a:solidFill>
                  <a:schemeClr val="tx1"/>
                </a:solidFill>
              </a:rPr>
              <a:t>A write with no gate before it</a:t>
            </a:r>
            <a:endParaRPr lang="en-US" sz="1350" dirty="0"/>
          </a:p>
          <a:p>
            <a:pPr marL="342900" indent="-342900">
              <a:spcAft>
                <a:spcPts val="400"/>
              </a:spcAft>
              <a:buSzPct val="100000"/>
              <a:buChar char="•"/>
            </a:pPr>
            <a:r>
              <a:rPr lang="en-US" sz="1350" dirty="0">
                <a:solidFill>
                  <a:schemeClr val="tx1"/>
                </a:solidFill>
              </a:rPr>
              <a:t>Guessed types, missing validation</a:t>
            </a:r>
            <a:endParaRPr lang="en-US" sz="1350" dirty="0"/>
          </a:p>
          <a:p>
            <a:pPr marL="342900" indent="-342900">
              <a:spcAft>
                <a:spcPts val="400"/>
              </a:spcAft>
              <a:buSzPct val="100000"/>
              <a:buChar char="•"/>
            </a:pPr>
            <a:r>
              <a:rPr lang="en-US" sz="1350" dirty="0">
                <a:solidFill>
                  <a:schemeClr val="tx1"/>
                </a:solidFill>
              </a:rPr>
              <a:t>Credentials in code</a:t>
            </a:r>
            <a:endParaRPr lang="en-US" sz="1350" dirty="0"/>
          </a:p>
          <a:p>
            <a:pPr marL="342900" indent="-342900">
              <a:spcAft>
                <a:spcPts val="400"/>
              </a:spcAft>
              <a:buSzPct val="100000"/>
              <a:buChar char="•"/>
            </a:pPr>
            <a:r>
              <a:rPr lang="en-US" sz="1350" dirty="0">
                <a:solidFill>
                  <a:schemeClr val="tx1"/>
                </a:solidFill>
              </a:rPr>
              <a:t>Names that say nothing</a:t>
            </a:r>
            <a:endParaRPr lang="en-US" sz="1350" dirty="0"/>
          </a:p>
        </p:txBody>
      </p:sp>
      <p:sp>
        <p:nvSpPr>
          <p:cNvPr id="8" name="Misses card"/>
          <p:cNvSpPr/>
          <p:nvPr/>
        </p:nvSpPr>
        <p:spPr>
          <a:xfrm>
            <a:off x="6172200" y="1783080"/>
            <a:ext cx="5468112" cy="2240280"/>
          </a:xfrm>
          <a:prstGeom prst="roundRect">
            <a:avLst>
              <a:gd name="adj" fmla="val 4898"/>
            </a:avLst>
          </a:prstGeom>
          <a:solidFill>
            <a:schemeClr val="accent3">
              <a:alpha val="22000"/>
            </a:schemeClr>
          </a:solidFill>
          <a:ln/>
        </p:spPr>
      </p:sp>
      <p:sp>
        <p:nvSpPr>
          <p:cNvPr id="9" name="Pill"/>
          <p:cNvSpPr txBox="1"/>
          <p:nvPr/>
        </p:nvSpPr>
        <p:spPr>
          <a:xfrm>
            <a:off x="6400800" y="1901952"/>
            <a:ext cx="25603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200" kern="0" dirty="0">
                <a:solidFill>
                  <a:schemeClr val="tx1"/>
                </a:solidFill>
              </a:rPr>
              <a:t>MISSES: NEEDS KNOWLEDGE</a:t>
            </a:r>
            <a:endParaRPr lang="en-US" sz="1000" dirty="0"/>
          </a:p>
        </p:txBody>
      </p:sp>
      <p:sp>
        <p:nvSpPr>
          <p:cNvPr id="10" name="Misses list"/>
          <p:cNvSpPr txBox="1"/>
          <p:nvPr/>
        </p:nvSpPr>
        <p:spPr>
          <a:xfrm>
            <a:off x="6446520" y="2331720"/>
            <a:ext cx="4937760" cy="164592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rPr>
              <a:t>Business rules it was not given</a:t>
            </a:r>
            <a:endParaRPr lang="en-US" sz="1350" dirty="0"/>
          </a:p>
          <a:p>
            <a:pPr marL="342900" indent="-342900">
              <a:spcAft>
                <a:spcPts val="400"/>
              </a:spcAft>
              <a:buSzPct val="100000"/>
              <a:buChar char="•"/>
            </a:pPr>
            <a:r>
              <a:rPr lang="en-US" sz="1350" dirty="0">
                <a:solidFill>
                  <a:schemeClr val="tx1"/>
                </a:solidFill>
              </a:rPr>
              <a:t>Why a threshold is what it is</a:t>
            </a:r>
            <a:endParaRPr lang="en-US" sz="1350" dirty="0"/>
          </a:p>
          <a:p>
            <a:pPr marL="342900" indent="-342900">
              <a:spcAft>
                <a:spcPts val="400"/>
              </a:spcAft>
              <a:buSzPct val="100000"/>
              <a:buChar char="•"/>
            </a:pPr>
            <a:r>
              <a:rPr lang="en-US" sz="1350" dirty="0">
                <a:solidFill>
                  <a:schemeClr val="tx1"/>
                </a:solidFill>
              </a:rPr>
              <a:t>Whether the numbers are right</a:t>
            </a:r>
            <a:endParaRPr lang="en-US" sz="1350" dirty="0"/>
          </a:p>
          <a:p>
            <a:pPr marL="342900" indent="-342900">
              <a:spcAft>
                <a:spcPts val="400"/>
              </a:spcAft>
              <a:buSzPct val="100000"/>
              <a:buChar char="•"/>
            </a:pPr>
            <a:r>
              <a:rPr lang="en-US" sz="1350" dirty="0">
                <a:solidFill>
                  <a:schemeClr val="tx1"/>
                </a:solidFill>
              </a:rPr>
              <a:t>Organisation policy and approvals</a:t>
            </a:r>
            <a:endParaRPr lang="en-US" sz="1350" dirty="0"/>
          </a:p>
          <a:p>
            <a:pPr marL="342900" indent="-342900">
              <a:spcAft>
                <a:spcPts val="400"/>
              </a:spcAft>
              <a:buSzPct val="100000"/>
              <a:buChar char="•"/>
            </a:pPr>
            <a:r>
              <a:rPr lang="en-US" sz="1350" dirty="0">
                <a:solidFill>
                  <a:schemeClr val="tx1"/>
                </a:solidFill>
              </a:rPr>
              <a:t>Intent: what you meant to do</a:t>
            </a:r>
            <a:endParaRPr lang="en-US" sz="1350" dirty="0"/>
          </a:p>
        </p:txBody>
      </p:sp>
      <p:sp>
        <p:nvSpPr>
          <p:cNvPr id="11" name="Reviewer prompt"/>
          <p:cNvSpPr/>
          <p:nvPr/>
        </p:nvSpPr>
        <p:spPr>
          <a:xfrm>
            <a:off x="548640" y="4206240"/>
            <a:ext cx="11094415" cy="1471676"/>
          </a:xfrm>
          <a:prstGeom prst="roundRect">
            <a:avLst>
              <a:gd name="adj" fmla="val 6213"/>
            </a:avLst>
          </a:prstGeom>
          <a:solidFill>
            <a:schemeClr val="tx1"/>
          </a:solidFill>
          <a:ln/>
        </p:spPr>
      </p:sp>
      <p:sp>
        <p:nvSpPr>
          <p:cNvPr id="12" name="Code label"/>
          <p:cNvSpPr txBox="1"/>
          <p:nvPr/>
        </p:nvSpPr>
        <p:spPr>
          <a:xfrm>
            <a:off x="749808" y="4297680"/>
            <a:ext cx="10692079"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 REVIEWER PROMPT, BUILT FROM DAY TWO'S EIGHT HARDENING CHECKS</a:t>
            </a:r>
            <a:endParaRPr lang="en-US" sz="1000" dirty="0"/>
          </a:p>
        </p:txBody>
      </p:sp>
      <p:sp>
        <p:nvSpPr>
          <p:cNvPr id="13" name="Reviewer prompt text"/>
          <p:cNvSpPr txBox="1"/>
          <p:nvPr/>
        </p:nvSpPr>
        <p:spPr>
          <a:xfrm>
            <a:off x="749808" y="4590288"/>
            <a:ext cx="10692079" cy="97790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Review</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this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diff</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against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these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checks: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retries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set,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failure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path,</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run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ID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passed,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source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pinned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by</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name,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no</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hard-coded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IDs,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secrets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from</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vault,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no</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credentials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logged,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gate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before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the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write.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List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findings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with</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file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and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line.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Then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say</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what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you</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could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not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check.</a:t>
            </a:r>
            <a:endParaRPr lang="en-US" sz="1150" dirty="0"/>
          </a:p>
        </p:txBody>
      </p:sp>
      <p:sp>
        <p:nvSpPr>
          <p:cNvPr id="14"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Example from Day Two's Exercise 5: the denominator dropped null impressions, while the Alteryx rule flags N/A by region. Only the rule shows the difference.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7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7: review the AI's draft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20 MIN</a:t>
            </a:r>
            <a:endParaRPr lang="en-US" sz="1100" dirty="0"/>
          </a:p>
        </p:txBody>
      </p:sp>
      <p:sp>
        <p:nvSpPr>
          <p:cNvPr id="6" name="Draft pipeline"/>
          <p:cNvSpPr/>
          <p:nvPr/>
        </p:nvSpPr>
        <p:spPr>
          <a:xfrm>
            <a:off x="548640" y="1783080"/>
            <a:ext cx="7406640" cy="3547872"/>
          </a:xfrm>
          <a:prstGeom prst="roundRect">
            <a:avLst>
              <a:gd name="adj" fmla="val 2577"/>
            </a:avLst>
          </a:prstGeom>
          <a:solidFill>
            <a:schemeClr val="tx1"/>
          </a:solidFill>
          <a:ln/>
        </p:spPr>
      </p:sp>
      <p:sp>
        <p:nvSpPr>
          <p:cNvPr id="7" name="Code label"/>
          <p:cNvSpPr txBox="1"/>
          <p:nvPr/>
        </p:nvSpPr>
        <p:spPr>
          <a:xfrm>
            <a:off x="749808" y="1874520"/>
            <a:ext cx="700430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AZURE-PIPELINES.YML · DRAFTED BY AN ASSISTANT</a:t>
            </a:r>
            <a:endParaRPr lang="en-US" sz="1000" dirty="0"/>
          </a:p>
        </p:txBody>
      </p:sp>
      <p:sp>
        <p:nvSpPr>
          <p:cNvPr id="8" name="Draft pipeline text"/>
          <p:cNvSpPr txBox="1"/>
          <p:nvPr/>
        </p:nvSpPr>
        <p:spPr>
          <a:xfrm>
            <a:off x="749808" y="2167128"/>
            <a:ext cx="7004304" cy="305409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1</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trigger:</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2</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3</a:t>
            </a:r>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4</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pool:</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5</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vmImage: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ubuntu-latest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6</a:t>
            </a:r>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7</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variables: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8</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AZURE_CLIENT_SECRET: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"q8Zr2xK9vLm3Tn7Pw5"</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9</a:t>
            </a:r>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10</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steps: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11</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script: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pip</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install</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fabric-cicd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12</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displayName: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Install</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13</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script: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14</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python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deploy.py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--env</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PROD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--workspace-id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5d1f0c3a-7b2e-4c9a-8e61-2f4b9d7a1c30</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15</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python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deploy.py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--env</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PROD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--workspace-id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5d1f0c3a-7b2e-4c9a-8e61-2f4b9d7a1c30</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--cleanup</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16</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displayName: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Deploy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17</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script: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push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--force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origin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HEAD:main</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18</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displayName: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Tag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the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release</a:t>
            </a:r>
            <a:endParaRPr lang="en-US" sz="1000" dirty="0"/>
          </a:p>
        </p:txBody>
      </p:sp>
      <p:sp>
        <p:nvSpPr>
          <p:cNvPr id="9" name="Question 1"/>
          <p:cNvSpPr/>
          <p:nvPr/>
        </p:nvSpPr>
        <p:spPr>
          <a:xfrm>
            <a:off x="8138160" y="1783080"/>
            <a:ext cx="3502152" cy="658368"/>
          </a:xfrm>
          <a:prstGeom prst="roundRect">
            <a:avLst>
              <a:gd name="adj" fmla="val 16667"/>
            </a:avLst>
          </a:prstGeom>
          <a:solidFill>
            <a:schemeClr val="bg2"/>
          </a:solidFill>
          <a:ln/>
        </p:spPr>
      </p:sp>
      <p:sp>
        <p:nvSpPr>
          <p:cNvPr id="10" name="Question chip 1"/>
          <p:cNvSpPr/>
          <p:nvPr/>
        </p:nvSpPr>
        <p:spPr>
          <a:xfrm>
            <a:off x="8275320" y="1901952"/>
            <a:ext cx="420624" cy="420624"/>
          </a:xfrm>
          <a:prstGeom prst="roundRect">
            <a:avLst>
              <a:gd name="adj" fmla="val 17391"/>
            </a:avLst>
          </a:prstGeom>
          <a:solidFill>
            <a:schemeClr val="accent3"/>
          </a:solidFill>
          <a:ln/>
        </p:spPr>
      </p:sp>
      <p:sp>
        <p:nvSpPr>
          <p:cNvPr id="11" name="Question number"/>
          <p:cNvSpPr txBox="1"/>
          <p:nvPr/>
        </p:nvSpPr>
        <p:spPr>
          <a:xfrm>
            <a:off x="8275320" y="1901952"/>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1</a:t>
            </a:r>
            <a:endParaRPr lang="en-US" sz="1600" dirty="0"/>
          </a:p>
        </p:txBody>
      </p:sp>
      <p:sp>
        <p:nvSpPr>
          <p:cNvPr id="12" name="Question text"/>
          <p:cNvSpPr txBox="1"/>
          <p:nvPr/>
        </p:nvSpPr>
        <p:spPr>
          <a:xfrm>
            <a:off x="8823960" y="1783080"/>
            <a:ext cx="2724912" cy="658368"/>
          </a:xfrm>
          <a:prstGeom prst="rect">
            <a:avLst/>
          </a:prstGeom>
          <a:noFill/>
          <a:ln/>
        </p:spPr>
        <p:txBody>
          <a:bodyPr wrap="square" lIns="0" tIns="0" rIns="0" bIns="0" rtlCol="0" anchor="ctr"/>
          <a:lstStyle/>
          <a:p>
            <a:pPr indent="0" marL="0">
              <a:buNone/>
            </a:pPr>
            <a:r>
              <a:rPr lang="en-US" sz="1100" dirty="0">
                <a:solidFill>
                  <a:schemeClr val="tx1"/>
                </a:solidFill>
              </a:rPr>
              <a:t>When does this run? From which branches?</a:t>
            </a:r>
            <a:endParaRPr lang="en-US" sz="1100" dirty="0"/>
          </a:p>
        </p:txBody>
      </p:sp>
      <p:sp>
        <p:nvSpPr>
          <p:cNvPr id="13" name="Question 2"/>
          <p:cNvSpPr/>
          <p:nvPr/>
        </p:nvSpPr>
        <p:spPr>
          <a:xfrm>
            <a:off x="8138160" y="2532888"/>
            <a:ext cx="3502152" cy="658368"/>
          </a:xfrm>
          <a:prstGeom prst="roundRect">
            <a:avLst>
              <a:gd name="adj" fmla="val 16667"/>
            </a:avLst>
          </a:prstGeom>
          <a:solidFill>
            <a:schemeClr val="bg2"/>
          </a:solidFill>
          <a:ln/>
        </p:spPr>
      </p:sp>
      <p:sp>
        <p:nvSpPr>
          <p:cNvPr id="14" name="Question chip 2"/>
          <p:cNvSpPr/>
          <p:nvPr/>
        </p:nvSpPr>
        <p:spPr>
          <a:xfrm>
            <a:off x="8275320" y="2651760"/>
            <a:ext cx="420624" cy="420624"/>
          </a:xfrm>
          <a:prstGeom prst="roundRect">
            <a:avLst>
              <a:gd name="adj" fmla="val 17391"/>
            </a:avLst>
          </a:prstGeom>
          <a:solidFill>
            <a:schemeClr val="accent3"/>
          </a:solidFill>
          <a:ln/>
        </p:spPr>
      </p:sp>
      <p:sp>
        <p:nvSpPr>
          <p:cNvPr id="15" name="Question number"/>
          <p:cNvSpPr txBox="1"/>
          <p:nvPr/>
        </p:nvSpPr>
        <p:spPr>
          <a:xfrm>
            <a:off x="8275320" y="26517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2</a:t>
            </a:r>
            <a:endParaRPr lang="en-US" sz="1600" dirty="0"/>
          </a:p>
        </p:txBody>
      </p:sp>
      <p:sp>
        <p:nvSpPr>
          <p:cNvPr id="16" name="Question text"/>
          <p:cNvSpPr txBox="1"/>
          <p:nvPr/>
        </p:nvSpPr>
        <p:spPr>
          <a:xfrm>
            <a:off x="8823960" y="2532888"/>
            <a:ext cx="2724912" cy="658368"/>
          </a:xfrm>
          <a:prstGeom prst="rect">
            <a:avLst/>
          </a:prstGeom>
          <a:noFill/>
          <a:ln/>
        </p:spPr>
        <p:txBody>
          <a:bodyPr wrap="square" lIns="0" tIns="0" rIns="0" bIns="0" rtlCol="0" anchor="ctr"/>
          <a:lstStyle/>
          <a:p>
            <a:pPr indent="0" marL="0">
              <a:buNone/>
            </a:pPr>
            <a:r>
              <a:rPr lang="en-US" sz="1100" dirty="0">
                <a:solidFill>
                  <a:schemeClr val="tx1"/>
                </a:solidFill>
              </a:rPr>
              <a:t>What is in the file that should never be in a file?</a:t>
            </a:r>
            <a:endParaRPr lang="en-US" sz="1100" dirty="0"/>
          </a:p>
        </p:txBody>
      </p:sp>
      <p:sp>
        <p:nvSpPr>
          <p:cNvPr id="17" name="Question 3"/>
          <p:cNvSpPr/>
          <p:nvPr/>
        </p:nvSpPr>
        <p:spPr>
          <a:xfrm>
            <a:off x="8138160" y="3282696"/>
            <a:ext cx="3502152" cy="658368"/>
          </a:xfrm>
          <a:prstGeom prst="roundRect">
            <a:avLst>
              <a:gd name="adj" fmla="val 16667"/>
            </a:avLst>
          </a:prstGeom>
          <a:solidFill>
            <a:schemeClr val="bg2"/>
          </a:solidFill>
          <a:ln/>
        </p:spPr>
      </p:sp>
      <p:sp>
        <p:nvSpPr>
          <p:cNvPr id="18" name="Question chip 3"/>
          <p:cNvSpPr/>
          <p:nvPr/>
        </p:nvSpPr>
        <p:spPr>
          <a:xfrm>
            <a:off x="8275320" y="3401568"/>
            <a:ext cx="420624" cy="420624"/>
          </a:xfrm>
          <a:prstGeom prst="roundRect">
            <a:avLst>
              <a:gd name="adj" fmla="val 17391"/>
            </a:avLst>
          </a:prstGeom>
          <a:solidFill>
            <a:schemeClr val="accent3"/>
          </a:solidFill>
          <a:ln/>
        </p:spPr>
      </p:sp>
      <p:sp>
        <p:nvSpPr>
          <p:cNvPr id="19" name="Question number"/>
          <p:cNvSpPr txBox="1"/>
          <p:nvPr/>
        </p:nvSpPr>
        <p:spPr>
          <a:xfrm>
            <a:off x="8275320" y="3401568"/>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3</a:t>
            </a:r>
            <a:endParaRPr lang="en-US" sz="1600" dirty="0"/>
          </a:p>
        </p:txBody>
      </p:sp>
      <p:sp>
        <p:nvSpPr>
          <p:cNvPr id="20" name="Question text"/>
          <p:cNvSpPr txBox="1"/>
          <p:nvPr/>
        </p:nvSpPr>
        <p:spPr>
          <a:xfrm>
            <a:off x="8823960" y="3282696"/>
            <a:ext cx="2724912" cy="658368"/>
          </a:xfrm>
          <a:prstGeom prst="rect">
            <a:avLst/>
          </a:prstGeom>
          <a:noFill/>
          <a:ln/>
        </p:spPr>
        <p:txBody>
          <a:bodyPr wrap="square" lIns="0" tIns="0" rIns="0" bIns="0" rtlCol="0" anchor="ctr"/>
          <a:lstStyle/>
          <a:p>
            <a:pPr indent="0" marL="0">
              <a:buNone/>
            </a:pPr>
            <a:r>
              <a:rPr lang="en-US" sz="1100" dirty="0">
                <a:solidFill>
                  <a:schemeClr val="tx1"/>
                </a:solidFill>
              </a:rPr>
              <a:t>Where does it go first? Who must say yes?</a:t>
            </a:r>
            <a:endParaRPr lang="en-US" sz="1100" dirty="0"/>
          </a:p>
        </p:txBody>
      </p:sp>
      <p:sp>
        <p:nvSpPr>
          <p:cNvPr id="21" name="Question 4"/>
          <p:cNvSpPr/>
          <p:nvPr/>
        </p:nvSpPr>
        <p:spPr>
          <a:xfrm>
            <a:off x="8138160" y="4032504"/>
            <a:ext cx="3502152" cy="658368"/>
          </a:xfrm>
          <a:prstGeom prst="roundRect">
            <a:avLst>
              <a:gd name="adj" fmla="val 16667"/>
            </a:avLst>
          </a:prstGeom>
          <a:solidFill>
            <a:schemeClr val="bg2"/>
          </a:solidFill>
          <a:ln/>
        </p:spPr>
      </p:sp>
      <p:sp>
        <p:nvSpPr>
          <p:cNvPr id="22" name="Question chip 4"/>
          <p:cNvSpPr/>
          <p:nvPr/>
        </p:nvSpPr>
        <p:spPr>
          <a:xfrm>
            <a:off x="8275320" y="4151376"/>
            <a:ext cx="420624" cy="420624"/>
          </a:xfrm>
          <a:prstGeom prst="roundRect">
            <a:avLst>
              <a:gd name="adj" fmla="val 17391"/>
            </a:avLst>
          </a:prstGeom>
          <a:solidFill>
            <a:schemeClr val="accent3"/>
          </a:solidFill>
          <a:ln/>
        </p:spPr>
      </p:sp>
      <p:sp>
        <p:nvSpPr>
          <p:cNvPr id="23" name="Question number"/>
          <p:cNvSpPr txBox="1"/>
          <p:nvPr/>
        </p:nvSpPr>
        <p:spPr>
          <a:xfrm>
            <a:off x="8275320" y="4151376"/>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4</a:t>
            </a:r>
            <a:endParaRPr lang="en-US" sz="1600" dirty="0"/>
          </a:p>
        </p:txBody>
      </p:sp>
      <p:sp>
        <p:nvSpPr>
          <p:cNvPr id="24" name="Question text"/>
          <p:cNvSpPr txBox="1"/>
          <p:nvPr/>
        </p:nvSpPr>
        <p:spPr>
          <a:xfrm>
            <a:off x="8823960" y="4032504"/>
            <a:ext cx="2724912" cy="658368"/>
          </a:xfrm>
          <a:prstGeom prst="rect">
            <a:avLst/>
          </a:prstGeom>
          <a:noFill/>
          <a:ln/>
        </p:spPr>
        <p:txBody>
          <a:bodyPr wrap="square" lIns="0" tIns="0" rIns="0" bIns="0" rtlCol="0" anchor="ctr"/>
          <a:lstStyle/>
          <a:p>
            <a:pPr indent="0" marL="0">
              <a:buNone/>
            </a:pPr>
            <a:r>
              <a:rPr lang="en-US" sz="1100" dirty="0">
                <a:solidFill>
                  <a:schemeClr val="tx1"/>
                </a:solidFill>
              </a:rPr>
              <a:t>What does it delete? What does it install?</a:t>
            </a:r>
            <a:endParaRPr lang="en-US" sz="1100" dirty="0"/>
          </a:p>
        </p:txBody>
      </p:sp>
      <p:sp>
        <p:nvSpPr>
          <p:cNvPr id="25" name="Question 5"/>
          <p:cNvSpPr/>
          <p:nvPr/>
        </p:nvSpPr>
        <p:spPr>
          <a:xfrm>
            <a:off x="8138160" y="4782312"/>
            <a:ext cx="3502152" cy="658368"/>
          </a:xfrm>
          <a:prstGeom prst="roundRect">
            <a:avLst>
              <a:gd name="adj" fmla="val 16667"/>
            </a:avLst>
          </a:prstGeom>
          <a:solidFill>
            <a:schemeClr val="bg2"/>
          </a:solidFill>
          <a:ln/>
        </p:spPr>
      </p:sp>
      <p:sp>
        <p:nvSpPr>
          <p:cNvPr id="26" name="Question chip 5"/>
          <p:cNvSpPr/>
          <p:nvPr/>
        </p:nvSpPr>
        <p:spPr>
          <a:xfrm>
            <a:off x="8275320" y="4901184"/>
            <a:ext cx="420624" cy="420624"/>
          </a:xfrm>
          <a:prstGeom prst="roundRect">
            <a:avLst>
              <a:gd name="adj" fmla="val 17391"/>
            </a:avLst>
          </a:prstGeom>
          <a:solidFill>
            <a:schemeClr val="accent3"/>
          </a:solidFill>
          <a:ln/>
        </p:spPr>
      </p:sp>
      <p:sp>
        <p:nvSpPr>
          <p:cNvPr id="27" name="Question number"/>
          <p:cNvSpPr txBox="1"/>
          <p:nvPr/>
        </p:nvSpPr>
        <p:spPr>
          <a:xfrm>
            <a:off x="8275320" y="4901184"/>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5</a:t>
            </a:r>
            <a:endParaRPr lang="en-US" sz="1600" dirty="0"/>
          </a:p>
        </p:txBody>
      </p:sp>
      <p:sp>
        <p:nvSpPr>
          <p:cNvPr id="28" name="Question text"/>
          <p:cNvSpPr txBox="1"/>
          <p:nvPr/>
        </p:nvSpPr>
        <p:spPr>
          <a:xfrm>
            <a:off x="8823960" y="4782312"/>
            <a:ext cx="2724912" cy="658368"/>
          </a:xfrm>
          <a:prstGeom prst="rect">
            <a:avLst/>
          </a:prstGeom>
          <a:noFill/>
          <a:ln/>
        </p:spPr>
        <p:txBody>
          <a:bodyPr wrap="square" lIns="0" tIns="0" rIns="0" bIns="0" rtlCol="0" anchor="ctr"/>
          <a:lstStyle/>
          <a:p>
            <a:pPr indent="0" marL="0">
              <a:buNone/>
            </a:pPr>
            <a:r>
              <a:rPr lang="en-US" sz="1100" dirty="0">
                <a:solidFill>
                  <a:schemeClr val="tx1"/>
                </a:solidFill>
              </a:rPr>
              <a:t>Which lines change history that others rely on?</a:t>
            </a:r>
            <a:endParaRPr lang="en-US" sz="1100" dirty="0"/>
          </a:p>
        </p:txBody>
      </p:sp>
      <p:sp>
        <p:nvSpPr>
          <p:cNvPr id="29" name="Count note"/>
          <p:cNvSpPr/>
          <p:nvPr/>
        </p:nvSpPr>
        <p:spPr>
          <a:xfrm>
            <a:off x="8138160" y="5577840"/>
            <a:ext cx="3502152" cy="457200"/>
          </a:xfrm>
          <a:prstGeom prst="roundRect">
            <a:avLst>
              <a:gd name="adj" fmla="val 24000"/>
            </a:avLst>
          </a:prstGeom>
          <a:solidFill>
            <a:schemeClr val="accent3">
              <a:alpha val="22000"/>
            </a:schemeClr>
          </a:solidFill>
          <a:ln/>
        </p:spPr>
      </p:sp>
      <p:sp>
        <p:nvSpPr>
          <p:cNvPr id="30" name="Count text"/>
          <p:cNvSpPr txBox="1"/>
          <p:nvPr/>
        </p:nvSpPr>
        <p:spPr>
          <a:xfrm>
            <a:off x="8275320" y="5577840"/>
            <a:ext cx="3291840" cy="457200"/>
          </a:xfrm>
          <a:prstGeom prst="rect">
            <a:avLst/>
          </a:prstGeom>
          <a:noFill/>
          <a:ln/>
        </p:spPr>
        <p:txBody>
          <a:bodyPr wrap="square" lIns="0" tIns="0" rIns="0" bIns="0" rtlCol="0" anchor="ctr"/>
          <a:lstStyle/>
          <a:p>
            <a:pPr indent="0" marL="0">
              <a:buNone/>
            </a:pPr>
            <a:r>
              <a:rPr lang="en-US" sz="1150" dirty="0">
                <a:solidFill>
                  <a:schemeClr val="tx1"/>
                </a:solidFill>
              </a:rPr>
              <a:t>Seven problems. The ID and secret are made up.</a:t>
            </a:r>
            <a:endParaRPr lang="en-US" sz="11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7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7: the seven problems, and who catches them</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20 MIN</a:t>
            </a:r>
            <a:endParaRPr lang="en-US" sz="1100" dirty="0"/>
          </a:p>
        </p:txBody>
      </p:sp>
      <p:graphicFrame>
        <p:nvGraphicFramePr>
          <p:cNvPr id="55" name="Draft problems"/>
          <p:cNvGraphicFramePr>
            <a:graphicFrameLocks noGrp="1"/>
          </p:cNvGraphicFramePr>
          <p:nvPr>
            <p:extLst>
              <p:ext uri="{D42A27DB-BD31-4B8C-83A1-F6EECF244321}">
                <p14:modId xmlns:p14="http://schemas.microsoft.com/office/powerpoint/2010/main" val="1579011935"/>
              </p:ext>
            </p:extLst>
          </p:nvPr>
        </p:nvGraphicFramePr>
        <p:xfrm>
          <a:off x="548640" y="1783080"/>
          <a:ext cx="6675120" cy="914400"/>
        </p:xfrm>
        <a:graphic>
          <a:graphicData uri="http://schemas.openxmlformats.org/drawingml/2006/table">
            <a:tbl>
              <a:tblPr/>
              <a:tblGrid>
                <a:gridCol w="548640"/>
                <a:gridCol w="3017520"/>
                <a:gridCol w="822960"/>
                <a:gridCol w="2286000"/>
              </a:tblGrid>
              <a:tr h="347472">
                <a:tc>
                  <a:txBody>
                    <a:bodyPr/>
                    <a:lstStyle/>
                    <a:p>
                      <a:pPr indent="0" marL="0">
                        <a:buNone/>
                      </a:pPr>
                      <a:r>
                        <a:rPr lang="en-US" sz="1050" b="1" dirty="0">
                          <a:solidFill>
                            <a:schemeClr val="bg1"/>
                          </a:solidFill>
                        </a:rPr>
                        <a:t>Line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050" b="1" dirty="0">
                          <a:solidFill>
                            <a:schemeClr val="bg1"/>
                          </a:solidFill>
                        </a:rPr>
                        <a:t>Problem</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050" b="1" dirty="0">
                          <a:solidFill>
                            <a:schemeClr val="bg1"/>
                          </a:solidFill>
                        </a:rPr>
                        <a:t>Caught by</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050" b="1" dirty="0">
                          <a:solidFill>
                            <a:schemeClr val="bg1"/>
                          </a:solidFill>
                        </a:rPr>
                        <a:t>Fix</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050" dirty="0">
                          <a:solidFill>
                            <a:schemeClr val="tx1"/>
                          </a:solidFill>
                        </a:rPr>
                        <a:t>2</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Runs on every branch</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b="1" dirty="0">
                          <a:solidFill>
                            <a:schemeClr val="accent4"/>
                          </a:solidFill>
                        </a:rPr>
                        <a:t>Person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main only, after the rails</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050" dirty="0">
                          <a:solidFill>
                            <a:schemeClr val="tx1"/>
                          </a:solidFill>
                        </a:rPr>
                        <a:t>8</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A secret in the file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b="1" dirty="0">
                          <a:solidFill>
                            <a:schemeClr val="accent2"/>
                          </a:solidFill>
                        </a:rPr>
                        <a:t>Rail</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A vault-backed variable group</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050" dirty="0">
                          <a:solidFill>
                            <a:schemeClr val="tx1"/>
                          </a:solidFill>
                        </a:rPr>
                        <a:t>11</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pip install in a uv repository</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b="1" dirty="0">
                          <a:solidFill>
                            <a:schemeClr val="accent1"/>
                          </a:solidFill>
                        </a:rPr>
                        <a:t>Guard</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uv sync --frozen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050" dirty="0">
                          <a:solidFill>
                            <a:schemeClr val="tx1"/>
                          </a:solidFill>
                        </a:rPr>
                        <a:t>13-15</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Straight to PROD: no TEST, no approval</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b="1" dirty="0">
                          <a:solidFill>
                            <a:schemeClr val="accent4"/>
                          </a:solidFill>
                        </a:rPr>
                        <a:t>Person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Stages and an environment with approvals</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050" dirty="0">
                          <a:solidFill>
                            <a:schemeClr val="tx1"/>
                          </a:solidFill>
                        </a:rPr>
                        <a:t>14-15</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A hard-coded PROD workspace ID</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b="1" dirty="0">
                          <a:solidFill>
                            <a:schemeClr val="accent2"/>
                          </a:solidFill>
                        </a:rPr>
                        <a:t>Rail</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A pipeline variable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050" dirty="0">
                          <a:solidFill>
                            <a:schemeClr val="tx1"/>
                          </a:solidFill>
                        </a:rPr>
                        <a:t>15</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--cleanup deletes what is not in the repo</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b="1" dirty="0">
                          <a:solidFill>
                            <a:schemeClr val="accent4"/>
                          </a:solidFill>
                        </a:rPr>
                        <a:t>Person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Off by default. A reviewed change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050" dirty="0">
                          <a:solidFill>
                            <a:schemeClr val="tx1"/>
                          </a:solidFill>
                        </a:rPr>
                        <a:t>17</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A force push to main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b="1" dirty="0">
                          <a:solidFill>
                            <a:schemeClr val="accent1"/>
                          </a:solidFill>
                        </a:rPr>
                        <a:t>Guard</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Remove. A tag needs no push of main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7" name="Exercise 7 results"/>
          <p:cNvSpPr/>
          <p:nvPr/>
        </p:nvSpPr>
        <p:spPr>
          <a:xfrm>
            <a:off x="7406640" y="1783080"/>
            <a:ext cx="4233672" cy="2292858"/>
          </a:xfrm>
          <a:prstGeom prst="roundRect">
            <a:avLst>
              <a:gd name="adj" fmla="val 3988"/>
            </a:avLst>
          </a:prstGeom>
          <a:solidFill>
            <a:schemeClr val="tx1"/>
          </a:solidFill>
          <a:ln/>
        </p:spPr>
      </p:sp>
      <p:sp>
        <p:nvSpPr>
          <p:cNvPr id="8" name="Code label"/>
          <p:cNvSpPr txBox="1"/>
          <p:nvPr/>
        </p:nvSpPr>
        <p:spPr>
          <a:xfrm>
            <a:off x="7607808" y="1874520"/>
            <a:ext cx="383133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WHAT THE SCRIPTS SAID</a:t>
            </a:r>
            <a:endParaRPr lang="en-US" sz="1000" dirty="0"/>
          </a:p>
        </p:txBody>
      </p:sp>
      <p:sp>
        <p:nvSpPr>
          <p:cNvPr id="9" name="Exercise 7 results text"/>
          <p:cNvSpPr txBox="1"/>
          <p:nvPr/>
        </p:nvSpPr>
        <p:spPr>
          <a:xfrm>
            <a:off x="7607808" y="2167128"/>
            <a:ext cx="3831336" cy="1799082"/>
          </a:xfrm>
          <a:prstGeom prst="rect">
            <a:avLst/>
          </a:prstGeom>
          <a:noFill/>
          <a:ln/>
        </p:spPr>
        <p:txBody>
          <a:bodyPr wrap="square" lIns="0" tIns="0" rIns="0" bIns="0" rtlCol="0" anchor="t"/>
          <a:lstStyle/>
          <a:p>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azure-pipelines.yml:8:</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assigned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secret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finding(s)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rails/scan_ids.py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azure-pipelines.yml:14:</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hard-coded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5d1f0c3a-****</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azure-pipelines.yml:15:</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hard-coded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5d1f0c3a-****</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2</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hard-coded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ID(s)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guard.py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(three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of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the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commands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the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file)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DENY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pip</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install</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fabric-cicd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ASK</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&lt;id&gt;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DENY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git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push</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--force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origin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HEAD:main</a:t>
            </a:r>
            <a:endParaRPr lang="en-US" sz="900" dirty="0"/>
          </a:p>
        </p:txBody>
      </p:sp>
      <p:sp>
        <p:nvSpPr>
          <p:cNvPr id="10" name="Summary card"/>
          <p:cNvSpPr/>
          <p:nvPr/>
        </p:nvSpPr>
        <p:spPr>
          <a:xfrm>
            <a:off x="7406640" y="4213098"/>
            <a:ext cx="4233672" cy="1097280"/>
          </a:xfrm>
          <a:prstGeom prst="roundRect">
            <a:avLst>
              <a:gd name="adj" fmla="val 10000"/>
            </a:avLst>
          </a:prstGeom>
          <a:solidFill>
            <a:schemeClr val="accent2">
              <a:alpha val="20000"/>
            </a:schemeClr>
          </a:solidFill>
          <a:ln/>
        </p:spPr>
      </p:sp>
      <p:sp>
        <p:nvSpPr>
          <p:cNvPr id="11" name="Summary text"/>
          <p:cNvSpPr txBox="1"/>
          <p:nvPr/>
        </p:nvSpPr>
        <p:spPr>
          <a:xfrm>
            <a:off x="7589520" y="4213098"/>
            <a:ext cx="3886200" cy="1097280"/>
          </a:xfrm>
          <a:prstGeom prst="rect">
            <a:avLst/>
          </a:prstGeom>
          <a:noFill/>
          <a:ln/>
        </p:spPr>
        <p:txBody>
          <a:bodyPr wrap="square" lIns="0" tIns="0" rIns="0" bIns="0" rtlCol="0" anchor="ctr"/>
          <a:lstStyle/>
          <a:p>
            <a:pPr indent="0" marL="0">
              <a:buNone/>
            </a:pPr>
            <a:r>
              <a:rPr lang="en-US" sz="1250" b="1" dirty="0">
                <a:solidFill>
                  <a:schemeClr val="tx1"/>
                </a:solidFill>
              </a:rPr>
              <a:t>Four are mechanical: </a:t>
            </a:r>
            <a:pPr indent="0" marL="0">
              <a:buNone/>
            </a:pPr>
            <a:r>
              <a:rPr lang="en-US" sz="1250" dirty="0">
                <a:solidFill>
                  <a:schemeClr val="tx1"/>
                </a:solidFill>
              </a:rPr>
              <a:t>a script catches them in seconds. </a:t>
            </a:r>
            <a:pPr indent="0" marL="0">
              <a:buNone/>
            </a:pPr>
            <a:r>
              <a:rPr lang="en-US" sz="1250" b="1" dirty="0">
                <a:solidFill>
                  <a:schemeClr val="tx1"/>
                </a:solidFill>
              </a:rPr>
              <a:t>Three need judgement: </a:t>
            </a:r>
            <a:pPr indent="0" marL="0">
              <a:buNone/>
            </a:pPr>
            <a:r>
              <a:rPr lang="en-US" sz="1250" dirty="0">
                <a:solidFill>
                  <a:schemeClr val="tx1"/>
                </a:solidFill>
              </a:rPr>
              <a:t>a person has to read the file.</a:t>
            </a:r>
            <a:endParaRPr lang="en-US" sz="1250" dirty="0"/>
          </a:p>
        </p:txBody>
      </p:sp>
      <p:sp>
        <p:nvSpPr>
          <p:cNvPr id="12"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Real output on the draft. The corrected pipeline (see Deployment patterns) passes both file rails.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Guardrails: a hook that stops the 6pm command</a:t>
            </a:r>
            <a:endParaRPr lang="en-US" sz="3200" dirty="0"/>
          </a:p>
        </p:txBody>
      </p:sp>
      <p:graphicFrame>
        <p:nvGraphicFramePr>
          <p:cNvPr id="56" name="Guard cases"/>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914400"/>
        </p:xfrm>
        <a:graphic>
          <a:graphicData uri="http://schemas.openxmlformats.org/drawingml/2006/table">
            <a:tbl>
              <a:tblPr/>
              <a:tblGrid>
                <a:gridCol w="3657600"/>
                <a:gridCol w="2194560"/>
              </a:tblGrid>
              <a:tr h="365760">
                <a:tc>
                  <a:txBody>
                    <a:bodyPr/>
                    <a:lstStyle/>
                    <a:p>
                      <a:pPr indent="0" marL="0">
                        <a:buNone/>
                      </a:pPr>
                      <a:r>
                        <a:rPr lang="en-US" sz="1100" b="1" dirty="0">
                          <a:solidFill>
                            <a:schemeClr val="bg1"/>
                          </a:solidFill>
                        </a:rPr>
                        <a:t>A command the assistant tries</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The guard says</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uv add fabric-cicd</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b="1" dirty="0">
                          <a:solidFill>
                            <a:schemeClr val="accent2"/>
                          </a:solidFill>
                        </a:rPr>
                        <a:t>Allowed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pip install fabric-cicd</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b="1" dirty="0">
                          <a:solidFill>
                            <a:schemeClr val="accent1"/>
                          </a:solidFill>
                        </a:rPr>
                        <a:t>Denied: use uv</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git push origin feat/AB1002-…</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b="1" dirty="0">
                          <a:solidFill>
                            <a:schemeClr val="accent2"/>
                          </a:solidFill>
                        </a:rPr>
                        <a:t>Allowed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git push --force origin main</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b="1" dirty="0">
                          <a:solidFill>
                            <a:schemeClr val="accent1"/>
                          </a:solidFill>
                        </a:rPr>
                        <a:t>Denied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git push --force-with-lease origin feat/…</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b="1" dirty="0">
                          <a:solidFill>
                            <a:schemeClr val="accent2"/>
                          </a:solidFill>
                        </a:rPr>
                        <a:t>Allowed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deploy.py --env PROD …</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b="1" dirty="0">
                          <a:solidFill>
                            <a:schemeClr val="accent4"/>
                          </a:solidFill>
                        </a:rPr>
                        <a:t>Ask first</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Hook configuration"/>
          <p:cNvSpPr/>
          <p:nvPr/>
        </p:nvSpPr>
        <p:spPr>
          <a:xfrm>
            <a:off x="6583680" y="1783080"/>
            <a:ext cx="5056632" cy="2463292"/>
          </a:xfrm>
          <a:prstGeom prst="roundRect">
            <a:avLst>
              <a:gd name="adj" fmla="val 3712"/>
            </a:avLst>
          </a:prstGeom>
          <a:solidFill>
            <a:schemeClr val="tx1"/>
          </a:solidFill>
          <a:ln/>
        </p:spPr>
      </p:sp>
      <p:sp>
        <p:nvSpPr>
          <p:cNvPr id="7" name="Code label"/>
          <p:cNvSpPr txBox="1"/>
          <p:nvPr/>
        </p:nvSpPr>
        <p:spPr>
          <a:xfrm>
            <a:off x="6784848" y="1874520"/>
            <a:ext cx="465429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SETTINGS.JSON · THE HOOK, ONE ASSISTANT'S SHAPE</a:t>
            </a:r>
            <a:endParaRPr lang="en-US" sz="1000" dirty="0"/>
          </a:p>
        </p:txBody>
      </p:sp>
      <p:sp>
        <p:nvSpPr>
          <p:cNvPr id="8" name="Hook configuration text"/>
          <p:cNvSpPr txBox="1"/>
          <p:nvPr/>
        </p:nvSpPr>
        <p:spPr>
          <a:xfrm>
            <a:off x="6784848" y="2167128"/>
            <a:ext cx="4654296" cy="196951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"hooks":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"PreToolUse":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"matcher":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"Bash",</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"hooks":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"type":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"command",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"command":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"python3</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hooks/guard.py"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9" name="Honest box"/>
          <p:cNvSpPr/>
          <p:nvPr/>
        </p:nvSpPr>
        <p:spPr>
          <a:xfrm>
            <a:off x="548640" y="5029200"/>
            <a:ext cx="11094415" cy="914400"/>
          </a:xfrm>
          <a:prstGeom prst="roundRect">
            <a:avLst>
              <a:gd name="adj" fmla="val 12000"/>
            </a:avLst>
          </a:prstGeom>
          <a:solidFill>
            <a:schemeClr val="accent3">
              <a:alpha val="20000"/>
            </a:schemeClr>
          </a:solidFill>
          <a:ln/>
        </p:spPr>
      </p:sp>
      <p:sp>
        <p:nvSpPr>
          <p:cNvPr id="10" name="Honest text"/>
          <p:cNvSpPr txBox="1"/>
          <p:nvPr/>
        </p:nvSpPr>
        <p:spPr>
          <a:xfrm>
            <a:off x="822960" y="5029200"/>
            <a:ext cx="10545775" cy="914400"/>
          </a:xfrm>
          <a:prstGeom prst="rect">
            <a:avLst/>
          </a:prstGeom>
          <a:noFill/>
          <a:ln/>
        </p:spPr>
        <p:txBody>
          <a:bodyPr wrap="square" lIns="0" tIns="0" rIns="0" bIns="0" rtlCol="0" anchor="ctr"/>
          <a:lstStyle/>
          <a:p>
            <a:pPr indent="0" marL="0">
              <a:buNone/>
            </a:pPr>
            <a:r>
              <a:rPr lang="en-US" sz="1350" b="1" dirty="0">
                <a:solidFill>
                  <a:schemeClr val="tx1"/>
                </a:solidFill>
              </a:rPr>
              <a:t>A guard against mistakes, not a security boundary. </a:t>
            </a:r>
            <a:pPr indent="0" marL="0">
              <a:buNone/>
            </a:pPr>
            <a:r>
              <a:rPr lang="en-US" sz="1350" dirty="0">
                <a:solidFill>
                  <a:schemeClr val="tx1"/>
                </a:solidFill>
              </a:rPr>
              <a:t>It can be disabled, and a hook reads a command string, so it cannot prove intent. It catches the tired command that would have touched production, and claims no more.</a:t>
            </a:r>
            <a:endParaRPr lang="en-US" sz="1350" dirty="0"/>
          </a:p>
        </p:txBody>
      </p:sp>
      <p:sp>
        <p:nvSpPr>
          <p:cNvPr id="11" name="Footnote"/>
          <p:cNvSpPr txBox="1"/>
          <p:nvPr/>
        </p:nvSpPr>
        <p:spPr>
          <a:xfrm>
            <a:off x="548640" y="608076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Tested with simulated tool calls, not inside an assistant. The script is in the appendix. Configuration shape varies by tool.</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AI for operations: triage a failed run</a:t>
            </a:r>
            <a:endParaRPr lang="en-US" sz="3200" dirty="0"/>
          </a:p>
        </p:txBody>
      </p:sp>
      <p:sp>
        <p:nvSpPr>
          <p:cNvPr id="5" name="Triage prompt"/>
          <p:cNvSpPr/>
          <p:nvPr/>
        </p:nvSpPr>
        <p:spPr>
          <a:xfrm>
            <a:off x="548640" y="1783080"/>
            <a:ext cx="6309360" cy="2292858"/>
          </a:xfrm>
          <a:prstGeom prst="roundRect">
            <a:avLst>
              <a:gd name="adj" fmla="val 3988"/>
            </a:avLst>
          </a:prstGeom>
          <a:solidFill>
            <a:schemeClr val="tx1"/>
          </a:solidFill>
          <a:ln/>
        </p:spPr>
      </p:sp>
      <p:sp>
        <p:nvSpPr>
          <p:cNvPr id="6" name="Code label"/>
          <p:cNvSpPr txBox="1"/>
          <p:nvPr/>
        </p:nvSpPr>
        <p:spPr>
          <a:xfrm>
            <a:off x="749808" y="1874520"/>
            <a:ext cx="59070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WHAT TO GIVE IT, AND WHAT TO ASK</a:t>
            </a:r>
            <a:endParaRPr lang="en-US" sz="1000" dirty="0"/>
          </a:p>
        </p:txBody>
      </p:sp>
      <p:sp>
        <p:nvSpPr>
          <p:cNvPr id="7" name="Triage prompt text"/>
          <p:cNvSpPr txBox="1"/>
          <p:nvPr/>
        </p:nvSpPr>
        <p:spPr>
          <a:xfrm>
            <a:off x="749808" y="2167128"/>
            <a:ext cx="5907024" cy="1799082"/>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Pipeline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pl_dst_apportion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failed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on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the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Notebook</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activity.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Inputs: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period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"Jan-25",</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denominator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"without_na"</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Error: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AssertionError: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bad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period: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'Jan-25'</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Run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log:</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no</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new</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row</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for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this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run.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In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two</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sentences: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what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happened,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and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what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did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not?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Then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list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what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I</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should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check.</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Do</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not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suggest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code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changes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unless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the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input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was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valid.</a:t>
            </a:r>
            <a:endParaRPr lang="en-US" sz="1100" dirty="0"/>
          </a:p>
        </p:txBody>
      </p:sp>
      <p:sp>
        <p:nvSpPr>
          <p:cNvPr id="8" name="Good diagnosis"/>
          <p:cNvSpPr/>
          <p:nvPr/>
        </p:nvSpPr>
        <p:spPr>
          <a:xfrm>
            <a:off x="7040880" y="1783080"/>
            <a:ext cx="4599432" cy="2103120"/>
          </a:xfrm>
          <a:prstGeom prst="roundRect">
            <a:avLst>
              <a:gd name="adj" fmla="val 5217"/>
            </a:avLst>
          </a:prstGeom>
          <a:solidFill>
            <a:schemeClr val="accent2">
              <a:alpha val="18000"/>
            </a:schemeClr>
          </a:solidFill>
          <a:ln/>
        </p:spPr>
      </p:sp>
      <p:sp>
        <p:nvSpPr>
          <p:cNvPr id="9" name="Pill"/>
          <p:cNvSpPr txBox="1"/>
          <p:nvPr/>
        </p:nvSpPr>
        <p:spPr>
          <a:xfrm>
            <a:off x="7269480" y="1901952"/>
            <a:ext cx="228600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950" b="1" spc="200" kern="0" dirty="0">
                <a:solidFill>
                  <a:schemeClr val="bg1"/>
                </a:solidFill>
              </a:rPr>
              <a:t>A GOOD DIAGNOSIS SAYS</a:t>
            </a:r>
            <a:endParaRPr lang="en-US" sz="950" dirty="0"/>
          </a:p>
        </p:txBody>
      </p:sp>
      <p:sp>
        <p:nvSpPr>
          <p:cNvPr id="10" name="Diagnosis list"/>
          <p:cNvSpPr txBox="1"/>
          <p:nvPr/>
        </p:nvSpPr>
        <p:spPr>
          <a:xfrm>
            <a:off x="7269480" y="2331720"/>
            <a:ext cx="4206240" cy="15087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The first cell refused the period: it must look like 2025-01.</a:t>
            </a:r>
            <a:endParaRPr lang="en-US" sz="1250" dirty="0"/>
          </a:p>
          <a:p>
            <a:pPr marL="342900" indent="-342900">
              <a:spcAft>
                <a:spcPts val="600"/>
              </a:spcAft>
              <a:buSzPct val="100000"/>
              <a:buChar char="•"/>
            </a:pPr>
            <a:r>
              <a:rPr lang="en-US" sz="1250" dirty="0">
                <a:solidFill>
                  <a:schemeClr val="tx1"/>
                </a:solidFill>
              </a:rPr>
              <a:t>It stopped before reading any file, so gold is unchanged.</a:t>
            </a:r>
            <a:endParaRPr lang="en-US" sz="1250" dirty="0"/>
          </a:p>
          <a:p>
            <a:pPr marL="342900" indent="-342900">
              <a:spcAft>
                <a:spcPts val="600"/>
              </a:spcAft>
              <a:buSzPct val="100000"/>
              <a:buChar char="•"/>
            </a:pPr>
            <a:r>
              <a:rPr lang="en-US" sz="1250" dirty="0">
                <a:solidFill>
                  <a:schemeClr val="tx1"/>
                </a:solidFill>
              </a:rPr>
              <a:t>It stopped before the gate, so there is no run log row.</a:t>
            </a:r>
            <a:endParaRPr lang="en-US" sz="1250" dirty="0"/>
          </a:p>
        </p:txBody>
      </p:sp>
      <p:sp>
        <p:nvSpPr>
          <p:cNvPr id="11" name="Your checks"/>
          <p:cNvSpPr/>
          <p:nvPr/>
        </p:nvSpPr>
        <p:spPr>
          <a:xfrm>
            <a:off x="7040880" y="4023360"/>
            <a:ext cx="4599432" cy="1828800"/>
          </a:xfrm>
          <a:prstGeom prst="roundRect">
            <a:avLst>
              <a:gd name="adj" fmla="val 6000"/>
            </a:avLst>
          </a:prstGeom>
          <a:solidFill>
            <a:schemeClr val="accent3">
              <a:alpha val="22000"/>
            </a:schemeClr>
          </a:solidFill>
          <a:ln/>
        </p:spPr>
      </p:sp>
      <p:sp>
        <p:nvSpPr>
          <p:cNvPr id="12" name="Pill"/>
          <p:cNvSpPr txBox="1"/>
          <p:nvPr/>
        </p:nvSpPr>
        <p:spPr>
          <a:xfrm>
            <a:off x="7269480" y="4142232"/>
            <a:ext cx="16459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b="1" spc="200" kern="0" dirty="0">
                <a:solidFill>
                  <a:schemeClr val="tx1"/>
                </a:solidFill>
              </a:rPr>
              <a:t>YOUR CHECKS</a:t>
            </a:r>
            <a:endParaRPr lang="en-US" sz="950" dirty="0"/>
          </a:p>
        </p:txBody>
      </p:sp>
      <p:sp>
        <p:nvSpPr>
          <p:cNvPr id="13" name="Checks list"/>
          <p:cNvSpPr txBox="1"/>
          <p:nvPr/>
        </p:nvSpPr>
        <p:spPr>
          <a:xfrm>
            <a:off x="7269480" y="4572000"/>
            <a:ext cx="4206240" cy="12344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1"/>
                </a:solidFill>
              </a:rPr>
              <a:t>Confirm in the monitoring hub.</a:t>
            </a:r>
            <a:endParaRPr lang="en-US" sz="1250" dirty="0"/>
          </a:p>
          <a:p>
            <a:pPr marL="342900" indent="-342900">
              <a:spcAft>
                <a:spcPts val="500"/>
              </a:spcAft>
              <a:buSzPct val="100000"/>
              <a:buChar char="•"/>
            </a:pPr>
            <a:r>
              <a:rPr lang="en-US" sz="1250" dirty="0">
                <a:solidFill>
                  <a:schemeClr val="tx1"/>
                </a:solidFill>
              </a:rPr>
              <a:t>Query the run log: no row?</a:t>
            </a:r>
            <a:endParaRPr lang="en-US" sz="1250" dirty="0"/>
          </a:p>
          <a:p>
            <a:pPr marL="342900" indent="-342900">
              <a:spcAft>
                <a:spcPts val="500"/>
              </a:spcAft>
              <a:buSzPct val="100000"/>
              <a:buChar char="•"/>
            </a:pPr>
            <a:r>
              <a:rPr lang="en-US" sz="1250" dirty="0">
                <a:solidFill>
                  <a:schemeClr val="tx1"/>
                </a:solidFill>
              </a:rPr>
              <a:t>Fix the input, not the code.</a:t>
            </a:r>
            <a:endParaRPr lang="en-US" sz="1250" dirty="0"/>
          </a:p>
        </p:txBody>
      </p:sp>
      <p:sp>
        <p:nvSpPr>
          <p:cNvPr id="14" name="Why card"/>
          <p:cNvSpPr/>
          <p:nvPr/>
        </p:nvSpPr>
        <p:spPr>
          <a:xfrm>
            <a:off x="548640" y="4343400"/>
            <a:ext cx="6309360" cy="1508760"/>
          </a:xfrm>
          <a:prstGeom prst="roundRect">
            <a:avLst>
              <a:gd name="adj" fmla="val 7273"/>
            </a:avLst>
          </a:prstGeom>
          <a:solidFill>
            <a:schemeClr val="bg2"/>
          </a:solidFill>
          <a:ln/>
        </p:spPr>
      </p:sp>
      <p:sp>
        <p:nvSpPr>
          <p:cNvPr id="15" name="Why text"/>
          <p:cNvSpPr txBox="1"/>
          <p:nvPr/>
        </p:nvSpPr>
        <p:spPr>
          <a:xfrm>
            <a:off x="822960" y="4343400"/>
            <a:ext cx="5760720" cy="1508760"/>
          </a:xfrm>
          <a:prstGeom prst="rect">
            <a:avLst/>
          </a:prstGeom>
          <a:noFill/>
          <a:ln/>
        </p:spPr>
        <p:txBody>
          <a:bodyPr wrap="square" lIns="0" tIns="0" rIns="0" bIns="0" rtlCol="0" anchor="ctr"/>
          <a:lstStyle/>
          <a:p>
            <a:pPr indent="0" marL="0">
              <a:buNone/>
            </a:pPr>
            <a:r>
              <a:rPr lang="en-US" sz="1300" b="1" dirty="0">
                <a:solidFill>
                  <a:schemeClr val="tx1"/>
                </a:solidFill>
              </a:rPr>
              <a:t>Why triage is a good first use. </a:t>
            </a:r>
            <a:pPr indent="0" marL="0">
              <a:buNone/>
            </a:pPr>
            <a:r>
              <a:rPr lang="en-US" sz="1300" dirty="0">
                <a:solidFill>
                  <a:schemeClr val="tx1"/>
                </a:solidFill>
              </a:rPr>
              <a:t>It reads, it does not change anything, and every claim can be checked in the monitoring hub or the run log in a minute. It matches Lab B: refused at the door leaves no log row.</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Fabric's own AI: Copilot and data agents</a:t>
            </a:r>
            <a:endParaRPr lang="en-US" sz="3200" dirty="0"/>
          </a:p>
        </p:txBody>
      </p:sp>
      <p:sp>
        <p:nvSpPr>
          <p:cNvPr id="5" name="Copilot in Fabric card"/>
          <p:cNvSpPr/>
          <p:nvPr/>
        </p:nvSpPr>
        <p:spPr>
          <a:xfrm>
            <a:off x="548640" y="1783080"/>
            <a:ext cx="3593592" cy="2926080"/>
          </a:xfrm>
          <a:prstGeom prst="roundRect">
            <a:avLst>
              <a:gd name="adj" fmla="val 3750"/>
            </a:avLst>
          </a:prstGeom>
          <a:solidFill>
            <a:schemeClr val="bg2"/>
          </a:solidFill>
          <a:ln/>
        </p:spPr>
      </p:sp>
      <p:sp>
        <p:nvSpPr>
          <p:cNvPr id="6" name="Copilot in Fabric badge"/>
          <p:cNvSpPr/>
          <p:nvPr/>
        </p:nvSpPr>
        <p:spPr>
          <a:xfrm>
            <a:off x="777240" y="1965960"/>
            <a:ext cx="566928" cy="566928"/>
          </a:xfrm>
          <a:prstGeom prst="ellipse">
            <a:avLst/>
          </a:prstGeom>
          <a:solidFill>
            <a:schemeClr val="accent1"/>
          </a:solidFill>
          <a:ln/>
        </p:spPr>
      </p:sp>
      <p:pic>
        <p:nvPicPr>
          <p:cNvPr id="7" name="Image 0" descr="Copilot in Fabric icon">    </p:cNvPr>
          <p:cNvPicPr>
            <a:picLocks noChangeAspect="1"/>
          </p:cNvPicPr>
          <p:nvPr/>
        </p:nvPicPr>
        <p:blipFill>
          <a:blip r:embed="rId1"/>
          <a:stretch>
            <a:fillRect/>
          </a:stretch>
        </p:blipFill>
        <p:spPr>
          <a:xfrm>
            <a:off x="918972" y="2107692"/>
            <a:ext cx="283464" cy="283464"/>
          </a:xfrm>
          <a:prstGeom prst="rect">
            <a:avLst/>
          </a:prstGeom>
        </p:spPr>
      </p:pic>
      <p:sp>
        <p:nvSpPr>
          <p:cNvPr id="8" name="Feature title"/>
          <p:cNvSpPr txBox="1"/>
          <p:nvPr/>
        </p:nvSpPr>
        <p:spPr>
          <a:xfrm>
            <a:off x="1554480" y="1965960"/>
            <a:ext cx="2468880" cy="56692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Copilot in Fabric</a:t>
            </a:r>
            <a:endParaRPr lang="en-US" sz="1700" dirty="0"/>
          </a:p>
        </p:txBody>
      </p:sp>
      <p:sp>
        <p:nvSpPr>
          <p:cNvPr id="9" name="Feature text"/>
          <p:cNvSpPr txBox="1"/>
          <p:nvPr/>
        </p:nvSpPr>
        <p:spPr>
          <a:xfrm>
            <a:off x="777240" y="2788920"/>
            <a:ext cx="3154680" cy="914400"/>
          </a:xfrm>
          <a:prstGeom prst="rect">
            <a:avLst/>
          </a:prstGeom>
          <a:noFill/>
          <a:ln/>
        </p:spPr>
        <p:txBody>
          <a:bodyPr wrap="square" lIns="0" tIns="0" rIns="0" bIns="0" rtlCol="0" anchor="t"/>
          <a:lstStyle/>
          <a:p>
            <a:pPr indent="0" marL="0">
              <a:buNone/>
            </a:pPr>
            <a:r>
              <a:rPr lang="en-US" sz="1400" dirty="0">
                <a:solidFill>
                  <a:schemeClr val="tx1"/>
                </a:solidFill>
              </a:rPr>
              <a:t>Helps write and explain code in notebooks, SQL, DAX and reports.</a:t>
            </a:r>
            <a:endParaRPr lang="en-US" sz="1400" dirty="0"/>
          </a:p>
        </p:txBody>
      </p:sp>
      <p:sp>
        <p:nvSpPr>
          <p:cNvPr id="10" name="Feature place"/>
          <p:cNvSpPr txBox="1"/>
          <p:nvPr/>
        </p:nvSpPr>
        <p:spPr>
          <a:xfrm>
            <a:off x="777240" y="3840480"/>
            <a:ext cx="3154680" cy="731520"/>
          </a:xfrm>
          <a:prstGeom prst="rect">
            <a:avLst/>
          </a:prstGeom>
          <a:noFill/>
          <a:ln/>
        </p:spPr>
        <p:txBody>
          <a:bodyPr wrap="square" lIns="0" tIns="0" rIns="0" bIns="0" rtlCol="0" anchor="t"/>
          <a:lstStyle/>
          <a:p>
            <a:pPr indent="0" marL="0">
              <a:buNone/>
            </a:pPr>
            <a:r>
              <a:rPr lang="en-US" sz="1250" i="1" dirty="0">
                <a:solidFill>
                  <a:schemeClr val="accent1"/>
                </a:solidFill>
              </a:rPr>
              <a:t>Sits at the Code stage. A draft, always.</a:t>
            </a:r>
            <a:endParaRPr lang="en-US" sz="1250" dirty="0"/>
          </a:p>
        </p:txBody>
      </p:sp>
      <p:sp>
        <p:nvSpPr>
          <p:cNvPr id="11" name="Data agents card"/>
          <p:cNvSpPr/>
          <p:nvPr/>
        </p:nvSpPr>
        <p:spPr>
          <a:xfrm>
            <a:off x="4297680" y="1783080"/>
            <a:ext cx="3593592" cy="2926080"/>
          </a:xfrm>
          <a:prstGeom prst="roundRect">
            <a:avLst>
              <a:gd name="adj" fmla="val 3750"/>
            </a:avLst>
          </a:prstGeom>
          <a:solidFill>
            <a:schemeClr val="bg2"/>
          </a:solidFill>
          <a:ln/>
        </p:spPr>
      </p:sp>
      <p:sp>
        <p:nvSpPr>
          <p:cNvPr id="12" name="Data agents badge"/>
          <p:cNvSpPr/>
          <p:nvPr/>
        </p:nvSpPr>
        <p:spPr>
          <a:xfrm>
            <a:off x="4526280" y="1965960"/>
            <a:ext cx="566928" cy="566928"/>
          </a:xfrm>
          <a:prstGeom prst="ellipse">
            <a:avLst/>
          </a:prstGeom>
          <a:solidFill>
            <a:schemeClr val="accent2"/>
          </a:solidFill>
          <a:ln/>
        </p:spPr>
      </p:sp>
      <p:pic>
        <p:nvPicPr>
          <p:cNvPr id="13" name="Image 1" descr="Data agents icon">    </p:cNvPr>
          <p:cNvPicPr>
            <a:picLocks noChangeAspect="1"/>
          </p:cNvPicPr>
          <p:nvPr/>
        </p:nvPicPr>
        <p:blipFill>
          <a:blip r:embed="rId2"/>
          <a:stretch>
            <a:fillRect/>
          </a:stretch>
        </p:blipFill>
        <p:spPr>
          <a:xfrm>
            <a:off x="4668012" y="2107692"/>
            <a:ext cx="283464" cy="283464"/>
          </a:xfrm>
          <a:prstGeom prst="rect">
            <a:avLst/>
          </a:prstGeom>
        </p:spPr>
      </p:pic>
      <p:sp>
        <p:nvSpPr>
          <p:cNvPr id="14" name="Feature title"/>
          <p:cNvSpPr txBox="1"/>
          <p:nvPr/>
        </p:nvSpPr>
        <p:spPr>
          <a:xfrm>
            <a:off x="5303520" y="1965960"/>
            <a:ext cx="2468880" cy="56692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Data agents</a:t>
            </a:r>
            <a:endParaRPr lang="en-US" sz="1700" dirty="0"/>
          </a:p>
        </p:txBody>
      </p:sp>
      <p:sp>
        <p:nvSpPr>
          <p:cNvPr id="15" name="Feature text"/>
          <p:cNvSpPr txBox="1"/>
          <p:nvPr/>
        </p:nvSpPr>
        <p:spPr>
          <a:xfrm>
            <a:off x="4526280" y="2788920"/>
            <a:ext cx="3154680" cy="914400"/>
          </a:xfrm>
          <a:prstGeom prst="rect">
            <a:avLst/>
          </a:prstGeom>
          <a:noFill/>
          <a:ln/>
        </p:spPr>
        <p:txBody>
          <a:bodyPr wrap="square" lIns="0" tIns="0" rIns="0" bIns="0" rtlCol="0" anchor="t"/>
          <a:lstStyle/>
          <a:p>
            <a:pPr indent="0" marL="0">
              <a:buNone/>
            </a:pPr>
            <a:r>
              <a:rPr lang="en-US" sz="1400" dirty="0">
                <a:solidFill>
                  <a:schemeClr val="tx1"/>
                </a:solidFill>
              </a:rPr>
              <a:t>Let people ask questions of lakehouse data in plain language.</a:t>
            </a:r>
            <a:endParaRPr lang="en-US" sz="1400" dirty="0"/>
          </a:p>
        </p:txBody>
      </p:sp>
      <p:sp>
        <p:nvSpPr>
          <p:cNvPr id="16" name="Feature place"/>
          <p:cNvSpPr txBox="1"/>
          <p:nvPr/>
        </p:nvSpPr>
        <p:spPr>
          <a:xfrm>
            <a:off x="4526280" y="3840480"/>
            <a:ext cx="3154680" cy="731520"/>
          </a:xfrm>
          <a:prstGeom prst="rect">
            <a:avLst/>
          </a:prstGeom>
          <a:noFill/>
          <a:ln/>
        </p:spPr>
        <p:txBody>
          <a:bodyPr wrap="square" lIns="0" tIns="0" rIns="0" bIns="0" rtlCol="0" anchor="t"/>
          <a:lstStyle/>
          <a:p>
            <a:pPr indent="0" marL="0">
              <a:buNone/>
            </a:pPr>
            <a:r>
              <a:rPr lang="en-US" sz="1250" i="1" dirty="0">
                <a:solidFill>
                  <a:schemeClr val="accent1"/>
                </a:solidFill>
              </a:rPr>
              <a:t>Sits with consumption, beside the reports.</a:t>
            </a:r>
            <a:endParaRPr lang="en-US" sz="1250" dirty="0"/>
          </a:p>
        </p:txBody>
      </p:sp>
      <p:sp>
        <p:nvSpPr>
          <p:cNvPr id="17" name="Neither one ships card"/>
          <p:cNvSpPr/>
          <p:nvPr/>
        </p:nvSpPr>
        <p:spPr>
          <a:xfrm>
            <a:off x="8046720" y="1783080"/>
            <a:ext cx="3593592" cy="2926080"/>
          </a:xfrm>
          <a:prstGeom prst="roundRect">
            <a:avLst>
              <a:gd name="adj" fmla="val 3750"/>
            </a:avLst>
          </a:prstGeom>
          <a:solidFill>
            <a:schemeClr val="bg2"/>
          </a:solidFill>
          <a:ln/>
        </p:spPr>
      </p:sp>
      <p:sp>
        <p:nvSpPr>
          <p:cNvPr id="18" name="Neither one ships badge"/>
          <p:cNvSpPr/>
          <p:nvPr/>
        </p:nvSpPr>
        <p:spPr>
          <a:xfrm>
            <a:off x="8275320" y="1965960"/>
            <a:ext cx="566928" cy="566928"/>
          </a:xfrm>
          <a:prstGeom prst="ellipse">
            <a:avLst/>
          </a:prstGeom>
          <a:solidFill>
            <a:schemeClr val="accent4"/>
          </a:solidFill>
          <a:ln/>
        </p:spPr>
      </p:sp>
      <p:pic>
        <p:nvPicPr>
          <p:cNvPr id="19" name="Image 2" descr="Neither one ships icon">    </p:cNvPr>
          <p:cNvPicPr>
            <a:picLocks noChangeAspect="1"/>
          </p:cNvPicPr>
          <p:nvPr/>
        </p:nvPicPr>
        <p:blipFill>
          <a:blip r:embed="rId3"/>
          <a:stretch>
            <a:fillRect/>
          </a:stretch>
        </p:blipFill>
        <p:spPr>
          <a:xfrm>
            <a:off x="8417052" y="2107692"/>
            <a:ext cx="283464" cy="283464"/>
          </a:xfrm>
          <a:prstGeom prst="rect">
            <a:avLst/>
          </a:prstGeom>
        </p:spPr>
      </p:pic>
      <p:sp>
        <p:nvSpPr>
          <p:cNvPr id="20" name="Feature title"/>
          <p:cNvSpPr txBox="1"/>
          <p:nvPr/>
        </p:nvSpPr>
        <p:spPr>
          <a:xfrm>
            <a:off x="9052560" y="1965960"/>
            <a:ext cx="2468880" cy="56692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Neither one ships</a:t>
            </a:r>
            <a:endParaRPr lang="en-US" sz="1700" dirty="0"/>
          </a:p>
        </p:txBody>
      </p:sp>
      <p:sp>
        <p:nvSpPr>
          <p:cNvPr id="21" name="Feature text"/>
          <p:cNvSpPr txBox="1"/>
          <p:nvPr/>
        </p:nvSpPr>
        <p:spPr>
          <a:xfrm>
            <a:off x="8275320" y="2788920"/>
            <a:ext cx="3154680" cy="914400"/>
          </a:xfrm>
          <a:prstGeom prst="rect">
            <a:avLst/>
          </a:prstGeom>
          <a:noFill/>
          <a:ln/>
        </p:spPr>
        <p:txBody>
          <a:bodyPr wrap="square" lIns="0" tIns="0" rIns="0" bIns="0" rtlCol="0" anchor="t"/>
          <a:lstStyle/>
          <a:p>
            <a:pPr indent="0" marL="0">
              <a:buNone/>
            </a:pPr>
            <a:r>
              <a:rPr lang="en-US" sz="1400" dirty="0">
                <a:solidFill>
                  <a:schemeClr val="tx1"/>
                </a:solidFill>
              </a:rPr>
              <a:t>They do not deploy, approve or promote.</a:t>
            </a:r>
            <a:endParaRPr lang="en-US" sz="1400" dirty="0"/>
          </a:p>
        </p:txBody>
      </p:sp>
      <p:sp>
        <p:nvSpPr>
          <p:cNvPr id="22" name="Feature place"/>
          <p:cNvSpPr txBox="1"/>
          <p:nvPr/>
        </p:nvSpPr>
        <p:spPr>
          <a:xfrm>
            <a:off x="8275320" y="3840480"/>
            <a:ext cx="3154680" cy="731520"/>
          </a:xfrm>
          <a:prstGeom prst="rect">
            <a:avLst/>
          </a:prstGeom>
          <a:noFill/>
          <a:ln/>
        </p:spPr>
        <p:txBody>
          <a:bodyPr wrap="square" lIns="0" tIns="0" rIns="0" bIns="0" rtlCol="0" anchor="t"/>
          <a:lstStyle/>
          <a:p>
            <a:pPr indent="0" marL="0">
              <a:buNone/>
            </a:pPr>
            <a:r>
              <a:rPr lang="en-US" sz="1250" i="1" dirty="0">
                <a:solidFill>
                  <a:schemeClr val="accent1"/>
                </a:solidFill>
              </a:rPr>
              <a:t>Keep them out of the deployment path.</a:t>
            </a:r>
            <a:endParaRPr lang="en-US" sz="1250" dirty="0"/>
          </a:p>
        </p:txBody>
      </p:sp>
      <p:sp>
        <p:nvSpPr>
          <p:cNvPr id="23" name="Availability card"/>
          <p:cNvSpPr/>
          <p:nvPr/>
        </p:nvSpPr>
        <p:spPr>
          <a:xfrm>
            <a:off x="548640" y="4892040"/>
            <a:ext cx="11094415" cy="914400"/>
          </a:xfrm>
          <a:prstGeom prst="roundRect">
            <a:avLst>
              <a:gd name="adj" fmla="val 12000"/>
            </a:avLst>
          </a:prstGeom>
          <a:solidFill>
            <a:schemeClr val="accent3">
              <a:alpha val="22000"/>
            </a:schemeClr>
          </a:solidFill>
          <a:ln/>
        </p:spPr>
      </p:sp>
      <p:sp>
        <p:nvSpPr>
          <p:cNvPr id="24" name="Availability text"/>
          <p:cNvSpPr txBox="1"/>
          <p:nvPr/>
        </p:nvSpPr>
        <p:spPr>
          <a:xfrm>
            <a:off x="822960" y="4892040"/>
            <a:ext cx="10545775" cy="914400"/>
          </a:xfrm>
          <a:prstGeom prst="rect">
            <a:avLst/>
          </a:prstGeom>
          <a:noFill/>
          <a:ln/>
        </p:spPr>
        <p:txBody>
          <a:bodyPr wrap="square" lIns="0" tIns="0" rIns="0" bIns="0" rtlCol="0" anchor="ctr"/>
          <a:lstStyle/>
          <a:p>
            <a:pPr indent="0" marL="0">
              <a:buNone/>
            </a:pPr>
            <a:r>
              <a:rPr lang="en-US" sz="1350" b="1" dirty="0">
                <a:solidFill>
                  <a:schemeClr val="tx1"/>
                </a:solidFill>
              </a:rPr>
              <a:t>Availability is not yours to decide. </a:t>
            </a:r>
            <a:pPr indent="0" marL="0">
              <a:buNone/>
            </a:pPr>
            <a:r>
              <a:rPr lang="en-US" sz="1350" dirty="0">
                <a:solidFill>
                  <a:schemeClr val="tx1"/>
                </a:solidFill>
              </a:rPr>
              <a:t>Tenant settings, capacity and region are controlled by Enterprise Technology, and use on tax data goes through AI intake.</a:t>
            </a:r>
            <a:endParaRPr lang="en-US" sz="1350" dirty="0"/>
          </a:p>
        </p:txBody>
      </p:sp>
      <p:sp>
        <p:nvSpPr>
          <p:cNvPr id="25"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Features and availability change often. Confirm what is enabled in your tenant.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Governing AI use: five questions before you paste</a:t>
            </a:r>
            <a:endParaRPr lang="en-US" sz="3200" dirty="0"/>
          </a:p>
        </p:txBody>
      </p:sp>
      <p:sp>
        <p:nvSpPr>
          <p:cNvPr id="5" name="Approved? card"/>
          <p:cNvSpPr/>
          <p:nvPr/>
        </p:nvSpPr>
        <p:spPr>
          <a:xfrm>
            <a:off x="548640" y="1783080"/>
            <a:ext cx="6766560" cy="658368"/>
          </a:xfrm>
          <a:prstGeom prst="roundRect">
            <a:avLst>
              <a:gd name="adj" fmla="val 16667"/>
            </a:avLst>
          </a:prstGeom>
          <a:solidFill>
            <a:schemeClr val="bg2"/>
          </a:solidFill>
          <a:ln/>
        </p:spPr>
      </p:sp>
      <p:sp>
        <p:nvSpPr>
          <p:cNvPr id="6" name="Question chip 1"/>
          <p:cNvSpPr/>
          <p:nvPr/>
        </p:nvSpPr>
        <p:spPr>
          <a:xfrm>
            <a:off x="685800" y="1901952"/>
            <a:ext cx="420624" cy="420624"/>
          </a:xfrm>
          <a:prstGeom prst="roundRect">
            <a:avLst>
              <a:gd name="adj" fmla="val 17391"/>
            </a:avLst>
          </a:prstGeom>
          <a:solidFill>
            <a:schemeClr val="accent1"/>
          </a:solidFill>
          <a:ln/>
        </p:spPr>
      </p:sp>
      <p:sp>
        <p:nvSpPr>
          <p:cNvPr id="7" name="Question number"/>
          <p:cNvSpPr txBox="1"/>
          <p:nvPr/>
        </p:nvSpPr>
        <p:spPr>
          <a:xfrm>
            <a:off x="685800" y="190195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Question title"/>
          <p:cNvSpPr txBox="1"/>
          <p:nvPr/>
        </p:nvSpPr>
        <p:spPr>
          <a:xfrm>
            <a:off x="1280160" y="1783080"/>
            <a:ext cx="1645920" cy="658368"/>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Approved?</a:t>
            </a:r>
            <a:endParaRPr lang="en-US" sz="1400" dirty="0"/>
          </a:p>
        </p:txBody>
      </p:sp>
      <p:sp>
        <p:nvSpPr>
          <p:cNvPr id="9" name="Question text"/>
          <p:cNvSpPr txBox="1"/>
          <p:nvPr/>
        </p:nvSpPr>
        <p:spPr>
          <a:xfrm>
            <a:off x="2926080" y="1783080"/>
            <a:ext cx="4297680" cy="658368"/>
          </a:xfrm>
          <a:prstGeom prst="rect">
            <a:avLst/>
          </a:prstGeom>
          <a:noFill/>
          <a:ln/>
        </p:spPr>
        <p:txBody>
          <a:bodyPr wrap="square" lIns="0" tIns="0" rIns="0" bIns="0" rtlCol="0" anchor="ctr"/>
          <a:lstStyle/>
          <a:p>
            <a:pPr indent="0" marL="0">
              <a:buNone/>
            </a:pPr>
            <a:r>
              <a:rPr lang="en-US" sz="1150" dirty="0">
                <a:solidFill>
                  <a:schemeClr val="tx1"/>
                </a:solidFill>
              </a:rPr>
              <a:t>Is this tool approved for tax data? If you do not know, it is not.</a:t>
            </a:r>
            <a:endParaRPr lang="en-US" sz="1150" dirty="0"/>
          </a:p>
        </p:txBody>
      </p:sp>
      <p:sp>
        <p:nvSpPr>
          <p:cNvPr id="10" name="Clean prompt? card"/>
          <p:cNvSpPr/>
          <p:nvPr/>
        </p:nvSpPr>
        <p:spPr>
          <a:xfrm>
            <a:off x="548640" y="2532888"/>
            <a:ext cx="6766560" cy="658368"/>
          </a:xfrm>
          <a:prstGeom prst="roundRect">
            <a:avLst>
              <a:gd name="adj" fmla="val 16667"/>
            </a:avLst>
          </a:prstGeom>
          <a:solidFill>
            <a:schemeClr val="bg2"/>
          </a:solidFill>
          <a:ln/>
        </p:spPr>
      </p:sp>
      <p:sp>
        <p:nvSpPr>
          <p:cNvPr id="11" name="Question chip 2"/>
          <p:cNvSpPr/>
          <p:nvPr/>
        </p:nvSpPr>
        <p:spPr>
          <a:xfrm>
            <a:off x="685800" y="2651760"/>
            <a:ext cx="420624" cy="420624"/>
          </a:xfrm>
          <a:prstGeom prst="roundRect">
            <a:avLst>
              <a:gd name="adj" fmla="val 17391"/>
            </a:avLst>
          </a:prstGeom>
          <a:solidFill>
            <a:schemeClr val="accent1"/>
          </a:solidFill>
          <a:ln/>
        </p:spPr>
      </p:sp>
      <p:sp>
        <p:nvSpPr>
          <p:cNvPr id="12" name="Question number"/>
          <p:cNvSpPr txBox="1"/>
          <p:nvPr/>
        </p:nvSpPr>
        <p:spPr>
          <a:xfrm>
            <a:off x="685800" y="26517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3" name="Question title"/>
          <p:cNvSpPr txBox="1"/>
          <p:nvPr/>
        </p:nvSpPr>
        <p:spPr>
          <a:xfrm>
            <a:off x="1280160" y="2532888"/>
            <a:ext cx="1645920" cy="658368"/>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Clean prompt?</a:t>
            </a:r>
            <a:endParaRPr lang="en-US" sz="1400" dirty="0"/>
          </a:p>
        </p:txBody>
      </p:sp>
      <p:sp>
        <p:nvSpPr>
          <p:cNvPr id="14" name="Question text"/>
          <p:cNvSpPr txBox="1"/>
          <p:nvPr/>
        </p:nvSpPr>
        <p:spPr>
          <a:xfrm>
            <a:off x="2926080" y="2532888"/>
            <a:ext cx="4297680" cy="658368"/>
          </a:xfrm>
          <a:prstGeom prst="rect">
            <a:avLst/>
          </a:prstGeom>
          <a:noFill/>
          <a:ln/>
        </p:spPr>
        <p:txBody>
          <a:bodyPr wrap="square" lIns="0" tIns="0" rIns="0" bIns="0" rtlCol="0" anchor="ctr"/>
          <a:lstStyle/>
          <a:p>
            <a:pPr indent="0" marL="0">
              <a:buNone/>
            </a:pPr>
            <a:r>
              <a:rPr lang="en-US" sz="1150" dirty="0">
                <a:solidFill>
                  <a:schemeClr val="tx1"/>
                </a:solidFill>
              </a:rPr>
              <a:t>No production data, personal information or secrets.</a:t>
            </a:r>
            <a:endParaRPr lang="en-US" sz="1150" dirty="0"/>
          </a:p>
        </p:txBody>
      </p:sp>
      <p:sp>
        <p:nvSpPr>
          <p:cNvPr id="15" name="Reviewed? card"/>
          <p:cNvSpPr/>
          <p:nvPr/>
        </p:nvSpPr>
        <p:spPr>
          <a:xfrm>
            <a:off x="548640" y="3282696"/>
            <a:ext cx="6766560" cy="658368"/>
          </a:xfrm>
          <a:prstGeom prst="roundRect">
            <a:avLst>
              <a:gd name="adj" fmla="val 16667"/>
            </a:avLst>
          </a:prstGeom>
          <a:solidFill>
            <a:schemeClr val="bg2"/>
          </a:solidFill>
          <a:ln/>
        </p:spPr>
      </p:sp>
      <p:sp>
        <p:nvSpPr>
          <p:cNvPr id="16" name="Question chip 3"/>
          <p:cNvSpPr/>
          <p:nvPr/>
        </p:nvSpPr>
        <p:spPr>
          <a:xfrm>
            <a:off x="685800" y="3401568"/>
            <a:ext cx="420624" cy="420624"/>
          </a:xfrm>
          <a:prstGeom prst="roundRect">
            <a:avLst>
              <a:gd name="adj" fmla="val 17391"/>
            </a:avLst>
          </a:prstGeom>
          <a:solidFill>
            <a:schemeClr val="accent1"/>
          </a:solidFill>
          <a:ln/>
        </p:spPr>
      </p:sp>
      <p:sp>
        <p:nvSpPr>
          <p:cNvPr id="17" name="Question number"/>
          <p:cNvSpPr txBox="1"/>
          <p:nvPr/>
        </p:nvSpPr>
        <p:spPr>
          <a:xfrm>
            <a:off x="685800" y="34015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8" name="Question title"/>
          <p:cNvSpPr txBox="1"/>
          <p:nvPr/>
        </p:nvSpPr>
        <p:spPr>
          <a:xfrm>
            <a:off x="1280160" y="3282696"/>
            <a:ext cx="1645920" cy="658368"/>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Reviewed?</a:t>
            </a:r>
            <a:endParaRPr lang="en-US" sz="1400" dirty="0"/>
          </a:p>
        </p:txBody>
      </p:sp>
      <p:sp>
        <p:nvSpPr>
          <p:cNvPr id="19" name="Question text"/>
          <p:cNvSpPr txBox="1"/>
          <p:nvPr/>
        </p:nvSpPr>
        <p:spPr>
          <a:xfrm>
            <a:off x="2926080" y="3282696"/>
            <a:ext cx="4297680" cy="658368"/>
          </a:xfrm>
          <a:prstGeom prst="rect">
            <a:avLst/>
          </a:prstGeom>
          <a:noFill/>
          <a:ln/>
        </p:spPr>
        <p:txBody>
          <a:bodyPr wrap="square" lIns="0" tIns="0" rIns="0" bIns="0" rtlCol="0" anchor="ctr"/>
          <a:lstStyle/>
          <a:p>
            <a:pPr indent="0" marL="0">
              <a:buNone/>
            </a:pPr>
            <a:r>
              <a:rPr lang="en-US" sz="1150" dirty="0">
                <a:solidFill>
                  <a:schemeClr val="tx1"/>
                </a:solidFill>
              </a:rPr>
              <a:t>A person read it and can explain the change.</a:t>
            </a:r>
            <a:endParaRPr lang="en-US" sz="1150" dirty="0"/>
          </a:p>
        </p:txBody>
      </p:sp>
      <p:sp>
        <p:nvSpPr>
          <p:cNvPr id="20" name="Dependencies? card"/>
          <p:cNvSpPr/>
          <p:nvPr/>
        </p:nvSpPr>
        <p:spPr>
          <a:xfrm>
            <a:off x="548640" y="4032504"/>
            <a:ext cx="6766560" cy="658368"/>
          </a:xfrm>
          <a:prstGeom prst="roundRect">
            <a:avLst>
              <a:gd name="adj" fmla="val 16667"/>
            </a:avLst>
          </a:prstGeom>
          <a:solidFill>
            <a:schemeClr val="bg2"/>
          </a:solidFill>
          <a:ln/>
        </p:spPr>
      </p:sp>
      <p:sp>
        <p:nvSpPr>
          <p:cNvPr id="21" name="Question chip 4"/>
          <p:cNvSpPr/>
          <p:nvPr/>
        </p:nvSpPr>
        <p:spPr>
          <a:xfrm>
            <a:off x="685800" y="4151376"/>
            <a:ext cx="420624" cy="420624"/>
          </a:xfrm>
          <a:prstGeom prst="roundRect">
            <a:avLst>
              <a:gd name="adj" fmla="val 17391"/>
            </a:avLst>
          </a:prstGeom>
          <a:solidFill>
            <a:schemeClr val="accent1"/>
          </a:solidFill>
          <a:ln/>
        </p:spPr>
      </p:sp>
      <p:sp>
        <p:nvSpPr>
          <p:cNvPr id="22" name="Question number"/>
          <p:cNvSpPr txBox="1"/>
          <p:nvPr/>
        </p:nvSpPr>
        <p:spPr>
          <a:xfrm>
            <a:off x="685800" y="415137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3" name="Question title"/>
          <p:cNvSpPr txBox="1"/>
          <p:nvPr/>
        </p:nvSpPr>
        <p:spPr>
          <a:xfrm>
            <a:off x="1280160" y="4032504"/>
            <a:ext cx="1645920" cy="658368"/>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Dependencies?</a:t>
            </a:r>
            <a:endParaRPr lang="en-US" sz="1400" dirty="0"/>
          </a:p>
        </p:txBody>
      </p:sp>
      <p:sp>
        <p:nvSpPr>
          <p:cNvPr id="24" name="Question text"/>
          <p:cNvSpPr txBox="1"/>
          <p:nvPr/>
        </p:nvSpPr>
        <p:spPr>
          <a:xfrm>
            <a:off x="2926080" y="4032504"/>
            <a:ext cx="4297680" cy="658368"/>
          </a:xfrm>
          <a:prstGeom prst="rect">
            <a:avLst/>
          </a:prstGeom>
          <a:noFill/>
          <a:ln/>
        </p:spPr>
        <p:txBody>
          <a:bodyPr wrap="square" lIns="0" tIns="0" rIns="0" bIns="0" rtlCol="0" anchor="ctr"/>
          <a:lstStyle/>
          <a:p>
            <a:pPr indent="0" marL="0">
              <a:buNone/>
            </a:pPr>
            <a:r>
              <a:rPr lang="en-US" sz="1150" dirty="0">
                <a:solidFill>
                  <a:schemeClr val="tx1"/>
                </a:solidFill>
              </a:rPr>
              <a:t>Did it add a library or a licence? The licence rail needs the lock file.</a:t>
            </a:r>
            <a:endParaRPr lang="en-US" sz="1150" dirty="0"/>
          </a:p>
        </p:txBody>
      </p:sp>
      <p:sp>
        <p:nvSpPr>
          <p:cNvPr id="25" name="On the record? card"/>
          <p:cNvSpPr/>
          <p:nvPr/>
        </p:nvSpPr>
        <p:spPr>
          <a:xfrm>
            <a:off x="548640" y="4782312"/>
            <a:ext cx="6766560" cy="658368"/>
          </a:xfrm>
          <a:prstGeom prst="roundRect">
            <a:avLst>
              <a:gd name="adj" fmla="val 16667"/>
            </a:avLst>
          </a:prstGeom>
          <a:solidFill>
            <a:schemeClr val="bg2"/>
          </a:solidFill>
          <a:ln/>
        </p:spPr>
      </p:sp>
      <p:sp>
        <p:nvSpPr>
          <p:cNvPr id="26" name="Question chip 5"/>
          <p:cNvSpPr/>
          <p:nvPr/>
        </p:nvSpPr>
        <p:spPr>
          <a:xfrm>
            <a:off x="685800" y="4901184"/>
            <a:ext cx="420624" cy="420624"/>
          </a:xfrm>
          <a:prstGeom prst="roundRect">
            <a:avLst>
              <a:gd name="adj" fmla="val 17391"/>
            </a:avLst>
          </a:prstGeom>
          <a:solidFill>
            <a:schemeClr val="accent1"/>
          </a:solidFill>
          <a:ln/>
        </p:spPr>
      </p:sp>
      <p:sp>
        <p:nvSpPr>
          <p:cNvPr id="27" name="Question number"/>
          <p:cNvSpPr txBox="1"/>
          <p:nvPr/>
        </p:nvSpPr>
        <p:spPr>
          <a:xfrm>
            <a:off x="685800" y="490118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28" name="Question title"/>
          <p:cNvSpPr txBox="1"/>
          <p:nvPr/>
        </p:nvSpPr>
        <p:spPr>
          <a:xfrm>
            <a:off x="1280160" y="4782312"/>
            <a:ext cx="1645920" cy="658368"/>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On the record?</a:t>
            </a:r>
            <a:endParaRPr lang="en-US" sz="1400" dirty="0"/>
          </a:p>
        </p:txBody>
      </p:sp>
      <p:sp>
        <p:nvSpPr>
          <p:cNvPr id="29" name="Question text"/>
          <p:cNvSpPr txBox="1"/>
          <p:nvPr/>
        </p:nvSpPr>
        <p:spPr>
          <a:xfrm>
            <a:off x="2926080" y="4782312"/>
            <a:ext cx="4297680" cy="658368"/>
          </a:xfrm>
          <a:prstGeom prst="rect">
            <a:avLst/>
          </a:prstGeom>
          <a:noFill/>
          <a:ln/>
        </p:spPr>
        <p:txBody>
          <a:bodyPr wrap="square" lIns="0" tIns="0" rIns="0" bIns="0" rtlCol="0" anchor="ctr"/>
          <a:lstStyle/>
          <a:p>
            <a:pPr indent="0" marL="0">
              <a:buNone/>
            </a:pPr>
            <a:r>
              <a:rPr lang="en-US" sz="1150" dirty="0">
                <a:solidFill>
                  <a:schemeClr val="tx1"/>
                </a:solidFill>
              </a:rPr>
              <a:t>Name the assistant in the commit, so the trail shows it.</a:t>
            </a:r>
            <a:endParaRPr lang="en-US" sz="1150" dirty="0"/>
          </a:p>
        </p:txBody>
      </p:sp>
      <p:sp>
        <p:nvSpPr>
          <p:cNvPr id="30" name="Trailer sample"/>
          <p:cNvSpPr/>
          <p:nvPr/>
        </p:nvSpPr>
        <p:spPr>
          <a:xfrm>
            <a:off x="7498080" y="1783080"/>
            <a:ext cx="4142232" cy="1515872"/>
          </a:xfrm>
          <a:prstGeom prst="roundRect">
            <a:avLst>
              <a:gd name="adj" fmla="val 6032"/>
            </a:avLst>
          </a:prstGeom>
          <a:solidFill>
            <a:schemeClr val="tx1"/>
          </a:solidFill>
          <a:ln/>
        </p:spPr>
      </p:sp>
      <p:sp>
        <p:nvSpPr>
          <p:cNvPr id="31" name="Code label"/>
          <p:cNvSpPr txBox="1"/>
          <p:nvPr/>
        </p:nvSpPr>
        <p:spPr>
          <a:xfrm>
            <a:off x="7699248" y="1874520"/>
            <a:ext cx="373989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 COMMIT THAT RECORDS THE ASSISTANCE</a:t>
            </a:r>
            <a:endParaRPr lang="en-US" sz="1000" dirty="0"/>
          </a:p>
        </p:txBody>
      </p:sp>
      <p:sp>
        <p:nvSpPr>
          <p:cNvPr id="32" name="Trailer sample text"/>
          <p:cNvSpPr txBox="1"/>
          <p:nvPr/>
        </p:nvSpPr>
        <p:spPr>
          <a:xfrm>
            <a:off x="7699248" y="2167128"/>
            <a:ext cx="3739896" cy="102209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fix(gate):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tighten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tie-out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tolerance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to</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cent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AB#1002</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Co-Authored-By: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&lt;assistant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name&gt;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&lt;noreply@example.com&gt;</a:t>
            </a:r>
            <a:endParaRPr lang="en-US" sz="1000" dirty="0"/>
          </a:p>
        </p:txBody>
      </p:sp>
      <p:sp>
        <p:nvSpPr>
          <p:cNvPr id="33" name="Intake card"/>
          <p:cNvSpPr/>
          <p:nvPr/>
        </p:nvSpPr>
        <p:spPr>
          <a:xfrm>
            <a:off x="7498080" y="3840480"/>
            <a:ext cx="4142232" cy="1920240"/>
          </a:xfrm>
          <a:prstGeom prst="roundRect">
            <a:avLst>
              <a:gd name="adj" fmla="val 5714"/>
            </a:avLst>
          </a:prstGeom>
          <a:solidFill>
            <a:schemeClr val="accent3">
              <a:alpha val="22000"/>
            </a:schemeClr>
          </a:solidFill>
          <a:ln/>
        </p:spPr>
      </p:sp>
      <p:sp>
        <p:nvSpPr>
          <p:cNvPr id="34" name="Intake title"/>
          <p:cNvSpPr txBox="1"/>
          <p:nvPr/>
        </p:nvSpPr>
        <p:spPr>
          <a:xfrm>
            <a:off x="7680960" y="3931920"/>
            <a:ext cx="374904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AI intake: week one</a:t>
            </a:r>
            <a:endParaRPr lang="en-US" sz="1500" dirty="0"/>
          </a:p>
        </p:txBody>
      </p:sp>
      <p:sp>
        <p:nvSpPr>
          <p:cNvPr id="35" name="Intake text"/>
          <p:cNvSpPr txBox="1"/>
          <p:nvPr/>
        </p:nvSpPr>
        <p:spPr>
          <a:xfrm>
            <a:off x="7680960" y="4297680"/>
            <a:ext cx="3749040" cy="1417320"/>
          </a:xfrm>
          <a:prstGeom prst="rect">
            <a:avLst/>
          </a:prstGeom>
          <a:noFill/>
          <a:ln/>
        </p:spPr>
        <p:txBody>
          <a:bodyPr wrap="square" lIns="0" tIns="0" rIns="0" bIns="0" rtlCol="0" anchor="t"/>
          <a:lstStyle/>
          <a:p>
            <a:pPr indent="0" marL="0">
              <a:buNone/>
            </a:pPr>
            <a:r>
              <a:rPr lang="en-US" sz="1250" dirty="0">
                <a:solidFill>
                  <a:schemeClr val="tx1"/>
                </a:solidFill>
              </a:rPr>
              <a:t>Any AI use case needs the intake form. The AI review is the one slow gate that is entirely in your hands. Open it early.</a:t>
            </a:r>
            <a:endParaRPr lang="en-US" sz="1250" dirty="0"/>
          </a:p>
        </p:txBody>
      </p:sp>
      <p:sp>
        <p:nvSpPr>
          <p:cNvPr id="36"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Commit trailer: a suggested practice. AI intake from the delivery standard. Approved tools are Enterprise Technology's decision.</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Before the lab: what the facilitator sets up</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FACILITATOR</a:t>
            </a:r>
            <a:endParaRPr lang="en-US" sz="1100" dirty="0"/>
          </a:p>
        </p:txBody>
      </p:sp>
      <p:sp>
        <p:nvSpPr>
          <p:cNvPr id="6" name="In Azure DevOps card"/>
          <p:cNvSpPr/>
          <p:nvPr/>
        </p:nvSpPr>
        <p:spPr>
          <a:xfrm>
            <a:off x="548640" y="1783080"/>
            <a:ext cx="5468112" cy="3611880"/>
          </a:xfrm>
          <a:prstGeom prst="roundRect">
            <a:avLst>
              <a:gd name="adj" fmla="val 3038"/>
            </a:avLst>
          </a:prstGeom>
          <a:solidFill>
            <a:schemeClr val="bg2"/>
          </a:solidFill>
          <a:ln/>
        </p:spPr>
      </p:sp>
      <p:sp>
        <p:nvSpPr>
          <p:cNvPr id="7" name="Pill"/>
          <p:cNvSpPr txBox="1"/>
          <p:nvPr/>
        </p:nvSpPr>
        <p:spPr>
          <a:xfrm>
            <a:off x="777240" y="1920240"/>
            <a:ext cx="182880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200" kern="0" dirty="0">
                <a:solidFill>
                  <a:schemeClr val="bg1"/>
                </a:solidFill>
              </a:rPr>
              <a:t>IN AZURE DEVOPS</a:t>
            </a:r>
            <a:endParaRPr lang="en-US" sz="1000" dirty="0"/>
          </a:p>
        </p:txBody>
      </p:sp>
      <p:sp>
        <p:nvSpPr>
          <p:cNvPr id="8" name="In Azure DevOps list"/>
          <p:cNvSpPr txBox="1"/>
          <p:nvPr/>
        </p:nvSpPr>
        <p:spPr>
          <a:xfrm>
            <a:off x="822960" y="2423160"/>
            <a:ext cx="4937760" cy="29260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chemeClr val="tx1"/>
                </a:solidFill>
              </a:rPr>
              <a:t>A project and a repository, with main holding only a README</a:t>
            </a:r>
            <a:endParaRPr lang="en-US" sz="1250" dirty="0"/>
          </a:p>
          <a:p>
            <a:pPr marL="342900" indent="-342900">
              <a:spcAft>
                <a:spcPts val="700"/>
              </a:spcAft>
              <a:buSzPct val="100000"/>
              <a:buChar char="•"/>
            </a:pPr>
            <a:r>
              <a:rPr lang="en-US" sz="1250" dirty="0">
                <a:solidFill>
                  <a:schemeClr val="tx1"/>
                </a:solidFill>
              </a:rPr>
              <a:t>Branch policies on main: reviewers, work item, build validation, comments, squash</a:t>
            </a:r>
            <a:endParaRPr lang="en-US" sz="1250" dirty="0"/>
          </a:p>
          <a:p>
            <a:pPr marL="342900" indent="-342900">
              <a:spcAft>
                <a:spcPts val="700"/>
              </a:spcAft>
              <a:buSzPct val="100000"/>
              <a:buChar char="•"/>
            </a:pPr>
            <a:r>
              <a:rPr lang="en-US" sz="1250" dirty="0">
                <a:solidFill>
                  <a:schemeClr val="tx1"/>
                </a:solidFill>
              </a:rPr>
              <a:t>Rails, deploy.py and azure-pipelines.yml committed first (see the appendix)</a:t>
            </a:r>
            <a:endParaRPr lang="en-US" sz="1250" dirty="0"/>
          </a:p>
          <a:p>
            <a:pPr marL="342900" indent="-342900">
              <a:spcAft>
                <a:spcPts val="700"/>
              </a:spcAft>
              <a:buSzPct val="100000"/>
              <a:buChar char="•"/>
            </a:pPr>
            <a:r>
              <a:rPr lang="en-US" sz="1250" dirty="0">
                <a:solidFill>
                  <a:schemeClr val="tx1"/>
                </a:solidFill>
              </a:rPr>
              <a:t>A service connection for TEST, a TEST_WORKSPACE_ID variable, and two environments, with an approval on PROD</a:t>
            </a:r>
            <a:endParaRPr lang="en-US" sz="1250" dirty="0"/>
          </a:p>
          <a:p>
            <a:pPr marL="342900" indent="-342900">
              <a:spcAft>
                <a:spcPts val="700"/>
              </a:spcAft>
              <a:buSzPct val="100000"/>
              <a:buChar char="•"/>
            </a:pPr>
            <a:r>
              <a:rPr lang="en-US" sz="1250" dirty="0">
                <a:solidFill>
                  <a:schemeClr val="tx1"/>
                </a:solidFill>
              </a:rPr>
              <a:t>One work item per pair, so commits carry real AB numbers</a:t>
            </a:r>
            <a:endParaRPr lang="en-US" sz="1250" dirty="0"/>
          </a:p>
        </p:txBody>
      </p:sp>
      <p:sp>
        <p:nvSpPr>
          <p:cNvPr id="9" name="In Fabric card"/>
          <p:cNvSpPr/>
          <p:nvPr/>
        </p:nvSpPr>
        <p:spPr>
          <a:xfrm>
            <a:off x="6172200" y="1783080"/>
            <a:ext cx="5468112" cy="3611880"/>
          </a:xfrm>
          <a:prstGeom prst="roundRect">
            <a:avLst>
              <a:gd name="adj" fmla="val 3038"/>
            </a:avLst>
          </a:prstGeom>
          <a:solidFill>
            <a:schemeClr val="bg2"/>
          </a:solidFill>
          <a:ln/>
        </p:spPr>
      </p:sp>
      <p:sp>
        <p:nvSpPr>
          <p:cNvPr id="10" name="Pill"/>
          <p:cNvSpPr txBox="1"/>
          <p:nvPr/>
        </p:nvSpPr>
        <p:spPr>
          <a:xfrm>
            <a:off x="6400800" y="1920240"/>
            <a:ext cx="182880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bg1"/>
                </a:solidFill>
              </a:rPr>
              <a:t>IN FABRIC</a:t>
            </a:r>
            <a:endParaRPr lang="en-US" sz="1000" dirty="0"/>
          </a:p>
        </p:txBody>
      </p:sp>
      <p:sp>
        <p:nvSpPr>
          <p:cNvPr id="11" name="In Fabric list"/>
          <p:cNvSpPr txBox="1"/>
          <p:nvPr/>
        </p:nvSpPr>
        <p:spPr>
          <a:xfrm>
            <a:off x="6446520" y="2423160"/>
            <a:ext cx="4937760" cy="29260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chemeClr val="tx1"/>
                </a:solidFill>
              </a:rPr>
              <a:t>A DEV workspace per pair, holding the Lab A and Lab B items, pair as Admin</a:t>
            </a:r>
            <a:endParaRPr lang="en-US" sz="1250" dirty="0"/>
          </a:p>
          <a:p>
            <a:pPr marL="342900" indent="-342900">
              <a:spcAft>
                <a:spcPts val="700"/>
              </a:spcAft>
              <a:buSzPct val="100000"/>
              <a:buChar char="•"/>
            </a:pPr>
            <a:r>
              <a:rPr lang="en-US" sz="1250" dirty="0">
                <a:solidFill>
                  <a:schemeClr val="tx1"/>
                </a:solidFill>
              </a:rPr>
              <a:t>An empty TEST workspace on a capacity</a:t>
            </a:r>
            <a:endParaRPr lang="en-US" sz="1250" dirty="0"/>
          </a:p>
          <a:p>
            <a:pPr marL="342900" indent="-342900">
              <a:spcAft>
                <a:spcPts val="700"/>
              </a:spcAft>
              <a:buSzPct val="100000"/>
              <a:buChar char="•"/>
            </a:pPr>
            <a:r>
              <a:rPr lang="en-US" sz="1250" dirty="0">
                <a:solidFill>
                  <a:schemeClr val="tx1"/>
                </a:solidFill>
              </a:rPr>
              <a:t>The pipeline's identity can create and edit items in TEST</a:t>
            </a:r>
            <a:endParaRPr lang="en-US" sz="1250" dirty="0"/>
          </a:p>
          <a:p>
            <a:pPr marL="342900" indent="-342900">
              <a:spcAft>
                <a:spcPts val="700"/>
              </a:spcAft>
              <a:buSzPct val="100000"/>
              <a:buChar char="•"/>
            </a:pPr>
            <a:r>
              <a:rPr lang="en-US" sz="1250" dirty="0">
                <a:solidFill>
                  <a:schemeClr val="tx1"/>
                </a:solidFill>
              </a:rPr>
              <a:t>Everyone pre-credentialed in Azure DevOps and Fabric</a:t>
            </a:r>
            <a:endParaRPr lang="en-US" sz="1250" dirty="0"/>
          </a:p>
          <a:p>
            <a:pPr marL="342900" indent="-342900">
              <a:spcAft>
                <a:spcPts val="700"/>
              </a:spcAft>
              <a:buSzPct val="100000"/>
              <a:buChar char="•"/>
            </a:pPr>
            <a:r>
              <a:rPr lang="en-US" sz="1250" dirty="0">
                <a:solidFill>
                  <a:schemeClr val="tx1"/>
                </a:solidFill>
              </a:rPr>
              <a:t>Optional: a deployment pipeline with DEV and TEST stages, for the alternative path</a:t>
            </a:r>
            <a:endParaRPr lang="en-US" sz="1250" dirty="0"/>
          </a:p>
        </p:txBody>
      </p:sp>
      <p:sp>
        <p:nvSpPr>
          <p:cNvPr id="12" name="Rehearse card"/>
          <p:cNvSpPr/>
          <p:nvPr/>
        </p:nvSpPr>
        <p:spPr>
          <a:xfrm>
            <a:off x="548640" y="5486400"/>
            <a:ext cx="11094415" cy="502920"/>
          </a:xfrm>
          <a:prstGeom prst="roundRect">
            <a:avLst>
              <a:gd name="adj" fmla="val 21818"/>
            </a:avLst>
          </a:prstGeom>
          <a:solidFill>
            <a:schemeClr val="accent3">
              <a:alpha val="22000"/>
            </a:schemeClr>
          </a:solidFill>
          <a:ln/>
        </p:spPr>
      </p:sp>
      <p:sp>
        <p:nvSpPr>
          <p:cNvPr id="13" name="Rehearse text"/>
          <p:cNvSpPr txBox="1"/>
          <p:nvPr/>
        </p:nvSpPr>
        <p:spPr>
          <a:xfrm>
            <a:off x="777240" y="5486400"/>
            <a:ext cx="10637215" cy="502920"/>
          </a:xfrm>
          <a:prstGeom prst="rect">
            <a:avLst/>
          </a:prstGeom>
          <a:noFill/>
          <a:ln/>
        </p:spPr>
        <p:txBody>
          <a:bodyPr wrap="square" lIns="0" tIns="0" rIns="0" bIns="0" rtlCol="0" anchor="ctr"/>
          <a:lstStyle/>
          <a:p>
            <a:pPr indent="0" marL="0">
              <a:buNone/>
            </a:pPr>
            <a:r>
              <a:rPr lang="en-US" sz="1300" b="1" dirty="0">
                <a:solidFill>
                  <a:schemeClr val="tx1"/>
                </a:solidFill>
              </a:rPr>
              <a:t>Rehearse once end to end. </a:t>
            </a:r>
            <a:pPr indent="0" marL="0">
              <a:buNone/>
            </a:pPr>
            <a:r>
              <a:rPr lang="en-US" sz="1300" dirty="0">
                <a:solidFill>
                  <a:schemeClr val="tx1"/>
                </a:solidFill>
              </a:rPr>
              <a:t>Git carries the recipe, not the data: TEST needs the lab kit loaded.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Lab C: ship what you built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Flow Connect"/>
          <p:cNvSpPr/>
          <p:nvPr/>
        </p:nvSpPr>
        <p:spPr>
          <a:xfrm>
            <a:off x="548640" y="1783080"/>
            <a:ext cx="1700784" cy="1417320"/>
          </a:xfrm>
          <a:prstGeom prst="roundRect">
            <a:avLst>
              <a:gd name="adj" fmla="val 7742"/>
            </a:avLst>
          </a:prstGeom>
          <a:solidFill>
            <a:schemeClr val="bg2"/>
          </a:solidFill>
          <a:ln/>
        </p:spPr>
      </p:sp>
      <p:sp>
        <p:nvSpPr>
          <p:cNvPr id="7" name="Flow chip 1"/>
          <p:cNvSpPr/>
          <p:nvPr/>
        </p:nvSpPr>
        <p:spPr>
          <a:xfrm>
            <a:off x="685800" y="1920240"/>
            <a:ext cx="384048" cy="384048"/>
          </a:xfrm>
          <a:prstGeom prst="roundRect">
            <a:avLst>
              <a:gd name="adj" fmla="val 19048"/>
            </a:avLst>
          </a:prstGeom>
          <a:solidFill>
            <a:schemeClr val="accent1"/>
          </a:solidFill>
          <a:ln/>
        </p:spPr>
      </p:sp>
      <p:sp>
        <p:nvSpPr>
          <p:cNvPr id="8" name="Flow number"/>
          <p:cNvSpPr txBox="1"/>
          <p:nvPr/>
        </p:nvSpPr>
        <p:spPr>
          <a:xfrm>
            <a:off x="685800"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9" name="Flow name"/>
          <p:cNvSpPr txBox="1"/>
          <p:nvPr/>
        </p:nvSpPr>
        <p:spPr>
          <a:xfrm>
            <a:off x="685800"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Connect</a:t>
            </a:r>
            <a:endParaRPr lang="en-US" sz="1450" dirty="0"/>
          </a:p>
        </p:txBody>
      </p:sp>
      <p:sp>
        <p:nvSpPr>
          <p:cNvPr id="10" name="Flow detail"/>
          <p:cNvSpPr txBox="1"/>
          <p:nvPr/>
        </p:nvSpPr>
        <p:spPr>
          <a:xfrm>
            <a:off x="685800"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DEV to a new branch</a:t>
            </a:r>
            <a:endParaRPr lang="en-US" sz="1150" dirty="0"/>
          </a:p>
        </p:txBody>
      </p:sp>
      <p:sp>
        <p:nvSpPr>
          <p:cNvPr id="11" name="Flow arrow 1"/>
          <p:cNvSpPr/>
          <p:nvPr/>
        </p:nvSpPr>
        <p:spPr>
          <a:xfrm>
            <a:off x="2276856" y="2487168"/>
            <a:ext cx="123078" cy="0"/>
          </a:xfrm>
          <a:prstGeom prst="line">
            <a:avLst/>
          </a:prstGeom>
          <a:noFill/>
          <a:ln w="25400">
            <a:solidFill>
              <a:schemeClr val="accent5"/>
            </a:solidFill>
            <a:prstDash val="solid"/>
            <a:tailEnd type="triangle"/>
          </a:ln>
        </p:spPr>
      </p:sp>
      <p:sp>
        <p:nvSpPr>
          <p:cNvPr id="12" name="Flow Commit"/>
          <p:cNvSpPr/>
          <p:nvPr/>
        </p:nvSpPr>
        <p:spPr>
          <a:xfrm>
            <a:off x="2427366" y="1783080"/>
            <a:ext cx="1700784" cy="1417320"/>
          </a:xfrm>
          <a:prstGeom prst="roundRect">
            <a:avLst>
              <a:gd name="adj" fmla="val 7742"/>
            </a:avLst>
          </a:prstGeom>
          <a:solidFill>
            <a:schemeClr val="bg2"/>
          </a:solidFill>
          <a:ln/>
        </p:spPr>
      </p:sp>
      <p:sp>
        <p:nvSpPr>
          <p:cNvPr id="13" name="Flow chip 2"/>
          <p:cNvSpPr/>
          <p:nvPr/>
        </p:nvSpPr>
        <p:spPr>
          <a:xfrm>
            <a:off x="2564526" y="1920240"/>
            <a:ext cx="384048" cy="384048"/>
          </a:xfrm>
          <a:prstGeom prst="roundRect">
            <a:avLst>
              <a:gd name="adj" fmla="val 19048"/>
            </a:avLst>
          </a:prstGeom>
          <a:solidFill>
            <a:schemeClr val="accent1"/>
          </a:solidFill>
          <a:ln/>
        </p:spPr>
      </p:sp>
      <p:sp>
        <p:nvSpPr>
          <p:cNvPr id="14" name="Flow number"/>
          <p:cNvSpPr txBox="1"/>
          <p:nvPr/>
        </p:nvSpPr>
        <p:spPr>
          <a:xfrm>
            <a:off x="2564526"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5" name="Flow name"/>
          <p:cNvSpPr txBox="1"/>
          <p:nvPr/>
        </p:nvSpPr>
        <p:spPr>
          <a:xfrm>
            <a:off x="2564526"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Commit</a:t>
            </a:r>
            <a:endParaRPr lang="en-US" sz="1450" dirty="0"/>
          </a:p>
        </p:txBody>
      </p:sp>
      <p:sp>
        <p:nvSpPr>
          <p:cNvPr id="16" name="Flow detail"/>
          <p:cNvSpPr txBox="1"/>
          <p:nvPr/>
        </p:nvSpPr>
        <p:spPr>
          <a:xfrm>
            <a:off x="2564526"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The items, with a good message</a:t>
            </a:r>
            <a:endParaRPr lang="en-US" sz="1150" dirty="0"/>
          </a:p>
        </p:txBody>
      </p:sp>
      <p:sp>
        <p:nvSpPr>
          <p:cNvPr id="17" name="Flow arrow 2"/>
          <p:cNvSpPr/>
          <p:nvPr/>
        </p:nvSpPr>
        <p:spPr>
          <a:xfrm>
            <a:off x="4155582" y="2487168"/>
            <a:ext cx="123078" cy="0"/>
          </a:xfrm>
          <a:prstGeom prst="line">
            <a:avLst/>
          </a:prstGeom>
          <a:noFill/>
          <a:ln w="25400">
            <a:solidFill>
              <a:schemeClr val="accent5"/>
            </a:solidFill>
            <a:prstDash val="solid"/>
            <a:tailEnd type="triangle"/>
          </a:ln>
        </p:spPr>
      </p:sp>
      <p:sp>
        <p:nvSpPr>
          <p:cNvPr id="18" name="Flow Change"/>
          <p:cNvSpPr/>
          <p:nvPr/>
        </p:nvSpPr>
        <p:spPr>
          <a:xfrm>
            <a:off x="4306092" y="1783080"/>
            <a:ext cx="1700784" cy="1417320"/>
          </a:xfrm>
          <a:prstGeom prst="roundRect">
            <a:avLst>
              <a:gd name="adj" fmla="val 7742"/>
            </a:avLst>
          </a:prstGeom>
          <a:solidFill>
            <a:schemeClr val="bg2"/>
          </a:solidFill>
          <a:ln/>
        </p:spPr>
      </p:sp>
      <p:sp>
        <p:nvSpPr>
          <p:cNvPr id="19" name="Flow chip 3"/>
          <p:cNvSpPr/>
          <p:nvPr/>
        </p:nvSpPr>
        <p:spPr>
          <a:xfrm>
            <a:off x="4443252" y="1920240"/>
            <a:ext cx="384048" cy="384048"/>
          </a:xfrm>
          <a:prstGeom prst="roundRect">
            <a:avLst>
              <a:gd name="adj" fmla="val 19048"/>
            </a:avLst>
          </a:prstGeom>
          <a:solidFill>
            <a:schemeClr val="accent1"/>
          </a:solidFill>
          <a:ln/>
        </p:spPr>
      </p:sp>
      <p:sp>
        <p:nvSpPr>
          <p:cNvPr id="20" name="Flow number"/>
          <p:cNvSpPr txBox="1"/>
          <p:nvPr/>
        </p:nvSpPr>
        <p:spPr>
          <a:xfrm>
            <a:off x="4443252"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1" name="Flow name"/>
          <p:cNvSpPr txBox="1"/>
          <p:nvPr/>
        </p:nvSpPr>
        <p:spPr>
          <a:xfrm>
            <a:off x="4443252"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Change</a:t>
            </a:r>
            <a:endParaRPr lang="en-US" sz="1450" dirty="0"/>
          </a:p>
        </p:txBody>
      </p:sp>
      <p:sp>
        <p:nvSpPr>
          <p:cNvPr id="22" name="Flow detail"/>
          <p:cNvSpPr txBox="1"/>
          <p:nvPr/>
        </p:nvSpPr>
        <p:spPr>
          <a:xfrm>
            <a:off x="4443252"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One line, and a diff</a:t>
            </a:r>
            <a:endParaRPr lang="en-US" sz="1150" dirty="0"/>
          </a:p>
        </p:txBody>
      </p:sp>
      <p:sp>
        <p:nvSpPr>
          <p:cNvPr id="23" name="Flow arrow 3"/>
          <p:cNvSpPr/>
          <p:nvPr/>
        </p:nvSpPr>
        <p:spPr>
          <a:xfrm>
            <a:off x="6034308" y="2487168"/>
            <a:ext cx="123078" cy="0"/>
          </a:xfrm>
          <a:prstGeom prst="line">
            <a:avLst/>
          </a:prstGeom>
          <a:noFill/>
          <a:ln w="25400">
            <a:solidFill>
              <a:schemeClr val="accent5"/>
            </a:solidFill>
            <a:prstDash val="solid"/>
            <a:tailEnd type="triangle"/>
          </a:ln>
        </p:spPr>
      </p:sp>
      <p:sp>
        <p:nvSpPr>
          <p:cNvPr id="24" name="Flow Pull request"/>
          <p:cNvSpPr/>
          <p:nvPr/>
        </p:nvSpPr>
        <p:spPr>
          <a:xfrm>
            <a:off x="6184819" y="1783080"/>
            <a:ext cx="1700784" cy="1417320"/>
          </a:xfrm>
          <a:prstGeom prst="roundRect">
            <a:avLst>
              <a:gd name="adj" fmla="val 7742"/>
            </a:avLst>
          </a:prstGeom>
          <a:solidFill>
            <a:schemeClr val="bg2"/>
          </a:solidFill>
          <a:ln/>
        </p:spPr>
      </p:sp>
      <p:sp>
        <p:nvSpPr>
          <p:cNvPr id="25" name="Flow chip 4"/>
          <p:cNvSpPr/>
          <p:nvPr/>
        </p:nvSpPr>
        <p:spPr>
          <a:xfrm>
            <a:off x="6321979" y="1920240"/>
            <a:ext cx="384048" cy="384048"/>
          </a:xfrm>
          <a:prstGeom prst="roundRect">
            <a:avLst>
              <a:gd name="adj" fmla="val 19048"/>
            </a:avLst>
          </a:prstGeom>
          <a:solidFill>
            <a:schemeClr val="accent1"/>
          </a:solidFill>
          <a:ln/>
        </p:spPr>
      </p:sp>
      <p:sp>
        <p:nvSpPr>
          <p:cNvPr id="26" name="Flow number"/>
          <p:cNvSpPr txBox="1"/>
          <p:nvPr/>
        </p:nvSpPr>
        <p:spPr>
          <a:xfrm>
            <a:off x="6321979"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7" name="Flow name"/>
          <p:cNvSpPr txBox="1"/>
          <p:nvPr/>
        </p:nvSpPr>
        <p:spPr>
          <a:xfrm>
            <a:off x="6321979"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Pull request</a:t>
            </a:r>
            <a:endParaRPr lang="en-US" sz="1450" dirty="0"/>
          </a:p>
        </p:txBody>
      </p:sp>
      <p:sp>
        <p:nvSpPr>
          <p:cNvPr id="28" name="Flow detail"/>
          <p:cNvSpPr txBox="1"/>
          <p:nvPr/>
        </p:nvSpPr>
        <p:spPr>
          <a:xfrm>
            <a:off x="6321979"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Rails, review, merge</a:t>
            </a:r>
            <a:endParaRPr lang="en-US" sz="1150" dirty="0"/>
          </a:p>
        </p:txBody>
      </p:sp>
      <p:sp>
        <p:nvSpPr>
          <p:cNvPr id="29" name="Flow arrow 4"/>
          <p:cNvSpPr/>
          <p:nvPr/>
        </p:nvSpPr>
        <p:spPr>
          <a:xfrm>
            <a:off x="7913035" y="2487168"/>
            <a:ext cx="123078" cy="0"/>
          </a:xfrm>
          <a:prstGeom prst="line">
            <a:avLst/>
          </a:prstGeom>
          <a:noFill/>
          <a:ln w="25400">
            <a:solidFill>
              <a:schemeClr val="accent5"/>
            </a:solidFill>
            <a:prstDash val="solid"/>
            <a:tailEnd type="triangle"/>
          </a:ln>
        </p:spPr>
      </p:sp>
      <p:sp>
        <p:nvSpPr>
          <p:cNvPr id="30" name="Flow Promote"/>
          <p:cNvSpPr/>
          <p:nvPr/>
        </p:nvSpPr>
        <p:spPr>
          <a:xfrm>
            <a:off x="8063545" y="1783080"/>
            <a:ext cx="1700784" cy="1417320"/>
          </a:xfrm>
          <a:prstGeom prst="roundRect">
            <a:avLst>
              <a:gd name="adj" fmla="val 7742"/>
            </a:avLst>
          </a:prstGeom>
          <a:solidFill>
            <a:schemeClr val="bg2"/>
          </a:solidFill>
          <a:ln/>
        </p:spPr>
      </p:sp>
      <p:sp>
        <p:nvSpPr>
          <p:cNvPr id="31" name="Flow chip 5"/>
          <p:cNvSpPr/>
          <p:nvPr/>
        </p:nvSpPr>
        <p:spPr>
          <a:xfrm>
            <a:off x="8200705" y="1920240"/>
            <a:ext cx="384048" cy="384048"/>
          </a:xfrm>
          <a:prstGeom prst="roundRect">
            <a:avLst>
              <a:gd name="adj" fmla="val 19048"/>
            </a:avLst>
          </a:prstGeom>
          <a:solidFill>
            <a:schemeClr val="accent2"/>
          </a:solidFill>
          <a:ln/>
        </p:spPr>
      </p:sp>
      <p:sp>
        <p:nvSpPr>
          <p:cNvPr id="32" name="Flow number"/>
          <p:cNvSpPr txBox="1"/>
          <p:nvPr/>
        </p:nvSpPr>
        <p:spPr>
          <a:xfrm>
            <a:off x="8200705"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33" name="Flow name"/>
          <p:cNvSpPr txBox="1"/>
          <p:nvPr/>
        </p:nvSpPr>
        <p:spPr>
          <a:xfrm>
            <a:off x="8200705"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Promote</a:t>
            </a:r>
            <a:endParaRPr lang="en-US" sz="1450" dirty="0"/>
          </a:p>
        </p:txBody>
      </p:sp>
      <p:sp>
        <p:nvSpPr>
          <p:cNvPr id="34" name="Flow detail"/>
          <p:cNvSpPr txBox="1"/>
          <p:nvPr/>
        </p:nvSpPr>
        <p:spPr>
          <a:xfrm>
            <a:off x="8200705"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Merge to main, then TEST</a:t>
            </a:r>
            <a:endParaRPr lang="en-US" sz="1150" dirty="0"/>
          </a:p>
        </p:txBody>
      </p:sp>
      <p:sp>
        <p:nvSpPr>
          <p:cNvPr id="35" name="Flow arrow 5"/>
          <p:cNvSpPr/>
          <p:nvPr/>
        </p:nvSpPr>
        <p:spPr>
          <a:xfrm>
            <a:off x="9791761" y="2487168"/>
            <a:ext cx="123078" cy="0"/>
          </a:xfrm>
          <a:prstGeom prst="line">
            <a:avLst/>
          </a:prstGeom>
          <a:noFill/>
          <a:ln w="25400">
            <a:solidFill>
              <a:schemeClr val="accent5"/>
            </a:solidFill>
            <a:prstDash val="solid"/>
            <a:tailEnd type="triangle"/>
          </a:ln>
        </p:spPr>
      </p:sp>
      <p:sp>
        <p:nvSpPr>
          <p:cNvPr id="36" name="Flow Verify"/>
          <p:cNvSpPr/>
          <p:nvPr/>
        </p:nvSpPr>
        <p:spPr>
          <a:xfrm>
            <a:off x="9942271" y="1783080"/>
            <a:ext cx="1700784" cy="1417320"/>
          </a:xfrm>
          <a:prstGeom prst="roundRect">
            <a:avLst>
              <a:gd name="adj" fmla="val 7742"/>
            </a:avLst>
          </a:prstGeom>
          <a:solidFill>
            <a:schemeClr val="bg2"/>
          </a:solidFill>
          <a:ln/>
        </p:spPr>
      </p:sp>
      <p:sp>
        <p:nvSpPr>
          <p:cNvPr id="37" name="Flow chip 6"/>
          <p:cNvSpPr/>
          <p:nvPr/>
        </p:nvSpPr>
        <p:spPr>
          <a:xfrm>
            <a:off x="10079431" y="1920240"/>
            <a:ext cx="384048" cy="384048"/>
          </a:xfrm>
          <a:prstGeom prst="roundRect">
            <a:avLst>
              <a:gd name="adj" fmla="val 19048"/>
            </a:avLst>
          </a:prstGeom>
          <a:solidFill>
            <a:schemeClr val="accent2"/>
          </a:solidFill>
          <a:ln/>
        </p:spPr>
      </p:sp>
      <p:sp>
        <p:nvSpPr>
          <p:cNvPr id="38" name="Flow number"/>
          <p:cNvSpPr txBox="1"/>
          <p:nvPr/>
        </p:nvSpPr>
        <p:spPr>
          <a:xfrm>
            <a:off x="10079431"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39" name="Flow name"/>
          <p:cNvSpPr txBox="1"/>
          <p:nvPr/>
        </p:nvSpPr>
        <p:spPr>
          <a:xfrm>
            <a:off x="10079431"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Verify</a:t>
            </a:r>
            <a:endParaRPr lang="en-US" sz="1450" dirty="0"/>
          </a:p>
        </p:txBody>
      </p:sp>
      <p:sp>
        <p:nvSpPr>
          <p:cNvPr id="40" name="Flow detail"/>
          <p:cNvSpPr txBox="1"/>
          <p:nvPr/>
        </p:nvSpPr>
        <p:spPr>
          <a:xfrm>
            <a:off x="10079431"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Does the running thing answer?</a:t>
            </a:r>
            <a:endParaRPr lang="en-US" sz="1150" dirty="0"/>
          </a:p>
        </p:txBody>
      </p:sp>
      <p:sp>
        <p:nvSpPr>
          <p:cNvPr id="41" name="What you start with card"/>
          <p:cNvSpPr/>
          <p:nvPr/>
        </p:nvSpPr>
        <p:spPr>
          <a:xfrm>
            <a:off x="548640" y="3474720"/>
            <a:ext cx="3593592" cy="1783080"/>
          </a:xfrm>
          <a:prstGeom prst="roundRect">
            <a:avLst>
              <a:gd name="adj" fmla="val 6154"/>
            </a:avLst>
          </a:prstGeom>
          <a:solidFill>
            <a:schemeClr val="accent1">
              <a:alpha val="15000"/>
            </a:schemeClr>
          </a:solidFill>
          <a:ln/>
        </p:spPr>
      </p:sp>
      <p:sp>
        <p:nvSpPr>
          <p:cNvPr id="42" name="Card title"/>
          <p:cNvSpPr txBox="1"/>
          <p:nvPr/>
        </p:nvSpPr>
        <p:spPr>
          <a:xfrm>
            <a:off x="777240" y="3584448"/>
            <a:ext cx="310896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What you start with</a:t>
            </a:r>
            <a:endParaRPr lang="en-US" sz="1600" dirty="0"/>
          </a:p>
        </p:txBody>
      </p:sp>
      <p:sp>
        <p:nvSpPr>
          <p:cNvPr id="43" name="Card text"/>
          <p:cNvSpPr txBox="1"/>
          <p:nvPr/>
        </p:nvSpPr>
        <p:spPr>
          <a:xfrm>
            <a:off x="777240" y="3977640"/>
            <a:ext cx="3154680" cy="1234440"/>
          </a:xfrm>
          <a:prstGeom prst="rect">
            <a:avLst/>
          </a:prstGeom>
          <a:noFill/>
          <a:ln/>
        </p:spPr>
        <p:txBody>
          <a:bodyPr wrap="square" lIns="0" tIns="0" rIns="0" bIns="0" rtlCol="0" anchor="t"/>
          <a:lstStyle/>
          <a:p>
            <a:pPr indent="0" marL="0">
              <a:buNone/>
            </a:pPr>
            <a:r>
              <a:rPr lang="en-US" sz="1300" dirty="0">
                <a:solidFill>
                  <a:schemeClr val="tx1"/>
                </a:solidFill>
              </a:rPr>
              <a:t>A DEV workspace holding the Lab A and Lab B items, and a repository that has only a README.</a:t>
            </a:r>
            <a:endParaRPr lang="en-US" sz="1300" dirty="0"/>
          </a:p>
        </p:txBody>
      </p:sp>
      <p:sp>
        <p:nvSpPr>
          <p:cNvPr id="44" name="What you finish with card"/>
          <p:cNvSpPr/>
          <p:nvPr/>
        </p:nvSpPr>
        <p:spPr>
          <a:xfrm>
            <a:off x="4297680" y="3474720"/>
            <a:ext cx="3593592" cy="1783080"/>
          </a:xfrm>
          <a:prstGeom prst="roundRect">
            <a:avLst>
              <a:gd name="adj" fmla="val 6154"/>
            </a:avLst>
          </a:prstGeom>
          <a:solidFill>
            <a:schemeClr val="accent2">
              <a:alpha val="15000"/>
            </a:schemeClr>
          </a:solidFill>
          <a:ln/>
        </p:spPr>
      </p:sp>
      <p:sp>
        <p:nvSpPr>
          <p:cNvPr id="45" name="Card title"/>
          <p:cNvSpPr txBox="1"/>
          <p:nvPr/>
        </p:nvSpPr>
        <p:spPr>
          <a:xfrm>
            <a:off x="4526280" y="3584448"/>
            <a:ext cx="310896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What you finish with</a:t>
            </a:r>
            <a:endParaRPr lang="en-US" sz="1600" dirty="0"/>
          </a:p>
        </p:txBody>
      </p:sp>
      <p:sp>
        <p:nvSpPr>
          <p:cNvPr id="46" name="Card text"/>
          <p:cNvSpPr txBox="1"/>
          <p:nvPr/>
        </p:nvSpPr>
        <p:spPr>
          <a:xfrm>
            <a:off x="4526280" y="3977640"/>
            <a:ext cx="3154680" cy="1234440"/>
          </a:xfrm>
          <a:prstGeom prst="rect">
            <a:avLst/>
          </a:prstGeom>
          <a:noFill/>
          <a:ln/>
        </p:spPr>
        <p:txBody>
          <a:bodyPr wrap="square" lIns="0" tIns="0" rIns="0" bIns="0" rtlCol="0" anchor="t"/>
          <a:lstStyle/>
          <a:p>
            <a:pPr indent="0" marL="0">
              <a:buNone/>
            </a:pPr>
            <a:r>
              <a:rPr lang="en-US" sz="1300" dirty="0">
                <a:solidFill>
                  <a:schemeClr val="tx1"/>
                </a:solidFill>
              </a:rPr>
              <a:t>The same items in TEST, promoted through a reviewed pull request, and a smoke check that proves they run.</a:t>
            </a:r>
            <a:endParaRPr lang="en-US" sz="1300" dirty="0"/>
          </a:p>
        </p:txBody>
      </p:sp>
      <p:sp>
        <p:nvSpPr>
          <p:cNvPr id="47" name="Two paths for step 5 card"/>
          <p:cNvSpPr/>
          <p:nvPr/>
        </p:nvSpPr>
        <p:spPr>
          <a:xfrm>
            <a:off x="8046720" y="3474720"/>
            <a:ext cx="3593592" cy="1783080"/>
          </a:xfrm>
          <a:prstGeom prst="roundRect">
            <a:avLst>
              <a:gd name="adj" fmla="val 6154"/>
            </a:avLst>
          </a:prstGeom>
          <a:solidFill>
            <a:schemeClr val="accent3">
              <a:alpha val="15000"/>
            </a:schemeClr>
          </a:solidFill>
          <a:ln/>
        </p:spPr>
      </p:sp>
      <p:sp>
        <p:nvSpPr>
          <p:cNvPr id="48" name="Card title"/>
          <p:cNvSpPr txBox="1"/>
          <p:nvPr/>
        </p:nvSpPr>
        <p:spPr>
          <a:xfrm>
            <a:off x="8275320" y="3584448"/>
            <a:ext cx="310896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Two paths for step 5</a:t>
            </a:r>
            <a:endParaRPr lang="en-US" sz="1600" dirty="0"/>
          </a:p>
        </p:txBody>
      </p:sp>
      <p:sp>
        <p:nvSpPr>
          <p:cNvPr id="49" name="Card text"/>
          <p:cNvSpPr txBox="1"/>
          <p:nvPr/>
        </p:nvSpPr>
        <p:spPr>
          <a:xfrm>
            <a:off x="8275320" y="3977640"/>
            <a:ext cx="3154680" cy="1234440"/>
          </a:xfrm>
          <a:prstGeom prst="rect">
            <a:avLst/>
          </a:prstGeom>
          <a:noFill/>
          <a:ln/>
        </p:spPr>
        <p:txBody>
          <a:bodyPr wrap="square" lIns="0" tIns="0" rIns="0" bIns="0" rtlCol="0" anchor="t"/>
          <a:lstStyle/>
          <a:p>
            <a:pPr indent="0" marL="0">
              <a:buNone/>
            </a:pPr>
            <a:r>
              <a:rPr lang="en-US" sz="1300" dirty="0">
                <a:solidFill>
                  <a:schemeClr val="tx1"/>
                </a:solidFill>
              </a:rPr>
              <a:t>The lab path: an Azure pipeline runs deploy.py. The alternative: a Fabric deployment pipeline.</a:t>
            </a:r>
            <a:endParaRPr lang="en-US" sz="1300" dirty="0"/>
          </a:p>
        </p:txBody>
      </p:sp>
      <p:sp>
        <p:nvSpPr>
          <p:cNvPr id="50" name="Footnote"/>
          <p:cNvSpPr txBox="1"/>
          <p:nvPr/>
        </p:nvSpPr>
        <p:spPr>
          <a:xfrm>
            <a:off x="548640" y="54864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Pacing: steps 1 and 2, 20 minutes. Steps 3 and 4, 25. Step 5, 20. Step 6, 15. Debrief, 10.</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 · STEP 1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1: connect DEV to a new branch</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bg2"/>
          </a:solidFill>
          <a:ln/>
        </p:spPr>
      </p:sp>
      <p:sp>
        <p:nvSpPr>
          <p:cNvPr id="8" name="Progress 3"/>
          <p:cNvSpPr/>
          <p:nvPr/>
        </p:nvSpPr>
        <p:spPr>
          <a:xfrm>
            <a:off x="4271162" y="1481328"/>
            <a:ext cx="1788109" cy="73152"/>
          </a:xfrm>
          <a:prstGeom prst="roundRect">
            <a:avLst>
              <a:gd name="adj" fmla="val 50000"/>
            </a:avLst>
          </a:prstGeom>
          <a:solidFill>
            <a:schemeClr val="bg2"/>
          </a:solidFill>
          <a:ln/>
        </p:spPr>
      </p:sp>
      <p:sp>
        <p:nvSpPr>
          <p:cNvPr id="9" name="Progress 4"/>
          <p:cNvSpPr/>
          <p:nvPr/>
        </p:nvSpPr>
        <p:spPr>
          <a:xfrm>
            <a:off x="6132424" y="1481328"/>
            <a:ext cx="1788109" cy="73152"/>
          </a:xfrm>
          <a:prstGeom prst="roundRect">
            <a:avLst>
              <a:gd name="adj" fmla="val 50000"/>
            </a:avLst>
          </a:prstGeom>
          <a:solidFill>
            <a:schemeClr val="bg2"/>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graphicFrame>
        <p:nvGraphicFramePr>
          <p:cNvPr id="62" name="Connection fields"/>
          <p:cNvGraphicFramePr>
            <a:graphicFrameLocks noGrp="1"/>
          </p:cNvGraphicFramePr>
          <p:nvPr>
            <p:extLst>
              <p:ext uri="{D42A27DB-BD31-4B8C-83A1-F6EECF244321}">
                <p14:modId xmlns:p14="http://schemas.microsoft.com/office/powerpoint/2010/main" val="1579011935"/>
              </p:ext>
            </p:extLst>
          </p:nvPr>
        </p:nvGraphicFramePr>
        <p:xfrm>
          <a:off x="548640" y="1783080"/>
          <a:ext cx="7315200" cy="914400"/>
        </p:xfrm>
        <a:graphic>
          <a:graphicData uri="http://schemas.openxmlformats.org/drawingml/2006/table">
            <a:tbl>
              <a:tblPr/>
              <a:tblGrid>
                <a:gridCol w="2103120"/>
                <a:gridCol w="2926080"/>
                <a:gridCol w="2286000"/>
              </a:tblGrid>
              <a:tr h="384048">
                <a:tc>
                  <a:txBody>
                    <a:bodyPr/>
                    <a:lstStyle/>
                    <a:p>
                      <a:pPr indent="0" marL="0">
                        <a:buNone/>
                      </a:pPr>
                      <a:r>
                        <a:rPr lang="en-US" sz="1300" b="1" dirty="0">
                          <a:solidFill>
                            <a:schemeClr val="bg1"/>
                          </a:solidFill>
                        </a:rPr>
                        <a:t>Field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Enter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Note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75488">
                <a:tc>
                  <a:txBody>
                    <a:bodyPr/>
                    <a:lstStyle/>
                    <a:p>
                      <a:pPr indent="0" marL="0">
                        <a:buNone/>
                      </a:pPr>
                      <a:r>
                        <a:rPr lang="en-US" sz="1300" b="1" dirty="0">
                          <a:solidFill>
                            <a:schemeClr val="tx1"/>
                          </a:solidFill>
                        </a:rPr>
                        <a:t>Provider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Azure DevOps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300" b="1" dirty="0">
                          <a:solidFill>
                            <a:schemeClr val="tx1"/>
                          </a:solidFill>
                        </a:rPr>
                        <a:t>Organization, project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From the facilitator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300" b="1" dirty="0">
                          <a:solidFill>
                            <a:schemeClr val="tx1"/>
                          </a:solidFill>
                        </a:rPr>
                        <a:t>Repository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dst-fabric</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The practice repository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300" b="1" dirty="0">
                          <a:solidFill>
                            <a:schemeClr val="tx1"/>
                          </a:solidFill>
                        </a:rPr>
                        <a:t>Branch</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feat/AB1001-first-import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New. Main takes pull requests only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300" b="1" dirty="0">
                          <a:solidFill>
                            <a:schemeClr val="tx1"/>
                          </a:solidFill>
                        </a:rPr>
                        <a:t>Folder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/fabric</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Keeps items in one place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300" b="1" dirty="0">
                          <a:solidFill>
                            <a:schemeClr val="tx1"/>
                          </a:solidFill>
                        </a:rPr>
                        <a:t>Role needed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Workspace Admin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To connect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3" name="Why branch"/>
          <p:cNvSpPr/>
          <p:nvPr/>
        </p:nvSpPr>
        <p:spPr>
          <a:xfrm>
            <a:off x="548640" y="5303520"/>
            <a:ext cx="7315200" cy="640080"/>
          </a:xfrm>
          <a:prstGeom prst="roundRect">
            <a:avLst>
              <a:gd name="adj" fmla="val 17143"/>
            </a:avLst>
          </a:prstGeom>
          <a:solidFill>
            <a:schemeClr val="accent3">
              <a:alpha val="22000"/>
            </a:schemeClr>
          </a:solidFill>
          <a:ln/>
        </p:spPr>
      </p:sp>
      <p:sp>
        <p:nvSpPr>
          <p:cNvPr id="14" name="Why branch text"/>
          <p:cNvSpPr txBox="1"/>
          <p:nvPr/>
        </p:nvSpPr>
        <p:spPr>
          <a:xfrm>
            <a:off x="777240" y="5303520"/>
            <a:ext cx="6858000" cy="640080"/>
          </a:xfrm>
          <a:prstGeom prst="rect">
            <a:avLst/>
          </a:prstGeom>
          <a:noFill/>
          <a:ln/>
        </p:spPr>
        <p:txBody>
          <a:bodyPr wrap="square" lIns="0" tIns="0" rIns="0" bIns="0" rtlCol="0" anchor="ctr"/>
          <a:lstStyle/>
          <a:p>
            <a:pPr indent="0" marL="0">
              <a:buNone/>
            </a:pPr>
            <a:r>
              <a:rPr lang="en-US" sz="1250" b="1" dirty="0">
                <a:solidFill>
                  <a:schemeClr val="tx1"/>
                </a:solidFill>
              </a:rPr>
              <a:t>Why a new branch? </a:t>
            </a:r>
            <a:pPr indent="0" marL="0">
              <a:buNone/>
            </a:pPr>
            <a:r>
              <a:rPr lang="en-US" sz="1250" dirty="0">
                <a:solidFill>
                  <a:schemeClr val="tx1"/>
                </a:solidFill>
              </a:rPr>
              <a:t>Main is protected: the repository refuses a direct push. Everything reaches main by pull request.</a:t>
            </a:r>
            <a:endParaRPr lang="en-US" sz="1250" dirty="0"/>
          </a:p>
        </p:txBody>
      </p:sp>
      <p:sp>
        <p:nvSpPr>
          <p:cNvPr id="15" name="Do this card"/>
          <p:cNvSpPr/>
          <p:nvPr/>
        </p:nvSpPr>
        <p:spPr>
          <a:xfrm>
            <a:off x="8092440" y="1783080"/>
            <a:ext cx="3547872" cy="2203704"/>
          </a:xfrm>
          <a:prstGeom prst="roundRect">
            <a:avLst>
              <a:gd name="adj" fmla="val 4979"/>
            </a:avLst>
          </a:prstGeom>
          <a:solidFill>
            <a:schemeClr val="bg2"/>
          </a:solidFill>
          <a:ln/>
        </p:spPr>
      </p:sp>
      <p:sp>
        <p:nvSpPr>
          <p:cNvPr id="16"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17" name="Do chip 1"/>
          <p:cNvSpPr/>
          <p:nvPr/>
        </p:nvSpPr>
        <p:spPr>
          <a:xfrm>
            <a:off x="8293608" y="2377440"/>
            <a:ext cx="310896" cy="310896"/>
          </a:xfrm>
          <a:prstGeom prst="roundRect">
            <a:avLst>
              <a:gd name="adj" fmla="val 23529"/>
            </a:avLst>
          </a:prstGeom>
          <a:solidFill>
            <a:schemeClr val="accent1"/>
          </a:solidFill>
          <a:ln/>
        </p:spPr>
      </p:sp>
      <p:sp>
        <p:nvSpPr>
          <p:cNvPr id="18"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9"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DEV workspace settings. Choose Git integration.</a:t>
            </a:r>
            <a:endParaRPr lang="en-US" sz="1200" dirty="0"/>
          </a:p>
        </p:txBody>
      </p:sp>
      <p:sp>
        <p:nvSpPr>
          <p:cNvPr id="20" name="Do chip 2"/>
          <p:cNvSpPr/>
          <p:nvPr/>
        </p:nvSpPr>
        <p:spPr>
          <a:xfrm>
            <a:off x="8293608" y="2944368"/>
            <a:ext cx="310896" cy="310896"/>
          </a:xfrm>
          <a:prstGeom prst="roundRect">
            <a:avLst>
              <a:gd name="adj" fmla="val 23529"/>
            </a:avLst>
          </a:prstGeom>
          <a:solidFill>
            <a:schemeClr val="accent1"/>
          </a:solidFill>
          <a:ln/>
        </p:spPr>
      </p:sp>
      <p:sp>
        <p:nvSpPr>
          <p:cNvPr id="21"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2"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00" dirty="0">
                <a:solidFill>
                  <a:schemeClr val="tx1"/>
                </a:solidFill>
              </a:rPr>
              <a:t>Choose Azure DevOps and enter the fields from the table.</a:t>
            </a:r>
            <a:endParaRPr lang="en-US" sz="1200" dirty="0"/>
          </a:p>
        </p:txBody>
      </p:sp>
      <p:sp>
        <p:nvSpPr>
          <p:cNvPr id="23" name="Do chip 3"/>
          <p:cNvSpPr/>
          <p:nvPr/>
        </p:nvSpPr>
        <p:spPr>
          <a:xfrm>
            <a:off x="8293608" y="3511296"/>
            <a:ext cx="310896" cy="310896"/>
          </a:xfrm>
          <a:prstGeom prst="roundRect">
            <a:avLst>
              <a:gd name="adj" fmla="val 23529"/>
            </a:avLst>
          </a:prstGeom>
          <a:solidFill>
            <a:schemeClr val="accent1"/>
          </a:solidFill>
          <a:ln/>
        </p:spPr>
      </p:sp>
      <p:sp>
        <p:nvSpPr>
          <p:cNvPr id="24"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5"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00" dirty="0">
                <a:solidFill>
                  <a:schemeClr val="tx1"/>
                </a:solidFill>
              </a:rPr>
              <a:t>Create the branch with your work item number. Connect.</a:t>
            </a:r>
            <a:endParaRPr lang="en-US" sz="1200" dirty="0"/>
          </a:p>
        </p:txBody>
      </p:sp>
      <p:sp>
        <p:nvSpPr>
          <p:cNvPr id="26"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27"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28"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Connected to your branch.</a:t>
            </a:r>
            <a:endParaRPr lang="en-US" sz="1200" dirty="0"/>
          </a:p>
          <a:p>
            <a:pPr indent="0" marL="0">
              <a:buNone/>
            </a:pPr>
            <a:endParaRPr lang="en-US" sz="1200" dirty="0"/>
          </a:p>
          <a:p>
            <a:pPr indent="0" marL="0">
              <a:buNone/>
            </a:pPr>
            <a:r>
              <a:rPr lang="en-US" sz="1250" dirty="0">
                <a:solidFill>
                  <a:schemeClr val="tx1"/>
                </a:solidFill>
              </a:rPr>
              <a:t>The Source control panel lists your items as ready to commit. Nothing is committed yet.</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 · STEP 2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2: commit the items, with a message the rail accepts</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bg2"/>
          </a:solidFill>
          <a:ln/>
        </p:spPr>
      </p:sp>
      <p:sp>
        <p:nvSpPr>
          <p:cNvPr id="9" name="Progress 4"/>
          <p:cNvSpPr/>
          <p:nvPr/>
        </p:nvSpPr>
        <p:spPr>
          <a:xfrm>
            <a:off x="6132424" y="1481328"/>
            <a:ext cx="1788109" cy="73152"/>
          </a:xfrm>
          <a:prstGeom prst="roundRect">
            <a:avLst>
              <a:gd name="adj" fmla="val 50000"/>
            </a:avLst>
          </a:prstGeom>
          <a:solidFill>
            <a:schemeClr val="bg2"/>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Commit message"/>
          <p:cNvSpPr/>
          <p:nvPr/>
        </p:nvSpPr>
        <p:spPr>
          <a:xfrm>
            <a:off x="548640" y="1783080"/>
            <a:ext cx="7315200" cy="960374"/>
          </a:xfrm>
          <a:prstGeom prst="roundRect">
            <a:avLst>
              <a:gd name="adj" fmla="val 9521"/>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THE COMMIT MESSAGE</a:t>
            </a:r>
            <a:endParaRPr lang="en-US" sz="1000" dirty="0"/>
          </a:p>
        </p:txBody>
      </p:sp>
      <p:sp>
        <p:nvSpPr>
          <p:cNvPr id="14" name="Commit message text"/>
          <p:cNvSpPr txBox="1"/>
          <p:nvPr/>
        </p:nvSpPr>
        <p:spPr>
          <a:xfrm>
            <a:off x="749808" y="2167128"/>
            <a:ext cx="6912864" cy="466598"/>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feat: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add</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DST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apportionment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workflow</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(AB#1001)</a:t>
            </a:r>
            <a:endParaRPr lang="en-US" sz="1300" dirty="0"/>
          </a:p>
        </p:txBody>
      </p:sp>
      <p:sp>
        <p:nvSpPr>
          <p:cNvPr id="15" name="Expected tree"/>
          <p:cNvSpPr/>
          <p:nvPr/>
        </p:nvSpPr>
        <p:spPr>
          <a:xfrm>
            <a:off x="548640" y="3017520"/>
            <a:ext cx="7315200" cy="1734312"/>
          </a:xfrm>
          <a:prstGeom prst="roundRect">
            <a:avLst>
              <a:gd name="adj" fmla="val 5272"/>
            </a:avLst>
          </a:prstGeom>
          <a:solidFill>
            <a:schemeClr val="tx1"/>
          </a:solidFill>
          <a:ln/>
        </p:spPr>
      </p:sp>
      <p:sp>
        <p:nvSpPr>
          <p:cNvPr id="16" name="Code label"/>
          <p:cNvSpPr txBox="1"/>
          <p:nvPr/>
        </p:nvSpPr>
        <p:spPr>
          <a:xfrm>
            <a:off x="749808" y="310896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WHAT THE REPOSITORY SHOULD HOLD AFTER THE COMMIT</a:t>
            </a:r>
            <a:endParaRPr lang="en-US" sz="1000" dirty="0"/>
          </a:p>
        </p:txBody>
      </p:sp>
      <p:sp>
        <p:nvSpPr>
          <p:cNvPr id="17" name="Expected tree text"/>
          <p:cNvSpPr txBox="1"/>
          <p:nvPr/>
        </p:nvSpPr>
        <p:spPr>
          <a:xfrm>
            <a:off x="749808" y="3401568"/>
            <a:ext cx="6912864" cy="1240536"/>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fabric/</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lh_dst.Lakehouse/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nb_dst_apportion.Notebook/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pl_dst_apportion.DataPipeline/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(your</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semantic</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model</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and</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report,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if</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built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Lab</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B)</a:t>
            </a:r>
            <a:endParaRPr lang="en-US" sz="1200" dirty="0"/>
          </a:p>
        </p:txBody>
      </p:sp>
      <p:sp>
        <p:nvSpPr>
          <p:cNvPr id="18" name="Tested note"/>
          <p:cNvSpPr/>
          <p:nvPr/>
        </p:nvSpPr>
        <p:spPr>
          <a:xfrm>
            <a:off x="548640" y="4983480"/>
            <a:ext cx="7315200" cy="960120"/>
          </a:xfrm>
          <a:prstGeom prst="roundRect">
            <a:avLst>
              <a:gd name="adj" fmla="val 11429"/>
            </a:avLst>
          </a:prstGeom>
          <a:solidFill>
            <a:schemeClr val="accent2">
              <a:alpha val="20000"/>
            </a:schemeClr>
          </a:solidFill>
          <a:ln/>
        </p:spPr>
      </p:sp>
      <p:sp>
        <p:nvSpPr>
          <p:cNvPr id="19" name="Tested text"/>
          <p:cNvSpPr txBox="1"/>
          <p:nvPr/>
        </p:nvSpPr>
        <p:spPr>
          <a:xfrm>
            <a:off x="777240" y="4983480"/>
            <a:ext cx="6858000" cy="960120"/>
          </a:xfrm>
          <a:prstGeom prst="rect">
            <a:avLst/>
          </a:prstGeom>
          <a:noFill/>
          <a:ln/>
        </p:spPr>
        <p:txBody>
          <a:bodyPr wrap="square" lIns="0" tIns="0" rIns="0" bIns="0" rtlCol="0" anchor="ctr"/>
          <a:lstStyle/>
          <a:p>
            <a:pPr indent="0" marL="0">
              <a:buNone/>
            </a:pPr>
            <a:r>
              <a:rPr lang="en-US" sz="1250" b="1" dirty="0">
                <a:solidFill>
                  <a:schemeClr val="tx1"/>
                </a:solidFill>
              </a:rPr>
              <a:t>Tested: </a:t>
            </a:r>
            <a:pPr indent="0" marL="0">
              <a:buNone/>
            </a:pPr>
            <a:r>
              <a:rPr lang="en-US" sz="1250" dirty="0">
                <a:solidFill>
                  <a:schemeClr val="tx1"/>
                </a:solidFill>
              </a:rPr>
              <a:t>that message passes the commit rail. Fabric's box is one line, so the work item goes in brackets at the end. Your item names will carry your initials.</a:t>
            </a:r>
            <a:endParaRPr lang="en-US" sz="1250" dirty="0"/>
          </a:p>
        </p:txBody>
      </p:sp>
      <p:sp>
        <p:nvSpPr>
          <p:cNvPr id="20" name="Do this card"/>
          <p:cNvSpPr/>
          <p:nvPr/>
        </p:nvSpPr>
        <p:spPr>
          <a:xfrm>
            <a:off x="8092440" y="1783080"/>
            <a:ext cx="3547872" cy="2203704"/>
          </a:xfrm>
          <a:prstGeom prst="roundRect">
            <a:avLst>
              <a:gd name="adj" fmla="val 4979"/>
            </a:avLst>
          </a:prstGeom>
          <a:solidFill>
            <a:schemeClr val="bg2"/>
          </a:solidFill>
          <a:ln/>
        </p:spPr>
      </p:sp>
      <p:sp>
        <p:nvSpPr>
          <p:cNvPr id="21"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2" name="Do chip 1"/>
          <p:cNvSpPr/>
          <p:nvPr/>
        </p:nvSpPr>
        <p:spPr>
          <a:xfrm>
            <a:off x="8293608" y="2377440"/>
            <a:ext cx="310896" cy="310896"/>
          </a:xfrm>
          <a:prstGeom prst="roundRect">
            <a:avLst>
              <a:gd name="adj" fmla="val 23529"/>
            </a:avLst>
          </a:prstGeom>
          <a:solidFill>
            <a:schemeClr val="accent1"/>
          </a:solidFill>
          <a:ln/>
        </p:spPr>
      </p:sp>
      <p:sp>
        <p:nvSpPr>
          <p:cNvPr id="23"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24"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Source control. Select all the items.</a:t>
            </a:r>
            <a:endParaRPr lang="en-US" sz="1200" dirty="0"/>
          </a:p>
        </p:txBody>
      </p:sp>
      <p:sp>
        <p:nvSpPr>
          <p:cNvPr id="25" name="Do chip 2"/>
          <p:cNvSpPr/>
          <p:nvPr/>
        </p:nvSpPr>
        <p:spPr>
          <a:xfrm>
            <a:off x="8293608" y="2944368"/>
            <a:ext cx="310896" cy="310896"/>
          </a:xfrm>
          <a:prstGeom prst="roundRect">
            <a:avLst>
              <a:gd name="adj" fmla="val 23529"/>
            </a:avLst>
          </a:prstGeom>
          <a:solidFill>
            <a:schemeClr val="accent1"/>
          </a:solidFill>
          <a:ln/>
        </p:spPr>
      </p:sp>
      <p:sp>
        <p:nvSpPr>
          <p:cNvPr id="26"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7"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00" dirty="0">
                <a:solidFill>
                  <a:schemeClr val="tx1"/>
                </a:solidFill>
              </a:rPr>
              <a:t>Enter the message above, with your own work item. Commit.</a:t>
            </a:r>
            <a:endParaRPr lang="en-US" sz="1200" dirty="0"/>
          </a:p>
        </p:txBody>
      </p:sp>
      <p:sp>
        <p:nvSpPr>
          <p:cNvPr id="28" name="Do chip 3"/>
          <p:cNvSpPr/>
          <p:nvPr/>
        </p:nvSpPr>
        <p:spPr>
          <a:xfrm>
            <a:off x="8293608" y="3511296"/>
            <a:ext cx="310896" cy="310896"/>
          </a:xfrm>
          <a:prstGeom prst="roundRect">
            <a:avLst>
              <a:gd name="adj" fmla="val 23529"/>
            </a:avLst>
          </a:prstGeom>
          <a:solidFill>
            <a:schemeClr val="accent1"/>
          </a:solidFill>
          <a:ln/>
        </p:spPr>
      </p:sp>
      <p:sp>
        <p:nvSpPr>
          <p:cNvPr id="29"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0"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00" dirty="0">
                <a:solidFill>
                  <a:schemeClr val="tx1"/>
                </a:solidFill>
              </a:rPr>
              <a:t>In Azure Repos, open your branch and the fabric folder.</a:t>
            </a:r>
            <a:endParaRPr lang="en-US" sz="1200" dirty="0"/>
          </a:p>
        </p:txBody>
      </p:sp>
      <p:sp>
        <p:nvSpPr>
          <p:cNvPr id="31"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2"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33"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One folder per item, with a .platform file and the definition as text.</a:t>
            </a:r>
            <a:endParaRPr lang="en-US" sz="1200" dirty="0"/>
          </a:p>
          <a:p>
            <a:pPr indent="0" marL="0">
              <a:buNone/>
            </a:pPr>
            <a:endParaRPr lang="en-US" sz="1200" dirty="0"/>
          </a:p>
          <a:p>
            <a:pPr indent="0" marL="0">
              <a:buNone/>
            </a:pPr>
            <a:r>
              <a:rPr lang="en-US" sz="1250" dirty="0">
                <a:solidFill>
                  <a:schemeClr val="tx1"/>
                </a:solidFill>
              </a:rPr>
              <a:t>The logical ID in .platform. No data files anywhere.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 · STEP 3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3: change one line and read the diff</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bg2"/>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Expected diff"/>
          <p:cNvSpPr/>
          <p:nvPr/>
        </p:nvSpPr>
        <p:spPr>
          <a:xfrm>
            <a:off x="548640" y="1783080"/>
            <a:ext cx="7315200" cy="2223135"/>
          </a:xfrm>
          <a:prstGeom prst="roundRect">
            <a:avLst>
              <a:gd name="adj" fmla="val 4113"/>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WHAT THE DIFF SHOULD LOOK LIKE</a:t>
            </a:r>
            <a:endParaRPr lang="en-US" sz="1000" dirty="0"/>
          </a:p>
        </p:txBody>
      </p:sp>
      <p:sp>
        <p:nvSpPr>
          <p:cNvPr id="14" name="Expected diff text"/>
          <p:cNvSpPr txBox="1"/>
          <p:nvPr/>
        </p:nvSpPr>
        <p:spPr>
          <a:xfrm>
            <a:off x="749808" y="2167128"/>
            <a:ext cx="6912864" cy="1729359"/>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diff</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a/fabric/nb_dst_apportion.Notebook/notebook-content.py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b/fabric/nb_dst_apportion.Notebook/notebook-content.py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index</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346f1b6..c9087e9</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100644</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b/fabric/nb_dst_apportion.Notebook/notebook-content.py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-127,3</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+127,3</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check.show()</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check.filter(F.abs("difference")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0.05).count()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check.filter(F.abs("difference")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0.01).count()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unmapped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(spark.read.table("silver_dst_unmapped")</a:t>
            </a:r>
            <a:endParaRPr lang="en-US" sz="1050" dirty="0"/>
          </a:p>
        </p:txBody>
      </p:sp>
      <p:sp>
        <p:nvSpPr>
          <p:cNvPr id="15" name="Second message"/>
          <p:cNvSpPr/>
          <p:nvPr/>
        </p:nvSpPr>
        <p:spPr>
          <a:xfrm>
            <a:off x="548640" y="4143375"/>
            <a:ext cx="7315200" cy="868680"/>
          </a:xfrm>
          <a:prstGeom prst="roundRect">
            <a:avLst>
              <a:gd name="adj" fmla="val 10526"/>
            </a:avLst>
          </a:prstGeom>
          <a:solidFill>
            <a:schemeClr val="tx1"/>
          </a:solidFill>
          <a:ln/>
        </p:spPr>
      </p:sp>
      <p:sp>
        <p:nvSpPr>
          <p:cNvPr id="16" name="Code label"/>
          <p:cNvSpPr txBox="1"/>
          <p:nvPr/>
        </p:nvSpPr>
        <p:spPr>
          <a:xfrm>
            <a:off x="749808" y="4234815"/>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THE COMMIT MESSAGE</a:t>
            </a:r>
            <a:endParaRPr lang="en-US" sz="1000" dirty="0"/>
          </a:p>
        </p:txBody>
      </p:sp>
      <p:sp>
        <p:nvSpPr>
          <p:cNvPr id="17" name="Second message text"/>
          <p:cNvSpPr txBox="1"/>
          <p:nvPr/>
        </p:nvSpPr>
        <p:spPr>
          <a:xfrm>
            <a:off x="749808" y="4527423"/>
            <a:ext cx="6912864" cy="37490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fix(gate):</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tighten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tie-out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tolerance</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to</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one</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cent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(AB#1002)</a:t>
            </a:r>
            <a:endParaRPr lang="en-US" sz="1200" dirty="0"/>
          </a:p>
        </p:txBody>
      </p:sp>
      <p:sp>
        <p:nvSpPr>
          <p:cNvPr id="18" name="Business note"/>
          <p:cNvSpPr/>
          <p:nvPr/>
        </p:nvSpPr>
        <p:spPr>
          <a:xfrm>
            <a:off x="548640" y="5074920"/>
            <a:ext cx="7315200" cy="868680"/>
          </a:xfrm>
          <a:prstGeom prst="roundRect">
            <a:avLst>
              <a:gd name="adj" fmla="val 12632"/>
            </a:avLst>
          </a:prstGeom>
          <a:solidFill>
            <a:schemeClr val="accent3">
              <a:alpha val="22000"/>
            </a:schemeClr>
          </a:solidFill>
          <a:ln/>
        </p:spPr>
      </p:sp>
      <p:sp>
        <p:nvSpPr>
          <p:cNvPr id="19" name="Business note text"/>
          <p:cNvSpPr txBox="1"/>
          <p:nvPr/>
        </p:nvSpPr>
        <p:spPr>
          <a:xfrm>
            <a:off x="777240" y="5074920"/>
            <a:ext cx="6858000" cy="868680"/>
          </a:xfrm>
          <a:prstGeom prst="rect">
            <a:avLst/>
          </a:prstGeom>
          <a:noFill/>
          <a:ln/>
        </p:spPr>
        <p:txBody>
          <a:bodyPr wrap="square" lIns="0" tIns="0" rIns="0" bIns="0" rtlCol="0" anchor="ctr"/>
          <a:lstStyle/>
          <a:p>
            <a:pPr indent="0" marL="0">
              <a:buNone/>
            </a:pPr>
            <a:r>
              <a:rPr lang="en-US" sz="1250" b="1" dirty="0">
                <a:solidFill>
                  <a:schemeClr val="tx1"/>
                </a:solidFill>
              </a:rPr>
              <a:t>Say it out loud: </a:t>
            </a:r>
            <a:pPr indent="0" marL="0">
              <a:buNone/>
            </a:pPr>
            <a:r>
              <a:rPr lang="en-US" sz="1250" dirty="0">
                <a:solidFill>
                  <a:schemeClr val="tx1"/>
                </a:solidFill>
              </a:rPr>
              <a:t>less rounding is tolerated, so more runs will fail the gate. That is a business decision, and the work item is where it is recorded.</a:t>
            </a:r>
            <a:endParaRPr lang="en-US" sz="1250" dirty="0"/>
          </a:p>
        </p:txBody>
      </p:sp>
      <p:sp>
        <p:nvSpPr>
          <p:cNvPr id="20" name="Do this card"/>
          <p:cNvSpPr/>
          <p:nvPr/>
        </p:nvSpPr>
        <p:spPr>
          <a:xfrm>
            <a:off x="8092440" y="1783080"/>
            <a:ext cx="3547872" cy="2203704"/>
          </a:xfrm>
          <a:prstGeom prst="roundRect">
            <a:avLst>
              <a:gd name="adj" fmla="val 4979"/>
            </a:avLst>
          </a:prstGeom>
          <a:solidFill>
            <a:schemeClr val="bg2"/>
          </a:solidFill>
          <a:ln/>
        </p:spPr>
      </p:sp>
      <p:sp>
        <p:nvSpPr>
          <p:cNvPr id="21"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2" name="Do chip 1"/>
          <p:cNvSpPr/>
          <p:nvPr/>
        </p:nvSpPr>
        <p:spPr>
          <a:xfrm>
            <a:off x="8293608" y="2377440"/>
            <a:ext cx="310896" cy="310896"/>
          </a:xfrm>
          <a:prstGeom prst="roundRect">
            <a:avLst>
              <a:gd name="adj" fmla="val 23529"/>
            </a:avLst>
          </a:prstGeom>
          <a:solidFill>
            <a:schemeClr val="accent1"/>
          </a:solidFill>
          <a:ln/>
        </p:spPr>
      </p:sp>
      <p:sp>
        <p:nvSpPr>
          <p:cNvPr id="23"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24"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the notebook. In the gate cell, change 0.05 to 0.01.</a:t>
            </a:r>
            <a:endParaRPr lang="en-US" sz="1200" dirty="0"/>
          </a:p>
        </p:txBody>
      </p:sp>
      <p:sp>
        <p:nvSpPr>
          <p:cNvPr id="25" name="Do chip 2"/>
          <p:cNvSpPr/>
          <p:nvPr/>
        </p:nvSpPr>
        <p:spPr>
          <a:xfrm>
            <a:off x="8293608" y="2944368"/>
            <a:ext cx="310896" cy="310896"/>
          </a:xfrm>
          <a:prstGeom prst="roundRect">
            <a:avLst>
              <a:gd name="adj" fmla="val 23529"/>
            </a:avLst>
          </a:prstGeom>
          <a:solidFill>
            <a:schemeClr val="accent1"/>
          </a:solidFill>
          <a:ln/>
        </p:spPr>
      </p:sp>
      <p:sp>
        <p:nvSpPr>
          <p:cNvPr id="26"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7"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00" dirty="0">
                <a:solidFill>
                  <a:schemeClr val="tx1"/>
                </a:solidFill>
              </a:rPr>
              <a:t>Run it with the defaults. Does the gate still pass?</a:t>
            </a:r>
            <a:endParaRPr lang="en-US" sz="1200" dirty="0"/>
          </a:p>
        </p:txBody>
      </p:sp>
      <p:sp>
        <p:nvSpPr>
          <p:cNvPr id="28" name="Do chip 3"/>
          <p:cNvSpPr/>
          <p:nvPr/>
        </p:nvSpPr>
        <p:spPr>
          <a:xfrm>
            <a:off x="8293608" y="3511296"/>
            <a:ext cx="310896" cy="310896"/>
          </a:xfrm>
          <a:prstGeom prst="roundRect">
            <a:avLst>
              <a:gd name="adj" fmla="val 23529"/>
            </a:avLst>
          </a:prstGeom>
          <a:solidFill>
            <a:schemeClr val="accent1"/>
          </a:solidFill>
          <a:ln/>
        </p:spPr>
      </p:sp>
      <p:sp>
        <p:nvSpPr>
          <p:cNvPr id="29"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0"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00" dirty="0">
                <a:solidFill>
                  <a:schemeClr val="tx1"/>
                </a:solidFill>
              </a:rPr>
              <a:t>Commit. Open the commit in Azure Repos and read the diff.</a:t>
            </a:r>
            <a:endParaRPr lang="en-US" sz="1200" dirty="0"/>
          </a:p>
        </p:txBody>
      </p:sp>
      <p:sp>
        <p:nvSpPr>
          <p:cNvPr id="31"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2"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33"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A one-line diff, like the panel on the left. Line numbers will differ.</a:t>
            </a:r>
            <a:endParaRPr lang="en-US" sz="1200" dirty="0"/>
          </a:p>
          <a:p>
            <a:pPr indent="0" marL="0">
              <a:buNone/>
            </a:pPr>
            <a:endParaRPr lang="en-US" sz="1200" dirty="0"/>
          </a:p>
          <a:p>
            <a:pPr indent="0" marL="0">
              <a:buNone/>
            </a:pPr>
            <a:r>
              <a:rPr lang="en-US" sz="1250" dirty="0">
                <a:solidFill>
                  <a:schemeClr val="tx1"/>
                </a:solidFill>
              </a:rPr>
              <a:t>The gate passes: both differences are 0.0.</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 · STEP 4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4: open the pull request, break a rail, fix it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Break it"/>
          <p:cNvSpPr/>
          <p:nvPr/>
        </p:nvSpPr>
        <p:spPr>
          <a:xfrm>
            <a:off x="548640" y="1783080"/>
            <a:ext cx="7315200" cy="868680"/>
          </a:xfrm>
          <a:prstGeom prst="roundRect">
            <a:avLst>
              <a:gd name="adj" fmla="val 10526"/>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BREAK IT ON PURPOSE, THEN REMOVE IT: ADD THIS LINE TO A CELL</a:t>
            </a:r>
            <a:endParaRPr lang="en-US" sz="1000" dirty="0"/>
          </a:p>
        </p:txBody>
      </p:sp>
      <p:sp>
        <p:nvSpPr>
          <p:cNvPr id="14" name="Break it text"/>
          <p:cNvSpPr txBox="1"/>
          <p:nvPr/>
        </p:nvSpPr>
        <p:spPr>
          <a:xfrm>
            <a:off x="749808" y="2167128"/>
            <a:ext cx="6912864" cy="37490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WORKSPACE_ID</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"5d1f0c3a-7b2e-4c9a-8e61-2f4b9d7a1c30"</a:t>
            </a:r>
            <a:endParaRPr lang="en-US" sz="1200" dirty="0"/>
          </a:p>
        </p:txBody>
      </p:sp>
      <p:sp>
        <p:nvSpPr>
          <p:cNvPr id="15" name="Rail failure"/>
          <p:cNvSpPr/>
          <p:nvPr/>
        </p:nvSpPr>
        <p:spPr>
          <a:xfrm>
            <a:off x="548640" y="2788920"/>
            <a:ext cx="7315200" cy="1315974"/>
          </a:xfrm>
          <a:prstGeom prst="roundRect">
            <a:avLst>
              <a:gd name="adj" fmla="val 6948"/>
            </a:avLst>
          </a:prstGeom>
          <a:solidFill>
            <a:schemeClr val="tx1"/>
          </a:solidFill>
          <a:ln/>
        </p:spPr>
      </p:sp>
      <p:sp>
        <p:nvSpPr>
          <p:cNvPr id="16" name="Code label"/>
          <p:cNvSpPr txBox="1"/>
          <p:nvPr/>
        </p:nvSpPr>
        <p:spPr>
          <a:xfrm>
            <a:off x="749808" y="288036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WHAT THE RAIL SAYS (LINE NUMBERS WILL DIFFER)</a:t>
            </a:r>
            <a:endParaRPr lang="en-US" sz="1000" dirty="0"/>
          </a:p>
        </p:txBody>
      </p:sp>
      <p:sp>
        <p:nvSpPr>
          <p:cNvPr id="17" name="Rail failure text"/>
          <p:cNvSpPr txBox="1"/>
          <p:nvPr/>
        </p:nvSpPr>
        <p:spPr>
          <a:xfrm>
            <a:off x="749808" y="3172968"/>
            <a:ext cx="6912864" cy="822198"/>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python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rails/scan_ids.py</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fabric</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fabric/nb_dst_apportion.Notebook/notebook-content.py:169:</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hard-coded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ID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5d1f0c3a-****</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1</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hard-coded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ID(s)</a:t>
            </a:r>
            <a:endParaRPr lang="en-US" sz="1100" dirty="0"/>
          </a:p>
        </p:txBody>
      </p:sp>
      <p:sp>
        <p:nvSpPr>
          <p:cNvPr id="18" name="Policy note"/>
          <p:cNvSpPr/>
          <p:nvPr/>
        </p:nvSpPr>
        <p:spPr>
          <a:xfrm>
            <a:off x="548640" y="4663440"/>
            <a:ext cx="3566160" cy="1280160"/>
          </a:xfrm>
          <a:prstGeom prst="roundRect">
            <a:avLst>
              <a:gd name="adj" fmla="val 8571"/>
            </a:avLst>
          </a:prstGeom>
          <a:solidFill>
            <a:schemeClr val="accent2">
              <a:alpha val="20000"/>
            </a:schemeClr>
          </a:solidFill>
          <a:ln/>
        </p:spPr>
      </p:sp>
      <p:sp>
        <p:nvSpPr>
          <p:cNvPr id="19" name="Policy note text"/>
          <p:cNvSpPr txBox="1"/>
          <p:nvPr/>
        </p:nvSpPr>
        <p:spPr>
          <a:xfrm>
            <a:off x="731520" y="4663440"/>
            <a:ext cx="3200400" cy="1280160"/>
          </a:xfrm>
          <a:prstGeom prst="rect">
            <a:avLst/>
          </a:prstGeom>
          <a:noFill/>
          <a:ln/>
        </p:spPr>
        <p:txBody>
          <a:bodyPr wrap="square" lIns="0" tIns="0" rIns="0" bIns="0" rtlCol="0" anchor="ctr"/>
          <a:lstStyle/>
          <a:p>
            <a:pPr indent="0" marL="0">
              <a:buNone/>
            </a:pPr>
            <a:r>
              <a:rPr lang="en-US" sz="1250" b="1" dirty="0">
                <a:solidFill>
                  <a:schemeClr val="tx1"/>
                </a:solidFill>
              </a:rPr>
              <a:t>The merge button waits. </a:t>
            </a:r>
            <a:pPr indent="0" marL="0">
              <a:buNone/>
            </a:pPr>
            <a:r>
              <a:rPr lang="en-US" sz="1250" dirty="0">
                <a:solidFill>
                  <a:schemeClr val="tx1"/>
                </a:solidFill>
              </a:rPr>
              <a:t>Green rails and a reviewer's approval, or it stays disabled.</a:t>
            </a:r>
            <a:endParaRPr lang="en-US" sz="1250" dirty="0"/>
          </a:p>
        </p:txBody>
      </p:sp>
      <p:sp>
        <p:nvSpPr>
          <p:cNvPr id="20" name="Review note"/>
          <p:cNvSpPr/>
          <p:nvPr/>
        </p:nvSpPr>
        <p:spPr>
          <a:xfrm>
            <a:off x="4297680" y="4663440"/>
            <a:ext cx="3566160" cy="1280160"/>
          </a:xfrm>
          <a:prstGeom prst="roundRect">
            <a:avLst>
              <a:gd name="adj" fmla="val 8571"/>
            </a:avLst>
          </a:prstGeom>
          <a:solidFill>
            <a:schemeClr val="accent3">
              <a:alpha val="22000"/>
            </a:schemeClr>
          </a:solidFill>
          <a:ln/>
        </p:spPr>
      </p:sp>
      <p:sp>
        <p:nvSpPr>
          <p:cNvPr id="21" name="Review note text"/>
          <p:cNvSpPr txBox="1"/>
          <p:nvPr/>
        </p:nvSpPr>
        <p:spPr>
          <a:xfrm>
            <a:off x="4480560" y="4663440"/>
            <a:ext cx="3200400" cy="1280160"/>
          </a:xfrm>
          <a:prstGeom prst="rect">
            <a:avLst/>
          </a:prstGeom>
          <a:noFill/>
          <a:ln/>
        </p:spPr>
        <p:txBody>
          <a:bodyPr wrap="square" lIns="0" tIns="0" rIns="0" bIns="0" rtlCol="0" anchor="ctr"/>
          <a:lstStyle/>
          <a:p>
            <a:pPr indent="0" marL="0">
              <a:buNone/>
            </a:pPr>
            <a:r>
              <a:rPr lang="en-US" sz="1250" b="1" dirty="0">
                <a:solidFill>
                  <a:schemeClr val="tx1"/>
                </a:solidFill>
              </a:rPr>
              <a:t>Partner reviews </a:t>
            </a:r>
            <a:pPr indent="0" marL="0">
              <a:buNone/>
            </a:pPr>
            <a:r>
              <a:rPr lang="en-US" sz="1250" dirty="0">
                <a:solidFill>
                  <a:schemeClr val="tx1"/>
                </a:solidFill>
              </a:rPr>
              <a:t>with the four questions from the Git module.</a:t>
            </a:r>
            <a:endParaRPr lang="en-US" sz="1250" dirty="0"/>
          </a:p>
        </p:txBody>
      </p:sp>
      <p:sp>
        <p:nvSpPr>
          <p:cNvPr id="22" name="Do this card"/>
          <p:cNvSpPr/>
          <p:nvPr/>
        </p:nvSpPr>
        <p:spPr>
          <a:xfrm>
            <a:off x="8092440" y="1783080"/>
            <a:ext cx="3547872" cy="2203704"/>
          </a:xfrm>
          <a:prstGeom prst="roundRect">
            <a:avLst>
              <a:gd name="adj" fmla="val 4979"/>
            </a:avLst>
          </a:prstGeom>
          <a:solidFill>
            <a:schemeClr val="bg2"/>
          </a:solidFill>
          <a:ln/>
        </p:spPr>
      </p:sp>
      <p:sp>
        <p:nvSpPr>
          <p:cNvPr id="23"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4" name="Do chip 1"/>
          <p:cNvSpPr/>
          <p:nvPr/>
        </p:nvSpPr>
        <p:spPr>
          <a:xfrm>
            <a:off x="8293608" y="2377440"/>
            <a:ext cx="310896" cy="310896"/>
          </a:xfrm>
          <a:prstGeom prst="roundRect">
            <a:avLst>
              <a:gd name="adj" fmla="val 23529"/>
            </a:avLst>
          </a:prstGeom>
          <a:solidFill>
            <a:schemeClr val="accent1"/>
          </a:solidFill>
          <a:ln/>
        </p:spPr>
      </p:sp>
      <p:sp>
        <p:nvSpPr>
          <p:cNvPr id="25"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26"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a pull request into main. Title like a commit. Describe it.</a:t>
            </a:r>
            <a:endParaRPr lang="en-US" sz="1200" dirty="0"/>
          </a:p>
        </p:txBody>
      </p:sp>
      <p:sp>
        <p:nvSpPr>
          <p:cNvPr id="27" name="Do chip 2"/>
          <p:cNvSpPr/>
          <p:nvPr/>
        </p:nvSpPr>
        <p:spPr>
          <a:xfrm>
            <a:off x="8293608" y="2944368"/>
            <a:ext cx="310896" cy="310896"/>
          </a:xfrm>
          <a:prstGeom prst="roundRect">
            <a:avLst>
              <a:gd name="adj" fmla="val 23529"/>
            </a:avLst>
          </a:prstGeom>
          <a:solidFill>
            <a:schemeClr val="accent1"/>
          </a:solidFill>
          <a:ln/>
        </p:spPr>
      </p:sp>
      <p:sp>
        <p:nvSpPr>
          <p:cNvPr id="28"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9"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00" dirty="0">
                <a:solidFill>
                  <a:schemeClr val="tx1"/>
                </a:solidFill>
              </a:rPr>
              <a:t>Add the break-it line, commit, watch the rails fail. Remove it. Green.</a:t>
            </a:r>
            <a:endParaRPr lang="en-US" sz="1200" dirty="0"/>
          </a:p>
        </p:txBody>
      </p:sp>
      <p:sp>
        <p:nvSpPr>
          <p:cNvPr id="30" name="Do chip 3"/>
          <p:cNvSpPr/>
          <p:nvPr/>
        </p:nvSpPr>
        <p:spPr>
          <a:xfrm>
            <a:off x="8293608" y="3511296"/>
            <a:ext cx="310896" cy="310896"/>
          </a:xfrm>
          <a:prstGeom prst="roundRect">
            <a:avLst>
              <a:gd name="adj" fmla="val 23529"/>
            </a:avLst>
          </a:prstGeom>
          <a:solidFill>
            <a:schemeClr val="accent1"/>
          </a:solidFill>
          <a:ln/>
        </p:spPr>
      </p:sp>
      <p:sp>
        <p:nvSpPr>
          <p:cNvPr id="31"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2"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00" dirty="0">
                <a:solidFill>
                  <a:schemeClr val="tx1"/>
                </a:solidFill>
              </a:rPr>
              <a:t>Partner reviews and approves. Complete with a squash merge.</a:t>
            </a:r>
            <a:endParaRPr lang="en-US" sz="1200" dirty="0"/>
          </a:p>
        </p:txBody>
      </p:sp>
      <p:sp>
        <p:nvSpPr>
          <p:cNvPr id="33"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4"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35"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The rails stage passes. With the planted line, it fails and names the file and line.</a:t>
            </a:r>
            <a:endParaRPr lang="en-US" sz="1200" dirty="0"/>
          </a:p>
          <a:p>
            <a:pPr indent="0" marL="0">
              <a:buNone/>
            </a:pPr>
            <a:endParaRPr lang="en-US" sz="1200" dirty="0"/>
          </a:p>
          <a:p>
            <a:pPr indent="0" marL="0">
              <a:buNone/>
            </a:pPr>
            <a:r>
              <a:rPr lang="en-US" sz="1250" dirty="0">
                <a:solidFill>
                  <a:schemeClr val="tx1"/>
                </a:solidFill>
              </a:rPr>
              <a:t>After the merge, main holds your items.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 · STEP 5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5: promote to TEST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accent1"/>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Path A"/>
          <p:cNvSpPr/>
          <p:nvPr/>
        </p:nvSpPr>
        <p:spPr>
          <a:xfrm>
            <a:off x="548640" y="1783080"/>
            <a:ext cx="4160520" cy="3246120"/>
          </a:xfrm>
          <a:prstGeom prst="roundRect">
            <a:avLst>
              <a:gd name="adj" fmla="val 3380"/>
            </a:avLst>
          </a:prstGeom>
          <a:solidFill>
            <a:schemeClr val="accent2">
              <a:alpha val="18000"/>
            </a:schemeClr>
          </a:solidFill>
          <a:ln/>
        </p:spPr>
      </p:sp>
      <p:sp>
        <p:nvSpPr>
          <p:cNvPr id="13" name="Pill"/>
          <p:cNvSpPr txBox="1"/>
          <p:nvPr/>
        </p:nvSpPr>
        <p:spPr>
          <a:xfrm>
            <a:off x="731520" y="1901952"/>
            <a:ext cx="237744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950" b="1" spc="200" kern="0" dirty="0">
                <a:solidFill>
                  <a:schemeClr val="bg1"/>
                </a:solidFill>
              </a:rPr>
              <a:t>PATH A · THE LAB PATH</a:t>
            </a:r>
            <a:endParaRPr lang="en-US" sz="950" dirty="0"/>
          </a:p>
        </p:txBody>
      </p:sp>
      <p:sp>
        <p:nvSpPr>
          <p:cNvPr id="14" name="Path A list"/>
          <p:cNvSpPr txBox="1"/>
          <p:nvPr/>
        </p:nvSpPr>
        <p:spPr>
          <a:xfrm>
            <a:off x="777240" y="2331720"/>
            <a:ext cx="3749040" cy="2651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chemeClr val="tx1"/>
                </a:solidFill>
              </a:rPr>
              <a:t>The merge starts the pipeline again.</a:t>
            </a:r>
            <a:endParaRPr lang="en-US" sz="1250" dirty="0"/>
          </a:p>
          <a:p>
            <a:pPr marL="342900" indent="-342900">
              <a:spcAft>
                <a:spcPts val="700"/>
              </a:spcAft>
              <a:buSzPct val="100000"/>
              <a:buChar char="•"/>
            </a:pPr>
            <a:r>
              <a:rPr lang="en-US" sz="1250" dirty="0">
                <a:solidFill>
                  <a:schemeClr val="tx1"/>
                </a:solidFill>
              </a:rPr>
              <a:t>Rails run, then the TEST stage runs deploy.py.</a:t>
            </a:r>
            <a:endParaRPr lang="en-US" sz="1250" dirty="0"/>
          </a:p>
          <a:p>
            <a:pPr marL="342900" indent="-342900">
              <a:spcAft>
                <a:spcPts val="700"/>
              </a:spcAft>
              <a:buSzPct val="100000"/>
              <a:buChar char="•"/>
            </a:pPr>
            <a:r>
              <a:rPr lang="en-US" sz="1250" dirty="0">
                <a:solidFill>
                  <a:schemeClr val="tx1"/>
                </a:solidFill>
              </a:rPr>
              <a:t>Items are published to TEST in dependency order.</a:t>
            </a:r>
            <a:endParaRPr lang="en-US" sz="1250" dirty="0"/>
          </a:p>
          <a:p>
            <a:pPr marL="342900" indent="-342900">
              <a:spcAft>
                <a:spcPts val="700"/>
              </a:spcAft>
              <a:buSzPct val="100000"/>
              <a:buChar char="•"/>
            </a:pPr>
            <a:r>
              <a:rPr lang="en-US" sz="1250" dirty="0">
                <a:solidFill>
                  <a:schemeClr val="tx1"/>
                </a:solidFill>
              </a:rPr>
              <a:t>The PROD stage waits for approval. Do not approve it.</a:t>
            </a:r>
            <a:endParaRPr lang="en-US" sz="1250" dirty="0"/>
          </a:p>
        </p:txBody>
      </p:sp>
      <p:sp>
        <p:nvSpPr>
          <p:cNvPr id="15" name="Path B"/>
          <p:cNvSpPr/>
          <p:nvPr/>
        </p:nvSpPr>
        <p:spPr>
          <a:xfrm>
            <a:off x="4846320" y="1783080"/>
            <a:ext cx="3017520" cy="3246120"/>
          </a:xfrm>
          <a:prstGeom prst="roundRect">
            <a:avLst>
              <a:gd name="adj" fmla="val 3636"/>
            </a:avLst>
          </a:prstGeom>
          <a:solidFill>
            <a:schemeClr val="bg2"/>
          </a:solidFill>
          <a:ln/>
        </p:spPr>
      </p:sp>
      <p:sp>
        <p:nvSpPr>
          <p:cNvPr id="16" name="Pill"/>
          <p:cNvSpPr txBox="1"/>
          <p:nvPr/>
        </p:nvSpPr>
        <p:spPr>
          <a:xfrm>
            <a:off x="5029200" y="1901952"/>
            <a:ext cx="2194560"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950" b="1" spc="200" kern="0" dirty="0">
                <a:solidFill>
                  <a:schemeClr val="tx1"/>
                </a:solidFill>
              </a:rPr>
              <a:t>PATH B · ALTERNATIVE</a:t>
            </a:r>
            <a:endParaRPr lang="en-US" sz="950" dirty="0"/>
          </a:p>
        </p:txBody>
      </p:sp>
      <p:sp>
        <p:nvSpPr>
          <p:cNvPr id="17" name="Path B list"/>
          <p:cNvSpPr txBox="1"/>
          <p:nvPr/>
        </p:nvSpPr>
        <p:spPr>
          <a:xfrm>
            <a:off x="5029200" y="2331720"/>
            <a:ext cx="2697480" cy="2651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chemeClr val="tx1"/>
                </a:solidFill>
              </a:rPr>
              <a:t>Switch DEV to main. Update.</a:t>
            </a:r>
            <a:endParaRPr lang="en-US" sz="1250" dirty="0"/>
          </a:p>
          <a:p>
            <a:pPr marL="342900" indent="-342900">
              <a:spcAft>
                <a:spcPts val="700"/>
              </a:spcAft>
              <a:buSzPct val="100000"/>
              <a:buChar char="•"/>
            </a:pPr>
            <a:r>
              <a:rPr lang="en-US" sz="1250" dirty="0">
                <a:solidFill>
                  <a:schemeClr val="tx1"/>
                </a:solidFill>
              </a:rPr>
              <a:t>Deploy DEV to TEST in the deployment pipeline.</a:t>
            </a:r>
            <a:endParaRPr lang="en-US" sz="1250" dirty="0"/>
          </a:p>
          <a:p>
            <a:pPr marL="342900" indent="-342900">
              <a:spcAft>
                <a:spcPts val="700"/>
              </a:spcAft>
              <a:buSzPct val="100000"/>
              <a:buChar char="•"/>
            </a:pPr>
            <a:r>
              <a:rPr lang="en-US" sz="1250" dirty="0">
                <a:solidFill>
                  <a:schemeClr val="tx1"/>
                </a:solidFill>
              </a:rPr>
              <a:t>Check the rules. Look at TEST.</a:t>
            </a:r>
            <a:endParaRPr lang="en-US" sz="1250" dirty="0"/>
          </a:p>
        </p:txBody>
      </p:sp>
      <p:sp>
        <p:nvSpPr>
          <p:cNvPr id="18" name="Stage command"/>
          <p:cNvSpPr/>
          <p:nvPr/>
        </p:nvSpPr>
        <p:spPr>
          <a:xfrm>
            <a:off x="548640" y="5166360"/>
            <a:ext cx="7315200" cy="777240"/>
          </a:xfrm>
          <a:prstGeom prst="roundRect">
            <a:avLst>
              <a:gd name="adj" fmla="val 11765"/>
            </a:avLst>
          </a:prstGeom>
          <a:solidFill>
            <a:schemeClr val="tx1"/>
          </a:solidFill>
          <a:ln/>
        </p:spPr>
      </p:sp>
      <p:sp>
        <p:nvSpPr>
          <p:cNvPr id="19" name="Code label"/>
          <p:cNvSpPr txBox="1"/>
          <p:nvPr/>
        </p:nvSpPr>
        <p:spPr>
          <a:xfrm>
            <a:off x="749808" y="525780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WHAT THE TEST STAGE RUNS</a:t>
            </a:r>
            <a:endParaRPr lang="en-US" sz="1000" dirty="0"/>
          </a:p>
        </p:txBody>
      </p:sp>
      <p:sp>
        <p:nvSpPr>
          <p:cNvPr id="20" name="Stage command text"/>
          <p:cNvSpPr txBox="1"/>
          <p:nvPr/>
        </p:nvSpPr>
        <p:spPr>
          <a:xfrm>
            <a:off x="749808" y="5550408"/>
            <a:ext cx="6912864" cy="28346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uv</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deploy.py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--env</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TEST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--workspace-id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$(TEST_WORKSPACE_ID)</a:t>
            </a:r>
            <a:endParaRPr lang="en-US" sz="1050" dirty="0"/>
          </a:p>
        </p:txBody>
      </p:sp>
      <p:sp>
        <p:nvSpPr>
          <p:cNvPr id="21" name="Do this card"/>
          <p:cNvSpPr/>
          <p:nvPr/>
        </p:nvSpPr>
        <p:spPr>
          <a:xfrm>
            <a:off x="8092440" y="1783080"/>
            <a:ext cx="3547872" cy="2203704"/>
          </a:xfrm>
          <a:prstGeom prst="roundRect">
            <a:avLst>
              <a:gd name="adj" fmla="val 4979"/>
            </a:avLst>
          </a:prstGeom>
          <a:solidFill>
            <a:schemeClr val="bg2"/>
          </a:solidFill>
          <a:ln/>
        </p:spPr>
      </p:sp>
      <p:sp>
        <p:nvSpPr>
          <p:cNvPr id="22"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3" name="Do chip 1"/>
          <p:cNvSpPr/>
          <p:nvPr/>
        </p:nvSpPr>
        <p:spPr>
          <a:xfrm>
            <a:off x="8293608" y="2377440"/>
            <a:ext cx="310896" cy="310896"/>
          </a:xfrm>
          <a:prstGeom prst="roundRect">
            <a:avLst>
              <a:gd name="adj" fmla="val 23529"/>
            </a:avLst>
          </a:prstGeom>
          <a:solidFill>
            <a:schemeClr val="accent1"/>
          </a:solidFill>
          <a:ln/>
        </p:spPr>
      </p:sp>
      <p:sp>
        <p:nvSpPr>
          <p:cNvPr id="24"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25"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the pipeline run for main. Watch rails, then TEST.</a:t>
            </a:r>
            <a:endParaRPr lang="en-US" sz="1200" dirty="0"/>
          </a:p>
        </p:txBody>
      </p:sp>
      <p:sp>
        <p:nvSpPr>
          <p:cNvPr id="26" name="Do chip 2"/>
          <p:cNvSpPr/>
          <p:nvPr/>
        </p:nvSpPr>
        <p:spPr>
          <a:xfrm>
            <a:off x="8293608" y="2944368"/>
            <a:ext cx="310896" cy="310896"/>
          </a:xfrm>
          <a:prstGeom prst="roundRect">
            <a:avLst>
              <a:gd name="adj" fmla="val 23529"/>
            </a:avLst>
          </a:prstGeom>
          <a:solidFill>
            <a:schemeClr val="accent1"/>
          </a:solidFill>
          <a:ln/>
        </p:spPr>
      </p:sp>
      <p:sp>
        <p:nvSpPr>
          <p:cNvPr id="27"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8"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the TEST workspace. List the items.</a:t>
            </a:r>
            <a:endParaRPr lang="en-US" sz="1200" dirty="0"/>
          </a:p>
        </p:txBody>
      </p:sp>
      <p:sp>
        <p:nvSpPr>
          <p:cNvPr id="29" name="Do chip 3"/>
          <p:cNvSpPr/>
          <p:nvPr/>
        </p:nvSpPr>
        <p:spPr>
          <a:xfrm>
            <a:off x="8293608" y="3511296"/>
            <a:ext cx="310896" cy="310896"/>
          </a:xfrm>
          <a:prstGeom prst="roundRect">
            <a:avLst>
              <a:gd name="adj" fmla="val 23529"/>
            </a:avLst>
          </a:prstGeom>
          <a:solidFill>
            <a:schemeClr val="accent1"/>
          </a:solidFill>
          <a:ln/>
        </p:spPr>
      </p:sp>
      <p:sp>
        <p:nvSpPr>
          <p:cNvPr id="30"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1"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00" dirty="0">
                <a:solidFill>
                  <a:schemeClr val="tx1"/>
                </a:solidFill>
              </a:rPr>
              <a:t>Find the PROD stage waiting. Do not approve it.</a:t>
            </a:r>
            <a:endParaRPr lang="en-US" sz="1200" dirty="0"/>
          </a:p>
        </p:txBody>
      </p:sp>
      <p:sp>
        <p:nvSpPr>
          <p:cNvPr id="32"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3"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34"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Your items in TEST: the lakehouse, notebook and pipeline, plus the model and report if you built them.</a:t>
            </a:r>
            <a:endParaRPr lang="en-US" sz="1200" dirty="0"/>
          </a:p>
          <a:p>
            <a:pPr indent="0" marL="0">
              <a:buNone/>
            </a:pPr>
            <a:endParaRPr lang="en-US" sz="1200" dirty="0"/>
          </a:p>
          <a:p>
            <a:pPr indent="0" marL="0">
              <a:buNone/>
            </a:pPr>
            <a:r>
              <a:rPr lang="en-US" sz="1250" dirty="0">
                <a:solidFill>
                  <a:schemeClr val="tx1"/>
                </a:solidFill>
              </a:rPr>
              <a:t>The PROD stage shows as waiting for approval.</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 · STEP 6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6: verify TEST. Does the running thing answer?</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accent1"/>
          </a:solidFill>
          <a:ln/>
        </p:spPr>
      </p:sp>
      <p:sp>
        <p:nvSpPr>
          <p:cNvPr id="11" name="Progress 6"/>
          <p:cNvSpPr/>
          <p:nvPr/>
        </p:nvSpPr>
        <p:spPr>
          <a:xfrm>
            <a:off x="9854946" y="1481328"/>
            <a:ext cx="1788109" cy="73152"/>
          </a:xfrm>
          <a:prstGeom prst="roundRect">
            <a:avLst>
              <a:gd name="adj" fmla="val 50000"/>
            </a:avLst>
          </a:prstGeom>
          <a:solidFill>
            <a:schemeClr val="accent1"/>
          </a:solidFill>
          <a:ln/>
        </p:spPr>
      </p:sp>
      <p:sp>
        <p:nvSpPr>
          <p:cNvPr id="12" name="Load the lab kit into TEST card"/>
          <p:cNvSpPr/>
          <p:nvPr/>
        </p:nvSpPr>
        <p:spPr>
          <a:xfrm>
            <a:off x="548640" y="1783080"/>
            <a:ext cx="7315200" cy="1261872"/>
          </a:xfrm>
          <a:prstGeom prst="roundRect">
            <a:avLst>
              <a:gd name="adj" fmla="val 8696"/>
            </a:avLst>
          </a:prstGeom>
          <a:solidFill>
            <a:schemeClr val="accent2">
              <a:alpha val="18000"/>
            </a:schemeClr>
          </a:solidFill>
          <a:ln/>
        </p:spPr>
      </p:sp>
      <p:sp>
        <p:nvSpPr>
          <p:cNvPr id="13" name="Check chip 1"/>
          <p:cNvSpPr/>
          <p:nvPr/>
        </p:nvSpPr>
        <p:spPr>
          <a:xfrm>
            <a:off x="731520" y="1965960"/>
            <a:ext cx="420624" cy="420624"/>
          </a:xfrm>
          <a:prstGeom prst="roundRect">
            <a:avLst>
              <a:gd name="adj" fmla="val 17391"/>
            </a:avLst>
          </a:prstGeom>
          <a:solidFill>
            <a:schemeClr val="accent2"/>
          </a:solidFill>
          <a:ln/>
        </p:spPr>
      </p:sp>
      <p:sp>
        <p:nvSpPr>
          <p:cNvPr id="14" name="Check number"/>
          <p:cNvSpPr txBox="1"/>
          <p:nvPr/>
        </p:nvSpPr>
        <p:spPr>
          <a:xfrm>
            <a:off x="731520"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15" name="Check title"/>
          <p:cNvSpPr txBox="1"/>
          <p:nvPr/>
        </p:nvSpPr>
        <p:spPr>
          <a:xfrm>
            <a:off x="1325880" y="1920240"/>
            <a:ext cx="6309360" cy="45720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Load the lab kit into TEST</a:t>
            </a:r>
            <a:endParaRPr lang="en-US" sz="1500" dirty="0"/>
          </a:p>
        </p:txBody>
      </p:sp>
      <p:sp>
        <p:nvSpPr>
          <p:cNvPr id="16" name="Check text"/>
          <p:cNvSpPr txBox="1"/>
          <p:nvPr/>
        </p:nvSpPr>
        <p:spPr>
          <a:xfrm>
            <a:off x="1325880" y="2423160"/>
            <a:ext cx="6309360" cy="594360"/>
          </a:xfrm>
          <a:prstGeom prst="rect">
            <a:avLst/>
          </a:prstGeom>
          <a:noFill/>
          <a:ln/>
        </p:spPr>
        <p:txBody>
          <a:bodyPr wrap="square" lIns="0" tIns="0" rIns="0" bIns="0" rtlCol="0" anchor="t"/>
          <a:lstStyle/>
          <a:p>
            <a:pPr indent="0" marL="0">
              <a:buNone/>
            </a:pPr>
            <a:r>
              <a:rPr lang="en-US" sz="1250" dirty="0">
                <a:solidFill>
                  <a:schemeClr val="tx1"/>
                </a:solidFill>
              </a:rPr>
              <a:t>Git holds the recipe, not the meal. Run the Day Two appendix script once, attached to the TEST lakehouse.</a:t>
            </a:r>
            <a:endParaRPr lang="en-US" sz="1250" dirty="0"/>
          </a:p>
        </p:txBody>
      </p:sp>
      <p:sp>
        <p:nvSpPr>
          <p:cNvPr id="17" name="Run it and read the receipt card"/>
          <p:cNvSpPr/>
          <p:nvPr/>
        </p:nvSpPr>
        <p:spPr>
          <a:xfrm>
            <a:off x="548640" y="3154680"/>
            <a:ext cx="7315200" cy="1261872"/>
          </a:xfrm>
          <a:prstGeom prst="roundRect">
            <a:avLst>
              <a:gd name="adj" fmla="val 8696"/>
            </a:avLst>
          </a:prstGeom>
          <a:solidFill>
            <a:schemeClr val="accent2">
              <a:alpha val="18000"/>
            </a:schemeClr>
          </a:solidFill>
          <a:ln/>
        </p:spPr>
      </p:sp>
      <p:sp>
        <p:nvSpPr>
          <p:cNvPr id="18" name="Check chip 2"/>
          <p:cNvSpPr/>
          <p:nvPr/>
        </p:nvSpPr>
        <p:spPr>
          <a:xfrm>
            <a:off x="731520" y="3337560"/>
            <a:ext cx="420624" cy="420624"/>
          </a:xfrm>
          <a:prstGeom prst="roundRect">
            <a:avLst>
              <a:gd name="adj" fmla="val 17391"/>
            </a:avLst>
          </a:prstGeom>
          <a:solidFill>
            <a:schemeClr val="accent2"/>
          </a:solidFill>
          <a:ln/>
        </p:spPr>
      </p:sp>
      <p:sp>
        <p:nvSpPr>
          <p:cNvPr id="19" name="Check number"/>
          <p:cNvSpPr txBox="1"/>
          <p:nvPr/>
        </p:nvSpPr>
        <p:spPr>
          <a:xfrm>
            <a:off x="731520" y="33375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20" name="Check title"/>
          <p:cNvSpPr txBox="1"/>
          <p:nvPr/>
        </p:nvSpPr>
        <p:spPr>
          <a:xfrm>
            <a:off x="1325880" y="3291840"/>
            <a:ext cx="6309360" cy="45720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Run it and read the receipt</a:t>
            </a:r>
            <a:endParaRPr lang="en-US" sz="1500" dirty="0"/>
          </a:p>
        </p:txBody>
      </p:sp>
      <p:sp>
        <p:nvSpPr>
          <p:cNvPr id="21" name="Check text"/>
          <p:cNvSpPr txBox="1"/>
          <p:nvPr/>
        </p:nvSpPr>
        <p:spPr>
          <a:xfrm>
            <a:off x="1325880" y="3794760"/>
            <a:ext cx="6309360" cy="594360"/>
          </a:xfrm>
          <a:prstGeom prst="rect">
            <a:avLst/>
          </a:prstGeom>
          <a:noFill/>
          <a:ln/>
        </p:spPr>
        <p:txBody>
          <a:bodyPr wrap="square" lIns="0" tIns="0" rIns="0" bIns="0" rtlCol="0" anchor="t"/>
          <a:lstStyle/>
          <a:p>
            <a:pPr indent="0" marL="0">
              <a:buNone/>
            </a:pPr>
            <a:r>
              <a:rPr lang="en-US" sz="1250" dirty="0">
                <a:solidFill>
                  <a:schemeClr val="tx1"/>
                </a:solidFill>
              </a:rPr>
              <a:t>Run the pipeline with 2025-02 and with_na. Then smoke_check(&lt;your run ID&gt;) must pass.</a:t>
            </a:r>
            <a:endParaRPr lang="en-US" sz="1250" dirty="0"/>
          </a:p>
        </p:txBody>
      </p:sp>
      <p:sp>
        <p:nvSpPr>
          <p:cNvPr id="22" name="Look at the report card"/>
          <p:cNvSpPr/>
          <p:nvPr/>
        </p:nvSpPr>
        <p:spPr>
          <a:xfrm>
            <a:off x="548640" y="4526280"/>
            <a:ext cx="7315200" cy="1261872"/>
          </a:xfrm>
          <a:prstGeom prst="roundRect">
            <a:avLst>
              <a:gd name="adj" fmla="val 8696"/>
            </a:avLst>
          </a:prstGeom>
          <a:solidFill>
            <a:schemeClr val="accent2">
              <a:alpha val="18000"/>
            </a:schemeClr>
          </a:solidFill>
          <a:ln/>
        </p:spPr>
      </p:sp>
      <p:sp>
        <p:nvSpPr>
          <p:cNvPr id="23" name="Check chip 3"/>
          <p:cNvSpPr/>
          <p:nvPr/>
        </p:nvSpPr>
        <p:spPr>
          <a:xfrm>
            <a:off x="731520" y="4709160"/>
            <a:ext cx="420624" cy="420624"/>
          </a:xfrm>
          <a:prstGeom prst="roundRect">
            <a:avLst>
              <a:gd name="adj" fmla="val 17391"/>
            </a:avLst>
          </a:prstGeom>
          <a:solidFill>
            <a:schemeClr val="accent2"/>
          </a:solidFill>
          <a:ln/>
        </p:spPr>
      </p:sp>
      <p:sp>
        <p:nvSpPr>
          <p:cNvPr id="24" name="Check number"/>
          <p:cNvSpPr txBox="1"/>
          <p:nvPr/>
        </p:nvSpPr>
        <p:spPr>
          <a:xfrm>
            <a:off x="731520" y="47091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25" name="Check title"/>
          <p:cNvSpPr txBox="1"/>
          <p:nvPr/>
        </p:nvSpPr>
        <p:spPr>
          <a:xfrm>
            <a:off x="1325880" y="4663440"/>
            <a:ext cx="6309360" cy="45720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Look at the report</a:t>
            </a:r>
            <a:endParaRPr lang="en-US" sz="1500" dirty="0"/>
          </a:p>
        </p:txBody>
      </p:sp>
      <p:sp>
        <p:nvSpPr>
          <p:cNvPr id="26" name="Check text"/>
          <p:cNvSpPr txBox="1"/>
          <p:nvPr/>
        </p:nvSpPr>
        <p:spPr>
          <a:xfrm>
            <a:off x="1325880" y="5166360"/>
            <a:ext cx="6309360" cy="594360"/>
          </a:xfrm>
          <a:prstGeom prst="rect">
            <a:avLst/>
          </a:prstGeom>
          <a:noFill/>
          <a:ln/>
        </p:spPr>
        <p:txBody>
          <a:bodyPr wrap="square" lIns="0" tIns="0" rIns="0" bIns="0" rtlCol="0" anchor="t"/>
          <a:lstStyle/>
          <a:p>
            <a:pPr indent="0" marL="0">
              <a:buNone/>
            </a:pPr>
            <a:r>
              <a:rPr lang="en-US" sz="1250" dirty="0">
                <a:solidFill>
                  <a:schemeClr val="tx1"/>
                </a:solidFill>
              </a:rPr>
              <a:t>If you deployed the model and report: 12,000.00 and 18,000.00. DEV's numbers mean the model is still bound to DEV.</a:t>
            </a:r>
            <a:endParaRPr lang="en-US" sz="1250" dirty="0"/>
          </a:p>
        </p:txBody>
      </p:sp>
      <p:sp>
        <p:nvSpPr>
          <p:cNvPr id="27" name="Do this card"/>
          <p:cNvSpPr/>
          <p:nvPr/>
        </p:nvSpPr>
        <p:spPr>
          <a:xfrm>
            <a:off x="8092440" y="1783080"/>
            <a:ext cx="3547872" cy="2203704"/>
          </a:xfrm>
          <a:prstGeom prst="roundRect">
            <a:avLst>
              <a:gd name="adj" fmla="val 4979"/>
            </a:avLst>
          </a:prstGeom>
          <a:solidFill>
            <a:schemeClr val="bg2"/>
          </a:solidFill>
          <a:ln/>
        </p:spPr>
      </p:sp>
      <p:sp>
        <p:nvSpPr>
          <p:cNvPr id="28"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9" name="Do chip 1"/>
          <p:cNvSpPr/>
          <p:nvPr/>
        </p:nvSpPr>
        <p:spPr>
          <a:xfrm>
            <a:off x="8293608" y="2377440"/>
            <a:ext cx="310896" cy="310896"/>
          </a:xfrm>
          <a:prstGeom prst="roundRect">
            <a:avLst>
              <a:gd name="adj" fmla="val 23529"/>
            </a:avLst>
          </a:prstGeom>
          <a:solidFill>
            <a:schemeClr val="accent1"/>
          </a:solidFill>
          <a:ln/>
        </p:spPr>
      </p:sp>
      <p:sp>
        <p:nvSpPr>
          <p:cNvPr id="30"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31"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00" dirty="0">
                <a:solidFill>
                  <a:schemeClr val="tx1"/>
                </a:solidFill>
              </a:rPr>
              <a:t>Load the lab kit into the TEST lakehouse.</a:t>
            </a:r>
            <a:endParaRPr lang="en-US" sz="1200" dirty="0"/>
          </a:p>
        </p:txBody>
      </p:sp>
      <p:sp>
        <p:nvSpPr>
          <p:cNvPr id="32" name="Do chip 2"/>
          <p:cNvSpPr/>
          <p:nvPr/>
        </p:nvSpPr>
        <p:spPr>
          <a:xfrm>
            <a:off x="8293608" y="2944368"/>
            <a:ext cx="310896" cy="310896"/>
          </a:xfrm>
          <a:prstGeom prst="roundRect">
            <a:avLst>
              <a:gd name="adj" fmla="val 23529"/>
            </a:avLst>
          </a:prstGeom>
          <a:solidFill>
            <a:schemeClr val="accent1"/>
          </a:solidFill>
          <a:ln/>
        </p:spPr>
      </p:sp>
      <p:sp>
        <p:nvSpPr>
          <p:cNvPr id="33"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34"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00" dirty="0">
                <a:solidFill>
                  <a:schemeClr val="tx1"/>
                </a:solidFill>
              </a:rPr>
              <a:t>Run the pipeline in TEST: 2025-02, with_na. Run smoke_check.</a:t>
            </a:r>
            <a:endParaRPr lang="en-US" sz="1200" dirty="0"/>
          </a:p>
        </p:txBody>
      </p:sp>
      <p:sp>
        <p:nvSpPr>
          <p:cNvPr id="35" name="Do chip 3"/>
          <p:cNvSpPr/>
          <p:nvPr/>
        </p:nvSpPr>
        <p:spPr>
          <a:xfrm>
            <a:off x="8293608" y="3511296"/>
            <a:ext cx="310896" cy="310896"/>
          </a:xfrm>
          <a:prstGeom prst="roundRect">
            <a:avLst>
              <a:gd name="adj" fmla="val 23529"/>
            </a:avLst>
          </a:prstGeom>
          <a:solidFill>
            <a:schemeClr val="accent1"/>
          </a:solidFill>
          <a:ln/>
        </p:spPr>
      </p:sp>
      <p:sp>
        <p:nvSpPr>
          <p:cNvPr id="36"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7"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the report in TEST. Compare with the expected results.</a:t>
            </a:r>
            <a:endParaRPr lang="en-US" sz="1200" dirty="0"/>
          </a:p>
        </p:txBody>
      </p:sp>
      <p:sp>
        <p:nvSpPr>
          <p:cNvPr id="38"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9"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40"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The smoke check passes: your run, status passed.</a:t>
            </a:r>
            <a:endParaRPr lang="en-US" sz="1200" dirty="0"/>
          </a:p>
          <a:p>
            <a:pPr indent="0" marL="0">
              <a:buNone/>
            </a:pPr>
            <a:endParaRPr lang="en-US" sz="1200" dirty="0"/>
          </a:p>
          <a:p>
            <a:pPr indent="0" marL="0">
              <a:buNone/>
            </a:pPr>
            <a:r>
              <a:rPr lang="en-US" sz="1250" dirty="0">
                <a:solidFill>
                  <a:schemeClr val="tx1"/>
                </a:solidFill>
              </a:rPr>
              <a:t>The report shows 12,000.00 and 18,000.00. Anything else is a finding. Name it.</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AI assist in Lab C: four places, and you own the result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Step 3 card"/>
          <p:cNvSpPr/>
          <p:nvPr/>
        </p:nvSpPr>
        <p:spPr>
          <a:xfrm>
            <a:off x="548640" y="1783080"/>
            <a:ext cx="5468112" cy="1828800"/>
          </a:xfrm>
          <a:prstGeom prst="roundRect">
            <a:avLst>
              <a:gd name="adj" fmla="val 6000"/>
            </a:avLst>
          </a:prstGeom>
          <a:solidFill>
            <a:schemeClr val="bg2"/>
          </a:solidFill>
          <a:ln/>
        </p:spPr>
      </p:sp>
      <p:sp>
        <p:nvSpPr>
          <p:cNvPr id="7" name="Pill"/>
          <p:cNvSpPr txBox="1"/>
          <p:nvPr/>
        </p:nvSpPr>
        <p:spPr>
          <a:xfrm>
            <a:off x="731520" y="1892808"/>
            <a:ext cx="91440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b="1" spc="200" kern="0" dirty="0">
                <a:solidFill>
                  <a:schemeClr val="tx1"/>
                </a:solidFill>
              </a:rPr>
              <a:t>STEP 3</a:t>
            </a:r>
            <a:endParaRPr lang="en-US" sz="950" dirty="0"/>
          </a:p>
        </p:txBody>
      </p:sp>
      <p:sp>
        <p:nvSpPr>
          <p:cNvPr id="8" name="Assist title"/>
          <p:cNvSpPr txBox="1"/>
          <p:nvPr/>
        </p:nvSpPr>
        <p:spPr>
          <a:xfrm>
            <a:off x="1828800" y="1874520"/>
            <a:ext cx="402336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Explain the diff</a:t>
            </a:r>
            <a:endParaRPr lang="en-US" sz="1500" dirty="0"/>
          </a:p>
        </p:txBody>
      </p:sp>
      <p:sp>
        <p:nvSpPr>
          <p:cNvPr id="9" name="Assist ask"/>
          <p:cNvSpPr txBox="1"/>
          <p:nvPr/>
        </p:nvSpPr>
        <p:spPr>
          <a:xfrm>
            <a:off x="731520" y="2331720"/>
            <a:ext cx="5074920" cy="594360"/>
          </a:xfrm>
          <a:prstGeom prst="rect">
            <a:avLst/>
          </a:prstGeom>
          <a:noFill/>
          <a:ln/>
        </p:spPr>
        <p:txBody>
          <a:bodyPr wrap="square" lIns="0" tIns="0" rIns="0" bIns="0" rtlCol="0" anchor="t"/>
          <a:lstStyle/>
          <a:p>
            <a:pPr indent="0" marL="0">
              <a:buNone/>
            </a:pPr>
            <a:r>
              <a:rPr lang="en-US" sz="950" b="1" dirty="0">
                <a:solidFill>
                  <a:schemeClr val="accent1"/>
                </a:solidFill>
              </a:rPr>
              <a:t>ASK  </a:t>
            </a:r>
            <a:pPr indent="0" marL="0">
              <a:buNone/>
            </a:pPr>
            <a:r>
              <a:rPr lang="en-US" sz="1200" i="1" dirty="0">
                <a:solidFill>
                  <a:schemeClr val="tx1"/>
                </a:solidFill>
              </a:rPr>
              <a:t>Explain this diff in plain words. What does it change for the business?</a:t>
            </a:r>
            <a:endParaRPr lang="en-US" sz="1200" dirty="0"/>
          </a:p>
        </p:txBody>
      </p:sp>
      <p:sp>
        <p:nvSpPr>
          <p:cNvPr id="10" name="Assist check"/>
          <p:cNvSpPr txBox="1"/>
          <p:nvPr/>
        </p:nvSpPr>
        <p:spPr>
          <a:xfrm>
            <a:off x="731520" y="2971800"/>
            <a:ext cx="5074920" cy="548640"/>
          </a:xfrm>
          <a:prstGeom prst="rect">
            <a:avLst/>
          </a:prstGeom>
          <a:noFill/>
          <a:ln/>
        </p:spPr>
        <p:txBody>
          <a:bodyPr wrap="square" lIns="0" tIns="0" rIns="0" bIns="0" rtlCol="0" anchor="t"/>
          <a:lstStyle/>
          <a:p>
            <a:pPr indent="0" marL="0">
              <a:buNone/>
            </a:pPr>
            <a:r>
              <a:rPr lang="en-US" sz="950" b="1" dirty="0">
                <a:solidFill>
                  <a:schemeClr val="accent4"/>
                </a:solidFill>
              </a:rPr>
              <a:t>CHECK  </a:t>
            </a:r>
            <a:pPr indent="0" marL="0">
              <a:buNone/>
            </a:pPr>
            <a:r>
              <a:rPr lang="en-US" sz="1200" b="1" dirty="0">
                <a:solidFill>
                  <a:schemeClr val="tx1"/>
                </a:solidFill>
              </a:rPr>
              <a:t>Does its explanation match what you changed?</a:t>
            </a:r>
            <a:endParaRPr lang="en-US" sz="1200" dirty="0"/>
          </a:p>
        </p:txBody>
      </p:sp>
      <p:sp>
        <p:nvSpPr>
          <p:cNvPr id="11" name="Step 4 card"/>
          <p:cNvSpPr/>
          <p:nvPr/>
        </p:nvSpPr>
        <p:spPr>
          <a:xfrm>
            <a:off x="6172200" y="1783080"/>
            <a:ext cx="5468112" cy="1828800"/>
          </a:xfrm>
          <a:prstGeom prst="roundRect">
            <a:avLst>
              <a:gd name="adj" fmla="val 6000"/>
            </a:avLst>
          </a:prstGeom>
          <a:solidFill>
            <a:schemeClr val="bg2"/>
          </a:solidFill>
          <a:ln/>
        </p:spPr>
      </p:sp>
      <p:sp>
        <p:nvSpPr>
          <p:cNvPr id="12" name="Pill"/>
          <p:cNvSpPr txBox="1"/>
          <p:nvPr/>
        </p:nvSpPr>
        <p:spPr>
          <a:xfrm>
            <a:off x="6355080" y="1892808"/>
            <a:ext cx="91440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b="1" spc="200" kern="0" dirty="0">
                <a:solidFill>
                  <a:schemeClr val="tx1"/>
                </a:solidFill>
              </a:rPr>
              <a:t>STEP 4</a:t>
            </a:r>
            <a:endParaRPr lang="en-US" sz="950" dirty="0"/>
          </a:p>
        </p:txBody>
      </p:sp>
      <p:sp>
        <p:nvSpPr>
          <p:cNvPr id="13" name="Assist title"/>
          <p:cNvSpPr txBox="1"/>
          <p:nvPr/>
        </p:nvSpPr>
        <p:spPr>
          <a:xfrm>
            <a:off x="7452360" y="1874520"/>
            <a:ext cx="402336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Draft the PR description</a:t>
            </a:r>
            <a:endParaRPr lang="en-US" sz="1500" dirty="0"/>
          </a:p>
        </p:txBody>
      </p:sp>
      <p:sp>
        <p:nvSpPr>
          <p:cNvPr id="14" name="Assist ask"/>
          <p:cNvSpPr txBox="1"/>
          <p:nvPr/>
        </p:nvSpPr>
        <p:spPr>
          <a:xfrm>
            <a:off x="6355080" y="2331720"/>
            <a:ext cx="5074920" cy="594360"/>
          </a:xfrm>
          <a:prstGeom prst="rect">
            <a:avLst/>
          </a:prstGeom>
          <a:noFill/>
          <a:ln/>
        </p:spPr>
        <p:txBody>
          <a:bodyPr wrap="square" lIns="0" tIns="0" rIns="0" bIns="0" rtlCol="0" anchor="t"/>
          <a:lstStyle/>
          <a:p>
            <a:pPr indent="0" marL="0">
              <a:buNone/>
            </a:pPr>
            <a:r>
              <a:rPr lang="en-US" sz="950" b="1" dirty="0">
                <a:solidFill>
                  <a:schemeClr val="accent1"/>
                </a:solidFill>
              </a:rPr>
              <a:t>ASK  </a:t>
            </a:r>
            <a:pPr indent="0" marL="0">
              <a:buNone/>
            </a:pPr>
            <a:r>
              <a:rPr lang="en-US" sz="1200" i="1" dirty="0">
                <a:solidFill>
                  <a:schemeClr val="tx1"/>
                </a:solidFill>
              </a:rPr>
              <a:t>Summarise this diff for a reviewer: what, why, how to test.</a:t>
            </a:r>
            <a:endParaRPr lang="en-US" sz="1200" dirty="0"/>
          </a:p>
        </p:txBody>
      </p:sp>
      <p:sp>
        <p:nvSpPr>
          <p:cNvPr id="15" name="Assist check"/>
          <p:cNvSpPr txBox="1"/>
          <p:nvPr/>
        </p:nvSpPr>
        <p:spPr>
          <a:xfrm>
            <a:off x="6355080" y="2971800"/>
            <a:ext cx="5074920" cy="548640"/>
          </a:xfrm>
          <a:prstGeom prst="rect">
            <a:avLst/>
          </a:prstGeom>
          <a:noFill/>
          <a:ln/>
        </p:spPr>
        <p:txBody>
          <a:bodyPr wrap="square" lIns="0" tIns="0" rIns="0" bIns="0" rtlCol="0" anchor="t"/>
          <a:lstStyle/>
          <a:p>
            <a:pPr indent="0" marL="0">
              <a:buNone/>
            </a:pPr>
            <a:r>
              <a:rPr lang="en-US" sz="950" b="1" dirty="0">
                <a:solidFill>
                  <a:schemeClr val="accent4"/>
                </a:solidFill>
              </a:rPr>
              <a:t>CHECK  </a:t>
            </a:r>
            <a:pPr indent="0" marL="0">
              <a:buNone/>
            </a:pPr>
            <a:r>
              <a:rPr lang="en-US" sz="1200" b="1" dirty="0">
                <a:solidFill>
                  <a:schemeClr val="tx1"/>
                </a:solidFill>
              </a:rPr>
              <a:t>Is every claim true? Did it invent a change?</a:t>
            </a:r>
            <a:endParaRPr lang="en-US" sz="1200" dirty="0"/>
          </a:p>
        </p:txBody>
      </p:sp>
      <p:sp>
        <p:nvSpPr>
          <p:cNvPr id="16" name="Step 5 card"/>
          <p:cNvSpPr/>
          <p:nvPr/>
        </p:nvSpPr>
        <p:spPr>
          <a:xfrm>
            <a:off x="548640" y="3749040"/>
            <a:ext cx="5468112" cy="1828800"/>
          </a:xfrm>
          <a:prstGeom prst="roundRect">
            <a:avLst>
              <a:gd name="adj" fmla="val 6000"/>
            </a:avLst>
          </a:prstGeom>
          <a:solidFill>
            <a:schemeClr val="bg2"/>
          </a:solidFill>
          <a:ln/>
        </p:spPr>
      </p:sp>
      <p:sp>
        <p:nvSpPr>
          <p:cNvPr id="17" name="Pill"/>
          <p:cNvSpPr txBox="1"/>
          <p:nvPr/>
        </p:nvSpPr>
        <p:spPr>
          <a:xfrm>
            <a:off x="731520" y="3858768"/>
            <a:ext cx="91440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b="1" spc="200" kern="0" dirty="0">
                <a:solidFill>
                  <a:schemeClr val="tx1"/>
                </a:solidFill>
              </a:rPr>
              <a:t>STEP 5</a:t>
            </a:r>
            <a:endParaRPr lang="en-US" sz="950" dirty="0"/>
          </a:p>
        </p:txBody>
      </p:sp>
      <p:sp>
        <p:nvSpPr>
          <p:cNvPr id="18" name="Assist title"/>
          <p:cNvSpPr txBox="1"/>
          <p:nvPr/>
        </p:nvSpPr>
        <p:spPr>
          <a:xfrm>
            <a:off x="1828800" y="3840480"/>
            <a:ext cx="402336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Review for hard-coded values</a:t>
            </a:r>
            <a:endParaRPr lang="en-US" sz="1500" dirty="0"/>
          </a:p>
        </p:txBody>
      </p:sp>
      <p:sp>
        <p:nvSpPr>
          <p:cNvPr id="19" name="Assist ask"/>
          <p:cNvSpPr txBox="1"/>
          <p:nvPr/>
        </p:nvSpPr>
        <p:spPr>
          <a:xfrm>
            <a:off x="731520" y="4297680"/>
            <a:ext cx="5074920" cy="594360"/>
          </a:xfrm>
          <a:prstGeom prst="rect">
            <a:avLst/>
          </a:prstGeom>
          <a:noFill/>
          <a:ln/>
        </p:spPr>
        <p:txBody>
          <a:bodyPr wrap="square" lIns="0" tIns="0" rIns="0" bIns="0" rtlCol="0" anchor="t"/>
          <a:lstStyle/>
          <a:p>
            <a:pPr indent="0" marL="0">
              <a:buNone/>
            </a:pPr>
            <a:r>
              <a:rPr lang="en-US" sz="950" b="1" dirty="0">
                <a:solidFill>
                  <a:schemeClr val="accent1"/>
                </a:solidFill>
              </a:rPr>
              <a:t>ASK  </a:t>
            </a:r>
            <a:pPr indent="0" marL="0">
              <a:buNone/>
            </a:pPr>
            <a:r>
              <a:rPr lang="en-US" sz="1200" i="1" dirty="0">
                <a:solidFill>
                  <a:schemeClr val="tx1"/>
                </a:solidFill>
              </a:rPr>
              <a:t>Review these changes for hard-coded IDs and environment values.</a:t>
            </a:r>
            <a:endParaRPr lang="en-US" sz="1200" dirty="0"/>
          </a:p>
        </p:txBody>
      </p:sp>
      <p:sp>
        <p:nvSpPr>
          <p:cNvPr id="20" name="Assist check"/>
          <p:cNvSpPr txBox="1"/>
          <p:nvPr/>
        </p:nvSpPr>
        <p:spPr>
          <a:xfrm>
            <a:off x="731520" y="4937760"/>
            <a:ext cx="5074920" cy="548640"/>
          </a:xfrm>
          <a:prstGeom prst="rect">
            <a:avLst/>
          </a:prstGeom>
          <a:noFill/>
          <a:ln/>
        </p:spPr>
        <p:txBody>
          <a:bodyPr wrap="square" lIns="0" tIns="0" rIns="0" bIns="0" rtlCol="0" anchor="t"/>
          <a:lstStyle/>
          <a:p>
            <a:pPr indent="0" marL="0">
              <a:buNone/>
            </a:pPr>
            <a:r>
              <a:rPr lang="en-US" sz="950" b="1" dirty="0">
                <a:solidFill>
                  <a:schemeClr val="accent4"/>
                </a:solidFill>
              </a:rPr>
              <a:t>CHECK  </a:t>
            </a:r>
            <a:pPr indent="0" marL="0">
              <a:buNone/>
            </a:pPr>
            <a:r>
              <a:rPr lang="en-US" sz="1200" b="1" dirty="0">
                <a:solidFill>
                  <a:schemeClr val="tx1"/>
                </a:solidFill>
              </a:rPr>
              <a:t>Run the rails. They are the arbiter.</a:t>
            </a:r>
            <a:endParaRPr lang="en-US" sz="1200" dirty="0"/>
          </a:p>
        </p:txBody>
      </p:sp>
      <p:sp>
        <p:nvSpPr>
          <p:cNvPr id="21" name="Step 6 card"/>
          <p:cNvSpPr/>
          <p:nvPr/>
        </p:nvSpPr>
        <p:spPr>
          <a:xfrm>
            <a:off x="6172200" y="3749040"/>
            <a:ext cx="5468112" cy="1828800"/>
          </a:xfrm>
          <a:prstGeom prst="roundRect">
            <a:avLst>
              <a:gd name="adj" fmla="val 6000"/>
            </a:avLst>
          </a:prstGeom>
          <a:solidFill>
            <a:schemeClr val="bg2"/>
          </a:solidFill>
          <a:ln/>
        </p:spPr>
      </p:sp>
      <p:sp>
        <p:nvSpPr>
          <p:cNvPr id="22" name="Pill"/>
          <p:cNvSpPr txBox="1"/>
          <p:nvPr/>
        </p:nvSpPr>
        <p:spPr>
          <a:xfrm>
            <a:off x="6355080" y="3858768"/>
            <a:ext cx="91440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b="1" spc="200" kern="0" dirty="0">
                <a:solidFill>
                  <a:schemeClr val="tx1"/>
                </a:solidFill>
              </a:rPr>
              <a:t>STEP 6</a:t>
            </a:r>
            <a:endParaRPr lang="en-US" sz="950" dirty="0"/>
          </a:p>
        </p:txBody>
      </p:sp>
      <p:sp>
        <p:nvSpPr>
          <p:cNvPr id="23" name="Assist title"/>
          <p:cNvSpPr txBox="1"/>
          <p:nvPr/>
        </p:nvSpPr>
        <p:spPr>
          <a:xfrm>
            <a:off x="7452360" y="3840480"/>
            <a:ext cx="402336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Triage a failure</a:t>
            </a:r>
            <a:endParaRPr lang="en-US" sz="1500" dirty="0"/>
          </a:p>
        </p:txBody>
      </p:sp>
      <p:sp>
        <p:nvSpPr>
          <p:cNvPr id="24" name="Assist ask"/>
          <p:cNvSpPr txBox="1"/>
          <p:nvPr/>
        </p:nvSpPr>
        <p:spPr>
          <a:xfrm>
            <a:off x="6355080" y="4297680"/>
            <a:ext cx="5074920" cy="594360"/>
          </a:xfrm>
          <a:prstGeom prst="rect">
            <a:avLst/>
          </a:prstGeom>
          <a:noFill/>
          <a:ln/>
        </p:spPr>
        <p:txBody>
          <a:bodyPr wrap="square" lIns="0" tIns="0" rIns="0" bIns="0" rtlCol="0" anchor="t"/>
          <a:lstStyle/>
          <a:p>
            <a:pPr indent="0" marL="0">
              <a:buNone/>
            </a:pPr>
            <a:r>
              <a:rPr lang="en-US" sz="950" b="1" dirty="0">
                <a:solidFill>
                  <a:schemeClr val="accent1"/>
                </a:solidFill>
              </a:rPr>
              <a:t>ASK  </a:t>
            </a:r>
            <a:pPr indent="0" marL="0">
              <a:buNone/>
            </a:pPr>
            <a:r>
              <a:rPr lang="en-US" sz="1200" i="1" dirty="0">
                <a:solidFill>
                  <a:schemeClr val="tx1"/>
                </a:solidFill>
              </a:rPr>
              <a:t>Here is the error and the run-log row. Cause in two sentences, and what to check.</a:t>
            </a:r>
            <a:endParaRPr lang="en-US" sz="1200" dirty="0"/>
          </a:p>
        </p:txBody>
      </p:sp>
      <p:sp>
        <p:nvSpPr>
          <p:cNvPr id="25" name="Assist check"/>
          <p:cNvSpPr txBox="1"/>
          <p:nvPr/>
        </p:nvSpPr>
        <p:spPr>
          <a:xfrm>
            <a:off x="6355080" y="4937760"/>
            <a:ext cx="5074920" cy="548640"/>
          </a:xfrm>
          <a:prstGeom prst="rect">
            <a:avLst/>
          </a:prstGeom>
          <a:noFill/>
          <a:ln/>
        </p:spPr>
        <p:txBody>
          <a:bodyPr wrap="square" lIns="0" tIns="0" rIns="0" bIns="0" rtlCol="0" anchor="t"/>
          <a:lstStyle/>
          <a:p>
            <a:pPr indent="0" marL="0">
              <a:buNone/>
            </a:pPr>
            <a:r>
              <a:rPr lang="en-US" sz="950" b="1" dirty="0">
                <a:solidFill>
                  <a:schemeClr val="accent4"/>
                </a:solidFill>
              </a:rPr>
              <a:t>CHECK  </a:t>
            </a:r>
            <a:pPr indent="0" marL="0">
              <a:buNone/>
            </a:pPr>
            <a:r>
              <a:rPr lang="en-US" sz="1200" b="1" dirty="0">
                <a:solidFill>
                  <a:schemeClr val="tx1"/>
                </a:solidFill>
              </a:rPr>
              <a:t>Confirm in the monitoring hub and the run log.</a:t>
            </a:r>
            <a:endParaRPr lang="en-US" sz="1200" dirty="0"/>
          </a:p>
        </p:txBody>
      </p:sp>
      <p:sp>
        <p:nvSpPr>
          <p:cNvPr id="26" name="Ground rules"/>
          <p:cNvSpPr/>
          <p:nvPr/>
        </p:nvSpPr>
        <p:spPr>
          <a:xfrm>
            <a:off x="548640" y="5669280"/>
            <a:ext cx="11094415" cy="457200"/>
          </a:xfrm>
          <a:prstGeom prst="roundRect">
            <a:avLst>
              <a:gd name="adj" fmla="val 24000"/>
            </a:avLst>
          </a:prstGeom>
          <a:solidFill>
            <a:schemeClr val="tx1"/>
          </a:solidFill>
          <a:ln/>
        </p:spPr>
      </p:sp>
      <p:sp>
        <p:nvSpPr>
          <p:cNvPr id="27" name="Ground rules text"/>
          <p:cNvSpPr txBox="1"/>
          <p:nvPr/>
        </p:nvSpPr>
        <p:spPr>
          <a:xfrm>
            <a:off x="822960" y="5669280"/>
            <a:ext cx="10545775" cy="457200"/>
          </a:xfrm>
          <a:prstGeom prst="rect">
            <a:avLst/>
          </a:prstGeom>
          <a:noFill/>
          <a:ln/>
        </p:spPr>
        <p:txBody>
          <a:bodyPr wrap="square" lIns="0" tIns="0" rIns="0" bIns="0" rtlCol="0" anchor="ctr"/>
          <a:lstStyle/>
          <a:p>
            <a:pPr indent="0" marL="0">
              <a:buNone/>
            </a:pPr>
            <a:r>
              <a:rPr lang="en-US" sz="1300" dirty="0">
                <a:solidFill>
                  <a:schemeClr val="bg1"/>
                </a:solidFill>
              </a:rPr>
              <a:t>Only the approved assistant. Only invented lab data in a prompt. </a:t>
            </a:r>
            <a:pPr indent="0" marL="0">
              <a:buNone/>
            </a:pPr>
            <a:r>
              <a:rPr lang="en-US" sz="1300" b="1" dirty="0">
                <a:solidFill>
                  <a:schemeClr val="accent3"/>
                </a:solidFill>
              </a:rPr>
              <a:t>You own whatever you commit.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Expected results, and what to try when it does not match</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graphicFrame>
        <p:nvGraphicFramePr>
          <p:cNvPr id="69" name="Lab C checks"/>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914400"/>
        </p:xfrm>
        <a:graphic>
          <a:graphicData uri="http://schemas.openxmlformats.org/drawingml/2006/table">
            <a:tbl>
              <a:tblPr/>
              <a:tblGrid>
                <a:gridCol w="914400"/>
                <a:gridCol w="4480560"/>
              </a:tblGrid>
              <a:tr h="347472">
                <a:tc>
                  <a:txBody>
                    <a:bodyPr/>
                    <a:lstStyle/>
                    <a:p>
                      <a:pPr indent="0" marL="0">
                        <a:buNone/>
                      </a:pPr>
                      <a:r>
                        <a:rPr lang="en-US" sz="1100" b="1" dirty="0">
                          <a:solidFill>
                            <a:schemeClr val="bg1"/>
                          </a:solidFill>
                        </a:rPr>
                        <a:t>Step</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Expected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100" b="1" dirty="0">
                          <a:solidFill>
                            <a:schemeClr val="tx1"/>
                          </a:solidFill>
                        </a:rPr>
                        <a:t>1</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Connected to your branch. Items listed as ready to commit</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100" b="1" dirty="0">
                          <a:solidFill>
                            <a:schemeClr val="tx1"/>
                          </a:solidFill>
                        </a:rPr>
                        <a:t>2</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A commit on your branch. One folder per item under fabric/</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100" b="1" dirty="0">
                          <a:solidFill>
                            <a:schemeClr val="tx1"/>
                          </a:solidFill>
                        </a:rPr>
                        <a:t>3</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A one-line diff. The gate still passes</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100" b="1" dirty="0">
                          <a:solidFill>
                            <a:schemeClr val="tx1"/>
                          </a:solidFill>
                        </a:rPr>
                        <a:t>4</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Rails green. Planted ID fails and names the line. PR merged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100" b="1" dirty="0">
                          <a:solidFill>
                            <a:schemeClr val="tx1"/>
                          </a:solidFill>
                        </a:rPr>
                        <a:t>5</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Items in TEST. The PROD stage is waiting for approval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100" b="1" dirty="0">
                          <a:solidFill>
                            <a:schemeClr val="tx1"/>
                          </a:solidFill>
                        </a:rPr>
                        <a:t>6</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Smoke check passes. Report shows 12,000.00 and 18,000.00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graphicFrame>
        <p:nvGraphicFramePr>
          <p:cNvPr id="137" name="Lab C troubleshooting"/>
          <p:cNvGraphicFramePr>
            <a:graphicFrameLocks noGrp="1"/>
          </p:cNvGraphicFramePr>
          <p:nvPr>
            <p:extLst>
              <p:ext uri="{D42A27DB-BD31-4B8C-83A1-F6EECF244321}">
                <p14:modId xmlns:p14="http://schemas.microsoft.com/office/powerpoint/2010/main" val="1579011935"/>
              </p:ext>
            </p:extLst>
          </p:nvPr>
        </p:nvGraphicFramePr>
        <p:xfrm>
          <a:off x="6126480" y="1783080"/>
          <a:ext cx="5513832" cy="914400"/>
        </p:xfrm>
        <a:graphic>
          <a:graphicData uri="http://schemas.openxmlformats.org/drawingml/2006/table">
            <a:tbl>
              <a:tblPr/>
              <a:tblGrid>
                <a:gridCol w="2286000"/>
                <a:gridCol w="3227832"/>
              </a:tblGrid>
              <a:tr h="347472">
                <a:tc>
                  <a:txBody>
                    <a:bodyPr/>
                    <a:lstStyle/>
                    <a:p>
                      <a:pPr indent="0" marL="0">
                        <a:buNone/>
                      </a:pPr>
                      <a:r>
                        <a:rPr lang="en-US" sz="1050" b="1" dirty="0">
                          <a:solidFill>
                            <a:schemeClr val="bg1"/>
                          </a:solidFill>
                        </a:rPr>
                        <a:t>Symptom</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050" b="1" dirty="0">
                          <a:solidFill>
                            <a:schemeClr val="bg1"/>
                          </a:solidFill>
                        </a:rPr>
                        <a:t>Likely fix</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050" dirty="0">
                          <a:solidFill>
                            <a:schemeClr val="tx1"/>
                          </a:solidFill>
                        </a:rPr>
                        <a:t>Commit refused: direct push to main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Use your feature branch. Main takes pull requests only</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050" dirty="0">
                          <a:solidFill>
                            <a:schemeClr val="tx1"/>
                          </a:solidFill>
                        </a:rPr>
                        <a:t>Rail: hard-coded ID</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Remove the constant or use a parameter. Logical IDs in .platform are fine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050" dirty="0">
                          <a:solidFill>
                            <a:schemeClr val="tx1"/>
                          </a:solidFill>
                        </a:rPr>
                        <a:t>Rail: commit message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type(scope): summary, then AB#&lt;id&gt;</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050" dirty="0">
                          <a:solidFill>
                            <a:schemeClr val="tx1"/>
                          </a:solidFill>
                        </a:rPr>
                        <a:t>TEST stage fails</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Check the identity's role in TEST and the TEST workspace variable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050" dirty="0">
                          <a:solidFill>
                            <a:schemeClr val="tx1"/>
                          </a:solidFill>
                        </a:rPr>
                        <a:t>TEST notebook: path does not exist</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TEST has no data yet. Load the lab kit</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050" dirty="0">
                          <a:solidFill>
                            <a:schemeClr val="tx1"/>
                          </a:solidFill>
                        </a:rPr>
                        <a:t>Report shows DEV numbers</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The model is still bound to DEV. Rebind it</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8"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Every one of these is something a real first deployment hits.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If you finish early: tag it, roll it back, branch out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Stretch 1"/>
          <p:cNvSpPr/>
          <p:nvPr/>
        </p:nvSpPr>
        <p:spPr>
          <a:xfrm>
            <a:off x="548640" y="1783080"/>
            <a:ext cx="11094415" cy="914400"/>
          </a:xfrm>
          <a:prstGeom prst="roundRect">
            <a:avLst>
              <a:gd name="adj" fmla="val 12000"/>
            </a:avLst>
          </a:prstGeom>
          <a:solidFill>
            <a:schemeClr val="accent2">
              <a:alpha val="15000"/>
            </a:schemeClr>
          </a:solidFill>
          <a:ln/>
        </p:spPr>
      </p:sp>
      <p:sp>
        <p:nvSpPr>
          <p:cNvPr id="7" name="Stretch chip 1"/>
          <p:cNvSpPr/>
          <p:nvPr/>
        </p:nvSpPr>
        <p:spPr>
          <a:xfrm>
            <a:off x="731520" y="2029968"/>
            <a:ext cx="420624" cy="420624"/>
          </a:xfrm>
          <a:prstGeom prst="roundRect">
            <a:avLst>
              <a:gd name="adj" fmla="val 17391"/>
            </a:avLst>
          </a:prstGeom>
          <a:solidFill>
            <a:schemeClr val="accent2"/>
          </a:solidFill>
          <a:ln/>
        </p:spPr>
      </p:sp>
      <p:sp>
        <p:nvSpPr>
          <p:cNvPr id="8" name="Stretch number"/>
          <p:cNvSpPr txBox="1"/>
          <p:nvPr/>
        </p:nvSpPr>
        <p:spPr>
          <a:xfrm>
            <a:off x="731520" y="20299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9" name="Stretch title"/>
          <p:cNvSpPr txBox="1"/>
          <p:nvPr/>
        </p:nvSpPr>
        <p:spPr>
          <a:xfrm>
            <a:off x="1371600" y="1856232"/>
            <a:ext cx="2926080" cy="768096"/>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Tag and redeploy</a:t>
            </a:r>
            <a:endParaRPr lang="en-US" sz="1500" dirty="0"/>
          </a:p>
        </p:txBody>
      </p:sp>
      <p:sp>
        <p:nvSpPr>
          <p:cNvPr id="10" name="Stretch text"/>
          <p:cNvSpPr txBox="1"/>
          <p:nvPr/>
        </p:nvSpPr>
        <p:spPr>
          <a:xfrm>
            <a:off x="4389120" y="1783080"/>
            <a:ext cx="7040880" cy="914400"/>
          </a:xfrm>
          <a:prstGeom prst="rect">
            <a:avLst/>
          </a:prstGeom>
          <a:noFill/>
          <a:ln/>
        </p:spPr>
        <p:txBody>
          <a:bodyPr wrap="square" lIns="0" tIns="0" rIns="0" bIns="0" rtlCol="0" anchor="ctr"/>
          <a:lstStyle/>
          <a:p>
            <a:pPr indent="0" marL="0">
              <a:buNone/>
            </a:pPr>
            <a:r>
              <a:rPr lang="en-US" sz="1300" dirty="0">
                <a:solidFill>
                  <a:schemeClr val="tx1"/>
                </a:solidFill>
              </a:rPr>
              <a:t>Tag the merged commit v1.0.0. Deploy that tag to TEST. You are deploying a name, not a branch.</a:t>
            </a:r>
            <a:endParaRPr lang="en-US" sz="1300" dirty="0"/>
          </a:p>
        </p:txBody>
      </p:sp>
      <p:sp>
        <p:nvSpPr>
          <p:cNvPr id="11" name="Stretch 2"/>
          <p:cNvSpPr/>
          <p:nvPr/>
        </p:nvSpPr>
        <p:spPr>
          <a:xfrm>
            <a:off x="548640" y="2788920"/>
            <a:ext cx="11094415" cy="914400"/>
          </a:xfrm>
          <a:prstGeom prst="roundRect">
            <a:avLst>
              <a:gd name="adj" fmla="val 12000"/>
            </a:avLst>
          </a:prstGeom>
          <a:solidFill>
            <a:schemeClr val="accent2">
              <a:alpha val="15000"/>
            </a:schemeClr>
          </a:solidFill>
          <a:ln/>
        </p:spPr>
      </p:sp>
      <p:sp>
        <p:nvSpPr>
          <p:cNvPr id="12" name="Stretch chip 2"/>
          <p:cNvSpPr/>
          <p:nvPr/>
        </p:nvSpPr>
        <p:spPr>
          <a:xfrm>
            <a:off x="731520" y="3035808"/>
            <a:ext cx="420624" cy="420624"/>
          </a:xfrm>
          <a:prstGeom prst="roundRect">
            <a:avLst>
              <a:gd name="adj" fmla="val 17391"/>
            </a:avLst>
          </a:prstGeom>
          <a:solidFill>
            <a:schemeClr val="accent2"/>
          </a:solidFill>
          <a:ln/>
        </p:spPr>
      </p:sp>
      <p:sp>
        <p:nvSpPr>
          <p:cNvPr id="13" name="Stretch number"/>
          <p:cNvSpPr txBox="1"/>
          <p:nvPr/>
        </p:nvSpPr>
        <p:spPr>
          <a:xfrm>
            <a:off x="731520" y="303580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4" name="Stretch title"/>
          <p:cNvSpPr txBox="1"/>
          <p:nvPr/>
        </p:nvSpPr>
        <p:spPr>
          <a:xfrm>
            <a:off x="1371600" y="2862072"/>
            <a:ext cx="2926080" cy="768096"/>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Roll it back</a:t>
            </a:r>
            <a:endParaRPr lang="en-US" sz="1500" dirty="0"/>
          </a:p>
        </p:txBody>
      </p:sp>
      <p:sp>
        <p:nvSpPr>
          <p:cNvPr id="15" name="Stretch text"/>
          <p:cNvSpPr txBox="1"/>
          <p:nvPr/>
        </p:nvSpPr>
        <p:spPr>
          <a:xfrm>
            <a:off x="4389120" y="2788920"/>
            <a:ext cx="7040880" cy="914400"/>
          </a:xfrm>
          <a:prstGeom prst="rect">
            <a:avLst/>
          </a:prstGeom>
          <a:noFill/>
          <a:ln/>
        </p:spPr>
        <p:txBody>
          <a:bodyPr wrap="square" lIns="0" tIns="0" rIns="0" bIns="0" rtlCol="0" anchor="ctr"/>
          <a:lstStyle/>
          <a:p>
            <a:pPr indent="0" marL="0">
              <a:buNone/>
            </a:pPr>
            <a:r>
              <a:rPr lang="en-US" sz="1300" dirty="0">
                <a:solidFill>
                  <a:schemeClr val="tx1"/>
                </a:solidFill>
              </a:rPr>
              <a:t>RESTORE the TEST gold table to an earlier version. Read the history. Write a run-log row for the rollback.</a:t>
            </a:r>
            <a:endParaRPr lang="en-US" sz="1300" dirty="0"/>
          </a:p>
        </p:txBody>
      </p:sp>
      <p:sp>
        <p:nvSpPr>
          <p:cNvPr id="16" name="Stretch 3"/>
          <p:cNvSpPr/>
          <p:nvPr/>
        </p:nvSpPr>
        <p:spPr>
          <a:xfrm>
            <a:off x="548640" y="3794760"/>
            <a:ext cx="11094415" cy="914400"/>
          </a:xfrm>
          <a:prstGeom prst="roundRect">
            <a:avLst>
              <a:gd name="adj" fmla="val 12000"/>
            </a:avLst>
          </a:prstGeom>
          <a:solidFill>
            <a:schemeClr val="accent2">
              <a:alpha val="15000"/>
            </a:schemeClr>
          </a:solidFill>
          <a:ln/>
        </p:spPr>
      </p:sp>
      <p:sp>
        <p:nvSpPr>
          <p:cNvPr id="17" name="Stretch chip 3"/>
          <p:cNvSpPr/>
          <p:nvPr/>
        </p:nvSpPr>
        <p:spPr>
          <a:xfrm>
            <a:off x="731520" y="4041648"/>
            <a:ext cx="420624" cy="420624"/>
          </a:xfrm>
          <a:prstGeom prst="roundRect">
            <a:avLst>
              <a:gd name="adj" fmla="val 17391"/>
            </a:avLst>
          </a:prstGeom>
          <a:solidFill>
            <a:schemeClr val="accent2"/>
          </a:solidFill>
          <a:ln/>
        </p:spPr>
      </p:sp>
      <p:sp>
        <p:nvSpPr>
          <p:cNvPr id="18" name="Stretch number"/>
          <p:cNvSpPr txBox="1"/>
          <p:nvPr/>
        </p:nvSpPr>
        <p:spPr>
          <a:xfrm>
            <a:off x="731520" y="404164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9" name="Stretch title"/>
          <p:cNvSpPr txBox="1"/>
          <p:nvPr/>
        </p:nvSpPr>
        <p:spPr>
          <a:xfrm>
            <a:off x="1371600" y="3867912"/>
            <a:ext cx="2926080" cy="768096"/>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Branch out</a:t>
            </a:r>
            <a:endParaRPr lang="en-US" sz="1500" dirty="0"/>
          </a:p>
        </p:txBody>
      </p:sp>
      <p:sp>
        <p:nvSpPr>
          <p:cNvPr id="20" name="Stretch text"/>
          <p:cNvSpPr txBox="1"/>
          <p:nvPr/>
        </p:nvSpPr>
        <p:spPr>
          <a:xfrm>
            <a:off x="4389120" y="3794760"/>
            <a:ext cx="7040880" cy="914400"/>
          </a:xfrm>
          <a:prstGeom prst="rect">
            <a:avLst/>
          </a:prstGeom>
          <a:noFill/>
          <a:ln/>
        </p:spPr>
        <p:txBody>
          <a:bodyPr wrap="square" lIns="0" tIns="0" rIns="0" bIns="0" rtlCol="0" anchor="ctr"/>
          <a:lstStyle/>
          <a:p>
            <a:pPr indent="0" marL="0">
              <a:buNone/>
            </a:pPr>
            <a:r>
              <a:rPr lang="en-US" sz="1300" dirty="0">
                <a:solidFill>
                  <a:schemeClr val="tx1"/>
                </a:solidFill>
              </a:rPr>
              <a:t>Make a second change the proper way: Branch out, change, and open a second pull request.</a:t>
            </a:r>
            <a:endParaRPr lang="en-US" sz="1300" dirty="0"/>
          </a:p>
        </p:txBody>
      </p:sp>
      <p:sp>
        <p:nvSpPr>
          <p:cNvPr id="21" name="Stretch 4"/>
          <p:cNvSpPr/>
          <p:nvPr/>
        </p:nvSpPr>
        <p:spPr>
          <a:xfrm>
            <a:off x="548640" y="4800600"/>
            <a:ext cx="11094415" cy="914400"/>
          </a:xfrm>
          <a:prstGeom prst="roundRect">
            <a:avLst>
              <a:gd name="adj" fmla="val 12000"/>
            </a:avLst>
          </a:prstGeom>
          <a:solidFill>
            <a:schemeClr val="accent2">
              <a:alpha val="15000"/>
            </a:schemeClr>
          </a:solidFill>
          <a:ln/>
        </p:spPr>
      </p:sp>
      <p:sp>
        <p:nvSpPr>
          <p:cNvPr id="22" name="Stretch chip 4"/>
          <p:cNvSpPr/>
          <p:nvPr/>
        </p:nvSpPr>
        <p:spPr>
          <a:xfrm>
            <a:off x="731520" y="5047488"/>
            <a:ext cx="420624" cy="420624"/>
          </a:xfrm>
          <a:prstGeom prst="roundRect">
            <a:avLst>
              <a:gd name="adj" fmla="val 17391"/>
            </a:avLst>
          </a:prstGeom>
          <a:solidFill>
            <a:schemeClr val="accent2"/>
          </a:solidFill>
          <a:ln/>
        </p:spPr>
      </p:sp>
      <p:sp>
        <p:nvSpPr>
          <p:cNvPr id="23" name="Stretch number"/>
          <p:cNvSpPr txBox="1"/>
          <p:nvPr/>
        </p:nvSpPr>
        <p:spPr>
          <a:xfrm>
            <a:off x="731520" y="504748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4" name="Stretch title"/>
          <p:cNvSpPr txBox="1"/>
          <p:nvPr/>
        </p:nvSpPr>
        <p:spPr>
          <a:xfrm>
            <a:off x="1371600" y="4873752"/>
            <a:ext cx="2926080" cy="768096"/>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Prove main is protected</a:t>
            </a:r>
            <a:endParaRPr lang="en-US" sz="1500" dirty="0"/>
          </a:p>
        </p:txBody>
      </p:sp>
      <p:sp>
        <p:nvSpPr>
          <p:cNvPr id="25" name="Stretch text"/>
          <p:cNvSpPr txBox="1"/>
          <p:nvPr/>
        </p:nvSpPr>
        <p:spPr>
          <a:xfrm>
            <a:off x="4389120" y="4800600"/>
            <a:ext cx="7040880" cy="914400"/>
          </a:xfrm>
          <a:prstGeom prst="rect">
            <a:avLst/>
          </a:prstGeom>
          <a:noFill/>
          <a:ln/>
        </p:spPr>
        <p:txBody>
          <a:bodyPr wrap="square" lIns="0" tIns="0" rIns="0" bIns="0" rtlCol="0" anchor="ctr"/>
          <a:lstStyle/>
          <a:p>
            <a:pPr indent="0" marL="0">
              <a:buNone/>
            </a:pPr>
            <a:r>
              <a:rPr lang="en-US" sz="1300" dirty="0">
                <a:solidFill>
                  <a:schemeClr val="tx1"/>
                </a:solidFill>
              </a:rPr>
              <a:t>In the practice repository only: try a force push to main and read the refusal.</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Debrief: what changed between DEV and TEST?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Question 1"/>
          <p:cNvSpPr/>
          <p:nvPr/>
        </p:nvSpPr>
        <p:spPr>
          <a:xfrm>
            <a:off x="548640" y="1783080"/>
            <a:ext cx="7040880" cy="932688"/>
          </a:xfrm>
          <a:prstGeom prst="roundRect">
            <a:avLst>
              <a:gd name="adj" fmla="val 11765"/>
            </a:avLst>
          </a:prstGeom>
          <a:solidFill>
            <a:schemeClr val="bg2"/>
          </a:solidFill>
          <a:ln/>
        </p:spPr>
      </p:sp>
      <p:sp>
        <p:nvSpPr>
          <p:cNvPr id="7" name="Question chip 1"/>
          <p:cNvSpPr/>
          <p:nvPr/>
        </p:nvSpPr>
        <p:spPr>
          <a:xfrm>
            <a:off x="731520" y="2020824"/>
            <a:ext cx="457200" cy="457200"/>
          </a:xfrm>
          <a:prstGeom prst="roundRect">
            <a:avLst>
              <a:gd name="adj" fmla="val 16000"/>
            </a:avLst>
          </a:prstGeom>
          <a:solidFill>
            <a:schemeClr val="accent3"/>
          </a:solidFill>
          <a:ln/>
        </p:spPr>
      </p:sp>
      <p:sp>
        <p:nvSpPr>
          <p:cNvPr id="8" name="Question number"/>
          <p:cNvSpPr txBox="1"/>
          <p:nvPr/>
        </p:nvSpPr>
        <p:spPr>
          <a:xfrm>
            <a:off x="731520" y="202082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1</a:t>
            </a:r>
            <a:endParaRPr lang="en-US" sz="1600" dirty="0"/>
          </a:p>
        </p:txBody>
      </p:sp>
      <p:sp>
        <p:nvSpPr>
          <p:cNvPr id="9" name="Question text"/>
          <p:cNvSpPr txBox="1"/>
          <p:nvPr/>
        </p:nvSpPr>
        <p:spPr>
          <a:xfrm>
            <a:off x="1371600" y="1783080"/>
            <a:ext cx="6080760" cy="932688"/>
          </a:xfrm>
          <a:prstGeom prst="rect">
            <a:avLst/>
          </a:prstGeom>
          <a:noFill/>
          <a:ln/>
        </p:spPr>
        <p:txBody>
          <a:bodyPr wrap="square" lIns="0" tIns="0" rIns="0" bIns="0" rtlCol="0" anchor="ctr"/>
          <a:lstStyle/>
          <a:p>
            <a:pPr indent="0" marL="0">
              <a:buNone/>
            </a:pPr>
            <a:r>
              <a:rPr lang="en-US" sz="1300" dirty="0">
                <a:solidFill>
                  <a:schemeClr val="tx1"/>
                </a:solidFill>
              </a:rPr>
              <a:t>What differed between DEV and TEST, and where did each difference live: a file, a parameter, or a setting?</a:t>
            </a:r>
            <a:endParaRPr lang="en-US" sz="1300" dirty="0"/>
          </a:p>
        </p:txBody>
      </p:sp>
      <p:sp>
        <p:nvSpPr>
          <p:cNvPr id="10" name="Question 2"/>
          <p:cNvSpPr/>
          <p:nvPr/>
        </p:nvSpPr>
        <p:spPr>
          <a:xfrm>
            <a:off x="548640" y="2807208"/>
            <a:ext cx="7040880" cy="932688"/>
          </a:xfrm>
          <a:prstGeom prst="roundRect">
            <a:avLst>
              <a:gd name="adj" fmla="val 11765"/>
            </a:avLst>
          </a:prstGeom>
          <a:solidFill>
            <a:schemeClr val="bg2"/>
          </a:solidFill>
          <a:ln/>
        </p:spPr>
      </p:sp>
      <p:sp>
        <p:nvSpPr>
          <p:cNvPr id="11" name="Question chip 2"/>
          <p:cNvSpPr/>
          <p:nvPr/>
        </p:nvSpPr>
        <p:spPr>
          <a:xfrm>
            <a:off x="731520" y="3044952"/>
            <a:ext cx="457200" cy="457200"/>
          </a:xfrm>
          <a:prstGeom prst="roundRect">
            <a:avLst>
              <a:gd name="adj" fmla="val 16000"/>
            </a:avLst>
          </a:prstGeom>
          <a:solidFill>
            <a:schemeClr val="accent3"/>
          </a:solidFill>
          <a:ln/>
        </p:spPr>
      </p:sp>
      <p:sp>
        <p:nvSpPr>
          <p:cNvPr id="12" name="Question number"/>
          <p:cNvSpPr txBox="1"/>
          <p:nvPr/>
        </p:nvSpPr>
        <p:spPr>
          <a:xfrm>
            <a:off x="731520" y="304495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2</a:t>
            </a:r>
            <a:endParaRPr lang="en-US" sz="1600" dirty="0"/>
          </a:p>
        </p:txBody>
      </p:sp>
      <p:sp>
        <p:nvSpPr>
          <p:cNvPr id="13" name="Question text"/>
          <p:cNvSpPr txBox="1"/>
          <p:nvPr/>
        </p:nvSpPr>
        <p:spPr>
          <a:xfrm>
            <a:off x="1371600" y="2807208"/>
            <a:ext cx="6080760" cy="932688"/>
          </a:xfrm>
          <a:prstGeom prst="rect">
            <a:avLst/>
          </a:prstGeom>
          <a:noFill/>
          <a:ln/>
        </p:spPr>
        <p:txBody>
          <a:bodyPr wrap="square" lIns="0" tIns="0" rIns="0" bIns="0" rtlCol="0" anchor="ctr"/>
          <a:lstStyle/>
          <a:p>
            <a:pPr indent="0" marL="0">
              <a:buNone/>
            </a:pPr>
            <a:r>
              <a:rPr lang="en-US" sz="1300" dirty="0">
                <a:solidFill>
                  <a:schemeClr val="tx1"/>
                </a:solidFill>
              </a:rPr>
              <a:t>Which rail would have caught your own worst mistake in the lab?</a:t>
            </a:r>
            <a:endParaRPr lang="en-US" sz="1300" dirty="0"/>
          </a:p>
        </p:txBody>
      </p:sp>
      <p:sp>
        <p:nvSpPr>
          <p:cNvPr id="14" name="Question 3"/>
          <p:cNvSpPr/>
          <p:nvPr/>
        </p:nvSpPr>
        <p:spPr>
          <a:xfrm>
            <a:off x="548640" y="3831336"/>
            <a:ext cx="7040880" cy="932688"/>
          </a:xfrm>
          <a:prstGeom prst="roundRect">
            <a:avLst>
              <a:gd name="adj" fmla="val 11765"/>
            </a:avLst>
          </a:prstGeom>
          <a:solidFill>
            <a:schemeClr val="bg2"/>
          </a:solidFill>
          <a:ln/>
        </p:spPr>
      </p:sp>
      <p:sp>
        <p:nvSpPr>
          <p:cNvPr id="15" name="Question chip 3"/>
          <p:cNvSpPr/>
          <p:nvPr/>
        </p:nvSpPr>
        <p:spPr>
          <a:xfrm>
            <a:off x="731520" y="4069080"/>
            <a:ext cx="457200" cy="457200"/>
          </a:xfrm>
          <a:prstGeom prst="roundRect">
            <a:avLst>
              <a:gd name="adj" fmla="val 16000"/>
            </a:avLst>
          </a:prstGeom>
          <a:solidFill>
            <a:schemeClr val="accent3"/>
          </a:solidFill>
          <a:ln/>
        </p:spPr>
      </p:sp>
      <p:sp>
        <p:nvSpPr>
          <p:cNvPr id="16" name="Question number"/>
          <p:cNvSpPr txBox="1"/>
          <p:nvPr/>
        </p:nvSpPr>
        <p:spPr>
          <a:xfrm>
            <a:off x="731520" y="4069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3</a:t>
            </a:r>
            <a:endParaRPr lang="en-US" sz="1600" dirty="0"/>
          </a:p>
        </p:txBody>
      </p:sp>
      <p:sp>
        <p:nvSpPr>
          <p:cNvPr id="17" name="Question text"/>
          <p:cNvSpPr txBox="1"/>
          <p:nvPr/>
        </p:nvSpPr>
        <p:spPr>
          <a:xfrm>
            <a:off x="1371600" y="3831336"/>
            <a:ext cx="6080760" cy="932688"/>
          </a:xfrm>
          <a:prstGeom prst="rect">
            <a:avLst/>
          </a:prstGeom>
          <a:noFill/>
          <a:ln/>
        </p:spPr>
        <p:txBody>
          <a:bodyPr wrap="square" lIns="0" tIns="0" rIns="0" bIns="0" rtlCol="0" anchor="ctr"/>
          <a:lstStyle/>
          <a:p>
            <a:pPr indent="0" marL="0">
              <a:buNone/>
            </a:pPr>
            <a:r>
              <a:rPr lang="en-US" sz="1300" dirty="0">
                <a:solidFill>
                  <a:schemeClr val="tx1"/>
                </a:solidFill>
              </a:rPr>
              <a:t>What did your partner look at that the rails could not?</a:t>
            </a:r>
            <a:endParaRPr lang="en-US" sz="1300" dirty="0"/>
          </a:p>
        </p:txBody>
      </p:sp>
      <p:sp>
        <p:nvSpPr>
          <p:cNvPr id="18" name="Question 4"/>
          <p:cNvSpPr/>
          <p:nvPr/>
        </p:nvSpPr>
        <p:spPr>
          <a:xfrm>
            <a:off x="548640" y="4855464"/>
            <a:ext cx="7040880" cy="932688"/>
          </a:xfrm>
          <a:prstGeom prst="roundRect">
            <a:avLst>
              <a:gd name="adj" fmla="val 11765"/>
            </a:avLst>
          </a:prstGeom>
          <a:solidFill>
            <a:schemeClr val="bg2"/>
          </a:solidFill>
          <a:ln/>
        </p:spPr>
      </p:sp>
      <p:sp>
        <p:nvSpPr>
          <p:cNvPr id="19" name="Question chip 4"/>
          <p:cNvSpPr/>
          <p:nvPr/>
        </p:nvSpPr>
        <p:spPr>
          <a:xfrm>
            <a:off x="731520" y="5093208"/>
            <a:ext cx="457200" cy="457200"/>
          </a:xfrm>
          <a:prstGeom prst="roundRect">
            <a:avLst>
              <a:gd name="adj" fmla="val 16000"/>
            </a:avLst>
          </a:prstGeom>
          <a:solidFill>
            <a:schemeClr val="accent3"/>
          </a:solidFill>
          <a:ln/>
        </p:spPr>
      </p:sp>
      <p:sp>
        <p:nvSpPr>
          <p:cNvPr id="20" name="Question number"/>
          <p:cNvSpPr txBox="1"/>
          <p:nvPr/>
        </p:nvSpPr>
        <p:spPr>
          <a:xfrm>
            <a:off x="731520" y="509320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4</a:t>
            </a:r>
            <a:endParaRPr lang="en-US" sz="1600" dirty="0"/>
          </a:p>
        </p:txBody>
      </p:sp>
      <p:sp>
        <p:nvSpPr>
          <p:cNvPr id="21" name="Question text"/>
          <p:cNvSpPr txBox="1"/>
          <p:nvPr/>
        </p:nvSpPr>
        <p:spPr>
          <a:xfrm>
            <a:off x="1371600" y="4855464"/>
            <a:ext cx="6080760" cy="932688"/>
          </a:xfrm>
          <a:prstGeom prst="rect">
            <a:avLst/>
          </a:prstGeom>
          <a:noFill/>
          <a:ln/>
        </p:spPr>
        <p:txBody>
          <a:bodyPr wrap="square" lIns="0" tIns="0" rIns="0" bIns="0" rtlCol="0" anchor="ctr"/>
          <a:lstStyle/>
          <a:p>
            <a:pPr indent="0" marL="0">
              <a:buNone/>
            </a:pPr>
            <a:r>
              <a:rPr lang="en-US" sz="1300" dirty="0">
                <a:solidFill>
                  <a:schemeClr val="tx1"/>
                </a:solidFill>
              </a:rPr>
              <a:t>What would you still need before this went to production?</a:t>
            </a:r>
            <a:endParaRPr lang="en-US" sz="1300" dirty="0"/>
          </a:p>
        </p:txBody>
      </p:sp>
      <p:sp>
        <p:nvSpPr>
          <p:cNvPr id="22" name="Part 6 card"/>
          <p:cNvSpPr/>
          <p:nvPr/>
        </p:nvSpPr>
        <p:spPr>
          <a:xfrm>
            <a:off x="7818120" y="1783080"/>
            <a:ext cx="3822192" cy="3968496"/>
          </a:xfrm>
          <a:prstGeom prst="roundRect">
            <a:avLst>
              <a:gd name="adj" fmla="val 2871"/>
            </a:avLst>
          </a:prstGeom>
          <a:solidFill>
            <a:schemeClr val="tx1"/>
          </a:solidFill>
          <a:ln/>
        </p:spPr>
      </p:sp>
      <p:sp>
        <p:nvSpPr>
          <p:cNvPr id="23" name="Board label"/>
          <p:cNvSpPr txBox="1"/>
          <p:nvPr/>
        </p:nvSpPr>
        <p:spPr>
          <a:xfrm>
            <a:off x="8046720" y="1920240"/>
            <a:ext cx="3383280" cy="228600"/>
          </a:xfrm>
          <a:prstGeom prst="rect">
            <a:avLst/>
          </a:prstGeom>
          <a:noFill/>
          <a:ln/>
        </p:spPr>
        <p:txBody>
          <a:bodyPr wrap="square" lIns="0" tIns="0" rIns="0" bIns="0" rtlCol="0" anchor="t"/>
          <a:lstStyle/>
          <a:p>
            <a:pPr indent="0" marL="0">
              <a:buNone/>
            </a:pPr>
            <a:r>
              <a:rPr lang="en-US" sz="1000" b="1" spc="300" kern="0" dirty="0">
                <a:solidFill>
                  <a:schemeClr val="accent2"/>
                </a:solidFill>
              </a:rPr>
              <a:t>WRITE ON THE BOARD</a:t>
            </a:r>
            <a:endParaRPr lang="en-US" sz="1000" dirty="0"/>
          </a:p>
        </p:txBody>
      </p:sp>
      <p:sp>
        <p:nvSpPr>
          <p:cNvPr id="24" name="Board title"/>
          <p:cNvSpPr txBox="1"/>
          <p:nvPr/>
        </p:nvSpPr>
        <p:spPr>
          <a:xfrm>
            <a:off x="8046720" y="2286000"/>
            <a:ext cx="3383280" cy="822960"/>
          </a:xfrm>
          <a:prstGeom prst="rect">
            <a:avLst/>
          </a:prstGeom>
          <a:noFill/>
          <a:ln/>
        </p:spPr>
        <p:txBody>
          <a:bodyPr wrap="square" lIns="0" tIns="0" rIns="0" bIns="0" rtlCol="0" anchor="t"/>
          <a:lstStyle/>
          <a:p>
            <a:pPr indent="0" marL="0">
              <a:buNone/>
            </a:pPr>
            <a:r>
              <a:rPr lang="en-US" sz="1700" b="1" dirty="0">
                <a:solidFill>
                  <a:schemeClr val="bg1"/>
                </a:solidFill>
                <a:latin typeface="+mj-lt" pitchFamily="34" charset="0"/>
                <a:ea typeface="+mj-lt" pitchFamily="34" charset="-122"/>
                <a:cs typeface="+mj-lt" pitchFamily="34" charset="-120"/>
              </a:rPr>
              <a:t>What is still missing before production?</a:t>
            </a:r>
            <a:endParaRPr lang="en-US" sz="1700" dirty="0"/>
          </a:p>
        </p:txBody>
      </p:sp>
      <p:sp>
        <p:nvSpPr>
          <p:cNvPr id="25" name="Board text"/>
          <p:cNvSpPr txBox="1"/>
          <p:nvPr/>
        </p:nvSpPr>
        <p:spPr>
          <a:xfrm>
            <a:off x="8046720" y="3291840"/>
            <a:ext cx="3383280" cy="2286000"/>
          </a:xfrm>
          <a:prstGeom prst="rect">
            <a:avLst/>
          </a:prstGeom>
          <a:noFill/>
          <a:ln/>
        </p:spPr>
        <p:txBody>
          <a:bodyPr wrap="square" lIns="0" tIns="0" rIns="0" bIns="0" rtlCol="0" anchor="t"/>
          <a:lstStyle/>
          <a:p>
            <a:pPr indent="0" marL="0">
              <a:buNone/>
            </a:pPr>
            <a:r>
              <a:rPr lang="en-US" sz="1350" dirty="0">
                <a:solidFill>
                  <a:schemeClr val="bg2"/>
                </a:solidFill>
              </a:rPr>
              <a:t>That list is the start of Part 6: the Paved Path, who you need and when, the long poles, and UAT to go-live.</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WRAP-UP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Part 5 in six sentences</a:t>
            </a:r>
            <a:endParaRPr lang="en-US" sz="3200" dirty="0"/>
          </a:p>
        </p:txBody>
      </p:sp>
      <p:sp>
        <p:nvSpPr>
          <p:cNvPr id="5" name="Recap 1"/>
          <p:cNvSpPr/>
          <p:nvPr/>
        </p:nvSpPr>
        <p:spPr>
          <a:xfrm>
            <a:off x="548640" y="1783080"/>
            <a:ext cx="3593592" cy="1828800"/>
          </a:xfrm>
          <a:prstGeom prst="roundRect">
            <a:avLst>
              <a:gd name="adj" fmla="val 6000"/>
            </a:avLst>
          </a:prstGeom>
          <a:solidFill>
            <a:schemeClr val="bg2"/>
          </a:solidFill>
          <a:ln/>
        </p:spPr>
      </p:sp>
      <p:sp>
        <p:nvSpPr>
          <p:cNvPr id="6" name="Recap chip 1"/>
          <p:cNvSpPr/>
          <p:nvPr/>
        </p:nvSpPr>
        <p:spPr>
          <a:xfrm>
            <a:off x="777240" y="2011680"/>
            <a:ext cx="457200" cy="457200"/>
          </a:xfrm>
          <a:prstGeom prst="roundRect">
            <a:avLst>
              <a:gd name="adj" fmla="val 16000"/>
            </a:avLst>
          </a:prstGeom>
          <a:solidFill>
            <a:schemeClr val="accent1"/>
          </a:solidFill>
          <a:ln/>
        </p:spPr>
      </p:sp>
      <p:sp>
        <p:nvSpPr>
          <p:cNvPr id="7" name="Recap number"/>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1</a:t>
            </a:r>
            <a:endParaRPr lang="en-US" sz="2000" dirty="0"/>
          </a:p>
        </p:txBody>
      </p:sp>
      <p:sp>
        <p:nvSpPr>
          <p:cNvPr id="8" name="Recap label"/>
          <p:cNvSpPr txBox="1"/>
          <p:nvPr/>
        </p:nvSpPr>
        <p:spPr>
          <a:xfrm>
            <a:off x="1417320" y="20116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GIT FUNDAMENTALS</a:t>
            </a:r>
            <a:endParaRPr lang="en-US" sz="1000" dirty="0"/>
          </a:p>
        </p:txBody>
      </p:sp>
      <p:sp>
        <p:nvSpPr>
          <p:cNvPr id="9" name="Recap sentence"/>
          <p:cNvSpPr txBox="1"/>
          <p:nvPr/>
        </p:nvSpPr>
        <p:spPr>
          <a:xfrm>
            <a:off x="777240" y="2606040"/>
            <a:ext cx="3154680" cy="960120"/>
          </a:xfrm>
          <a:prstGeom prst="rect">
            <a:avLst/>
          </a:prstGeom>
          <a:noFill/>
          <a:ln/>
        </p:spPr>
        <p:txBody>
          <a:bodyPr wrap="square" lIns="0" tIns="0" rIns="0" bIns="0" rtlCol="0" anchor="t"/>
          <a:lstStyle/>
          <a:p>
            <a:pPr indent="0" marL="0">
              <a:buNone/>
            </a:pPr>
            <a:r>
              <a:rPr lang="en-US" sz="1400" dirty="0">
                <a:solidFill>
                  <a:schemeClr val="tx1"/>
                </a:solidFill>
              </a:rPr>
              <a:t>A commit is a snapshot with a note. Branch for each change, merge by pull request, and keep main shippable.</a:t>
            </a:r>
            <a:endParaRPr lang="en-US" sz="1400" dirty="0"/>
          </a:p>
        </p:txBody>
      </p:sp>
      <p:sp>
        <p:nvSpPr>
          <p:cNvPr id="10" name="Recap 2"/>
          <p:cNvSpPr/>
          <p:nvPr/>
        </p:nvSpPr>
        <p:spPr>
          <a:xfrm>
            <a:off x="4297680" y="1783080"/>
            <a:ext cx="3593592" cy="1828800"/>
          </a:xfrm>
          <a:prstGeom prst="roundRect">
            <a:avLst>
              <a:gd name="adj" fmla="val 6000"/>
            </a:avLst>
          </a:prstGeom>
          <a:solidFill>
            <a:schemeClr val="bg2"/>
          </a:solidFill>
          <a:ln/>
        </p:spPr>
      </p:sp>
      <p:sp>
        <p:nvSpPr>
          <p:cNvPr id="11" name="Recap chip 2"/>
          <p:cNvSpPr/>
          <p:nvPr/>
        </p:nvSpPr>
        <p:spPr>
          <a:xfrm>
            <a:off x="4526280" y="2011680"/>
            <a:ext cx="457200" cy="457200"/>
          </a:xfrm>
          <a:prstGeom prst="roundRect">
            <a:avLst>
              <a:gd name="adj" fmla="val 16000"/>
            </a:avLst>
          </a:prstGeom>
          <a:solidFill>
            <a:schemeClr val="accent1"/>
          </a:solidFill>
          <a:ln/>
        </p:spPr>
      </p:sp>
      <p:sp>
        <p:nvSpPr>
          <p:cNvPr id="12" name="Recap number"/>
          <p:cNvSpPr txBox="1"/>
          <p:nvPr/>
        </p:nvSpPr>
        <p:spPr>
          <a:xfrm>
            <a:off x="4526280" y="2011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2</a:t>
            </a:r>
            <a:endParaRPr lang="en-US" sz="2000" dirty="0"/>
          </a:p>
        </p:txBody>
      </p:sp>
      <p:sp>
        <p:nvSpPr>
          <p:cNvPr id="13" name="Recap label"/>
          <p:cNvSpPr txBox="1"/>
          <p:nvPr/>
        </p:nvSpPr>
        <p:spPr>
          <a:xfrm>
            <a:off x="5166360" y="20116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FABRIC AND GIT</a:t>
            </a:r>
            <a:endParaRPr lang="en-US" sz="1000" dirty="0"/>
          </a:p>
        </p:txBody>
      </p:sp>
      <p:sp>
        <p:nvSpPr>
          <p:cNvPr id="14" name="Recap sentence"/>
          <p:cNvSpPr txBox="1"/>
          <p:nvPr/>
        </p:nvSpPr>
        <p:spPr>
          <a:xfrm>
            <a:off x="4526280" y="2606040"/>
            <a:ext cx="3154680" cy="960120"/>
          </a:xfrm>
          <a:prstGeom prst="rect">
            <a:avLst/>
          </a:prstGeom>
          <a:noFill/>
          <a:ln/>
        </p:spPr>
        <p:txBody>
          <a:bodyPr wrap="square" lIns="0" tIns="0" rIns="0" bIns="0" rtlCol="0" anchor="t"/>
          <a:lstStyle/>
          <a:p>
            <a:pPr indent="0" marL="0">
              <a:buNone/>
            </a:pPr>
            <a:r>
              <a:rPr lang="en-US" sz="1400" dirty="0">
                <a:solidFill>
                  <a:schemeClr val="tx1"/>
                </a:solidFill>
              </a:rPr>
              <a:t>Link a workspace to a branch. Git holds the recipe, not the meal: items, not data, runs or permissions.</a:t>
            </a:r>
            <a:endParaRPr lang="en-US" sz="1400" dirty="0"/>
          </a:p>
        </p:txBody>
      </p:sp>
      <p:sp>
        <p:nvSpPr>
          <p:cNvPr id="15" name="Recap 3"/>
          <p:cNvSpPr/>
          <p:nvPr/>
        </p:nvSpPr>
        <p:spPr>
          <a:xfrm>
            <a:off x="8046720" y="1783080"/>
            <a:ext cx="3593592" cy="1828800"/>
          </a:xfrm>
          <a:prstGeom prst="roundRect">
            <a:avLst>
              <a:gd name="adj" fmla="val 6000"/>
            </a:avLst>
          </a:prstGeom>
          <a:solidFill>
            <a:schemeClr val="bg2"/>
          </a:solidFill>
          <a:ln/>
        </p:spPr>
      </p:sp>
      <p:sp>
        <p:nvSpPr>
          <p:cNvPr id="16" name="Recap chip 3"/>
          <p:cNvSpPr/>
          <p:nvPr/>
        </p:nvSpPr>
        <p:spPr>
          <a:xfrm>
            <a:off x="8275320" y="2011680"/>
            <a:ext cx="457200" cy="457200"/>
          </a:xfrm>
          <a:prstGeom prst="roundRect">
            <a:avLst>
              <a:gd name="adj" fmla="val 16000"/>
            </a:avLst>
          </a:prstGeom>
          <a:solidFill>
            <a:schemeClr val="accent1"/>
          </a:solidFill>
          <a:ln/>
        </p:spPr>
      </p:sp>
      <p:sp>
        <p:nvSpPr>
          <p:cNvPr id="17" name="Recap number"/>
          <p:cNvSpPr txBox="1"/>
          <p:nvPr/>
        </p:nvSpPr>
        <p:spPr>
          <a:xfrm>
            <a:off x="8275320" y="2011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3</a:t>
            </a:r>
            <a:endParaRPr lang="en-US" sz="2000" dirty="0"/>
          </a:p>
        </p:txBody>
      </p:sp>
      <p:sp>
        <p:nvSpPr>
          <p:cNvPr id="18" name="Recap label"/>
          <p:cNvSpPr txBox="1"/>
          <p:nvPr/>
        </p:nvSpPr>
        <p:spPr>
          <a:xfrm>
            <a:off x="8915400" y="20116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DEPLOYMENT PATTERNS</a:t>
            </a:r>
            <a:endParaRPr lang="en-US" sz="1000" dirty="0"/>
          </a:p>
        </p:txBody>
      </p:sp>
      <p:sp>
        <p:nvSpPr>
          <p:cNvPr id="19" name="Recap sentence"/>
          <p:cNvSpPr txBox="1"/>
          <p:nvPr/>
        </p:nvSpPr>
        <p:spPr>
          <a:xfrm>
            <a:off x="8275320" y="2606040"/>
            <a:ext cx="3154680" cy="960120"/>
          </a:xfrm>
          <a:prstGeom prst="rect">
            <a:avLst/>
          </a:prstGeom>
          <a:noFill/>
          <a:ln/>
        </p:spPr>
        <p:txBody>
          <a:bodyPr wrap="square" lIns="0" tIns="0" rIns="0" bIns="0" rtlCol="0" anchor="t"/>
          <a:lstStyle/>
          <a:p>
            <a:pPr indent="0" marL="0">
              <a:buNone/>
            </a:pPr>
            <a:r>
              <a:rPr lang="en-US" sz="1400" dirty="0">
                <a:solidFill>
                  <a:schemeClr val="tx1"/>
                </a:solidFill>
              </a:rPr>
              <a:t>Pick one pattern, parameterise what differs, and promote the same commit. Check the running thing answers.</a:t>
            </a:r>
            <a:endParaRPr lang="en-US" sz="1400" dirty="0"/>
          </a:p>
        </p:txBody>
      </p:sp>
      <p:sp>
        <p:nvSpPr>
          <p:cNvPr id="20" name="Recap 4"/>
          <p:cNvSpPr/>
          <p:nvPr/>
        </p:nvSpPr>
        <p:spPr>
          <a:xfrm>
            <a:off x="548640" y="3749040"/>
            <a:ext cx="3593592" cy="1828800"/>
          </a:xfrm>
          <a:prstGeom prst="roundRect">
            <a:avLst>
              <a:gd name="adj" fmla="val 6000"/>
            </a:avLst>
          </a:prstGeom>
          <a:solidFill>
            <a:schemeClr val="bg2"/>
          </a:solidFill>
          <a:ln/>
        </p:spPr>
      </p:sp>
      <p:sp>
        <p:nvSpPr>
          <p:cNvPr id="21" name="Recap chip 4"/>
          <p:cNvSpPr/>
          <p:nvPr/>
        </p:nvSpPr>
        <p:spPr>
          <a:xfrm>
            <a:off x="777240" y="3977640"/>
            <a:ext cx="457200" cy="457200"/>
          </a:xfrm>
          <a:prstGeom prst="roundRect">
            <a:avLst>
              <a:gd name="adj" fmla="val 16000"/>
            </a:avLst>
          </a:prstGeom>
          <a:solidFill>
            <a:schemeClr val="accent2"/>
          </a:solidFill>
          <a:ln/>
        </p:spPr>
      </p:sp>
      <p:sp>
        <p:nvSpPr>
          <p:cNvPr id="22" name="Recap number"/>
          <p:cNvSpPr txBox="1"/>
          <p:nvPr/>
        </p:nvSpPr>
        <p:spPr>
          <a:xfrm>
            <a:off x="777240" y="397764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4</a:t>
            </a:r>
            <a:endParaRPr lang="en-US" sz="2000" dirty="0"/>
          </a:p>
        </p:txBody>
      </p:sp>
      <p:sp>
        <p:nvSpPr>
          <p:cNvPr id="23" name="Recap label"/>
          <p:cNvSpPr txBox="1"/>
          <p:nvPr/>
        </p:nvSpPr>
        <p:spPr>
          <a:xfrm>
            <a:off x="1417320" y="397764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GOVERNANCE</a:t>
            </a:r>
            <a:endParaRPr lang="en-US" sz="1000" dirty="0"/>
          </a:p>
        </p:txBody>
      </p:sp>
      <p:sp>
        <p:nvSpPr>
          <p:cNvPr id="24" name="Recap sentence"/>
          <p:cNvSpPr txBox="1"/>
          <p:nvPr/>
        </p:nvSpPr>
        <p:spPr>
          <a:xfrm>
            <a:off x="777240" y="4572000"/>
            <a:ext cx="3154680" cy="960120"/>
          </a:xfrm>
          <a:prstGeom prst="rect">
            <a:avLst/>
          </a:prstGeom>
          <a:noFill/>
          <a:ln/>
        </p:spPr>
        <p:txBody>
          <a:bodyPr wrap="square" lIns="0" tIns="0" rIns="0" bIns="0" rtlCol="0" anchor="t"/>
          <a:lstStyle/>
          <a:p>
            <a:pPr indent="0" marL="0">
              <a:buNone/>
            </a:pPr>
            <a:r>
              <a:rPr lang="en-US" sz="1400" dirty="0">
                <a:solidFill>
                  <a:schemeClr val="tx1"/>
                </a:solidFill>
              </a:rPr>
              <a:t>Rails run on every change, gates wait on other teams' clocks, and evidence is emitted as you go.</a:t>
            </a:r>
            <a:endParaRPr lang="en-US" sz="1400" dirty="0"/>
          </a:p>
        </p:txBody>
      </p:sp>
      <p:sp>
        <p:nvSpPr>
          <p:cNvPr id="25" name="Recap 5"/>
          <p:cNvSpPr/>
          <p:nvPr/>
        </p:nvSpPr>
        <p:spPr>
          <a:xfrm>
            <a:off x="4297680" y="3749040"/>
            <a:ext cx="3593592" cy="1828800"/>
          </a:xfrm>
          <a:prstGeom prst="roundRect">
            <a:avLst>
              <a:gd name="adj" fmla="val 6000"/>
            </a:avLst>
          </a:prstGeom>
          <a:solidFill>
            <a:schemeClr val="bg2"/>
          </a:solidFill>
          <a:ln/>
        </p:spPr>
      </p:sp>
      <p:sp>
        <p:nvSpPr>
          <p:cNvPr id="26" name="Recap chip 5"/>
          <p:cNvSpPr/>
          <p:nvPr/>
        </p:nvSpPr>
        <p:spPr>
          <a:xfrm>
            <a:off x="4526280" y="3977640"/>
            <a:ext cx="457200" cy="457200"/>
          </a:xfrm>
          <a:prstGeom prst="roundRect">
            <a:avLst>
              <a:gd name="adj" fmla="val 16000"/>
            </a:avLst>
          </a:prstGeom>
          <a:solidFill>
            <a:schemeClr val="accent2"/>
          </a:solidFill>
          <a:ln/>
        </p:spPr>
      </p:sp>
      <p:sp>
        <p:nvSpPr>
          <p:cNvPr id="27" name="Recap number"/>
          <p:cNvSpPr txBox="1"/>
          <p:nvPr/>
        </p:nvSpPr>
        <p:spPr>
          <a:xfrm>
            <a:off x="4526280" y="397764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5</a:t>
            </a:r>
            <a:endParaRPr lang="en-US" sz="2000" dirty="0"/>
          </a:p>
        </p:txBody>
      </p:sp>
      <p:sp>
        <p:nvSpPr>
          <p:cNvPr id="28" name="Recap label"/>
          <p:cNvSpPr txBox="1"/>
          <p:nvPr/>
        </p:nvSpPr>
        <p:spPr>
          <a:xfrm>
            <a:off x="5166360" y="397764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AI IN DEVOPS</a:t>
            </a:r>
            <a:endParaRPr lang="en-US" sz="1000" dirty="0"/>
          </a:p>
        </p:txBody>
      </p:sp>
      <p:sp>
        <p:nvSpPr>
          <p:cNvPr id="29" name="Recap sentence"/>
          <p:cNvSpPr txBox="1"/>
          <p:nvPr/>
        </p:nvSpPr>
        <p:spPr>
          <a:xfrm>
            <a:off x="4526280" y="4572000"/>
            <a:ext cx="3154680" cy="960120"/>
          </a:xfrm>
          <a:prstGeom prst="rect">
            <a:avLst/>
          </a:prstGeom>
          <a:noFill/>
          <a:ln/>
        </p:spPr>
        <p:txBody>
          <a:bodyPr wrap="square" lIns="0" tIns="0" rIns="0" bIns="0" rtlCol="0" anchor="t"/>
          <a:lstStyle/>
          <a:p>
            <a:pPr indent="0" marL="0">
              <a:buNone/>
            </a:pPr>
            <a:r>
              <a:rPr lang="en-US" sz="1400" dirty="0">
                <a:solidFill>
                  <a:schemeClr val="tx1"/>
                </a:solidFill>
              </a:rPr>
              <a:t>Give it context, ask small, and check with the rails. AI changes how a draft is made, not the standard.</a:t>
            </a:r>
            <a:endParaRPr lang="en-US" sz="1400" dirty="0"/>
          </a:p>
        </p:txBody>
      </p:sp>
      <p:sp>
        <p:nvSpPr>
          <p:cNvPr id="30" name="Recap 6"/>
          <p:cNvSpPr/>
          <p:nvPr/>
        </p:nvSpPr>
        <p:spPr>
          <a:xfrm>
            <a:off x="8046720" y="3749040"/>
            <a:ext cx="3593592" cy="1828800"/>
          </a:xfrm>
          <a:prstGeom prst="roundRect">
            <a:avLst>
              <a:gd name="adj" fmla="val 6000"/>
            </a:avLst>
          </a:prstGeom>
          <a:solidFill>
            <a:schemeClr val="bg2"/>
          </a:solidFill>
          <a:ln/>
        </p:spPr>
      </p:sp>
      <p:sp>
        <p:nvSpPr>
          <p:cNvPr id="31" name="Recap chip 6"/>
          <p:cNvSpPr/>
          <p:nvPr/>
        </p:nvSpPr>
        <p:spPr>
          <a:xfrm>
            <a:off x="8275320" y="3977640"/>
            <a:ext cx="457200" cy="457200"/>
          </a:xfrm>
          <a:prstGeom prst="roundRect">
            <a:avLst>
              <a:gd name="adj" fmla="val 16000"/>
            </a:avLst>
          </a:prstGeom>
          <a:solidFill>
            <a:schemeClr val="accent2"/>
          </a:solidFill>
          <a:ln/>
        </p:spPr>
      </p:sp>
      <p:sp>
        <p:nvSpPr>
          <p:cNvPr id="32" name="Recap number"/>
          <p:cNvSpPr txBox="1"/>
          <p:nvPr/>
        </p:nvSpPr>
        <p:spPr>
          <a:xfrm>
            <a:off x="8275320" y="397764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6</a:t>
            </a:r>
            <a:endParaRPr lang="en-US" sz="2000" dirty="0"/>
          </a:p>
        </p:txBody>
      </p:sp>
      <p:sp>
        <p:nvSpPr>
          <p:cNvPr id="33" name="Recap label"/>
          <p:cNvSpPr txBox="1"/>
          <p:nvPr/>
        </p:nvSpPr>
        <p:spPr>
          <a:xfrm>
            <a:off x="8915400" y="397764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LAB C</a:t>
            </a:r>
            <a:endParaRPr lang="en-US" sz="1000" dirty="0"/>
          </a:p>
        </p:txBody>
      </p:sp>
      <p:sp>
        <p:nvSpPr>
          <p:cNvPr id="34" name="Recap sentence"/>
          <p:cNvSpPr txBox="1"/>
          <p:nvPr/>
        </p:nvSpPr>
        <p:spPr>
          <a:xfrm>
            <a:off x="8275320" y="4572000"/>
            <a:ext cx="3154680" cy="960120"/>
          </a:xfrm>
          <a:prstGeom prst="rect">
            <a:avLst/>
          </a:prstGeom>
          <a:noFill/>
          <a:ln/>
        </p:spPr>
        <p:txBody>
          <a:bodyPr wrap="square" lIns="0" tIns="0" rIns="0" bIns="0" rtlCol="0" anchor="t"/>
          <a:lstStyle/>
          <a:p>
            <a:pPr indent="0" marL="0">
              <a:buNone/>
            </a:pPr>
            <a:r>
              <a:rPr lang="en-US" sz="1400" dirty="0">
                <a:solidFill>
                  <a:schemeClr val="tx1"/>
                </a:solidFill>
              </a:rPr>
              <a:t>Branch, commit, review, promote to TEST, then verify. The pull request is where rails and people meet.</a:t>
            </a:r>
            <a:endParaRPr lang="en-US" sz="1400" dirty="0"/>
          </a:p>
        </p:txBody>
      </p:sp>
      <p:sp>
        <p:nvSpPr>
          <p:cNvPr id="35" name="Footnote"/>
          <p:cNvSpPr txBox="1"/>
          <p:nvPr/>
        </p:nvSpPr>
        <p:spPr>
          <a:xfrm>
            <a:off x="548640" y="58064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Questions parked today go to the owners named at the start of the day.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lIns="0" tIns="0" rIns="0" bIns="0" rtlCol="0" anchor="t"/>
          <a:lstStyle/>
          <a:p>
            <a:pPr algn="l" indent="0" marL="0">
              <a:buNone/>
            </a:pPr>
            <a:r>
              <a:rPr lang="en-US" sz="1400" b="1" spc="400" kern="0" dirty="0">
                <a:solidFill>
                  <a:schemeClr val="bg2"/>
                </a:solidFill>
              </a:rPr>
              <a:t>APPENDIX</a:t>
            </a: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Reference material</a:t>
            </a: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lIns="0" tIns="0" rIns="0" bIns="0" rtlCol="0" anchor="t"/>
          <a:lstStyle/>
          <a:p>
            <a:pPr algn="l" indent="0" marL="0">
              <a:buNone/>
            </a:pPr>
            <a:r>
              <a:rPr lang="en-US" sz="1800" dirty="0">
                <a:solidFill>
                  <a:schemeClr val="bg2"/>
                </a:solidFill>
              </a:rPr>
              <a:t>Cheat sheets, the scripts from today, the pipeline file and a glossary.</a:t>
            </a:r>
            <a:endParaRPr lang="en-US" sz="1800" dirty="0"/>
          </a:p>
        </p:txBody>
      </p:sp>
      <p:sp>
        <p:nvSpPr>
          <p:cNvPr id="6" name="Appendix contents"/>
          <p:cNvSpPr txBox="1"/>
          <p:nvPr/>
        </p:nvSpPr>
        <p:spPr>
          <a:xfrm>
            <a:off x="7680960" y="3200400"/>
            <a:ext cx="4114800" cy="2743200"/>
          </a:xfrm>
          <a:prstGeom prst="rect">
            <a:avLst/>
          </a:prstGeom>
          <a:noFill/>
          <a:ln/>
        </p:spPr>
        <p:txBody>
          <a:bodyPr wrap="square" lIns="0" tIns="0" rIns="0" bIns="0" rtlCol="0" anchor="t"/>
          <a:lstStyle/>
          <a:p>
            <a:pPr indent="0" marL="0">
              <a:spcAft>
                <a:spcPts val="500"/>
              </a:spcAft>
              <a:buNone/>
            </a:pPr>
            <a:r>
              <a:rPr lang="en-US" sz="1700" dirty="0">
                <a:solidFill>
                  <a:schemeClr val="bg1"/>
                </a:solidFill>
              </a:rPr>
              <a:t>Git cheat sheet</a:t>
            </a:r>
            <a:endParaRPr lang="en-US" sz="1700" dirty="0"/>
          </a:p>
          <a:p>
            <a:pPr indent="0" marL="0">
              <a:spcAft>
                <a:spcPts val="500"/>
              </a:spcAft>
              <a:buNone/>
            </a:pPr>
            <a:r>
              <a:rPr lang="en-US" sz="1700" dirty="0">
                <a:solidFill>
                  <a:schemeClr val="bg1"/>
                </a:solidFill>
              </a:rPr>
              <a:t>Branch, commit and pull request conventions</a:t>
            </a:r>
            <a:endParaRPr lang="en-US" sz="1700" dirty="0"/>
          </a:p>
          <a:p>
            <a:pPr indent="0" marL="0">
              <a:spcAft>
                <a:spcPts val="500"/>
              </a:spcAft>
              <a:buNone/>
            </a:pPr>
            <a:r>
              <a:rPr lang="en-US" sz="1700" dirty="0">
                <a:solidFill>
                  <a:schemeClr val="bg1"/>
                </a:solidFill>
              </a:rPr>
              <a:t>Rail scripts</a:t>
            </a:r>
            <a:endParaRPr lang="en-US" sz="1700" dirty="0"/>
          </a:p>
          <a:p>
            <a:pPr indent="0" marL="0">
              <a:spcAft>
                <a:spcPts val="500"/>
              </a:spcAft>
              <a:buNone/>
            </a:pPr>
            <a:r>
              <a:rPr lang="en-US" sz="1700" dirty="0">
                <a:solidFill>
                  <a:schemeClr val="bg1"/>
                </a:solidFill>
              </a:rPr>
              <a:t>Deploy script, parameter file, smoke check</a:t>
            </a:r>
            <a:endParaRPr lang="en-US" sz="1700" dirty="0"/>
          </a:p>
          <a:p>
            <a:pPr indent="0" marL="0">
              <a:spcAft>
                <a:spcPts val="500"/>
              </a:spcAft>
              <a:buNone/>
            </a:pPr>
            <a:r>
              <a:rPr lang="en-US" sz="1700" dirty="0">
                <a:solidFill>
                  <a:schemeClr val="bg1"/>
                </a:solidFill>
              </a:rPr>
              <a:t>The pipeline file</a:t>
            </a:r>
            <a:endParaRPr lang="en-US" sz="1700" dirty="0"/>
          </a:p>
          <a:p>
            <a:pPr indent="0" marL="0">
              <a:spcAft>
                <a:spcPts val="500"/>
              </a:spcAft>
              <a:buNone/>
            </a:pPr>
            <a:r>
              <a:rPr lang="en-US" sz="1700" dirty="0">
                <a:solidFill>
                  <a:schemeClr val="bg1"/>
                </a:solidFill>
              </a:rPr>
              <a:t>The guard hook</a:t>
            </a:r>
            <a:endParaRPr lang="en-US" sz="1700" dirty="0"/>
          </a:p>
          <a:p>
            <a:pPr indent="0" marL="0">
              <a:spcAft>
                <a:spcPts val="500"/>
              </a:spcAft>
              <a:buNone/>
            </a:pPr>
            <a:r>
              <a:rPr lang="en-US" sz="1700" dirty="0">
                <a:solidFill>
                  <a:schemeClr val="bg1"/>
                </a:solidFill>
              </a:rPr>
              <a:t>AI prompt library</a:t>
            </a:r>
            <a:endParaRPr lang="en-US" sz="1700" dirty="0"/>
          </a:p>
          <a:p>
            <a:pPr indent="0" marL="0">
              <a:spcAft>
                <a:spcPts val="500"/>
              </a:spcAft>
              <a:buNone/>
            </a:pPr>
            <a:r>
              <a:rPr lang="en-US" sz="1700" dirty="0">
                <a:solidFill>
                  <a:schemeClr val="bg1"/>
                </a:solidFill>
              </a:rPr>
              <a:t>Glossary</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CHEAT SHEET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Git cheat sheet</a:t>
            </a:r>
            <a:endParaRPr lang="en-US" sz="3200" dirty="0"/>
          </a:p>
        </p:txBody>
      </p:sp>
      <p:sp>
        <p:nvSpPr>
          <p:cNvPr id="5" name="Look"/>
          <p:cNvSpPr/>
          <p:nvPr/>
        </p:nvSpPr>
        <p:spPr>
          <a:xfrm>
            <a:off x="548640" y="1783080"/>
            <a:ext cx="3593592" cy="1901952"/>
          </a:xfrm>
          <a:prstGeom prst="roundRect">
            <a:avLst>
              <a:gd name="adj" fmla="val 4808"/>
            </a:avLst>
          </a:prstGeom>
          <a:solidFill>
            <a:schemeClr val="tx1"/>
          </a:solidFill>
          <a:ln/>
        </p:spPr>
      </p:sp>
      <p:sp>
        <p:nvSpPr>
          <p:cNvPr id="6" name="Code label"/>
          <p:cNvSpPr txBox="1"/>
          <p:nvPr/>
        </p:nvSpPr>
        <p:spPr>
          <a:xfrm>
            <a:off x="749808" y="187452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LOOK</a:t>
            </a:r>
            <a:endParaRPr lang="en-US" sz="1000" dirty="0"/>
          </a:p>
        </p:txBody>
      </p:sp>
      <p:sp>
        <p:nvSpPr>
          <p:cNvPr id="7" name="Look text"/>
          <p:cNvSpPr txBox="1"/>
          <p:nvPr/>
        </p:nvSpPr>
        <p:spPr>
          <a:xfrm>
            <a:off x="749808" y="2167128"/>
            <a:ext cx="3191256" cy="140817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status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what changed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diff</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unstaged edits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diff</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staged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staged edits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log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oneline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history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log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oneline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graph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all</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show</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sha</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one commit</a:t>
            </a:r>
            <a:endParaRPr lang="en-US" sz="1000" dirty="0"/>
          </a:p>
        </p:txBody>
      </p:sp>
      <p:sp>
        <p:nvSpPr>
          <p:cNvPr id="8" name="Save"/>
          <p:cNvSpPr/>
          <p:nvPr/>
        </p:nvSpPr>
        <p:spPr>
          <a:xfrm>
            <a:off x="4297680" y="1783080"/>
            <a:ext cx="3593592" cy="1901952"/>
          </a:xfrm>
          <a:prstGeom prst="roundRect">
            <a:avLst>
              <a:gd name="adj" fmla="val 4808"/>
            </a:avLst>
          </a:prstGeom>
          <a:solidFill>
            <a:schemeClr val="tx1"/>
          </a:solidFill>
          <a:ln/>
        </p:spPr>
      </p:sp>
      <p:sp>
        <p:nvSpPr>
          <p:cNvPr id="9" name="Code label"/>
          <p:cNvSpPr txBox="1"/>
          <p:nvPr/>
        </p:nvSpPr>
        <p:spPr>
          <a:xfrm>
            <a:off x="4498848" y="187452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SAVE</a:t>
            </a:r>
            <a:endParaRPr lang="en-US" sz="1000" dirty="0"/>
          </a:p>
        </p:txBody>
      </p:sp>
      <p:sp>
        <p:nvSpPr>
          <p:cNvPr id="10" name="Save text"/>
          <p:cNvSpPr txBox="1"/>
          <p:nvPr/>
        </p:nvSpPr>
        <p:spPr>
          <a:xfrm>
            <a:off x="4498848" y="2167128"/>
            <a:ext cx="3191256" cy="140817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add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path</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stage a file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add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stage everything</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"feat: x"</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"AB#1"</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restore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staged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path</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unstage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restore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path</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discard edits</a:t>
            </a:r>
            <a:endParaRPr lang="en-US" sz="1000" dirty="0"/>
          </a:p>
        </p:txBody>
      </p:sp>
      <p:sp>
        <p:nvSpPr>
          <p:cNvPr id="11" name="Branch and merge"/>
          <p:cNvSpPr/>
          <p:nvPr/>
        </p:nvSpPr>
        <p:spPr>
          <a:xfrm>
            <a:off x="8046720" y="1783080"/>
            <a:ext cx="3593592" cy="1901952"/>
          </a:xfrm>
          <a:prstGeom prst="roundRect">
            <a:avLst>
              <a:gd name="adj" fmla="val 4808"/>
            </a:avLst>
          </a:prstGeom>
          <a:solidFill>
            <a:schemeClr val="tx1"/>
          </a:solidFill>
          <a:ln/>
        </p:spPr>
      </p:sp>
      <p:sp>
        <p:nvSpPr>
          <p:cNvPr id="12" name="Code label"/>
          <p:cNvSpPr txBox="1"/>
          <p:nvPr/>
        </p:nvSpPr>
        <p:spPr>
          <a:xfrm>
            <a:off x="8247888" y="187452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BRANCH AND MERGE</a:t>
            </a:r>
            <a:endParaRPr lang="en-US" sz="1000" dirty="0"/>
          </a:p>
        </p:txBody>
      </p:sp>
      <p:sp>
        <p:nvSpPr>
          <p:cNvPr id="13" name="Branch and merge text"/>
          <p:cNvSpPr txBox="1"/>
          <p:nvPr/>
        </p:nvSpPr>
        <p:spPr>
          <a:xfrm>
            <a:off x="8247888" y="2167128"/>
            <a:ext cx="3191256" cy="140817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switch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c</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feat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AB1002</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x</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new</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switch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go back</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branch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vv</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list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merge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no</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ff</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branch</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join</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merge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abort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give up</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branch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branch</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tidy up</a:t>
            </a:r>
            <a:endParaRPr lang="en-US" sz="1000" dirty="0"/>
          </a:p>
        </p:txBody>
      </p:sp>
      <p:sp>
        <p:nvSpPr>
          <p:cNvPr id="14" name="Undo, safely"/>
          <p:cNvSpPr/>
          <p:nvPr/>
        </p:nvSpPr>
        <p:spPr>
          <a:xfrm>
            <a:off x="548640" y="3794760"/>
            <a:ext cx="3593592" cy="1901952"/>
          </a:xfrm>
          <a:prstGeom prst="roundRect">
            <a:avLst>
              <a:gd name="adj" fmla="val 4808"/>
            </a:avLst>
          </a:prstGeom>
          <a:solidFill>
            <a:schemeClr val="tx1"/>
          </a:solidFill>
          <a:ln/>
        </p:spPr>
      </p:sp>
      <p:sp>
        <p:nvSpPr>
          <p:cNvPr id="15" name="Code label"/>
          <p:cNvSpPr txBox="1"/>
          <p:nvPr/>
        </p:nvSpPr>
        <p:spPr>
          <a:xfrm>
            <a:off x="749808" y="388620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UNDO, SAFELY</a:t>
            </a:r>
            <a:endParaRPr lang="en-US" sz="1000" dirty="0"/>
          </a:p>
        </p:txBody>
      </p:sp>
      <p:sp>
        <p:nvSpPr>
          <p:cNvPr id="16" name="Undo, safely text"/>
          <p:cNvSpPr txBox="1"/>
          <p:nvPr/>
        </p:nvSpPr>
        <p:spPr>
          <a:xfrm>
            <a:off x="749808" y="4178808"/>
            <a:ext cx="3191256" cy="140817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revert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sha</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undo, on record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reset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soft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HEAD</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1</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uncommit, keep</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reflog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find lost work</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stash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park edits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stash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pop</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bring them back</a:t>
            </a:r>
            <a:endParaRPr lang="en-US" sz="1000" dirty="0"/>
          </a:p>
          <a:p>
            <a:pPr indent="0" marL="0">
              <a:buNone/>
            </a:pPr>
            <a:r>
              <a:rPr lang="en-US" sz="1000" i="1" dirty="0">
                <a:solidFill>
                  <a:schemeClr val="accent5"/>
                </a:solidFill>
                <a:latin typeface="Courier New" pitchFamily="34" charset="0"/>
                <a:ea typeface="Courier New" pitchFamily="34" charset="-122"/>
                <a:cs typeface="Courier New" pitchFamily="34" charset="-120"/>
              </a:rPr>
              <a:t># never rewrite shared history</a:t>
            </a:r>
            <a:endParaRPr lang="en-US" sz="1000" dirty="0"/>
          </a:p>
        </p:txBody>
      </p:sp>
      <p:sp>
        <p:nvSpPr>
          <p:cNvPr id="17" name="Share"/>
          <p:cNvSpPr/>
          <p:nvPr/>
        </p:nvSpPr>
        <p:spPr>
          <a:xfrm>
            <a:off x="4297680" y="3794760"/>
            <a:ext cx="3593592" cy="1901952"/>
          </a:xfrm>
          <a:prstGeom prst="roundRect">
            <a:avLst>
              <a:gd name="adj" fmla="val 4808"/>
            </a:avLst>
          </a:prstGeom>
          <a:solidFill>
            <a:schemeClr val="tx1"/>
          </a:solidFill>
          <a:ln/>
        </p:spPr>
      </p:sp>
      <p:sp>
        <p:nvSpPr>
          <p:cNvPr id="18" name="Code label"/>
          <p:cNvSpPr txBox="1"/>
          <p:nvPr/>
        </p:nvSpPr>
        <p:spPr>
          <a:xfrm>
            <a:off x="4498848" y="388620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SHARE</a:t>
            </a:r>
            <a:endParaRPr lang="en-US" sz="1000" dirty="0"/>
          </a:p>
        </p:txBody>
      </p:sp>
      <p:sp>
        <p:nvSpPr>
          <p:cNvPr id="19" name="Share text"/>
          <p:cNvSpPr txBox="1"/>
          <p:nvPr/>
        </p:nvSpPr>
        <p:spPr>
          <a:xfrm>
            <a:off x="4498848" y="4178808"/>
            <a:ext cx="3191256" cy="140817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clone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url</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first copy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fetch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origin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look, no change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pull</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origin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fetch and merge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push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u</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origin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branch</a:t>
            </a:r>
            <a:pPr indent="0" marL="0">
              <a:buNone/>
            </a:pPr>
            <a:r>
              <a:rPr lang="en-US" sz="1000" dirty="0">
                <a:solidFill>
                  <a:schemeClr val="bg1"/>
                </a:solidFill>
                <a:latin typeface="Courier New" pitchFamily="34" charset="0"/>
                <a:ea typeface="Courier New" pitchFamily="34" charset="-122"/>
                <a:cs typeface="Courier New" pitchFamily="34" charset="-120"/>
              </a:rPr>
              <a:t>&gt;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remote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v</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where is origin</a:t>
            </a:r>
            <a:endParaRPr lang="en-US" sz="1000" dirty="0"/>
          </a:p>
        </p:txBody>
      </p:sp>
      <p:sp>
        <p:nvSpPr>
          <p:cNvPr id="20" name="Release"/>
          <p:cNvSpPr/>
          <p:nvPr/>
        </p:nvSpPr>
        <p:spPr>
          <a:xfrm>
            <a:off x="8046720" y="3794760"/>
            <a:ext cx="3593592" cy="1901952"/>
          </a:xfrm>
          <a:prstGeom prst="roundRect">
            <a:avLst>
              <a:gd name="adj" fmla="val 4808"/>
            </a:avLst>
          </a:prstGeom>
          <a:solidFill>
            <a:schemeClr val="tx1"/>
          </a:solidFill>
          <a:ln/>
        </p:spPr>
      </p:sp>
      <p:sp>
        <p:nvSpPr>
          <p:cNvPr id="21" name="Code label"/>
          <p:cNvSpPr txBox="1"/>
          <p:nvPr/>
        </p:nvSpPr>
        <p:spPr>
          <a:xfrm>
            <a:off x="8247888" y="388620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RELEASE</a:t>
            </a:r>
            <a:endParaRPr lang="en-US" sz="1000" dirty="0"/>
          </a:p>
        </p:txBody>
      </p:sp>
      <p:sp>
        <p:nvSpPr>
          <p:cNvPr id="22" name="Release text"/>
          <p:cNvSpPr txBox="1"/>
          <p:nvPr/>
        </p:nvSpPr>
        <p:spPr>
          <a:xfrm>
            <a:off x="8247888" y="4178808"/>
            <a:ext cx="3191256" cy="140817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tag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v1</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0.0</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"Release 1.0.0"</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tag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n1</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list tags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push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origin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v1</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0.0</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publish a tag</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log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oneline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decorate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3</a:t>
            </a:r>
            <a:endParaRPr lang="en-US" sz="1000" dirty="0"/>
          </a:p>
        </p:txBody>
      </p:sp>
      <p:sp>
        <p:nvSpPr>
          <p:cNvPr id="23"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All of these were run on Git 2.43 in a practice repository. Replace &lt;angle brackets&gt; with your own values.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CONVENTIONS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Branch names, pull request text and a commit with a trailer</a:t>
            </a:r>
            <a:endParaRPr lang="en-US" sz="3200" dirty="0"/>
          </a:p>
        </p:txBody>
      </p:sp>
      <p:graphicFrame>
        <p:nvGraphicFramePr>
          <p:cNvPr id="75" name="Branch names"/>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914400"/>
        </p:xfrm>
        <a:graphic>
          <a:graphicData uri="http://schemas.openxmlformats.org/drawingml/2006/table">
            <a:tbl>
              <a:tblPr/>
              <a:tblGrid>
                <a:gridCol w="2286000"/>
                <a:gridCol w="3108960"/>
              </a:tblGrid>
              <a:tr h="365760">
                <a:tc>
                  <a:txBody>
                    <a:bodyPr/>
                    <a:lstStyle/>
                    <a:p>
                      <a:pPr indent="0" marL="0">
                        <a:buNone/>
                      </a:pPr>
                      <a:r>
                        <a:rPr lang="en-US" sz="1200" b="1" dirty="0">
                          <a:solidFill>
                            <a:schemeClr val="bg1"/>
                          </a:solidFill>
                        </a:rPr>
                        <a:t>Pattern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Example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11480">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feat/AB&lt;id&gt;-&lt;slug&gt;</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feat/AB1002-tighter-gate</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11480">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fix/AB&lt;id&gt;-&lt;slug&gt;</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fix/AB1010-empty-period</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11480">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docs/AB&lt;id&gt;-&lt;slug&gt;</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docs/AB1011-run-log-notes</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11480">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chore/AB&lt;id&gt;-&lt;slug&gt;</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chore/AB1012-update-lockfile</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Branch rules card"/>
          <p:cNvSpPr/>
          <p:nvPr/>
        </p:nvSpPr>
        <p:spPr>
          <a:xfrm>
            <a:off x="548640" y="4114800"/>
            <a:ext cx="5394960" cy="1691640"/>
          </a:xfrm>
          <a:prstGeom prst="roundRect">
            <a:avLst>
              <a:gd name="adj" fmla="val 6486"/>
            </a:avLst>
          </a:prstGeom>
          <a:solidFill>
            <a:schemeClr val="bg2"/>
          </a:solidFill>
          <a:ln/>
        </p:spPr>
      </p:sp>
      <p:sp>
        <p:nvSpPr>
          <p:cNvPr id="7" name="Branch rules title"/>
          <p:cNvSpPr txBox="1"/>
          <p:nvPr/>
        </p:nvSpPr>
        <p:spPr>
          <a:xfrm>
            <a:off x="777240" y="4187952"/>
            <a:ext cx="49377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Branch rules</a:t>
            </a:r>
            <a:endParaRPr lang="en-US" sz="1500" dirty="0"/>
          </a:p>
        </p:txBody>
      </p:sp>
      <p:sp>
        <p:nvSpPr>
          <p:cNvPr id="8" name="Branch rules list"/>
          <p:cNvSpPr txBox="1"/>
          <p:nvPr/>
        </p:nvSpPr>
        <p:spPr>
          <a:xfrm>
            <a:off x="777240" y="4553712"/>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One work item per branch. Lowercase, hyphens, no spaces.</a:t>
            </a:r>
            <a:endParaRPr lang="en-US" sz="1300" dirty="0"/>
          </a:p>
          <a:p>
            <a:pPr marL="342900" indent="-342900">
              <a:spcAft>
                <a:spcPts val="500"/>
              </a:spcAft>
              <a:buSzPct val="100000"/>
              <a:buChar char="•"/>
            </a:pPr>
            <a:r>
              <a:rPr lang="en-US" sz="1300" dirty="0">
                <a:solidFill>
                  <a:schemeClr val="tx1"/>
                </a:solidFill>
              </a:rPr>
              <a:t>Short-lived: merge within days, then delete the branch.</a:t>
            </a:r>
            <a:endParaRPr lang="en-US" sz="1300" dirty="0"/>
          </a:p>
          <a:p>
            <a:pPr marL="342900" indent="-342900">
              <a:spcAft>
                <a:spcPts val="500"/>
              </a:spcAft>
              <a:buSzPct val="100000"/>
              <a:buChar char="•"/>
            </a:pPr>
            <a:r>
              <a:rPr lang="en-US" sz="1300" dirty="0">
                <a:solidFill>
                  <a:schemeClr val="tx1"/>
                </a:solidFill>
              </a:rPr>
              <a:t>main is protected: nothing is pushed to it directly.</a:t>
            </a:r>
            <a:endParaRPr lang="en-US" sz="1300" dirty="0"/>
          </a:p>
        </p:txBody>
      </p:sp>
      <p:sp>
        <p:nvSpPr>
          <p:cNvPr id="9" name="PR template"/>
          <p:cNvSpPr/>
          <p:nvPr/>
        </p:nvSpPr>
        <p:spPr>
          <a:xfrm>
            <a:off x="6217920" y="1783080"/>
            <a:ext cx="5422392" cy="2699512"/>
          </a:xfrm>
          <a:prstGeom prst="roundRect">
            <a:avLst>
              <a:gd name="adj" fmla="val 3387"/>
            </a:avLst>
          </a:prstGeom>
          <a:solidFill>
            <a:schemeClr val="tx1"/>
          </a:solidFill>
          <a:ln/>
        </p:spPr>
      </p:sp>
      <p:sp>
        <p:nvSpPr>
          <p:cNvPr id="10" name="Code label"/>
          <p:cNvSpPr txBox="1"/>
          <p:nvPr/>
        </p:nvSpPr>
        <p:spPr>
          <a:xfrm>
            <a:off x="6419088" y="1874520"/>
            <a:ext cx="50200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PULL REQUEST DESCRIPTION TEMPLATE</a:t>
            </a:r>
            <a:endParaRPr lang="en-US" sz="1000" dirty="0"/>
          </a:p>
        </p:txBody>
      </p:sp>
      <p:sp>
        <p:nvSpPr>
          <p:cNvPr id="11" name="PR template text"/>
          <p:cNvSpPr txBox="1"/>
          <p:nvPr/>
        </p:nvSpPr>
        <p:spPr>
          <a:xfrm>
            <a:off x="6419088" y="2167128"/>
            <a:ext cx="5020056" cy="220573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What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changed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One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sentence.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Why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AB#&lt;id&gt;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How</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tested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Run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log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row</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screenshot.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Look</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twice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Anything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the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reviewer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should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check.</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AI</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assistance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None,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drafted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assistant,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reviewed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me.</a:t>
            </a:r>
            <a:endParaRPr lang="en-US" sz="1000" dirty="0"/>
          </a:p>
        </p:txBody>
      </p:sp>
      <p:sp>
        <p:nvSpPr>
          <p:cNvPr id="12" name="Commit example"/>
          <p:cNvSpPr/>
          <p:nvPr/>
        </p:nvSpPr>
        <p:spPr>
          <a:xfrm>
            <a:off x="6217920" y="4592320"/>
            <a:ext cx="5422392" cy="1459992"/>
          </a:xfrm>
          <a:prstGeom prst="roundRect">
            <a:avLst>
              <a:gd name="adj" fmla="val 6263"/>
            </a:avLst>
          </a:prstGeom>
          <a:solidFill>
            <a:schemeClr val="tx1"/>
          </a:solidFill>
          <a:ln/>
        </p:spPr>
      </p:sp>
      <p:sp>
        <p:nvSpPr>
          <p:cNvPr id="13" name="Code label"/>
          <p:cNvSpPr txBox="1"/>
          <p:nvPr/>
        </p:nvSpPr>
        <p:spPr>
          <a:xfrm>
            <a:off x="6419088" y="4683760"/>
            <a:ext cx="50200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 COMMIT MESSAGE, WITH THE OPTIONAL TRAILER</a:t>
            </a:r>
            <a:endParaRPr lang="en-US" sz="1000" dirty="0"/>
          </a:p>
        </p:txBody>
      </p:sp>
      <p:sp>
        <p:nvSpPr>
          <p:cNvPr id="14" name="Commit example text"/>
          <p:cNvSpPr txBox="1"/>
          <p:nvPr/>
        </p:nvSpPr>
        <p:spPr>
          <a:xfrm>
            <a:off x="6419088" y="4976368"/>
            <a:ext cx="5020056" cy="96621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fix(gate):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tighten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tie-out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tolerance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to</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cent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Tolerance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was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five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cents;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now</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one.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AB#1002</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Co-Authored-By: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&lt;assistant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name&gt;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&lt;noreply@example.com&gt;</a:t>
            </a:r>
            <a:endParaRPr lang="en-US" sz="1000" dirty="0"/>
          </a:p>
        </p:txBody>
      </p:sp>
      <p:sp>
        <p:nvSpPr>
          <p:cNvPr id="15"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The rail checks the type, the summary and the work item. The assistant trailer is a suggested practice.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RAIL SCRIPTS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Rail 1: scan_ids.py finds hard-coded IDs</a:t>
            </a:r>
            <a:endParaRPr lang="en-US" sz="3200" dirty="0"/>
          </a:p>
        </p:txBody>
      </p:sp>
      <p:sp>
        <p:nvSpPr>
          <p:cNvPr id="5" name="Scan IDs part 1"/>
          <p:cNvSpPr/>
          <p:nvPr/>
        </p:nvSpPr>
        <p:spPr>
          <a:xfrm>
            <a:off x="548640" y="1783080"/>
            <a:ext cx="5504688" cy="4248912"/>
          </a:xfrm>
          <a:prstGeom prst="roundRect">
            <a:avLst>
              <a:gd name="adj" fmla="val 2152"/>
            </a:avLst>
          </a:prstGeom>
          <a:solidFill>
            <a:schemeClr val="tx1"/>
          </a:solidFill>
          <a:ln/>
        </p:spPr>
      </p:sp>
      <p:sp>
        <p:nvSpPr>
          <p:cNvPr id="6" name="Code label"/>
          <p:cNvSpPr txBox="1"/>
          <p:nvPr/>
        </p:nvSpPr>
        <p:spPr>
          <a:xfrm>
            <a:off x="749808" y="1874520"/>
            <a:ext cx="5102352"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RAILS/SCAN_IDS.PY · PART 1 OF 2</a:t>
            </a:r>
            <a:endParaRPr lang="en-US" sz="1000" dirty="0"/>
          </a:p>
        </p:txBody>
      </p:sp>
      <p:sp>
        <p:nvSpPr>
          <p:cNvPr id="7" name="Scan IDs part 1 text"/>
          <p:cNvSpPr txBox="1"/>
          <p:nvPr/>
        </p:nvSpPr>
        <p:spPr>
          <a:xfrm>
            <a:off x="749808" y="2167128"/>
            <a:ext cx="5102352" cy="3755136"/>
          </a:xfrm>
          <a:prstGeom prst="rect">
            <a:avLst/>
          </a:prstGeom>
          <a:noFill/>
          <a:ln/>
        </p:spPr>
        <p:txBody>
          <a:bodyPr wrap="square" lIns="0" tIns="0" rIns="0" bIns="0" rtlCol="0" anchor="t"/>
          <a:lstStyle/>
          <a:p>
            <a:pPr indent="0" marL="0">
              <a:buNone/>
            </a:pPr>
            <a:r>
              <a:rPr lang="en-US" sz="800" dirty="0">
                <a:solidFill>
                  <a:schemeClr val="accent3"/>
                </a:solidFill>
                <a:latin typeface="Courier New" pitchFamily="34" charset="0"/>
                <a:ea typeface="Courier New" pitchFamily="34" charset="-122"/>
                <a:cs typeface="Courier New" pitchFamily="34" charset="-120"/>
              </a:rPr>
              <a:t>"""Rail: fail the merge if a file hard-codes an item ID."""</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import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json</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import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re</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import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sys</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from</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pathlib</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import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GUID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re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compile</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r</a:t>
            </a:r>
            <a:pPr indent="0" marL="0">
              <a:buNone/>
            </a:pPr>
            <a:r>
              <a:rPr lang="en-US" sz="800" dirty="0">
                <a:solidFill>
                  <a:schemeClr val="accent3"/>
                </a:solidFill>
                <a:latin typeface="Courier New" pitchFamily="34" charset="0"/>
                <a:ea typeface="Courier New" pitchFamily="34" charset="-122"/>
                <a:cs typeface="Courier New" pitchFamily="34" charset="-120"/>
              </a:rPr>
              <a:t>"[0-9a-fA-F]{8}-[0-9a-fA-F]{4}-[0-9a-fA-F]{4}-"</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r</a:t>
            </a:r>
            <a:pPr indent="0" marL="0">
              <a:buNone/>
            </a:pPr>
            <a:r>
              <a:rPr lang="en-US" sz="800" dirty="0">
                <a:solidFill>
                  <a:schemeClr val="accent3"/>
                </a:solidFill>
                <a:latin typeface="Courier New" pitchFamily="34" charset="0"/>
                <a:ea typeface="Courier New" pitchFamily="34" charset="-122"/>
                <a:cs typeface="Courier New" pitchFamily="34" charset="-120"/>
              </a:rPr>
              <a:t>"[0-9a-fA-F]{4}-[0-9a-fA-F]{12}"</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ZERO</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"00000000-0000-0000-0000-000000000000"</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SKIP</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".git"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".venv"</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"node_modules"</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TEXT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".py"</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".json"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".yml"</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".yaml"</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".md"</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".tmdl"</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".pbir"</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".pbism"</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def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logical_ids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root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"""Items refer to each other by the logicalId in .platform: allowed."""</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return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json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loads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read_text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"config"</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"logicalId"</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lower</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root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rglob</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".platform"</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p:txBody>
      </p:sp>
      <p:sp>
        <p:nvSpPr>
          <p:cNvPr id="8" name="Scan IDs part 2"/>
          <p:cNvSpPr/>
          <p:nvPr/>
        </p:nvSpPr>
        <p:spPr>
          <a:xfrm>
            <a:off x="6144768" y="1783080"/>
            <a:ext cx="5498287" cy="4248912"/>
          </a:xfrm>
          <a:prstGeom prst="roundRect">
            <a:avLst>
              <a:gd name="adj" fmla="val 2152"/>
            </a:avLst>
          </a:prstGeom>
          <a:solidFill>
            <a:schemeClr val="tx1"/>
          </a:solidFill>
          <a:ln/>
        </p:spPr>
      </p:sp>
      <p:sp>
        <p:nvSpPr>
          <p:cNvPr id="9" name="Code label"/>
          <p:cNvSpPr txBox="1"/>
          <p:nvPr/>
        </p:nvSpPr>
        <p:spPr>
          <a:xfrm>
            <a:off x="6345936" y="1874520"/>
            <a:ext cx="5095951"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RAILS/SCAN_IDS.PY · PART 2 OF 2</a:t>
            </a:r>
            <a:endParaRPr lang="en-US" sz="1000" dirty="0"/>
          </a:p>
        </p:txBody>
      </p:sp>
      <p:sp>
        <p:nvSpPr>
          <p:cNvPr id="10" name="Scan IDs part 2 text"/>
          <p:cNvSpPr txBox="1"/>
          <p:nvPr/>
        </p:nvSpPr>
        <p:spPr>
          <a:xfrm>
            <a:off x="6345936" y="2167128"/>
            <a:ext cx="5095951" cy="3755136"/>
          </a:xfrm>
          <a:prstGeom prst="rect">
            <a:avLst/>
          </a:prstGeom>
          <a:noFill/>
          <a:ln/>
        </p:spPr>
        <p:txBody>
          <a:bodyPr wrap="square" lIns="0" tIns="0" rIns="0" bIns="0" rtlCol="0" anchor="t"/>
          <a:lstStyle/>
          <a:p>
            <a:pPr indent="0" marL="0">
              <a:buNone/>
            </a:pPr>
            <a:r>
              <a:rPr lang="en-US" sz="800" dirty="0">
                <a:solidFill>
                  <a:schemeClr val="accent2"/>
                </a:solidFill>
                <a:latin typeface="Courier New" pitchFamily="34" charset="0"/>
                <a:ea typeface="Courier New" pitchFamily="34" charset="-122"/>
                <a:cs typeface="Courier New" pitchFamily="34" charset="-120"/>
              </a:rPr>
              <a:t>def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lines_of</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"""Yield (number, text). Outputs and Fabric-managed metadata skipped."""</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suffix</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".ipynb"</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c</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json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loads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read_text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get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"cells"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source</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join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c</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get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"source"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yield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from</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enumerate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source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splitlines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6"/>
                </a:solidFill>
                <a:latin typeface="Courier New" pitchFamily="34" charset="0"/>
                <a:ea typeface="Courier New" pitchFamily="34" charset="-122"/>
                <a:cs typeface="Courier New" pitchFamily="34" charset="-120"/>
              </a:rPr>
              <a:t>1</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elif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suffix</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TEXT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and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name</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".platform"</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text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read_text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errors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"ignore"</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line</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enumerate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text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splitlines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6"/>
                </a:solidFill>
                <a:latin typeface="Courier New" pitchFamily="34" charset="0"/>
                <a:ea typeface="Courier New" pitchFamily="34" charset="-122"/>
                <a:cs typeface="Courier New" pitchFamily="34" charset="-120"/>
              </a:rPr>
              <a:t>1</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not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line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startswith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 META"</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yield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line</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def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scan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root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allowed</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hits</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logical_ids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root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ZERO</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sorted</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root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rglob</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is_file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and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not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SKIP</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&amp;</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set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parts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line</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lines_of</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g</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GUID</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findall</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line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g</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lower</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not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allowed</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hits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append</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str</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g</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6"/>
                </a:solidFill>
                <a:latin typeface="Courier New" pitchFamily="34" charset="0"/>
                <a:ea typeface="Courier New" pitchFamily="34" charset="-122"/>
                <a:cs typeface="Courier New" pitchFamily="34" charset="-120"/>
              </a:rPr>
              <a:t>8</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return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hits</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__name__</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"__main__"</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found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scan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sys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argv</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6"/>
                </a:solidFill>
                <a:latin typeface="Courier New" pitchFamily="34" charset="0"/>
                <a:ea typeface="Courier New" pitchFamily="34" charset="-122"/>
                <a:cs typeface="Courier New" pitchFamily="34" charset="-120"/>
              </a:rPr>
              <a:t>1</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len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sys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argv</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&gt;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6"/>
                </a:solidFill>
                <a:latin typeface="Courier New" pitchFamily="34" charset="0"/>
                <a:ea typeface="Courier New" pitchFamily="34" charset="-122"/>
                <a:cs typeface="Courier New" pitchFamily="34" charset="-120"/>
              </a:rPr>
              <a:t>1</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else</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f</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g</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found</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print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f</a:t>
            </a:r>
            <a:pPr indent="0" marL="0">
              <a:buNone/>
            </a:pPr>
            <a:r>
              <a:rPr lang="en-US" sz="800" dirty="0">
                <a:solidFill>
                  <a:schemeClr val="accent3"/>
                </a:solidFill>
                <a:latin typeface="Courier New" pitchFamily="34" charset="0"/>
                <a:ea typeface="Courier New" pitchFamily="34" charset="-122"/>
                <a:cs typeface="Courier New" pitchFamily="34" charset="-120"/>
              </a:rPr>
              <a:t>"{f}:{n}: hard-coded ID {g}"</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print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f</a:t>
            </a:r>
            <a:pPr indent="0" marL="0">
              <a:buNone/>
            </a:pPr>
            <a:r>
              <a:rPr lang="en-US" sz="800" dirty="0">
                <a:solidFill>
                  <a:schemeClr val="accent3"/>
                </a:solidFill>
                <a:latin typeface="Courier New" pitchFamily="34" charset="0"/>
                <a:ea typeface="Courier New" pitchFamily="34" charset="-122"/>
                <a:cs typeface="Courier New" pitchFamily="34" charset="-120"/>
              </a:rPr>
              <a:t>"{len(found)} hard-coded ID(s)"</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sys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exit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6"/>
                </a:solidFill>
                <a:latin typeface="Courier New" pitchFamily="34" charset="0"/>
                <a:ea typeface="Courier New" pitchFamily="34" charset="-122"/>
                <a:cs typeface="Courier New" pitchFamily="34" charset="-120"/>
              </a:rPr>
              <a:t>1</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found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else</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6"/>
                </a:solidFill>
                <a:latin typeface="Courier New" pitchFamily="34" charset="0"/>
                <a:ea typeface="Courier New" pitchFamily="34" charset="-122"/>
                <a:cs typeface="Courier New" pitchFamily="34" charset="-120"/>
              </a:rPr>
              <a:t>0</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p:txBody>
      </p:sp>
      <p:sp>
        <p:nvSpPr>
          <p:cNvPr id="11"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Run: python rails/scan_ids.py fabric. Exit code 1 if it finds anything. Standard library only.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RAIL SCRIPTS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Rail 2: scan_secrets.py finds assigned secrets</a:t>
            </a:r>
            <a:endParaRPr lang="en-US" sz="3200" dirty="0"/>
          </a:p>
        </p:txBody>
      </p:sp>
      <p:sp>
        <p:nvSpPr>
          <p:cNvPr id="5" name="Scan secrets part 1"/>
          <p:cNvSpPr/>
          <p:nvPr/>
        </p:nvSpPr>
        <p:spPr>
          <a:xfrm>
            <a:off x="548640" y="1783080"/>
            <a:ext cx="5504688" cy="3040380"/>
          </a:xfrm>
          <a:prstGeom prst="roundRect">
            <a:avLst>
              <a:gd name="adj" fmla="val 3008"/>
            </a:avLst>
          </a:prstGeom>
          <a:solidFill>
            <a:schemeClr val="tx1"/>
          </a:solidFill>
          <a:ln/>
        </p:spPr>
      </p:sp>
      <p:sp>
        <p:nvSpPr>
          <p:cNvPr id="6" name="Code label"/>
          <p:cNvSpPr txBox="1"/>
          <p:nvPr/>
        </p:nvSpPr>
        <p:spPr>
          <a:xfrm>
            <a:off x="749808" y="1874520"/>
            <a:ext cx="5102352"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RAILS/SCAN_SECRETS.PY · PART 1 OF 2</a:t>
            </a:r>
            <a:endParaRPr lang="en-US" sz="1000" dirty="0"/>
          </a:p>
        </p:txBody>
      </p:sp>
      <p:sp>
        <p:nvSpPr>
          <p:cNvPr id="7" name="Scan secrets part 1 text"/>
          <p:cNvSpPr txBox="1"/>
          <p:nvPr/>
        </p:nvSpPr>
        <p:spPr>
          <a:xfrm>
            <a:off x="749808" y="2167128"/>
            <a:ext cx="5102352" cy="2546604"/>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"""Rail: fail the merge on any credential-shaped string. No threshold."""</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sys</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from</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pathlib</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Path</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NAMES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t>
            </a:r>
            <a:pPr indent="0" marL="0">
              <a:buNone/>
            </a:pPr>
            <a:r>
              <a:rPr lang="en-US" sz="900" dirty="0">
                <a:solidFill>
                  <a:schemeClr val="accent3"/>
                </a:solidFill>
                <a:latin typeface="Courier New" pitchFamily="34" charset="0"/>
                <a:ea typeface="Courier New" pitchFamily="34" charset="-122"/>
                <a:cs typeface="Courier New" pitchFamily="34" charset="-120"/>
              </a:rPr>
              <a:t>"(secret|password|passwd|api[_-]?key|token)\w*"</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PATTERNS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"assigned secret"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rf</a:t>
            </a:r>
            <a:pPr indent="0" marL="0">
              <a:buNone/>
            </a:pPr>
            <a:r>
              <a:rPr lang="en-US" sz="900" dirty="0">
                <a:solidFill>
                  <a:schemeClr val="accent3"/>
                </a:solidFill>
                <a:latin typeface="Courier New" pitchFamily="34" charset="0"/>
                <a:ea typeface="Courier New" pitchFamily="34" charset="-122"/>
                <a:cs typeface="Courier New" pitchFamily="34" charset="-120"/>
              </a:rPr>
              <a:t>"""(?i){NAMES}\s*[:=]\s*['"][^'"\s&lt;&gt;{{}}]{{8,}}['"]"""</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"private key"</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a:t>
            </a:r>
            <a:pPr indent="0" marL="0">
              <a:buNone/>
            </a:pPr>
            <a:r>
              <a:rPr lang="en-US" sz="900" dirty="0">
                <a:solidFill>
                  <a:schemeClr val="accent3"/>
                </a:solidFill>
                <a:latin typeface="Courier New" pitchFamily="34" charset="0"/>
                <a:ea typeface="Courier New" pitchFamily="34" charset="-122"/>
                <a:cs typeface="Courier New" pitchFamily="34" charset="-120"/>
              </a:rPr>
              <a:t>"-----BEGIN [A-Z ]*PRIVATE KEY-----"</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"bearer token"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t>
            </a:r>
            <a:pPr indent="0" marL="0">
              <a:buNone/>
            </a:pPr>
            <a:r>
              <a:rPr lang="en-US" sz="900" dirty="0">
                <a:solidFill>
                  <a:schemeClr val="accent3"/>
                </a:solidFill>
                <a:latin typeface="Courier New" pitchFamily="34" charset="0"/>
                <a:ea typeface="Courier New" pitchFamily="34" charset="-122"/>
                <a:cs typeface="Courier New" pitchFamily="34" charset="-120"/>
              </a:rPr>
              <a:t>"\beyJ[A-Za-z0-9_-]{10,}\.eyJ[A-Za-z0-9_-]{10,}"</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"storage key"</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a:t>
            </a:r>
            <a:pPr indent="0" marL="0">
              <a:buNone/>
            </a:pPr>
            <a:r>
              <a:rPr lang="en-US" sz="900" dirty="0">
                <a:solidFill>
                  <a:schemeClr val="accent3"/>
                </a:solidFill>
                <a:latin typeface="Courier New" pitchFamily="34" charset="0"/>
                <a:ea typeface="Courier New" pitchFamily="34" charset="-122"/>
                <a:cs typeface="Courier New" pitchFamily="34" charset="-120"/>
              </a:rPr>
              <a:t>"[A-Za-z0-9+/]{86}=="</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"SAS signature"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a:t>
            </a:r>
            <a:pPr indent="0" marL="0">
              <a:buNone/>
            </a:pPr>
            <a:r>
              <a:rPr lang="en-US" sz="900" dirty="0">
                <a:solidFill>
                  <a:schemeClr val="accent3"/>
                </a:solidFill>
                <a:latin typeface="Courier New" pitchFamily="34" charset="0"/>
                <a:ea typeface="Courier New" pitchFamily="34" charset="-122"/>
                <a:cs typeface="Courier New" pitchFamily="34" charset="-120"/>
              </a:rPr>
              <a:t>"[?&amp;]sig=[A-Za-z0-9%]{20,}"</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SKIP</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".git"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".venv"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"node_modules"</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p:txBody>
      </p:sp>
      <p:sp>
        <p:nvSpPr>
          <p:cNvPr id="8" name="Scan secrets part 2"/>
          <p:cNvSpPr/>
          <p:nvPr/>
        </p:nvSpPr>
        <p:spPr>
          <a:xfrm>
            <a:off x="6144768" y="1783080"/>
            <a:ext cx="5498287" cy="3040380"/>
          </a:xfrm>
          <a:prstGeom prst="roundRect">
            <a:avLst>
              <a:gd name="adj" fmla="val 3008"/>
            </a:avLst>
          </a:prstGeom>
          <a:solidFill>
            <a:schemeClr val="tx1"/>
          </a:solidFill>
          <a:ln/>
        </p:spPr>
      </p:sp>
      <p:sp>
        <p:nvSpPr>
          <p:cNvPr id="9" name="Code label"/>
          <p:cNvSpPr txBox="1"/>
          <p:nvPr/>
        </p:nvSpPr>
        <p:spPr>
          <a:xfrm>
            <a:off x="6345936" y="1874520"/>
            <a:ext cx="5095951"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RAILS/SCAN_SECRETS.PY · PART 2 OF 2</a:t>
            </a:r>
            <a:endParaRPr lang="en-US" sz="1000" dirty="0"/>
          </a:p>
        </p:txBody>
      </p:sp>
      <p:sp>
        <p:nvSpPr>
          <p:cNvPr id="10" name="Scan secrets part 2 text"/>
          <p:cNvSpPr txBox="1"/>
          <p:nvPr/>
        </p:nvSpPr>
        <p:spPr>
          <a:xfrm>
            <a:off x="6345936" y="2167128"/>
            <a:ext cx="5095951" cy="2546604"/>
          </a:xfrm>
          <a:prstGeom prst="rect">
            <a:avLst/>
          </a:prstGeom>
          <a:noFill/>
          <a:ln/>
        </p:spPr>
        <p:txBody>
          <a:bodyPr wrap="square" lIns="0" tIns="0" rIns="0" bIns="0" rtlCol="0" anchor="t"/>
          <a:lstStyle/>
          <a:p>
            <a:pPr indent="0" marL="0">
              <a:buNone/>
            </a:pPr>
            <a:r>
              <a:rPr lang="en-US" sz="900" dirty="0">
                <a:solidFill>
                  <a:schemeClr val="accent2"/>
                </a:solidFill>
                <a:latin typeface="Courier New" pitchFamily="34" charset="0"/>
                <a:ea typeface="Courier New" pitchFamily="34" charset="-122"/>
                <a:cs typeface="Courier New" pitchFamily="34" charset="-120"/>
              </a:rPr>
              <a:t>def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scan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root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hits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sorted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Path</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root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rglob</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is_file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and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not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SKIP</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&amp;</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set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parts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text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read_text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errors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"ignore"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line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enumerate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text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splitlines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6"/>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name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rx</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PATTERNS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items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rx</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search</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line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hits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append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str</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name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return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hits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__name__</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"__main__"</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found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scan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6"/>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len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&gt;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6"/>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else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found</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print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f</a:t>
            </a:r>
            <a:pPr indent="0" marL="0">
              <a:buNone/>
            </a:pPr>
            <a:r>
              <a:rPr lang="en-US" sz="900" dirty="0">
                <a:solidFill>
                  <a:schemeClr val="accent3"/>
                </a:solidFill>
                <a:latin typeface="Courier New" pitchFamily="34" charset="0"/>
                <a:ea typeface="Courier New" pitchFamily="34" charset="-122"/>
                <a:cs typeface="Courier New" pitchFamily="34" charset="-120"/>
              </a:rPr>
              <a:t>"{f}:{n}: {name}"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print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f</a:t>
            </a:r>
            <a:pPr indent="0" marL="0">
              <a:buNone/>
            </a:pPr>
            <a:r>
              <a:rPr lang="en-US" sz="900" dirty="0">
                <a:solidFill>
                  <a:schemeClr val="accent3"/>
                </a:solidFill>
                <a:latin typeface="Courier New" pitchFamily="34" charset="0"/>
                <a:ea typeface="Courier New" pitchFamily="34" charset="-122"/>
                <a:cs typeface="Courier New" pitchFamily="34" charset="-120"/>
              </a:rPr>
              <a:t>"{len(found)} finding(s)"</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exit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6"/>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found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else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6"/>
                </a:solidFill>
                <a:latin typeface="Courier New" pitchFamily="34" charset="0"/>
                <a:ea typeface="Courier New" pitchFamily="34" charset="-122"/>
                <a:cs typeface="Courier New" pitchFamily="34" charset="-120"/>
              </a:rPr>
              <a:t>0</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p:txBody>
      </p:sp>
      <p:sp>
        <p:nvSpPr>
          <p:cNvPr id="11" name="Run the rails"/>
          <p:cNvSpPr/>
          <p:nvPr/>
        </p:nvSpPr>
        <p:spPr>
          <a:xfrm>
            <a:off x="548640" y="4960620"/>
            <a:ext cx="11094415" cy="1018413"/>
          </a:xfrm>
          <a:prstGeom prst="roundRect">
            <a:avLst>
              <a:gd name="adj" fmla="val 8979"/>
            </a:avLst>
          </a:prstGeom>
          <a:solidFill>
            <a:schemeClr val="tx1"/>
          </a:solidFill>
          <a:ln/>
        </p:spPr>
      </p:sp>
      <p:sp>
        <p:nvSpPr>
          <p:cNvPr id="12" name="Code label"/>
          <p:cNvSpPr txBox="1"/>
          <p:nvPr/>
        </p:nvSpPr>
        <p:spPr>
          <a:xfrm>
            <a:off x="749808" y="5052060"/>
            <a:ext cx="10692079"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RUN ALL THREE BEFORE YOU PUSH</a:t>
            </a:r>
            <a:endParaRPr lang="en-US" sz="1000" dirty="0"/>
          </a:p>
        </p:txBody>
      </p:sp>
      <p:sp>
        <p:nvSpPr>
          <p:cNvPr id="13" name="Run the rails text"/>
          <p:cNvSpPr txBox="1"/>
          <p:nvPr/>
        </p:nvSpPr>
        <p:spPr>
          <a:xfrm>
            <a:off x="749808" y="5344668"/>
            <a:ext cx="10692079" cy="524637"/>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rails/scan_ids.py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rails/check_commit_msg.py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origin/main..HEAD</a:t>
            </a:r>
            <a:endParaRPr lang="en-US" sz="1050" dirty="0"/>
          </a:p>
        </p:txBody>
      </p:sp>
      <p:sp>
        <p:nvSpPr>
          <p:cNvPr id="14" name="Footnote"/>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 first rail, not the only one: repository secret scanning belongs alongside it.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RAIL SCRIPTS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Rail 3: check_commit_msg.py checks every message</a:t>
            </a:r>
            <a:endParaRPr lang="en-US" sz="3200" dirty="0"/>
          </a:p>
        </p:txBody>
      </p:sp>
      <p:sp>
        <p:nvSpPr>
          <p:cNvPr id="5" name="Commit message rail part 1"/>
          <p:cNvSpPr/>
          <p:nvPr/>
        </p:nvSpPr>
        <p:spPr>
          <a:xfrm>
            <a:off x="548640" y="1783080"/>
            <a:ext cx="5504688" cy="3458718"/>
          </a:xfrm>
          <a:prstGeom prst="roundRect">
            <a:avLst>
              <a:gd name="adj" fmla="val 2644"/>
            </a:avLst>
          </a:prstGeom>
          <a:solidFill>
            <a:schemeClr val="tx1"/>
          </a:solidFill>
          <a:ln/>
        </p:spPr>
      </p:sp>
      <p:sp>
        <p:nvSpPr>
          <p:cNvPr id="6" name="Code label"/>
          <p:cNvSpPr txBox="1"/>
          <p:nvPr/>
        </p:nvSpPr>
        <p:spPr>
          <a:xfrm>
            <a:off x="749808" y="1874520"/>
            <a:ext cx="5102352"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RAILS/CHECK_COMMIT_MSG.PY · PART 1 OF 2</a:t>
            </a:r>
            <a:endParaRPr lang="en-US" sz="1000" dirty="0"/>
          </a:p>
        </p:txBody>
      </p:sp>
      <p:sp>
        <p:nvSpPr>
          <p:cNvPr id="7" name="Commit message rail part 1 text"/>
          <p:cNvSpPr txBox="1"/>
          <p:nvPr/>
        </p:nvSpPr>
        <p:spPr>
          <a:xfrm>
            <a:off x="749808" y="2167128"/>
            <a:ext cx="5102352" cy="2964942"/>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"""Rail: commits follow Conventional Commits and name a work item."""</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subprocess</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TYPES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"feat|fix|docs|style|refactor|perf|test|build|ci|chore|revert"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SUBJECT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rf</a:t>
            </a:r>
            <a:pPr indent="0" marL="0">
              <a:buNone/>
            </a:pPr>
            <a:r>
              <a:rPr lang="en-US" sz="900" dirty="0">
                <a:solidFill>
                  <a:schemeClr val="accent3"/>
                </a:solidFill>
                <a:latin typeface="Courier New" pitchFamily="34" charset="0"/>
                <a:ea typeface="Courier New" pitchFamily="34" charset="-122"/>
                <a:cs typeface="Courier New" pitchFamily="34" charset="-120"/>
              </a:rPr>
              <a:t>"^({TYPES})(\([a-z0-9._-]+\))?!?: \S.{{0,70}}$"</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WORK_ITEM</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a:t>
            </a:r>
            <a:pPr indent="0" marL="0">
              <a:buNone/>
            </a:pPr>
            <a:r>
              <a:rPr lang="en-US" sz="900" dirty="0">
                <a:solidFill>
                  <a:schemeClr val="accent3"/>
                </a:solidFill>
                <a:latin typeface="Courier New" pitchFamily="34" charset="0"/>
                <a:ea typeface="Courier New" pitchFamily="34" charset="-122"/>
                <a:cs typeface="Courier New" pitchFamily="34" charset="-120"/>
              </a:rPr>
              <a:t>"\bAB#\d+\b"</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def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check</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message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subject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_</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message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strip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splitlines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subject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startswith</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"Merge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'Revert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i="1" dirty="0">
                <a:solidFill>
                  <a:schemeClr val="accent5"/>
                </a:solidFill>
                <a:latin typeface="Courier New" pitchFamily="34" charset="0"/>
                <a:ea typeface="Courier New" pitchFamily="34" charset="-122"/>
                <a:cs typeface="Courier New" pitchFamily="34" charset="-120"/>
              </a:rPr>
              <a:t># written by git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return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problems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not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SUBJECT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match</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subject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problems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append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"subject must look like 'type(scope): summary'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"(72 characters max)"</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not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WORK_ITEM</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search</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message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problems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append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"reference the work item, for example AB#1234"</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return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problems</a:t>
            </a:r>
            <a:endParaRPr lang="en-US" sz="900" dirty="0"/>
          </a:p>
        </p:txBody>
      </p:sp>
      <p:sp>
        <p:nvSpPr>
          <p:cNvPr id="8" name="Commit message rail part 2"/>
          <p:cNvSpPr/>
          <p:nvPr/>
        </p:nvSpPr>
        <p:spPr>
          <a:xfrm>
            <a:off x="6144768" y="1783080"/>
            <a:ext cx="5498287" cy="3458718"/>
          </a:xfrm>
          <a:prstGeom prst="roundRect">
            <a:avLst>
              <a:gd name="adj" fmla="val 2644"/>
            </a:avLst>
          </a:prstGeom>
          <a:solidFill>
            <a:schemeClr val="tx1"/>
          </a:solidFill>
          <a:ln/>
        </p:spPr>
      </p:sp>
      <p:sp>
        <p:nvSpPr>
          <p:cNvPr id="9" name="Code label"/>
          <p:cNvSpPr txBox="1"/>
          <p:nvPr/>
        </p:nvSpPr>
        <p:spPr>
          <a:xfrm>
            <a:off x="6345936" y="1874520"/>
            <a:ext cx="5095951"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RAILS/CHECK_COMMIT_MSG.PY · PART 2 OF 2</a:t>
            </a:r>
            <a:endParaRPr lang="en-US" sz="1000" dirty="0"/>
          </a:p>
        </p:txBody>
      </p:sp>
      <p:sp>
        <p:nvSpPr>
          <p:cNvPr id="10" name="Commit message rail part 2 text"/>
          <p:cNvSpPr txBox="1"/>
          <p:nvPr/>
        </p:nvSpPr>
        <p:spPr>
          <a:xfrm>
            <a:off x="6345936" y="2167128"/>
            <a:ext cx="5095951" cy="2964942"/>
          </a:xfrm>
          <a:prstGeom prst="rect">
            <a:avLst/>
          </a:prstGeom>
          <a:noFill/>
          <a:ln/>
        </p:spPr>
        <p:txBody>
          <a:bodyPr wrap="square" lIns="0" tIns="0" rIns="0" bIns="0" rtlCol="0" anchor="t"/>
          <a:lstStyle/>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def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messages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arg</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i="1" dirty="0">
                <a:solidFill>
                  <a:schemeClr val="accent5"/>
                </a:solidFill>
                <a:latin typeface="Courier New" pitchFamily="34" charset="0"/>
                <a:ea typeface="Courier New" pitchFamily="34" charset="-122"/>
                <a:cs typeface="Courier New" pitchFamily="34" charset="-120"/>
              </a:rPr>
              <a:t># a range: origin/main..HEAD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shas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subprocess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check_output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"git"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"rev-list"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arg</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text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2"/>
                </a:solidFill>
                <a:latin typeface="Courier New" pitchFamily="34" charset="0"/>
                <a:ea typeface="Courier New" pitchFamily="34" charset="-122"/>
                <a:cs typeface="Courier New" pitchFamily="34" charset="-120"/>
              </a:rPr>
              <a:t>True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split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return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subprocess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check_output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"git"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"show"</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"--format=%B"</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text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2"/>
                </a:solidFill>
                <a:latin typeface="Courier New" pitchFamily="34" charset="0"/>
                <a:ea typeface="Courier New" pitchFamily="34" charset="-122"/>
                <a:cs typeface="Courier New" pitchFamily="34" charset="-120"/>
              </a:rPr>
              <a:t>True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shas</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return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stdin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read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arg</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else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open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read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__name__</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"__main__"</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failed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6"/>
                </a:solidFill>
                <a:latin typeface="Courier New" pitchFamily="34" charset="0"/>
                <a:ea typeface="Courier New" pitchFamily="34" charset="-122"/>
                <a:cs typeface="Courier New" pitchFamily="34" charset="-120"/>
              </a:rPr>
              <a:t>0</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text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messages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6"/>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len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&gt;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6"/>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else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issue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check</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text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print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"commit message:"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issue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failed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6"/>
                </a:solidFill>
                <a:latin typeface="Courier New" pitchFamily="34" charset="0"/>
                <a:ea typeface="Courier New" pitchFamily="34" charset="-122"/>
                <a:cs typeface="Courier New" pitchFamily="34" charset="-120"/>
              </a:rPr>
              <a:t>1</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exit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failed</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p:txBody>
      </p:sp>
      <p:sp>
        <p:nvSpPr>
          <p:cNvPr id="11"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As a local hook it receives the message file. In the pipeline it receives the range origin/main..HEAD.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DEPLOYMENT FILES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smoke check and the parameter file</a:t>
            </a:r>
            <a:endParaRPr lang="en-US" sz="3200" dirty="0"/>
          </a:p>
        </p:txBody>
      </p:sp>
      <p:sp>
        <p:nvSpPr>
          <p:cNvPr id="5" name="Smoke check"/>
          <p:cNvSpPr/>
          <p:nvPr/>
        </p:nvSpPr>
        <p:spPr>
          <a:xfrm>
            <a:off x="548640" y="1783080"/>
            <a:ext cx="6400800" cy="2002282"/>
          </a:xfrm>
          <a:prstGeom prst="roundRect">
            <a:avLst>
              <a:gd name="adj" fmla="val 4567"/>
            </a:avLst>
          </a:prstGeom>
          <a:solidFill>
            <a:schemeClr val="tx1"/>
          </a:solidFill>
          <a:ln/>
        </p:spPr>
      </p:sp>
      <p:sp>
        <p:nvSpPr>
          <p:cNvPr id="6" name="Code label"/>
          <p:cNvSpPr txBox="1"/>
          <p:nvPr/>
        </p:nvSpPr>
        <p:spPr>
          <a:xfrm>
            <a:off x="749808" y="1874520"/>
            <a:ext cx="59984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SMOKE_CHECK</a:t>
            </a:r>
            <a:endParaRPr lang="en-US" sz="1000" dirty="0"/>
          </a:p>
        </p:txBody>
      </p:sp>
      <p:sp>
        <p:nvSpPr>
          <p:cNvPr id="7" name="Smoke check text"/>
          <p:cNvSpPr txBox="1"/>
          <p:nvPr/>
        </p:nvSpPr>
        <p:spPr>
          <a:xfrm>
            <a:off x="749808" y="2167128"/>
            <a:ext cx="5998464" cy="1508506"/>
          </a:xfrm>
          <a:prstGeom prst="rect">
            <a:avLst/>
          </a:prstGeom>
          <a:noFill/>
          <a:ln/>
        </p:spPr>
        <p:txBody>
          <a:bodyPr wrap="square" lIns="0" tIns="0" rIns="0" bIns="0" rtlCol="0" anchor="t"/>
          <a:lstStyle/>
          <a:p>
            <a:pPr indent="0" marL="0">
              <a:buNone/>
            </a:pPr>
            <a:r>
              <a:rPr lang="en-US" sz="950" dirty="0">
                <a:solidFill>
                  <a:schemeClr val="accent2"/>
                </a:solidFill>
                <a:latin typeface="Courier New" pitchFamily="34" charset="0"/>
                <a:ea typeface="Courier New" pitchFamily="34" charset="-122"/>
                <a:cs typeface="Courier New" pitchFamily="34" charset="-120"/>
              </a:rPr>
              <a:t>def</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smoke_check</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expected_run_id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table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"gold_dst_run_log"</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"""After a deploy: the newest run must be ours, and it must have passed."""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log</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spark</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read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table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table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orderBy</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F</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col</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"finished_at"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desc</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latest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log</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first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assert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latest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is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not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None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"run log is empty: the pipeline never ran"</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got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latest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"run_id"</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assert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got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expected_run_id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t>
            </a:r>
            <a:pPr indent="0" marL="0">
              <a:buNone/>
            </a:pPr>
            <a:r>
              <a:rPr lang="en-US" sz="950" dirty="0">
                <a:solidFill>
                  <a:schemeClr val="accent3"/>
                </a:solidFill>
                <a:latin typeface="Courier New" pitchFamily="34" charset="0"/>
                <a:ea typeface="Courier New" pitchFamily="34" charset="-122"/>
                <a:cs typeface="Courier New" pitchFamily="34" charset="-120"/>
              </a:rPr>
              <a:t>"newest run is {got}, not {expected_run_id}"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status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latest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"status"</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assert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status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"passed"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t>
            </a:r>
            <a:pPr indent="0" marL="0">
              <a:buNone/>
            </a:pPr>
            <a:r>
              <a:rPr lang="en-US" sz="950" dirty="0">
                <a:solidFill>
                  <a:schemeClr val="accent3"/>
                </a:solidFill>
                <a:latin typeface="Courier New" pitchFamily="34" charset="0"/>
                <a:ea typeface="Courier New" pitchFamily="34" charset="-122"/>
                <a:cs typeface="Courier New" pitchFamily="34" charset="-120"/>
              </a:rPr>
              <a:t>"run {expected_run_id} finished {status}"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return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latest</a:t>
            </a:r>
            <a:endParaRPr lang="en-US" sz="950" dirty="0"/>
          </a:p>
        </p:txBody>
      </p:sp>
      <p:sp>
        <p:nvSpPr>
          <p:cNvPr id="8" name="Parameter file"/>
          <p:cNvSpPr/>
          <p:nvPr/>
        </p:nvSpPr>
        <p:spPr>
          <a:xfrm>
            <a:off x="7068312" y="1783080"/>
            <a:ext cx="4574743" cy="2482596"/>
          </a:xfrm>
          <a:prstGeom prst="roundRect">
            <a:avLst>
              <a:gd name="adj" fmla="val 3683"/>
            </a:avLst>
          </a:prstGeom>
          <a:solidFill>
            <a:schemeClr val="tx1"/>
          </a:solidFill>
          <a:ln/>
        </p:spPr>
      </p:sp>
      <p:sp>
        <p:nvSpPr>
          <p:cNvPr id="9" name="Code label"/>
          <p:cNvSpPr txBox="1"/>
          <p:nvPr/>
        </p:nvSpPr>
        <p:spPr>
          <a:xfrm>
            <a:off x="7269480" y="1874520"/>
            <a:ext cx="4172407"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FABRIC/PARAMETER.YML</a:t>
            </a:r>
            <a:endParaRPr lang="en-US" sz="1000" dirty="0"/>
          </a:p>
        </p:txBody>
      </p:sp>
      <p:sp>
        <p:nvSpPr>
          <p:cNvPr id="10" name="Parameter file text"/>
          <p:cNvSpPr txBox="1"/>
          <p:nvPr/>
        </p:nvSpPr>
        <p:spPr>
          <a:xfrm>
            <a:off x="7269480" y="2167128"/>
            <a:ext cx="4172407" cy="1988820"/>
          </a:xfrm>
          <a:prstGeom prst="rect">
            <a:avLst/>
          </a:prstGeom>
          <a:noFill/>
          <a:ln/>
        </p:spPr>
        <p:txBody>
          <a:bodyPr wrap="square" lIns="0" tIns="0" rIns="0" bIns="0" rtlCol="0" anchor="t"/>
          <a:lstStyle/>
          <a:p>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fabric/parameter.yml:</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what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changes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per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environment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find_replace: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The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typed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into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notebook</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cell</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find_value: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"11111111-aaaa-4bbb-8ccc-222222222222"</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replace_value: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"$workspace.$id"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"$workspace.$id"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item_type: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"Notebook"</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The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lakehouse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look</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up</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by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the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target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find_value: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"33333333-dddd-4eee-8fff-444444444444"</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replace_value: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"$items.Lakehouse.lh_dst.$id"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"$items.Lakehouse.lh_dst.$id"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item_type: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"Notebook"</a:t>
            </a:r>
            <a:endParaRPr lang="en-US" sz="900" dirty="0"/>
          </a:p>
        </p:txBody>
      </p:sp>
      <p:sp>
        <p:nvSpPr>
          <p:cNvPr id="11" name="Smoke note card"/>
          <p:cNvSpPr/>
          <p:nvPr/>
        </p:nvSpPr>
        <p:spPr>
          <a:xfrm>
            <a:off x="548640" y="4526280"/>
            <a:ext cx="11094415" cy="1234440"/>
          </a:xfrm>
          <a:prstGeom prst="roundRect">
            <a:avLst>
              <a:gd name="adj" fmla="val 8889"/>
            </a:avLst>
          </a:prstGeom>
          <a:solidFill>
            <a:schemeClr val="accent2">
              <a:alpha val="18000"/>
            </a:schemeClr>
          </a:solidFill>
          <a:ln/>
        </p:spPr>
      </p:sp>
      <p:sp>
        <p:nvSpPr>
          <p:cNvPr id="12" name="Smoke note text"/>
          <p:cNvSpPr txBox="1"/>
          <p:nvPr/>
        </p:nvSpPr>
        <p:spPr>
          <a:xfrm>
            <a:off x="822960" y="4526280"/>
            <a:ext cx="10545775" cy="1234440"/>
          </a:xfrm>
          <a:prstGeom prst="rect">
            <a:avLst/>
          </a:prstGeom>
          <a:noFill/>
          <a:ln/>
        </p:spPr>
        <p:txBody>
          <a:bodyPr wrap="square" lIns="0" tIns="0" rIns="0" bIns="0" rtlCol="0" anchor="ctr"/>
          <a:lstStyle/>
          <a:p>
            <a:pPr indent="0" marL="0">
              <a:buNone/>
            </a:pPr>
            <a:r>
              <a:rPr lang="en-US" sz="1350" b="1" dirty="0">
                <a:solidFill>
                  <a:schemeClr val="tx1"/>
                </a:solidFill>
              </a:rPr>
              <a:t>How to read them. </a:t>
            </a:r>
            <a:pPr indent="0" marL="0">
              <a:buNone/>
            </a:pPr>
            <a:r>
              <a:rPr lang="en-US" sz="1350" dirty="0">
                <a:solidFill>
                  <a:schemeClr val="tx1"/>
                </a:solidFill>
              </a:rPr>
              <a:t>smoke_check is written for a notebook or Spark session in the target workspace, and assumes spark and pyspark.sql.functions as F. Call it with the run ID of the run you started. parameter.yml holds made-up IDs here: the left value is what DEV has, the right values are looked up by name in the target.</a:t>
            </a:r>
            <a:endParaRPr lang="en-US" sz="1350" dirty="0"/>
          </a:p>
        </p:txBody>
      </p:sp>
      <p:sp>
        <p:nvSpPr>
          <p:cNvPr id="13"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smoke_check run on real Delta tables. Parameter engine run offline with stubbed lookups. No tenant touched.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DEPLOYMENT FILES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deploy.py: publish the repository to one environment</a:t>
            </a:r>
            <a:endParaRPr lang="en-US" sz="3200" dirty="0"/>
          </a:p>
        </p:txBody>
      </p:sp>
      <p:sp>
        <p:nvSpPr>
          <p:cNvPr id="5" name="Deploy script"/>
          <p:cNvSpPr/>
          <p:nvPr/>
        </p:nvSpPr>
        <p:spPr>
          <a:xfrm>
            <a:off x="548640" y="1783080"/>
            <a:ext cx="11094415" cy="4210177"/>
          </a:xfrm>
          <a:prstGeom prst="roundRect">
            <a:avLst>
              <a:gd name="adj" fmla="val 2172"/>
            </a:avLst>
          </a:prstGeom>
          <a:solidFill>
            <a:schemeClr val="tx1"/>
          </a:solidFill>
          <a:ln/>
        </p:spPr>
      </p:sp>
      <p:sp>
        <p:nvSpPr>
          <p:cNvPr id="6" name="Code label"/>
          <p:cNvSpPr txBox="1"/>
          <p:nvPr/>
        </p:nvSpPr>
        <p:spPr>
          <a:xfrm>
            <a:off x="749808" y="1874520"/>
            <a:ext cx="10692079"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DEPLOY.PY</a:t>
            </a:r>
            <a:endParaRPr lang="en-US" sz="1000" dirty="0"/>
          </a:p>
        </p:txBody>
      </p:sp>
      <p:sp>
        <p:nvSpPr>
          <p:cNvPr id="7" name="Deploy script text"/>
          <p:cNvSpPr txBox="1"/>
          <p:nvPr/>
        </p:nvSpPr>
        <p:spPr>
          <a:xfrm>
            <a:off x="749808" y="2167128"/>
            <a:ext cx="10692079" cy="3716401"/>
          </a:xfrm>
          <a:prstGeom prst="rect">
            <a:avLst/>
          </a:prstGeom>
          <a:noFill/>
          <a:ln/>
        </p:spPr>
        <p:txBody>
          <a:bodyPr wrap="square" lIns="0" tIns="0" rIns="0" bIns="0" rtlCol="0" anchor="t"/>
          <a:lstStyle/>
          <a:p>
            <a:pPr indent="0" marL="0">
              <a:buNone/>
            </a:pPr>
            <a:r>
              <a:rPr lang="en-US" sz="950" dirty="0">
                <a:solidFill>
                  <a:schemeClr val="accent3"/>
                </a:solidFill>
                <a:latin typeface="Courier New" pitchFamily="34" charset="0"/>
                <a:ea typeface="Courier New" pitchFamily="34" charset="-122"/>
                <a:cs typeface="Courier New" pitchFamily="34" charset="-120"/>
              </a:rPr>
              <a:t>"""Publish the repository's Fabric items to one environment."""</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import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argparse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from</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azure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identity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import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AzureCliCredential</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from</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fabric_cicd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import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FabricWorkspace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publish_all_items</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from</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fabric_cicd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import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unpublish_all_orphan_items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parser</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argparse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ArgumentParser</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parser</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add_argument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"--env"</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required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2"/>
                </a:solidFill>
                <a:latin typeface="Courier New" pitchFamily="34" charset="0"/>
                <a:ea typeface="Courier New" pitchFamily="34" charset="-122"/>
                <a:cs typeface="Courier New" pitchFamily="34" charset="-120"/>
              </a:rPr>
              <a:t>True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choices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"TEST"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"PROD"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parser</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add_argument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"--workspace-id"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required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2"/>
                </a:solidFill>
                <a:latin typeface="Courier New" pitchFamily="34" charset="0"/>
                <a:ea typeface="Courier New" pitchFamily="34" charset="-122"/>
                <a:cs typeface="Courier New" pitchFamily="34" charset="-120"/>
              </a:rPr>
              <a:t>True</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parser</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add_argument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"--cleanup"</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action</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"store_true"</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help</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"also remove items that are not in the repo"</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args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parser</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parse_args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workspace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FabricWorkspace</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workspace_id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args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workspace_id</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environment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args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env</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i="1" dirty="0">
                <a:solidFill>
                  <a:schemeClr val="accent5"/>
                </a:solidFill>
                <a:latin typeface="Courier New" pitchFamily="34" charset="0"/>
                <a:ea typeface="Courier New" pitchFamily="34" charset="-122"/>
                <a:cs typeface="Courier New" pitchFamily="34" charset="-120"/>
              </a:rPr>
              <a:t># picks the column in parameter.yml</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repository_directory</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"fabric"</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item_type_in_scope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"Lakehouse"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"Notebook"</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"DataPipeline"</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"SemanticModel"</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"Report"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token_credential</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AzureCliCredential</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i="1" dirty="0">
                <a:solidFill>
                  <a:schemeClr val="accent5"/>
                </a:solidFill>
                <a:latin typeface="Courier New" pitchFamily="34" charset="0"/>
                <a:ea typeface="Courier New" pitchFamily="34" charset="-122"/>
                <a:cs typeface="Courier New" pitchFamily="34" charset="-120"/>
              </a:rPr>
              <a:t># the service connection</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publish_all_items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workspace</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if</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args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cleanup</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unpublish_all_orphan_items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workspace</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p:txBody>
      </p:sp>
      <p:sp>
        <p:nvSpPr>
          <p:cNvPr id="8"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Checked against the real fabric-cicd 1.4.0 signature, and --help runs. Not run against a tenant.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THE PIPELINE FILE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azure-pipelines.yml, part 1: triggers, rails and TEST</a:t>
            </a:r>
            <a:endParaRPr lang="en-US" sz="3200" dirty="0"/>
          </a:p>
        </p:txBody>
      </p:sp>
      <p:sp>
        <p:nvSpPr>
          <p:cNvPr id="5" name="Pipeline part 1"/>
          <p:cNvSpPr/>
          <p:nvPr/>
        </p:nvSpPr>
        <p:spPr>
          <a:xfrm>
            <a:off x="548640" y="1783080"/>
            <a:ext cx="5760720" cy="4016502"/>
          </a:xfrm>
          <a:prstGeom prst="roundRect">
            <a:avLst>
              <a:gd name="adj" fmla="val 2277"/>
            </a:avLst>
          </a:prstGeom>
          <a:solidFill>
            <a:schemeClr val="tx1"/>
          </a:solidFill>
          <a:ln/>
        </p:spPr>
      </p:sp>
      <p:sp>
        <p:nvSpPr>
          <p:cNvPr id="6" name="Code label"/>
          <p:cNvSpPr txBox="1"/>
          <p:nvPr/>
        </p:nvSpPr>
        <p:spPr>
          <a:xfrm>
            <a:off x="749808" y="1874520"/>
            <a:ext cx="535838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TRIGGERS AND THE RAILS STAGE</a:t>
            </a:r>
            <a:endParaRPr lang="en-US" sz="1000" dirty="0"/>
          </a:p>
        </p:txBody>
      </p:sp>
      <p:sp>
        <p:nvSpPr>
          <p:cNvPr id="7" name="Pipeline part 1 text"/>
          <p:cNvSpPr txBox="1"/>
          <p:nvPr/>
        </p:nvSpPr>
        <p:spPr>
          <a:xfrm>
            <a:off x="749808" y="2167128"/>
            <a:ext cx="5358384" cy="3522726"/>
          </a:xfrm>
          <a:prstGeom prst="rect">
            <a:avLst/>
          </a:prstGeom>
          <a:noFill/>
          <a:ln/>
        </p:spPr>
        <p:txBody>
          <a:bodyPr wrap="square" lIns="0" tIns="0" rIns="0" bIns="0" rtlCol="0" anchor="t"/>
          <a:lstStyle/>
          <a:p>
            <a:pPr indent="0" marL="0">
              <a:buNone/>
            </a:pPr>
            <a:r>
              <a:rPr lang="en-US" sz="900" dirty="0">
                <a:solidFill>
                  <a:schemeClr val="bg1"/>
                </a:solidFill>
                <a:latin typeface="Courier New" pitchFamily="34" charset="0"/>
                <a:ea typeface="Courier New" pitchFamily="34" charset="-122"/>
                <a:cs typeface="Courier New" pitchFamily="34" charset="-120"/>
              </a:rPr>
              <a:t>trigger:</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branches: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include: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[main]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pr:</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branches: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include: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[main]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stages: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stage: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(every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change)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jobs: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job:</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checks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pool:</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{vmImage: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ubuntu-latest}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steps: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sync</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--frozen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rails/scan_ids.py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hard-coded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IDs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secrets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rails/check_commit_msg.py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origin/main..HEAD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Commit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messages</a:t>
            </a:r>
            <a:endParaRPr lang="en-US" sz="900" dirty="0"/>
          </a:p>
        </p:txBody>
      </p:sp>
      <p:sp>
        <p:nvSpPr>
          <p:cNvPr id="8" name="Pipeline part 2"/>
          <p:cNvSpPr/>
          <p:nvPr/>
        </p:nvSpPr>
        <p:spPr>
          <a:xfrm>
            <a:off x="6400800" y="1783080"/>
            <a:ext cx="5242255" cy="4016502"/>
          </a:xfrm>
          <a:prstGeom prst="roundRect">
            <a:avLst>
              <a:gd name="adj" fmla="val 2277"/>
            </a:avLst>
          </a:prstGeom>
          <a:solidFill>
            <a:schemeClr val="tx1"/>
          </a:solidFill>
          <a:ln/>
        </p:spPr>
      </p:sp>
      <p:sp>
        <p:nvSpPr>
          <p:cNvPr id="9" name="Code label"/>
          <p:cNvSpPr txBox="1"/>
          <p:nvPr/>
        </p:nvSpPr>
        <p:spPr>
          <a:xfrm>
            <a:off x="6601968" y="1874520"/>
            <a:ext cx="4839919"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THE TEST STAGE</a:t>
            </a:r>
            <a:endParaRPr lang="en-US" sz="1000" dirty="0"/>
          </a:p>
        </p:txBody>
      </p:sp>
      <p:sp>
        <p:nvSpPr>
          <p:cNvPr id="10" name="Pipeline part 2 text"/>
          <p:cNvSpPr txBox="1"/>
          <p:nvPr/>
        </p:nvSpPr>
        <p:spPr>
          <a:xfrm>
            <a:off x="6601968" y="2167128"/>
            <a:ext cx="4839919" cy="3522726"/>
          </a:xfrm>
          <a:prstGeom prst="rect">
            <a:avLst/>
          </a:prstGeom>
          <a:noFill/>
          <a:ln/>
        </p:spPr>
        <p:txBody>
          <a:bodyPr wrap="square" lIns="0" tIns="0" rIns="0" bIns="0" rtlCol="0" anchor="t"/>
          <a:lstStyle/>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stage: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dependsOn: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condition: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&gt;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and(succeeded(),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eq(variables['Build.SourceBranch'],</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'refs/heads/main'))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jobs: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deployment: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deploy_test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environment: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pool:</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{vmImage: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ubuntu-latest}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strategy:</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runOnce: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steps: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checkout: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self</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sync</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--frozen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task:</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AzureCLI@2</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Publish</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inputs: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azureSubscription: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sc-fabric-test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scriptType: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bash</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scriptLocation: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inlineScript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inlineScript: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$(TEST_WORKSPACE_ID)</a:t>
            </a:r>
            <a:endParaRPr lang="en-US" sz="900" dirty="0"/>
          </a:p>
        </p:txBody>
      </p:sp>
      <p:sp>
        <p:nvSpPr>
          <p:cNvPr id="11"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Placeholders: replace names, variables and service connections. Structure checked by parsing; not run in Azure DevOps.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THE PIPELINE FILE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azure-pipelines.yml, part 2: PROD versus TEST</a:t>
            </a:r>
            <a:endParaRPr lang="en-US" sz="3200" dirty="0"/>
          </a:p>
        </p:txBody>
      </p:sp>
      <p:sp>
        <p:nvSpPr>
          <p:cNvPr id="5" name="Pipeline part 3"/>
          <p:cNvSpPr/>
          <p:nvPr/>
        </p:nvSpPr>
        <p:spPr>
          <a:xfrm>
            <a:off x="548640" y="1783080"/>
            <a:ext cx="5760720" cy="4016502"/>
          </a:xfrm>
          <a:prstGeom prst="roundRect">
            <a:avLst>
              <a:gd name="adj" fmla="val 2277"/>
            </a:avLst>
          </a:prstGeom>
          <a:solidFill>
            <a:schemeClr val="tx1"/>
          </a:solidFill>
          <a:ln/>
        </p:spPr>
      </p:sp>
      <p:sp>
        <p:nvSpPr>
          <p:cNvPr id="6" name="Code label"/>
          <p:cNvSpPr txBox="1"/>
          <p:nvPr/>
        </p:nvSpPr>
        <p:spPr>
          <a:xfrm>
            <a:off x="749808" y="1874520"/>
            <a:ext cx="535838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THE PROD STAGE</a:t>
            </a:r>
            <a:endParaRPr lang="en-US" sz="1000" dirty="0"/>
          </a:p>
        </p:txBody>
      </p:sp>
      <p:sp>
        <p:nvSpPr>
          <p:cNvPr id="7" name="Pipeline part 3 text"/>
          <p:cNvSpPr txBox="1"/>
          <p:nvPr/>
        </p:nvSpPr>
        <p:spPr>
          <a:xfrm>
            <a:off x="749808" y="2167128"/>
            <a:ext cx="5358384" cy="3522726"/>
          </a:xfrm>
          <a:prstGeom prst="rect">
            <a:avLst/>
          </a:prstGeom>
          <a:noFill/>
          <a:ln/>
        </p:spPr>
        <p:txBody>
          <a:bodyPr wrap="square" lIns="0" tIns="0" rIns="0" bIns="0" rtlCol="0" anchor="t"/>
          <a:lstStyle/>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stage: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commit,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after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approval)</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dependsOn: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condition: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&gt;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and(succeeded(),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eq(variables['Build.SourceBranch'],</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'refs/heads/main'))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jobs: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deployment: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deploy_prod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environment: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fabric-prod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approvals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and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checks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live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here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pool:</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{vmImage: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ubuntu-latest}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strategy:</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runOnce: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steps: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checkout: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self</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sync</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--frozen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task:</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AzureCLI@2</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Publish</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inputs: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azureSubscription: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sc-fabric-prod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scriptType: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bash</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scriptLocation: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inlineScript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inlineScript: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$(PROD_WORKSPACE_ID)</a:t>
            </a:r>
            <a:endParaRPr lang="en-US" sz="900" dirty="0"/>
          </a:p>
        </p:txBody>
      </p:sp>
      <p:graphicFrame>
        <p:nvGraphicFramePr>
          <p:cNvPr id="82" name="TEST versus PROD"/>
          <p:cNvGraphicFramePr>
            <a:graphicFrameLocks noGrp="1"/>
          </p:cNvGraphicFramePr>
          <p:nvPr>
            <p:extLst>
              <p:ext uri="{D42A27DB-BD31-4B8C-83A1-F6EECF244321}">
                <p14:modId xmlns:p14="http://schemas.microsoft.com/office/powerpoint/2010/main" val="1579011935"/>
              </p:ext>
            </p:extLst>
          </p:nvPr>
        </p:nvGraphicFramePr>
        <p:xfrm>
          <a:off x="6400800" y="1783080"/>
          <a:ext cx="5242255" cy="914400"/>
        </p:xfrm>
        <a:graphic>
          <a:graphicData uri="http://schemas.openxmlformats.org/drawingml/2006/table">
            <a:tbl>
              <a:tblPr/>
              <a:tblGrid>
                <a:gridCol w="1600200"/>
                <a:gridCol w="1737360"/>
                <a:gridCol w="1901952"/>
              </a:tblGrid>
              <a:tr h="365760">
                <a:tc>
                  <a:txBody>
                    <a:bodyPr/>
                    <a:lstStyle/>
                    <a:p>
                      <a:pPr indent="0" marL="0">
                        <a:buNone/>
                      </a:pP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TEST</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PROD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100" b="1" dirty="0">
                          <a:solidFill>
                            <a:schemeClr val="tx1"/>
                          </a:solidFill>
                        </a:rPr>
                        <a:t>Runs when</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Rails pass, on main</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TEST passes</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00" b="1" dirty="0">
                          <a:solidFill>
                            <a:schemeClr val="tx1"/>
                          </a:solidFill>
                        </a:rPr>
                        <a:t>Environment</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fabric-test</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fabric-prod</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100" b="1" dirty="0">
                          <a:solidFill>
                            <a:schemeClr val="tx1"/>
                          </a:solidFill>
                        </a:rPr>
                        <a:t>Approval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Optional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Named approvers</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00" b="1" dirty="0">
                          <a:solidFill>
                            <a:schemeClr val="tx1"/>
                          </a:solidFill>
                        </a:rPr>
                        <a:t>Connection</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sc-fabric-test</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sc-fabric-prod</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100" b="1" dirty="0">
                          <a:solidFill>
                            <a:schemeClr val="tx1"/>
                          </a:solidFill>
                        </a:rPr>
                        <a:t>Workspace</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TEST_WORKSPACE_ID</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PROD_WORKSPACE_ID</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00" b="1" dirty="0">
                          <a:solidFill>
                            <a:schemeClr val="tx1"/>
                          </a:solidFill>
                        </a:rPr>
                        <a:t>The same</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Commit, deploy.py, parameter.yml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Commit, deploy.py, parameter.yml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9"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Placeholders: replace names, variables and service connections. Approvals are configured on the environment, not in this file.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THE GUARD HOOK</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guard.py: the whole hook</a:t>
            </a:r>
            <a:endParaRPr lang="en-US" sz="3200" dirty="0"/>
          </a:p>
        </p:txBody>
      </p:sp>
      <p:sp>
        <p:nvSpPr>
          <p:cNvPr id="5" name="Guard script part 1"/>
          <p:cNvSpPr/>
          <p:nvPr/>
        </p:nvSpPr>
        <p:spPr>
          <a:xfrm>
            <a:off x="548640" y="1783080"/>
            <a:ext cx="5504688" cy="4217924"/>
          </a:xfrm>
          <a:prstGeom prst="roundRect">
            <a:avLst>
              <a:gd name="adj" fmla="val 2168"/>
            </a:avLst>
          </a:prstGeom>
          <a:solidFill>
            <a:schemeClr val="tx1"/>
          </a:solidFill>
          <a:ln/>
        </p:spPr>
      </p:sp>
      <p:sp>
        <p:nvSpPr>
          <p:cNvPr id="6" name="Code label"/>
          <p:cNvSpPr txBox="1"/>
          <p:nvPr/>
        </p:nvSpPr>
        <p:spPr>
          <a:xfrm>
            <a:off x="749808" y="1874520"/>
            <a:ext cx="5102352"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GUARD.PY · PART 1 OF 2</a:t>
            </a:r>
            <a:endParaRPr lang="en-US" sz="1000" dirty="0"/>
          </a:p>
        </p:txBody>
      </p:sp>
      <p:sp>
        <p:nvSpPr>
          <p:cNvPr id="7" name="Guard script part 1 text"/>
          <p:cNvSpPr txBox="1"/>
          <p:nvPr/>
        </p:nvSpPr>
        <p:spPr>
          <a:xfrm>
            <a:off x="749808" y="2167128"/>
            <a:ext cx="5102352" cy="3724148"/>
          </a:xfrm>
          <a:prstGeom prst="rect">
            <a:avLst/>
          </a:prstGeom>
          <a:noFill/>
          <a:ln/>
        </p:spPr>
        <p:txBody>
          <a:bodyPr wrap="square" lIns="0" tIns="0" rIns="0" bIns="0" rtlCol="0" anchor="t"/>
          <a:lstStyle/>
          <a:p>
            <a:pPr indent="0" marL="0">
              <a:buNone/>
            </a:pPr>
            <a:r>
              <a:rPr lang="en-US" sz="850" dirty="0">
                <a:solidFill>
                  <a:schemeClr val="accent3"/>
                </a:solidFill>
                <a:latin typeface="Courier New" pitchFamily="34" charset="0"/>
                <a:ea typeface="Courier New" pitchFamily="34" charset="-122"/>
                <a:cs typeface="Courier New" pitchFamily="34" charset="-120"/>
              </a:rPr>
              <a:t>"""PreToolUse hook: stop the tired 6pm command. Not a security boundary."""</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import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json</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import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re</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import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subprocess</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import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sys</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PROTECTED</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"main"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"master"</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"prod"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"release"</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PROD</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"fabric-prod"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"--env PROD"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"lh_dst_prod"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i="1" dirty="0">
                <a:solidFill>
                  <a:schemeClr val="accent5"/>
                </a:solidFill>
                <a:latin typeface="Courier New" pitchFamily="34" charset="0"/>
                <a:ea typeface="Courier New" pitchFamily="34" charset="-122"/>
                <a:cs typeface="Courier New" pitchFamily="34" charset="-120"/>
              </a:rPr>
              <a:t># published literals</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START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a:t>
            </a:r>
            <a:pPr indent="0" marL="0">
              <a:buNone/>
            </a:pPr>
            <a:r>
              <a:rPr lang="en-US" sz="850" dirty="0">
                <a:solidFill>
                  <a:schemeClr val="accent3"/>
                </a:solidFill>
                <a:latin typeface="Courier New" pitchFamily="34" charset="0"/>
                <a:ea typeface="Courier New" pitchFamily="34" charset="-122"/>
                <a:cs typeface="Courier New" pitchFamily="34" charset="-120"/>
              </a:rPr>
              <a:t>"(?:^|[;&amp;|(]\s*)"</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i="1" dirty="0">
                <a:solidFill>
                  <a:schemeClr val="accent5"/>
                </a:solidFill>
                <a:latin typeface="Courier New" pitchFamily="34" charset="0"/>
                <a:ea typeface="Courier New" pitchFamily="34" charset="-122"/>
                <a:cs typeface="Courier New" pitchFamily="34" charset="-120"/>
              </a:rPr>
              <a:t># start of a command, not text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PIP</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START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a:t>
            </a:r>
            <a:pPr indent="0" marL="0">
              <a:buNone/>
            </a:pPr>
            <a:r>
              <a:rPr lang="en-US" sz="850" dirty="0">
                <a:solidFill>
                  <a:schemeClr val="accent3"/>
                </a:solidFill>
                <a:latin typeface="Courier New" pitchFamily="34" charset="0"/>
                <a:ea typeface="Courier New" pitchFamily="34" charset="-122"/>
                <a:cs typeface="Courier New" pitchFamily="34" charset="-120"/>
              </a:rPr>
              <a:t>"(?:python3?\s+-m\s+)?pip3?\s+install\b"</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PUSH</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START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a:t>
            </a:r>
            <a:pPr indent="0" marL="0">
              <a:buNone/>
            </a:pPr>
            <a:r>
              <a:rPr lang="en-US" sz="850" dirty="0">
                <a:solidFill>
                  <a:schemeClr val="accent3"/>
                </a:solidFill>
                <a:latin typeface="Courier New" pitchFamily="34" charset="0"/>
                <a:ea typeface="Courier New" pitchFamily="34" charset="-122"/>
                <a:cs typeface="Courier New" pitchFamily="34" charset="-120"/>
              </a:rPr>
              <a:t>"git\s+push\b"</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FORCE</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a:t>
            </a:r>
            <a:pPr indent="0" marL="0">
              <a:buNone/>
            </a:pPr>
            <a:r>
              <a:rPr lang="en-US" sz="850" dirty="0">
                <a:solidFill>
                  <a:schemeClr val="accent3"/>
                </a:solidFill>
                <a:latin typeface="Courier New" pitchFamily="34" charset="0"/>
                <a:ea typeface="Courier New" pitchFamily="34" charset="-122"/>
                <a:cs typeface="Courier New" pitchFamily="34" charset="-120"/>
              </a:rPr>
              <a:t>"\s(--force\b|--force-with-lease\b|-f\b)"</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def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current_branch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out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subprocess</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run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"git"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"rev-parse"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"--abbrev-ref"</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"HEAD"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capture_output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2"/>
                </a:solidFill>
                <a:latin typeface="Courier New" pitchFamily="34" charset="0"/>
                <a:ea typeface="Courier New" pitchFamily="34" charset="-122"/>
                <a:cs typeface="Courier New" pitchFamily="34" charset="-120"/>
              </a:rPr>
              <a:t>True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text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2"/>
                </a:solidFill>
                <a:latin typeface="Courier New" pitchFamily="34" charset="0"/>
                <a:ea typeface="Courier New" pitchFamily="34" charset="-122"/>
                <a:cs typeface="Courier New" pitchFamily="34" charset="-120"/>
              </a:rPr>
              <a:t>True</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return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out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stdout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strip</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p:txBody>
      </p:sp>
      <p:sp>
        <p:nvSpPr>
          <p:cNvPr id="8" name="Guard script part 2"/>
          <p:cNvSpPr/>
          <p:nvPr/>
        </p:nvSpPr>
        <p:spPr>
          <a:xfrm>
            <a:off x="6144768" y="1783080"/>
            <a:ext cx="5498287" cy="4217924"/>
          </a:xfrm>
          <a:prstGeom prst="roundRect">
            <a:avLst>
              <a:gd name="adj" fmla="val 2168"/>
            </a:avLst>
          </a:prstGeom>
          <a:solidFill>
            <a:schemeClr val="tx1"/>
          </a:solidFill>
          <a:ln/>
        </p:spPr>
      </p:sp>
      <p:sp>
        <p:nvSpPr>
          <p:cNvPr id="9" name="Code label"/>
          <p:cNvSpPr txBox="1"/>
          <p:nvPr/>
        </p:nvSpPr>
        <p:spPr>
          <a:xfrm>
            <a:off x="6345936" y="1874520"/>
            <a:ext cx="5095951"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GUARD.PY · PART 2 OF 2</a:t>
            </a:r>
            <a:endParaRPr lang="en-US" sz="1000" dirty="0"/>
          </a:p>
        </p:txBody>
      </p:sp>
      <p:sp>
        <p:nvSpPr>
          <p:cNvPr id="10" name="Guard script part 2 text"/>
          <p:cNvSpPr txBox="1"/>
          <p:nvPr/>
        </p:nvSpPr>
        <p:spPr>
          <a:xfrm>
            <a:off x="6345936" y="2167128"/>
            <a:ext cx="5095951" cy="3724148"/>
          </a:xfrm>
          <a:prstGeom prst="rect">
            <a:avLst/>
          </a:prstGeom>
          <a:noFill/>
          <a:ln/>
        </p:spPr>
        <p:txBody>
          <a:bodyPr wrap="square" lIns="0" tIns="0" rIns="0" bIns="0" rtlCol="0" anchor="t"/>
          <a:lstStyle/>
          <a:p>
            <a:pPr indent="0" marL="0">
              <a:buNone/>
            </a:pPr>
            <a:r>
              <a:rPr lang="en-US" sz="850" dirty="0">
                <a:solidFill>
                  <a:schemeClr val="accent2"/>
                </a:solidFill>
                <a:latin typeface="Courier New" pitchFamily="34" charset="0"/>
                <a:ea typeface="Courier New" pitchFamily="34" charset="-122"/>
                <a:cs typeface="Courier New" pitchFamily="34" charset="-120"/>
              </a:rPr>
              <a:t>def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decide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"""Return (decision, reason) or None. Every rule matches a literal."""</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search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PIP</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return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"deny"</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"pip install is blocked. Use: uv add &lt;package&gt;"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search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PUSH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and</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search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FORCE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words</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findall</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r</a:t>
            </a:r>
            <a:pPr indent="0" marL="0">
              <a:buNone/>
            </a:pPr>
            <a:r>
              <a:rPr lang="en-US" sz="850" dirty="0">
                <a:solidFill>
                  <a:schemeClr val="accent3"/>
                </a:solidFill>
                <a:latin typeface="Courier New" pitchFamily="34" charset="0"/>
                <a:ea typeface="Courier New" pitchFamily="34" charset="-122"/>
                <a:cs typeface="Courier New" pitchFamily="34" charset="-120"/>
              </a:rPr>
              <a:t>"[\w./:-]+"</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split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"push"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6"/>
                </a:solidFill>
                <a:latin typeface="Courier New" pitchFamily="34" charset="0"/>
                <a:ea typeface="Courier New" pitchFamily="34" charset="-122"/>
                <a:cs typeface="Courier New" pitchFamily="34" charset="-120"/>
              </a:rPr>
              <a:t>1</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6"/>
                </a:solidFill>
                <a:latin typeface="Courier New" pitchFamily="34" charset="0"/>
                <a:ea typeface="Courier New" pitchFamily="34" charset="-122"/>
                <a:cs typeface="Courier New" pitchFamily="34" charset="-120"/>
              </a:rPr>
              <a:t>1</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target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w</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split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6"/>
                </a:solidFill>
                <a:latin typeface="Courier New" pitchFamily="34" charset="0"/>
                <a:ea typeface="Courier New" pitchFamily="34" charset="-122"/>
                <a:cs typeface="Courier New" pitchFamily="34" charset="-120"/>
              </a:rPr>
              <a:t>1</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split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6"/>
                </a:solidFill>
                <a:latin typeface="Courier New" pitchFamily="34" charset="0"/>
                <a:ea typeface="Courier New" pitchFamily="34" charset="-122"/>
                <a:cs typeface="Courier New" pitchFamily="34" charset="-120"/>
              </a:rPr>
              <a:t>1</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for</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w</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words</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not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w</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startswith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not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target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"origin"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i="1" dirty="0">
                <a:solidFill>
                  <a:schemeClr val="accent5"/>
                </a:solidFill>
                <a:latin typeface="Courier New" pitchFamily="34" charset="0"/>
                <a:ea typeface="Courier New" pitchFamily="34" charset="-122"/>
                <a:cs typeface="Courier New" pitchFamily="34" charset="-120"/>
              </a:rPr>
              <a:t># no branch named</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target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current_branch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target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&amp;</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PROTECTED</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return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"deny"</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"Force push to a protected branch: open a PR."</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any</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p</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for</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p</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PROD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return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"ask"</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"This command names a PROD identifier. Confirm."</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return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None</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__name__</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"__main__"</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event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json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load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sys</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stdin</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tool</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event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get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"tool_name"</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verdict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None</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tool</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"Bash"</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verdict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decide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event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get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"tool_input"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get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verdict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print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json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dumps</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"hookSpecificOutput"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"hookEventName"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"PreToolUse"</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"permissionDecision"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verdict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6"/>
                </a:solidFill>
                <a:latin typeface="Courier New" pitchFamily="34" charset="0"/>
                <a:ea typeface="Courier New" pitchFamily="34" charset="-122"/>
                <a:cs typeface="Courier New" pitchFamily="34" charset="-120"/>
              </a:rPr>
              <a:t>0</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"permissionDecisionReason"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verdict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6"/>
                </a:solidFill>
                <a:latin typeface="Courier New" pitchFamily="34" charset="0"/>
                <a:ea typeface="Courier New" pitchFamily="34" charset="-122"/>
                <a:cs typeface="Courier New" pitchFamily="34" charset="-120"/>
              </a:rPr>
              <a:t>1</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p:txBody>
      </p:sp>
      <p:sp>
        <p:nvSpPr>
          <p:cNvPr id="11"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Standard library only. A guard against mistakes, not a security boundary.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THE GUARD HOOK</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Wiring the guard, and the thirteen checks it passed</a:t>
            </a:r>
            <a:endParaRPr lang="en-US" sz="3200" dirty="0"/>
          </a:p>
        </p:txBody>
      </p:sp>
      <p:sp>
        <p:nvSpPr>
          <p:cNvPr id="5" name="Hook settings"/>
          <p:cNvSpPr/>
          <p:nvPr/>
        </p:nvSpPr>
        <p:spPr>
          <a:xfrm>
            <a:off x="548640" y="1783080"/>
            <a:ext cx="5029200" cy="2234692"/>
          </a:xfrm>
          <a:prstGeom prst="roundRect">
            <a:avLst>
              <a:gd name="adj" fmla="val 4092"/>
            </a:avLst>
          </a:prstGeom>
          <a:solidFill>
            <a:schemeClr val="tx1"/>
          </a:solidFill>
          <a:ln/>
        </p:spPr>
      </p:sp>
      <p:sp>
        <p:nvSpPr>
          <p:cNvPr id="6" name="Code label"/>
          <p:cNvSpPr txBox="1"/>
          <p:nvPr/>
        </p:nvSpPr>
        <p:spPr>
          <a:xfrm>
            <a:off x="749808" y="1874520"/>
            <a:ext cx="4626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SETTINGS.JSON · ONE ASSISTANT'S SHAPE</a:t>
            </a:r>
            <a:endParaRPr lang="en-US" sz="1000" dirty="0"/>
          </a:p>
        </p:txBody>
      </p:sp>
      <p:sp>
        <p:nvSpPr>
          <p:cNvPr id="7" name="Hook settings text"/>
          <p:cNvSpPr txBox="1"/>
          <p:nvPr/>
        </p:nvSpPr>
        <p:spPr>
          <a:xfrm>
            <a:off x="749808" y="2167128"/>
            <a:ext cx="4626864" cy="174091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"hooks":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"PreToolUse":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"matcher":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"Bash",</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"hooks":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"type":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"command",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"command":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"python3</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hooks/guard.py"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8" name="Hook caveat card"/>
          <p:cNvSpPr/>
          <p:nvPr/>
        </p:nvSpPr>
        <p:spPr>
          <a:xfrm>
            <a:off x="548640" y="4154932"/>
            <a:ext cx="5029200" cy="1463040"/>
          </a:xfrm>
          <a:prstGeom prst="roundRect">
            <a:avLst>
              <a:gd name="adj" fmla="val 7500"/>
            </a:avLst>
          </a:prstGeom>
          <a:solidFill>
            <a:schemeClr val="accent3">
              <a:alpha val="22000"/>
            </a:schemeClr>
          </a:solidFill>
          <a:ln/>
        </p:spPr>
      </p:sp>
      <p:sp>
        <p:nvSpPr>
          <p:cNvPr id="9" name="Hook caveat text"/>
          <p:cNvSpPr txBox="1"/>
          <p:nvPr/>
        </p:nvSpPr>
        <p:spPr>
          <a:xfrm>
            <a:off x="777240" y="4154932"/>
            <a:ext cx="4572000" cy="1463040"/>
          </a:xfrm>
          <a:prstGeom prst="rect">
            <a:avLst/>
          </a:prstGeom>
          <a:noFill/>
          <a:ln/>
        </p:spPr>
        <p:txBody>
          <a:bodyPr wrap="square" lIns="0" tIns="0" rIns="0" bIns="0" rtlCol="0" anchor="ctr"/>
          <a:lstStyle/>
          <a:p>
            <a:pPr indent="0" marL="0">
              <a:buNone/>
            </a:pPr>
            <a:r>
              <a:rPr lang="en-US" sz="1350" b="1" dirty="0">
                <a:solidFill>
                  <a:schemeClr val="tx1"/>
                </a:solidFill>
              </a:rPr>
              <a:t>Simulated, not live. </a:t>
            </a:r>
            <a:pPr indent="0" marL="0">
              <a:buNone/>
            </a:pPr>
            <a:r>
              <a:rPr lang="en-US" sz="1350" dirty="0">
                <a:solidFill>
                  <a:schemeClr val="tx1"/>
                </a:solidFill>
              </a:rPr>
              <a:t>The checks fed the script made-up tool calls. Configuration keys differ between assistants, so confirm yours.</a:t>
            </a:r>
            <a:endParaRPr lang="en-US" sz="1350" dirty="0"/>
          </a:p>
        </p:txBody>
      </p:sp>
      <p:sp>
        <p:nvSpPr>
          <p:cNvPr id="10" name="Guard tests"/>
          <p:cNvSpPr/>
          <p:nvPr/>
        </p:nvSpPr>
        <p:spPr>
          <a:xfrm>
            <a:off x="5715000" y="1783080"/>
            <a:ext cx="5928055" cy="2591054"/>
          </a:xfrm>
          <a:prstGeom prst="roundRect">
            <a:avLst>
              <a:gd name="adj" fmla="val 3529"/>
            </a:avLst>
          </a:prstGeom>
          <a:solidFill>
            <a:schemeClr val="tx1"/>
          </a:solidFill>
          <a:ln/>
        </p:spPr>
      </p:sp>
      <p:sp>
        <p:nvSpPr>
          <p:cNvPr id="11" name="Code label"/>
          <p:cNvSpPr txBox="1"/>
          <p:nvPr/>
        </p:nvSpPr>
        <p:spPr>
          <a:xfrm>
            <a:off x="5916168" y="1874520"/>
            <a:ext cx="5525719"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OUTPUT OF THE GUARD TEST SCRIPT</a:t>
            </a:r>
            <a:endParaRPr lang="en-US" sz="1000" dirty="0"/>
          </a:p>
        </p:txBody>
      </p:sp>
      <p:sp>
        <p:nvSpPr>
          <p:cNvPr id="12" name="Guard tests text"/>
          <p:cNvSpPr txBox="1"/>
          <p:nvPr/>
        </p:nvSpPr>
        <p:spPr>
          <a:xfrm>
            <a:off x="5916168" y="2167128"/>
            <a:ext cx="5525719" cy="2097278"/>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allow</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add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fabric-cicd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deny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pip</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install</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fabric-cicd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deny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cd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app</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&amp;&amp;</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python3</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-m</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pip</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install</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requests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allow</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echo</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'never</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run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pip</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install</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here'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allow</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git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push</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origin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feat/AB1002-tighter-gate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allow</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git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push</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--force-with-lease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origin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feat/AB1002-tighter-gate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deny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git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push</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--force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origin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main</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deny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git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push</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origin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HEAD:main</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deny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git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push</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--force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origin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HEAD:refs/heads/release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allow</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python3</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deploy.py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--env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TEST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--workspace-id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$TEST_WORKSPACE_ID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ask</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python3</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deploy.py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--env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PROD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--workspace-id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$PROD_WORKSPACE_ID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ask</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az</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pipelines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run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--name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fabric-prod-release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non-Bash</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tool</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ignored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GUARD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OK</a:t>
            </a:r>
            <a:endParaRPr lang="en-US" sz="950" dirty="0"/>
          </a:p>
        </p:txBody>
      </p:sp>
      <p:sp>
        <p:nvSpPr>
          <p:cNvPr id="13"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Allow means the guard says nothing and the command proceeds.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AI PROMPT LIBRARY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AI prompt library: six asks for the DevOps loop</a:t>
            </a:r>
            <a:endParaRPr lang="en-US" sz="3200" dirty="0"/>
          </a:p>
        </p:txBody>
      </p:sp>
      <p:graphicFrame>
        <p:nvGraphicFramePr>
          <p:cNvPr id="85" name="Prompt library"/>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103120"/>
                <a:gridCol w="8991295"/>
              </a:tblGrid>
              <a:tr h="365760">
                <a:tc>
                  <a:txBody>
                    <a:bodyPr/>
                    <a:lstStyle/>
                    <a:p>
                      <a:pPr indent="0" marL="0">
                        <a:buNone/>
                      </a:pPr>
                      <a:r>
                        <a:rPr lang="en-US" sz="1150" b="1" dirty="0">
                          <a:solidFill>
                            <a:schemeClr val="bg1"/>
                          </a:solidFill>
                        </a:rPr>
                        <a:t>Use it to</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Prompt (replace the brackets, paste the material below it)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603504">
                <a:tc>
                  <a:txBody>
                    <a:bodyPr/>
                    <a:lstStyle/>
                    <a:p>
                      <a:pPr indent="0" marL="0">
                        <a:buNone/>
                      </a:pPr>
                      <a:r>
                        <a:rPr lang="en-US" sz="1150" b="1" dirty="0">
                          <a:solidFill>
                            <a:schemeClr val="tx1"/>
                          </a:solidFill>
                        </a:rPr>
                        <a:t>Commit message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Here is my staged diff and work item AB#[id]. Write one Conventional Commits message: subject under 72 characters, body naming the work item. Message only.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150" b="1" dirty="0">
                          <a:solidFill>
                            <a:schemeClr val="tx1"/>
                          </a:solidFill>
                        </a:rPr>
                        <a:t>Pull request text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From this diff and these commit messages, write a pull request description with four headings: what changed, why (AB#[id]), how it was tested, look twice. Leave the test results blank for me.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150" b="1" dirty="0">
                          <a:solidFill>
                            <a:schemeClr val="tx1"/>
                          </a:solidFill>
                        </a:rPr>
                        <a:t>Explain a conflict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Here is a merge conflict in [file]. Say what each side changed and why they collide, in three sentences. Do not resolve it: I will decide which business rule wins.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150" b="1" dirty="0">
                          <a:solidFill>
                            <a:schemeClr val="tx1"/>
                          </a:solidFill>
                        </a:rPr>
                        <a:t>Review a change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Review this diff for hard-coded IDs, secrets, a gate that stops before it logs, and anything specific to PROD. List findings by severity with line numbers, and mark any you are unsure of.</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150" b="1" dirty="0">
                          <a:solidFill>
                            <a:schemeClr val="tx1"/>
                          </a:solidFill>
                        </a:rPr>
                        <a:t>Triage a failed run</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 pipeline run failed. The error, the newest run-log rows and the cell that raised it are below. Give the cause in two sentences, what to check next and the smallest fix as a diff. Touch no other files.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150" b="1" dirty="0">
                          <a:solidFill>
                            <a:schemeClr val="tx1"/>
                          </a:solidFill>
                        </a:rPr>
                        <a:t>Draft a pipeline stage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Add a stage that runs deploy.py for [env] with service connection [name]. Use uv, never pip. Put no IDs or secrets in the file; take them from variables. Output that stage's YAML only.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Never paste production data, personal information or secrets. Check every answer with a rail or a person.</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GLOSSARY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Glossary: terms from Part 5</a:t>
            </a:r>
            <a:endParaRPr lang="en-US" sz="3200" dirty="0"/>
          </a:p>
        </p:txBody>
      </p:sp>
      <p:graphicFrame>
        <p:nvGraphicFramePr>
          <p:cNvPr id="86" name="Glossary 1"/>
          <p:cNvGraphicFramePr>
            <a:graphicFrameLocks noGrp="1"/>
          </p:cNvGraphicFramePr>
          <p:nvPr>
            <p:extLst>
              <p:ext uri="{D42A27DB-BD31-4B8C-83A1-F6EECF244321}">
                <p14:modId xmlns:p14="http://schemas.microsoft.com/office/powerpoint/2010/main" val="1579011935"/>
              </p:ext>
            </p:extLst>
          </p:nvPr>
        </p:nvGraphicFramePr>
        <p:xfrm>
          <a:off x="548640" y="1783080"/>
          <a:ext cx="5468112" cy="914400"/>
        </p:xfrm>
        <a:graphic>
          <a:graphicData uri="http://schemas.openxmlformats.org/drawingml/2006/table">
            <a:tbl>
              <a:tblPr/>
              <a:tblGrid>
                <a:gridCol w="1554480"/>
                <a:gridCol w="3913632"/>
              </a:tblGrid>
              <a:tr h="365760">
                <a:tc>
                  <a:txBody>
                    <a:bodyPr/>
                    <a:lstStyle/>
                    <a:p>
                      <a:pPr indent="0" marL="0">
                        <a:buNone/>
                      </a:pPr>
                      <a:r>
                        <a:rPr lang="en-US" sz="1200" b="1" dirty="0">
                          <a:solidFill>
                            <a:schemeClr val="bg1"/>
                          </a:solidFill>
                        </a:rPr>
                        <a:t>Git and Fabric</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Meaning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12064">
                <a:tc>
                  <a:txBody>
                    <a:bodyPr/>
                    <a:lstStyle/>
                    <a:p>
                      <a:pPr indent="0" marL="0">
                        <a:buNone/>
                      </a:pPr>
                      <a:r>
                        <a:rPr lang="en-US" sz="1200" b="1" dirty="0">
                          <a:solidFill>
                            <a:schemeClr val="tx1"/>
                          </a:solidFill>
                        </a:rPr>
                        <a:t>Repository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project folder plus its full history of changes.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00" b="1" dirty="0">
                          <a:solidFill>
                            <a:schemeClr val="tx1"/>
                          </a:solidFill>
                        </a:rPr>
                        <a:t>Commit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saved snapshot with a message and a short ID.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200" b="1" dirty="0">
                          <a:solidFill>
                            <a:schemeClr val="tx1"/>
                          </a:solidFill>
                        </a:rPr>
                        <a:t>Branch</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line of work that moves on its own.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00" b="1" dirty="0">
                          <a:solidFill>
                            <a:schemeClr val="tx1"/>
                          </a:solidFill>
                        </a:rPr>
                        <a:t>Pull request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request to merge a branch, where review happens.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200" b="1" dirty="0">
                          <a:solidFill>
                            <a:schemeClr val="tx1"/>
                          </a:solidFill>
                        </a:rPr>
                        <a:t>Merge conflict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Two changes to the same lines. A person must choose.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00" b="1" dirty="0">
                          <a:solidFill>
                            <a:schemeClr val="tx1"/>
                          </a:solidFill>
                        </a:rPr>
                        <a:t>Tag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fixed name for one commit, such as v1.0.0.</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200" b="1" dirty="0">
                          <a:solidFill>
                            <a:schemeClr val="tx1"/>
                          </a:solidFill>
                        </a:rPr>
                        <a:t>Logical ID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The ID in .platform that links items across workspaces.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graphicFrame>
        <p:nvGraphicFramePr>
          <p:cNvPr id="171" name="Glossary 2"/>
          <p:cNvGraphicFramePr>
            <a:graphicFrameLocks noGrp="1"/>
          </p:cNvGraphicFramePr>
          <p:nvPr>
            <p:extLst>
              <p:ext uri="{D42A27DB-BD31-4B8C-83A1-F6EECF244321}">
                <p14:modId xmlns:p14="http://schemas.microsoft.com/office/powerpoint/2010/main" val="1579011935"/>
              </p:ext>
            </p:extLst>
          </p:nvPr>
        </p:nvGraphicFramePr>
        <p:xfrm>
          <a:off x="6172200" y="1783080"/>
          <a:ext cx="5468112" cy="914400"/>
        </p:xfrm>
        <a:graphic>
          <a:graphicData uri="http://schemas.openxmlformats.org/drawingml/2006/table">
            <a:tbl>
              <a:tblPr/>
              <a:tblGrid>
                <a:gridCol w="1554480"/>
                <a:gridCol w="3913632"/>
              </a:tblGrid>
              <a:tr h="365760">
                <a:tc>
                  <a:txBody>
                    <a:bodyPr/>
                    <a:lstStyle/>
                    <a:p>
                      <a:pPr indent="0" marL="0">
                        <a:buNone/>
                      </a:pPr>
                      <a:r>
                        <a:rPr lang="en-US" sz="1200" b="1" dirty="0">
                          <a:solidFill>
                            <a:schemeClr val="bg1"/>
                          </a:solidFill>
                        </a:rPr>
                        <a:t>Delivery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Meaning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12064">
                <a:tc>
                  <a:txBody>
                    <a:bodyPr/>
                    <a:lstStyle/>
                    <a:p>
                      <a:pPr indent="0" marL="0">
                        <a:buNone/>
                      </a:pPr>
                      <a:r>
                        <a:rPr lang="en-US" sz="1200" b="1" dirty="0">
                          <a:solidFill>
                            <a:schemeClr val="tx1"/>
                          </a:solidFill>
                        </a:rPr>
                        <a:t>Environment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DEV, TEST or PROD: same items, different surroundings.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00" b="1" dirty="0">
                          <a:solidFill>
                            <a:schemeClr val="tx1"/>
                          </a:solidFill>
                        </a:rPr>
                        <a:t>Promotion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Moving the same reviewed change to the next environment.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200" b="1" dirty="0">
                          <a:solidFill>
                            <a:schemeClr val="tx1"/>
                          </a:solidFill>
                        </a:rPr>
                        <a:t>Rail</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check that runs on every change, with no one deciding.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00" b="1" dirty="0">
                          <a:solidFill>
                            <a:schemeClr val="tx1"/>
                          </a:solidFill>
                        </a:rPr>
                        <a:t>Gate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step that waits on a person or another team.</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200" b="1" dirty="0">
                          <a:solidFill>
                            <a:schemeClr val="tx1"/>
                          </a:solidFill>
                        </a:rPr>
                        <a:t>Smoke check</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test that the deployed thing answers a real request.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00" b="1" dirty="0">
                          <a:solidFill>
                            <a:schemeClr val="tx1"/>
                          </a:solidFill>
                        </a:rPr>
                        <a:t>Hook</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script that runs before an action and can stop it.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200" b="1" dirty="0">
                          <a:solidFill>
                            <a:schemeClr val="tx1"/>
                          </a:solidFill>
                        </a:rPr>
                        <a:t>Canon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The instructions file an assistant reads first.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DAY THREE · PART 6</a:t>
            </a:r>
          </a:p>
        </p:txBody>
      </p:sp>
      <p:sp>
        <p:nvSpPr>
          <p:cNvPr id="3" name="Title 2"/>
          <p:cNvSpPr>
            <a:spLocks noGrp="1"/>
          </p:cNvSpPr>
          <p:nvPr>
            <p:ph type="title" idx="101"/>
          </p:nvPr>
        </p:nvSpPr>
        <p:spPr/>
        <p:txBody>
          <a:bodyPr/>
          <a:lstStyle/>
          <a:p>
            <a:pPr algn="l"/>
            <a:r>
              <a:t>Taking Applications to Production</a:t>
            </a:r>
          </a:p>
        </p:txBody>
      </p:sp>
      <p:sp>
        <p:nvSpPr>
          <p:cNvPr id="4" name="Text Placeholder 3"/>
          <p:cNvSpPr>
            <a:spLocks noGrp="1"/>
          </p:cNvSpPr>
          <p:nvPr>
            <p:ph type="body" idx="102"/>
          </p:nvPr>
        </p:nvSpPr>
        <p:spPr/>
        <p:txBody>
          <a:bodyPr/>
          <a:lstStyle/>
          <a:p>
            <a:pPr algn="l"/>
            <a:r>
              <a:t>Four gates and twelve steps between a working build and a supported production app, and who owns each one.</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a:t>
            </a:fld>
            <a:endParaRPr lang="en-US" b="0"/>
          </a:p>
        </p:txBody>
      </p:sp>
      <p:sp>
        <p:nvSpPr>
          <p:cNvPr id="1000" name="TextBox 999"/>
          <p:cNvSpPr txBox="1"/>
          <p:nvPr/>
        </p:nvSpPr>
        <p:spPr>
          <a:xfrm>
            <a:off x="7498079" y="822960"/>
            <a:ext cx="4206240" cy="2926080"/>
          </a:xfrm>
          <a:prstGeom prst="rect">
            <a:avLst/>
          </a:prstGeom>
          <a:noFill/>
        </p:spPr>
        <p:txBody>
          <a:bodyPr wrap="square" lIns="0" tIns="0" rIns="0" bIns="0" anchor="t">
            <a:spAutoFit/>
          </a:bodyPr>
          <a:lstStyle/>
          <a:p>
            <a:pPr algn="r"/>
            <a:r>
              <a:rPr sz="16000" b="1" i="0">
                <a:solidFill>
                  <a:srgbClr val="2E5CB0"/>
                </a:solidFill>
                <a:latin typeface="+mj-lt"/>
              </a:rPr>
              <a:t>06</a:t>
            </a:r>
          </a:p>
        </p:txBody>
      </p:sp>
      <p:sp>
        <p:nvSpPr>
          <p:cNvPr id="1001" name="TextBox 1000"/>
          <p:cNvSpPr txBox="1"/>
          <p:nvPr/>
        </p:nvSpPr>
        <p:spPr>
          <a:xfrm>
            <a:off x="7680960" y="4023360"/>
            <a:ext cx="3931920" cy="1463040"/>
          </a:xfrm>
          <a:prstGeom prst="rect">
            <a:avLst/>
          </a:prstGeom>
          <a:noFill/>
        </p:spPr>
        <p:txBody>
          <a:bodyPr wrap="square" lIns="0" tIns="0" rIns="0" bIns="0" anchor="t">
            <a:spAutoFit/>
          </a:bodyPr>
          <a:lstStyle/>
          <a:p>
            <a:pPr>
              <a:spcAft>
                <a:spcPts val="600"/>
              </a:spcAft>
            </a:pPr>
            <a:r>
              <a:rPr sz="1500" b="0" i="0">
                <a:solidFill>
                  <a:srgbClr val="FFFFFF"/>
                </a:solidFill>
              </a:rPr>
              <a:t>1   The Paved Path</a:t>
            </a:r>
          </a:p>
          <a:p>
            <a:pPr>
              <a:spcAft>
                <a:spcPts val="600"/>
              </a:spcAft>
            </a:pPr>
            <a:r>
              <a:rPr sz="1500" b="0" i="0">
                <a:solidFill>
                  <a:srgbClr val="FFFFFF"/>
                </a:solidFill>
              </a:rPr>
              <a:t>2   Who you need, and when</a:t>
            </a:r>
          </a:p>
          <a:p>
            <a:pPr>
              <a:spcAft>
                <a:spcPts val="600"/>
              </a:spcAft>
            </a:pPr>
            <a:r>
              <a:rPr sz="1500" b="0" i="0">
                <a:solidFill>
                  <a:srgbClr val="FFFFFF"/>
                </a:solidFill>
              </a:rPr>
              <a:t>3   The long poles</a:t>
            </a:r>
          </a:p>
          <a:p>
            <a:pPr>
              <a:spcAft>
                <a:spcPts val="600"/>
              </a:spcAft>
            </a:pPr>
            <a:r>
              <a:rPr sz="1500" b="0" i="0">
                <a:solidFill>
                  <a:srgbClr val="FFFFFF"/>
                </a:solidFill>
              </a:rPr>
              <a:t>4   UAT through to go-live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PART 6 · TODAY</a:t>
            </a:r>
          </a:p>
        </p:txBody>
      </p:sp>
      <p:sp>
        <p:nvSpPr>
          <p:cNvPr id="3" name="Title 2"/>
          <p:cNvSpPr>
            <a:spLocks noGrp="1"/>
          </p:cNvSpPr>
          <p:nvPr>
            <p:ph type="title" idx="101"/>
          </p:nvPr>
        </p:nvSpPr>
        <p:spPr/>
        <p:txBody>
          <a:bodyPr/>
          <a:lstStyle/>
          <a:p>
            <a:pPr algn="l"/>
            <a:r>
              <a:t>By the end of Part 6 you can do six things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2</a:t>
            </a:fld>
            <a:endParaRPr lang="en-US" b="0"/>
          </a:p>
        </p:txBody>
      </p:sp>
      <p:sp>
        <p:nvSpPr>
          <p:cNvPr id="1000" name="Rounded Rectangle 999"/>
          <p:cNvSpPr/>
          <p:nvPr/>
        </p:nvSpPr>
        <p:spPr>
          <a:xfrm>
            <a:off x="548640" y="1783080"/>
            <a:ext cx="3593592" cy="18288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Rounded Rectangle 1000"/>
          <p:cNvSpPr/>
          <p:nvPr/>
        </p:nvSpPr>
        <p:spPr>
          <a:xfrm>
            <a:off x="777240" y="201168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77240" y="2011680"/>
            <a:ext cx="457200" cy="457200"/>
          </a:xfrm>
          <a:prstGeom prst="rect">
            <a:avLst/>
          </a:prstGeom>
          <a:noFill/>
        </p:spPr>
        <p:txBody>
          <a:bodyPr wrap="square" lIns="0" tIns="0" rIns="0" bIns="0" anchor="ctr">
            <a:spAutoFit/>
          </a:bodyPr>
          <a:lstStyle/>
          <a:p>
            <a:pPr algn="ctr"/>
            <a:r>
              <a:rPr sz="2000" b="1" i="0">
                <a:solidFill>
                  <a:srgbClr val="FFFFFF"/>
                </a:solidFill>
                <a:latin typeface="+mj-lt"/>
              </a:rPr>
              <a:t>1</a:t>
            </a:r>
          </a:p>
        </p:txBody>
      </p:sp>
      <p:sp>
        <p:nvSpPr>
          <p:cNvPr id="1003" name="TextBox 1002"/>
          <p:cNvSpPr txBox="1"/>
          <p:nvPr/>
        </p:nvSpPr>
        <p:spPr>
          <a:xfrm>
            <a:off x="1417319" y="2103120"/>
            <a:ext cx="2651760" cy="228600"/>
          </a:xfrm>
          <a:prstGeom prst="rect">
            <a:avLst/>
          </a:prstGeom>
          <a:noFill/>
        </p:spPr>
        <p:txBody>
          <a:bodyPr wrap="square" lIns="0" tIns="0" rIns="0" bIns="0" anchor="t">
            <a:spAutoFit/>
          </a:bodyPr>
          <a:lstStyle/>
          <a:p>
            <a:r>
              <a:rPr sz="950" b="1" i="0" spc="200">
                <a:solidFill>
                  <a:srgbClr val="1E49E2"/>
                </a:solidFill>
              </a:rPr>
              <a:t>THE PAVED PATH</a:t>
            </a:r>
          </a:p>
        </p:txBody>
      </p:sp>
      <p:sp>
        <p:nvSpPr>
          <p:cNvPr id="1004" name="TextBox 1003"/>
          <p:cNvSpPr txBox="1"/>
          <p:nvPr/>
        </p:nvSpPr>
        <p:spPr>
          <a:xfrm>
            <a:off x="777240" y="2606040"/>
            <a:ext cx="3154680" cy="320040"/>
          </a:xfrm>
          <a:prstGeom prst="rect">
            <a:avLst/>
          </a:prstGeom>
          <a:noFill/>
        </p:spPr>
        <p:txBody>
          <a:bodyPr wrap="square" lIns="0" tIns="0" rIns="0" bIns="0" anchor="t">
            <a:spAutoFit/>
          </a:bodyPr>
          <a:lstStyle/>
          <a:p>
            <a:r>
              <a:rPr sz="1700" b="1" i="0">
                <a:solidFill>
                  <a:srgbClr val="0B1F3A"/>
                </a:solidFill>
                <a:latin typeface="+mj-lt"/>
              </a:rPr>
              <a:t>Place any step on the path</a:t>
            </a:r>
          </a:p>
        </p:txBody>
      </p:sp>
      <p:sp>
        <p:nvSpPr>
          <p:cNvPr id="1005" name="TextBox 1004"/>
          <p:cNvSpPr txBox="1"/>
          <p:nvPr/>
        </p:nvSpPr>
        <p:spPr>
          <a:xfrm>
            <a:off x="777240" y="2971800"/>
            <a:ext cx="3154680" cy="594360"/>
          </a:xfrm>
          <a:prstGeom prst="rect">
            <a:avLst/>
          </a:prstGeom>
          <a:noFill/>
        </p:spPr>
        <p:txBody>
          <a:bodyPr wrap="square" lIns="0" tIns="0" rIns="0" bIns="0" anchor="t">
            <a:spAutoFit/>
          </a:bodyPr>
          <a:lstStyle/>
          <a:p>
            <a:r>
              <a:rPr sz="1300" b="0" i="0">
                <a:solidFill>
                  <a:srgbClr val="0B1F3A"/>
                </a:solidFill>
              </a:rPr>
              <a:t>Name the four phases, the gate that closes each, and where the twelve steps fall.</a:t>
            </a:r>
          </a:p>
        </p:txBody>
      </p:sp>
      <p:sp>
        <p:nvSpPr>
          <p:cNvPr id="1006" name="Rounded Rectangle 1005"/>
          <p:cNvSpPr/>
          <p:nvPr/>
        </p:nvSpPr>
        <p:spPr>
          <a:xfrm>
            <a:off x="4297679" y="1783080"/>
            <a:ext cx="3593592" cy="18288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ounded Rectangle 1006"/>
          <p:cNvSpPr/>
          <p:nvPr/>
        </p:nvSpPr>
        <p:spPr>
          <a:xfrm>
            <a:off x="4526279" y="201168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4526279" y="2011680"/>
            <a:ext cx="457200" cy="457200"/>
          </a:xfrm>
          <a:prstGeom prst="rect">
            <a:avLst/>
          </a:prstGeom>
          <a:noFill/>
        </p:spPr>
        <p:txBody>
          <a:bodyPr wrap="square" lIns="0" tIns="0" rIns="0" bIns="0" anchor="ctr">
            <a:spAutoFit/>
          </a:bodyPr>
          <a:lstStyle/>
          <a:p>
            <a:pPr algn="ctr"/>
            <a:r>
              <a:rPr sz="2000" b="1" i="0">
                <a:solidFill>
                  <a:srgbClr val="FFFFFF"/>
                </a:solidFill>
                <a:latin typeface="+mj-lt"/>
              </a:rPr>
              <a:t>2</a:t>
            </a:r>
          </a:p>
        </p:txBody>
      </p:sp>
      <p:sp>
        <p:nvSpPr>
          <p:cNvPr id="1009" name="TextBox 1008"/>
          <p:cNvSpPr txBox="1"/>
          <p:nvPr/>
        </p:nvSpPr>
        <p:spPr>
          <a:xfrm>
            <a:off x="5166359" y="2103120"/>
            <a:ext cx="2651760" cy="228600"/>
          </a:xfrm>
          <a:prstGeom prst="rect">
            <a:avLst/>
          </a:prstGeom>
          <a:noFill/>
        </p:spPr>
        <p:txBody>
          <a:bodyPr wrap="square" lIns="0" tIns="0" rIns="0" bIns="0" anchor="t">
            <a:spAutoFit/>
          </a:bodyPr>
          <a:lstStyle/>
          <a:p>
            <a:r>
              <a:rPr sz="950" b="1" i="0" spc="200">
                <a:solidFill>
                  <a:srgbClr val="1E49E2"/>
                </a:solidFill>
              </a:rPr>
              <a:t>THE UPSIZE GATE</a:t>
            </a:r>
          </a:p>
        </p:txBody>
      </p:sp>
      <p:sp>
        <p:nvSpPr>
          <p:cNvPr id="1010" name="TextBox 1009"/>
          <p:cNvSpPr txBox="1"/>
          <p:nvPr/>
        </p:nvSpPr>
        <p:spPr>
          <a:xfrm>
            <a:off x="4526279" y="2606040"/>
            <a:ext cx="3154680" cy="320040"/>
          </a:xfrm>
          <a:prstGeom prst="rect">
            <a:avLst/>
          </a:prstGeom>
          <a:noFill/>
        </p:spPr>
        <p:txBody>
          <a:bodyPr wrap="square" lIns="0" tIns="0" rIns="0" bIns="0" anchor="t">
            <a:spAutoFit/>
          </a:bodyPr>
          <a:lstStyle/>
          <a:p>
            <a:r>
              <a:rPr sz="1700" b="1" i="0">
                <a:solidFill>
                  <a:srgbClr val="0B1F3A"/>
                </a:solidFill>
                <a:latin typeface="+mj-lt"/>
              </a:rPr>
              <a:t>Accept or refuse a model</a:t>
            </a:r>
          </a:p>
        </p:txBody>
      </p:sp>
      <p:sp>
        <p:nvSpPr>
          <p:cNvPr id="1011" name="TextBox 1010"/>
          <p:cNvSpPr txBox="1"/>
          <p:nvPr/>
        </p:nvSpPr>
        <p:spPr>
          <a:xfrm>
            <a:off x="4526279" y="2971800"/>
            <a:ext cx="3154680" cy="594360"/>
          </a:xfrm>
          <a:prstGeom prst="rect">
            <a:avLst/>
          </a:prstGeom>
          <a:noFill/>
        </p:spPr>
        <p:txBody>
          <a:bodyPr wrap="square" lIns="0" tIns="0" rIns="0" bIns="0" anchor="t">
            <a:spAutoFit/>
          </a:bodyPr>
          <a:lstStyle/>
          <a:p>
            <a:r>
              <a:rPr sz="1300" b="0" i="0">
                <a:solidFill>
                  <a:srgbClr val="0B1F3A"/>
                </a:solidFill>
              </a:rPr>
              <a:t>Test a model charter, and send it back when a question is still open.</a:t>
            </a:r>
          </a:p>
        </p:txBody>
      </p:sp>
      <p:sp>
        <p:nvSpPr>
          <p:cNvPr id="1012" name="Rounded Rectangle 1011"/>
          <p:cNvSpPr/>
          <p:nvPr/>
        </p:nvSpPr>
        <p:spPr>
          <a:xfrm>
            <a:off x="8046719" y="1783080"/>
            <a:ext cx="3593592" cy="18288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Rounded Rectangle 1012"/>
          <p:cNvSpPr/>
          <p:nvPr/>
        </p:nvSpPr>
        <p:spPr>
          <a:xfrm>
            <a:off x="8275319" y="201168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4" name="TextBox 1013"/>
          <p:cNvSpPr txBox="1"/>
          <p:nvPr/>
        </p:nvSpPr>
        <p:spPr>
          <a:xfrm>
            <a:off x="8275319" y="2011680"/>
            <a:ext cx="457200" cy="457200"/>
          </a:xfrm>
          <a:prstGeom prst="rect">
            <a:avLst/>
          </a:prstGeom>
          <a:noFill/>
        </p:spPr>
        <p:txBody>
          <a:bodyPr wrap="square" lIns="0" tIns="0" rIns="0" bIns="0" anchor="ctr">
            <a:spAutoFit/>
          </a:bodyPr>
          <a:lstStyle/>
          <a:p>
            <a:pPr algn="ctr"/>
            <a:r>
              <a:rPr sz="2000" b="1" i="0">
                <a:solidFill>
                  <a:srgbClr val="FFFFFF"/>
                </a:solidFill>
                <a:latin typeface="+mj-lt"/>
              </a:rPr>
              <a:t>3</a:t>
            </a:r>
          </a:p>
        </p:txBody>
      </p:sp>
      <p:sp>
        <p:nvSpPr>
          <p:cNvPr id="1015" name="TextBox 1014"/>
          <p:cNvSpPr txBox="1"/>
          <p:nvPr/>
        </p:nvSpPr>
        <p:spPr>
          <a:xfrm>
            <a:off x="8915399" y="2103120"/>
            <a:ext cx="2651760" cy="228600"/>
          </a:xfrm>
          <a:prstGeom prst="rect">
            <a:avLst/>
          </a:prstGeom>
          <a:noFill/>
        </p:spPr>
        <p:txBody>
          <a:bodyPr wrap="square" lIns="0" tIns="0" rIns="0" bIns="0" anchor="t">
            <a:spAutoFit/>
          </a:bodyPr>
          <a:lstStyle/>
          <a:p>
            <a:r>
              <a:rPr sz="950" b="1" i="0" spc="200">
                <a:solidFill>
                  <a:srgbClr val="1E49E2"/>
                </a:solidFill>
              </a:rPr>
              <a:t>THE DEV AND SCOPE GATES</a:t>
            </a:r>
          </a:p>
        </p:txBody>
      </p:sp>
      <p:sp>
        <p:nvSpPr>
          <p:cNvPr id="1016" name="TextBox 1015"/>
          <p:cNvSpPr txBox="1"/>
          <p:nvPr/>
        </p:nvSpPr>
        <p:spPr>
          <a:xfrm>
            <a:off x="8275319" y="2606040"/>
            <a:ext cx="3154680" cy="320040"/>
          </a:xfrm>
          <a:prstGeom prst="rect">
            <a:avLst/>
          </a:prstGeom>
          <a:noFill/>
        </p:spPr>
        <p:txBody>
          <a:bodyPr wrap="square" lIns="0" tIns="0" rIns="0" bIns="0" anchor="t">
            <a:spAutoFit/>
          </a:bodyPr>
          <a:lstStyle/>
          <a:p>
            <a:r>
              <a:rPr sz="1700" b="1" i="0">
                <a:solidFill>
                  <a:srgbClr val="0B1F3A"/>
                </a:solidFill>
                <a:latin typeface="+mj-lt"/>
              </a:rPr>
              <a:t>Prove it, don't assume it</a:t>
            </a:r>
          </a:p>
        </p:txBody>
      </p:sp>
      <p:sp>
        <p:nvSpPr>
          <p:cNvPr id="1017" name="TextBox 1016"/>
          <p:cNvSpPr txBox="1"/>
          <p:nvPr/>
        </p:nvSpPr>
        <p:spPr>
          <a:xfrm>
            <a:off x="8275319" y="2971800"/>
            <a:ext cx="3154680" cy="594360"/>
          </a:xfrm>
          <a:prstGeom prst="rect">
            <a:avLst/>
          </a:prstGeom>
          <a:noFill/>
        </p:spPr>
        <p:txBody>
          <a:bodyPr wrap="square" lIns="0" tIns="0" rIns="0" bIns="0" anchor="t">
            <a:spAutoFit/>
          </a:bodyPr>
          <a:lstStyle/>
          <a:p>
            <a:r>
              <a:rPr sz="1300" b="0" i="0">
                <a:solidFill>
                  <a:srgbClr val="0B1F3A"/>
                </a:solidFill>
              </a:rPr>
              <a:t>Show that the running app answers, and that every state in the model is built.</a:t>
            </a:r>
          </a:p>
        </p:txBody>
      </p:sp>
      <p:sp>
        <p:nvSpPr>
          <p:cNvPr id="1018" name="Rounded Rectangle 1017"/>
          <p:cNvSpPr/>
          <p:nvPr/>
        </p:nvSpPr>
        <p:spPr>
          <a:xfrm>
            <a:off x="548640" y="3749039"/>
            <a:ext cx="3593592" cy="18288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Rounded Rectangle 1018"/>
          <p:cNvSpPr/>
          <p:nvPr/>
        </p:nvSpPr>
        <p:spPr>
          <a:xfrm>
            <a:off x="777240" y="3977639"/>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TextBox 1019"/>
          <p:cNvSpPr txBox="1"/>
          <p:nvPr/>
        </p:nvSpPr>
        <p:spPr>
          <a:xfrm>
            <a:off x="777240" y="3977639"/>
            <a:ext cx="457200" cy="457200"/>
          </a:xfrm>
          <a:prstGeom prst="rect">
            <a:avLst/>
          </a:prstGeom>
          <a:noFill/>
        </p:spPr>
        <p:txBody>
          <a:bodyPr wrap="square" lIns="0" tIns="0" rIns="0" bIns="0" anchor="ctr">
            <a:spAutoFit/>
          </a:bodyPr>
          <a:lstStyle/>
          <a:p>
            <a:pPr algn="ctr"/>
            <a:r>
              <a:rPr sz="2000" b="1" i="0">
                <a:solidFill>
                  <a:srgbClr val="FFFFFF"/>
                </a:solidFill>
                <a:latin typeface="+mj-lt"/>
              </a:rPr>
              <a:t>4</a:t>
            </a:r>
          </a:p>
        </p:txBody>
      </p:sp>
      <p:sp>
        <p:nvSpPr>
          <p:cNvPr id="1021" name="TextBox 1020"/>
          <p:cNvSpPr txBox="1"/>
          <p:nvPr/>
        </p:nvSpPr>
        <p:spPr>
          <a:xfrm>
            <a:off x="1417319" y="4069079"/>
            <a:ext cx="2651760" cy="228600"/>
          </a:xfrm>
          <a:prstGeom prst="rect">
            <a:avLst/>
          </a:prstGeom>
          <a:noFill/>
        </p:spPr>
        <p:txBody>
          <a:bodyPr wrap="square" lIns="0" tIns="0" rIns="0" bIns="0" anchor="t">
            <a:spAutoFit/>
          </a:bodyPr>
          <a:lstStyle/>
          <a:p>
            <a:r>
              <a:rPr sz="950" b="1" i="0" spc="200">
                <a:solidFill>
                  <a:srgbClr val="1E49E2"/>
                </a:solidFill>
              </a:rPr>
              <a:t>WHO YOU NEED</a:t>
            </a:r>
          </a:p>
        </p:txBody>
      </p:sp>
      <p:sp>
        <p:nvSpPr>
          <p:cNvPr id="1022" name="TextBox 1021"/>
          <p:cNvSpPr txBox="1"/>
          <p:nvPr/>
        </p:nvSpPr>
        <p:spPr>
          <a:xfrm>
            <a:off x="777240" y="4572000"/>
            <a:ext cx="3154680" cy="320040"/>
          </a:xfrm>
          <a:prstGeom prst="rect">
            <a:avLst/>
          </a:prstGeom>
          <a:noFill/>
        </p:spPr>
        <p:txBody>
          <a:bodyPr wrap="square" lIns="0" tIns="0" rIns="0" bIns="0" anchor="t">
            <a:spAutoFit/>
          </a:bodyPr>
          <a:lstStyle/>
          <a:p>
            <a:r>
              <a:rPr sz="1700" b="1" i="0">
                <a:solidFill>
                  <a:srgbClr val="0B1F3A"/>
                </a:solidFill>
                <a:latin typeface="+mj-lt"/>
              </a:rPr>
              <a:t>Open the right approvals</a:t>
            </a:r>
          </a:p>
        </p:txBody>
      </p:sp>
      <p:sp>
        <p:nvSpPr>
          <p:cNvPr id="1023" name="TextBox 1022"/>
          <p:cNvSpPr txBox="1"/>
          <p:nvPr/>
        </p:nvSpPr>
        <p:spPr>
          <a:xfrm>
            <a:off x="777240" y="4937759"/>
            <a:ext cx="3154680" cy="594360"/>
          </a:xfrm>
          <a:prstGeom prst="rect">
            <a:avLst/>
          </a:prstGeom>
          <a:noFill/>
        </p:spPr>
        <p:txBody>
          <a:bodyPr wrap="square" lIns="0" tIns="0" rIns="0" bIns="0" anchor="t">
            <a:spAutoFit/>
          </a:bodyPr>
          <a:lstStyle/>
          <a:p>
            <a:r>
              <a:rPr sz="1300" b="0" i="0">
                <a:solidFill>
                  <a:srgbClr val="0B1F3A"/>
                </a:solidFill>
              </a:rPr>
              <a:t>List the approvals each app needs and who owns them.</a:t>
            </a:r>
          </a:p>
        </p:txBody>
      </p:sp>
      <p:sp>
        <p:nvSpPr>
          <p:cNvPr id="1024" name="Rounded Rectangle 1023"/>
          <p:cNvSpPr/>
          <p:nvPr/>
        </p:nvSpPr>
        <p:spPr>
          <a:xfrm>
            <a:off x="4297679" y="3749039"/>
            <a:ext cx="3593592" cy="18288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Rounded Rectangle 1024"/>
          <p:cNvSpPr/>
          <p:nvPr/>
        </p:nvSpPr>
        <p:spPr>
          <a:xfrm>
            <a:off x="4526279" y="3977639"/>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6" name="TextBox 1025"/>
          <p:cNvSpPr txBox="1"/>
          <p:nvPr/>
        </p:nvSpPr>
        <p:spPr>
          <a:xfrm>
            <a:off x="4526279" y="3977639"/>
            <a:ext cx="457200" cy="457200"/>
          </a:xfrm>
          <a:prstGeom prst="rect">
            <a:avLst/>
          </a:prstGeom>
          <a:noFill/>
        </p:spPr>
        <p:txBody>
          <a:bodyPr wrap="square" lIns="0" tIns="0" rIns="0" bIns="0" anchor="ctr">
            <a:spAutoFit/>
          </a:bodyPr>
          <a:lstStyle/>
          <a:p>
            <a:pPr algn="ctr"/>
            <a:r>
              <a:rPr sz="2000" b="1" i="0">
                <a:solidFill>
                  <a:srgbClr val="FFFFFF"/>
                </a:solidFill>
                <a:latin typeface="+mj-lt"/>
              </a:rPr>
              <a:t>5</a:t>
            </a:r>
          </a:p>
        </p:txBody>
      </p:sp>
      <p:sp>
        <p:nvSpPr>
          <p:cNvPr id="1027" name="TextBox 1026"/>
          <p:cNvSpPr txBox="1"/>
          <p:nvPr/>
        </p:nvSpPr>
        <p:spPr>
          <a:xfrm>
            <a:off x="5166359" y="4069079"/>
            <a:ext cx="2651760" cy="228600"/>
          </a:xfrm>
          <a:prstGeom prst="rect">
            <a:avLst/>
          </a:prstGeom>
          <a:noFill/>
        </p:spPr>
        <p:txBody>
          <a:bodyPr wrap="square" lIns="0" tIns="0" rIns="0" bIns="0" anchor="t">
            <a:spAutoFit/>
          </a:bodyPr>
          <a:lstStyle/>
          <a:p>
            <a:r>
              <a:rPr sz="950" b="1" i="0" spc="200">
                <a:solidFill>
                  <a:srgbClr val="1E49E2"/>
                </a:solidFill>
              </a:rPr>
              <a:t>THE LONG POLES</a:t>
            </a:r>
          </a:p>
        </p:txBody>
      </p:sp>
      <p:sp>
        <p:nvSpPr>
          <p:cNvPr id="1028" name="TextBox 1027"/>
          <p:cNvSpPr txBox="1"/>
          <p:nvPr/>
        </p:nvSpPr>
        <p:spPr>
          <a:xfrm>
            <a:off x="4526279" y="4572000"/>
            <a:ext cx="3154680" cy="320040"/>
          </a:xfrm>
          <a:prstGeom prst="rect">
            <a:avLst/>
          </a:prstGeom>
          <a:noFill/>
        </p:spPr>
        <p:txBody>
          <a:bodyPr wrap="square" lIns="0" tIns="0" rIns="0" bIns="0" anchor="t">
            <a:spAutoFit/>
          </a:bodyPr>
          <a:lstStyle/>
          <a:p>
            <a:r>
              <a:rPr sz="1700" b="1" i="0">
                <a:solidFill>
                  <a:srgbClr val="0B1F3A"/>
                </a:solidFill>
                <a:latin typeface="+mj-lt"/>
              </a:rPr>
              <a:t>Protect the go-live date</a:t>
            </a:r>
          </a:p>
        </p:txBody>
      </p:sp>
      <p:sp>
        <p:nvSpPr>
          <p:cNvPr id="1029" name="TextBox 1028"/>
          <p:cNvSpPr txBox="1"/>
          <p:nvPr/>
        </p:nvSpPr>
        <p:spPr>
          <a:xfrm>
            <a:off x="4526279" y="4937759"/>
            <a:ext cx="3154680" cy="594360"/>
          </a:xfrm>
          <a:prstGeom prst="rect">
            <a:avLst/>
          </a:prstGeom>
          <a:noFill/>
        </p:spPr>
        <p:txBody>
          <a:bodyPr wrap="square" lIns="0" tIns="0" rIns="0" bIns="0" anchor="t">
            <a:spAutoFit/>
          </a:bodyPr>
          <a:lstStyle/>
          <a:p>
            <a:r>
              <a:rPr sz="1300" b="0" i="0">
                <a:solidFill>
                  <a:srgbClr val="0B1F3A"/>
                </a:solidFill>
              </a:rPr>
              <a:t>Explain why ESIS and the other slow reviews have to start in week one.</a:t>
            </a:r>
          </a:p>
        </p:txBody>
      </p:sp>
      <p:sp>
        <p:nvSpPr>
          <p:cNvPr id="1030" name="Rounded Rectangle 1029"/>
          <p:cNvSpPr/>
          <p:nvPr/>
        </p:nvSpPr>
        <p:spPr>
          <a:xfrm>
            <a:off x="8046719" y="3749039"/>
            <a:ext cx="3593592" cy="18288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1" name="Rounded Rectangle 1030"/>
          <p:cNvSpPr/>
          <p:nvPr/>
        </p:nvSpPr>
        <p:spPr>
          <a:xfrm>
            <a:off x="8275319" y="3977639"/>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2" name="TextBox 1031"/>
          <p:cNvSpPr txBox="1"/>
          <p:nvPr/>
        </p:nvSpPr>
        <p:spPr>
          <a:xfrm>
            <a:off x="8275319" y="3977639"/>
            <a:ext cx="457200" cy="457200"/>
          </a:xfrm>
          <a:prstGeom prst="rect">
            <a:avLst/>
          </a:prstGeom>
          <a:noFill/>
        </p:spPr>
        <p:txBody>
          <a:bodyPr wrap="square" lIns="0" tIns="0" rIns="0" bIns="0" anchor="ctr">
            <a:spAutoFit/>
          </a:bodyPr>
          <a:lstStyle/>
          <a:p>
            <a:pPr algn="ctr"/>
            <a:r>
              <a:rPr sz="2000" b="1" i="0">
                <a:solidFill>
                  <a:srgbClr val="FFFFFF"/>
                </a:solidFill>
                <a:latin typeface="+mj-lt"/>
              </a:rPr>
              <a:t>6</a:t>
            </a:r>
          </a:p>
        </p:txBody>
      </p:sp>
      <p:sp>
        <p:nvSpPr>
          <p:cNvPr id="1033" name="TextBox 1032"/>
          <p:cNvSpPr txBox="1"/>
          <p:nvPr/>
        </p:nvSpPr>
        <p:spPr>
          <a:xfrm>
            <a:off x="8915399" y="4069079"/>
            <a:ext cx="2651760" cy="228600"/>
          </a:xfrm>
          <a:prstGeom prst="rect">
            <a:avLst/>
          </a:prstGeom>
          <a:noFill/>
        </p:spPr>
        <p:txBody>
          <a:bodyPr wrap="square" lIns="0" tIns="0" rIns="0" bIns="0" anchor="t">
            <a:spAutoFit/>
          </a:bodyPr>
          <a:lstStyle/>
          <a:p>
            <a:r>
              <a:rPr sz="950" b="1" i="0" spc="200">
                <a:solidFill>
                  <a:srgbClr val="1E49E2"/>
                </a:solidFill>
              </a:rPr>
              <a:t>THE GO-LIVE GATE</a:t>
            </a:r>
          </a:p>
        </p:txBody>
      </p:sp>
      <p:sp>
        <p:nvSpPr>
          <p:cNvPr id="1034" name="TextBox 1033"/>
          <p:cNvSpPr txBox="1"/>
          <p:nvPr/>
        </p:nvSpPr>
        <p:spPr>
          <a:xfrm>
            <a:off x="8275319" y="4572000"/>
            <a:ext cx="3154680" cy="320040"/>
          </a:xfrm>
          <a:prstGeom prst="rect">
            <a:avLst/>
          </a:prstGeom>
          <a:noFill/>
        </p:spPr>
        <p:txBody>
          <a:bodyPr wrap="square" lIns="0" tIns="0" rIns="0" bIns="0" anchor="t">
            <a:spAutoFit/>
          </a:bodyPr>
          <a:lstStyle/>
          <a:p>
            <a:r>
              <a:rPr sz="1700" b="1" i="0">
                <a:solidFill>
                  <a:srgbClr val="0B1F3A"/>
                </a:solidFill>
                <a:latin typeface="+mj-lt"/>
              </a:rPr>
              <a:t>Ship and hand off</a:t>
            </a:r>
          </a:p>
        </p:txBody>
      </p:sp>
      <p:sp>
        <p:nvSpPr>
          <p:cNvPr id="1035" name="TextBox 1034"/>
          <p:cNvSpPr txBox="1"/>
          <p:nvPr/>
        </p:nvSpPr>
        <p:spPr>
          <a:xfrm>
            <a:off x="8275319" y="4937759"/>
            <a:ext cx="3154680" cy="594360"/>
          </a:xfrm>
          <a:prstGeom prst="rect">
            <a:avLst/>
          </a:prstGeom>
          <a:noFill/>
        </p:spPr>
        <p:txBody>
          <a:bodyPr wrap="square" lIns="0" tIns="0" rIns="0" bIns="0" anchor="t">
            <a:spAutoFit/>
          </a:bodyPr>
          <a:lstStyle/>
          <a:p>
            <a:r>
              <a:rPr sz="1300" b="0" i="0">
                <a:solidFill>
                  <a:srgbClr val="0B1F3A"/>
                </a:solidFill>
              </a:rPr>
              <a:t>Run UAT in TEST, get sign-off, promote and hand off to HCL.</a:t>
            </a:r>
          </a:p>
        </p:txBody>
      </p:sp>
      <p:sp>
        <p:nvSpPr>
          <p:cNvPr id="1036" name="TextBox 1035"/>
          <p:cNvSpPr txBox="1"/>
          <p:nvPr/>
        </p:nvSpPr>
        <p:spPr>
          <a:xfrm>
            <a:off x="548640" y="5806440"/>
            <a:ext cx="11091672" cy="228600"/>
          </a:xfrm>
          <a:prstGeom prst="rect">
            <a:avLst/>
          </a:prstGeom>
          <a:noFill/>
        </p:spPr>
        <p:txBody>
          <a:bodyPr wrap="square" lIns="0" tIns="0" rIns="0" bIns="0" anchor="t">
            <a:spAutoFit/>
          </a:bodyPr>
          <a:lstStyle/>
          <a:p>
            <a:r>
              <a:rPr sz="1050" b="0" i="1">
                <a:solidFill>
                  <a:srgbClr val="0B1F3A"/>
                </a:solidFill>
              </a:rPr>
              <a:t>Come back to these six in the wrap-up. They are the test of whether Part 6 worked.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PART 6 · BEFORE WE START</a:t>
            </a:r>
          </a:p>
        </p:txBody>
      </p:sp>
      <p:sp>
        <p:nvSpPr>
          <p:cNvPr id="3" name="Title 2"/>
          <p:cNvSpPr>
            <a:spLocks noGrp="1"/>
          </p:cNvSpPr>
          <p:nvPr>
            <p:ph type="title" idx="101"/>
          </p:nvPr>
        </p:nvSpPr>
        <p:spPr/>
        <p:txBody>
          <a:bodyPr/>
          <a:lstStyle/>
          <a:p>
            <a:pPr algn="l"/>
            <a:r>
              <a:t>Part 5 is the mechanics. Part 6 adds the gates.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3</a:t>
            </a:fld>
            <a:endParaRPr lang="en-US" b="0"/>
          </a:p>
        </p:txBody>
      </p:sp>
      <p:sp>
        <p:nvSpPr>
          <p:cNvPr id="1000" name="Rounded Rectangle 999"/>
          <p:cNvSpPr/>
          <p:nvPr/>
        </p:nvSpPr>
        <p:spPr>
          <a:xfrm>
            <a:off x="548640" y="1783080"/>
            <a:ext cx="5440680" cy="36118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TextBox 1000"/>
          <p:cNvSpPr txBox="1"/>
          <p:nvPr/>
        </p:nvSpPr>
        <p:spPr>
          <a:xfrm>
            <a:off x="822960" y="1920240"/>
            <a:ext cx="914400" cy="548640"/>
          </a:xfrm>
          <a:prstGeom prst="rect">
            <a:avLst/>
          </a:prstGeom>
          <a:noFill/>
        </p:spPr>
        <p:txBody>
          <a:bodyPr wrap="square" lIns="0" tIns="0" rIns="0" bIns="0" anchor="t">
            <a:spAutoFit/>
          </a:bodyPr>
          <a:lstStyle/>
          <a:p>
            <a:r>
              <a:rPr sz="3600" b="1" i="0">
                <a:solidFill>
                  <a:srgbClr val="1E49E2"/>
                </a:solidFill>
                <a:latin typeface="+mj-lt"/>
              </a:rPr>
              <a:t>05</a:t>
            </a:r>
          </a:p>
        </p:txBody>
      </p:sp>
      <p:sp>
        <p:nvSpPr>
          <p:cNvPr id="1002" name="TextBox 1001"/>
          <p:cNvSpPr txBox="1"/>
          <p:nvPr/>
        </p:nvSpPr>
        <p:spPr>
          <a:xfrm>
            <a:off x="1737360" y="1938528"/>
            <a:ext cx="4023360" cy="365760"/>
          </a:xfrm>
          <a:prstGeom prst="rect">
            <a:avLst/>
          </a:prstGeom>
          <a:noFill/>
        </p:spPr>
        <p:txBody>
          <a:bodyPr wrap="square" lIns="0" tIns="0" rIns="0" bIns="0" anchor="t">
            <a:spAutoFit/>
          </a:bodyPr>
          <a:lstStyle/>
          <a:p>
            <a:r>
              <a:rPr sz="1800" b="1" i="0">
                <a:solidFill>
                  <a:srgbClr val="0B1F3A"/>
                </a:solidFill>
                <a:latin typeface="+mj-lt"/>
              </a:rPr>
              <a:t>DevOps, Governance &amp; Deployment</a:t>
            </a:r>
          </a:p>
        </p:txBody>
      </p:sp>
      <p:sp>
        <p:nvSpPr>
          <p:cNvPr id="1003" name="TextBox 1002"/>
          <p:cNvSpPr txBox="1"/>
          <p:nvPr/>
        </p:nvSpPr>
        <p:spPr>
          <a:xfrm>
            <a:off x="1737360" y="2331720"/>
            <a:ext cx="4069080" cy="457200"/>
          </a:xfrm>
          <a:prstGeom prst="rect">
            <a:avLst/>
          </a:prstGeom>
          <a:noFill/>
        </p:spPr>
        <p:txBody>
          <a:bodyPr wrap="square" lIns="0" tIns="0" rIns="0" bIns="0" anchor="t">
            <a:spAutoFit/>
          </a:bodyPr>
          <a:lstStyle/>
          <a:p>
            <a:r>
              <a:rPr sz="1250" b="0" i="0">
                <a:solidFill>
                  <a:srgbClr val="0B1F3A"/>
                </a:solidFill>
              </a:rPr>
              <a:t>How a change moves: Git, pipelines, rails and AI help.</a:t>
            </a:r>
          </a:p>
        </p:txBody>
      </p:sp>
      <p:sp>
        <p:nvSpPr>
          <p:cNvPr id="1004" name="Rounded Rectangle 1003"/>
          <p:cNvSpPr/>
          <p:nvPr/>
        </p:nvSpPr>
        <p:spPr>
          <a:xfrm>
            <a:off x="822960" y="3054096"/>
            <a:ext cx="45720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TextBox 1004"/>
          <p:cNvSpPr txBox="1"/>
          <p:nvPr/>
        </p:nvSpPr>
        <p:spPr>
          <a:xfrm>
            <a:off x="822960" y="3054096"/>
            <a:ext cx="457200" cy="457200"/>
          </a:xfrm>
          <a:prstGeom prst="rect">
            <a:avLst/>
          </a:prstGeom>
          <a:noFill/>
        </p:spPr>
        <p:txBody>
          <a:bodyPr wrap="square" lIns="0" tIns="0" rIns="0" bIns="0" anchor="ctr">
            <a:spAutoFit/>
          </a:bodyPr>
          <a:lstStyle/>
          <a:p>
            <a:pPr algn="ctr"/>
            <a:r>
              <a:rPr sz="1800" b="1" i="0">
                <a:solidFill>
                  <a:srgbClr val="1E49E2"/>
                </a:solidFill>
                <a:latin typeface="+mj-lt"/>
              </a:rPr>
              <a:t>1</a:t>
            </a:r>
          </a:p>
        </p:txBody>
      </p:sp>
      <p:sp>
        <p:nvSpPr>
          <p:cNvPr id="1006" name="TextBox 1005"/>
          <p:cNvSpPr txBox="1"/>
          <p:nvPr/>
        </p:nvSpPr>
        <p:spPr>
          <a:xfrm>
            <a:off x="1463040" y="3017520"/>
            <a:ext cx="4297680" cy="274320"/>
          </a:xfrm>
          <a:prstGeom prst="rect">
            <a:avLst/>
          </a:prstGeom>
          <a:noFill/>
        </p:spPr>
        <p:txBody>
          <a:bodyPr wrap="square" lIns="0" tIns="0" rIns="0" bIns="0" anchor="t">
            <a:spAutoFit/>
          </a:bodyPr>
          <a:lstStyle/>
          <a:p>
            <a:r>
              <a:rPr sz="1500" b="1" i="0">
                <a:solidFill>
                  <a:srgbClr val="0B1F3A"/>
                </a:solidFill>
              </a:rPr>
              <a:t>Git fundamentals</a:t>
            </a:r>
          </a:p>
        </p:txBody>
      </p:sp>
      <p:sp>
        <p:nvSpPr>
          <p:cNvPr id="1007" name="TextBox 1006"/>
          <p:cNvSpPr txBox="1"/>
          <p:nvPr/>
        </p:nvSpPr>
        <p:spPr>
          <a:xfrm>
            <a:off x="1463040" y="3310127"/>
            <a:ext cx="4297680" cy="365760"/>
          </a:xfrm>
          <a:prstGeom prst="rect">
            <a:avLst/>
          </a:prstGeom>
          <a:noFill/>
        </p:spPr>
        <p:txBody>
          <a:bodyPr wrap="square" lIns="0" tIns="0" rIns="0" bIns="0" anchor="t">
            <a:spAutoFit/>
          </a:bodyPr>
          <a:lstStyle/>
          <a:p>
            <a:r>
              <a:rPr sz="1250" b="0" i="0">
                <a:solidFill>
                  <a:srgbClr val="0B1F3A"/>
                </a:solidFill>
              </a:rPr>
              <a:t>Source control, branches and pull requests</a:t>
            </a:r>
          </a:p>
        </p:txBody>
      </p:sp>
      <p:sp>
        <p:nvSpPr>
          <p:cNvPr id="1008" name="Rounded Rectangle 1007"/>
          <p:cNvSpPr/>
          <p:nvPr/>
        </p:nvSpPr>
        <p:spPr>
          <a:xfrm>
            <a:off x="822960" y="3831335"/>
            <a:ext cx="45720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9" name="TextBox 1008"/>
          <p:cNvSpPr txBox="1"/>
          <p:nvPr/>
        </p:nvSpPr>
        <p:spPr>
          <a:xfrm>
            <a:off x="822960" y="3831335"/>
            <a:ext cx="457200" cy="457200"/>
          </a:xfrm>
          <a:prstGeom prst="rect">
            <a:avLst/>
          </a:prstGeom>
          <a:noFill/>
        </p:spPr>
        <p:txBody>
          <a:bodyPr wrap="square" lIns="0" tIns="0" rIns="0" bIns="0" anchor="ctr">
            <a:spAutoFit/>
          </a:bodyPr>
          <a:lstStyle/>
          <a:p>
            <a:pPr algn="ctr"/>
            <a:r>
              <a:rPr sz="1800" b="1" i="0">
                <a:solidFill>
                  <a:srgbClr val="1E49E2"/>
                </a:solidFill>
                <a:latin typeface="+mj-lt"/>
              </a:rPr>
              <a:t>2</a:t>
            </a:r>
          </a:p>
        </p:txBody>
      </p:sp>
      <p:sp>
        <p:nvSpPr>
          <p:cNvPr id="1010" name="TextBox 1009"/>
          <p:cNvSpPr txBox="1"/>
          <p:nvPr/>
        </p:nvSpPr>
        <p:spPr>
          <a:xfrm>
            <a:off x="1463040" y="3794759"/>
            <a:ext cx="4297680" cy="274320"/>
          </a:xfrm>
          <a:prstGeom prst="rect">
            <a:avLst/>
          </a:prstGeom>
          <a:noFill/>
        </p:spPr>
        <p:txBody>
          <a:bodyPr wrap="square" lIns="0" tIns="0" rIns="0" bIns="0" anchor="t">
            <a:spAutoFit/>
          </a:bodyPr>
          <a:lstStyle/>
          <a:p>
            <a:r>
              <a:rPr sz="1500" b="1" i="0">
                <a:solidFill>
                  <a:srgbClr val="0B1F3A"/>
                </a:solidFill>
              </a:rPr>
              <a:t>Deployment patterns</a:t>
            </a:r>
          </a:p>
        </p:txBody>
      </p:sp>
      <p:sp>
        <p:nvSpPr>
          <p:cNvPr id="1011" name="TextBox 1010"/>
          <p:cNvSpPr txBox="1"/>
          <p:nvPr/>
        </p:nvSpPr>
        <p:spPr>
          <a:xfrm>
            <a:off x="1463040" y="4087368"/>
            <a:ext cx="4297680" cy="365760"/>
          </a:xfrm>
          <a:prstGeom prst="rect">
            <a:avLst/>
          </a:prstGeom>
          <a:noFill/>
        </p:spPr>
        <p:txBody>
          <a:bodyPr wrap="square" lIns="0" tIns="0" rIns="0" bIns="0" anchor="t">
            <a:spAutoFit/>
          </a:bodyPr>
          <a:lstStyle/>
          <a:p>
            <a:r>
              <a:rPr sz="1250" b="0" i="0">
                <a:solidFill>
                  <a:srgbClr val="0B1F3A"/>
                </a:solidFill>
              </a:rPr>
              <a:t>Pipelines, environments, promoting between workspaces</a:t>
            </a:r>
          </a:p>
        </p:txBody>
      </p:sp>
      <p:sp>
        <p:nvSpPr>
          <p:cNvPr id="1012" name="Rounded Rectangle 1011"/>
          <p:cNvSpPr/>
          <p:nvPr/>
        </p:nvSpPr>
        <p:spPr>
          <a:xfrm>
            <a:off x="822960" y="4608576"/>
            <a:ext cx="45720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822960" y="4608576"/>
            <a:ext cx="457200" cy="457200"/>
          </a:xfrm>
          <a:prstGeom prst="rect">
            <a:avLst/>
          </a:prstGeom>
          <a:noFill/>
        </p:spPr>
        <p:txBody>
          <a:bodyPr wrap="square" lIns="0" tIns="0" rIns="0" bIns="0" anchor="ctr">
            <a:spAutoFit/>
          </a:bodyPr>
          <a:lstStyle/>
          <a:p>
            <a:pPr algn="ctr"/>
            <a:r>
              <a:rPr sz="1800" b="1" i="0">
                <a:solidFill>
                  <a:srgbClr val="1E49E2"/>
                </a:solidFill>
                <a:latin typeface="+mj-lt"/>
              </a:rPr>
              <a:t>3</a:t>
            </a:r>
          </a:p>
        </p:txBody>
      </p:sp>
      <p:sp>
        <p:nvSpPr>
          <p:cNvPr id="1014" name="TextBox 1013"/>
          <p:cNvSpPr txBox="1"/>
          <p:nvPr/>
        </p:nvSpPr>
        <p:spPr>
          <a:xfrm>
            <a:off x="1463040" y="4572000"/>
            <a:ext cx="4297680" cy="274320"/>
          </a:xfrm>
          <a:prstGeom prst="rect">
            <a:avLst/>
          </a:prstGeom>
          <a:noFill/>
        </p:spPr>
        <p:txBody>
          <a:bodyPr wrap="square" lIns="0" tIns="0" rIns="0" bIns="0" anchor="t">
            <a:spAutoFit/>
          </a:bodyPr>
          <a:lstStyle/>
          <a:p>
            <a:r>
              <a:rPr sz="1500" b="1" i="0">
                <a:solidFill>
                  <a:srgbClr val="0B1F3A"/>
                </a:solidFill>
              </a:rPr>
              <a:t>Lab: ship what you built</a:t>
            </a:r>
          </a:p>
        </p:txBody>
      </p:sp>
      <p:sp>
        <p:nvSpPr>
          <p:cNvPr id="1015" name="TextBox 1014"/>
          <p:cNvSpPr txBox="1"/>
          <p:nvPr/>
        </p:nvSpPr>
        <p:spPr>
          <a:xfrm>
            <a:off x="1463040" y="4864608"/>
            <a:ext cx="4297680" cy="365760"/>
          </a:xfrm>
          <a:prstGeom prst="rect">
            <a:avLst/>
          </a:prstGeom>
          <a:noFill/>
        </p:spPr>
        <p:txBody>
          <a:bodyPr wrap="square" lIns="0" tIns="0" rIns="0" bIns="0" anchor="t">
            <a:spAutoFit/>
          </a:bodyPr>
          <a:lstStyle/>
          <a:p>
            <a:r>
              <a:rPr sz="1250" b="0" i="0">
                <a:solidFill>
                  <a:srgbClr val="0B1F3A"/>
                </a:solidFill>
              </a:rPr>
              <a:t>The lab workflow under source control, promoted upward</a:t>
            </a:r>
          </a:p>
        </p:txBody>
      </p:sp>
      <p:sp>
        <p:nvSpPr>
          <p:cNvPr id="1016" name="Rounded Rectangle 1015"/>
          <p:cNvSpPr/>
          <p:nvPr/>
        </p:nvSpPr>
        <p:spPr>
          <a:xfrm>
            <a:off x="6126480" y="1783080"/>
            <a:ext cx="5513832" cy="361188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6400800" y="1920240"/>
            <a:ext cx="914400" cy="548640"/>
          </a:xfrm>
          <a:prstGeom prst="rect">
            <a:avLst/>
          </a:prstGeom>
          <a:noFill/>
        </p:spPr>
        <p:txBody>
          <a:bodyPr wrap="square" lIns="0" tIns="0" rIns="0" bIns="0" anchor="t">
            <a:spAutoFit/>
          </a:bodyPr>
          <a:lstStyle/>
          <a:p>
            <a:r>
              <a:rPr sz="3600" b="1" i="0">
                <a:solidFill>
                  <a:srgbClr val="F2A900"/>
                </a:solidFill>
                <a:latin typeface="+mj-lt"/>
              </a:rPr>
              <a:t>06</a:t>
            </a:r>
          </a:p>
        </p:txBody>
      </p:sp>
      <p:sp>
        <p:nvSpPr>
          <p:cNvPr id="1018" name="TextBox 1017"/>
          <p:cNvSpPr txBox="1"/>
          <p:nvPr/>
        </p:nvSpPr>
        <p:spPr>
          <a:xfrm>
            <a:off x="7315200" y="1938528"/>
            <a:ext cx="4114800" cy="365760"/>
          </a:xfrm>
          <a:prstGeom prst="rect">
            <a:avLst/>
          </a:prstGeom>
          <a:noFill/>
        </p:spPr>
        <p:txBody>
          <a:bodyPr wrap="square" lIns="0" tIns="0" rIns="0" bIns="0" anchor="t">
            <a:spAutoFit/>
          </a:bodyPr>
          <a:lstStyle/>
          <a:p>
            <a:r>
              <a:rPr sz="1800" b="1" i="0">
                <a:solidFill>
                  <a:srgbClr val="FFFFFF"/>
                </a:solidFill>
                <a:latin typeface="+mj-lt"/>
              </a:rPr>
              <a:t>Taking Applications to Production</a:t>
            </a:r>
          </a:p>
        </p:txBody>
      </p:sp>
      <p:sp>
        <p:nvSpPr>
          <p:cNvPr id="1019" name="TextBox 1018"/>
          <p:cNvSpPr txBox="1"/>
          <p:nvPr/>
        </p:nvSpPr>
        <p:spPr>
          <a:xfrm>
            <a:off x="7315200" y="2331720"/>
            <a:ext cx="4114800" cy="457200"/>
          </a:xfrm>
          <a:prstGeom prst="rect">
            <a:avLst/>
          </a:prstGeom>
          <a:noFill/>
        </p:spPr>
        <p:txBody>
          <a:bodyPr wrap="square" lIns="0" tIns="0" rIns="0" bIns="0" anchor="t">
            <a:spAutoFit/>
          </a:bodyPr>
          <a:lstStyle/>
          <a:p>
            <a:r>
              <a:rPr sz="1250" b="0" i="0">
                <a:solidFill>
                  <a:srgbClr val="C9D6EC"/>
                </a:solidFill>
              </a:rPr>
              <a:t>When a change is ready to move, and who has to agree.</a:t>
            </a:r>
          </a:p>
        </p:txBody>
      </p:sp>
      <p:sp>
        <p:nvSpPr>
          <p:cNvPr id="1020" name="TextBox 1019"/>
          <p:cNvSpPr txBox="1"/>
          <p:nvPr/>
        </p:nvSpPr>
        <p:spPr>
          <a:xfrm>
            <a:off x="6400800" y="3017520"/>
            <a:ext cx="5029200" cy="2286000"/>
          </a:xfrm>
          <a:prstGeom prst="rect">
            <a:avLst/>
          </a:prstGeom>
          <a:noFill/>
        </p:spPr>
        <p:txBody>
          <a:bodyPr wrap="square" lIns="0" tIns="0" rIns="0" bIns="0">
            <a:spAutoFit/>
          </a:bodyPr>
          <a:lstStyle/>
          <a:p>
            <a:pPr marL="228600" indent="-228600">
              <a:spcAft>
                <a:spcPts val="900"/>
              </a:spcAft>
              <a:buChar char="•"/>
            </a:pPr>
            <a:r>
              <a:rPr sz="1400" b="1">
                <a:solidFill>
                  <a:srgbClr val="FFFFFF"/>
                </a:solidFill>
              </a:rPr>
              <a:t>A branch merges </a:t>
            </a:r>
            <a:r>
              <a:rPr sz="1400" b="0">
                <a:solidFill>
                  <a:srgbClr val="FFFFFF"/>
                </a:solidFill>
              </a:rPr>
              <a:t>only when the continuous rails pass.</a:t>
            </a:r>
          </a:p>
          <a:p>
            <a:pPr marL="228600" indent="-228600">
              <a:spcAft>
                <a:spcPts val="900"/>
              </a:spcAft>
              <a:buChar char="•"/>
            </a:pPr>
            <a:r>
              <a:rPr sz="1400" b="1">
                <a:solidFill>
                  <a:srgbClr val="FFFFFF"/>
                </a:solidFill>
              </a:rPr>
              <a:t>A build is DEV-ready </a:t>
            </a:r>
            <a:r>
              <a:rPr sz="1400" b="0">
                <a:solidFill>
                  <a:srgbClr val="FFFFFF"/>
                </a:solidFill>
              </a:rPr>
              <a:t>only when the running app answers.</a:t>
            </a:r>
          </a:p>
          <a:p>
            <a:pPr marL="228600" indent="-228600">
              <a:spcAft>
                <a:spcPts val="900"/>
              </a:spcAft>
              <a:buChar char="•"/>
            </a:pPr>
            <a:r>
              <a:rPr sz="1400" b="1">
                <a:solidFill>
                  <a:srgbClr val="FFFFFF"/>
                </a:solidFill>
              </a:rPr>
              <a:t>A release goes to PROD </a:t>
            </a:r>
            <a:r>
              <a:rPr sz="1400" b="0">
                <a:solidFill>
                  <a:srgbClr val="FFFFFF"/>
                </a:solidFill>
              </a:rPr>
              <a:t>only after sign-off and every approval is closed.</a:t>
            </a:r>
          </a:p>
          <a:p>
            <a:pPr marL="228600" indent="-228600">
              <a:spcAft>
                <a:spcPts val="900"/>
              </a:spcAft>
              <a:buChar char="•"/>
            </a:pPr>
            <a:r>
              <a:rPr sz="1400" b="1">
                <a:solidFill>
                  <a:srgbClr val="FFFFFF"/>
                </a:solidFill>
              </a:rPr>
              <a:t>The same tag </a:t>
            </a:r>
            <a:r>
              <a:rPr sz="1400" b="0">
                <a:solidFill>
                  <a:srgbClr val="FFFFFF"/>
                </a:solidFill>
              </a:rPr>
              <a:t>that passed TEST is the one that ships.</a:t>
            </a:r>
          </a:p>
        </p:txBody>
      </p:sp>
      <p:sp>
        <p:nvSpPr>
          <p:cNvPr id="1021" name="Rounded Rectangle 1020"/>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TextBox 1021"/>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Part 5 is how you move a change. Part 6 is when you are allowed to.</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PART 6 · THE STARTING POINT</a:t>
            </a:r>
          </a:p>
        </p:txBody>
      </p:sp>
      <p:sp>
        <p:nvSpPr>
          <p:cNvPr id="3" name="Title 2"/>
          <p:cNvSpPr>
            <a:spLocks noGrp="1"/>
          </p:cNvSpPr>
          <p:nvPr>
            <p:ph type="title" idx="101"/>
          </p:nvPr>
        </p:nvSpPr>
        <p:spPr/>
        <p:txBody>
          <a:bodyPr/>
          <a:lstStyle/>
          <a:p>
            <a:pPr algn="l"/>
            <a:r>
              <a:t>A working model is where shipping starts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4</a:t>
            </a:fld>
            <a:endParaRPr lang="en-US" b="0"/>
          </a:p>
        </p:txBody>
      </p:sp>
      <p:sp>
        <p:nvSpPr>
          <p:cNvPr id="1000" name="TextBox 999"/>
          <p:cNvSpPr txBox="1"/>
          <p:nvPr/>
        </p:nvSpPr>
        <p:spPr>
          <a:xfrm>
            <a:off x="548640" y="1783080"/>
            <a:ext cx="4572000" cy="228600"/>
          </a:xfrm>
          <a:prstGeom prst="rect">
            <a:avLst/>
          </a:prstGeom>
          <a:noFill/>
        </p:spPr>
        <p:txBody>
          <a:bodyPr wrap="square" lIns="0" tIns="0" rIns="0" bIns="0" anchor="t">
            <a:spAutoFit/>
          </a:bodyPr>
          <a:lstStyle/>
          <a:p>
            <a:r>
              <a:rPr sz="1000" b="1" i="0" spc="200">
                <a:solidFill>
                  <a:srgbClr val="1E49E2"/>
                </a:solidFill>
              </a:rPr>
              <a:t>WHAT THE BUILDER RECEIVES</a:t>
            </a:r>
          </a:p>
        </p:txBody>
      </p:sp>
      <p:sp>
        <p:nvSpPr>
          <p:cNvPr id="1001" name="Rounded Rectangle 1000"/>
          <p:cNvSpPr/>
          <p:nvPr/>
        </p:nvSpPr>
        <p:spPr>
          <a:xfrm>
            <a:off x="548640" y="2103120"/>
            <a:ext cx="5120640" cy="10058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Rectangle 1001"/>
          <p:cNvSpPr/>
          <p:nvPr/>
        </p:nvSpPr>
        <p:spPr>
          <a:xfrm>
            <a:off x="548640" y="2103120"/>
            <a:ext cx="82296" cy="1005840"/>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822960" y="2212848"/>
            <a:ext cx="1828800" cy="228600"/>
          </a:xfrm>
          <a:prstGeom prst="rect">
            <a:avLst/>
          </a:prstGeom>
          <a:noFill/>
        </p:spPr>
        <p:txBody>
          <a:bodyPr wrap="square" lIns="0" tIns="0" rIns="0" bIns="0" anchor="t">
            <a:spAutoFit/>
          </a:bodyPr>
          <a:lstStyle/>
          <a:p>
            <a:r>
              <a:rPr sz="950" b="1" i="0" spc="200">
                <a:solidFill>
                  <a:srgbClr val="1E49E2"/>
                </a:solidFill>
              </a:rPr>
              <a:t>YOU RECEIVE</a:t>
            </a:r>
          </a:p>
        </p:txBody>
      </p:sp>
      <p:sp>
        <p:nvSpPr>
          <p:cNvPr id="1004" name="TextBox 1003"/>
          <p:cNvSpPr txBox="1"/>
          <p:nvPr/>
        </p:nvSpPr>
        <p:spPr>
          <a:xfrm>
            <a:off x="822960" y="2432303"/>
            <a:ext cx="4663440" cy="274320"/>
          </a:xfrm>
          <a:prstGeom prst="rect">
            <a:avLst/>
          </a:prstGeom>
          <a:noFill/>
        </p:spPr>
        <p:txBody>
          <a:bodyPr wrap="square" lIns="0" tIns="0" rIns="0" bIns="0" anchor="t">
            <a:spAutoFit/>
          </a:bodyPr>
          <a:lstStyle/>
          <a:p>
            <a:r>
              <a:rPr sz="1600" b="1" i="0">
                <a:solidFill>
                  <a:srgbClr val="0B1F3A"/>
                </a:solidFill>
                <a:latin typeface="+mj-lt"/>
              </a:rPr>
              <a:t>A working model</a:t>
            </a:r>
          </a:p>
        </p:txBody>
      </p:sp>
      <p:sp>
        <p:nvSpPr>
          <p:cNvPr id="1005" name="TextBox 1004"/>
          <p:cNvSpPr txBox="1"/>
          <p:nvPr/>
        </p:nvSpPr>
        <p:spPr>
          <a:xfrm>
            <a:off x="822960" y="2724912"/>
            <a:ext cx="4709160" cy="365760"/>
          </a:xfrm>
          <a:prstGeom prst="rect">
            <a:avLst/>
          </a:prstGeom>
          <a:noFill/>
        </p:spPr>
        <p:txBody>
          <a:bodyPr wrap="square" lIns="0" tIns="0" rIns="0" bIns="0" anchor="t">
            <a:spAutoFit/>
          </a:bodyPr>
          <a:lstStyle/>
          <a:p>
            <a:r>
              <a:rPr sz="1200" b="0" i="0">
                <a:solidFill>
                  <a:srgbClr val="0B1F3A"/>
                </a:solidFill>
              </a:rPr>
              <a:t>Usually one HTML file with invented data. Every screen is clickable and every state can be reached.</a:t>
            </a:r>
          </a:p>
        </p:txBody>
      </p:sp>
      <p:sp>
        <p:nvSpPr>
          <p:cNvPr id="1006" name="Rounded Rectangle 1005"/>
          <p:cNvSpPr/>
          <p:nvPr/>
        </p:nvSpPr>
        <p:spPr>
          <a:xfrm>
            <a:off x="548640" y="3218687"/>
            <a:ext cx="5120640" cy="10058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ectangle 1006"/>
          <p:cNvSpPr/>
          <p:nvPr/>
        </p:nvSpPr>
        <p:spPr>
          <a:xfrm>
            <a:off x="548640" y="3218687"/>
            <a:ext cx="82296" cy="1005840"/>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822960" y="3328415"/>
            <a:ext cx="1828800" cy="228600"/>
          </a:xfrm>
          <a:prstGeom prst="rect">
            <a:avLst/>
          </a:prstGeom>
          <a:noFill/>
        </p:spPr>
        <p:txBody>
          <a:bodyPr wrap="square" lIns="0" tIns="0" rIns="0" bIns="0" anchor="t">
            <a:spAutoFit/>
          </a:bodyPr>
          <a:lstStyle/>
          <a:p>
            <a:r>
              <a:rPr sz="950" b="1" i="0" spc="200">
                <a:solidFill>
                  <a:srgbClr val="1E49E2"/>
                </a:solidFill>
              </a:rPr>
              <a:t>AND</a:t>
            </a:r>
          </a:p>
        </p:txBody>
      </p:sp>
      <p:sp>
        <p:nvSpPr>
          <p:cNvPr id="1009" name="TextBox 1008"/>
          <p:cNvSpPr txBox="1"/>
          <p:nvPr/>
        </p:nvSpPr>
        <p:spPr>
          <a:xfrm>
            <a:off x="822960" y="3547871"/>
            <a:ext cx="4663440" cy="274320"/>
          </a:xfrm>
          <a:prstGeom prst="rect">
            <a:avLst/>
          </a:prstGeom>
          <a:noFill/>
        </p:spPr>
        <p:txBody>
          <a:bodyPr wrap="square" lIns="0" tIns="0" rIns="0" bIns="0" anchor="t">
            <a:spAutoFit/>
          </a:bodyPr>
          <a:lstStyle/>
          <a:p>
            <a:r>
              <a:rPr sz="1600" b="1" i="0">
                <a:solidFill>
                  <a:srgbClr val="0B1F3A"/>
                </a:solidFill>
                <a:latin typeface="+mj-lt"/>
              </a:rPr>
              <a:t>A model charter</a:t>
            </a:r>
          </a:p>
        </p:txBody>
      </p:sp>
      <p:sp>
        <p:nvSpPr>
          <p:cNvPr id="1010" name="TextBox 1009"/>
          <p:cNvSpPr txBox="1"/>
          <p:nvPr/>
        </p:nvSpPr>
        <p:spPr>
          <a:xfrm>
            <a:off x="822960" y="3840479"/>
            <a:ext cx="4709160" cy="365760"/>
          </a:xfrm>
          <a:prstGeom prst="rect">
            <a:avLst/>
          </a:prstGeom>
          <a:noFill/>
        </p:spPr>
        <p:txBody>
          <a:bodyPr wrap="square" lIns="0" tIns="0" rIns="0" bIns="0" anchor="t">
            <a:spAutoFit/>
          </a:bodyPr>
          <a:lstStyle/>
          <a:p>
            <a:r>
              <a:rPr sz="1200" b="0" i="0">
                <a:solidFill>
                  <a:srgbClr val="0B1F3A"/>
                </a:solidFill>
              </a:rPr>
              <a:t>Purpose, users, assumptions, open questions, and what is deliberately out of scope.</a:t>
            </a:r>
          </a:p>
        </p:txBody>
      </p:sp>
      <p:sp>
        <p:nvSpPr>
          <p:cNvPr id="1011" name="Rounded Rectangle 1010"/>
          <p:cNvSpPr/>
          <p:nvPr/>
        </p:nvSpPr>
        <p:spPr>
          <a:xfrm>
            <a:off x="548640" y="4334256"/>
            <a:ext cx="5120640" cy="10058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ectangle 1011"/>
          <p:cNvSpPr/>
          <p:nvPr/>
        </p:nvSpPr>
        <p:spPr>
          <a:xfrm>
            <a:off x="548640" y="4334256"/>
            <a:ext cx="82296" cy="1005840"/>
          </a:xfrm>
          <a:prstGeom prst="rect">
            <a:avLst/>
          </a:prstGeom>
          <a:solidFill>
            <a:srgbClr val="8D9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822960" y="4443984"/>
            <a:ext cx="1828800" cy="228600"/>
          </a:xfrm>
          <a:prstGeom prst="rect">
            <a:avLst/>
          </a:prstGeom>
          <a:noFill/>
        </p:spPr>
        <p:txBody>
          <a:bodyPr wrap="square" lIns="0" tIns="0" rIns="0" bIns="0" anchor="t">
            <a:spAutoFit/>
          </a:bodyPr>
          <a:lstStyle/>
          <a:p>
            <a:r>
              <a:rPr sz="950" b="1" i="0" spc="200">
                <a:solidFill>
                  <a:srgbClr val="8D99A6"/>
                </a:solidFill>
              </a:rPr>
              <a:t>NOT</a:t>
            </a:r>
          </a:p>
        </p:txBody>
      </p:sp>
      <p:sp>
        <p:nvSpPr>
          <p:cNvPr id="1014" name="TextBox 1013"/>
          <p:cNvSpPr txBox="1"/>
          <p:nvPr/>
        </p:nvSpPr>
        <p:spPr>
          <a:xfrm>
            <a:off x="822960" y="4663440"/>
            <a:ext cx="4663440" cy="274320"/>
          </a:xfrm>
          <a:prstGeom prst="rect">
            <a:avLst/>
          </a:prstGeom>
          <a:noFill/>
        </p:spPr>
        <p:txBody>
          <a:bodyPr wrap="square" lIns="0" tIns="0" rIns="0" bIns="0" anchor="t">
            <a:spAutoFit/>
          </a:bodyPr>
          <a:lstStyle/>
          <a:p>
            <a:r>
              <a:rPr sz="1600" b="1" i="0">
                <a:solidFill>
                  <a:srgbClr val="0B1F3A"/>
                </a:solidFill>
                <a:latin typeface="+mj-lt"/>
              </a:rPr>
              <a:t>A specification document</a:t>
            </a:r>
          </a:p>
        </p:txBody>
      </p:sp>
      <p:sp>
        <p:nvSpPr>
          <p:cNvPr id="1015" name="TextBox 1014"/>
          <p:cNvSpPr txBox="1"/>
          <p:nvPr/>
        </p:nvSpPr>
        <p:spPr>
          <a:xfrm>
            <a:off x="822960" y="4956048"/>
            <a:ext cx="4709160" cy="365760"/>
          </a:xfrm>
          <a:prstGeom prst="rect">
            <a:avLst/>
          </a:prstGeom>
          <a:noFill/>
        </p:spPr>
        <p:txBody>
          <a:bodyPr wrap="square" lIns="0" tIns="0" rIns="0" bIns="0" anchor="t">
            <a:spAutoFit/>
          </a:bodyPr>
          <a:lstStyle/>
          <a:p>
            <a:r>
              <a:rPr sz="1200" b="0" i="0">
                <a:solidFill>
                  <a:srgbClr val="0B1F3A"/>
                </a:solidFill>
              </a:rPr>
              <a:t>Nobody writes thirty pages. The model is the requirement, and it is more precise than prose.</a:t>
            </a:r>
          </a:p>
        </p:txBody>
      </p:sp>
      <p:sp>
        <p:nvSpPr>
          <p:cNvPr id="1016" name="TextBox 1015"/>
          <p:cNvSpPr txBox="1"/>
          <p:nvPr/>
        </p:nvSpPr>
        <p:spPr>
          <a:xfrm>
            <a:off x="6035040" y="1783080"/>
            <a:ext cx="5486400" cy="228600"/>
          </a:xfrm>
          <a:prstGeom prst="rect">
            <a:avLst/>
          </a:prstGeom>
          <a:noFill/>
        </p:spPr>
        <p:txBody>
          <a:bodyPr wrap="square" lIns="0" tIns="0" rIns="0" bIns="0" anchor="t">
            <a:spAutoFit/>
          </a:bodyPr>
          <a:lstStyle/>
          <a:p>
            <a:r>
              <a:rPr sz="1000" b="1" i="0" spc="200">
                <a:solidFill>
                  <a:srgbClr val="1E49E2"/>
                </a:solidFill>
              </a:rPr>
              <a:t>WHAT THE MODEL IS NOT</a:t>
            </a:r>
          </a:p>
        </p:txBody>
      </p:sp>
      <p:sp>
        <p:nvSpPr>
          <p:cNvPr id="1017" name="Rounded Rectangle 1016"/>
          <p:cNvSpPr/>
          <p:nvPr/>
        </p:nvSpPr>
        <p:spPr>
          <a:xfrm>
            <a:off x="6035040" y="2103120"/>
            <a:ext cx="2697480" cy="10058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TextBox 1017"/>
          <p:cNvSpPr txBox="1"/>
          <p:nvPr/>
        </p:nvSpPr>
        <p:spPr>
          <a:xfrm>
            <a:off x="6217920" y="2240279"/>
            <a:ext cx="2377440" cy="274320"/>
          </a:xfrm>
          <a:prstGeom prst="rect">
            <a:avLst/>
          </a:prstGeom>
          <a:noFill/>
        </p:spPr>
        <p:txBody>
          <a:bodyPr wrap="square" lIns="0" tIns="0" rIns="0" bIns="0" anchor="t">
            <a:spAutoFit/>
          </a:bodyPr>
          <a:lstStyle/>
          <a:p>
            <a:r>
              <a:rPr sz="1400" b="1" i="0">
                <a:solidFill>
                  <a:srgbClr val="0B1F3A"/>
                </a:solidFill>
              </a:rPr>
              <a:t>Not secure</a:t>
            </a:r>
          </a:p>
        </p:txBody>
      </p:sp>
      <p:sp>
        <p:nvSpPr>
          <p:cNvPr id="1019" name="TextBox 1018"/>
          <p:cNvSpPr txBox="1"/>
          <p:nvPr/>
        </p:nvSpPr>
        <p:spPr>
          <a:xfrm>
            <a:off x="6217920" y="2542032"/>
            <a:ext cx="2377440" cy="548640"/>
          </a:xfrm>
          <a:prstGeom prst="rect">
            <a:avLst/>
          </a:prstGeom>
          <a:noFill/>
        </p:spPr>
        <p:txBody>
          <a:bodyPr wrap="square" lIns="0" tIns="0" rIns="0" bIns="0" anchor="t">
            <a:spAutoFit/>
          </a:bodyPr>
          <a:lstStyle/>
          <a:p>
            <a:r>
              <a:rPr sz="1200" b="0" i="0">
                <a:solidFill>
                  <a:srgbClr val="0B1F3A"/>
                </a:solidFill>
              </a:rPr>
              <a:t>The login is fake. No auth, no permissions.</a:t>
            </a:r>
          </a:p>
        </p:txBody>
      </p:sp>
      <p:sp>
        <p:nvSpPr>
          <p:cNvPr id="1020" name="Rounded Rectangle 1019"/>
          <p:cNvSpPr/>
          <p:nvPr/>
        </p:nvSpPr>
        <p:spPr>
          <a:xfrm>
            <a:off x="8869680" y="2103120"/>
            <a:ext cx="2697480" cy="10058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TextBox 1020"/>
          <p:cNvSpPr txBox="1"/>
          <p:nvPr/>
        </p:nvSpPr>
        <p:spPr>
          <a:xfrm>
            <a:off x="9052559" y="2240279"/>
            <a:ext cx="2377440" cy="274320"/>
          </a:xfrm>
          <a:prstGeom prst="rect">
            <a:avLst/>
          </a:prstGeom>
          <a:noFill/>
        </p:spPr>
        <p:txBody>
          <a:bodyPr wrap="square" lIns="0" tIns="0" rIns="0" bIns="0" anchor="t">
            <a:spAutoFit/>
          </a:bodyPr>
          <a:lstStyle/>
          <a:p>
            <a:r>
              <a:rPr sz="1400" b="1" i="0">
                <a:solidFill>
                  <a:srgbClr val="0B1F3A"/>
                </a:solidFill>
              </a:rPr>
              <a:t>Not connected</a:t>
            </a:r>
          </a:p>
        </p:txBody>
      </p:sp>
      <p:sp>
        <p:nvSpPr>
          <p:cNvPr id="1022" name="TextBox 1021"/>
          <p:cNvSpPr txBox="1"/>
          <p:nvPr/>
        </p:nvSpPr>
        <p:spPr>
          <a:xfrm>
            <a:off x="9052559" y="2542032"/>
            <a:ext cx="2377440" cy="548640"/>
          </a:xfrm>
          <a:prstGeom prst="rect">
            <a:avLst/>
          </a:prstGeom>
          <a:noFill/>
        </p:spPr>
        <p:txBody>
          <a:bodyPr wrap="square" lIns="0" tIns="0" rIns="0" bIns="0" anchor="t">
            <a:spAutoFit/>
          </a:bodyPr>
          <a:lstStyle/>
          <a:p>
            <a:r>
              <a:rPr sz="1200" b="0" i="0">
                <a:solidFill>
                  <a:srgbClr val="0B1F3A"/>
                </a:solidFill>
              </a:rPr>
              <a:t>Every integration is simulated.</a:t>
            </a:r>
          </a:p>
        </p:txBody>
      </p:sp>
      <p:sp>
        <p:nvSpPr>
          <p:cNvPr id="1023" name="Rounded Rectangle 1022"/>
          <p:cNvSpPr/>
          <p:nvPr/>
        </p:nvSpPr>
        <p:spPr>
          <a:xfrm>
            <a:off x="6035040" y="3218687"/>
            <a:ext cx="2697480" cy="10058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TextBox 1023"/>
          <p:cNvSpPr txBox="1"/>
          <p:nvPr/>
        </p:nvSpPr>
        <p:spPr>
          <a:xfrm>
            <a:off x="6217920" y="3355847"/>
            <a:ext cx="2377440" cy="274320"/>
          </a:xfrm>
          <a:prstGeom prst="rect">
            <a:avLst/>
          </a:prstGeom>
          <a:noFill/>
        </p:spPr>
        <p:txBody>
          <a:bodyPr wrap="square" lIns="0" tIns="0" rIns="0" bIns="0" anchor="t">
            <a:spAutoFit/>
          </a:bodyPr>
          <a:lstStyle/>
          <a:p>
            <a:r>
              <a:rPr sz="1400" b="1" i="0">
                <a:solidFill>
                  <a:srgbClr val="0B1F3A"/>
                </a:solidFill>
              </a:rPr>
              <a:t>Not performant</a:t>
            </a:r>
          </a:p>
        </p:txBody>
      </p:sp>
      <p:sp>
        <p:nvSpPr>
          <p:cNvPr id="1025" name="TextBox 1024"/>
          <p:cNvSpPr txBox="1"/>
          <p:nvPr/>
        </p:nvSpPr>
        <p:spPr>
          <a:xfrm>
            <a:off x="6217920" y="3657599"/>
            <a:ext cx="2377440" cy="548640"/>
          </a:xfrm>
          <a:prstGeom prst="rect">
            <a:avLst/>
          </a:prstGeom>
          <a:noFill/>
        </p:spPr>
        <p:txBody>
          <a:bodyPr wrap="square" lIns="0" tIns="0" rIns="0" bIns="0" anchor="t">
            <a:spAutoFit/>
          </a:bodyPr>
          <a:lstStyle/>
          <a:p>
            <a:r>
              <a:rPr sz="1200" b="0" i="0">
                <a:solidFill>
                  <a:srgbClr val="0B1F3A"/>
                </a:solidFill>
              </a:rPr>
              <a:t>Fifty invented rows prove a layout, not a query plan.</a:t>
            </a:r>
          </a:p>
        </p:txBody>
      </p:sp>
      <p:sp>
        <p:nvSpPr>
          <p:cNvPr id="1026" name="Rounded Rectangle 1025"/>
          <p:cNvSpPr/>
          <p:nvPr/>
        </p:nvSpPr>
        <p:spPr>
          <a:xfrm>
            <a:off x="8869680" y="3218687"/>
            <a:ext cx="2697480" cy="10058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TextBox 1026"/>
          <p:cNvSpPr txBox="1"/>
          <p:nvPr/>
        </p:nvSpPr>
        <p:spPr>
          <a:xfrm>
            <a:off x="9052559" y="3355847"/>
            <a:ext cx="2377440" cy="274320"/>
          </a:xfrm>
          <a:prstGeom prst="rect">
            <a:avLst/>
          </a:prstGeom>
          <a:noFill/>
        </p:spPr>
        <p:txBody>
          <a:bodyPr wrap="square" lIns="0" tIns="0" rIns="0" bIns="0" anchor="t">
            <a:spAutoFit/>
          </a:bodyPr>
          <a:lstStyle/>
          <a:p>
            <a:r>
              <a:rPr sz="1400" b="1" i="0">
                <a:solidFill>
                  <a:srgbClr val="0B1F3A"/>
                </a:solidFill>
              </a:rPr>
              <a:t>Not real data</a:t>
            </a:r>
          </a:p>
        </p:txBody>
      </p:sp>
      <p:sp>
        <p:nvSpPr>
          <p:cNvPr id="1028" name="TextBox 1027"/>
          <p:cNvSpPr txBox="1"/>
          <p:nvPr/>
        </p:nvSpPr>
        <p:spPr>
          <a:xfrm>
            <a:off x="9052559" y="3657599"/>
            <a:ext cx="2377440" cy="548640"/>
          </a:xfrm>
          <a:prstGeom prst="rect">
            <a:avLst/>
          </a:prstGeom>
          <a:noFill/>
        </p:spPr>
        <p:txBody>
          <a:bodyPr wrap="square" lIns="0" tIns="0" rIns="0" bIns="0" anchor="t">
            <a:spAutoFit/>
          </a:bodyPr>
          <a:lstStyle/>
          <a:p>
            <a:r>
              <a:rPr sz="1200" b="0" i="0">
                <a:solidFill>
                  <a:srgbClr val="0B1F3A"/>
                </a:solidFill>
              </a:rPr>
              <a:t>Nothing from any production system.</a:t>
            </a:r>
          </a:p>
        </p:txBody>
      </p:sp>
      <p:sp>
        <p:nvSpPr>
          <p:cNvPr id="1029" name="Rounded Rectangle 1028"/>
          <p:cNvSpPr/>
          <p:nvPr/>
        </p:nvSpPr>
        <p:spPr>
          <a:xfrm>
            <a:off x="6035040" y="4334256"/>
            <a:ext cx="2697480" cy="10058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0" name="TextBox 1029"/>
          <p:cNvSpPr txBox="1"/>
          <p:nvPr/>
        </p:nvSpPr>
        <p:spPr>
          <a:xfrm>
            <a:off x="6217920" y="4471416"/>
            <a:ext cx="2377440" cy="274320"/>
          </a:xfrm>
          <a:prstGeom prst="rect">
            <a:avLst/>
          </a:prstGeom>
          <a:noFill/>
        </p:spPr>
        <p:txBody>
          <a:bodyPr wrap="square" lIns="0" tIns="0" rIns="0" bIns="0" anchor="t">
            <a:spAutoFit/>
          </a:bodyPr>
          <a:lstStyle/>
          <a:p>
            <a:r>
              <a:rPr sz="1400" b="1" i="0">
                <a:solidFill>
                  <a:srgbClr val="0B1F3A"/>
                </a:solidFill>
              </a:rPr>
              <a:t>Not production code</a:t>
            </a:r>
          </a:p>
        </p:txBody>
      </p:sp>
      <p:sp>
        <p:nvSpPr>
          <p:cNvPr id="1031" name="TextBox 1030"/>
          <p:cNvSpPr txBox="1"/>
          <p:nvPr/>
        </p:nvSpPr>
        <p:spPr>
          <a:xfrm>
            <a:off x="6217920" y="4773168"/>
            <a:ext cx="2377440" cy="548640"/>
          </a:xfrm>
          <a:prstGeom prst="rect">
            <a:avLst/>
          </a:prstGeom>
          <a:noFill/>
        </p:spPr>
        <p:txBody>
          <a:bodyPr wrap="square" lIns="0" tIns="0" rIns="0" bIns="0" anchor="t">
            <a:spAutoFit/>
          </a:bodyPr>
          <a:lstStyle/>
          <a:p>
            <a:r>
              <a:rPr sz="1200" b="0" i="0">
                <a:solidFill>
                  <a:srgbClr val="0B1F3A"/>
                </a:solidFill>
              </a:rPr>
              <a:t>You rebuild it properly, on the standard stack.</a:t>
            </a:r>
          </a:p>
        </p:txBody>
      </p:sp>
      <p:sp>
        <p:nvSpPr>
          <p:cNvPr id="1032" name="Rounded Rectangle 1031"/>
          <p:cNvSpPr/>
          <p:nvPr/>
        </p:nvSpPr>
        <p:spPr>
          <a:xfrm>
            <a:off x="8869680" y="4334256"/>
            <a:ext cx="2697480" cy="10058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3" name="TextBox 1032"/>
          <p:cNvSpPr txBox="1"/>
          <p:nvPr/>
        </p:nvSpPr>
        <p:spPr>
          <a:xfrm>
            <a:off x="9052559" y="4471416"/>
            <a:ext cx="2377440" cy="274320"/>
          </a:xfrm>
          <a:prstGeom prst="rect">
            <a:avLst/>
          </a:prstGeom>
          <a:noFill/>
        </p:spPr>
        <p:txBody>
          <a:bodyPr wrap="square" lIns="0" tIns="0" rIns="0" bIns="0" anchor="t">
            <a:spAutoFit/>
          </a:bodyPr>
          <a:lstStyle/>
          <a:p>
            <a:r>
              <a:rPr sz="1400" b="1" i="0">
                <a:solidFill>
                  <a:srgbClr val="0B1F3A"/>
                </a:solidFill>
              </a:rPr>
              <a:t>Not a free pass</a:t>
            </a:r>
          </a:p>
        </p:txBody>
      </p:sp>
      <p:sp>
        <p:nvSpPr>
          <p:cNvPr id="1034" name="TextBox 1033"/>
          <p:cNvSpPr txBox="1"/>
          <p:nvPr/>
        </p:nvSpPr>
        <p:spPr>
          <a:xfrm>
            <a:off x="9052559" y="4773168"/>
            <a:ext cx="2377440" cy="548640"/>
          </a:xfrm>
          <a:prstGeom prst="rect">
            <a:avLst/>
          </a:prstGeom>
          <a:noFill/>
        </p:spPr>
        <p:txBody>
          <a:bodyPr wrap="square" lIns="0" tIns="0" rIns="0" bIns="0" anchor="t">
            <a:spAutoFit/>
          </a:bodyPr>
          <a:lstStyle/>
          <a:p>
            <a:r>
              <a:rPr sz="1200" b="0" i="0">
                <a:solidFill>
                  <a:srgbClr val="0B1F3A"/>
                </a:solidFill>
              </a:rPr>
              <a:t>The model changes the input, not the standard.</a:t>
            </a:r>
          </a:p>
        </p:txBody>
      </p:sp>
      <p:sp>
        <p:nvSpPr>
          <p:cNvPr id="1035" name="Rounded Rectangle 1034"/>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6" name="TextBox 1035"/>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Nothing in the model is code you keep. Everything in it is a decision you honour.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PART 6 · THE PAVED PATH</a:t>
            </a:r>
          </a:p>
        </p:txBody>
      </p:sp>
      <p:sp>
        <p:nvSpPr>
          <p:cNvPr id="3" name="Title 2"/>
          <p:cNvSpPr>
            <a:spLocks noGrp="1"/>
          </p:cNvSpPr>
          <p:nvPr>
            <p:ph type="title" idx="101"/>
          </p:nvPr>
        </p:nvSpPr>
        <p:spPr/>
        <p:txBody>
          <a:bodyPr/>
          <a:lstStyle/>
          <a:p>
            <a:pPr algn="l"/>
            <a:r>
              <a:t>Three systems, each on its own clock</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5</a:t>
            </a:fld>
            <a:endParaRPr lang="en-US" b="0"/>
          </a:p>
        </p:txBody>
      </p:sp>
      <p:sp>
        <p:nvSpPr>
          <p:cNvPr id="1000" name="TextBox 999"/>
          <p:cNvSpPr txBox="1"/>
          <p:nvPr/>
        </p:nvSpPr>
        <p:spPr>
          <a:xfrm>
            <a:off x="548640" y="1691640"/>
            <a:ext cx="11064240" cy="457200"/>
          </a:xfrm>
          <a:prstGeom prst="rect">
            <a:avLst/>
          </a:prstGeom>
          <a:noFill/>
        </p:spPr>
        <p:txBody>
          <a:bodyPr wrap="square" lIns="0" tIns="0" rIns="0" bIns="0" anchor="t">
            <a:spAutoFit/>
          </a:bodyPr>
          <a:lstStyle/>
          <a:p>
            <a:r>
              <a:rPr sz="1400" b="0" i="0">
                <a:solidFill>
                  <a:srgbClr val="0B1F3A"/>
                </a:solidFill>
              </a:rPr>
              <a:t>Most delivery processes are drawn as a single line. These three run at different speeds, and treating them as one is how work falls through the gaps.</a:t>
            </a:r>
          </a:p>
        </p:txBody>
      </p:sp>
      <p:sp>
        <p:nvSpPr>
          <p:cNvPr id="1001" name="Rounded Rectangle 1000"/>
          <p:cNvSpPr/>
          <p:nvPr/>
        </p:nvSpPr>
        <p:spPr>
          <a:xfrm>
            <a:off x="548640" y="2331720"/>
            <a:ext cx="3593592" cy="17830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Rectangle 1001"/>
          <p:cNvSpPr/>
          <p:nvPr/>
        </p:nvSpPr>
        <p:spPr>
          <a:xfrm>
            <a:off x="548640" y="2331720"/>
            <a:ext cx="3593592" cy="82296"/>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777240" y="2560320"/>
            <a:ext cx="3108960" cy="228600"/>
          </a:xfrm>
          <a:prstGeom prst="rect">
            <a:avLst/>
          </a:prstGeom>
          <a:noFill/>
        </p:spPr>
        <p:txBody>
          <a:bodyPr wrap="square" lIns="0" tIns="0" rIns="0" bIns="0" anchor="t">
            <a:spAutoFit/>
          </a:bodyPr>
          <a:lstStyle/>
          <a:p>
            <a:r>
              <a:rPr sz="950" b="1" i="0" spc="200">
                <a:solidFill>
                  <a:srgbClr val="1E49E2"/>
                </a:solidFill>
              </a:rPr>
              <a:t>PROCESS</a:t>
            </a:r>
          </a:p>
        </p:txBody>
      </p:sp>
      <p:sp>
        <p:nvSpPr>
          <p:cNvPr id="1004" name="TextBox 1003"/>
          <p:cNvSpPr txBox="1"/>
          <p:nvPr/>
        </p:nvSpPr>
        <p:spPr>
          <a:xfrm>
            <a:off x="777240" y="2816352"/>
            <a:ext cx="3154680" cy="320040"/>
          </a:xfrm>
          <a:prstGeom prst="rect">
            <a:avLst/>
          </a:prstGeom>
          <a:noFill/>
        </p:spPr>
        <p:txBody>
          <a:bodyPr wrap="square" lIns="0" tIns="0" rIns="0" bIns="0" anchor="t">
            <a:spAutoFit/>
          </a:bodyPr>
          <a:lstStyle/>
          <a:p>
            <a:r>
              <a:rPr sz="1700" b="1" i="0">
                <a:solidFill>
                  <a:srgbClr val="0B1F3A"/>
                </a:solidFill>
                <a:latin typeface="+mj-lt"/>
              </a:rPr>
              <a:t>The path work travels</a:t>
            </a:r>
          </a:p>
        </p:txBody>
      </p:sp>
      <p:sp>
        <p:nvSpPr>
          <p:cNvPr id="1005" name="TextBox 1004"/>
          <p:cNvSpPr txBox="1"/>
          <p:nvPr/>
        </p:nvSpPr>
        <p:spPr>
          <a:xfrm>
            <a:off x="777240" y="3200400"/>
            <a:ext cx="3154680" cy="822960"/>
          </a:xfrm>
          <a:prstGeom prst="rect">
            <a:avLst/>
          </a:prstGeom>
          <a:noFill/>
        </p:spPr>
        <p:txBody>
          <a:bodyPr wrap="square" lIns="0" tIns="0" rIns="0" bIns="0" anchor="t">
            <a:spAutoFit/>
          </a:bodyPr>
          <a:lstStyle/>
          <a:p>
            <a:r>
              <a:rPr sz="1250" b="0" i="0">
                <a:solidFill>
                  <a:srgbClr val="0B1F3A"/>
                </a:solidFill>
              </a:rPr>
              <a:t>Four phases and four gates, in order. This is the part that looks like a process diagram.</a:t>
            </a:r>
          </a:p>
        </p:txBody>
      </p:sp>
      <p:sp>
        <p:nvSpPr>
          <p:cNvPr id="1006" name="Rounded Rectangle 1005"/>
          <p:cNvSpPr/>
          <p:nvPr/>
        </p:nvSpPr>
        <p:spPr>
          <a:xfrm>
            <a:off x="4297679" y="2331720"/>
            <a:ext cx="3593592" cy="17830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ectangle 1006"/>
          <p:cNvSpPr/>
          <p:nvPr/>
        </p:nvSpPr>
        <p:spPr>
          <a:xfrm>
            <a:off x="4297679" y="2331720"/>
            <a:ext cx="3593592" cy="82296"/>
          </a:xfrm>
          <a:prstGeom prst="rect">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4526279" y="2560320"/>
            <a:ext cx="3108960" cy="228600"/>
          </a:xfrm>
          <a:prstGeom prst="rect">
            <a:avLst/>
          </a:prstGeom>
          <a:noFill/>
        </p:spPr>
        <p:txBody>
          <a:bodyPr wrap="square" lIns="0" tIns="0" rIns="0" bIns="0" anchor="t">
            <a:spAutoFit/>
          </a:bodyPr>
          <a:lstStyle/>
          <a:p>
            <a:r>
              <a:rPr sz="950" b="1" i="0" spc="200">
                <a:solidFill>
                  <a:srgbClr val="00A3A1"/>
                </a:solidFill>
              </a:rPr>
              <a:t>QUALITY CONTROL</a:t>
            </a:r>
          </a:p>
        </p:txBody>
      </p:sp>
      <p:sp>
        <p:nvSpPr>
          <p:cNvPr id="1009" name="TextBox 1008"/>
          <p:cNvSpPr txBox="1"/>
          <p:nvPr/>
        </p:nvSpPr>
        <p:spPr>
          <a:xfrm>
            <a:off x="4526279" y="2816352"/>
            <a:ext cx="3154680" cy="320040"/>
          </a:xfrm>
          <a:prstGeom prst="rect">
            <a:avLst/>
          </a:prstGeom>
          <a:noFill/>
        </p:spPr>
        <p:txBody>
          <a:bodyPr wrap="square" lIns="0" tIns="0" rIns="0" bIns="0" anchor="t">
            <a:spAutoFit/>
          </a:bodyPr>
          <a:lstStyle/>
          <a:p>
            <a:r>
              <a:rPr sz="1700" b="1" i="0">
                <a:solidFill>
                  <a:srgbClr val="0B1F3A"/>
                </a:solidFill>
                <a:latin typeface="+mj-lt"/>
              </a:rPr>
              <a:t>The rails and the slow gates</a:t>
            </a:r>
          </a:p>
        </p:txBody>
      </p:sp>
      <p:sp>
        <p:nvSpPr>
          <p:cNvPr id="1010" name="TextBox 1009"/>
          <p:cNvSpPr txBox="1"/>
          <p:nvPr/>
        </p:nvSpPr>
        <p:spPr>
          <a:xfrm>
            <a:off x="4526279" y="3200400"/>
            <a:ext cx="3154680" cy="822960"/>
          </a:xfrm>
          <a:prstGeom prst="rect">
            <a:avLst/>
          </a:prstGeom>
          <a:noFill/>
        </p:spPr>
        <p:txBody>
          <a:bodyPr wrap="square" lIns="0" tIns="0" rIns="0" bIns="0" anchor="t">
            <a:spAutoFit/>
          </a:bodyPr>
          <a:lstStyle/>
          <a:p>
            <a:r>
              <a:rPr sz="1250" b="0" i="0">
                <a:solidFill>
                  <a:srgbClr val="0B1F3A"/>
                </a:solidFill>
              </a:rPr>
              <a:t>Some checks run on every change. Others run once, on another team's clock, and take weeks.</a:t>
            </a:r>
          </a:p>
        </p:txBody>
      </p:sp>
      <p:sp>
        <p:nvSpPr>
          <p:cNvPr id="1011" name="Rounded Rectangle 1010"/>
          <p:cNvSpPr/>
          <p:nvPr/>
        </p:nvSpPr>
        <p:spPr>
          <a:xfrm>
            <a:off x="8046719" y="2331720"/>
            <a:ext cx="3593592" cy="17830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ectangle 1011"/>
          <p:cNvSpPr/>
          <p:nvPr/>
        </p:nvSpPr>
        <p:spPr>
          <a:xfrm>
            <a:off x="8046719" y="2331720"/>
            <a:ext cx="3593592" cy="82296"/>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8275319" y="2560320"/>
            <a:ext cx="3108960" cy="228600"/>
          </a:xfrm>
          <a:prstGeom prst="rect">
            <a:avLst/>
          </a:prstGeom>
          <a:noFill/>
        </p:spPr>
        <p:txBody>
          <a:bodyPr wrap="square" lIns="0" tIns="0" rIns="0" bIns="0" anchor="t">
            <a:spAutoFit/>
          </a:bodyPr>
          <a:lstStyle/>
          <a:p>
            <a:r>
              <a:rPr sz="950" b="1" i="0" spc="200">
                <a:solidFill>
                  <a:srgbClr val="B5651D"/>
                </a:solidFill>
              </a:rPr>
              <a:t>DOCUMENTATION</a:t>
            </a:r>
          </a:p>
        </p:txBody>
      </p:sp>
      <p:sp>
        <p:nvSpPr>
          <p:cNvPr id="1014" name="TextBox 1013"/>
          <p:cNvSpPr txBox="1"/>
          <p:nvPr/>
        </p:nvSpPr>
        <p:spPr>
          <a:xfrm>
            <a:off x="8275319" y="2816352"/>
            <a:ext cx="3154680" cy="320040"/>
          </a:xfrm>
          <a:prstGeom prst="rect">
            <a:avLst/>
          </a:prstGeom>
          <a:noFill/>
        </p:spPr>
        <p:txBody>
          <a:bodyPr wrap="square" lIns="0" tIns="0" rIns="0" bIns="0" anchor="t">
            <a:spAutoFit/>
          </a:bodyPr>
          <a:lstStyle/>
          <a:p>
            <a:r>
              <a:rPr sz="1700" b="1" i="0">
                <a:solidFill>
                  <a:srgbClr val="0B1F3A"/>
                </a:solidFill>
                <a:latin typeface="+mj-lt"/>
              </a:rPr>
              <a:t>The record that flows outward</a:t>
            </a:r>
          </a:p>
        </p:txBody>
      </p:sp>
      <p:sp>
        <p:nvSpPr>
          <p:cNvPr id="1015" name="TextBox 1014"/>
          <p:cNvSpPr txBox="1"/>
          <p:nvPr/>
        </p:nvSpPr>
        <p:spPr>
          <a:xfrm>
            <a:off x="8275319" y="3200400"/>
            <a:ext cx="3154680" cy="822960"/>
          </a:xfrm>
          <a:prstGeom prst="rect">
            <a:avLst/>
          </a:prstGeom>
          <a:noFill/>
        </p:spPr>
        <p:txBody>
          <a:bodyPr wrap="square" lIns="0" tIns="0" rIns="0" bIns="0" anchor="t">
            <a:spAutoFit/>
          </a:bodyPr>
          <a:lstStyle/>
          <a:p>
            <a:r>
              <a:rPr sz="1250" b="0" i="0">
                <a:solidFill>
                  <a:srgbClr val="0B1F3A"/>
                </a:solidFill>
              </a:rPr>
              <a:t>Phase changes and gate outcomes, for the people who plan rather than build.</a:t>
            </a:r>
          </a:p>
        </p:txBody>
      </p:sp>
      <p:sp>
        <p:nvSpPr>
          <p:cNvPr id="1016" name="Rounded Rectangle 1015"/>
          <p:cNvSpPr/>
          <p:nvPr/>
        </p:nvSpPr>
        <p:spPr>
          <a:xfrm>
            <a:off x="548640" y="4297680"/>
            <a:ext cx="5440680" cy="114300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777240" y="4407408"/>
            <a:ext cx="4572000" cy="228600"/>
          </a:xfrm>
          <a:prstGeom prst="rect">
            <a:avLst/>
          </a:prstGeom>
          <a:noFill/>
        </p:spPr>
        <p:txBody>
          <a:bodyPr wrap="square" lIns="0" tIns="0" rIns="0" bIns="0" anchor="t">
            <a:spAutoFit/>
          </a:bodyPr>
          <a:lstStyle/>
          <a:p>
            <a:r>
              <a:rPr sz="950" b="1" i="0" spc="200">
                <a:solidFill>
                  <a:srgbClr val="1E49E2"/>
                </a:solidFill>
              </a:rPr>
              <a:t>WORKFRONT OWNS PROJECT STATE</a:t>
            </a:r>
          </a:p>
        </p:txBody>
      </p:sp>
      <p:sp>
        <p:nvSpPr>
          <p:cNvPr id="1018" name="TextBox 1017"/>
          <p:cNvSpPr txBox="1"/>
          <p:nvPr/>
        </p:nvSpPr>
        <p:spPr>
          <a:xfrm>
            <a:off x="777240" y="4663440"/>
            <a:ext cx="5029200" cy="731520"/>
          </a:xfrm>
          <a:prstGeom prst="rect">
            <a:avLst/>
          </a:prstGeom>
          <a:noFill/>
        </p:spPr>
        <p:txBody>
          <a:bodyPr wrap="square" lIns="0" tIns="0" rIns="0" bIns="0" anchor="t">
            <a:spAutoFit/>
          </a:bodyPr>
          <a:lstStyle/>
          <a:p>
            <a:r>
              <a:rPr sz="1250" b="0" i="0">
                <a:solidFill>
                  <a:srgbClr val="0B1F3A"/>
                </a:solidFill>
              </a:rPr>
              <a:t>Phases, gates, approvals and who signed, dates, cost classification and the evidence index. It answers ‘where does the project stand?’</a:t>
            </a:r>
          </a:p>
        </p:txBody>
      </p:sp>
      <p:sp>
        <p:nvSpPr>
          <p:cNvPr id="1019" name="Rounded Rectangle 1018"/>
          <p:cNvSpPr/>
          <p:nvPr/>
        </p:nvSpPr>
        <p:spPr>
          <a:xfrm>
            <a:off x="6199632" y="4297680"/>
            <a:ext cx="5440680" cy="114300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TextBox 1019"/>
          <p:cNvSpPr txBox="1"/>
          <p:nvPr/>
        </p:nvSpPr>
        <p:spPr>
          <a:xfrm>
            <a:off x="6428232" y="4407408"/>
            <a:ext cx="4572000" cy="228600"/>
          </a:xfrm>
          <a:prstGeom prst="rect">
            <a:avLst/>
          </a:prstGeom>
          <a:noFill/>
        </p:spPr>
        <p:txBody>
          <a:bodyPr wrap="square" lIns="0" tIns="0" rIns="0" bIns="0" anchor="t">
            <a:spAutoFit/>
          </a:bodyPr>
          <a:lstStyle/>
          <a:p>
            <a:r>
              <a:rPr sz="950" b="1" i="0" spc="200">
                <a:solidFill>
                  <a:srgbClr val="1E49E2"/>
                </a:solidFill>
              </a:rPr>
              <a:t>AZURE BOARDS OWNS ENGINEERING DETAIL</a:t>
            </a:r>
          </a:p>
        </p:txBody>
      </p:sp>
      <p:sp>
        <p:nvSpPr>
          <p:cNvPr id="1021" name="TextBox 1020"/>
          <p:cNvSpPr txBox="1"/>
          <p:nvPr/>
        </p:nvSpPr>
        <p:spPr>
          <a:xfrm>
            <a:off x="6428232" y="4663440"/>
            <a:ext cx="5029200" cy="731520"/>
          </a:xfrm>
          <a:prstGeom prst="rect">
            <a:avLst/>
          </a:prstGeom>
          <a:noFill/>
        </p:spPr>
        <p:txBody>
          <a:bodyPr wrap="square" lIns="0" tIns="0" rIns="0" bIns="0" anchor="t">
            <a:spAutoFit/>
          </a:bodyPr>
          <a:lstStyle/>
          <a:p>
            <a:r>
              <a:rPr sz="1250" b="0" i="0">
                <a:solidFill>
                  <a:srgbClr val="0B1F3A"/>
                </a:solidFill>
              </a:rPr>
              <a:t>Work items, bugs and features, referenced as AB#&lt;id&gt; in commits and pull requests. It feeds Workfront and never speaks for it.</a:t>
            </a:r>
          </a:p>
        </p:txBody>
      </p:sp>
      <p:sp>
        <p:nvSpPr>
          <p:cNvPr id="1022" name="Rounded Rectangle 1021"/>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TextBox 1022"/>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A check that runs on every commit and a review that takes six weeks are different things. Plan them separately.</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PART 6 · THE PAVED PATH</a:t>
            </a:r>
          </a:p>
        </p:txBody>
      </p:sp>
      <p:sp>
        <p:nvSpPr>
          <p:cNvPr id="3" name="Title 2"/>
          <p:cNvSpPr>
            <a:spLocks noGrp="1"/>
          </p:cNvSpPr>
          <p:nvPr>
            <p:ph type="title" idx="101"/>
          </p:nvPr>
        </p:nvSpPr>
        <p:spPr/>
        <p:txBody>
          <a:bodyPr/>
          <a:lstStyle/>
          <a:p>
            <a:pPr algn="l"/>
            <a:r>
              <a:t>Four phases, each closed by a gate you can point at</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6</a:t>
            </a:fld>
            <a:endParaRPr lang="en-US" b="0"/>
          </a:p>
        </p:txBody>
      </p:sp>
      <p:sp>
        <p:nvSpPr>
          <p:cNvPr id="1000" name="Rounded Rectangle 999"/>
          <p:cNvSpPr/>
          <p:nvPr/>
        </p:nvSpPr>
        <p:spPr>
          <a:xfrm>
            <a:off x="548640" y="1783080"/>
            <a:ext cx="2651760" cy="2011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TextBox 1000"/>
          <p:cNvSpPr txBox="1"/>
          <p:nvPr/>
        </p:nvSpPr>
        <p:spPr>
          <a:xfrm>
            <a:off x="749808" y="1874519"/>
            <a:ext cx="1280160" cy="274320"/>
          </a:xfrm>
          <a:prstGeom prst="rect">
            <a:avLst/>
          </a:prstGeom>
          <a:noFill/>
        </p:spPr>
        <p:txBody>
          <a:bodyPr wrap="square" lIns="0" tIns="0" rIns="0" bIns="0" anchor="t">
            <a:spAutoFit/>
          </a:bodyPr>
          <a:lstStyle/>
          <a:p>
            <a:r>
              <a:rPr sz="1000" b="1" i="0" spc="200">
                <a:solidFill>
                  <a:srgbClr val="1E49E2"/>
                </a:solidFill>
              </a:rPr>
              <a:t>PHASE 0</a:t>
            </a:r>
          </a:p>
        </p:txBody>
      </p:sp>
      <p:sp>
        <p:nvSpPr>
          <p:cNvPr id="1002" name="TextBox 1001"/>
          <p:cNvSpPr txBox="1"/>
          <p:nvPr/>
        </p:nvSpPr>
        <p:spPr>
          <a:xfrm>
            <a:off x="749808" y="2148840"/>
            <a:ext cx="2286000" cy="365760"/>
          </a:xfrm>
          <a:prstGeom prst="rect">
            <a:avLst/>
          </a:prstGeom>
          <a:noFill/>
        </p:spPr>
        <p:txBody>
          <a:bodyPr wrap="square" lIns="0" tIns="0" rIns="0" bIns="0" anchor="t">
            <a:spAutoFit/>
          </a:bodyPr>
          <a:lstStyle/>
          <a:p>
            <a:r>
              <a:rPr sz="2000" b="1" i="0">
                <a:solidFill>
                  <a:srgbClr val="0B1F3A"/>
                </a:solidFill>
                <a:latin typeface="+mj-lt"/>
              </a:rPr>
              <a:t>Model</a:t>
            </a:r>
          </a:p>
        </p:txBody>
      </p:sp>
      <p:sp>
        <p:nvSpPr>
          <p:cNvPr id="1003" name="TextBox 1002"/>
          <p:cNvSpPr txBox="1"/>
          <p:nvPr/>
        </p:nvSpPr>
        <p:spPr>
          <a:xfrm>
            <a:off x="749808" y="2606040"/>
            <a:ext cx="2286000" cy="777240"/>
          </a:xfrm>
          <a:prstGeom prst="rect">
            <a:avLst/>
          </a:prstGeom>
          <a:noFill/>
        </p:spPr>
        <p:txBody>
          <a:bodyPr wrap="square" lIns="0" tIns="0" rIns="0" bIns="0" anchor="t">
            <a:spAutoFit/>
          </a:bodyPr>
          <a:lstStyle/>
          <a:p>
            <a:r>
              <a:rPr sz="1200" b="0" i="0">
                <a:solidFill>
                  <a:srgbClr val="0B1F3A"/>
                </a:solidFill>
              </a:rPr>
              <a:t>The requester builds a working model and writes the model charter.</a:t>
            </a:r>
          </a:p>
        </p:txBody>
      </p:sp>
      <p:sp>
        <p:nvSpPr>
          <p:cNvPr id="1004" name="Rounded Rectangle 1003"/>
          <p:cNvSpPr/>
          <p:nvPr/>
        </p:nvSpPr>
        <p:spPr>
          <a:xfrm>
            <a:off x="749808" y="3401568"/>
            <a:ext cx="105156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TextBox 1004"/>
          <p:cNvSpPr txBox="1"/>
          <p:nvPr/>
        </p:nvSpPr>
        <p:spPr>
          <a:xfrm>
            <a:off x="749808" y="3401568"/>
            <a:ext cx="1051560" cy="274320"/>
          </a:xfrm>
          <a:prstGeom prst="rect">
            <a:avLst/>
          </a:prstGeom>
          <a:noFill/>
        </p:spPr>
        <p:txBody>
          <a:bodyPr wrap="square" lIns="0" tIns="0" rIns="0" bIns="0" anchor="ctr">
            <a:spAutoFit/>
          </a:bodyPr>
          <a:lstStyle/>
          <a:p>
            <a:pPr algn="ctr"/>
            <a:r>
              <a:rPr sz="950" b="1" i="0" spc="200">
                <a:solidFill>
                  <a:srgbClr val="1E49E2"/>
                </a:solidFill>
              </a:rPr>
              <a:t>REQUESTER</a:t>
            </a:r>
          </a:p>
        </p:txBody>
      </p:sp>
      <p:sp>
        <p:nvSpPr>
          <p:cNvPr id="1006" name="Rounded Rectangle 1005"/>
          <p:cNvSpPr/>
          <p:nvPr/>
        </p:nvSpPr>
        <p:spPr>
          <a:xfrm>
            <a:off x="548640" y="3931920"/>
            <a:ext cx="2651760" cy="146304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Diamond 1006"/>
          <p:cNvSpPr/>
          <p:nvPr/>
        </p:nvSpPr>
        <p:spPr>
          <a:xfrm>
            <a:off x="749808" y="4069080"/>
            <a:ext cx="329184" cy="329184"/>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1188719" y="4050791"/>
            <a:ext cx="1920240" cy="365760"/>
          </a:xfrm>
          <a:prstGeom prst="rect">
            <a:avLst/>
          </a:prstGeom>
          <a:noFill/>
        </p:spPr>
        <p:txBody>
          <a:bodyPr wrap="square" lIns="0" tIns="0" rIns="0" bIns="0" anchor="ctr">
            <a:spAutoFit/>
          </a:bodyPr>
          <a:lstStyle/>
          <a:p>
            <a:r>
              <a:rPr sz="1600" b="1" i="0">
                <a:solidFill>
                  <a:srgbClr val="FFFFFF"/>
                </a:solidFill>
                <a:latin typeface="+mj-lt"/>
              </a:rPr>
              <a:t>Upsize gate</a:t>
            </a:r>
          </a:p>
        </p:txBody>
      </p:sp>
      <p:sp>
        <p:nvSpPr>
          <p:cNvPr id="1009" name="TextBox 1008"/>
          <p:cNvSpPr txBox="1"/>
          <p:nvPr/>
        </p:nvSpPr>
        <p:spPr>
          <a:xfrm>
            <a:off x="749808" y="4526280"/>
            <a:ext cx="457200" cy="228600"/>
          </a:xfrm>
          <a:prstGeom prst="rect">
            <a:avLst/>
          </a:prstGeom>
          <a:noFill/>
        </p:spPr>
        <p:txBody>
          <a:bodyPr wrap="square" lIns="0" tIns="0" rIns="0" bIns="0" anchor="t">
            <a:spAutoFit/>
          </a:bodyPr>
          <a:lstStyle/>
          <a:p>
            <a:r>
              <a:rPr sz="900" b="1" i="0" spc="200">
                <a:solidFill>
                  <a:srgbClr val="F2A900"/>
                </a:solidFill>
              </a:rPr>
              <a:t>TESTS</a:t>
            </a:r>
          </a:p>
        </p:txBody>
      </p:sp>
      <p:sp>
        <p:nvSpPr>
          <p:cNvPr id="1010" name="TextBox 1009"/>
          <p:cNvSpPr txBox="1"/>
          <p:nvPr/>
        </p:nvSpPr>
        <p:spPr>
          <a:xfrm>
            <a:off x="749808" y="4754880"/>
            <a:ext cx="2286000" cy="594360"/>
          </a:xfrm>
          <a:prstGeom prst="rect">
            <a:avLst/>
          </a:prstGeom>
          <a:noFill/>
        </p:spPr>
        <p:txBody>
          <a:bodyPr wrap="square" lIns="0" tIns="0" rIns="0" bIns="0" anchor="t">
            <a:spAutoFit/>
          </a:bodyPr>
          <a:lstStyle/>
          <a:p>
            <a:r>
              <a:rPr sz="1250" b="0" i="0">
                <a:solidFill>
                  <a:srgbClr val="FFFFFF"/>
                </a:solidFill>
              </a:rPr>
              <a:t>The charter has no open questions</a:t>
            </a:r>
          </a:p>
        </p:txBody>
      </p:sp>
      <p:sp>
        <p:nvSpPr>
          <p:cNvPr id="1011" name="Right Arrow 1010"/>
          <p:cNvSpPr/>
          <p:nvPr/>
        </p:nvSpPr>
        <p:spPr>
          <a:xfrm>
            <a:off x="3218688" y="4526280"/>
            <a:ext cx="128016" cy="274320"/>
          </a:xfrm>
          <a:prstGeom prst="rightArrow">
            <a:avLst/>
          </a:prstGeom>
          <a:solidFill>
            <a:srgbClr val="8D9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ounded Rectangle 1011"/>
          <p:cNvSpPr/>
          <p:nvPr/>
        </p:nvSpPr>
        <p:spPr>
          <a:xfrm>
            <a:off x="3364992" y="1783080"/>
            <a:ext cx="2651760" cy="2011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3566160" y="1874519"/>
            <a:ext cx="1280160" cy="274320"/>
          </a:xfrm>
          <a:prstGeom prst="rect">
            <a:avLst/>
          </a:prstGeom>
          <a:noFill/>
        </p:spPr>
        <p:txBody>
          <a:bodyPr wrap="square" lIns="0" tIns="0" rIns="0" bIns="0" anchor="t">
            <a:spAutoFit/>
          </a:bodyPr>
          <a:lstStyle/>
          <a:p>
            <a:r>
              <a:rPr sz="1000" b="1" i="0" spc="200">
                <a:solidFill>
                  <a:srgbClr val="1E49E2"/>
                </a:solidFill>
              </a:rPr>
              <a:t>PHASE 1</a:t>
            </a:r>
          </a:p>
        </p:txBody>
      </p:sp>
      <p:sp>
        <p:nvSpPr>
          <p:cNvPr id="1014" name="TextBox 1013"/>
          <p:cNvSpPr txBox="1"/>
          <p:nvPr/>
        </p:nvSpPr>
        <p:spPr>
          <a:xfrm>
            <a:off x="3566160" y="2148840"/>
            <a:ext cx="2286000" cy="365760"/>
          </a:xfrm>
          <a:prstGeom prst="rect">
            <a:avLst/>
          </a:prstGeom>
          <a:noFill/>
        </p:spPr>
        <p:txBody>
          <a:bodyPr wrap="square" lIns="0" tIns="0" rIns="0" bIns="0" anchor="t">
            <a:spAutoFit/>
          </a:bodyPr>
          <a:lstStyle/>
          <a:p>
            <a:r>
              <a:rPr sz="2000" b="1" i="0">
                <a:solidFill>
                  <a:srgbClr val="0B1F3A"/>
                </a:solidFill>
                <a:latin typeface="+mj-lt"/>
              </a:rPr>
              <a:t>Upsize</a:t>
            </a:r>
          </a:p>
        </p:txBody>
      </p:sp>
      <p:sp>
        <p:nvSpPr>
          <p:cNvPr id="1015" name="TextBox 1014"/>
          <p:cNvSpPr txBox="1"/>
          <p:nvPr/>
        </p:nvSpPr>
        <p:spPr>
          <a:xfrm>
            <a:off x="3566160" y="2606040"/>
            <a:ext cx="2286000" cy="777240"/>
          </a:xfrm>
          <a:prstGeom prst="rect">
            <a:avLst/>
          </a:prstGeom>
          <a:noFill/>
        </p:spPr>
        <p:txBody>
          <a:bodyPr wrap="square" lIns="0" tIns="0" rIns="0" bIns="0" anchor="t">
            <a:spAutoFit/>
          </a:bodyPr>
          <a:lstStyle/>
          <a:p>
            <a:r>
              <a:rPr sz="1200" b="0" i="0">
                <a:solidFill>
                  <a:srgbClr val="0B1F3A"/>
                </a:solidFill>
              </a:rPr>
              <a:t>The model becomes a real repository on the standard stack, deployed to DEV.</a:t>
            </a:r>
          </a:p>
        </p:txBody>
      </p:sp>
      <p:sp>
        <p:nvSpPr>
          <p:cNvPr id="1016" name="Rounded Rectangle 1015"/>
          <p:cNvSpPr/>
          <p:nvPr/>
        </p:nvSpPr>
        <p:spPr>
          <a:xfrm>
            <a:off x="3566160" y="3401568"/>
            <a:ext cx="105156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3566160" y="3401568"/>
            <a:ext cx="1051560" cy="274320"/>
          </a:xfrm>
          <a:prstGeom prst="rect">
            <a:avLst/>
          </a:prstGeom>
          <a:noFill/>
        </p:spPr>
        <p:txBody>
          <a:bodyPr wrap="square" lIns="0" tIns="0" rIns="0" bIns="0" anchor="ctr">
            <a:spAutoFit/>
          </a:bodyPr>
          <a:lstStyle/>
          <a:p>
            <a:pPr algn="ctr"/>
            <a:r>
              <a:rPr sz="950" b="1" i="0" spc="200">
                <a:solidFill>
                  <a:srgbClr val="1E49E2"/>
                </a:solidFill>
              </a:rPr>
              <a:t>BUILDER</a:t>
            </a:r>
          </a:p>
        </p:txBody>
      </p:sp>
      <p:sp>
        <p:nvSpPr>
          <p:cNvPr id="1018" name="Rounded Rectangle 1017"/>
          <p:cNvSpPr/>
          <p:nvPr/>
        </p:nvSpPr>
        <p:spPr>
          <a:xfrm>
            <a:off x="3364992" y="3931920"/>
            <a:ext cx="2651760" cy="146304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Diamond 1018"/>
          <p:cNvSpPr/>
          <p:nvPr/>
        </p:nvSpPr>
        <p:spPr>
          <a:xfrm>
            <a:off x="3566160" y="4069080"/>
            <a:ext cx="329184" cy="329184"/>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TextBox 1019"/>
          <p:cNvSpPr txBox="1"/>
          <p:nvPr/>
        </p:nvSpPr>
        <p:spPr>
          <a:xfrm>
            <a:off x="4005072" y="4050791"/>
            <a:ext cx="1920240" cy="365760"/>
          </a:xfrm>
          <a:prstGeom prst="rect">
            <a:avLst/>
          </a:prstGeom>
          <a:noFill/>
        </p:spPr>
        <p:txBody>
          <a:bodyPr wrap="square" lIns="0" tIns="0" rIns="0" bIns="0" anchor="ctr">
            <a:spAutoFit/>
          </a:bodyPr>
          <a:lstStyle/>
          <a:p>
            <a:r>
              <a:rPr sz="1600" b="1" i="0">
                <a:solidFill>
                  <a:srgbClr val="FFFFFF"/>
                </a:solidFill>
                <a:latin typeface="+mj-lt"/>
              </a:rPr>
              <a:t>DEV gate</a:t>
            </a:r>
          </a:p>
        </p:txBody>
      </p:sp>
      <p:sp>
        <p:nvSpPr>
          <p:cNvPr id="1021" name="TextBox 1020"/>
          <p:cNvSpPr txBox="1"/>
          <p:nvPr/>
        </p:nvSpPr>
        <p:spPr>
          <a:xfrm>
            <a:off x="3566160" y="4526280"/>
            <a:ext cx="457200" cy="228600"/>
          </a:xfrm>
          <a:prstGeom prst="rect">
            <a:avLst/>
          </a:prstGeom>
          <a:noFill/>
        </p:spPr>
        <p:txBody>
          <a:bodyPr wrap="square" lIns="0" tIns="0" rIns="0" bIns="0" anchor="t">
            <a:spAutoFit/>
          </a:bodyPr>
          <a:lstStyle/>
          <a:p>
            <a:r>
              <a:rPr sz="900" b="1" i="0" spc="200">
                <a:solidFill>
                  <a:srgbClr val="F2A900"/>
                </a:solidFill>
              </a:rPr>
              <a:t>TESTS</a:t>
            </a:r>
          </a:p>
        </p:txBody>
      </p:sp>
      <p:sp>
        <p:nvSpPr>
          <p:cNvPr id="1022" name="TextBox 1021"/>
          <p:cNvSpPr txBox="1"/>
          <p:nvPr/>
        </p:nvSpPr>
        <p:spPr>
          <a:xfrm>
            <a:off x="3566160" y="4754880"/>
            <a:ext cx="2286000" cy="594360"/>
          </a:xfrm>
          <a:prstGeom prst="rect">
            <a:avLst/>
          </a:prstGeom>
          <a:noFill/>
        </p:spPr>
        <p:txBody>
          <a:bodyPr wrap="square" lIns="0" tIns="0" rIns="0" bIns="0" anchor="t">
            <a:spAutoFit/>
          </a:bodyPr>
          <a:lstStyle/>
          <a:p>
            <a:r>
              <a:rPr sz="1250" b="0" i="0">
                <a:solidFill>
                  <a:srgbClr val="FFFFFF"/>
                </a:solidFill>
              </a:rPr>
              <a:t>The running app answers a request</a:t>
            </a:r>
          </a:p>
        </p:txBody>
      </p:sp>
      <p:sp>
        <p:nvSpPr>
          <p:cNvPr id="1023" name="Right Arrow 1022"/>
          <p:cNvSpPr/>
          <p:nvPr/>
        </p:nvSpPr>
        <p:spPr>
          <a:xfrm>
            <a:off x="6035040" y="4526280"/>
            <a:ext cx="128016" cy="274320"/>
          </a:xfrm>
          <a:prstGeom prst="rightArrow">
            <a:avLst/>
          </a:prstGeom>
          <a:solidFill>
            <a:srgbClr val="8D9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Rounded Rectangle 1023"/>
          <p:cNvSpPr/>
          <p:nvPr/>
        </p:nvSpPr>
        <p:spPr>
          <a:xfrm>
            <a:off x="6181344" y="1783080"/>
            <a:ext cx="2651760" cy="2011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TextBox 1024"/>
          <p:cNvSpPr txBox="1"/>
          <p:nvPr/>
        </p:nvSpPr>
        <p:spPr>
          <a:xfrm>
            <a:off x="6382512" y="1874519"/>
            <a:ext cx="1280160" cy="274320"/>
          </a:xfrm>
          <a:prstGeom prst="rect">
            <a:avLst/>
          </a:prstGeom>
          <a:noFill/>
        </p:spPr>
        <p:txBody>
          <a:bodyPr wrap="square" lIns="0" tIns="0" rIns="0" bIns="0" anchor="t">
            <a:spAutoFit/>
          </a:bodyPr>
          <a:lstStyle/>
          <a:p>
            <a:r>
              <a:rPr sz="1000" b="1" i="0" spc="200">
                <a:solidFill>
                  <a:srgbClr val="1E49E2"/>
                </a:solidFill>
              </a:rPr>
              <a:t>PHASE 2</a:t>
            </a:r>
          </a:p>
        </p:txBody>
      </p:sp>
      <p:sp>
        <p:nvSpPr>
          <p:cNvPr id="1026" name="TextBox 1025"/>
          <p:cNvSpPr txBox="1"/>
          <p:nvPr/>
        </p:nvSpPr>
        <p:spPr>
          <a:xfrm>
            <a:off x="6382512" y="2148840"/>
            <a:ext cx="2286000" cy="365760"/>
          </a:xfrm>
          <a:prstGeom prst="rect">
            <a:avLst/>
          </a:prstGeom>
          <a:noFill/>
        </p:spPr>
        <p:txBody>
          <a:bodyPr wrap="square" lIns="0" tIns="0" rIns="0" bIns="0" anchor="t">
            <a:spAutoFit/>
          </a:bodyPr>
          <a:lstStyle/>
          <a:p>
            <a:r>
              <a:rPr sz="2000" b="1" i="0">
                <a:solidFill>
                  <a:srgbClr val="0B1F3A"/>
                </a:solidFill>
                <a:latin typeface="+mj-lt"/>
              </a:rPr>
              <a:t>Build loop</a:t>
            </a:r>
          </a:p>
        </p:txBody>
      </p:sp>
      <p:sp>
        <p:nvSpPr>
          <p:cNvPr id="1027" name="TextBox 1026"/>
          <p:cNvSpPr txBox="1"/>
          <p:nvPr/>
        </p:nvSpPr>
        <p:spPr>
          <a:xfrm>
            <a:off x="6382512" y="2606040"/>
            <a:ext cx="2286000" cy="777240"/>
          </a:xfrm>
          <a:prstGeom prst="rect">
            <a:avLst/>
          </a:prstGeom>
          <a:noFill/>
        </p:spPr>
        <p:txBody>
          <a:bodyPr wrap="square" lIns="0" tIns="0" rIns="0" bIns="0" anchor="t">
            <a:spAutoFit/>
          </a:bodyPr>
          <a:lstStyle/>
          <a:p>
            <a:r>
              <a:rPr sz="1200" b="0" i="0">
                <a:solidFill>
                  <a:srgbClr val="0B1F3A"/>
                </a:solidFill>
              </a:rPr>
              <a:t>Features and fixes, with the rails running beside every change.</a:t>
            </a:r>
          </a:p>
        </p:txBody>
      </p:sp>
      <p:sp>
        <p:nvSpPr>
          <p:cNvPr id="1028" name="Rounded Rectangle 1027"/>
          <p:cNvSpPr/>
          <p:nvPr/>
        </p:nvSpPr>
        <p:spPr>
          <a:xfrm>
            <a:off x="6382512" y="3401568"/>
            <a:ext cx="105156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TextBox 1028"/>
          <p:cNvSpPr txBox="1"/>
          <p:nvPr/>
        </p:nvSpPr>
        <p:spPr>
          <a:xfrm>
            <a:off x="6382512" y="3401568"/>
            <a:ext cx="1051560" cy="274320"/>
          </a:xfrm>
          <a:prstGeom prst="rect">
            <a:avLst/>
          </a:prstGeom>
          <a:noFill/>
        </p:spPr>
        <p:txBody>
          <a:bodyPr wrap="square" lIns="0" tIns="0" rIns="0" bIns="0" anchor="ctr">
            <a:spAutoFit/>
          </a:bodyPr>
          <a:lstStyle/>
          <a:p>
            <a:pPr algn="ctr"/>
            <a:r>
              <a:rPr sz="950" b="1" i="0" spc="200">
                <a:solidFill>
                  <a:srgbClr val="1E49E2"/>
                </a:solidFill>
              </a:rPr>
              <a:t>BUILDER</a:t>
            </a:r>
          </a:p>
        </p:txBody>
      </p:sp>
      <p:sp>
        <p:nvSpPr>
          <p:cNvPr id="1030" name="Rounded Rectangle 1029"/>
          <p:cNvSpPr/>
          <p:nvPr/>
        </p:nvSpPr>
        <p:spPr>
          <a:xfrm>
            <a:off x="6181344" y="3931920"/>
            <a:ext cx="2651760" cy="146304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1" name="Diamond 1030"/>
          <p:cNvSpPr/>
          <p:nvPr/>
        </p:nvSpPr>
        <p:spPr>
          <a:xfrm>
            <a:off x="6382512" y="4069080"/>
            <a:ext cx="329184" cy="329184"/>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2" name="TextBox 1031"/>
          <p:cNvSpPr txBox="1"/>
          <p:nvPr/>
        </p:nvSpPr>
        <p:spPr>
          <a:xfrm>
            <a:off x="6821424" y="4050791"/>
            <a:ext cx="1920240" cy="365760"/>
          </a:xfrm>
          <a:prstGeom prst="rect">
            <a:avLst/>
          </a:prstGeom>
          <a:noFill/>
        </p:spPr>
        <p:txBody>
          <a:bodyPr wrap="square" lIns="0" tIns="0" rIns="0" bIns="0" anchor="ctr">
            <a:spAutoFit/>
          </a:bodyPr>
          <a:lstStyle/>
          <a:p>
            <a:r>
              <a:rPr sz="1600" b="1" i="0">
                <a:solidFill>
                  <a:srgbClr val="FFFFFF"/>
                </a:solidFill>
                <a:latin typeface="+mj-lt"/>
              </a:rPr>
              <a:t>Scope gate</a:t>
            </a:r>
          </a:p>
        </p:txBody>
      </p:sp>
      <p:sp>
        <p:nvSpPr>
          <p:cNvPr id="1033" name="TextBox 1032"/>
          <p:cNvSpPr txBox="1"/>
          <p:nvPr/>
        </p:nvSpPr>
        <p:spPr>
          <a:xfrm>
            <a:off x="6382512" y="4526280"/>
            <a:ext cx="457200" cy="228600"/>
          </a:xfrm>
          <a:prstGeom prst="rect">
            <a:avLst/>
          </a:prstGeom>
          <a:noFill/>
        </p:spPr>
        <p:txBody>
          <a:bodyPr wrap="square" lIns="0" tIns="0" rIns="0" bIns="0" anchor="t">
            <a:spAutoFit/>
          </a:bodyPr>
          <a:lstStyle/>
          <a:p>
            <a:r>
              <a:rPr sz="900" b="1" i="0" spc="200">
                <a:solidFill>
                  <a:srgbClr val="F2A900"/>
                </a:solidFill>
              </a:rPr>
              <a:t>TESTS</a:t>
            </a:r>
          </a:p>
        </p:txBody>
      </p:sp>
      <p:sp>
        <p:nvSpPr>
          <p:cNvPr id="1034" name="TextBox 1033"/>
          <p:cNvSpPr txBox="1"/>
          <p:nvPr/>
        </p:nvSpPr>
        <p:spPr>
          <a:xfrm>
            <a:off x="6382512" y="4754880"/>
            <a:ext cx="2286000" cy="594360"/>
          </a:xfrm>
          <a:prstGeom prst="rect">
            <a:avLst/>
          </a:prstGeom>
          <a:noFill/>
        </p:spPr>
        <p:txBody>
          <a:bodyPr wrap="square" lIns="0" tIns="0" rIns="0" bIns="0" anchor="t">
            <a:spAutoFit/>
          </a:bodyPr>
          <a:lstStyle/>
          <a:p>
            <a:r>
              <a:rPr sz="1250" b="0" i="0">
                <a:solidFill>
                  <a:srgbClr val="FFFFFF"/>
                </a:solidFill>
              </a:rPr>
              <a:t>The full flow works, every state reachable</a:t>
            </a:r>
          </a:p>
        </p:txBody>
      </p:sp>
      <p:sp>
        <p:nvSpPr>
          <p:cNvPr id="1035" name="Right Arrow 1034"/>
          <p:cNvSpPr/>
          <p:nvPr/>
        </p:nvSpPr>
        <p:spPr>
          <a:xfrm>
            <a:off x="8851392" y="4526280"/>
            <a:ext cx="128016" cy="274320"/>
          </a:xfrm>
          <a:prstGeom prst="rightArrow">
            <a:avLst/>
          </a:prstGeom>
          <a:solidFill>
            <a:srgbClr val="8D9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6" name="Rounded Rectangle 1035"/>
          <p:cNvSpPr/>
          <p:nvPr/>
        </p:nvSpPr>
        <p:spPr>
          <a:xfrm>
            <a:off x="8997696" y="1783080"/>
            <a:ext cx="2651760" cy="2011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7" name="TextBox 1036"/>
          <p:cNvSpPr txBox="1"/>
          <p:nvPr/>
        </p:nvSpPr>
        <p:spPr>
          <a:xfrm>
            <a:off x="9198864" y="1874519"/>
            <a:ext cx="1280160" cy="274320"/>
          </a:xfrm>
          <a:prstGeom prst="rect">
            <a:avLst/>
          </a:prstGeom>
          <a:noFill/>
        </p:spPr>
        <p:txBody>
          <a:bodyPr wrap="square" lIns="0" tIns="0" rIns="0" bIns="0" anchor="t">
            <a:spAutoFit/>
          </a:bodyPr>
          <a:lstStyle/>
          <a:p>
            <a:r>
              <a:rPr sz="1000" b="1" i="0" spc="200">
                <a:solidFill>
                  <a:srgbClr val="1E49E2"/>
                </a:solidFill>
              </a:rPr>
              <a:t>PHASE 3</a:t>
            </a:r>
          </a:p>
        </p:txBody>
      </p:sp>
      <p:sp>
        <p:nvSpPr>
          <p:cNvPr id="1038" name="TextBox 1037"/>
          <p:cNvSpPr txBox="1"/>
          <p:nvPr/>
        </p:nvSpPr>
        <p:spPr>
          <a:xfrm>
            <a:off x="9198864" y="2148840"/>
            <a:ext cx="2286000" cy="365760"/>
          </a:xfrm>
          <a:prstGeom prst="rect">
            <a:avLst/>
          </a:prstGeom>
          <a:noFill/>
        </p:spPr>
        <p:txBody>
          <a:bodyPr wrap="square" lIns="0" tIns="0" rIns="0" bIns="0" anchor="t">
            <a:spAutoFit/>
          </a:bodyPr>
          <a:lstStyle/>
          <a:p>
            <a:r>
              <a:rPr sz="2000" b="1" i="0">
                <a:solidFill>
                  <a:srgbClr val="0B1F3A"/>
                </a:solidFill>
                <a:latin typeface="+mj-lt"/>
              </a:rPr>
              <a:t>Release loop</a:t>
            </a:r>
          </a:p>
        </p:txBody>
      </p:sp>
      <p:sp>
        <p:nvSpPr>
          <p:cNvPr id="1039" name="TextBox 1038"/>
          <p:cNvSpPr txBox="1"/>
          <p:nvPr/>
        </p:nvSpPr>
        <p:spPr>
          <a:xfrm>
            <a:off x="9198864" y="2606040"/>
            <a:ext cx="2286000" cy="777240"/>
          </a:xfrm>
          <a:prstGeom prst="rect">
            <a:avLst/>
          </a:prstGeom>
          <a:noFill/>
        </p:spPr>
        <p:txBody>
          <a:bodyPr wrap="square" lIns="0" tIns="0" rIns="0" bIns="0" anchor="t">
            <a:spAutoFit/>
          </a:bodyPr>
          <a:lstStyle/>
          <a:p>
            <a:r>
              <a:rPr sz="1200" b="0" i="0">
                <a:solidFill>
                  <a:srgbClr val="0B1F3A"/>
                </a:solidFill>
              </a:rPr>
              <a:t>Cut, test, accept in TEST, promote to production.</a:t>
            </a:r>
          </a:p>
        </p:txBody>
      </p:sp>
      <p:sp>
        <p:nvSpPr>
          <p:cNvPr id="1040" name="Rounded Rectangle 1039"/>
          <p:cNvSpPr/>
          <p:nvPr/>
        </p:nvSpPr>
        <p:spPr>
          <a:xfrm>
            <a:off x="9198864" y="3401568"/>
            <a:ext cx="173736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1" name="TextBox 1040"/>
          <p:cNvSpPr txBox="1"/>
          <p:nvPr/>
        </p:nvSpPr>
        <p:spPr>
          <a:xfrm>
            <a:off x="9198864" y="3401568"/>
            <a:ext cx="1737360" cy="274320"/>
          </a:xfrm>
          <a:prstGeom prst="rect">
            <a:avLst/>
          </a:prstGeom>
          <a:noFill/>
        </p:spPr>
        <p:txBody>
          <a:bodyPr wrap="square" lIns="0" tIns="0" rIns="0" bIns="0" anchor="ctr">
            <a:spAutoFit/>
          </a:bodyPr>
          <a:lstStyle/>
          <a:p>
            <a:pPr algn="ctr"/>
            <a:r>
              <a:rPr sz="950" b="1" i="0" spc="200">
                <a:solidFill>
                  <a:srgbClr val="1E49E2"/>
                </a:solidFill>
              </a:rPr>
              <a:t>BUILDER + BUSINESS</a:t>
            </a:r>
          </a:p>
        </p:txBody>
      </p:sp>
      <p:sp>
        <p:nvSpPr>
          <p:cNvPr id="1042" name="Rounded Rectangle 1041"/>
          <p:cNvSpPr/>
          <p:nvPr/>
        </p:nvSpPr>
        <p:spPr>
          <a:xfrm>
            <a:off x="8997696" y="3931920"/>
            <a:ext cx="2651760" cy="146304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3" name="Diamond 1042"/>
          <p:cNvSpPr/>
          <p:nvPr/>
        </p:nvSpPr>
        <p:spPr>
          <a:xfrm>
            <a:off x="9198864" y="4069080"/>
            <a:ext cx="329184" cy="329184"/>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4" name="TextBox 1043"/>
          <p:cNvSpPr txBox="1"/>
          <p:nvPr/>
        </p:nvSpPr>
        <p:spPr>
          <a:xfrm>
            <a:off x="9637776" y="4050791"/>
            <a:ext cx="1920240" cy="365760"/>
          </a:xfrm>
          <a:prstGeom prst="rect">
            <a:avLst/>
          </a:prstGeom>
          <a:noFill/>
        </p:spPr>
        <p:txBody>
          <a:bodyPr wrap="square" lIns="0" tIns="0" rIns="0" bIns="0" anchor="ctr">
            <a:spAutoFit/>
          </a:bodyPr>
          <a:lstStyle/>
          <a:p>
            <a:r>
              <a:rPr sz="1600" b="1" i="0">
                <a:solidFill>
                  <a:srgbClr val="FFFFFF"/>
                </a:solidFill>
                <a:latin typeface="+mj-lt"/>
              </a:rPr>
              <a:t>Go-live gate</a:t>
            </a:r>
          </a:p>
        </p:txBody>
      </p:sp>
      <p:sp>
        <p:nvSpPr>
          <p:cNvPr id="1045" name="TextBox 1044"/>
          <p:cNvSpPr txBox="1"/>
          <p:nvPr/>
        </p:nvSpPr>
        <p:spPr>
          <a:xfrm>
            <a:off x="9198864" y="4526280"/>
            <a:ext cx="457200" cy="228600"/>
          </a:xfrm>
          <a:prstGeom prst="rect">
            <a:avLst/>
          </a:prstGeom>
          <a:noFill/>
        </p:spPr>
        <p:txBody>
          <a:bodyPr wrap="square" lIns="0" tIns="0" rIns="0" bIns="0" anchor="t">
            <a:spAutoFit/>
          </a:bodyPr>
          <a:lstStyle/>
          <a:p>
            <a:r>
              <a:rPr sz="900" b="1" i="0" spc="200">
                <a:solidFill>
                  <a:srgbClr val="F2A900"/>
                </a:solidFill>
              </a:rPr>
              <a:t>TESTS</a:t>
            </a:r>
          </a:p>
        </p:txBody>
      </p:sp>
      <p:sp>
        <p:nvSpPr>
          <p:cNvPr id="1046" name="TextBox 1045"/>
          <p:cNvSpPr txBox="1"/>
          <p:nvPr/>
        </p:nvSpPr>
        <p:spPr>
          <a:xfrm>
            <a:off x="9198864" y="4754880"/>
            <a:ext cx="2286000" cy="594360"/>
          </a:xfrm>
          <a:prstGeom prst="rect">
            <a:avLst/>
          </a:prstGeom>
          <a:noFill/>
        </p:spPr>
        <p:txBody>
          <a:bodyPr wrap="square" lIns="0" tIns="0" rIns="0" bIns="0" anchor="t">
            <a:spAutoFit/>
          </a:bodyPr>
          <a:lstStyle/>
          <a:p>
            <a:r>
              <a:rPr sz="1250" b="0" i="0">
                <a:solidFill>
                  <a:srgbClr val="FFFFFF"/>
                </a:solidFill>
              </a:rPr>
              <a:t>Signed off, every approval closed, app verified</a:t>
            </a:r>
          </a:p>
        </p:txBody>
      </p:sp>
      <p:sp>
        <p:nvSpPr>
          <p:cNvPr id="1047" name="Rounded Rectangle 1046"/>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 name="TextBox 1047"/>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No gate is a meeting. Each one tests an artifact or a result that someone can check.</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PART 6 · THE PAVED PATH</a:t>
            </a:r>
          </a:p>
        </p:txBody>
      </p:sp>
      <p:sp>
        <p:nvSpPr>
          <p:cNvPr id="3" name="Title 2"/>
          <p:cNvSpPr>
            <a:spLocks noGrp="1"/>
          </p:cNvSpPr>
          <p:nvPr>
            <p:ph type="title" idx="101"/>
          </p:nvPr>
        </p:nvSpPr>
        <p:spPr/>
        <p:txBody>
          <a:bodyPr/>
          <a:lstStyle/>
          <a:p>
            <a:pPr algn="l"/>
            <a:r>
              <a:t>The twelve TDMI steps, placed on the four gates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7</a:t>
            </a:fld>
            <a:endParaRPr lang="en-US" b="0"/>
          </a:p>
        </p:txBody>
      </p:sp>
      <p:sp>
        <p:nvSpPr>
          <p:cNvPr id="1000" name="Rounded Rectangle 999"/>
          <p:cNvSpPr/>
          <p:nvPr/>
        </p:nvSpPr>
        <p:spPr>
          <a:xfrm>
            <a:off x="548640" y="1783080"/>
            <a:ext cx="2651760" cy="26974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TextBox 1000"/>
          <p:cNvSpPr txBox="1"/>
          <p:nvPr/>
        </p:nvSpPr>
        <p:spPr>
          <a:xfrm>
            <a:off x="731520" y="1892807"/>
            <a:ext cx="2377440" cy="228600"/>
          </a:xfrm>
          <a:prstGeom prst="rect">
            <a:avLst/>
          </a:prstGeom>
          <a:noFill/>
        </p:spPr>
        <p:txBody>
          <a:bodyPr wrap="square" lIns="0" tIns="0" rIns="0" bIns="0" anchor="t">
            <a:spAutoFit/>
          </a:bodyPr>
          <a:lstStyle/>
          <a:p>
            <a:r>
              <a:rPr sz="900" b="1" i="0" spc="200">
                <a:solidFill>
                  <a:srgbClr val="1E49E2"/>
                </a:solidFill>
              </a:rPr>
              <a:t>PHASE 0 · MODEL</a:t>
            </a:r>
          </a:p>
        </p:txBody>
      </p:sp>
      <p:sp>
        <p:nvSpPr>
          <p:cNvPr id="1002" name="Rounded Rectangle 1001"/>
          <p:cNvSpPr/>
          <p:nvPr/>
        </p:nvSpPr>
        <p:spPr>
          <a:xfrm>
            <a:off x="731520" y="2240280"/>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Rounded Rectangle 1002"/>
          <p:cNvSpPr/>
          <p:nvPr/>
        </p:nvSpPr>
        <p:spPr>
          <a:xfrm>
            <a:off x="804672" y="2313432"/>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4" name="TextBox 1003"/>
          <p:cNvSpPr txBox="1"/>
          <p:nvPr/>
        </p:nvSpPr>
        <p:spPr>
          <a:xfrm>
            <a:off x="804672" y="2385691"/>
            <a:ext cx="329184" cy="184666"/>
          </a:xfrm>
          <a:prstGeom prst="rect">
            <a:avLst/>
          </a:prstGeom>
          <a:noFill/>
        </p:spPr>
        <p:txBody>
          <a:bodyPr wrap="square" lIns="0" tIns="0" rIns="0" bIns="0" anchor="ctr">
            <a:spAutoFit/>
          </a:bodyPr>
          <a:lstStyle/>
          <a:p>
            <a:pPr algn="ctr"/>
            <a:r>
              <a:rPr lang="en-US" sz="1200" b="1">
                <a:solidFill>
                  <a:srgbClr val="FFFFFF"/>
                </a:solidFill>
                <a:latin typeface="+mj-lt"/>
              </a:rPr>
              <a:t>1</a:t>
            </a:r>
            <a:endParaRPr sz="1200" b="1" i="0">
              <a:solidFill>
                <a:srgbClr val="FFFFFF"/>
              </a:solidFill>
              <a:latin typeface="+mj-lt"/>
            </a:endParaRPr>
          </a:p>
        </p:txBody>
      </p:sp>
      <p:sp>
        <p:nvSpPr>
          <p:cNvPr id="1005" name="TextBox 1004"/>
          <p:cNvSpPr txBox="1"/>
          <p:nvPr/>
        </p:nvSpPr>
        <p:spPr>
          <a:xfrm>
            <a:off x="1234440" y="2240280"/>
            <a:ext cx="1737360" cy="475488"/>
          </a:xfrm>
          <a:prstGeom prst="rect">
            <a:avLst/>
          </a:prstGeom>
          <a:noFill/>
        </p:spPr>
        <p:txBody>
          <a:bodyPr wrap="square" lIns="0" tIns="0" rIns="0" bIns="0" anchor="ctr">
            <a:spAutoFit/>
          </a:bodyPr>
          <a:lstStyle/>
          <a:p>
            <a:r>
              <a:rPr sz="1200" b="1" i="0">
                <a:solidFill>
                  <a:srgbClr val="0B1F3A"/>
                </a:solidFill>
              </a:rPr>
              <a:t>UI draft created</a:t>
            </a:r>
          </a:p>
        </p:txBody>
      </p:sp>
      <p:sp>
        <p:nvSpPr>
          <p:cNvPr id="1006" name="Rounded Rectangle 1005"/>
          <p:cNvSpPr/>
          <p:nvPr/>
        </p:nvSpPr>
        <p:spPr>
          <a:xfrm>
            <a:off x="731520" y="2807208"/>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ounded Rectangle 1006"/>
          <p:cNvSpPr/>
          <p:nvPr/>
        </p:nvSpPr>
        <p:spPr>
          <a:xfrm>
            <a:off x="804672" y="2880360"/>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804672" y="2952619"/>
            <a:ext cx="329184" cy="184666"/>
          </a:xfrm>
          <a:prstGeom prst="rect">
            <a:avLst/>
          </a:prstGeom>
          <a:noFill/>
        </p:spPr>
        <p:txBody>
          <a:bodyPr wrap="square" lIns="0" tIns="0" rIns="0" bIns="0" anchor="ctr">
            <a:spAutoFit/>
          </a:bodyPr>
          <a:lstStyle/>
          <a:p>
            <a:pPr algn="ctr"/>
            <a:r>
              <a:rPr lang="en-US" sz="1200" b="1">
                <a:solidFill>
                  <a:srgbClr val="FFFFFF"/>
                </a:solidFill>
                <a:latin typeface="+mj-lt"/>
              </a:rPr>
              <a:t>2</a:t>
            </a:r>
            <a:endParaRPr sz="1200" b="1" i="0">
              <a:solidFill>
                <a:srgbClr val="FFFFFF"/>
              </a:solidFill>
              <a:latin typeface="+mj-lt"/>
            </a:endParaRPr>
          </a:p>
        </p:txBody>
      </p:sp>
      <p:sp>
        <p:nvSpPr>
          <p:cNvPr id="1009" name="TextBox 1008"/>
          <p:cNvSpPr txBox="1"/>
          <p:nvPr/>
        </p:nvSpPr>
        <p:spPr>
          <a:xfrm>
            <a:off x="1234440" y="2807208"/>
            <a:ext cx="1737360" cy="475488"/>
          </a:xfrm>
          <a:prstGeom prst="rect">
            <a:avLst/>
          </a:prstGeom>
          <a:noFill/>
        </p:spPr>
        <p:txBody>
          <a:bodyPr wrap="square" lIns="0" tIns="0" rIns="0" bIns="0" anchor="ctr">
            <a:spAutoFit/>
          </a:bodyPr>
          <a:lstStyle/>
          <a:p>
            <a:r>
              <a:rPr sz="1200" b="1" i="0">
                <a:solidFill>
                  <a:srgbClr val="0B1F3A"/>
                </a:solidFill>
              </a:rPr>
              <a:t>UI review with the business</a:t>
            </a:r>
          </a:p>
        </p:txBody>
      </p:sp>
      <p:sp>
        <p:nvSpPr>
          <p:cNvPr id="1010" name="Rounded Rectangle 1009"/>
          <p:cNvSpPr/>
          <p:nvPr/>
        </p:nvSpPr>
        <p:spPr>
          <a:xfrm>
            <a:off x="731520" y="4023360"/>
            <a:ext cx="2286000" cy="329184"/>
          </a:xfrm>
          <a:prstGeom prst="roundRect">
            <a:avLst>
              <a:gd name="adj" fmla="val 3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Diamond 1010"/>
          <p:cNvSpPr/>
          <p:nvPr/>
        </p:nvSpPr>
        <p:spPr>
          <a:xfrm>
            <a:off x="822959" y="4096512"/>
            <a:ext cx="182880" cy="18288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TextBox 1011"/>
          <p:cNvSpPr txBox="1"/>
          <p:nvPr/>
        </p:nvSpPr>
        <p:spPr>
          <a:xfrm>
            <a:off x="1097280" y="4023360"/>
            <a:ext cx="1828800" cy="329184"/>
          </a:xfrm>
          <a:prstGeom prst="rect">
            <a:avLst/>
          </a:prstGeom>
          <a:noFill/>
        </p:spPr>
        <p:txBody>
          <a:bodyPr wrap="square" lIns="0" tIns="0" rIns="0" bIns="0" anchor="ctr">
            <a:spAutoFit/>
          </a:bodyPr>
          <a:lstStyle/>
          <a:p>
            <a:r>
              <a:rPr sz="1200" b="1" i="0">
                <a:solidFill>
                  <a:srgbClr val="FFFFFF"/>
                </a:solidFill>
              </a:rPr>
              <a:t>Upsize gate</a:t>
            </a:r>
          </a:p>
        </p:txBody>
      </p:sp>
      <p:sp>
        <p:nvSpPr>
          <p:cNvPr id="1013" name="Rounded Rectangle 1012"/>
          <p:cNvSpPr/>
          <p:nvPr/>
        </p:nvSpPr>
        <p:spPr>
          <a:xfrm>
            <a:off x="3364992" y="1783080"/>
            <a:ext cx="2651760" cy="26974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4" name="TextBox 1013"/>
          <p:cNvSpPr txBox="1"/>
          <p:nvPr/>
        </p:nvSpPr>
        <p:spPr>
          <a:xfrm>
            <a:off x="3547872" y="1892807"/>
            <a:ext cx="2377440" cy="228600"/>
          </a:xfrm>
          <a:prstGeom prst="rect">
            <a:avLst/>
          </a:prstGeom>
          <a:noFill/>
        </p:spPr>
        <p:txBody>
          <a:bodyPr wrap="square" lIns="0" tIns="0" rIns="0" bIns="0" anchor="t">
            <a:spAutoFit/>
          </a:bodyPr>
          <a:lstStyle/>
          <a:p>
            <a:r>
              <a:rPr sz="900" b="1" i="0" spc="200">
                <a:solidFill>
                  <a:srgbClr val="1E49E2"/>
                </a:solidFill>
              </a:rPr>
              <a:t>PHASE 1 · UPSIZE</a:t>
            </a:r>
          </a:p>
        </p:txBody>
      </p:sp>
      <p:sp>
        <p:nvSpPr>
          <p:cNvPr id="1015" name="Rounded Rectangle 1014"/>
          <p:cNvSpPr/>
          <p:nvPr/>
        </p:nvSpPr>
        <p:spPr>
          <a:xfrm>
            <a:off x="3547872" y="2240280"/>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Rounded Rectangle 1015"/>
          <p:cNvSpPr/>
          <p:nvPr/>
        </p:nvSpPr>
        <p:spPr>
          <a:xfrm>
            <a:off x="3621024" y="2313432"/>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3621024" y="2385691"/>
            <a:ext cx="329184" cy="184666"/>
          </a:xfrm>
          <a:prstGeom prst="rect">
            <a:avLst/>
          </a:prstGeom>
          <a:noFill/>
        </p:spPr>
        <p:txBody>
          <a:bodyPr wrap="square" lIns="0" tIns="0" rIns="0" bIns="0" anchor="ctr">
            <a:spAutoFit/>
          </a:bodyPr>
          <a:lstStyle/>
          <a:p>
            <a:pPr algn="ctr"/>
            <a:r>
              <a:rPr lang="en-US" sz="1200" b="1">
                <a:solidFill>
                  <a:srgbClr val="FFFFFF"/>
                </a:solidFill>
                <a:latin typeface="+mj-lt"/>
              </a:rPr>
              <a:t>3</a:t>
            </a:r>
            <a:endParaRPr sz="1200" b="1" i="0">
              <a:solidFill>
                <a:srgbClr val="FFFFFF"/>
              </a:solidFill>
              <a:latin typeface="+mj-lt"/>
            </a:endParaRPr>
          </a:p>
        </p:txBody>
      </p:sp>
      <p:sp>
        <p:nvSpPr>
          <p:cNvPr id="1018" name="TextBox 1017"/>
          <p:cNvSpPr txBox="1"/>
          <p:nvPr/>
        </p:nvSpPr>
        <p:spPr>
          <a:xfrm>
            <a:off x="4050791" y="2240280"/>
            <a:ext cx="1737360" cy="475488"/>
          </a:xfrm>
          <a:prstGeom prst="rect">
            <a:avLst/>
          </a:prstGeom>
          <a:noFill/>
        </p:spPr>
        <p:txBody>
          <a:bodyPr wrap="square" lIns="0" tIns="0" rIns="0" bIns="0" anchor="ctr">
            <a:spAutoFit/>
          </a:bodyPr>
          <a:lstStyle/>
          <a:p>
            <a:r>
              <a:rPr sz="1200" b="1" i="0">
                <a:solidFill>
                  <a:srgbClr val="0B1F3A"/>
                </a:solidFill>
              </a:rPr>
              <a:t>Infra setup (ADO)</a:t>
            </a:r>
          </a:p>
        </p:txBody>
      </p:sp>
      <p:sp>
        <p:nvSpPr>
          <p:cNvPr id="1019" name="Rounded Rectangle 1018"/>
          <p:cNvSpPr/>
          <p:nvPr/>
        </p:nvSpPr>
        <p:spPr>
          <a:xfrm>
            <a:off x="3547872" y="2807208"/>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Rounded Rectangle 1019"/>
          <p:cNvSpPr/>
          <p:nvPr/>
        </p:nvSpPr>
        <p:spPr>
          <a:xfrm>
            <a:off x="3621024" y="2880360"/>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TextBox 1020"/>
          <p:cNvSpPr txBox="1"/>
          <p:nvPr/>
        </p:nvSpPr>
        <p:spPr>
          <a:xfrm>
            <a:off x="3621024" y="2880360"/>
            <a:ext cx="329184" cy="329184"/>
          </a:xfrm>
          <a:prstGeom prst="rect">
            <a:avLst/>
          </a:prstGeom>
          <a:noFill/>
        </p:spPr>
        <p:txBody>
          <a:bodyPr wrap="square" lIns="0" tIns="0" rIns="0" bIns="0" anchor="ctr">
            <a:spAutoFit/>
          </a:bodyPr>
          <a:lstStyle/>
          <a:p>
            <a:pPr algn="ctr"/>
            <a:r>
              <a:rPr sz="1200" b="1" i="0">
                <a:solidFill>
                  <a:srgbClr val="FFFFFF"/>
                </a:solidFill>
                <a:latin typeface="+mj-lt"/>
              </a:rPr>
              <a:t>4</a:t>
            </a:r>
          </a:p>
        </p:txBody>
      </p:sp>
      <p:sp>
        <p:nvSpPr>
          <p:cNvPr id="1022" name="TextBox 1021"/>
          <p:cNvSpPr txBox="1"/>
          <p:nvPr/>
        </p:nvSpPr>
        <p:spPr>
          <a:xfrm>
            <a:off x="4050791" y="2807208"/>
            <a:ext cx="1737360" cy="475488"/>
          </a:xfrm>
          <a:prstGeom prst="rect">
            <a:avLst/>
          </a:prstGeom>
          <a:noFill/>
        </p:spPr>
        <p:txBody>
          <a:bodyPr wrap="square" lIns="0" tIns="0" rIns="0" bIns="0" anchor="ctr">
            <a:spAutoFit/>
          </a:bodyPr>
          <a:lstStyle/>
          <a:p>
            <a:r>
              <a:rPr sz="1200" b="1" i="0">
                <a:solidFill>
                  <a:srgbClr val="0B1F3A"/>
                </a:solidFill>
              </a:rPr>
              <a:t>Dev build</a:t>
            </a:r>
          </a:p>
        </p:txBody>
      </p:sp>
      <p:sp>
        <p:nvSpPr>
          <p:cNvPr id="1023" name="Rounded Rectangle 1022"/>
          <p:cNvSpPr/>
          <p:nvPr/>
        </p:nvSpPr>
        <p:spPr>
          <a:xfrm>
            <a:off x="3547872" y="4023360"/>
            <a:ext cx="2286000" cy="329184"/>
          </a:xfrm>
          <a:prstGeom prst="roundRect">
            <a:avLst>
              <a:gd name="adj" fmla="val 3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Diamond 1023"/>
          <p:cNvSpPr/>
          <p:nvPr/>
        </p:nvSpPr>
        <p:spPr>
          <a:xfrm>
            <a:off x="3639312" y="4096512"/>
            <a:ext cx="182880" cy="18288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TextBox 1024"/>
          <p:cNvSpPr txBox="1"/>
          <p:nvPr/>
        </p:nvSpPr>
        <p:spPr>
          <a:xfrm>
            <a:off x="3913632" y="4023360"/>
            <a:ext cx="1828800" cy="329184"/>
          </a:xfrm>
          <a:prstGeom prst="rect">
            <a:avLst/>
          </a:prstGeom>
          <a:noFill/>
        </p:spPr>
        <p:txBody>
          <a:bodyPr wrap="square" lIns="0" tIns="0" rIns="0" bIns="0" anchor="ctr">
            <a:spAutoFit/>
          </a:bodyPr>
          <a:lstStyle/>
          <a:p>
            <a:r>
              <a:rPr sz="1200" b="1" i="0">
                <a:solidFill>
                  <a:srgbClr val="FFFFFF"/>
                </a:solidFill>
              </a:rPr>
              <a:t>DEV gate</a:t>
            </a:r>
          </a:p>
        </p:txBody>
      </p:sp>
      <p:sp>
        <p:nvSpPr>
          <p:cNvPr id="1026" name="Rounded Rectangle 1025"/>
          <p:cNvSpPr/>
          <p:nvPr/>
        </p:nvSpPr>
        <p:spPr>
          <a:xfrm>
            <a:off x="6181344" y="1783080"/>
            <a:ext cx="2651760" cy="26974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TextBox 1026"/>
          <p:cNvSpPr txBox="1"/>
          <p:nvPr/>
        </p:nvSpPr>
        <p:spPr>
          <a:xfrm>
            <a:off x="6364224" y="1892807"/>
            <a:ext cx="2377440" cy="228600"/>
          </a:xfrm>
          <a:prstGeom prst="rect">
            <a:avLst/>
          </a:prstGeom>
          <a:noFill/>
        </p:spPr>
        <p:txBody>
          <a:bodyPr wrap="square" lIns="0" tIns="0" rIns="0" bIns="0" anchor="t">
            <a:spAutoFit/>
          </a:bodyPr>
          <a:lstStyle/>
          <a:p>
            <a:r>
              <a:rPr sz="900" b="1" i="0" spc="200">
                <a:solidFill>
                  <a:srgbClr val="1E49E2"/>
                </a:solidFill>
              </a:rPr>
              <a:t>PHASE 2 · BUILD LOOP</a:t>
            </a:r>
          </a:p>
        </p:txBody>
      </p:sp>
      <p:sp>
        <p:nvSpPr>
          <p:cNvPr id="1028" name="Rounded Rectangle 1027"/>
          <p:cNvSpPr/>
          <p:nvPr/>
        </p:nvSpPr>
        <p:spPr>
          <a:xfrm>
            <a:off x="6364224" y="2240280"/>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Rounded Rectangle 1028"/>
          <p:cNvSpPr/>
          <p:nvPr/>
        </p:nvSpPr>
        <p:spPr>
          <a:xfrm>
            <a:off x="6437376" y="2313432"/>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0" name="TextBox 1029"/>
          <p:cNvSpPr txBox="1"/>
          <p:nvPr/>
        </p:nvSpPr>
        <p:spPr>
          <a:xfrm>
            <a:off x="6437376" y="2313432"/>
            <a:ext cx="329184" cy="329184"/>
          </a:xfrm>
          <a:prstGeom prst="rect">
            <a:avLst/>
          </a:prstGeom>
          <a:noFill/>
        </p:spPr>
        <p:txBody>
          <a:bodyPr wrap="square" lIns="0" tIns="0" rIns="0" bIns="0" anchor="ctr">
            <a:spAutoFit/>
          </a:bodyPr>
          <a:lstStyle/>
          <a:p>
            <a:pPr algn="ctr"/>
            <a:r>
              <a:rPr sz="1200" b="1" i="0">
                <a:solidFill>
                  <a:srgbClr val="FFFFFF"/>
                </a:solidFill>
                <a:latin typeface="+mj-lt"/>
              </a:rPr>
              <a:t>5</a:t>
            </a:r>
          </a:p>
        </p:txBody>
      </p:sp>
      <p:sp>
        <p:nvSpPr>
          <p:cNvPr id="1031" name="TextBox 1030"/>
          <p:cNvSpPr txBox="1"/>
          <p:nvPr/>
        </p:nvSpPr>
        <p:spPr>
          <a:xfrm>
            <a:off x="6867144" y="2240280"/>
            <a:ext cx="1737360" cy="475488"/>
          </a:xfrm>
          <a:prstGeom prst="rect">
            <a:avLst/>
          </a:prstGeom>
          <a:noFill/>
        </p:spPr>
        <p:txBody>
          <a:bodyPr wrap="square" lIns="0" tIns="0" rIns="0" bIns="0" anchor="ctr">
            <a:spAutoFit/>
          </a:bodyPr>
          <a:lstStyle/>
          <a:p>
            <a:r>
              <a:rPr sz="1200" b="1" i="0">
                <a:solidFill>
                  <a:srgbClr val="0B1F3A"/>
                </a:solidFill>
              </a:rPr>
              <a:t>Test build</a:t>
            </a:r>
          </a:p>
        </p:txBody>
      </p:sp>
      <p:sp>
        <p:nvSpPr>
          <p:cNvPr id="1032" name="Rounded Rectangle 1031"/>
          <p:cNvSpPr/>
          <p:nvPr/>
        </p:nvSpPr>
        <p:spPr>
          <a:xfrm>
            <a:off x="6364224" y="2807208"/>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3" name="Rounded Rectangle 1032"/>
          <p:cNvSpPr/>
          <p:nvPr/>
        </p:nvSpPr>
        <p:spPr>
          <a:xfrm>
            <a:off x="6437376" y="2880360"/>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4" name="TextBox 1033"/>
          <p:cNvSpPr txBox="1"/>
          <p:nvPr/>
        </p:nvSpPr>
        <p:spPr>
          <a:xfrm>
            <a:off x="6437376" y="2880360"/>
            <a:ext cx="329184" cy="329184"/>
          </a:xfrm>
          <a:prstGeom prst="rect">
            <a:avLst/>
          </a:prstGeom>
          <a:noFill/>
        </p:spPr>
        <p:txBody>
          <a:bodyPr wrap="square" lIns="0" tIns="0" rIns="0" bIns="0" anchor="ctr">
            <a:spAutoFit/>
          </a:bodyPr>
          <a:lstStyle/>
          <a:p>
            <a:pPr algn="ctr"/>
            <a:r>
              <a:rPr sz="1200" b="1" i="0">
                <a:solidFill>
                  <a:srgbClr val="FFFFFF"/>
                </a:solidFill>
                <a:latin typeface="+mj-lt"/>
              </a:rPr>
              <a:t>6</a:t>
            </a:r>
          </a:p>
        </p:txBody>
      </p:sp>
      <p:sp>
        <p:nvSpPr>
          <p:cNvPr id="1035" name="TextBox 1034"/>
          <p:cNvSpPr txBox="1"/>
          <p:nvPr/>
        </p:nvSpPr>
        <p:spPr>
          <a:xfrm>
            <a:off x="6867144" y="2807208"/>
            <a:ext cx="1737360" cy="475488"/>
          </a:xfrm>
          <a:prstGeom prst="rect">
            <a:avLst/>
          </a:prstGeom>
          <a:noFill/>
        </p:spPr>
        <p:txBody>
          <a:bodyPr wrap="square" lIns="0" tIns="0" rIns="0" bIns="0" anchor="ctr">
            <a:spAutoFit/>
          </a:bodyPr>
          <a:lstStyle/>
          <a:p>
            <a:r>
              <a:rPr sz="1200" b="1" i="0">
                <a:solidFill>
                  <a:srgbClr val="0B1F3A"/>
                </a:solidFill>
              </a:rPr>
              <a:t>AI engine build</a:t>
            </a:r>
          </a:p>
        </p:txBody>
      </p:sp>
      <p:sp>
        <p:nvSpPr>
          <p:cNvPr id="1036" name="Rounded Rectangle 1035"/>
          <p:cNvSpPr/>
          <p:nvPr/>
        </p:nvSpPr>
        <p:spPr>
          <a:xfrm>
            <a:off x="6364224" y="3374136"/>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7" name="Rounded Rectangle 1036"/>
          <p:cNvSpPr/>
          <p:nvPr/>
        </p:nvSpPr>
        <p:spPr>
          <a:xfrm>
            <a:off x="6437376" y="3447288"/>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8" name="TextBox 1037"/>
          <p:cNvSpPr txBox="1"/>
          <p:nvPr/>
        </p:nvSpPr>
        <p:spPr>
          <a:xfrm>
            <a:off x="6437376" y="3447288"/>
            <a:ext cx="329184" cy="329184"/>
          </a:xfrm>
          <a:prstGeom prst="rect">
            <a:avLst/>
          </a:prstGeom>
          <a:noFill/>
        </p:spPr>
        <p:txBody>
          <a:bodyPr wrap="square" lIns="0" tIns="0" rIns="0" bIns="0" anchor="ctr">
            <a:spAutoFit/>
          </a:bodyPr>
          <a:lstStyle/>
          <a:p>
            <a:pPr algn="ctr"/>
            <a:r>
              <a:rPr sz="1200" b="1" i="0">
                <a:solidFill>
                  <a:srgbClr val="FFFFFF"/>
                </a:solidFill>
                <a:latin typeface="+mj-lt"/>
              </a:rPr>
              <a:t>7</a:t>
            </a:r>
          </a:p>
        </p:txBody>
      </p:sp>
      <p:sp>
        <p:nvSpPr>
          <p:cNvPr id="1039" name="TextBox 1038"/>
          <p:cNvSpPr txBox="1"/>
          <p:nvPr/>
        </p:nvSpPr>
        <p:spPr>
          <a:xfrm>
            <a:off x="6867144" y="3374136"/>
            <a:ext cx="1737360" cy="475488"/>
          </a:xfrm>
          <a:prstGeom prst="rect">
            <a:avLst/>
          </a:prstGeom>
          <a:noFill/>
        </p:spPr>
        <p:txBody>
          <a:bodyPr wrap="square" lIns="0" tIns="0" rIns="0" bIns="0" anchor="ctr">
            <a:spAutoFit/>
          </a:bodyPr>
          <a:lstStyle/>
          <a:p>
            <a:r>
              <a:rPr sz="1200" b="1" i="0">
                <a:solidFill>
                  <a:srgbClr val="0B1F3A"/>
                </a:solidFill>
              </a:rPr>
              <a:t>Full flow confirmed</a:t>
            </a:r>
          </a:p>
        </p:txBody>
      </p:sp>
      <p:sp>
        <p:nvSpPr>
          <p:cNvPr id="1040" name="Rounded Rectangle 1039"/>
          <p:cNvSpPr/>
          <p:nvPr/>
        </p:nvSpPr>
        <p:spPr>
          <a:xfrm>
            <a:off x="6364224" y="4023360"/>
            <a:ext cx="2286000" cy="329184"/>
          </a:xfrm>
          <a:prstGeom prst="roundRect">
            <a:avLst>
              <a:gd name="adj" fmla="val 3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1" name="Diamond 1040"/>
          <p:cNvSpPr/>
          <p:nvPr/>
        </p:nvSpPr>
        <p:spPr>
          <a:xfrm>
            <a:off x="6455664" y="4096512"/>
            <a:ext cx="182880" cy="18288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2" name="TextBox 1041"/>
          <p:cNvSpPr txBox="1"/>
          <p:nvPr/>
        </p:nvSpPr>
        <p:spPr>
          <a:xfrm>
            <a:off x="6729983" y="4023360"/>
            <a:ext cx="1828800" cy="329184"/>
          </a:xfrm>
          <a:prstGeom prst="rect">
            <a:avLst/>
          </a:prstGeom>
          <a:noFill/>
        </p:spPr>
        <p:txBody>
          <a:bodyPr wrap="square" lIns="0" tIns="0" rIns="0" bIns="0" anchor="ctr">
            <a:spAutoFit/>
          </a:bodyPr>
          <a:lstStyle/>
          <a:p>
            <a:r>
              <a:rPr sz="1200" b="1" i="0">
                <a:solidFill>
                  <a:srgbClr val="FFFFFF"/>
                </a:solidFill>
              </a:rPr>
              <a:t>Scope gate</a:t>
            </a:r>
          </a:p>
        </p:txBody>
      </p:sp>
      <p:sp>
        <p:nvSpPr>
          <p:cNvPr id="1043" name="Rounded Rectangle 1042"/>
          <p:cNvSpPr/>
          <p:nvPr/>
        </p:nvSpPr>
        <p:spPr>
          <a:xfrm>
            <a:off x="8997696" y="1783080"/>
            <a:ext cx="2651760" cy="26974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4" name="TextBox 1043"/>
          <p:cNvSpPr txBox="1"/>
          <p:nvPr/>
        </p:nvSpPr>
        <p:spPr>
          <a:xfrm>
            <a:off x="9180576" y="1892807"/>
            <a:ext cx="2377440" cy="228600"/>
          </a:xfrm>
          <a:prstGeom prst="rect">
            <a:avLst/>
          </a:prstGeom>
          <a:noFill/>
        </p:spPr>
        <p:txBody>
          <a:bodyPr wrap="square" lIns="0" tIns="0" rIns="0" bIns="0" anchor="t">
            <a:spAutoFit/>
          </a:bodyPr>
          <a:lstStyle/>
          <a:p>
            <a:r>
              <a:rPr sz="900" b="1" i="0" spc="200">
                <a:solidFill>
                  <a:srgbClr val="1E49E2"/>
                </a:solidFill>
              </a:rPr>
              <a:t>PHASE 3 · RELEASE LOOP</a:t>
            </a:r>
          </a:p>
        </p:txBody>
      </p:sp>
      <p:sp>
        <p:nvSpPr>
          <p:cNvPr id="1045" name="Rounded Rectangle 1044"/>
          <p:cNvSpPr/>
          <p:nvPr/>
        </p:nvSpPr>
        <p:spPr>
          <a:xfrm>
            <a:off x="9180576" y="2240280"/>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6" name="Rounded Rectangle 1045"/>
          <p:cNvSpPr/>
          <p:nvPr/>
        </p:nvSpPr>
        <p:spPr>
          <a:xfrm>
            <a:off x="9253728" y="2313432"/>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7" name="TextBox 1046"/>
          <p:cNvSpPr txBox="1"/>
          <p:nvPr/>
        </p:nvSpPr>
        <p:spPr>
          <a:xfrm>
            <a:off x="9253728" y="2313432"/>
            <a:ext cx="329184" cy="329184"/>
          </a:xfrm>
          <a:prstGeom prst="rect">
            <a:avLst/>
          </a:prstGeom>
          <a:noFill/>
        </p:spPr>
        <p:txBody>
          <a:bodyPr wrap="square" lIns="0" tIns="0" rIns="0" bIns="0" anchor="ctr">
            <a:spAutoFit/>
          </a:bodyPr>
          <a:lstStyle/>
          <a:p>
            <a:pPr algn="ctr"/>
            <a:r>
              <a:rPr sz="1200" b="1" i="0">
                <a:solidFill>
                  <a:srgbClr val="FFFFFF"/>
                </a:solidFill>
                <a:latin typeface="+mj-lt"/>
              </a:rPr>
              <a:t>8</a:t>
            </a:r>
          </a:p>
        </p:txBody>
      </p:sp>
      <p:sp>
        <p:nvSpPr>
          <p:cNvPr id="1048" name="TextBox 1047"/>
          <p:cNvSpPr txBox="1"/>
          <p:nvPr/>
        </p:nvSpPr>
        <p:spPr>
          <a:xfrm>
            <a:off x="9683496" y="2240280"/>
            <a:ext cx="1737360" cy="475488"/>
          </a:xfrm>
          <a:prstGeom prst="rect">
            <a:avLst/>
          </a:prstGeom>
          <a:noFill/>
        </p:spPr>
        <p:txBody>
          <a:bodyPr wrap="square" lIns="0" tIns="0" rIns="0" bIns="0" anchor="ctr">
            <a:spAutoFit/>
          </a:bodyPr>
          <a:lstStyle/>
          <a:p>
            <a:r>
              <a:rPr sz="1200" b="1" i="0">
                <a:solidFill>
                  <a:srgbClr val="0B1F3A"/>
                </a:solidFill>
              </a:rPr>
              <a:t>UAT in the TEST environment</a:t>
            </a:r>
          </a:p>
        </p:txBody>
      </p:sp>
      <p:sp>
        <p:nvSpPr>
          <p:cNvPr id="1049" name="Rounded Rectangle 1048"/>
          <p:cNvSpPr/>
          <p:nvPr/>
        </p:nvSpPr>
        <p:spPr>
          <a:xfrm>
            <a:off x="9180576" y="2807208"/>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0" name="Rounded Rectangle 1049"/>
          <p:cNvSpPr/>
          <p:nvPr/>
        </p:nvSpPr>
        <p:spPr>
          <a:xfrm>
            <a:off x="9253728" y="2880360"/>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1" name="TextBox 1050"/>
          <p:cNvSpPr txBox="1"/>
          <p:nvPr/>
        </p:nvSpPr>
        <p:spPr>
          <a:xfrm>
            <a:off x="9253728" y="2880360"/>
            <a:ext cx="329184" cy="329184"/>
          </a:xfrm>
          <a:prstGeom prst="rect">
            <a:avLst/>
          </a:prstGeom>
          <a:noFill/>
        </p:spPr>
        <p:txBody>
          <a:bodyPr wrap="square" lIns="0" tIns="0" rIns="0" bIns="0" anchor="ctr">
            <a:spAutoFit/>
          </a:bodyPr>
          <a:lstStyle/>
          <a:p>
            <a:pPr algn="ctr"/>
            <a:r>
              <a:rPr sz="1200" b="1" i="0">
                <a:solidFill>
                  <a:srgbClr val="FFFFFF"/>
                </a:solidFill>
                <a:latin typeface="+mj-lt"/>
              </a:rPr>
              <a:t>9</a:t>
            </a:r>
          </a:p>
        </p:txBody>
      </p:sp>
      <p:sp>
        <p:nvSpPr>
          <p:cNvPr id="1052" name="TextBox 1051"/>
          <p:cNvSpPr txBox="1"/>
          <p:nvPr/>
        </p:nvSpPr>
        <p:spPr>
          <a:xfrm>
            <a:off x="9683496" y="2807208"/>
            <a:ext cx="1737360" cy="475488"/>
          </a:xfrm>
          <a:prstGeom prst="rect">
            <a:avLst/>
          </a:prstGeom>
          <a:noFill/>
        </p:spPr>
        <p:txBody>
          <a:bodyPr wrap="square" lIns="0" tIns="0" rIns="0" bIns="0" anchor="ctr">
            <a:spAutoFit/>
          </a:bodyPr>
          <a:lstStyle/>
          <a:p>
            <a:r>
              <a:rPr sz="1200" b="1" i="0">
                <a:solidFill>
                  <a:srgbClr val="0B1F3A"/>
                </a:solidFill>
              </a:rPr>
              <a:t>Functional sign-off</a:t>
            </a:r>
          </a:p>
        </p:txBody>
      </p:sp>
      <p:sp>
        <p:nvSpPr>
          <p:cNvPr id="1053" name="Rounded Rectangle 1052"/>
          <p:cNvSpPr/>
          <p:nvPr/>
        </p:nvSpPr>
        <p:spPr>
          <a:xfrm>
            <a:off x="9180576" y="3374136"/>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4" name="Rounded Rectangle 1053"/>
          <p:cNvSpPr/>
          <p:nvPr/>
        </p:nvSpPr>
        <p:spPr>
          <a:xfrm>
            <a:off x="9253728" y="3447288"/>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5" name="TextBox 1054"/>
          <p:cNvSpPr txBox="1"/>
          <p:nvPr/>
        </p:nvSpPr>
        <p:spPr>
          <a:xfrm>
            <a:off x="9253728" y="3447288"/>
            <a:ext cx="329184" cy="329184"/>
          </a:xfrm>
          <a:prstGeom prst="rect">
            <a:avLst/>
          </a:prstGeom>
          <a:noFill/>
        </p:spPr>
        <p:txBody>
          <a:bodyPr wrap="square" lIns="0" tIns="0" rIns="0" bIns="0" anchor="ctr">
            <a:spAutoFit/>
          </a:bodyPr>
          <a:lstStyle/>
          <a:p>
            <a:pPr algn="ctr"/>
            <a:r>
              <a:rPr sz="1200" b="1" i="0">
                <a:solidFill>
                  <a:srgbClr val="FFFFFF"/>
                </a:solidFill>
                <a:latin typeface="+mj-lt"/>
              </a:rPr>
              <a:t>11</a:t>
            </a:r>
          </a:p>
        </p:txBody>
      </p:sp>
      <p:sp>
        <p:nvSpPr>
          <p:cNvPr id="1056" name="TextBox 1055"/>
          <p:cNvSpPr txBox="1"/>
          <p:nvPr/>
        </p:nvSpPr>
        <p:spPr>
          <a:xfrm>
            <a:off x="9683496" y="3374136"/>
            <a:ext cx="1737360" cy="475488"/>
          </a:xfrm>
          <a:prstGeom prst="rect">
            <a:avLst/>
          </a:prstGeom>
          <a:noFill/>
        </p:spPr>
        <p:txBody>
          <a:bodyPr wrap="square" lIns="0" tIns="0" rIns="0" bIns="0" anchor="ctr">
            <a:spAutoFit/>
          </a:bodyPr>
          <a:lstStyle/>
          <a:p>
            <a:r>
              <a:rPr sz="1200" b="1" i="0">
                <a:solidFill>
                  <a:srgbClr val="0B1F3A"/>
                </a:solidFill>
              </a:rPr>
              <a:t>Moved to production</a:t>
            </a:r>
          </a:p>
        </p:txBody>
      </p:sp>
      <p:sp>
        <p:nvSpPr>
          <p:cNvPr id="1057" name="Rounded Rectangle 1056"/>
          <p:cNvSpPr/>
          <p:nvPr/>
        </p:nvSpPr>
        <p:spPr>
          <a:xfrm>
            <a:off x="9180576" y="4023360"/>
            <a:ext cx="2286000" cy="329184"/>
          </a:xfrm>
          <a:prstGeom prst="roundRect">
            <a:avLst>
              <a:gd name="adj" fmla="val 3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8" name="Diamond 1057"/>
          <p:cNvSpPr/>
          <p:nvPr/>
        </p:nvSpPr>
        <p:spPr>
          <a:xfrm>
            <a:off x="9272016" y="4096512"/>
            <a:ext cx="182880" cy="18288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9" name="TextBox 1058"/>
          <p:cNvSpPr txBox="1"/>
          <p:nvPr/>
        </p:nvSpPr>
        <p:spPr>
          <a:xfrm>
            <a:off x="9546336" y="4023360"/>
            <a:ext cx="1828800" cy="329184"/>
          </a:xfrm>
          <a:prstGeom prst="rect">
            <a:avLst/>
          </a:prstGeom>
          <a:noFill/>
        </p:spPr>
        <p:txBody>
          <a:bodyPr wrap="square" lIns="0" tIns="0" rIns="0" bIns="0" anchor="ctr">
            <a:spAutoFit/>
          </a:bodyPr>
          <a:lstStyle/>
          <a:p>
            <a:r>
              <a:rPr sz="1200" b="1" i="0">
                <a:solidFill>
                  <a:srgbClr val="FFFFFF"/>
                </a:solidFill>
              </a:rPr>
              <a:t>Go-live gate</a:t>
            </a:r>
          </a:p>
        </p:txBody>
      </p:sp>
      <p:sp>
        <p:nvSpPr>
          <p:cNvPr id="1060" name="Rounded Rectangle 1059"/>
          <p:cNvSpPr/>
          <p:nvPr/>
        </p:nvSpPr>
        <p:spPr>
          <a:xfrm>
            <a:off x="3364992" y="4617720"/>
            <a:ext cx="8275320" cy="365760"/>
          </a:xfrm>
          <a:prstGeom prst="roundRect">
            <a:avLst>
              <a:gd name="adj" fmla="val 30000"/>
            </a:avLst>
          </a:prstGeom>
          <a:solidFill>
            <a:srgbClr val="FDF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1" name="Rounded Rectangle 1060"/>
          <p:cNvSpPr/>
          <p:nvPr/>
        </p:nvSpPr>
        <p:spPr>
          <a:xfrm>
            <a:off x="3429000" y="4636008"/>
            <a:ext cx="329184" cy="329184"/>
          </a:xfrm>
          <a:prstGeom prst="roundRect">
            <a:avLst>
              <a:gd name="adj" fmla="val 12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2" name="TextBox 1061"/>
          <p:cNvSpPr txBox="1"/>
          <p:nvPr/>
        </p:nvSpPr>
        <p:spPr>
          <a:xfrm>
            <a:off x="3429000" y="4636008"/>
            <a:ext cx="329184" cy="329184"/>
          </a:xfrm>
          <a:prstGeom prst="rect">
            <a:avLst/>
          </a:prstGeom>
          <a:noFill/>
        </p:spPr>
        <p:txBody>
          <a:bodyPr wrap="square" lIns="0" tIns="0" rIns="0" bIns="0" anchor="ctr">
            <a:spAutoFit/>
          </a:bodyPr>
          <a:lstStyle/>
          <a:p>
            <a:pPr algn="ctr"/>
            <a:r>
              <a:rPr sz="1100" b="1" i="0">
                <a:solidFill>
                  <a:srgbClr val="FFFFFF"/>
                </a:solidFill>
                <a:latin typeface="+mj-lt"/>
              </a:rPr>
              <a:t>10</a:t>
            </a:r>
          </a:p>
        </p:txBody>
      </p:sp>
      <p:sp>
        <p:nvSpPr>
          <p:cNvPr id="1063" name="TextBox 1062"/>
          <p:cNvSpPr txBox="1"/>
          <p:nvPr/>
        </p:nvSpPr>
        <p:spPr>
          <a:xfrm>
            <a:off x="3858768" y="4617720"/>
            <a:ext cx="7680960" cy="365760"/>
          </a:xfrm>
          <a:prstGeom prst="rect">
            <a:avLst/>
          </a:prstGeom>
          <a:noFill/>
        </p:spPr>
        <p:txBody>
          <a:bodyPr wrap="square" lIns="0" tIns="0" rIns="0" bIns="0" anchor="ctr">
            <a:spAutoFit/>
          </a:bodyPr>
          <a:lstStyle/>
          <a:p>
            <a:r>
              <a:rPr sz="1200" b="1" i="0">
                <a:solidFill>
                  <a:srgbClr val="0B1F3A"/>
                </a:solidFill>
              </a:rPr>
              <a:t>ESIS approved.  </a:t>
            </a:r>
            <a:r>
              <a:rPr sz="1200" b="0" i="0">
                <a:solidFill>
                  <a:srgbClr val="0B1F3A"/>
                </a:solidFill>
              </a:rPr>
              <a:t>Raised in phase 1, closes before go-live. Runs on Enterprise Technology's clock.</a:t>
            </a:r>
          </a:p>
        </p:txBody>
      </p:sp>
      <p:sp>
        <p:nvSpPr>
          <p:cNvPr id="1064" name="Rounded Rectangle 1063"/>
          <p:cNvSpPr/>
          <p:nvPr/>
        </p:nvSpPr>
        <p:spPr>
          <a:xfrm>
            <a:off x="3364992" y="5047488"/>
            <a:ext cx="8275320" cy="365760"/>
          </a:xfrm>
          <a:prstGeom prst="roundRect">
            <a:avLst>
              <a:gd name="adj" fmla="val 30000"/>
            </a:avLst>
          </a:prstGeom>
          <a:solidFill>
            <a:srgbClr val="FDF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5" name="Rounded Rectangle 1064"/>
          <p:cNvSpPr/>
          <p:nvPr/>
        </p:nvSpPr>
        <p:spPr>
          <a:xfrm>
            <a:off x="3429000" y="5065776"/>
            <a:ext cx="329184" cy="329184"/>
          </a:xfrm>
          <a:prstGeom prst="roundRect">
            <a:avLst>
              <a:gd name="adj" fmla="val 12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6" name="TextBox 1065"/>
          <p:cNvSpPr txBox="1"/>
          <p:nvPr/>
        </p:nvSpPr>
        <p:spPr>
          <a:xfrm>
            <a:off x="3429000" y="5065776"/>
            <a:ext cx="329184" cy="329184"/>
          </a:xfrm>
          <a:prstGeom prst="rect">
            <a:avLst/>
          </a:prstGeom>
          <a:noFill/>
        </p:spPr>
        <p:txBody>
          <a:bodyPr wrap="square" lIns="0" tIns="0" rIns="0" bIns="0" anchor="ctr">
            <a:spAutoFit/>
          </a:bodyPr>
          <a:lstStyle/>
          <a:p>
            <a:pPr algn="ctr"/>
            <a:r>
              <a:rPr sz="1100" b="1" i="0">
                <a:solidFill>
                  <a:srgbClr val="FFFFFF"/>
                </a:solidFill>
                <a:latin typeface="+mj-lt"/>
              </a:rPr>
              <a:t>12</a:t>
            </a:r>
          </a:p>
        </p:txBody>
      </p:sp>
      <p:sp>
        <p:nvSpPr>
          <p:cNvPr id="1067" name="TextBox 1066"/>
          <p:cNvSpPr txBox="1"/>
          <p:nvPr/>
        </p:nvSpPr>
        <p:spPr>
          <a:xfrm>
            <a:off x="3858768" y="5047488"/>
            <a:ext cx="7680960" cy="365760"/>
          </a:xfrm>
          <a:prstGeom prst="rect">
            <a:avLst/>
          </a:prstGeom>
          <a:noFill/>
        </p:spPr>
        <p:txBody>
          <a:bodyPr wrap="square" lIns="0" tIns="0" rIns="0" bIns="0" anchor="ctr">
            <a:spAutoFit/>
          </a:bodyPr>
          <a:lstStyle/>
          <a:p>
            <a:r>
              <a:rPr sz="1200" b="1" i="0">
                <a:solidFill>
                  <a:srgbClr val="0B1F3A"/>
                </a:solidFill>
              </a:rPr>
              <a:t>Docs for HCL handoff.  </a:t>
            </a:r>
            <a:r>
              <a:rPr sz="1200" b="0" i="0">
                <a:solidFill>
                  <a:srgbClr val="0B1F3A"/>
                </a:solidFill>
              </a:rPr>
              <a:t>Written at every gate, finished at go-live. Never left to the end.</a:t>
            </a:r>
          </a:p>
        </p:txBody>
      </p:sp>
      <p:sp>
        <p:nvSpPr>
          <p:cNvPr id="1068" name="Rounded Rectangle 1067"/>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9" name="TextBox 1068"/>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Steps 1 to 9 run on your clock. Steps 10 and 12 run in parallel, and they decide your go-live date.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GATE 1 · THE UPSIZE GATE</a:t>
            </a:r>
          </a:p>
        </p:txBody>
      </p:sp>
      <p:sp>
        <p:nvSpPr>
          <p:cNvPr id="3" name="Title 2"/>
          <p:cNvSpPr>
            <a:spLocks noGrp="1"/>
          </p:cNvSpPr>
          <p:nvPr>
            <p:ph type="title" idx="101"/>
          </p:nvPr>
        </p:nvSpPr>
        <p:spPr/>
        <p:txBody>
          <a:bodyPr/>
          <a:lstStyle/>
          <a:p>
            <a:pPr algn="l"/>
            <a:r>
              <a:t>You are allowed to refuse the model</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8</a:t>
            </a:fld>
            <a:endParaRPr lang="en-US" b="0"/>
          </a:p>
        </p:txBody>
      </p:sp>
      <p:sp>
        <p:nvSpPr>
          <p:cNvPr id="1000" name="TextBox 999"/>
          <p:cNvSpPr txBox="1"/>
          <p:nvPr/>
        </p:nvSpPr>
        <p:spPr>
          <a:xfrm>
            <a:off x="548640" y="1691640"/>
            <a:ext cx="7315200" cy="548640"/>
          </a:xfrm>
          <a:prstGeom prst="rect">
            <a:avLst/>
          </a:prstGeom>
          <a:noFill/>
        </p:spPr>
        <p:txBody>
          <a:bodyPr wrap="square" lIns="0" tIns="0" rIns="0" bIns="0" anchor="t">
            <a:spAutoFit/>
          </a:bodyPr>
          <a:lstStyle/>
          <a:p>
            <a:r>
              <a:rPr sz="1400" b="0" i="0">
                <a:solidFill>
                  <a:srgbClr val="0B1F3A"/>
                </a:solidFill>
              </a:rPr>
              <a:t>The upsize gate tests an artifact, not an opinion. Every open question in the model charter has an answer, and the out-of-scope list exists.</a:t>
            </a:r>
          </a:p>
        </p:txBody>
      </p:sp>
      <p:sp>
        <p:nvSpPr>
          <p:cNvPr id="1001" name="Rounded Rectangle 1000"/>
          <p:cNvSpPr/>
          <p:nvPr/>
        </p:nvSpPr>
        <p:spPr>
          <a:xfrm>
            <a:off x="548640" y="2377440"/>
            <a:ext cx="7315200" cy="9144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Rectangle 1001"/>
          <p:cNvSpPr/>
          <p:nvPr/>
        </p:nvSpPr>
        <p:spPr>
          <a:xfrm>
            <a:off x="548640" y="2377440"/>
            <a:ext cx="82296" cy="914400"/>
          </a:xfrm>
          <a:prstGeom prst="rect">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822960" y="2496312"/>
            <a:ext cx="1828800" cy="228600"/>
          </a:xfrm>
          <a:prstGeom prst="rect">
            <a:avLst/>
          </a:prstGeom>
          <a:noFill/>
        </p:spPr>
        <p:txBody>
          <a:bodyPr wrap="square" lIns="0" tIns="0" rIns="0" bIns="0" anchor="t">
            <a:spAutoFit/>
          </a:bodyPr>
          <a:lstStyle/>
          <a:p>
            <a:r>
              <a:rPr sz="950" b="1" i="0" spc="200">
                <a:solidFill>
                  <a:srgbClr val="0B1F3A"/>
                </a:solidFill>
              </a:rPr>
              <a:t>ACCEPT WHEN</a:t>
            </a:r>
          </a:p>
        </p:txBody>
      </p:sp>
      <p:sp>
        <p:nvSpPr>
          <p:cNvPr id="1004" name="TextBox 1003"/>
          <p:cNvSpPr txBox="1"/>
          <p:nvPr/>
        </p:nvSpPr>
        <p:spPr>
          <a:xfrm>
            <a:off x="822960" y="2743200"/>
            <a:ext cx="2377440" cy="457200"/>
          </a:xfrm>
          <a:prstGeom prst="rect">
            <a:avLst/>
          </a:prstGeom>
          <a:noFill/>
        </p:spPr>
        <p:txBody>
          <a:bodyPr wrap="square" lIns="0" tIns="0" rIns="0" bIns="0" anchor="t">
            <a:spAutoFit/>
          </a:bodyPr>
          <a:lstStyle/>
          <a:p>
            <a:r>
              <a:rPr sz="1500" b="1" i="0">
                <a:solidFill>
                  <a:srgbClr val="0B1F3A"/>
                </a:solidFill>
                <a:latin typeface="+mj-lt"/>
              </a:rPr>
              <a:t>Every question has an answer</a:t>
            </a:r>
          </a:p>
        </p:txBody>
      </p:sp>
      <p:sp>
        <p:nvSpPr>
          <p:cNvPr id="1005" name="TextBox 1004"/>
          <p:cNvSpPr txBox="1"/>
          <p:nvPr/>
        </p:nvSpPr>
        <p:spPr>
          <a:xfrm>
            <a:off x="3383280" y="2377440"/>
            <a:ext cx="4297680" cy="914400"/>
          </a:xfrm>
          <a:prstGeom prst="rect">
            <a:avLst/>
          </a:prstGeom>
          <a:noFill/>
        </p:spPr>
        <p:txBody>
          <a:bodyPr wrap="square" lIns="0" tIns="0" rIns="0" bIns="0" anchor="ctr">
            <a:spAutoFit/>
          </a:bodyPr>
          <a:lstStyle/>
          <a:p>
            <a:r>
              <a:rPr sz="1300" b="0" i="0">
                <a:solidFill>
                  <a:srgbClr val="0B1F3A"/>
                </a:solidFill>
              </a:rPr>
              <a:t>Somebody decided, and the decision is written down in the charter.</a:t>
            </a:r>
          </a:p>
        </p:txBody>
      </p:sp>
      <p:sp>
        <p:nvSpPr>
          <p:cNvPr id="1006" name="Rounded Rectangle 1005"/>
          <p:cNvSpPr/>
          <p:nvPr/>
        </p:nvSpPr>
        <p:spPr>
          <a:xfrm>
            <a:off x="548640" y="3401568"/>
            <a:ext cx="7315200" cy="9144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ectangle 1006"/>
          <p:cNvSpPr/>
          <p:nvPr/>
        </p:nvSpPr>
        <p:spPr>
          <a:xfrm>
            <a:off x="548640" y="3401568"/>
            <a:ext cx="82296" cy="914400"/>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822960" y="3520440"/>
            <a:ext cx="1828800" cy="228600"/>
          </a:xfrm>
          <a:prstGeom prst="rect">
            <a:avLst/>
          </a:prstGeom>
          <a:noFill/>
        </p:spPr>
        <p:txBody>
          <a:bodyPr wrap="square" lIns="0" tIns="0" rIns="0" bIns="0" anchor="t">
            <a:spAutoFit/>
          </a:bodyPr>
          <a:lstStyle/>
          <a:p>
            <a:r>
              <a:rPr sz="950" b="1" i="0" spc="200">
                <a:solidFill>
                  <a:srgbClr val="0B1F3A"/>
                </a:solidFill>
              </a:rPr>
              <a:t>REFUSE WHEN</a:t>
            </a:r>
          </a:p>
        </p:txBody>
      </p:sp>
      <p:sp>
        <p:nvSpPr>
          <p:cNvPr id="1009" name="TextBox 1008"/>
          <p:cNvSpPr txBox="1"/>
          <p:nvPr/>
        </p:nvSpPr>
        <p:spPr>
          <a:xfrm>
            <a:off x="822960" y="3767328"/>
            <a:ext cx="2377440" cy="457200"/>
          </a:xfrm>
          <a:prstGeom prst="rect">
            <a:avLst/>
          </a:prstGeom>
          <a:noFill/>
        </p:spPr>
        <p:txBody>
          <a:bodyPr wrap="square" lIns="0" tIns="0" rIns="0" bIns="0" anchor="t">
            <a:spAutoFit/>
          </a:bodyPr>
          <a:lstStyle/>
          <a:p>
            <a:r>
              <a:rPr sz="1500" b="1" i="0">
                <a:solidFill>
                  <a:srgbClr val="0B1F3A"/>
                </a:solidFill>
                <a:latin typeface="+mj-lt"/>
              </a:rPr>
              <a:t>A question is still open</a:t>
            </a:r>
          </a:p>
        </p:txBody>
      </p:sp>
      <p:sp>
        <p:nvSpPr>
          <p:cNvPr id="1010" name="TextBox 1009"/>
          <p:cNvSpPr txBox="1"/>
          <p:nvPr/>
        </p:nvSpPr>
        <p:spPr>
          <a:xfrm>
            <a:off x="3383280" y="3401568"/>
            <a:ext cx="4297680" cy="914400"/>
          </a:xfrm>
          <a:prstGeom prst="rect">
            <a:avLst/>
          </a:prstGeom>
          <a:noFill/>
        </p:spPr>
        <p:txBody>
          <a:bodyPr wrap="square" lIns="0" tIns="0" rIns="0" bIns="0" anchor="ctr">
            <a:spAutoFit/>
          </a:bodyPr>
          <a:lstStyle/>
          <a:p>
            <a:r>
              <a:rPr sz="1300" b="0" i="0">
                <a:solidFill>
                  <a:srgbClr val="0B1F3A"/>
                </a:solidFill>
              </a:rPr>
              <a:t>An open question is a decision nobody made. If you build anyway, you make it yourself.</a:t>
            </a:r>
          </a:p>
        </p:txBody>
      </p:sp>
      <p:sp>
        <p:nvSpPr>
          <p:cNvPr id="1011" name="Rounded Rectangle 1010"/>
          <p:cNvSpPr/>
          <p:nvPr/>
        </p:nvSpPr>
        <p:spPr>
          <a:xfrm>
            <a:off x="548640" y="4425696"/>
            <a:ext cx="7315200" cy="9144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ectangle 1011"/>
          <p:cNvSpPr/>
          <p:nvPr/>
        </p:nvSpPr>
        <p:spPr>
          <a:xfrm>
            <a:off x="548640" y="4425696"/>
            <a:ext cx="82296" cy="914400"/>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822960" y="4544568"/>
            <a:ext cx="1828800" cy="228600"/>
          </a:xfrm>
          <a:prstGeom prst="rect">
            <a:avLst/>
          </a:prstGeom>
          <a:noFill/>
        </p:spPr>
        <p:txBody>
          <a:bodyPr wrap="square" lIns="0" tIns="0" rIns="0" bIns="0" anchor="t">
            <a:spAutoFit/>
          </a:bodyPr>
          <a:lstStyle/>
          <a:p>
            <a:r>
              <a:rPr sz="950" b="1" i="0" spc="200">
                <a:solidFill>
                  <a:srgbClr val="0B1F3A"/>
                </a:solidFill>
              </a:rPr>
              <a:t>NEVER</a:t>
            </a:r>
          </a:p>
        </p:txBody>
      </p:sp>
      <p:sp>
        <p:nvSpPr>
          <p:cNvPr id="1014" name="TextBox 1013"/>
          <p:cNvSpPr txBox="1"/>
          <p:nvPr/>
        </p:nvSpPr>
        <p:spPr>
          <a:xfrm>
            <a:off x="822960" y="4791456"/>
            <a:ext cx="2377440" cy="457200"/>
          </a:xfrm>
          <a:prstGeom prst="rect">
            <a:avLst/>
          </a:prstGeom>
          <a:noFill/>
        </p:spPr>
        <p:txBody>
          <a:bodyPr wrap="square" lIns="0" tIns="0" rIns="0" bIns="0" anchor="t">
            <a:spAutoFit/>
          </a:bodyPr>
          <a:lstStyle/>
          <a:p>
            <a:r>
              <a:rPr sz="1500" b="1" i="0">
                <a:solidFill>
                  <a:srgbClr val="0B1F3A"/>
                </a:solidFill>
                <a:latin typeface="+mj-lt"/>
              </a:rPr>
              <a:t>Answer it for them</a:t>
            </a:r>
          </a:p>
        </p:txBody>
      </p:sp>
      <p:sp>
        <p:nvSpPr>
          <p:cNvPr id="1015" name="TextBox 1014"/>
          <p:cNvSpPr txBox="1"/>
          <p:nvPr/>
        </p:nvSpPr>
        <p:spPr>
          <a:xfrm>
            <a:off x="3383280" y="4425696"/>
            <a:ext cx="4297680" cy="914400"/>
          </a:xfrm>
          <a:prstGeom prst="rect">
            <a:avLst/>
          </a:prstGeom>
          <a:noFill/>
        </p:spPr>
        <p:txBody>
          <a:bodyPr wrap="square" lIns="0" tIns="0" rIns="0" bIns="0" anchor="ctr">
            <a:spAutoFit/>
          </a:bodyPr>
          <a:lstStyle/>
          <a:p>
            <a:r>
              <a:rPr sz="1300" b="0" i="0">
                <a:solidFill>
                  <a:srgbClr val="0B1F3A"/>
                </a:solidFill>
              </a:rPr>
              <a:t>Your answer becomes the scope. Send it back. This is the cheapest point in the project to be wrong.</a:t>
            </a:r>
          </a:p>
        </p:txBody>
      </p:sp>
      <p:sp>
        <p:nvSpPr>
          <p:cNvPr id="1016" name="Rounded Rectangle 1015"/>
          <p:cNvSpPr/>
          <p:nvPr/>
        </p:nvSpPr>
        <p:spPr>
          <a:xfrm>
            <a:off x="8092440" y="1783080"/>
            <a:ext cx="3547872" cy="3630168"/>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8321040" y="1938528"/>
            <a:ext cx="3108960" cy="228600"/>
          </a:xfrm>
          <a:prstGeom prst="rect">
            <a:avLst/>
          </a:prstGeom>
          <a:noFill/>
        </p:spPr>
        <p:txBody>
          <a:bodyPr wrap="square" lIns="0" tIns="0" rIns="0" bIns="0" anchor="t">
            <a:spAutoFit/>
          </a:bodyPr>
          <a:lstStyle/>
          <a:p>
            <a:r>
              <a:rPr sz="1000" b="1" i="0" spc="200">
                <a:solidFill>
                  <a:srgbClr val="00A3A1"/>
                </a:solidFill>
              </a:rPr>
              <a:t>ENFORCED BY THE TOOLKIT</a:t>
            </a:r>
          </a:p>
        </p:txBody>
      </p:sp>
      <p:sp>
        <p:nvSpPr>
          <p:cNvPr id="1018" name="TextBox 1017"/>
          <p:cNvSpPr txBox="1"/>
          <p:nvPr/>
        </p:nvSpPr>
        <p:spPr>
          <a:xfrm>
            <a:off x="8321040" y="2286000"/>
            <a:ext cx="3108960" cy="1005840"/>
          </a:xfrm>
          <a:prstGeom prst="rect">
            <a:avLst/>
          </a:prstGeom>
          <a:noFill/>
        </p:spPr>
        <p:txBody>
          <a:bodyPr wrap="square" lIns="0" tIns="0" rIns="0" bIns="0" anchor="t">
            <a:spAutoFit/>
          </a:bodyPr>
          <a:lstStyle/>
          <a:p>
            <a:r>
              <a:rPr sz="1800" b="1" i="0">
                <a:solidFill>
                  <a:srgbClr val="FFFFFF"/>
                </a:solidFill>
                <a:latin typeface="+mj-lt"/>
              </a:rPr>
              <a:t>/tdmi:upsize will not start on an open model charter.</a:t>
            </a:r>
          </a:p>
        </p:txBody>
      </p:sp>
      <p:sp>
        <p:nvSpPr>
          <p:cNvPr id="1019" name="TextBox 1018"/>
          <p:cNvSpPr txBox="1"/>
          <p:nvPr/>
        </p:nvSpPr>
        <p:spPr>
          <a:xfrm>
            <a:off x="8321040" y="3383280"/>
            <a:ext cx="3108960" cy="1280160"/>
          </a:xfrm>
          <a:prstGeom prst="rect">
            <a:avLst/>
          </a:prstGeom>
          <a:noFill/>
        </p:spPr>
        <p:txBody>
          <a:bodyPr wrap="square" lIns="0" tIns="0" rIns="0" bIns="0" anchor="t">
            <a:spAutoFit/>
          </a:bodyPr>
          <a:lstStyle/>
          <a:p>
            <a:r>
              <a:rPr sz="1350" b="0" i="0">
                <a:solidFill>
                  <a:srgbClr val="FFFFFF"/>
                </a:solidFill>
              </a:rPr>
              <a:t>It will not answer an open question for you either. The gate is the minimum for any serious project, so the tool holds the line.</a:t>
            </a:r>
          </a:p>
        </p:txBody>
      </p:sp>
      <p:sp>
        <p:nvSpPr>
          <p:cNvPr id="1020" name="TextBox 1019"/>
          <p:cNvSpPr txBox="1"/>
          <p:nvPr/>
        </p:nvSpPr>
        <p:spPr>
          <a:xfrm>
            <a:off x="8321040" y="4846320"/>
            <a:ext cx="3108960" cy="365760"/>
          </a:xfrm>
          <a:prstGeom prst="rect">
            <a:avLst/>
          </a:prstGeom>
          <a:noFill/>
        </p:spPr>
        <p:txBody>
          <a:bodyPr wrap="square" lIns="0" tIns="0" rIns="0" bIns="0" anchor="t">
            <a:spAutoFit/>
          </a:bodyPr>
          <a:lstStyle/>
          <a:p>
            <a:r>
              <a:rPr sz="1050" b="0" i="1">
                <a:solidFill>
                  <a:srgbClr val="C9D6EC"/>
                </a:solidFill>
              </a:rPr>
              <a:t>Covered in the toolkit section of Part 6.</a:t>
            </a:r>
          </a:p>
        </p:txBody>
      </p:sp>
      <p:sp>
        <p:nvSpPr>
          <p:cNvPr id="1021" name="Rounded Rectangle 1020"/>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TextBox 1021"/>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The upsize gate is your first and cheapest chance to say no.</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GATE 1 · THE UPSIZE GATE</a:t>
            </a:r>
          </a:p>
        </p:txBody>
      </p:sp>
      <p:sp>
        <p:nvSpPr>
          <p:cNvPr id="3" name="Title 2"/>
          <p:cNvSpPr>
            <a:spLocks noGrp="1"/>
          </p:cNvSpPr>
          <p:nvPr>
            <p:ph type="title" idx="101"/>
          </p:nvPr>
        </p:nvSpPr>
        <p:spPr/>
        <p:txBody>
          <a:bodyPr/>
          <a:lstStyle/>
          <a:p>
            <a:pPr algn="l"/>
            <a:r>
              <a:t>Closing the charter once pays off four times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9</a:t>
            </a:fld>
            <a:endParaRPr lang="en-US" b="0"/>
          </a:p>
        </p:txBody>
      </p:sp>
      <p:sp>
        <p:nvSpPr>
          <p:cNvPr id="1000" name="TextBox 999"/>
          <p:cNvSpPr txBox="1"/>
          <p:nvPr/>
        </p:nvSpPr>
        <p:spPr>
          <a:xfrm>
            <a:off x="548640" y="1691640"/>
            <a:ext cx="11064240" cy="457200"/>
          </a:xfrm>
          <a:prstGeom prst="rect">
            <a:avLst/>
          </a:prstGeom>
          <a:noFill/>
        </p:spPr>
        <p:txBody>
          <a:bodyPr wrap="square" lIns="0" tIns="0" rIns="0" bIns="0" anchor="t">
            <a:spAutoFit/>
          </a:bodyPr>
          <a:lstStyle/>
          <a:p>
            <a:r>
              <a:rPr sz="1400" b="0" i="0">
                <a:solidFill>
                  <a:srgbClr val="0B1F3A"/>
                </a:solidFill>
              </a:rPr>
              <a:t>The charter states purpose, users, assumptions and scope. Four later documents ask for exactly those facts, months apart, from different people.</a:t>
            </a:r>
          </a:p>
        </p:txBody>
      </p:sp>
      <p:graphicFrame>
        <p:nvGraphicFramePr>
          <p:cNvPr id="1001" name="Table 1000"/>
          <p:cNvGraphicFramePr>
            <a:graphicFrameLocks noGrp="1"/>
          </p:cNvGraphicFramePr>
          <p:nvPr/>
        </p:nvGraphicFramePr>
        <p:xfrm>
          <a:off x="548640" y="2286000"/>
          <a:ext cx="7498080" cy="2834640"/>
        </p:xfrm>
        <a:graphic>
          <a:graphicData uri="http://schemas.openxmlformats.org/drawingml/2006/table">
            <a:tbl>
              <a:tblPr>
                <a:tableStyleId>{2D5ABB26-0587-4C30-8999-92F81FD0307C}</a:tableStyleId>
              </a:tblPr>
              <a:tblGrid>
                <a:gridCol w="23774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566928">
                <a:tc>
                  <a:txBody>
                    <a:bodyPr/>
                    <a:lstStyle/>
                    <a:p>
                      <a:r>
                        <a:rPr sz="1100" b="1" spc="100">
                          <a:solidFill>
                            <a:srgbClr val="FFFFFF"/>
                          </a:solidFill>
                        </a:rPr>
                        <a:t>LATER ARTIFACT</a:t>
                      </a:r>
                    </a:p>
                  </a:txBody>
                  <a:tcPr marL="109728" marR="109728" anchor="ctr">
                    <a:solidFill>
                      <a:srgbClr val="0B1F3A"/>
                    </a:solidFill>
                  </a:tcPr>
                </a:tc>
                <a:tc>
                  <a:txBody>
                    <a:bodyPr/>
                    <a:lstStyle/>
                    <a:p>
                      <a:r>
                        <a:rPr sz="1100" b="1" spc="100">
                          <a:solidFill>
                            <a:srgbClr val="FFFFFF"/>
                          </a:solidFill>
                        </a:rPr>
                        <a:t>WHAT IT TAKES FROM THE CHARTER</a:t>
                      </a:r>
                    </a:p>
                  </a:txBody>
                  <a:tcPr marL="109728" marR="109728" anchor="ctr">
                    <a:solidFill>
                      <a:srgbClr val="0B1F3A"/>
                    </a:solidFill>
                  </a:tcPr>
                </a:tc>
                <a:tc>
                  <a:txBody>
                    <a:bodyPr/>
                    <a:lstStyle/>
                    <a:p>
                      <a:r>
                        <a:rPr sz="1100" b="1" spc="100">
                          <a:solidFill>
                            <a:srgbClr val="FFFFFF"/>
                          </a:solidFill>
                        </a:rPr>
                        <a:t>GOES TO</a:t>
                      </a:r>
                    </a:p>
                  </a:txBody>
                  <a:tcPr marL="109728" marR="109728" anchor="ctr">
                    <a:solidFill>
                      <a:srgbClr val="0B1F3A"/>
                    </a:solidFill>
                  </a:tcPr>
                </a:tc>
                <a:extLst>
                  <a:ext uri="{0D108BD9-81ED-4DB2-BD59-A6C34878D82A}">
                    <a16:rowId xmlns:a16="http://schemas.microsoft.com/office/drawing/2014/main" val="10000"/>
                  </a:ext>
                </a:extLst>
              </a:tr>
              <a:tr h="566928">
                <a:tc>
                  <a:txBody>
                    <a:bodyPr/>
                    <a:lstStyle/>
                    <a:p>
                      <a:r>
                        <a:rPr sz="1250" b="1">
                          <a:solidFill>
                            <a:srgbClr val="0B1F3A"/>
                          </a:solidFill>
                        </a:rPr>
                        <a:t>Integration review (ESIS)</a:t>
                      </a:r>
                    </a:p>
                  </a:txBody>
                  <a:tcPr marL="109728" marR="109728" anchor="ctr">
                    <a:solidFill>
                      <a:srgbClr val="EEF3FB"/>
                    </a:solidFill>
                  </a:tcPr>
                </a:tc>
                <a:tc>
                  <a:txBody>
                    <a:bodyPr/>
                    <a:lstStyle/>
                    <a:p>
                      <a:r>
                        <a:rPr sz="1250" b="0">
                          <a:solidFill>
                            <a:srgbClr val="0B1F3A"/>
                          </a:solidFill>
                        </a:rPr>
                        <a:t>Purpose, users and data types</a:t>
                      </a:r>
                    </a:p>
                  </a:txBody>
                  <a:tcPr marL="109728" marR="109728" anchor="ctr">
                    <a:solidFill>
                      <a:srgbClr val="EEF3FB"/>
                    </a:solidFill>
                  </a:tcPr>
                </a:tc>
                <a:tc>
                  <a:txBody>
                    <a:bodyPr/>
                    <a:lstStyle/>
                    <a:p>
                      <a:r>
                        <a:rPr sz="1250" b="0">
                          <a:solidFill>
                            <a:srgbClr val="0B1F3A"/>
                          </a:solidFill>
                        </a:rPr>
                        <a:t>ET&amp;D</a:t>
                      </a:r>
                    </a:p>
                  </a:txBody>
                  <a:tcPr marL="109728" marR="109728" anchor="ctr">
                    <a:solidFill>
                      <a:srgbClr val="EEF3FB"/>
                    </a:solidFill>
                  </a:tcPr>
                </a:tc>
                <a:extLst>
                  <a:ext uri="{0D108BD9-81ED-4DB2-BD59-A6C34878D82A}">
                    <a16:rowId xmlns:a16="http://schemas.microsoft.com/office/drawing/2014/main" val="10001"/>
                  </a:ext>
                </a:extLst>
              </a:tr>
              <a:tr h="566928">
                <a:tc>
                  <a:txBody>
                    <a:bodyPr/>
                    <a:lstStyle/>
                    <a:p>
                      <a:r>
                        <a:rPr sz="1250" b="1">
                          <a:solidFill>
                            <a:srgbClr val="0B1F3A"/>
                          </a:solidFill>
                        </a:rPr>
                        <a:t>Risk-assessment intake</a:t>
                      </a:r>
                    </a:p>
                  </a:txBody>
                  <a:tcPr marL="109728" marR="109728" anchor="ctr">
                    <a:solidFill>
                      <a:srgbClr val="FFFFFF"/>
                    </a:solidFill>
                  </a:tcPr>
                </a:tc>
                <a:tc>
                  <a:txBody>
                    <a:bodyPr/>
                    <a:lstStyle/>
                    <a:p>
                      <a:r>
                        <a:rPr sz="1250" b="0">
                          <a:solidFill>
                            <a:srgbClr val="0B1F3A"/>
                          </a:solidFill>
                        </a:rPr>
                        <a:t>Use cases, business value, user population, data classification</a:t>
                      </a:r>
                    </a:p>
                  </a:txBody>
                  <a:tcPr marL="109728" marR="109728" anchor="ctr">
                    <a:solidFill>
                      <a:srgbClr val="FFFFFF"/>
                    </a:solidFill>
                  </a:tcPr>
                </a:tc>
                <a:tc>
                  <a:txBody>
                    <a:bodyPr/>
                    <a:lstStyle/>
                    <a:p>
                      <a:r>
                        <a:rPr sz="1250" b="0">
                          <a:solidFill>
                            <a:srgbClr val="0B1F3A"/>
                          </a:solidFill>
                        </a:rPr>
                        <a:t>GIS</a:t>
                      </a:r>
                    </a:p>
                  </a:txBody>
                  <a:tcPr marL="109728" marR="109728" anchor="ctr">
                    <a:solidFill>
                      <a:srgbClr val="FFFFFF"/>
                    </a:solidFill>
                  </a:tcPr>
                </a:tc>
                <a:extLst>
                  <a:ext uri="{0D108BD9-81ED-4DB2-BD59-A6C34878D82A}">
                    <a16:rowId xmlns:a16="http://schemas.microsoft.com/office/drawing/2014/main" val="10002"/>
                  </a:ext>
                </a:extLst>
              </a:tr>
              <a:tr h="566928">
                <a:tc>
                  <a:txBody>
                    <a:bodyPr/>
                    <a:lstStyle/>
                    <a:p>
                      <a:r>
                        <a:rPr sz="1250" b="1">
                          <a:solidFill>
                            <a:srgbClr val="0B1F3A"/>
                          </a:solidFill>
                        </a:rPr>
                        <a:t>User documentation</a:t>
                      </a:r>
                    </a:p>
                  </a:txBody>
                  <a:tcPr marL="109728" marR="109728" anchor="ctr">
                    <a:solidFill>
                      <a:srgbClr val="EEF3FB"/>
                    </a:solidFill>
                  </a:tcPr>
                </a:tc>
                <a:tc>
                  <a:txBody>
                    <a:bodyPr/>
                    <a:lstStyle/>
                    <a:p>
                      <a:r>
                        <a:rPr sz="1250" b="0">
                          <a:solidFill>
                            <a:srgbClr val="0B1F3A"/>
                          </a:solidFill>
                        </a:rPr>
                        <a:t>What the application does, and who uses it</a:t>
                      </a:r>
                    </a:p>
                  </a:txBody>
                  <a:tcPr marL="109728" marR="109728" anchor="ctr">
                    <a:solidFill>
                      <a:srgbClr val="EEF3FB"/>
                    </a:solidFill>
                  </a:tcPr>
                </a:tc>
                <a:tc>
                  <a:txBody>
                    <a:bodyPr/>
                    <a:lstStyle/>
                    <a:p>
                      <a:r>
                        <a:rPr sz="1250" b="0">
                          <a:solidFill>
                            <a:srgbClr val="0B1F3A"/>
                          </a:solidFill>
                        </a:rPr>
                        <a:t>TDMI</a:t>
                      </a:r>
                    </a:p>
                  </a:txBody>
                  <a:tcPr marL="109728" marR="109728" anchor="ctr">
                    <a:solidFill>
                      <a:srgbClr val="EEF3FB"/>
                    </a:solidFill>
                  </a:tcPr>
                </a:tc>
                <a:extLst>
                  <a:ext uri="{0D108BD9-81ED-4DB2-BD59-A6C34878D82A}">
                    <a16:rowId xmlns:a16="http://schemas.microsoft.com/office/drawing/2014/main" val="10003"/>
                  </a:ext>
                </a:extLst>
              </a:tr>
              <a:tr h="566928">
                <a:tc>
                  <a:txBody>
                    <a:bodyPr/>
                    <a:lstStyle/>
                    <a:p>
                      <a:r>
                        <a:rPr sz="1250" b="1">
                          <a:solidFill>
                            <a:srgbClr val="0B1F3A"/>
                          </a:solidFill>
                        </a:rPr>
                        <a:t>Acceptance test cases</a:t>
                      </a:r>
                    </a:p>
                  </a:txBody>
                  <a:tcPr marL="109728" marR="109728" anchor="ctr">
                    <a:solidFill>
                      <a:srgbClr val="FFFFFF"/>
                    </a:solidFill>
                  </a:tcPr>
                </a:tc>
                <a:tc>
                  <a:txBody>
                    <a:bodyPr/>
                    <a:lstStyle/>
                    <a:p>
                      <a:r>
                        <a:rPr sz="1250" b="0">
                          <a:solidFill>
                            <a:srgbClr val="0B1F3A"/>
                          </a:solidFill>
                        </a:rPr>
                        <a:t>The workflows a user must be able to complete</a:t>
                      </a:r>
                    </a:p>
                  </a:txBody>
                  <a:tcPr marL="109728" marR="109728" anchor="ctr">
                    <a:solidFill>
                      <a:srgbClr val="FFFFFF"/>
                    </a:solidFill>
                  </a:tcPr>
                </a:tc>
                <a:tc>
                  <a:txBody>
                    <a:bodyPr/>
                    <a:lstStyle/>
                    <a:p>
                      <a:r>
                        <a:rPr sz="1250" b="0">
                          <a:solidFill>
                            <a:srgbClr val="0B1F3A"/>
                          </a:solidFill>
                        </a:rPr>
                        <a:t>TDMI</a:t>
                      </a:r>
                    </a:p>
                  </a:txBody>
                  <a:tcPr marL="109728" marR="109728" anchor="ctr">
                    <a:solidFill>
                      <a:srgbClr val="FFFFFF"/>
                    </a:solidFill>
                  </a:tcPr>
                </a:tc>
                <a:extLst>
                  <a:ext uri="{0D108BD9-81ED-4DB2-BD59-A6C34878D82A}">
                    <a16:rowId xmlns:a16="http://schemas.microsoft.com/office/drawing/2014/main" val="10004"/>
                  </a:ext>
                </a:extLst>
              </a:tr>
            </a:tbl>
          </a:graphicData>
        </a:graphic>
      </p:graphicFrame>
      <p:sp>
        <p:nvSpPr>
          <p:cNvPr id="1002" name="Rounded Rectangle 1001"/>
          <p:cNvSpPr/>
          <p:nvPr/>
        </p:nvSpPr>
        <p:spPr>
          <a:xfrm>
            <a:off x="8275320" y="2286000"/>
            <a:ext cx="3364992" cy="28346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8503920" y="2468880"/>
            <a:ext cx="2926080" cy="822960"/>
          </a:xfrm>
          <a:prstGeom prst="rect">
            <a:avLst/>
          </a:prstGeom>
          <a:noFill/>
        </p:spPr>
        <p:txBody>
          <a:bodyPr wrap="square" lIns="0" tIns="0" rIns="0" bIns="0" anchor="t">
            <a:spAutoFit/>
          </a:bodyPr>
          <a:lstStyle/>
          <a:p>
            <a:r>
              <a:rPr sz="6000" b="1" i="0">
                <a:solidFill>
                  <a:srgbClr val="1E49E2"/>
                </a:solidFill>
                <a:latin typeface="+mj-lt"/>
              </a:rPr>
              <a:t>4</a:t>
            </a:r>
          </a:p>
        </p:txBody>
      </p:sp>
      <p:sp>
        <p:nvSpPr>
          <p:cNvPr id="1004" name="TextBox 1003"/>
          <p:cNvSpPr txBox="1"/>
          <p:nvPr/>
        </p:nvSpPr>
        <p:spPr>
          <a:xfrm>
            <a:off x="8503920" y="3383280"/>
            <a:ext cx="2926080" cy="365760"/>
          </a:xfrm>
          <a:prstGeom prst="rect">
            <a:avLst/>
          </a:prstGeom>
          <a:noFill/>
        </p:spPr>
        <p:txBody>
          <a:bodyPr wrap="square" lIns="0" tIns="0" rIns="0" bIns="0" anchor="t">
            <a:spAutoFit/>
          </a:bodyPr>
          <a:lstStyle/>
          <a:p>
            <a:r>
              <a:rPr sz="1500" b="1" i="0">
                <a:solidFill>
                  <a:srgbClr val="0B1F3A"/>
                </a:solidFill>
              </a:rPr>
              <a:t>documents from one charter</a:t>
            </a:r>
          </a:p>
        </p:txBody>
      </p:sp>
      <p:sp>
        <p:nvSpPr>
          <p:cNvPr id="1005" name="TextBox 1004"/>
          <p:cNvSpPr txBox="1"/>
          <p:nvPr/>
        </p:nvSpPr>
        <p:spPr>
          <a:xfrm>
            <a:off x="8503920" y="3794760"/>
            <a:ext cx="2926080" cy="1188720"/>
          </a:xfrm>
          <a:prstGeom prst="rect">
            <a:avLst/>
          </a:prstGeom>
          <a:noFill/>
        </p:spPr>
        <p:txBody>
          <a:bodyPr wrap="square" lIns="0" tIns="0" rIns="0" bIns="0" anchor="t">
            <a:spAutoFit/>
          </a:bodyPr>
          <a:lstStyle/>
          <a:p>
            <a:r>
              <a:rPr sz="1250" b="0" i="0">
                <a:solidFill>
                  <a:srgbClr val="0B1F3A"/>
                </a:solidFill>
              </a:rPr>
              <a:t>Two go to Enterprise Technology and security. Two belong to the build team. All four are produced as you go, not under deadline.</a:t>
            </a:r>
          </a:p>
        </p:txBody>
      </p:sp>
      <p:sp>
        <p:nvSpPr>
          <p:cNvPr id="1006" name="Rounded Rectangle 1005"/>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Close the charter once and four documents become copy work. Skip it and you write all four from memory.</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PHASE 1 · UPSIZE</a:t>
            </a:r>
          </a:p>
        </p:txBody>
      </p:sp>
      <p:sp>
        <p:nvSpPr>
          <p:cNvPr id="3" name="Title 2"/>
          <p:cNvSpPr>
            <a:spLocks noGrp="1"/>
          </p:cNvSpPr>
          <p:nvPr>
            <p:ph type="title" idx="101"/>
          </p:nvPr>
        </p:nvSpPr>
        <p:spPr/>
        <p:txBody>
          <a:bodyPr/>
          <a:lstStyle/>
          <a:p>
            <a:pPr algn="l"/>
            <a:r>
              <a:t>The model is a specification. Read it like one.</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10</a:t>
            </a:fld>
            <a:endParaRPr lang="en-US" b="0"/>
          </a:p>
        </p:txBody>
      </p:sp>
      <p:sp>
        <p:nvSpPr>
          <p:cNvPr id="1000" name="Rounded Rectangle 999"/>
          <p:cNvSpPr/>
          <p:nvPr/>
        </p:nvSpPr>
        <p:spPr>
          <a:xfrm>
            <a:off x="548640" y="1783080"/>
            <a:ext cx="2651760" cy="27432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Rounded Rectangle 1000"/>
          <p:cNvSpPr/>
          <p:nvPr/>
        </p:nvSpPr>
        <p:spPr>
          <a:xfrm>
            <a:off x="749808" y="1938528"/>
            <a:ext cx="530352" cy="530352"/>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49808" y="1938528"/>
            <a:ext cx="530352" cy="530352"/>
          </a:xfrm>
          <a:prstGeom prst="rect">
            <a:avLst/>
          </a:prstGeom>
          <a:noFill/>
        </p:spPr>
        <p:txBody>
          <a:bodyPr wrap="square" lIns="0" tIns="0" rIns="0" bIns="0" anchor="ctr">
            <a:spAutoFit/>
          </a:bodyPr>
          <a:lstStyle/>
          <a:p>
            <a:pPr algn="ctr"/>
            <a:r>
              <a:rPr sz="2200" b="1" i="0">
                <a:solidFill>
                  <a:srgbClr val="FFFFFF"/>
                </a:solidFill>
                <a:latin typeface="+mj-lt"/>
              </a:rPr>
              <a:t>1</a:t>
            </a:r>
          </a:p>
        </p:txBody>
      </p:sp>
      <p:sp>
        <p:nvSpPr>
          <p:cNvPr id="1003" name="TextBox 1002"/>
          <p:cNvSpPr txBox="1"/>
          <p:nvPr/>
        </p:nvSpPr>
        <p:spPr>
          <a:xfrm>
            <a:off x="749808" y="2651760"/>
            <a:ext cx="2286000" cy="594360"/>
          </a:xfrm>
          <a:prstGeom prst="rect">
            <a:avLst/>
          </a:prstGeom>
          <a:noFill/>
        </p:spPr>
        <p:txBody>
          <a:bodyPr wrap="square" lIns="0" tIns="0" rIns="0" bIns="0" anchor="t">
            <a:spAutoFit/>
          </a:bodyPr>
          <a:lstStyle/>
          <a:p>
            <a:r>
              <a:rPr sz="1700" b="1" i="0">
                <a:solidFill>
                  <a:srgbClr val="0B1F3A"/>
                </a:solidFill>
                <a:latin typeface="+mj-lt"/>
              </a:rPr>
              <a:t>Enumerate the screens</a:t>
            </a:r>
          </a:p>
        </p:txBody>
      </p:sp>
      <p:sp>
        <p:nvSpPr>
          <p:cNvPr id="1004" name="TextBox 1003"/>
          <p:cNvSpPr txBox="1"/>
          <p:nvPr/>
        </p:nvSpPr>
        <p:spPr>
          <a:xfrm>
            <a:off x="749808" y="3291840"/>
            <a:ext cx="2286000" cy="1188720"/>
          </a:xfrm>
          <a:prstGeom prst="rect">
            <a:avLst/>
          </a:prstGeom>
          <a:noFill/>
        </p:spPr>
        <p:txBody>
          <a:bodyPr wrap="square" lIns="0" tIns="0" rIns="0" bIns="0" anchor="t">
            <a:spAutoFit/>
          </a:bodyPr>
          <a:lstStyle/>
          <a:p>
            <a:r>
              <a:rPr sz="1250" b="0" i="0">
                <a:solidFill>
                  <a:srgbClr val="0B1F3A"/>
                </a:solidFill>
              </a:rPr>
              <a:t>Each screen becomes a route. The model already decided how many there are and what belongs on each.</a:t>
            </a:r>
          </a:p>
        </p:txBody>
      </p:sp>
      <p:sp>
        <p:nvSpPr>
          <p:cNvPr id="1005" name="Rounded Rectangle 1004"/>
          <p:cNvSpPr/>
          <p:nvPr/>
        </p:nvSpPr>
        <p:spPr>
          <a:xfrm>
            <a:off x="3364992" y="1783080"/>
            <a:ext cx="2651760" cy="27432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Rounded Rectangle 1005"/>
          <p:cNvSpPr/>
          <p:nvPr/>
        </p:nvSpPr>
        <p:spPr>
          <a:xfrm>
            <a:off x="3566160" y="1938528"/>
            <a:ext cx="530352" cy="530352"/>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3566160" y="1938528"/>
            <a:ext cx="530352" cy="530352"/>
          </a:xfrm>
          <a:prstGeom prst="rect">
            <a:avLst/>
          </a:prstGeom>
          <a:noFill/>
        </p:spPr>
        <p:txBody>
          <a:bodyPr wrap="square" lIns="0" tIns="0" rIns="0" bIns="0" anchor="ctr">
            <a:spAutoFit/>
          </a:bodyPr>
          <a:lstStyle/>
          <a:p>
            <a:pPr algn="ctr"/>
            <a:r>
              <a:rPr sz="2200" b="1" i="0">
                <a:solidFill>
                  <a:srgbClr val="FFFFFF"/>
                </a:solidFill>
                <a:latin typeface="+mj-lt"/>
              </a:rPr>
              <a:t>2</a:t>
            </a:r>
          </a:p>
        </p:txBody>
      </p:sp>
      <p:sp>
        <p:nvSpPr>
          <p:cNvPr id="1008" name="TextBox 1007"/>
          <p:cNvSpPr txBox="1"/>
          <p:nvPr/>
        </p:nvSpPr>
        <p:spPr>
          <a:xfrm>
            <a:off x="3566160" y="2651760"/>
            <a:ext cx="2286000" cy="594360"/>
          </a:xfrm>
          <a:prstGeom prst="rect">
            <a:avLst/>
          </a:prstGeom>
          <a:noFill/>
        </p:spPr>
        <p:txBody>
          <a:bodyPr wrap="square" lIns="0" tIns="0" rIns="0" bIns="0" anchor="t">
            <a:spAutoFit/>
          </a:bodyPr>
          <a:lstStyle/>
          <a:p>
            <a:r>
              <a:rPr sz="1700" b="1" i="0">
                <a:solidFill>
                  <a:srgbClr val="0B1F3A"/>
                </a:solidFill>
                <a:latin typeface="+mj-lt"/>
              </a:rPr>
              <a:t>Enumerate the states</a:t>
            </a:r>
          </a:p>
        </p:txBody>
      </p:sp>
      <p:sp>
        <p:nvSpPr>
          <p:cNvPr id="1009" name="TextBox 1008"/>
          <p:cNvSpPr txBox="1"/>
          <p:nvPr/>
        </p:nvSpPr>
        <p:spPr>
          <a:xfrm>
            <a:off x="3566160" y="3291840"/>
            <a:ext cx="2286000" cy="1188720"/>
          </a:xfrm>
          <a:prstGeom prst="rect">
            <a:avLst/>
          </a:prstGeom>
          <a:noFill/>
        </p:spPr>
        <p:txBody>
          <a:bodyPr wrap="square" lIns="0" tIns="0" rIns="0" bIns="0" anchor="t">
            <a:spAutoFit/>
          </a:bodyPr>
          <a:lstStyle/>
          <a:p>
            <a:r>
              <a:rPr sz="1250" b="0" i="0">
                <a:solidFill>
                  <a:srgbClr val="0B1F3A"/>
                </a:solidFill>
              </a:rPr>
              <a:t>Empty, error, success, loading. Every state the model shows must be built, and some are written down nowhere else.</a:t>
            </a:r>
          </a:p>
        </p:txBody>
      </p:sp>
      <p:sp>
        <p:nvSpPr>
          <p:cNvPr id="1010" name="Rounded Rectangle 1009"/>
          <p:cNvSpPr/>
          <p:nvPr/>
        </p:nvSpPr>
        <p:spPr>
          <a:xfrm>
            <a:off x="6181344" y="1783080"/>
            <a:ext cx="2651760" cy="27432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Rounded Rectangle 1010"/>
          <p:cNvSpPr/>
          <p:nvPr/>
        </p:nvSpPr>
        <p:spPr>
          <a:xfrm>
            <a:off x="6382512" y="1938528"/>
            <a:ext cx="530352" cy="530352"/>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TextBox 1011"/>
          <p:cNvSpPr txBox="1"/>
          <p:nvPr/>
        </p:nvSpPr>
        <p:spPr>
          <a:xfrm>
            <a:off x="6382512" y="1938528"/>
            <a:ext cx="530352" cy="530352"/>
          </a:xfrm>
          <a:prstGeom prst="rect">
            <a:avLst/>
          </a:prstGeom>
          <a:noFill/>
        </p:spPr>
        <p:txBody>
          <a:bodyPr wrap="square" lIns="0" tIns="0" rIns="0" bIns="0" anchor="ctr">
            <a:spAutoFit/>
          </a:bodyPr>
          <a:lstStyle/>
          <a:p>
            <a:pPr algn="ctr"/>
            <a:r>
              <a:rPr sz="2200" b="1" i="0">
                <a:solidFill>
                  <a:srgbClr val="FFFFFF"/>
                </a:solidFill>
                <a:latin typeface="+mj-lt"/>
              </a:rPr>
              <a:t>3</a:t>
            </a:r>
          </a:p>
        </p:txBody>
      </p:sp>
      <p:sp>
        <p:nvSpPr>
          <p:cNvPr id="1013" name="TextBox 1012"/>
          <p:cNvSpPr txBox="1"/>
          <p:nvPr/>
        </p:nvSpPr>
        <p:spPr>
          <a:xfrm>
            <a:off x="6382512" y="2651760"/>
            <a:ext cx="2286000" cy="594360"/>
          </a:xfrm>
          <a:prstGeom prst="rect">
            <a:avLst/>
          </a:prstGeom>
          <a:noFill/>
        </p:spPr>
        <p:txBody>
          <a:bodyPr wrap="square" lIns="0" tIns="0" rIns="0" bIns="0" anchor="t">
            <a:spAutoFit/>
          </a:bodyPr>
          <a:lstStyle/>
          <a:p>
            <a:r>
              <a:rPr sz="1700" b="1" i="0">
                <a:solidFill>
                  <a:srgbClr val="0B1F3A"/>
                </a:solidFill>
                <a:latin typeface="+mj-lt"/>
              </a:rPr>
              <a:t>Keep the words</a:t>
            </a:r>
          </a:p>
        </p:txBody>
      </p:sp>
      <p:sp>
        <p:nvSpPr>
          <p:cNvPr id="1014" name="TextBox 1013"/>
          <p:cNvSpPr txBox="1"/>
          <p:nvPr/>
        </p:nvSpPr>
        <p:spPr>
          <a:xfrm>
            <a:off x="6382512" y="3291840"/>
            <a:ext cx="2286000" cy="1188720"/>
          </a:xfrm>
          <a:prstGeom prst="rect">
            <a:avLst/>
          </a:prstGeom>
          <a:noFill/>
        </p:spPr>
        <p:txBody>
          <a:bodyPr wrap="square" lIns="0" tIns="0" rIns="0" bIns="0" anchor="t">
            <a:spAutoFit/>
          </a:bodyPr>
          <a:lstStyle/>
          <a:p>
            <a:r>
              <a:rPr sz="1250" b="0" i="0">
                <a:solidFill>
                  <a:srgbClr val="0B1F3A"/>
                </a:solidFill>
              </a:rPr>
              <a:t>Labels, column headings, status names and button text are business decisions. Changing one is a change request.</a:t>
            </a:r>
          </a:p>
        </p:txBody>
      </p:sp>
      <p:sp>
        <p:nvSpPr>
          <p:cNvPr id="1015" name="Rounded Rectangle 1014"/>
          <p:cNvSpPr/>
          <p:nvPr/>
        </p:nvSpPr>
        <p:spPr>
          <a:xfrm>
            <a:off x="8997696" y="1783080"/>
            <a:ext cx="2651760" cy="27432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Rounded Rectangle 1015"/>
          <p:cNvSpPr/>
          <p:nvPr/>
        </p:nvSpPr>
        <p:spPr>
          <a:xfrm>
            <a:off x="9198864" y="1938528"/>
            <a:ext cx="530352" cy="530352"/>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9198864" y="1938528"/>
            <a:ext cx="530352" cy="530352"/>
          </a:xfrm>
          <a:prstGeom prst="rect">
            <a:avLst/>
          </a:prstGeom>
          <a:noFill/>
        </p:spPr>
        <p:txBody>
          <a:bodyPr wrap="square" lIns="0" tIns="0" rIns="0" bIns="0" anchor="ctr">
            <a:spAutoFit/>
          </a:bodyPr>
          <a:lstStyle/>
          <a:p>
            <a:pPr algn="ctr"/>
            <a:r>
              <a:rPr sz="2200" b="1" i="0">
                <a:solidFill>
                  <a:srgbClr val="FFFFFF"/>
                </a:solidFill>
                <a:latin typeface="+mj-lt"/>
              </a:rPr>
              <a:t>4</a:t>
            </a:r>
          </a:p>
        </p:txBody>
      </p:sp>
      <p:sp>
        <p:nvSpPr>
          <p:cNvPr id="1018" name="TextBox 1017"/>
          <p:cNvSpPr txBox="1"/>
          <p:nvPr/>
        </p:nvSpPr>
        <p:spPr>
          <a:xfrm>
            <a:off x="9198864" y="2651760"/>
            <a:ext cx="2286000" cy="594360"/>
          </a:xfrm>
          <a:prstGeom prst="rect">
            <a:avLst/>
          </a:prstGeom>
          <a:noFill/>
        </p:spPr>
        <p:txBody>
          <a:bodyPr wrap="square" lIns="0" tIns="0" rIns="0" bIns="0" anchor="t">
            <a:spAutoFit/>
          </a:bodyPr>
          <a:lstStyle/>
          <a:p>
            <a:r>
              <a:rPr sz="1700" b="1" i="0">
                <a:solidFill>
                  <a:srgbClr val="0B1F3A"/>
                </a:solidFill>
                <a:latin typeface="+mj-lt"/>
              </a:rPr>
              <a:t>Read the data for shape</a:t>
            </a:r>
          </a:p>
        </p:txBody>
      </p:sp>
      <p:sp>
        <p:nvSpPr>
          <p:cNvPr id="1019" name="TextBox 1018"/>
          <p:cNvSpPr txBox="1"/>
          <p:nvPr/>
        </p:nvSpPr>
        <p:spPr>
          <a:xfrm>
            <a:off x="9198864" y="3291840"/>
            <a:ext cx="2286000" cy="1188720"/>
          </a:xfrm>
          <a:prstGeom prst="rect">
            <a:avLst/>
          </a:prstGeom>
          <a:noFill/>
        </p:spPr>
        <p:txBody>
          <a:bodyPr wrap="square" lIns="0" tIns="0" rIns="0" bIns="0" anchor="t">
            <a:spAutoFit/>
          </a:bodyPr>
          <a:lstStyle/>
          <a:p>
            <a:r>
              <a:rPr sz="1250" b="0" i="0">
                <a:solidFill>
                  <a:srgbClr val="0B1F3A"/>
                </a:solidFill>
              </a:rPr>
              <a:t>Field types, formats and lengths become seeds and test fixtures. Never ship a row of the invented data.</a:t>
            </a:r>
          </a:p>
        </p:txBody>
      </p:sp>
      <p:sp>
        <p:nvSpPr>
          <p:cNvPr id="1020" name="Rounded Rectangle 1019"/>
          <p:cNvSpPr/>
          <p:nvPr/>
        </p:nvSpPr>
        <p:spPr>
          <a:xfrm>
            <a:off x="548640" y="4663440"/>
            <a:ext cx="11091672" cy="73152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TextBox 1020"/>
          <p:cNvSpPr txBox="1"/>
          <p:nvPr/>
        </p:nvSpPr>
        <p:spPr>
          <a:xfrm>
            <a:off x="777240" y="4663440"/>
            <a:ext cx="10607040" cy="731520"/>
          </a:xfrm>
          <a:prstGeom prst="rect">
            <a:avLst/>
          </a:prstGeom>
          <a:noFill/>
        </p:spPr>
        <p:txBody>
          <a:bodyPr wrap="square" lIns="0" tIns="0" rIns="0" bIns="0" anchor="ctr">
            <a:spAutoFit/>
          </a:bodyPr>
          <a:lstStyle/>
          <a:p>
            <a:r>
              <a:rPr sz="1300" b="1" i="0">
                <a:solidFill>
                  <a:srgbClr val="0B1F3A"/>
                </a:solidFill>
              </a:rPr>
              <a:t>Same habit as Day One: </a:t>
            </a:r>
            <a:r>
              <a:rPr sz="1300" b="0" i="0">
                <a:solidFill>
                  <a:srgbClr val="0B1F3A"/>
                </a:solidFill>
              </a:rPr>
              <a:t>decompose before you rebuild. Reading the Alteryx workflow for inputs, rules and outputs is the same skill as reading the model for screens, states and words.</a:t>
            </a:r>
          </a:p>
        </p:txBody>
      </p:sp>
      <p:sp>
        <p:nvSpPr>
          <p:cNvPr id="1022" name="Rounded Rectangle 1021"/>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TextBox 1022"/>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The temptation is to open the file and start porting. Read it first.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GATE 2 · THE DEV GATE</a:t>
            </a:r>
          </a:p>
        </p:txBody>
      </p:sp>
      <p:sp>
        <p:nvSpPr>
          <p:cNvPr id="3" name="Title 2"/>
          <p:cNvSpPr>
            <a:spLocks noGrp="1"/>
          </p:cNvSpPr>
          <p:nvPr>
            <p:ph type="title" idx="101"/>
          </p:nvPr>
        </p:nvSpPr>
        <p:spPr/>
        <p:txBody>
          <a:bodyPr/>
          <a:lstStyle/>
          <a:p>
            <a:pPr algn="l"/>
            <a:r>
              <a:t>The DEV gate: the running app answers a request</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11</a:t>
            </a:fld>
            <a:endParaRPr lang="en-US" b="0"/>
          </a:p>
        </p:txBody>
      </p:sp>
      <p:sp>
        <p:nvSpPr>
          <p:cNvPr id="1000" name="TextBox 999"/>
          <p:cNvSpPr txBox="1"/>
          <p:nvPr/>
        </p:nvSpPr>
        <p:spPr>
          <a:xfrm>
            <a:off x="548640" y="1691640"/>
            <a:ext cx="11064240" cy="457200"/>
          </a:xfrm>
          <a:prstGeom prst="rect">
            <a:avLst/>
          </a:prstGeom>
          <a:noFill/>
        </p:spPr>
        <p:txBody>
          <a:bodyPr wrap="square" lIns="0" tIns="0" rIns="0" bIns="0" anchor="t">
            <a:spAutoFit/>
          </a:bodyPr>
          <a:lstStyle/>
          <a:p>
            <a:r>
              <a:rPr sz="1400" b="0" i="0">
                <a:solidFill>
                  <a:srgbClr val="0B1F3A"/>
                </a:solidFill>
              </a:rPr>
              <a:t>A green pipeline is not proof. A deploy stage can succeed while the application never started, and that has happened.</a:t>
            </a:r>
          </a:p>
        </p:txBody>
      </p:sp>
      <p:sp>
        <p:nvSpPr>
          <p:cNvPr id="1001" name="Rounded Rectangle 1000"/>
          <p:cNvSpPr/>
          <p:nvPr/>
        </p:nvSpPr>
        <p:spPr>
          <a:xfrm>
            <a:off x="548640" y="2331720"/>
            <a:ext cx="3593592" cy="21945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Rounded Rectangle 1001"/>
          <p:cNvSpPr/>
          <p:nvPr/>
        </p:nvSpPr>
        <p:spPr>
          <a:xfrm>
            <a:off x="777240" y="2542032"/>
            <a:ext cx="1280160" cy="274320"/>
          </a:xfrm>
          <a:prstGeom prst="roundRect">
            <a:avLst>
              <a:gd name="adj" fmla="val 50000"/>
            </a:avLst>
          </a:prstGeom>
          <a:solidFill>
            <a:srgbClr val="8D9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777240" y="2542032"/>
            <a:ext cx="1280160" cy="274320"/>
          </a:xfrm>
          <a:prstGeom prst="rect">
            <a:avLst/>
          </a:prstGeom>
          <a:noFill/>
        </p:spPr>
        <p:txBody>
          <a:bodyPr wrap="square" lIns="0" tIns="0" rIns="0" bIns="0" anchor="ctr">
            <a:spAutoFit/>
          </a:bodyPr>
          <a:lstStyle/>
          <a:p>
            <a:pPr algn="ctr"/>
            <a:r>
              <a:rPr sz="950" b="1" i="0" spc="200">
                <a:solidFill>
                  <a:srgbClr val="FFFFFF"/>
                </a:solidFill>
              </a:rPr>
              <a:t>NOT PROOF</a:t>
            </a:r>
          </a:p>
        </p:txBody>
      </p:sp>
      <p:sp>
        <p:nvSpPr>
          <p:cNvPr id="1004" name="TextBox 1003"/>
          <p:cNvSpPr txBox="1"/>
          <p:nvPr/>
        </p:nvSpPr>
        <p:spPr>
          <a:xfrm>
            <a:off x="777240" y="3017520"/>
            <a:ext cx="3154680" cy="365760"/>
          </a:xfrm>
          <a:prstGeom prst="rect">
            <a:avLst/>
          </a:prstGeom>
          <a:noFill/>
        </p:spPr>
        <p:txBody>
          <a:bodyPr wrap="square" lIns="0" tIns="0" rIns="0" bIns="0" anchor="t">
            <a:spAutoFit/>
          </a:bodyPr>
          <a:lstStyle/>
          <a:p>
            <a:r>
              <a:rPr sz="1900" b="1" i="0">
                <a:solidFill>
                  <a:srgbClr val="0B1F3A"/>
                </a:solidFill>
                <a:latin typeface="+mj-lt"/>
              </a:rPr>
              <a:t>The build passed</a:t>
            </a:r>
          </a:p>
        </p:txBody>
      </p:sp>
      <p:sp>
        <p:nvSpPr>
          <p:cNvPr id="1005" name="TextBox 1004"/>
          <p:cNvSpPr txBox="1"/>
          <p:nvPr/>
        </p:nvSpPr>
        <p:spPr>
          <a:xfrm>
            <a:off x="777240" y="3474720"/>
            <a:ext cx="3154680" cy="1005840"/>
          </a:xfrm>
          <a:prstGeom prst="rect">
            <a:avLst/>
          </a:prstGeom>
          <a:noFill/>
        </p:spPr>
        <p:txBody>
          <a:bodyPr wrap="square" lIns="0" tIns="0" rIns="0" bIns="0" anchor="t">
            <a:spAutoFit/>
          </a:bodyPr>
          <a:lstStyle/>
          <a:p>
            <a:r>
              <a:rPr sz="1350" b="0" i="0">
                <a:solidFill>
                  <a:srgbClr val="0B1F3A"/>
                </a:solidFill>
              </a:rPr>
              <a:t>A deploy stage can succeed and roll out a placeholder image. Green only means the steps ran.</a:t>
            </a:r>
          </a:p>
        </p:txBody>
      </p:sp>
      <p:sp>
        <p:nvSpPr>
          <p:cNvPr id="1006" name="Rounded Rectangle 1005"/>
          <p:cNvSpPr/>
          <p:nvPr/>
        </p:nvSpPr>
        <p:spPr>
          <a:xfrm>
            <a:off x="4297679" y="2331720"/>
            <a:ext cx="3593592" cy="21945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ounded Rectangle 1006"/>
          <p:cNvSpPr/>
          <p:nvPr/>
        </p:nvSpPr>
        <p:spPr>
          <a:xfrm>
            <a:off x="4526279" y="2542032"/>
            <a:ext cx="1280160" cy="274320"/>
          </a:xfrm>
          <a:prstGeom prst="roundRect">
            <a:avLst>
              <a:gd name="adj" fmla="val 50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4526279" y="2542032"/>
            <a:ext cx="1280160" cy="274320"/>
          </a:xfrm>
          <a:prstGeom prst="rect">
            <a:avLst/>
          </a:prstGeom>
          <a:noFill/>
        </p:spPr>
        <p:txBody>
          <a:bodyPr wrap="square" lIns="0" tIns="0" rIns="0" bIns="0" anchor="ctr">
            <a:spAutoFit/>
          </a:bodyPr>
          <a:lstStyle/>
          <a:p>
            <a:pPr algn="ctr"/>
            <a:r>
              <a:rPr sz="950" b="1" i="0" spc="200">
                <a:solidFill>
                  <a:srgbClr val="FFFFFF"/>
                </a:solidFill>
              </a:rPr>
              <a:t>PROOF</a:t>
            </a:r>
          </a:p>
        </p:txBody>
      </p:sp>
      <p:sp>
        <p:nvSpPr>
          <p:cNvPr id="1009" name="TextBox 1008"/>
          <p:cNvSpPr txBox="1"/>
          <p:nvPr/>
        </p:nvSpPr>
        <p:spPr>
          <a:xfrm>
            <a:off x="4526279" y="3017520"/>
            <a:ext cx="3154680" cy="365760"/>
          </a:xfrm>
          <a:prstGeom prst="rect">
            <a:avLst/>
          </a:prstGeom>
          <a:noFill/>
        </p:spPr>
        <p:txBody>
          <a:bodyPr wrap="square" lIns="0" tIns="0" rIns="0" bIns="0" anchor="t">
            <a:spAutoFit/>
          </a:bodyPr>
          <a:lstStyle/>
          <a:p>
            <a:r>
              <a:rPr sz="1900" b="1" i="0">
                <a:solidFill>
                  <a:srgbClr val="0B1F3A"/>
                </a:solidFill>
                <a:latin typeface="+mj-lt"/>
              </a:rPr>
              <a:t>You reached it</a:t>
            </a:r>
          </a:p>
        </p:txBody>
      </p:sp>
      <p:sp>
        <p:nvSpPr>
          <p:cNvPr id="1010" name="TextBox 1009"/>
          <p:cNvSpPr txBox="1"/>
          <p:nvPr/>
        </p:nvSpPr>
        <p:spPr>
          <a:xfrm>
            <a:off x="4526279" y="3474720"/>
            <a:ext cx="3154680" cy="1005840"/>
          </a:xfrm>
          <a:prstGeom prst="rect">
            <a:avLst/>
          </a:prstGeom>
          <a:noFill/>
        </p:spPr>
        <p:txBody>
          <a:bodyPr wrap="square" lIns="0" tIns="0" rIns="0" bIns="0" anchor="t">
            <a:spAutoFit/>
          </a:bodyPr>
          <a:lstStyle/>
          <a:p>
            <a:r>
              <a:rPr sz="1350" b="0" i="0">
                <a:solidFill>
                  <a:srgbClr val="0B1F3A"/>
                </a:solidFill>
              </a:rPr>
              <a:t>The running application answered a request in DEV, and you saw the response.</a:t>
            </a:r>
          </a:p>
        </p:txBody>
      </p:sp>
      <p:sp>
        <p:nvSpPr>
          <p:cNvPr id="1011" name="Rounded Rectangle 1010"/>
          <p:cNvSpPr/>
          <p:nvPr/>
        </p:nvSpPr>
        <p:spPr>
          <a:xfrm>
            <a:off x="8046719" y="2331720"/>
            <a:ext cx="3593592" cy="21945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ounded Rectangle 1011"/>
          <p:cNvSpPr/>
          <p:nvPr/>
        </p:nvSpPr>
        <p:spPr>
          <a:xfrm>
            <a:off x="8275319" y="2542032"/>
            <a:ext cx="1280160" cy="274320"/>
          </a:xfrm>
          <a:prstGeom prst="roundRect">
            <a:avLst>
              <a:gd name="adj" fmla="val 50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8275319" y="2542032"/>
            <a:ext cx="1280160" cy="274320"/>
          </a:xfrm>
          <a:prstGeom prst="rect">
            <a:avLst/>
          </a:prstGeom>
          <a:noFill/>
        </p:spPr>
        <p:txBody>
          <a:bodyPr wrap="square" lIns="0" tIns="0" rIns="0" bIns="0" anchor="ctr">
            <a:spAutoFit/>
          </a:bodyPr>
          <a:lstStyle/>
          <a:p>
            <a:pPr algn="ctr"/>
            <a:r>
              <a:rPr sz="950" b="1" i="0" spc="200">
                <a:solidFill>
                  <a:srgbClr val="FFFFFF"/>
                </a:solidFill>
              </a:rPr>
              <a:t>ALSO CHECK</a:t>
            </a:r>
          </a:p>
        </p:txBody>
      </p:sp>
      <p:sp>
        <p:nvSpPr>
          <p:cNvPr id="1014" name="TextBox 1013"/>
          <p:cNvSpPr txBox="1"/>
          <p:nvPr/>
        </p:nvSpPr>
        <p:spPr>
          <a:xfrm>
            <a:off x="8275319" y="3017520"/>
            <a:ext cx="3154680" cy="365760"/>
          </a:xfrm>
          <a:prstGeom prst="rect">
            <a:avLst/>
          </a:prstGeom>
          <a:noFill/>
        </p:spPr>
        <p:txBody>
          <a:bodyPr wrap="square" lIns="0" tIns="0" rIns="0" bIns="0" anchor="t">
            <a:spAutoFit/>
          </a:bodyPr>
          <a:lstStyle/>
          <a:p>
            <a:r>
              <a:rPr sz="1900" b="1" i="0">
                <a:solidFill>
                  <a:srgbClr val="0B1F3A"/>
                </a:solidFill>
                <a:latin typeface="+mj-lt"/>
              </a:rPr>
              <a:t>It is your build</a:t>
            </a:r>
          </a:p>
        </p:txBody>
      </p:sp>
      <p:sp>
        <p:nvSpPr>
          <p:cNvPr id="1015" name="TextBox 1014"/>
          <p:cNvSpPr txBox="1"/>
          <p:nvPr/>
        </p:nvSpPr>
        <p:spPr>
          <a:xfrm>
            <a:off x="8275319" y="3474720"/>
            <a:ext cx="3154680" cy="1005840"/>
          </a:xfrm>
          <a:prstGeom prst="rect">
            <a:avLst/>
          </a:prstGeom>
          <a:noFill/>
        </p:spPr>
        <p:txBody>
          <a:bodyPr wrap="square" lIns="0" tIns="0" rIns="0" bIns="0" anchor="t">
            <a:spAutoFit/>
          </a:bodyPr>
          <a:lstStyle/>
          <a:p>
            <a:r>
              <a:rPr sz="1350" b="0" i="0">
                <a:solidFill>
                  <a:srgbClr val="0B1F3A"/>
                </a:solidFill>
              </a:rPr>
              <a:t>Check the running image digest and the reported version, not the pipeline log.</a:t>
            </a:r>
          </a:p>
        </p:txBody>
      </p:sp>
      <p:sp>
        <p:nvSpPr>
          <p:cNvPr id="1016" name="Rounded Rectangle 1015"/>
          <p:cNvSpPr/>
          <p:nvPr/>
        </p:nvSpPr>
        <p:spPr>
          <a:xfrm>
            <a:off x="548640" y="4663440"/>
            <a:ext cx="11091672" cy="731520"/>
          </a:xfrm>
          <a:prstGeom prst="roundRect">
            <a:avLst>
              <a:gd name="adj" fmla="val 5000"/>
            </a:avLst>
          </a:prstGeom>
          <a:solidFill>
            <a:srgbClr val="FDF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777240" y="4663440"/>
            <a:ext cx="10607040" cy="731520"/>
          </a:xfrm>
          <a:prstGeom prst="rect">
            <a:avLst/>
          </a:prstGeom>
          <a:noFill/>
        </p:spPr>
        <p:txBody>
          <a:bodyPr wrap="square" lIns="0" tIns="0" rIns="0" bIns="0" anchor="ctr">
            <a:spAutoFit/>
          </a:bodyPr>
          <a:lstStyle/>
          <a:p>
            <a:r>
              <a:rPr sz="1300" b="1" i="0">
                <a:solidFill>
                  <a:srgbClr val="0B1F3A"/>
                </a:solidFill>
              </a:rPr>
              <a:t>Step 4 in the TDMI list: </a:t>
            </a:r>
            <a:r>
              <a:rPr sz="1300" b="0" i="0">
                <a:solidFill>
                  <a:srgbClr val="0B1F3A"/>
                </a:solidFill>
              </a:rPr>
              <a:t>first deploy to DEV. It is complete when the running app answers, not when the pipeline shows green.</a:t>
            </a:r>
          </a:p>
        </p:txBody>
      </p:sp>
      <p:sp>
        <p:nvSpPr>
          <p:cNvPr id="1018" name="Rounded Rectangle 1017"/>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TextBox 1018"/>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Every gate in this process tests something you can point at. That is the whole design.</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GATE 3 · THE SCOPE GATE</a:t>
            </a:r>
          </a:p>
        </p:txBody>
      </p:sp>
      <p:sp>
        <p:nvSpPr>
          <p:cNvPr id="3" name="Title 2"/>
          <p:cNvSpPr>
            <a:spLocks noGrp="1"/>
          </p:cNvSpPr>
          <p:nvPr>
            <p:ph type="title" idx="101"/>
          </p:nvPr>
        </p:nvSpPr>
        <p:spPr/>
        <p:txBody>
          <a:bodyPr/>
          <a:lstStyle/>
          <a:p>
            <a:pPr algn="l"/>
            <a:r>
              <a:t>The build loop runs until the full flow is confirmed</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12</a:t>
            </a:fld>
            <a:endParaRPr lang="en-US" b="0"/>
          </a:p>
        </p:txBody>
      </p:sp>
      <p:sp>
        <p:nvSpPr>
          <p:cNvPr id="1000" name="Rounded Rectangle 999"/>
          <p:cNvSpPr/>
          <p:nvPr/>
        </p:nvSpPr>
        <p:spPr>
          <a:xfrm>
            <a:off x="548640" y="1783080"/>
            <a:ext cx="6583680" cy="786384"/>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Rounded Rectangle 1000"/>
          <p:cNvSpPr/>
          <p:nvPr/>
        </p:nvSpPr>
        <p:spPr>
          <a:xfrm>
            <a:off x="749808" y="1947672"/>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49808" y="1947672"/>
            <a:ext cx="457200" cy="457200"/>
          </a:xfrm>
          <a:prstGeom prst="rect">
            <a:avLst/>
          </a:prstGeom>
          <a:noFill/>
        </p:spPr>
        <p:txBody>
          <a:bodyPr wrap="square" lIns="0" tIns="0" rIns="0" bIns="0" anchor="ctr">
            <a:spAutoFit/>
          </a:bodyPr>
          <a:lstStyle/>
          <a:p>
            <a:pPr algn="ctr"/>
            <a:r>
              <a:rPr sz="2000" b="1" i="0">
                <a:solidFill>
                  <a:srgbClr val="FFFFFF"/>
                </a:solidFill>
                <a:latin typeface="+mj-lt"/>
              </a:rPr>
              <a:t>1</a:t>
            </a:r>
          </a:p>
        </p:txBody>
      </p:sp>
      <p:sp>
        <p:nvSpPr>
          <p:cNvPr id="1003" name="TextBox 1002"/>
          <p:cNvSpPr txBox="1"/>
          <p:nvPr/>
        </p:nvSpPr>
        <p:spPr>
          <a:xfrm>
            <a:off x="1417320" y="1874519"/>
            <a:ext cx="5577840" cy="274320"/>
          </a:xfrm>
          <a:prstGeom prst="rect">
            <a:avLst/>
          </a:prstGeom>
          <a:noFill/>
        </p:spPr>
        <p:txBody>
          <a:bodyPr wrap="square" lIns="0" tIns="0" rIns="0" bIns="0" anchor="t">
            <a:spAutoFit/>
          </a:bodyPr>
          <a:lstStyle/>
          <a:p>
            <a:r>
              <a:rPr sz="1500" b="1" i="0">
                <a:solidFill>
                  <a:srgbClr val="0B1F3A"/>
                </a:solidFill>
              </a:rPr>
              <a:t>Work items live in Azure Boards</a:t>
            </a:r>
          </a:p>
        </p:txBody>
      </p:sp>
      <p:sp>
        <p:nvSpPr>
          <p:cNvPr id="1004" name="TextBox 1003"/>
          <p:cNvSpPr txBox="1"/>
          <p:nvPr/>
        </p:nvSpPr>
        <p:spPr>
          <a:xfrm>
            <a:off x="1417320" y="2176272"/>
            <a:ext cx="5577840" cy="365760"/>
          </a:xfrm>
          <a:prstGeom prst="rect">
            <a:avLst/>
          </a:prstGeom>
          <a:noFill/>
        </p:spPr>
        <p:txBody>
          <a:bodyPr wrap="square" lIns="0" tIns="0" rIns="0" bIns="0" anchor="t">
            <a:spAutoFit/>
          </a:bodyPr>
          <a:lstStyle/>
          <a:p>
            <a:r>
              <a:rPr sz="1250" b="0" i="0">
                <a:solidFill>
                  <a:srgbClr val="0B1F3A"/>
                </a:solidFill>
              </a:rPr>
              <a:t>Referenced as AB#&lt;id&gt; in every commit and pull request.</a:t>
            </a:r>
          </a:p>
        </p:txBody>
      </p:sp>
      <p:sp>
        <p:nvSpPr>
          <p:cNvPr id="1005" name="Rounded Rectangle 1004"/>
          <p:cNvSpPr/>
          <p:nvPr/>
        </p:nvSpPr>
        <p:spPr>
          <a:xfrm>
            <a:off x="548640" y="2679191"/>
            <a:ext cx="6583680" cy="786384"/>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Rounded Rectangle 1005"/>
          <p:cNvSpPr/>
          <p:nvPr/>
        </p:nvSpPr>
        <p:spPr>
          <a:xfrm>
            <a:off x="749808" y="2843784"/>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749808" y="2843784"/>
            <a:ext cx="457200" cy="457200"/>
          </a:xfrm>
          <a:prstGeom prst="rect">
            <a:avLst/>
          </a:prstGeom>
          <a:noFill/>
        </p:spPr>
        <p:txBody>
          <a:bodyPr wrap="square" lIns="0" tIns="0" rIns="0" bIns="0" anchor="ctr">
            <a:spAutoFit/>
          </a:bodyPr>
          <a:lstStyle/>
          <a:p>
            <a:pPr algn="ctr"/>
            <a:r>
              <a:rPr sz="2000" b="1" i="0">
                <a:solidFill>
                  <a:srgbClr val="FFFFFF"/>
                </a:solidFill>
                <a:latin typeface="+mj-lt"/>
              </a:rPr>
              <a:t>2</a:t>
            </a:r>
          </a:p>
        </p:txBody>
      </p:sp>
      <p:sp>
        <p:nvSpPr>
          <p:cNvPr id="1008" name="TextBox 1007"/>
          <p:cNvSpPr txBox="1"/>
          <p:nvPr/>
        </p:nvSpPr>
        <p:spPr>
          <a:xfrm>
            <a:off x="1417320" y="2770632"/>
            <a:ext cx="5577840" cy="274320"/>
          </a:xfrm>
          <a:prstGeom prst="rect">
            <a:avLst/>
          </a:prstGeom>
          <a:noFill/>
        </p:spPr>
        <p:txBody>
          <a:bodyPr wrap="square" lIns="0" tIns="0" rIns="0" bIns="0" anchor="t">
            <a:spAutoFit/>
          </a:bodyPr>
          <a:lstStyle/>
          <a:p>
            <a:r>
              <a:rPr sz="1500" b="1" i="0">
                <a:solidFill>
                  <a:srgbClr val="0B1F3A"/>
                </a:solidFill>
              </a:rPr>
              <a:t>Significant features start as a model</a:t>
            </a:r>
          </a:p>
        </p:txBody>
      </p:sp>
      <p:sp>
        <p:nvSpPr>
          <p:cNvPr id="1009" name="TextBox 1008"/>
          <p:cNvSpPr txBox="1"/>
          <p:nvPr/>
        </p:nvSpPr>
        <p:spPr>
          <a:xfrm>
            <a:off x="1417320" y="3072384"/>
            <a:ext cx="5577840" cy="365760"/>
          </a:xfrm>
          <a:prstGeom prst="rect">
            <a:avLst/>
          </a:prstGeom>
          <a:noFill/>
        </p:spPr>
        <p:txBody>
          <a:bodyPr wrap="square" lIns="0" tIns="0" rIns="0" bIns="0" anchor="t">
            <a:spAutoFit/>
          </a:bodyPr>
          <a:lstStyle/>
          <a:p>
            <a:r>
              <a:rPr sz="1250" b="0" i="0">
                <a:solidFill>
                  <a:srgbClr val="0B1F3A"/>
                </a:solidFill>
              </a:rPr>
              <a:t>New screens or changed logic get their own small model and charter. A bug fix does not.</a:t>
            </a:r>
          </a:p>
        </p:txBody>
      </p:sp>
      <p:sp>
        <p:nvSpPr>
          <p:cNvPr id="1010" name="Rounded Rectangle 1009"/>
          <p:cNvSpPr/>
          <p:nvPr/>
        </p:nvSpPr>
        <p:spPr>
          <a:xfrm>
            <a:off x="548640" y="3575304"/>
            <a:ext cx="6583680" cy="786384"/>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Rounded Rectangle 1010"/>
          <p:cNvSpPr/>
          <p:nvPr/>
        </p:nvSpPr>
        <p:spPr>
          <a:xfrm>
            <a:off x="749808" y="3739896"/>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TextBox 1011"/>
          <p:cNvSpPr txBox="1"/>
          <p:nvPr/>
        </p:nvSpPr>
        <p:spPr>
          <a:xfrm>
            <a:off x="749808" y="3739896"/>
            <a:ext cx="457200" cy="457200"/>
          </a:xfrm>
          <a:prstGeom prst="rect">
            <a:avLst/>
          </a:prstGeom>
          <a:noFill/>
        </p:spPr>
        <p:txBody>
          <a:bodyPr wrap="square" lIns="0" tIns="0" rIns="0" bIns="0" anchor="ctr">
            <a:spAutoFit/>
          </a:bodyPr>
          <a:lstStyle/>
          <a:p>
            <a:pPr algn="ctr"/>
            <a:r>
              <a:rPr sz="2000" b="1" i="0">
                <a:solidFill>
                  <a:srgbClr val="FFFFFF"/>
                </a:solidFill>
                <a:latin typeface="+mj-lt"/>
              </a:rPr>
              <a:t>3</a:t>
            </a:r>
          </a:p>
        </p:txBody>
      </p:sp>
      <p:sp>
        <p:nvSpPr>
          <p:cNvPr id="1013" name="TextBox 1012"/>
          <p:cNvSpPr txBox="1"/>
          <p:nvPr/>
        </p:nvSpPr>
        <p:spPr>
          <a:xfrm>
            <a:off x="1417320" y="3666744"/>
            <a:ext cx="5577840" cy="274320"/>
          </a:xfrm>
          <a:prstGeom prst="rect">
            <a:avLst/>
          </a:prstGeom>
          <a:noFill/>
        </p:spPr>
        <p:txBody>
          <a:bodyPr wrap="square" lIns="0" tIns="0" rIns="0" bIns="0" anchor="t">
            <a:spAutoFit/>
          </a:bodyPr>
          <a:lstStyle/>
          <a:p>
            <a:r>
              <a:rPr sz="1500" b="1" i="0">
                <a:solidFill>
                  <a:srgbClr val="0B1F3A"/>
                </a:solidFill>
              </a:rPr>
              <a:t>Continuous rails run on every change</a:t>
            </a:r>
          </a:p>
        </p:txBody>
      </p:sp>
      <p:sp>
        <p:nvSpPr>
          <p:cNvPr id="1014" name="TextBox 1013"/>
          <p:cNvSpPr txBox="1"/>
          <p:nvPr/>
        </p:nvSpPr>
        <p:spPr>
          <a:xfrm>
            <a:off x="1417320" y="3968496"/>
            <a:ext cx="5577840" cy="365760"/>
          </a:xfrm>
          <a:prstGeom prst="rect">
            <a:avLst/>
          </a:prstGeom>
          <a:noFill/>
        </p:spPr>
        <p:txBody>
          <a:bodyPr wrap="square" lIns="0" tIns="0" rIns="0" bIns="0" anchor="t">
            <a:spAutoFit/>
          </a:bodyPr>
          <a:lstStyle/>
          <a:p>
            <a:r>
              <a:rPr sz="1250" b="0" i="0">
                <a:solidFill>
                  <a:srgbClr val="0B1F3A"/>
                </a:solidFill>
              </a:rPr>
              <a:t>They block the merge, so a problem shows up while the change is still small.</a:t>
            </a:r>
          </a:p>
        </p:txBody>
      </p:sp>
      <p:sp>
        <p:nvSpPr>
          <p:cNvPr id="1015" name="Rounded Rectangle 1014"/>
          <p:cNvSpPr/>
          <p:nvPr/>
        </p:nvSpPr>
        <p:spPr>
          <a:xfrm>
            <a:off x="548640" y="4471416"/>
            <a:ext cx="6583680" cy="786384"/>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Rounded Rectangle 1015"/>
          <p:cNvSpPr/>
          <p:nvPr/>
        </p:nvSpPr>
        <p:spPr>
          <a:xfrm>
            <a:off x="749808" y="4636007"/>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749808" y="4636007"/>
            <a:ext cx="457200" cy="457200"/>
          </a:xfrm>
          <a:prstGeom prst="rect">
            <a:avLst/>
          </a:prstGeom>
          <a:noFill/>
        </p:spPr>
        <p:txBody>
          <a:bodyPr wrap="square" lIns="0" tIns="0" rIns="0" bIns="0" anchor="ctr">
            <a:spAutoFit/>
          </a:bodyPr>
          <a:lstStyle/>
          <a:p>
            <a:pPr algn="ctr"/>
            <a:r>
              <a:rPr sz="2000" b="1" i="0">
                <a:solidFill>
                  <a:srgbClr val="FFFFFF"/>
                </a:solidFill>
                <a:latin typeface="+mj-lt"/>
              </a:rPr>
              <a:t>4</a:t>
            </a:r>
          </a:p>
        </p:txBody>
      </p:sp>
      <p:sp>
        <p:nvSpPr>
          <p:cNvPr id="1018" name="TextBox 1017"/>
          <p:cNvSpPr txBox="1"/>
          <p:nvPr/>
        </p:nvSpPr>
        <p:spPr>
          <a:xfrm>
            <a:off x="1417320" y="4562855"/>
            <a:ext cx="5577840" cy="274320"/>
          </a:xfrm>
          <a:prstGeom prst="rect">
            <a:avLst/>
          </a:prstGeom>
          <a:noFill/>
        </p:spPr>
        <p:txBody>
          <a:bodyPr wrap="square" lIns="0" tIns="0" rIns="0" bIns="0" anchor="t">
            <a:spAutoFit/>
          </a:bodyPr>
          <a:lstStyle/>
          <a:p>
            <a:r>
              <a:rPr sz="1500" b="1" i="0">
                <a:solidFill>
                  <a:srgbClr val="0B1F3A"/>
                </a:solidFill>
              </a:rPr>
              <a:t>Slow gates opened in phase 1 keep running</a:t>
            </a:r>
          </a:p>
        </p:txBody>
      </p:sp>
      <p:sp>
        <p:nvSpPr>
          <p:cNvPr id="1019" name="TextBox 1018"/>
          <p:cNvSpPr txBox="1"/>
          <p:nvPr/>
        </p:nvSpPr>
        <p:spPr>
          <a:xfrm>
            <a:off x="1417320" y="4864607"/>
            <a:ext cx="5577840" cy="365760"/>
          </a:xfrm>
          <a:prstGeom prst="rect">
            <a:avLst/>
          </a:prstGeom>
          <a:noFill/>
        </p:spPr>
        <p:txBody>
          <a:bodyPr wrap="square" lIns="0" tIns="0" rIns="0" bIns="0" anchor="t">
            <a:spAutoFit/>
          </a:bodyPr>
          <a:lstStyle/>
          <a:p>
            <a:r>
              <a:rPr sz="1250" b="0" i="0">
                <a:solidFill>
                  <a:srgbClr val="0B1F3A"/>
                </a:solidFill>
              </a:rPr>
              <a:t>ESIS and the other reviews progress on their own clocks while you build.</a:t>
            </a:r>
          </a:p>
        </p:txBody>
      </p:sp>
      <p:sp>
        <p:nvSpPr>
          <p:cNvPr id="1020" name="Rounded Rectangle 1019"/>
          <p:cNvSpPr/>
          <p:nvPr/>
        </p:nvSpPr>
        <p:spPr>
          <a:xfrm>
            <a:off x="7360920" y="1783080"/>
            <a:ext cx="4279392" cy="3465576"/>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Diamond 1020"/>
          <p:cNvSpPr/>
          <p:nvPr/>
        </p:nvSpPr>
        <p:spPr>
          <a:xfrm>
            <a:off x="7589520" y="1965960"/>
            <a:ext cx="329184" cy="329184"/>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TextBox 1021"/>
          <p:cNvSpPr txBox="1"/>
          <p:nvPr/>
        </p:nvSpPr>
        <p:spPr>
          <a:xfrm>
            <a:off x="8046720" y="1938528"/>
            <a:ext cx="3474720" cy="365760"/>
          </a:xfrm>
          <a:prstGeom prst="rect">
            <a:avLst/>
          </a:prstGeom>
          <a:noFill/>
        </p:spPr>
        <p:txBody>
          <a:bodyPr wrap="square" lIns="0" tIns="0" rIns="0" bIns="0" anchor="ctr">
            <a:spAutoFit/>
          </a:bodyPr>
          <a:lstStyle/>
          <a:p>
            <a:r>
              <a:rPr sz="1800" b="1" i="0">
                <a:solidFill>
                  <a:srgbClr val="FFFFFF"/>
                </a:solidFill>
                <a:latin typeface="+mj-lt"/>
              </a:rPr>
              <a:t>Scope gate tests</a:t>
            </a:r>
          </a:p>
        </p:txBody>
      </p:sp>
      <p:sp>
        <p:nvSpPr>
          <p:cNvPr id="1023" name="TextBox 1022"/>
          <p:cNvSpPr txBox="1"/>
          <p:nvPr/>
        </p:nvSpPr>
        <p:spPr>
          <a:xfrm>
            <a:off x="7589520" y="2514600"/>
            <a:ext cx="3886200" cy="2651760"/>
          </a:xfrm>
          <a:prstGeom prst="rect">
            <a:avLst/>
          </a:prstGeom>
          <a:noFill/>
        </p:spPr>
        <p:txBody>
          <a:bodyPr wrap="square" lIns="0" tIns="0" rIns="0" bIns="0">
            <a:spAutoFit/>
          </a:bodyPr>
          <a:lstStyle/>
          <a:p>
            <a:pPr marL="228600" indent="-228600">
              <a:spcAft>
                <a:spcPts val="800"/>
              </a:spcAft>
              <a:buChar char="•"/>
            </a:pPr>
            <a:r>
              <a:rPr sz="1300" b="0">
                <a:solidFill>
                  <a:srgbClr val="FFFFFF"/>
                </a:solidFill>
              </a:rPr>
              <a:t>Test build promoted into the shared TEST environment (step 5)</a:t>
            </a:r>
          </a:p>
          <a:p>
            <a:pPr marL="228600" indent="-228600">
              <a:spcAft>
                <a:spcPts val="800"/>
              </a:spcAft>
              <a:buChar char="•"/>
            </a:pPr>
            <a:r>
              <a:rPr sz="1300" b="0">
                <a:solidFill>
                  <a:srgbClr val="FFFFFF"/>
                </a:solidFill>
              </a:rPr>
              <a:t>AI engine built and grounded against real Fabric data (step 6)</a:t>
            </a:r>
          </a:p>
          <a:p>
            <a:pPr marL="228600" indent="-228600">
              <a:spcAft>
                <a:spcPts val="800"/>
              </a:spcAft>
              <a:buChar char="•"/>
            </a:pPr>
            <a:r>
              <a:rPr sz="1300" b="0">
                <a:solidFill>
                  <a:srgbClr val="FFFFFF"/>
                </a:solidFill>
              </a:rPr>
              <a:t>Full flow confirmed end to end, every state reachable, not just the happy path (step 7)</a:t>
            </a:r>
          </a:p>
          <a:p>
            <a:pPr marL="228600" indent="-228600">
              <a:spcAft>
                <a:spcPts val="800"/>
              </a:spcAft>
              <a:buChar char="•"/>
            </a:pPr>
            <a:r>
              <a:rPr sz="1300" b="0">
                <a:solidFill>
                  <a:srgbClr val="FFFFFF"/>
                </a:solidFill>
              </a:rPr>
              <a:t>Rails green on the release candidate</a:t>
            </a:r>
          </a:p>
        </p:txBody>
      </p:sp>
      <p:sp>
        <p:nvSpPr>
          <p:cNvPr id="1024" name="Rounded Rectangle 1023"/>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TextBox 1024"/>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Done means every state in the model works, not just the happy path.</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GATE 3 · THE RAILS</a:t>
            </a:r>
          </a:p>
        </p:txBody>
      </p:sp>
      <p:sp>
        <p:nvSpPr>
          <p:cNvPr id="3" name="Title 2"/>
          <p:cNvSpPr>
            <a:spLocks noGrp="1"/>
          </p:cNvSpPr>
          <p:nvPr>
            <p:ph type="title" idx="101"/>
          </p:nvPr>
        </p:nvSpPr>
        <p:spPr/>
        <p:txBody>
          <a:bodyPr/>
          <a:lstStyle/>
          <a:p>
            <a:pPr algn="l"/>
            <a:r>
              <a:t>Eight continuous rails block the merge, not the release</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13</a:t>
            </a:fld>
            <a:endParaRPr lang="en-US" b="0"/>
          </a:p>
        </p:txBody>
      </p:sp>
      <p:graphicFrame>
        <p:nvGraphicFramePr>
          <p:cNvPr id="1000" name="Table 999"/>
          <p:cNvGraphicFramePr>
            <a:graphicFrameLocks noGrp="1"/>
          </p:cNvGraphicFramePr>
          <p:nvPr/>
        </p:nvGraphicFramePr>
        <p:xfrm>
          <a:off x="548640" y="1783080"/>
          <a:ext cx="6949440" cy="3621024"/>
        </p:xfrm>
        <a:graphic>
          <a:graphicData uri="http://schemas.openxmlformats.org/drawingml/2006/table">
            <a:tbl>
              <a:tblPr>
                <a:tableStyleId>{2D5ABB26-0587-4C30-8999-92F81FD0307C}</a:tableStyleId>
              </a:tblPr>
              <a:tblGrid>
                <a:gridCol w="30175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402336">
                <a:tc>
                  <a:txBody>
                    <a:bodyPr/>
                    <a:lstStyle/>
                    <a:p>
                      <a:r>
                        <a:rPr sz="1100" b="1" spc="100">
                          <a:solidFill>
                            <a:srgbClr val="FFFFFF"/>
                          </a:solidFill>
                        </a:rPr>
                        <a:t>RAIL</a:t>
                      </a:r>
                    </a:p>
                  </a:txBody>
                  <a:tcPr marL="109728" marR="109728" anchor="ctr">
                    <a:solidFill>
                      <a:srgbClr val="0B1F3A"/>
                    </a:solidFill>
                  </a:tcPr>
                </a:tc>
                <a:tc>
                  <a:txBody>
                    <a:bodyPr/>
                    <a:lstStyle/>
                    <a:p>
                      <a:r>
                        <a:rPr sz="1100" b="1" spc="100">
                          <a:solidFill>
                            <a:srgbClr val="FFFFFF"/>
                          </a:solidFill>
                        </a:rPr>
                        <a:t>WHAT BLOCKS THE MERGE</a:t>
                      </a:r>
                    </a:p>
                  </a:txBody>
                  <a:tcPr marL="109728" marR="109728" anchor="ctr">
                    <a:solidFill>
                      <a:srgbClr val="0B1F3A"/>
                    </a:solidFill>
                  </a:tcPr>
                </a:tc>
                <a:extLst>
                  <a:ext uri="{0D108BD9-81ED-4DB2-BD59-A6C34878D82A}">
                    <a16:rowId xmlns:a16="http://schemas.microsoft.com/office/drawing/2014/main" val="10000"/>
                  </a:ext>
                </a:extLst>
              </a:tr>
              <a:tr h="402336">
                <a:tc>
                  <a:txBody>
                    <a:bodyPr/>
                    <a:lstStyle/>
                    <a:p>
                      <a:r>
                        <a:rPr sz="1250" b="1">
                          <a:solidFill>
                            <a:srgbClr val="0B1F3A"/>
                          </a:solidFill>
                        </a:rPr>
                        <a:t>Unit tests</a:t>
                      </a:r>
                    </a:p>
                  </a:txBody>
                  <a:tcPr marL="109728" marR="109728" anchor="ctr">
                    <a:solidFill>
                      <a:srgbClr val="EEF3FB"/>
                    </a:solidFill>
                  </a:tcPr>
                </a:tc>
                <a:tc>
                  <a:txBody>
                    <a:bodyPr/>
                    <a:lstStyle/>
                    <a:p>
                      <a:r>
                        <a:rPr sz="1250" b="0">
                          <a:solidFill>
                            <a:srgbClr val="0B1F3A"/>
                          </a:solidFill>
                        </a:rPr>
                        <a:t>Any failure</a:t>
                      </a:r>
                    </a:p>
                  </a:txBody>
                  <a:tcPr marL="109728" marR="109728" anchor="ctr">
                    <a:solidFill>
                      <a:srgbClr val="EEF3FB"/>
                    </a:solidFill>
                  </a:tcPr>
                </a:tc>
                <a:extLst>
                  <a:ext uri="{0D108BD9-81ED-4DB2-BD59-A6C34878D82A}">
                    <a16:rowId xmlns:a16="http://schemas.microsoft.com/office/drawing/2014/main" val="10001"/>
                  </a:ext>
                </a:extLst>
              </a:tr>
              <a:tr h="402336">
                <a:tc>
                  <a:txBody>
                    <a:bodyPr/>
                    <a:lstStyle/>
                    <a:p>
                      <a:r>
                        <a:rPr sz="1250" b="1">
                          <a:solidFill>
                            <a:srgbClr val="0B1F3A"/>
                          </a:solidFill>
                        </a:rPr>
                        <a:t>Lint, format and type checks</a:t>
                      </a:r>
                    </a:p>
                  </a:txBody>
                  <a:tcPr marL="109728" marR="109728" anchor="ctr">
                    <a:solidFill>
                      <a:srgbClr val="FFFFFF"/>
                    </a:solidFill>
                  </a:tcPr>
                </a:tc>
                <a:tc>
                  <a:txBody>
                    <a:bodyPr/>
                    <a:lstStyle/>
                    <a:p>
                      <a:r>
                        <a:rPr sz="1250" b="0">
                          <a:solidFill>
                            <a:srgbClr val="0B1F3A"/>
                          </a:solidFill>
                        </a:rPr>
                        <a:t>Any failure</a:t>
                      </a:r>
                    </a:p>
                  </a:txBody>
                  <a:tcPr marL="109728" marR="109728" anchor="ctr">
                    <a:solidFill>
                      <a:srgbClr val="FFFFFF"/>
                    </a:solidFill>
                  </a:tcPr>
                </a:tc>
                <a:extLst>
                  <a:ext uri="{0D108BD9-81ED-4DB2-BD59-A6C34878D82A}">
                    <a16:rowId xmlns:a16="http://schemas.microsoft.com/office/drawing/2014/main" val="10002"/>
                  </a:ext>
                </a:extLst>
              </a:tr>
              <a:tr h="402336">
                <a:tc>
                  <a:txBody>
                    <a:bodyPr/>
                    <a:lstStyle/>
                    <a:p>
                      <a:r>
                        <a:rPr sz="1250" b="1">
                          <a:solidFill>
                            <a:srgbClr val="0B1F3A"/>
                          </a:solidFill>
                        </a:rPr>
                        <a:t>Commit-message conformance</a:t>
                      </a:r>
                    </a:p>
                  </a:txBody>
                  <a:tcPr marL="109728" marR="109728" anchor="ctr">
                    <a:solidFill>
                      <a:srgbClr val="EEF3FB"/>
                    </a:solidFill>
                  </a:tcPr>
                </a:tc>
                <a:tc>
                  <a:txBody>
                    <a:bodyPr/>
                    <a:lstStyle/>
                    <a:p>
                      <a:r>
                        <a:rPr sz="1250" b="0">
                          <a:solidFill>
                            <a:srgbClr val="0B1F3A"/>
                          </a:solidFill>
                        </a:rPr>
                        <a:t>Any commit off Conventional Commits</a:t>
                      </a:r>
                    </a:p>
                  </a:txBody>
                  <a:tcPr marL="109728" marR="109728" anchor="ctr">
                    <a:solidFill>
                      <a:srgbClr val="EEF3FB"/>
                    </a:solidFill>
                  </a:tcPr>
                </a:tc>
                <a:extLst>
                  <a:ext uri="{0D108BD9-81ED-4DB2-BD59-A6C34878D82A}">
                    <a16:rowId xmlns:a16="http://schemas.microsoft.com/office/drawing/2014/main" val="10003"/>
                  </a:ext>
                </a:extLst>
              </a:tr>
              <a:tr h="402336">
                <a:tc>
                  <a:txBody>
                    <a:bodyPr/>
                    <a:lstStyle/>
                    <a:p>
                      <a:r>
                        <a:rPr sz="1250" b="1">
                          <a:solidFill>
                            <a:srgbClr val="0B1F3A"/>
                          </a:solidFill>
                        </a:rPr>
                        <a:t>Static code analysis</a:t>
                      </a:r>
                    </a:p>
                  </a:txBody>
                  <a:tcPr marL="109728" marR="109728" anchor="ctr">
                    <a:solidFill>
                      <a:srgbClr val="FFFFFF"/>
                    </a:solidFill>
                  </a:tcPr>
                </a:tc>
                <a:tc>
                  <a:txBody>
                    <a:bodyPr/>
                    <a:lstStyle/>
                    <a:p>
                      <a:r>
                        <a:rPr sz="1250" b="0">
                          <a:solidFill>
                            <a:srgbClr val="0B1F3A"/>
                          </a:solidFill>
                        </a:rPr>
                        <a:t>A new finding above the agreed severity</a:t>
                      </a:r>
                    </a:p>
                  </a:txBody>
                  <a:tcPr marL="109728" marR="109728" anchor="ctr">
                    <a:solidFill>
                      <a:srgbClr val="FFFFFF"/>
                    </a:solidFill>
                  </a:tcPr>
                </a:tc>
                <a:extLst>
                  <a:ext uri="{0D108BD9-81ED-4DB2-BD59-A6C34878D82A}">
                    <a16:rowId xmlns:a16="http://schemas.microsoft.com/office/drawing/2014/main" val="10004"/>
                  </a:ext>
                </a:extLst>
              </a:tr>
              <a:tr h="402336">
                <a:tc>
                  <a:txBody>
                    <a:bodyPr/>
                    <a:lstStyle/>
                    <a:p>
                      <a:r>
                        <a:rPr sz="1250" b="1">
                          <a:solidFill>
                            <a:srgbClr val="0B1F3A"/>
                          </a:solidFill>
                        </a:rPr>
                        <a:t>Dependency licensing</a:t>
                      </a:r>
                    </a:p>
                  </a:txBody>
                  <a:tcPr marL="109728" marR="109728" anchor="ctr">
                    <a:solidFill>
                      <a:srgbClr val="EEF3FB"/>
                    </a:solidFill>
                  </a:tcPr>
                </a:tc>
                <a:tc>
                  <a:txBody>
                    <a:bodyPr/>
                    <a:lstStyle/>
                    <a:p>
                      <a:r>
                        <a:rPr sz="1250" b="0">
                          <a:solidFill>
                            <a:srgbClr val="0B1F3A"/>
                          </a:solidFill>
                        </a:rPr>
                        <a:t>A copyleft or unreviewed licence</a:t>
                      </a:r>
                    </a:p>
                  </a:txBody>
                  <a:tcPr marL="109728" marR="109728" anchor="ctr">
                    <a:solidFill>
                      <a:srgbClr val="EEF3FB"/>
                    </a:solidFill>
                  </a:tcPr>
                </a:tc>
                <a:extLst>
                  <a:ext uri="{0D108BD9-81ED-4DB2-BD59-A6C34878D82A}">
                    <a16:rowId xmlns:a16="http://schemas.microsoft.com/office/drawing/2014/main" val="10005"/>
                  </a:ext>
                </a:extLst>
              </a:tr>
              <a:tr h="402336">
                <a:tc>
                  <a:txBody>
                    <a:bodyPr/>
                    <a:lstStyle/>
                    <a:p>
                      <a:r>
                        <a:rPr sz="1250" b="1">
                          <a:solidFill>
                            <a:srgbClr val="0B1F3A"/>
                          </a:solidFill>
                        </a:rPr>
                        <a:t>Container image scan</a:t>
                      </a:r>
                    </a:p>
                  </a:txBody>
                  <a:tcPr marL="109728" marR="109728" anchor="ctr">
                    <a:solidFill>
                      <a:srgbClr val="FFFFFF"/>
                    </a:solidFill>
                  </a:tcPr>
                </a:tc>
                <a:tc>
                  <a:txBody>
                    <a:bodyPr/>
                    <a:lstStyle/>
                    <a:p>
                      <a:r>
                        <a:rPr sz="1250" b="0">
                          <a:solidFill>
                            <a:srgbClr val="0B1F3A"/>
                          </a:solidFill>
                        </a:rPr>
                        <a:t>A finding above the agreed severity</a:t>
                      </a:r>
                    </a:p>
                  </a:txBody>
                  <a:tcPr marL="109728" marR="109728" anchor="ctr">
                    <a:solidFill>
                      <a:srgbClr val="FFFFFF"/>
                    </a:solidFill>
                  </a:tcPr>
                </a:tc>
                <a:extLst>
                  <a:ext uri="{0D108BD9-81ED-4DB2-BD59-A6C34878D82A}">
                    <a16:rowId xmlns:a16="http://schemas.microsoft.com/office/drawing/2014/main" val="10006"/>
                  </a:ext>
                </a:extLst>
              </a:tr>
              <a:tr h="402336">
                <a:tc>
                  <a:txBody>
                    <a:bodyPr/>
                    <a:lstStyle/>
                    <a:p>
                      <a:r>
                        <a:rPr sz="1250" b="1">
                          <a:solidFill>
                            <a:srgbClr val="0B1F3A"/>
                          </a:solidFill>
                        </a:rPr>
                        <a:t>Secret scanning</a:t>
                      </a:r>
                    </a:p>
                  </a:txBody>
                  <a:tcPr marL="109728" marR="109728" anchor="ctr">
                    <a:solidFill>
                      <a:srgbClr val="EEF3FB"/>
                    </a:solidFill>
                  </a:tcPr>
                </a:tc>
                <a:tc>
                  <a:txBody>
                    <a:bodyPr/>
                    <a:lstStyle/>
                    <a:p>
                      <a:r>
                        <a:rPr sz="1250" b="0">
                          <a:solidFill>
                            <a:srgbClr val="0B1F3A"/>
                          </a:solidFill>
                        </a:rPr>
                        <a:t>Any credential-shaped string. No threshold</a:t>
                      </a:r>
                    </a:p>
                  </a:txBody>
                  <a:tcPr marL="109728" marR="109728" anchor="ctr">
                    <a:solidFill>
                      <a:srgbClr val="EEF3FB"/>
                    </a:solidFill>
                  </a:tcPr>
                </a:tc>
                <a:extLst>
                  <a:ext uri="{0D108BD9-81ED-4DB2-BD59-A6C34878D82A}">
                    <a16:rowId xmlns:a16="http://schemas.microsoft.com/office/drawing/2014/main" val="10007"/>
                  </a:ext>
                </a:extLst>
              </a:tr>
              <a:tr h="402336">
                <a:tc>
                  <a:txBody>
                    <a:bodyPr/>
                    <a:lstStyle/>
                    <a:p>
                      <a:r>
                        <a:rPr sz="1250" b="1">
                          <a:solidFill>
                            <a:srgbClr val="0B1F3A"/>
                          </a:solidFill>
                        </a:rPr>
                        <a:t>Production-data guard</a:t>
                      </a:r>
                    </a:p>
                  </a:txBody>
                  <a:tcPr marL="109728" marR="109728" anchor="ctr">
                    <a:solidFill>
                      <a:srgbClr val="FFFFFF"/>
                    </a:solidFill>
                  </a:tcPr>
                </a:tc>
                <a:tc>
                  <a:txBody>
                    <a:bodyPr/>
                    <a:lstStyle/>
                    <a:p>
                      <a:r>
                        <a:rPr sz="1250" b="0">
                          <a:solidFill>
                            <a:srgbClr val="0B1F3A"/>
                          </a:solidFill>
                        </a:rPr>
                        <a:t>Any production data in the repo. No threshold</a:t>
                      </a:r>
                    </a:p>
                  </a:txBody>
                  <a:tcPr marL="109728" marR="109728" anchor="ctr">
                    <a:solidFill>
                      <a:srgbClr val="FFFFFF"/>
                    </a:solidFill>
                  </a:tcPr>
                </a:tc>
                <a:extLst>
                  <a:ext uri="{0D108BD9-81ED-4DB2-BD59-A6C34878D82A}">
                    <a16:rowId xmlns:a16="http://schemas.microsoft.com/office/drawing/2014/main" val="10008"/>
                  </a:ext>
                </a:extLst>
              </a:tr>
            </a:tbl>
          </a:graphicData>
        </a:graphic>
      </p:graphicFrame>
      <p:sp>
        <p:nvSpPr>
          <p:cNvPr id="1001" name="Rounded Rectangle 1000"/>
          <p:cNvSpPr/>
          <p:nvPr/>
        </p:nvSpPr>
        <p:spPr>
          <a:xfrm>
            <a:off x="7726679" y="1783080"/>
            <a:ext cx="3913632" cy="17373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955279" y="1920240"/>
            <a:ext cx="3474720" cy="228600"/>
          </a:xfrm>
          <a:prstGeom prst="rect">
            <a:avLst/>
          </a:prstGeom>
          <a:noFill/>
        </p:spPr>
        <p:txBody>
          <a:bodyPr wrap="square" lIns="0" tIns="0" rIns="0" bIns="0" anchor="t">
            <a:spAutoFit/>
          </a:bodyPr>
          <a:lstStyle/>
          <a:p>
            <a:r>
              <a:rPr sz="1000" b="1" i="0" spc="200">
                <a:solidFill>
                  <a:srgbClr val="00A3A1"/>
                </a:solidFill>
              </a:rPr>
              <a:t>CONTINUOUS RAILS</a:t>
            </a:r>
          </a:p>
        </p:txBody>
      </p:sp>
      <p:sp>
        <p:nvSpPr>
          <p:cNvPr id="1003" name="TextBox 1002"/>
          <p:cNvSpPr txBox="1"/>
          <p:nvPr/>
        </p:nvSpPr>
        <p:spPr>
          <a:xfrm>
            <a:off x="7955279" y="2194560"/>
            <a:ext cx="3474720" cy="1280160"/>
          </a:xfrm>
          <a:prstGeom prst="rect">
            <a:avLst/>
          </a:prstGeom>
          <a:noFill/>
        </p:spPr>
        <p:txBody>
          <a:bodyPr wrap="square" lIns="0" tIns="0" rIns="0" bIns="0" anchor="t">
            <a:spAutoFit/>
          </a:bodyPr>
          <a:lstStyle/>
          <a:p>
            <a:r>
              <a:rPr sz="1250" b="0" i="0">
                <a:solidFill>
                  <a:srgbClr val="0B1F3A"/>
                </a:solidFill>
              </a:rPr>
              <a:t>Fast and automated. They run on every change and block the merge. A rail must almost never be wrong, or people switch it off.</a:t>
            </a:r>
          </a:p>
        </p:txBody>
      </p:sp>
      <p:sp>
        <p:nvSpPr>
          <p:cNvPr id="1004" name="Rounded Rectangle 1003"/>
          <p:cNvSpPr/>
          <p:nvPr/>
        </p:nvSpPr>
        <p:spPr>
          <a:xfrm>
            <a:off x="7726679" y="3639312"/>
            <a:ext cx="3913632" cy="1755648"/>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TextBox 1004"/>
          <p:cNvSpPr txBox="1"/>
          <p:nvPr/>
        </p:nvSpPr>
        <p:spPr>
          <a:xfrm>
            <a:off x="7955279" y="3776472"/>
            <a:ext cx="3474720" cy="228600"/>
          </a:xfrm>
          <a:prstGeom prst="rect">
            <a:avLst/>
          </a:prstGeom>
          <a:noFill/>
        </p:spPr>
        <p:txBody>
          <a:bodyPr wrap="square" lIns="0" tIns="0" rIns="0" bIns="0" anchor="t">
            <a:spAutoFit/>
          </a:bodyPr>
          <a:lstStyle/>
          <a:p>
            <a:r>
              <a:rPr sz="1000" b="1" i="0" spc="200">
                <a:solidFill>
                  <a:srgbClr val="B5651D"/>
                </a:solidFill>
              </a:rPr>
              <a:t>EVENT GATES</a:t>
            </a:r>
          </a:p>
        </p:txBody>
      </p:sp>
      <p:sp>
        <p:nvSpPr>
          <p:cNvPr id="1006" name="TextBox 1005"/>
          <p:cNvSpPr txBox="1"/>
          <p:nvPr/>
        </p:nvSpPr>
        <p:spPr>
          <a:xfrm>
            <a:off x="7955279" y="4050791"/>
            <a:ext cx="3474720" cy="1280160"/>
          </a:xfrm>
          <a:prstGeom prst="rect">
            <a:avLst/>
          </a:prstGeom>
          <a:noFill/>
        </p:spPr>
        <p:txBody>
          <a:bodyPr wrap="square" lIns="0" tIns="0" rIns="0" bIns="0" anchor="t">
            <a:spAutoFit/>
          </a:bodyPr>
          <a:lstStyle/>
          <a:p>
            <a:r>
              <a:rPr sz="1250" b="0" i="0">
                <a:solidFill>
                  <a:srgbClr val="0B1F3A"/>
                </a:solidFill>
              </a:rPr>
              <a:t>Slow, with a named owner. Each blocks one named transition. Several take weeks, so none can start at the end.</a:t>
            </a:r>
          </a:p>
        </p:txBody>
      </p:sp>
      <p:sp>
        <p:nvSpPr>
          <p:cNvPr id="1007" name="Rounded Rectangle 1006"/>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Two rails have no threshold. A secret or a production record in the repo is never a severity question.</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PART 6 · WHO YOU NEED, AND WHEN</a:t>
            </a:r>
          </a:p>
        </p:txBody>
      </p:sp>
      <p:sp>
        <p:nvSpPr>
          <p:cNvPr id="3" name="Title 2"/>
          <p:cNvSpPr>
            <a:spLocks noGrp="1"/>
          </p:cNvSpPr>
          <p:nvPr>
            <p:ph type="title" idx="101"/>
          </p:nvPr>
        </p:nvSpPr>
        <p:spPr/>
        <p:txBody>
          <a:bodyPr/>
          <a:lstStyle/>
          <a:p>
            <a:pPr algn="l"/>
            <a:r>
              <a:t>Every application needs the same approvals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14</a:t>
            </a:fld>
            <a:endParaRPr lang="en-US" b="0"/>
          </a:p>
        </p:txBody>
      </p:sp>
      <p:graphicFrame>
        <p:nvGraphicFramePr>
          <p:cNvPr id="1000" name="Table 999"/>
          <p:cNvGraphicFramePr>
            <a:graphicFrameLocks noGrp="1"/>
          </p:cNvGraphicFramePr>
          <p:nvPr/>
        </p:nvGraphicFramePr>
        <p:xfrm>
          <a:off x="548640" y="1783080"/>
          <a:ext cx="11091672" cy="3657600"/>
        </p:xfrm>
        <a:graphic>
          <a:graphicData uri="http://schemas.openxmlformats.org/drawingml/2006/table">
            <a:tbl>
              <a:tblPr>
                <a:tableStyleId>{2D5ABB26-0587-4C30-8999-92F81FD0307C}</a:tableStyleId>
              </a:tblPr>
              <a:tblGrid>
                <a:gridCol w="23317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61872">
                  <a:extLst>
                    <a:ext uri="{9D8B030D-6E8A-4147-A177-3AD203B41FA5}">
                      <a16:colId xmlns:a16="http://schemas.microsoft.com/office/drawing/2014/main" val="20004"/>
                    </a:ext>
                  </a:extLst>
                </a:gridCol>
              </a:tblGrid>
              <a:tr h="457200">
                <a:tc>
                  <a:txBody>
                    <a:bodyPr/>
                    <a:lstStyle/>
                    <a:p>
                      <a:r>
                        <a:rPr sz="1100" b="1" spc="100">
                          <a:solidFill>
                            <a:srgbClr val="FFFFFF"/>
                          </a:solidFill>
                        </a:rPr>
                        <a:t>APPROVAL</a:t>
                      </a:r>
                    </a:p>
                  </a:txBody>
                  <a:tcPr marL="109728" marR="109728" anchor="ctr">
                    <a:solidFill>
                      <a:srgbClr val="0B1F3A"/>
                    </a:solidFill>
                  </a:tcPr>
                </a:tc>
                <a:tc>
                  <a:txBody>
                    <a:bodyPr/>
                    <a:lstStyle/>
                    <a:p>
                      <a:r>
                        <a:rPr sz="1100" b="1" spc="100">
                          <a:solidFill>
                            <a:srgbClr val="FFFFFF"/>
                          </a:solidFill>
                        </a:rPr>
                        <a:t>TEAM</a:t>
                      </a:r>
                    </a:p>
                  </a:txBody>
                  <a:tcPr marL="109728" marR="109728" anchor="ctr">
                    <a:solidFill>
                      <a:srgbClr val="0B1F3A"/>
                    </a:solidFill>
                  </a:tcPr>
                </a:tc>
                <a:tc>
                  <a:txBody>
                    <a:bodyPr/>
                    <a:lstStyle/>
                    <a:p>
                      <a:r>
                        <a:rPr sz="1100" b="1" spc="100">
                          <a:solidFill>
                            <a:srgbClr val="FFFFFF"/>
                          </a:solidFill>
                        </a:rPr>
                        <a:t>WHAT IT ASKS FOR</a:t>
                      </a:r>
                    </a:p>
                  </a:txBody>
                  <a:tcPr marL="109728" marR="109728" anchor="ctr">
                    <a:solidFill>
                      <a:srgbClr val="0B1F3A"/>
                    </a:solidFill>
                  </a:tcPr>
                </a:tc>
                <a:tc>
                  <a:txBody>
                    <a:bodyPr/>
                    <a:lstStyle/>
                    <a:p>
                      <a:r>
                        <a:rPr sz="1100" b="1" spc="100">
                          <a:solidFill>
                            <a:srgbClr val="FFFFFF"/>
                          </a:solidFill>
                        </a:rPr>
                        <a:t>WHEN</a:t>
                      </a:r>
                    </a:p>
                  </a:txBody>
                  <a:tcPr marL="109728" marR="109728" anchor="ctr">
                    <a:solidFill>
                      <a:srgbClr val="0B1F3A"/>
                    </a:solidFill>
                  </a:tcPr>
                </a:tc>
                <a:tc>
                  <a:txBody>
                    <a:bodyPr/>
                    <a:lstStyle/>
                    <a:p>
                      <a:r>
                        <a:rPr sz="1100" b="1" spc="100">
                          <a:solidFill>
                            <a:srgbClr val="FFFFFF"/>
                          </a:solidFill>
                        </a:rPr>
                        <a:t>NAMED OWNER</a:t>
                      </a:r>
                    </a:p>
                  </a:txBody>
                  <a:tcPr marL="109728" marR="109728" anchor="ctr">
                    <a:solidFill>
                      <a:srgbClr val="0B1F3A"/>
                    </a:solidFill>
                  </a:tcPr>
                </a:tc>
                <a:extLst>
                  <a:ext uri="{0D108BD9-81ED-4DB2-BD59-A6C34878D82A}">
                    <a16:rowId xmlns:a16="http://schemas.microsoft.com/office/drawing/2014/main" val="10000"/>
                  </a:ext>
                </a:extLst>
              </a:tr>
              <a:tr h="457200">
                <a:tc>
                  <a:txBody>
                    <a:bodyPr/>
                    <a:lstStyle/>
                    <a:p>
                      <a:r>
                        <a:rPr sz="1200" b="1">
                          <a:solidFill>
                            <a:srgbClr val="0B1F3A"/>
                          </a:solidFill>
                        </a:rPr>
                        <a:t>Create BAPPID</a:t>
                      </a:r>
                    </a:p>
                  </a:txBody>
                  <a:tcPr marL="109728" marR="109728" anchor="ctr">
                    <a:solidFill>
                      <a:srgbClr val="EEF3FB"/>
                    </a:solidFill>
                  </a:tcPr>
                </a:tc>
                <a:tc>
                  <a:txBody>
                    <a:bodyPr/>
                    <a:lstStyle/>
                    <a:p>
                      <a:r>
                        <a:rPr sz="1200" b="0">
                          <a:solidFill>
                            <a:srgbClr val="0B1F3A"/>
                          </a:solidFill>
                        </a:rPr>
                        <a:t>Enterprise Technology</a:t>
                      </a:r>
                    </a:p>
                  </a:txBody>
                  <a:tcPr marL="109728" marR="109728" anchor="ctr">
                    <a:solidFill>
                      <a:srgbClr val="EEF3FB"/>
                    </a:solidFill>
                  </a:tcPr>
                </a:tc>
                <a:tc>
                  <a:txBody>
                    <a:bodyPr/>
                    <a:lstStyle/>
                    <a:p>
                      <a:r>
                        <a:rPr sz="1200" b="0">
                          <a:solidFill>
                            <a:srgbClr val="0B1F3A"/>
                          </a:solidFill>
                        </a:rPr>
                        <a:t>ServiceNow CMDB record, with a named technical owner</a:t>
                      </a:r>
                    </a:p>
                  </a:txBody>
                  <a:tcPr marL="109728" marR="109728" anchor="ctr">
                    <a:solidFill>
                      <a:srgbClr val="EEF3FB"/>
                    </a:solidFill>
                  </a:tcPr>
                </a:tc>
                <a:tc>
                  <a:txBody>
                    <a:bodyPr/>
                    <a:lstStyle/>
                    <a:p>
                      <a:r>
                        <a:rPr sz="1200" b="0">
                          <a:solidFill>
                            <a:srgbClr val="0B1F3A"/>
                          </a:solidFill>
                        </a:rPr>
                        <a:t>Week one</a:t>
                      </a:r>
                    </a:p>
                  </a:txBody>
                  <a:tcPr marL="109728" marR="109728" anchor="ctr">
                    <a:solidFill>
                      <a:srgbClr val="EEF3FB"/>
                    </a:solidFill>
                  </a:tcPr>
                </a:tc>
                <a:tc>
                  <a:txBody>
                    <a:bodyPr/>
                    <a:lstStyle/>
                    <a:p>
                      <a:r>
                        <a:rPr sz="1200" b="0">
                          <a:solidFill>
                            <a:srgbClr val="0B1F3A"/>
                          </a:solidFill>
                        </a:rPr>
                        <a:t>To be confirmed</a:t>
                      </a:r>
                    </a:p>
                  </a:txBody>
                  <a:tcPr marL="109728" marR="109728" anchor="ctr">
                    <a:solidFill>
                      <a:srgbClr val="EEF3FB"/>
                    </a:solidFill>
                  </a:tcPr>
                </a:tc>
                <a:extLst>
                  <a:ext uri="{0D108BD9-81ED-4DB2-BD59-A6C34878D82A}">
                    <a16:rowId xmlns:a16="http://schemas.microsoft.com/office/drawing/2014/main" val="10001"/>
                  </a:ext>
                </a:extLst>
              </a:tr>
              <a:tr h="457200">
                <a:tc>
                  <a:txBody>
                    <a:bodyPr/>
                    <a:lstStyle/>
                    <a:p>
                      <a:r>
                        <a:rPr sz="1200" b="1">
                          <a:solidFill>
                            <a:srgbClr val="0B1F3A"/>
                          </a:solidFill>
                        </a:rPr>
                        <a:t>Raise ESIS (RITM)</a:t>
                      </a:r>
                    </a:p>
                  </a:txBody>
                  <a:tcPr marL="109728" marR="109728" anchor="ctr">
                    <a:solidFill>
                      <a:srgbClr val="FFFFFF"/>
                    </a:solidFill>
                  </a:tcPr>
                </a:tc>
                <a:tc>
                  <a:txBody>
                    <a:bodyPr/>
                    <a:lstStyle/>
                    <a:p>
                      <a:r>
                        <a:rPr sz="1200" b="0">
                          <a:solidFill>
                            <a:srgbClr val="0B1F3A"/>
                          </a:solidFill>
                        </a:rPr>
                        <a:t>Enterprise Technology</a:t>
                      </a:r>
                    </a:p>
                  </a:txBody>
                  <a:tcPr marL="109728" marR="109728" anchor="ctr">
                    <a:solidFill>
                      <a:srgbClr val="FFFFFF"/>
                    </a:solidFill>
                  </a:tcPr>
                </a:tc>
                <a:tc>
                  <a:txBody>
                    <a:bodyPr/>
                    <a:lstStyle/>
                    <a:p>
                      <a:r>
                        <a:rPr sz="1200" b="0">
                          <a:solidFill>
                            <a:srgbClr val="0B1F3A"/>
                          </a:solidFill>
                        </a:rPr>
                        <a:t>Permissions list, PII and data classification</a:t>
                      </a:r>
                    </a:p>
                  </a:txBody>
                  <a:tcPr marL="109728" marR="109728" anchor="ctr">
                    <a:solidFill>
                      <a:srgbClr val="FFFFFF"/>
                    </a:solidFill>
                  </a:tcPr>
                </a:tc>
                <a:tc>
                  <a:txBody>
                    <a:bodyPr/>
                    <a:lstStyle/>
                    <a:p>
                      <a:r>
                        <a:rPr sz="1200" b="0">
                          <a:solidFill>
                            <a:srgbClr val="0B1F3A"/>
                          </a:solidFill>
                        </a:rPr>
                        <a:t>Week one</a:t>
                      </a:r>
                    </a:p>
                  </a:txBody>
                  <a:tcPr marL="109728" marR="109728" anchor="ctr">
                    <a:solidFill>
                      <a:srgbClr val="FFFFFF"/>
                    </a:solidFill>
                  </a:tcPr>
                </a:tc>
                <a:tc>
                  <a:txBody>
                    <a:bodyPr/>
                    <a:lstStyle/>
                    <a:p>
                      <a:r>
                        <a:rPr sz="1200" b="0">
                          <a:solidFill>
                            <a:srgbClr val="0B1F3A"/>
                          </a:solidFill>
                        </a:rPr>
                        <a:t>To be confirmed</a:t>
                      </a:r>
                    </a:p>
                  </a:txBody>
                  <a:tcPr marL="109728" marR="109728" anchor="ctr">
                    <a:solidFill>
                      <a:srgbClr val="FFFFFF"/>
                    </a:solidFill>
                  </a:tcPr>
                </a:tc>
                <a:extLst>
                  <a:ext uri="{0D108BD9-81ED-4DB2-BD59-A6C34878D82A}">
                    <a16:rowId xmlns:a16="http://schemas.microsoft.com/office/drawing/2014/main" val="10002"/>
                  </a:ext>
                </a:extLst>
              </a:tr>
              <a:tr h="457200">
                <a:tc>
                  <a:txBody>
                    <a:bodyPr/>
                    <a:lstStyle/>
                    <a:p>
                      <a:r>
                        <a:rPr sz="1200" b="1">
                          <a:solidFill>
                            <a:srgbClr val="0B1F3A"/>
                          </a:solidFill>
                        </a:rPr>
                        <a:t>AI intake form</a:t>
                      </a:r>
                    </a:p>
                  </a:txBody>
                  <a:tcPr marL="109728" marR="109728" anchor="ctr">
                    <a:solidFill>
                      <a:srgbClr val="EEF3FB"/>
                    </a:solidFill>
                  </a:tcPr>
                </a:tc>
                <a:tc>
                  <a:txBody>
                    <a:bodyPr/>
                    <a:lstStyle/>
                    <a:p>
                      <a:r>
                        <a:rPr sz="1200" b="0">
                          <a:solidFill>
                            <a:srgbClr val="0B1F3A"/>
                          </a:solidFill>
                        </a:rPr>
                        <a:t>Technology Enablement</a:t>
                      </a:r>
                    </a:p>
                  </a:txBody>
                  <a:tcPr marL="109728" marR="109728" anchor="ctr">
                    <a:solidFill>
                      <a:srgbClr val="EEF3FB"/>
                    </a:solidFill>
                  </a:tcPr>
                </a:tc>
                <a:tc>
                  <a:txBody>
                    <a:bodyPr/>
                    <a:lstStyle/>
                    <a:p>
                      <a:r>
                        <a:rPr sz="1200" b="0">
                          <a:solidFill>
                            <a:srgbClr val="0B1F3A"/>
                          </a:solidFill>
                        </a:rPr>
                        <a:t>Required for any AI use case, through the intake portal</a:t>
                      </a:r>
                    </a:p>
                  </a:txBody>
                  <a:tcPr marL="109728" marR="109728" anchor="ctr">
                    <a:solidFill>
                      <a:srgbClr val="EEF3FB"/>
                    </a:solidFill>
                  </a:tcPr>
                </a:tc>
                <a:tc>
                  <a:txBody>
                    <a:bodyPr/>
                    <a:lstStyle/>
                    <a:p>
                      <a:r>
                        <a:rPr sz="1200" b="0">
                          <a:solidFill>
                            <a:srgbClr val="0B1F3A"/>
                          </a:solidFill>
                        </a:rPr>
                        <a:t>Week one</a:t>
                      </a:r>
                    </a:p>
                  </a:txBody>
                  <a:tcPr marL="109728" marR="109728" anchor="ctr">
                    <a:solidFill>
                      <a:srgbClr val="EEF3FB"/>
                    </a:solidFill>
                  </a:tcPr>
                </a:tc>
                <a:tc>
                  <a:txBody>
                    <a:bodyPr/>
                    <a:lstStyle/>
                    <a:p>
                      <a:r>
                        <a:rPr sz="1200" b="0">
                          <a:solidFill>
                            <a:srgbClr val="0B1F3A"/>
                          </a:solidFill>
                        </a:rPr>
                        <a:t>To be confirmed</a:t>
                      </a:r>
                    </a:p>
                  </a:txBody>
                  <a:tcPr marL="109728" marR="109728" anchor="ctr">
                    <a:solidFill>
                      <a:srgbClr val="EEF3FB"/>
                    </a:solidFill>
                  </a:tcPr>
                </a:tc>
                <a:extLst>
                  <a:ext uri="{0D108BD9-81ED-4DB2-BD59-A6C34878D82A}">
                    <a16:rowId xmlns:a16="http://schemas.microsoft.com/office/drawing/2014/main" val="10003"/>
                  </a:ext>
                </a:extLst>
              </a:tr>
              <a:tr h="457200">
                <a:tc>
                  <a:txBody>
                    <a:bodyPr/>
                    <a:lstStyle/>
                    <a:p>
                      <a:r>
                        <a:rPr sz="1200" b="1">
                          <a:solidFill>
                            <a:srgbClr val="0B1F3A"/>
                          </a:solidFill>
                        </a:rPr>
                        <a:t>TEST admin consent</a:t>
                      </a:r>
                    </a:p>
                  </a:txBody>
                  <a:tcPr marL="109728" marR="109728" anchor="ctr">
                    <a:solidFill>
                      <a:srgbClr val="FFFFFF"/>
                    </a:solidFill>
                  </a:tcPr>
                </a:tc>
                <a:tc>
                  <a:txBody>
                    <a:bodyPr/>
                    <a:lstStyle/>
                    <a:p>
                      <a:r>
                        <a:rPr sz="1200" b="0">
                          <a:solidFill>
                            <a:srgbClr val="0B1F3A"/>
                          </a:solidFill>
                        </a:rPr>
                        <a:t>Enterprise Technology</a:t>
                      </a:r>
                    </a:p>
                  </a:txBody>
                  <a:tcPr marL="109728" marR="109728" anchor="ctr">
                    <a:solidFill>
                      <a:srgbClr val="FFFFFF"/>
                    </a:solidFill>
                  </a:tcPr>
                </a:tc>
                <a:tc>
                  <a:txBody>
                    <a:bodyPr/>
                    <a:lstStyle/>
                    <a:p>
                      <a:r>
                        <a:rPr sz="1200" b="0">
                          <a:solidFill>
                            <a:srgbClr val="0B1F3A"/>
                          </a:solidFill>
                        </a:rPr>
                        <a:t>Delegated scopes. Nothing can be tested without it</a:t>
                      </a:r>
                    </a:p>
                  </a:txBody>
                  <a:tcPr marL="109728" marR="109728" anchor="ctr">
                    <a:solidFill>
                      <a:srgbClr val="FFFFFF"/>
                    </a:solidFill>
                  </a:tcPr>
                </a:tc>
                <a:tc>
                  <a:txBody>
                    <a:bodyPr/>
                    <a:lstStyle/>
                    <a:p>
                      <a:r>
                        <a:rPr sz="1200" b="0">
                          <a:solidFill>
                            <a:srgbClr val="0B1F3A"/>
                          </a:solidFill>
                        </a:rPr>
                        <a:t>Before UAT</a:t>
                      </a:r>
                    </a:p>
                  </a:txBody>
                  <a:tcPr marL="109728" marR="109728" anchor="ctr">
                    <a:solidFill>
                      <a:srgbClr val="FFFFFF"/>
                    </a:solidFill>
                  </a:tcPr>
                </a:tc>
                <a:tc>
                  <a:txBody>
                    <a:bodyPr/>
                    <a:lstStyle/>
                    <a:p>
                      <a:r>
                        <a:rPr sz="1200" b="0">
                          <a:solidFill>
                            <a:srgbClr val="0B1F3A"/>
                          </a:solidFill>
                        </a:rPr>
                        <a:t>To be confirmed</a:t>
                      </a:r>
                    </a:p>
                  </a:txBody>
                  <a:tcPr marL="109728" marR="109728" anchor="ctr">
                    <a:solidFill>
                      <a:srgbClr val="FFFFFF"/>
                    </a:solidFill>
                  </a:tcPr>
                </a:tc>
                <a:extLst>
                  <a:ext uri="{0D108BD9-81ED-4DB2-BD59-A6C34878D82A}">
                    <a16:rowId xmlns:a16="http://schemas.microsoft.com/office/drawing/2014/main" val="10004"/>
                  </a:ext>
                </a:extLst>
              </a:tr>
              <a:tr h="457200">
                <a:tc>
                  <a:txBody>
                    <a:bodyPr/>
                    <a:lstStyle/>
                    <a:p>
                      <a:r>
                        <a:rPr sz="1200" b="1">
                          <a:solidFill>
                            <a:srgbClr val="0B1F3A"/>
                          </a:solidFill>
                        </a:rPr>
                        <a:t>PROD admin consent</a:t>
                      </a:r>
                    </a:p>
                  </a:txBody>
                  <a:tcPr marL="109728" marR="109728" anchor="ctr">
                    <a:solidFill>
                      <a:srgbClr val="EEF3FB"/>
                    </a:solidFill>
                  </a:tcPr>
                </a:tc>
                <a:tc>
                  <a:txBody>
                    <a:bodyPr/>
                    <a:lstStyle/>
                    <a:p>
                      <a:r>
                        <a:rPr sz="1200" b="0">
                          <a:solidFill>
                            <a:srgbClr val="0B1F3A"/>
                          </a:solidFill>
                        </a:rPr>
                        <a:t>Enterprise Technology</a:t>
                      </a:r>
                    </a:p>
                  </a:txBody>
                  <a:tcPr marL="109728" marR="109728" anchor="ctr">
                    <a:solidFill>
                      <a:srgbClr val="EEF3FB"/>
                    </a:solidFill>
                  </a:tcPr>
                </a:tc>
                <a:tc>
                  <a:txBody>
                    <a:bodyPr/>
                    <a:lstStyle/>
                    <a:p>
                      <a:r>
                        <a:rPr sz="1200" b="0">
                          <a:solidFill>
                            <a:srgbClr val="0B1F3A"/>
                          </a:solidFill>
                        </a:rPr>
                        <a:t>Constrained app permissions on the production tenant</a:t>
                      </a:r>
                    </a:p>
                  </a:txBody>
                  <a:tcPr marL="109728" marR="109728" anchor="ctr">
                    <a:solidFill>
                      <a:srgbClr val="EEF3FB"/>
                    </a:solidFill>
                  </a:tcPr>
                </a:tc>
                <a:tc>
                  <a:txBody>
                    <a:bodyPr/>
                    <a:lstStyle/>
                    <a:p>
                      <a:r>
                        <a:rPr sz="1200" b="0">
                          <a:solidFill>
                            <a:srgbClr val="0B1F3A"/>
                          </a:solidFill>
                        </a:rPr>
                        <a:t>Before go-live</a:t>
                      </a:r>
                    </a:p>
                  </a:txBody>
                  <a:tcPr marL="109728" marR="109728" anchor="ctr">
                    <a:solidFill>
                      <a:srgbClr val="EEF3FB"/>
                    </a:solidFill>
                  </a:tcPr>
                </a:tc>
                <a:tc>
                  <a:txBody>
                    <a:bodyPr/>
                    <a:lstStyle/>
                    <a:p>
                      <a:r>
                        <a:rPr sz="1200" b="0">
                          <a:solidFill>
                            <a:srgbClr val="0B1F3A"/>
                          </a:solidFill>
                        </a:rPr>
                        <a:t>To be confirmed</a:t>
                      </a:r>
                    </a:p>
                  </a:txBody>
                  <a:tcPr marL="109728" marR="109728" anchor="ctr">
                    <a:solidFill>
                      <a:srgbClr val="EEF3FB"/>
                    </a:solidFill>
                  </a:tcPr>
                </a:tc>
                <a:extLst>
                  <a:ext uri="{0D108BD9-81ED-4DB2-BD59-A6C34878D82A}">
                    <a16:rowId xmlns:a16="http://schemas.microsoft.com/office/drawing/2014/main" val="10005"/>
                  </a:ext>
                </a:extLst>
              </a:tr>
              <a:tr h="457200">
                <a:tc>
                  <a:txBody>
                    <a:bodyPr/>
                    <a:lstStyle/>
                    <a:p>
                      <a:r>
                        <a:rPr sz="1200" b="1">
                          <a:solidFill>
                            <a:srgbClr val="0B1F3A"/>
                          </a:solidFill>
                        </a:rPr>
                        <a:t>Email relay onboarding</a:t>
                      </a:r>
                    </a:p>
                  </a:txBody>
                  <a:tcPr marL="109728" marR="109728" anchor="ctr">
                    <a:solidFill>
                      <a:srgbClr val="FFFFFF"/>
                    </a:solidFill>
                  </a:tcPr>
                </a:tc>
                <a:tc>
                  <a:txBody>
                    <a:bodyPr/>
                    <a:lstStyle/>
                    <a:p>
                      <a:r>
                        <a:rPr sz="1200" b="0">
                          <a:solidFill>
                            <a:srgbClr val="0B1F3A"/>
                          </a:solidFill>
                        </a:rPr>
                        <a:t>ET&amp;D Messaging</a:t>
                      </a:r>
                    </a:p>
                  </a:txBody>
                  <a:tcPr marL="109728" marR="109728" anchor="ctr">
                    <a:solidFill>
                      <a:srgbClr val="FFFFFF"/>
                    </a:solidFill>
                  </a:tcPr>
                </a:tc>
                <a:tc>
                  <a:txBody>
                    <a:bodyPr/>
                    <a:lstStyle/>
                    <a:p>
                      <a:r>
                        <a:rPr sz="1200" b="0">
                          <a:solidFill>
                            <a:srgbClr val="0B1F3A"/>
                          </a:solidFill>
                        </a:rPr>
                        <a:t>Required for any app that sends email</a:t>
                      </a:r>
                    </a:p>
                  </a:txBody>
                  <a:tcPr marL="109728" marR="109728" anchor="ctr">
                    <a:solidFill>
                      <a:srgbClr val="FFFFFF"/>
                    </a:solidFill>
                  </a:tcPr>
                </a:tc>
                <a:tc>
                  <a:txBody>
                    <a:bodyPr/>
                    <a:lstStyle/>
                    <a:p>
                      <a:r>
                        <a:rPr sz="1200" b="0">
                          <a:solidFill>
                            <a:srgbClr val="0B1F3A"/>
                          </a:solidFill>
                        </a:rPr>
                        <a:t>Before go-live</a:t>
                      </a:r>
                    </a:p>
                  </a:txBody>
                  <a:tcPr marL="109728" marR="109728" anchor="ctr">
                    <a:solidFill>
                      <a:srgbClr val="FFFFFF"/>
                    </a:solidFill>
                  </a:tcPr>
                </a:tc>
                <a:tc>
                  <a:txBody>
                    <a:bodyPr/>
                    <a:lstStyle/>
                    <a:p>
                      <a:r>
                        <a:rPr sz="1200" b="0">
                          <a:solidFill>
                            <a:srgbClr val="0B1F3A"/>
                          </a:solidFill>
                        </a:rPr>
                        <a:t>To be confirmed</a:t>
                      </a:r>
                    </a:p>
                  </a:txBody>
                  <a:tcPr marL="109728" marR="109728" anchor="ctr">
                    <a:solidFill>
                      <a:srgbClr val="FFFFFF"/>
                    </a:solidFill>
                  </a:tcPr>
                </a:tc>
                <a:extLst>
                  <a:ext uri="{0D108BD9-81ED-4DB2-BD59-A6C34878D82A}">
                    <a16:rowId xmlns:a16="http://schemas.microsoft.com/office/drawing/2014/main" val="10006"/>
                  </a:ext>
                </a:extLst>
              </a:tr>
              <a:tr h="457200">
                <a:tc>
                  <a:txBody>
                    <a:bodyPr/>
                    <a:lstStyle/>
                    <a:p>
                      <a:r>
                        <a:rPr sz="1200" b="1">
                          <a:solidFill>
                            <a:srgbClr val="0B1F3A"/>
                          </a:solidFill>
                        </a:rPr>
                        <a:t>UAT and functional sign-off</a:t>
                      </a:r>
                    </a:p>
                  </a:txBody>
                  <a:tcPr marL="109728" marR="109728" anchor="ctr">
                    <a:solidFill>
                      <a:srgbClr val="EEF3FB"/>
                    </a:solidFill>
                  </a:tcPr>
                </a:tc>
                <a:tc>
                  <a:txBody>
                    <a:bodyPr/>
                    <a:lstStyle/>
                    <a:p>
                      <a:r>
                        <a:rPr sz="1200" b="0">
                          <a:solidFill>
                            <a:srgbClr val="0B1F3A"/>
                          </a:solidFill>
                        </a:rPr>
                        <a:t>The business</a:t>
                      </a:r>
                    </a:p>
                  </a:txBody>
                  <a:tcPr marL="109728" marR="109728" anchor="ctr">
                    <a:solidFill>
                      <a:srgbClr val="EEF3FB"/>
                    </a:solidFill>
                  </a:tcPr>
                </a:tc>
                <a:tc>
                  <a:txBody>
                    <a:bodyPr/>
                    <a:lstStyle/>
                    <a:p>
                      <a:r>
                        <a:rPr sz="1200" b="0">
                          <a:solidFill>
                            <a:srgbClr val="0B1F3A"/>
                          </a:solidFill>
                        </a:rPr>
                        <a:t>Users run the manual cycle in TEST. The process owner signs</a:t>
                      </a:r>
                    </a:p>
                  </a:txBody>
                  <a:tcPr marL="109728" marR="109728" anchor="ctr">
                    <a:solidFill>
                      <a:srgbClr val="EEF3FB"/>
                    </a:solidFill>
                  </a:tcPr>
                </a:tc>
                <a:tc>
                  <a:txBody>
                    <a:bodyPr/>
                    <a:lstStyle/>
                    <a:p>
                      <a:r>
                        <a:rPr sz="1200" b="0">
                          <a:solidFill>
                            <a:srgbClr val="0B1F3A"/>
                          </a:solidFill>
                        </a:rPr>
                        <a:t>Before go-live</a:t>
                      </a:r>
                    </a:p>
                  </a:txBody>
                  <a:tcPr marL="109728" marR="109728" anchor="ctr">
                    <a:solidFill>
                      <a:srgbClr val="EEF3FB"/>
                    </a:solidFill>
                  </a:tcPr>
                </a:tc>
                <a:tc>
                  <a:txBody>
                    <a:bodyPr/>
                    <a:lstStyle/>
                    <a:p>
                      <a:r>
                        <a:rPr sz="1200" b="0">
                          <a:solidFill>
                            <a:srgbClr val="0B1F3A"/>
                          </a:solidFill>
                        </a:rPr>
                        <a:t>To be confirmed</a:t>
                      </a:r>
                    </a:p>
                  </a:txBody>
                  <a:tcPr marL="109728" marR="109728" anchor="ctr">
                    <a:solidFill>
                      <a:srgbClr val="EEF3FB"/>
                    </a:solidFill>
                  </a:tcPr>
                </a:tc>
                <a:extLst>
                  <a:ext uri="{0D108BD9-81ED-4DB2-BD59-A6C34878D82A}">
                    <a16:rowId xmlns:a16="http://schemas.microsoft.com/office/drawing/2014/main" val="10007"/>
                  </a:ext>
                </a:extLst>
              </a:tr>
            </a:tbl>
          </a:graphicData>
        </a:graphic>
      </p:graphicFrame>
      <p:sp>
        <p:nvSpPr>
          <p:cNvPr id="1001" name="Rounded Rectangle 1000"/>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Three of these are opened in week one. An approval nobody opened is still open at go-live.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PART 6 · THE LONG POLES</a:t>
            </a:r>
          </a:p>
        </p:txBody>
      </p:sp>
      <p:sp>
        <p:nvSpPr>
          <p:cNvPr id="3" name="Title 2"/>
          <p:cNvSpPr>
            <a:spLocks noGrp="1"/>
          </p:cNvSpPr>
          <p:nvPr>
            <p:ph type="title" idx="101"/>
          </p:nvPr>
        </p:nvSpPr>
        <p:spPr/>
        <p:txBody>
          <a:bodyPr/>
          <a:lstStyle/>
          <a:p>
            <a:pPr algn="l"/>
            <a:r>
              <a:t>ESIS is five reviews in sequence, over four to eight weeks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15</a:t>
            </a:fld>
            <a:endParaRPr lang="en-US" b="0"/>
          </a:p>
        </p:txBody>
      </p:sp>
      <p:sp>
        <p:nvSpPr>
          <p:cNvPr id="1000" name="Pentagon 999"/>
          <p:cNvSpPr/>
          <p:nvPr/>
        </p:nvSpPr>
        <p:spPr>
          <a:xfrm>
            <a:off x="548640" y="1783080"/>
            <a:ext cx="2240280" cy="777240"/>
          </a:xfrm>
          <a:prstGeom prst="homePlate">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TextBox 1000"/>
          <p:cNvSpPr txBox="1"/>
          <p:nvPr/>
        </p:nvSpPr>
        <p:spPr>
          <a:xfrm>
            <a:off x="685800" y="1783080"/>
            <a:ext cx="1737360" cy="777240"/>
          </a:xfrm>
          <a:prstGeom prst="rect">
            <a:avLst/>
          </a:prstGeom>
          <a:noFill/>
        </p:spPr>
        <p:txBody>
          <a:bodyPr wrap="square" lIns="0" tIns="0" rIns="0" bIns="0" anchor="ctr">
            <a:spAutoFit/>
          </a:bodyPr>
          <a:lstStyle/>
          <a:p>
            <a:pPr algn="ctr"/>
            <a:r>
              <a:rPr sz="1300" b="1" i="0">
                <a:solidFill>
                  <a:srgbClr val="FFFFFF"/>
                </a:solidFill>
              </a:rPr>
              <a:t>Service Management</a:t>
            </a:r>
          </a:p>
        </p:txBody>
      </p:sp>
      <p:sp>
        <p:nvSpPr>
          <p:cNvPr id="1002" name="Chevron 1001"/>
          <p:cNvSpPr/>
          <p:nvPr/>
        </p:nvSpPr>
        <p:spPr>
          <a:xfrm>
            <a:off x="2761488" y="1783080"/>
            <a:ext cx="2240280" cy="777240"/>
          </a:xfrm>
          <a:prstGeom prst="chevron">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3172968" y="1783080"/>
            <a:ext cx="1737360" cy="777240"/>
          </a:xfrm>
          <a:prstGeom prst="rect">
            <a:avLst/>
          </a:prstGeom>
          <a:noFill/>
        </p:spPr>
        <p:txBody>
          <a:bodyPr wrap="square" lIns="0" tIns="0" rIns="0" bIns="0" anchor="ctr">
            <a:spAutoFit/>
          </a:bodyPr>
          <a:lstStyle/>
          <a:p>
            <a:pPr algn="ctr"/>
            <a:r>
              <a:rPr sz="1300" b="1" i="0">
                <a:solidFill>
                  <a:srgbClr val="FFFFFF"/>
                </a:solidFill>
              </a:rPr>
              <a:t>Engineering</a:t>
            </a:r>
          </a:p>
        </p:txBody>
      </p:sp>
      <p:sp>
        <p:nvSpPr>
          <p:cNvPr id="1004" name="Chevron 1003"/>
          <p:cNvSpPr/>
          <p:nvPr/>
        </p:nvSpPr>
        <p:spPr>
          <a:xfrm>
            <a:off x="4974336" y="1783080"/>
            <a:ext cx="2240280" cy="777240"/>
          </a:xfrm>
          <a:prstGeom prst="chevron">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TextBox 1004"/>
          <p:cNvSpPr txBox="1"/>
          <p:nvPr/>
        </p:nvSpPr>
        <p:spPr>
          <a:xfrm>
            <a:off x="5385816" y="1783080"/>
            <a:ext cx="1737360" cy="777240"/>
          </a:xfrm>
          <a:prstGeom prst="rect">
            <a:avLst/>
          </a:prstGeom>
          <a:noFill/>
        </p:spPr>
        <p:txBody>
          <a:bodyPr wrap="square" lIns="0" tIns="0" rIns="0" bIns="0" anchor="ctr">
            <a:spAutoFit/>
          </a:bodyPr>
          <a:lstStyle/>
          <a:p>
            <a:pPr algn="ctr"/>
            <a:r>
              <a:rPr sz="1300" b="1" i="0">
                <a:solidFill>
                  <a:srgbClr val="FFFFFF"/>
                </a:solidFill>
              </a:rPr>
              <a:t>Security</a:t>
            </a:r>
          </a:p>
        </p:txBody>
      </p:sp>
      <p:sp>
        <p:nvSpPr>
          <p:cNvPr id="1006" name="Chevron 1005"/>
          <p:cNvSpPr/>
          <p:nvPr/>
        </p:nvSpPr>
        <p:spPr>
          <a:xfrm>
            <a:off x="7187183" y="1783080"/>
            <a:ext cx="2240280" cy="777240"/>
          </a:xfrm>
          <a:prstGeom prst="chevron">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7598663" y="1783080"/>
            <a:ext cx="1737360" cy="777240"/>
          </a:xfrm>
          <a:prstGeom prst="rect">
            <a:avLst/>
          </a:prstGeom>
          <a:noFill/>
        </p:spPr>
        <p:txBody>
          <a:bodyPr wrap="square" lIns="0" tIns="0" rIns="0" bIns="0" anchor="ctr">
            <a:spAutoFit/>
          </a:bodyPr>
          <a:lstStyle/>
          <a:p>
            <a:pPr algn="ctr"/>
            <a:r>
              <a:rPr sz="1300" b="1" i="0">
                <a:solidFill>
                  <a:srgbClr val="FFFFFF"/>
                </a:solidFill>
              </a:rPr>
              <a:t>Legal</a:t>
            </a:r>
          </a:p>
        </p:txBody>
      </p:sp>
      <p:sp>
        <p:nvSpPr>
          <p:cNvPr id="1008" name="Chevron 1007"/>
          <p:cNvSpPr/>
          <p:nvPr/>
        </p:nvSpPr>
        <p:spPr>
          <a:xfrm>
            <a:off x="9400032" y="1783080"/>
            <a:ext cx="2240280" cy="777240"/>
          </a:xfrm>
          <a:prstGeom prst="chevron">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9" name="TextBox 1008"/>
          <p:cNvSpPr txBox="1"/>
          <p:nvPr/>
        </p:nvSpPr>
        <p:spPr>
          <a:xfrm>
            <a:off x="9811511" y="1783080"/>
            <a:ext cx="1737360" cy="777240"/>
          </a:xfrm>
          <a:prstGeom prst="rect">
            <a:avLst/>
          </a:prstGeom>
          <a:noFill/>
        </p:spPr>
        <p:txBody>
          <a:bodyPr wrap="square" lIns="0" tIns="0" rIns="0" bIns="0" anchor="ctr">
            <a:spAutoFit/>
          </a:bodyPr>
          <a:lstStyle/>
          <a:p>
            <a:pPr algn="ctr"/>
            <a:r>
              <a:rPr sz="1300" b="1" i="0">
                <a:solidFill>
                  <a:srgbClr val="FFFFFF"/>
                </a:solidFill>
              </a:rPr>
              <a:t>Operations</a:t>
            </a:r>
          </a:p>
        </p:txBody>
      </p:sp>
      <p:sp>
        <p:nvSpPr>
          <p:cNvPr id="1010" name="Rounded Rectangle 1009"/>
          <p:cNvSpPr/>
          <p:nvPr/>
        </p:nvSpPr>
        <p:spPr>
          <a:xfrm>
            <a:off x="548640" y="2743200"/>
            <a:ext cx="3291840" cy="265176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TextBox 1010"/>
          <p:cNvSpPr txBox="1"/>
          <p:nvPr/>
        </p:nvSpPr>
        <p:spPr>
          <a:xfrm>
            <a:off x="777240" y="2880360"/>
            <a:ext cx="2926080" cy="914400"/>
          </a:xfrm>
          <a:prstGeom prst="rect">
            <a:avLst/>
          </a:prstGeom>
          <a:noFill/>
        </p:spPr>
        <p:txBody>
          <a:bodyPr wrap="square" lIns="0" tIns="0" rIns="0" bIns="0" anchor="t">
            <a:spAutoFit/>
          </a:bodyPr>
          <a:lstStyle/>
          <a:p>
            <a:r>
              <a:rPr sz="5400" b="1" i="0">
                <a:solidFill>
                  <a:srgbClr val="F2A900"/>
                </a:solidFill>
                <a:latin typeface="+mj-lt"/>
              </a:rPr>
              <a:t>4–8</a:t>
            </a:r>
          </a:p>
        </p:txBody>
      </p:sp>
      <p:sp>
        <p:nvSpPr>
          <p:cNvPr id="1012" name="TextBox 1011"/>
          <p:cNvSpPr txBox="1"/>
          <p:nvPr/>
        </p:nvSpPr>
        <p:spPr>
          <a:xfrm>
            <a:off x="777240" y="3840480"/>
            <a:ext cx="2926080" cy="365760"/>
          </a:xfrm>
          <a:prstGeom prst="rect">
            <a:avLst/>
          </a:prstGeom>
          <a:noFill/>
        </p:spPr>
        <p:txBody>
          <a:bodyPr wrap="square" lIns="0" tIns="0" rIns="0" bIns="0" anchor="t">
            <a:spAutoFit/>
          </a:bodyPr>
          <a:lstStyle/>
          <a:p>
            <a:r>
              <a:rPr sz="1500" b="1" i="0">
                <a:solidFill>
                  <a:srgbClr val="FFFFFF"/>
                </a:solidFill>
              </a:rPr>
              <a:t>weeks for ESIS approval</a:t>
            </a:r>
          </a:p>
        </p:txBody>
      </p:sp>
      <p:sp>
        <p:nvSpPr>
          <p:cNvPr id="1013" name="TextBox 1012"/>
          <p:cNvSpPr txBox="1"/>
          <p:nvPr/>
        </p:nvSpPr>
        <p:spPr>
          <a:xfrm>
            <a:off x="777240" y="4251960"/>
            <a:ext cx="2926080" cy="1005840"/>
          </a:xfrm>
          <a:prstGeom prst="rect">
            <a:avLst/>
          </a:prstGeom>
          <a:noFill/>
        </p:spPr>
        <p:txBody>
          <a:bodyPr wrap="square" lIns="0" tIns="0" rIns="0" bIns="0" anchor="t">
            <a:spAutoFit/>
          </a:bodyPr>
          <a:lstStyle/>
          <a:p>
            <a:r>
              <a:rPr sz="1250" b="0" i="0">
                <a:solidFill>
                  <a:srgbClr val="FFFFFF"/>
                </a:solidFill>
              </a:rPr>
              <a:t>Each team reviews after the one before it. The time cannot be compressed at the end.</a:t>
            </a:r>
          </a:p>
        </p:txBody>
      </p:sp>
      <p:sp>
        <p:nvSpPr>
          <p:cNvPr id="1014" name="Rounded Rectangle 1013"/>
          <p:cNvSpPr/>
          <p:nvPr/>
        </p:nvSpPr>
        <p:spPr>
          <a:xfrm>
            <a:off x="4023360" y="2743200"/>
            <a:ext cx="3749039" cy="2651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5" name="TextBox 1014"/>
          <p:cNvSpPr txBox="1"/>
          <p:nvPr/>
        </p:nvSpPr>
        <p:spPr>
          <a:xfrm>
            <a:off x="4251960" y="2880360"/>
            <a:ext cx="3291840" cy="228600"/>
          </a:xfrm>
          <a:prstGeom prst="rect">
            <a:avLst/>
          </a:prstGeom>
          <a:noFill/>
        </p:spPr>
        <p:txBody>
          <a:bodyPr wrap="square" lIns="0" tIns="0" rIns="0" bIns="0" anchor="t">
            <a:spAutoFit/>
          </a:bodyPr>
          <a:lstStyle/>
          <a:p>
            <a:r>
              <a:rPr sz="1000" b="1" i="0" spc="200">
                <a:solidFill>
                  <a:srgbClr val="1E49E2"/>
                </a:solidFill>
              </a:rPr>
              <a:t>OPEN THESE IN PHASE 1</a:t>
            </a:r>
          </a:p>
        </p:txBody>
      </p:sp>
      <p:sp>
        <p:nvSpPr>
          <p:cNvPr id="1016" name="TextBox 1015"/>
          <p:cNvSpPr txBox="1"/>
          <p:nvPr/>
        </p:nvSpPr>
        <p:spPr>
          <a:xfrm>
            <a:off x="4251960" y="3200400"/>
            <a:ext cx="3383280" cy="2103120"/>
          </a:xfrm>
          <a:prstGeom prst="rect">
            <a:avLst/>
          </a:prstGeom>
          <a:noFill/>
        </p:spPr>
        <p:txBody>
          <a:bodyPr wrap="square" lIns="0" tIns="0" rIns="0" bIns="0">
            <a:spAutoFit/>
          </a:bodyPr>
          <a:lstStyle/>
          <a:p>
            <a:pPr marL="228600" indent="-228600">
              <a:spcAft>
                <a:spcPts val="800"/>
              </a:spcAft>
              <a:buChar char="•"/>
            </a:pPr>
            <a:r>
              <a:rPr sz="1300" b="1">
                <a:solidFill>
                  <a:srgbClr val="0B1F3A"/>
                </a:solidFill>
              </a:rPr>
              <a:t>Integration review (ESIS)</a:t>
            </a:r>
            <a:r>
              <a:rPr sz="1300" b="0">
                <a:solidFill>
                  <a:srgbClr val="0B1F3A"/>
                </a:solidFill>
              </a:rPr>
              <a:t>: outside teams</a:t>
            </a:r>
          </a:p>
          <a:p>
            <a:pPr marL="228600" indent="-228600">
              <a:spcAft>
                <a:spcPts val="800"/>
              </a:spcAft>
              <a:buChar char="•"/>
            </a:pPr>
            <a:r>
              <a:rPr sz="1300" b="1">
                <a:solidFill>
                  <a:srgbClr val="0B1F3A"/>
                </a:solidFill>
              </a:rPr>
              <a:t>Risk assessment</a:t>
            </a:r>
            <a:r>
              <a:rPr sz="1300" b="0">
                <a:solidFill>
                  <a:srgbClr val="0B1F3A"/>
                </a:solidFill>
              </a:rPr>
              <a:t>: outside teams</a:t>
            </a:r>
          </a:p>
          <a:p>
            <a:pPr marL="228600" indent="-228600">
              <a:spcAft>
                <a:spcPts val="800"/>
              </a:spcAft>
              <a:buChar char="•"/>
            </a:pPr>
            <a:r>
              <a:rPr sz="1300" b="1">
                <a:solidFill>
                  <a:srgbClr val="0B1F3A"/>
                </a:solidFill>
              </a:rPr>
              <a:t>Email onboarding</a:t>
            </a:r>
            <a:r>
              <a:rPr sz="1300" b="0">
                <a:solidFill>
                  <a:srgbClr val="0B1F3A"/>
                </a:solidFill>
              </a:rPr>
              <a:t>: outside teams</a:t>
            </a:r>
          </a:p>
          <a:p>
            <a:pPr marL="228600" indent="-228600">
              <a:spcAft>
                <a:spcPts val="800"/>
              </a:spcAft>
              <a:buChar char="•"/>
            </a:pPr>
            <a:r>
              <a:rPr sz="1300" b="1">
                <a:solidFill>
                  <a:srgbClr val="0B1F3A"/>
                </a:solidFill>
              </a:rPr>
              <a:t>AI review</a:t>
            </a:r>
            <a:r>
              <a:rPr sz="1300" b="0">
                <a:solidFill>
                  <a:srgbClr val="0B1F3A"/>
                </a:solidFill>
              </a:rPr>
              <a:t>: yours alone, and nobody else can start it</a:t>
            </a:r>
          </a:p>
        </p:txBody>
      </p:sp>
      <p:sp>
        <p:nvSpPr>
          <p:cNvPr id="1017" name="Rounded Rectangle 1016"/>
          <p:cNvSpPr/>
          <p:nvPr/>
        </p:nvSpPr>
        <p:spPr>
          <a:xfrm>
            <a:off x="7955279" y="2743200"/>
            <a:ext cx="3685032" cy="2651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TextBox 1017"/>
          <p:cNvSpPr txBox="1"/>
          <p:nvPr/>
        </p:nvSpPr>
        <p:spPr>
          <a:xfrm>
            <a:off x="8183879" y="2880360"/>
            <a:ext cx="3291840" cy="228600"/>
          </a:xfrm>
          <a:prstGeom prst="rect">
            <a:avLst/>
          </a:prstGeom>
          <a:noFill/>
        </p:spPr>
        <p:txBody>
          <a:bodyPr wrap="square" lIns="0" tIns="0" rIns="0" bIns="0" anchor="t">
            <a:spAutoFit/>
          </a:bodyPr>
          <a:lstStyle/>
          <a:p>
            <a:r>
              <a:rPr sz="1000" b="1" i="0" spc="200">
                <a:solidFill>
                  <a:srgbClr val="1E49E2"/>
                </a:solidFill>
              </a:rPr>
              <a:t>A GATE STATES FOUR THINGS</a:t>
            </a:r>
          </a:p>
        </p:txBody>
      </p:sp>
      <p:sp>
        <p:nvSpPr>
          <p:cNvPr id="1019" name="Rounded Rectangle 1018"/>
          <p:cNvSpPr/>
          <p:nvPr/>
        </p:nvSpPr>
        <p:spPr>
          <a:xfrm>
            <a:off x="8183879" y="3246120"/>
            <a:ext cx="365760" cy="36576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TextBox 1019"/>
          <p:cNvSpPr txBox="1"/>
          <p:nvPr/>
        </p:nvSpPr>
        <p:spPr>
          <a:xfrm>
            <a:off x="8183879" y="3246120"/>
            <a:ext cx="365760" cy="365760"/>
          </a:xfrm>
          <a:prstGeom prst="rect">
            <a:avLst/>
          </a:prstGeom>
          <a:noFill/>
        </p:spPr>
        <p:txBody>
          <a:bodyPr wrap="square" lIns="0" tIns="0" rIns="0" bIns="0" anchor="ctr">
            <a:spAutoFit/>
          </a:bodyPr>
          <a:lstStyle/>
          <a:p>
            <a:pPr algn="ctr"/>
            <a:r>
              <a:rPr sz="1300" b="1" i="0">
                <a:solidFill>
                  <a:srgbClr val="FFFFFF"/>
                </a:solidFill>
                <a:latin typeface="+mj-lt"/>
              </a:rPr>
              <a:t>1</a:t>
            </a:r>
          </a:p>
        </p:txBody>
      </p:sp>
      <p:sp>
        <p:nvSpPr>
          <p:cNvPr id="1021" name="TextBox 1020"/>
          <p:cNvSpPr txBox="1"/>
          <p:nvPr/>
        </p:nvSpPr>
        <p:spPr>
          <a:xfrm>
            <a:off x="8686800" y="3246120"/>
            <a:ext cx="2834640" cy="365760"/>
          </a:xfrm>
          <a:prstGeom prst="rect">
            <a:avLst/>
          </a:prstGeom>
          <a:noFill/>
        </p:spPr>
        <p:txBody>
          <a:bodyPr wrap="square" lIns="0" tIns="0" rIns="0" bIns="0" anchor="ctr">
            <a:spAutoFit/>
          </a:bodyPr>
          <a:lstStyle/>
          <a:p>
            <a:r>
              <a:rPr sz="1300" b="1" i="0">
                <a:solidFill>
                  <a:srgbClr val="0B1F3A"/>
                </a:solidFill>
              </a:rPr>
              <a:t>Trigger: </a:t>
            </a:r>
            <a:r>
              <a:rPr sz="1300" b="0" i="0">
                <a:solidFill>
                  <a:srgbClr val="0B1F3A"/>
                </a:solidFill>
              </a:rPr>
              <a:t>the event that opens it</a:t>
            </a:r>
          </a:p>
        </p:txBody>
      </p:sp>
      <p:sp>
        <p:nvSpPr>
          <p:cNvPr id="1022" name="Rounded Rectangle 1021"/>
          <p:cNvSpPr/>
          <p:nvPr/>
        </p:nvSpPr>
        <p:spPr>
          <a:xfrm>
            <a:off x="8183879" y="3758183"/>
            <a:ext cx="365760" cy="36576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TextBox 1022"/>
          <p:cNvSpPr txBox="1"/>
          <p:nvPr/>
        </p:nvSpPr>
        <p:spPr>
          <a:xfrm>
            <a:off x="8183879" y="3758183"/>
            <a:ext cx="365760" cy="365760"/>
          </a:xfrm>
          <a:prstGeom prst="rect">
            <a:avLst/>
          </a:prstGeom>
          <a:noFill/>
        </p:spPr>
        <p:txBody>
          <a:bodyPr wrap="square" lIns="0" tIns="0" rIns="0" bIns="0" anchor="ctr">
            <a:spAutoFit/>
          </a:bodyPr>
          <a:lstStyle/>
          <a:p>
            <a:pPr algn="ctr"/>
            <a:r>
              <a:rPr sz="1300" b="1" i="0">
                <a:solidFill>
                  <a:srgbClr val="FFFFFF"/>
                </a:solidFill>
                <a:latin typeface="+mj-lt"/>
              </a:rPr>
              <a:t>2</a:t>
            </a:r>
          </a:p>
        </p:txBody>
      </p:sp>
      <p:sp>
        <p:nvSpPr>
          <p:cNvPr id="1024" name="TextBox 1023"/>
          <p:cNvSpPr txBox="1"/>
          <p:nvPr/>
        </p:nvSpPr>
        <p:spPr>
          <a:xfrm>
            <a:off x="8686800" y="3758183"/>
            <a:ext cx="2834640" cy="365760"/>
          </a:xfrm>
          <a:prstGeom prst="rect">
            <a:avLst/>
          </a:prstGeom>
          <a:noFill/>
        </p:spPr>
        <p:txBody>
          <a:bodyPr wrap="square" lIns="0" tIns="0" rIns="0" bIns="0" anchor="ctr">
            <a:spAutoFit/>
          </a:bodyPr>
          <a:lstStyle/>
          <a:p>
            <a:r>
              <a:rPr sz="1300" b="1" i="0">
                <a:solidFill>
                  <a:srgbClr val="0B1F3A"/>
                </a:solidFill>
              </a:rPr>
              <a:t>Owner: </a:t>
            </a:r>
            <a:r>
              <a:rPr sz="1300" b="0" i="0">
                <a:solidFill>
                  <a:srgbClr val="0B1F3A"/>
                </a:solidFill>
              </a:rPr>
              <a:t>whose clock it runs on</a:t>
            </a:r>
          </a:p>
        </p:txBody>
      </p:sp>
      <p:sp>
        <p:nvSpPr>
          <p:cNvPr id="1025" name="Rounded Rectangle 1024"/>
          <p:cNvSpPr/>
          <p:nvPr/>
        </p:nvSpPr>
        <p:spPr>
          <a:xfrm>
            <a:off x="8183879" y="4270248"/>
            <a:ext cx="365760" cy="36576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6" name="TextBox 1025"/>
          <p:cNvSpPr txBox="1"/>
          <p:nvPr/>
        </p:nvSpPr>
        <p:spPr>
          <a:xfrm>
            <a:off x="8183879" y="4270248"/>
            <a:ext cx="365760" cy="365760"/>
          </a:xfrm>
          <a:prstGeom prst="rect">
            <a:avLst/>
          </a:prstGeom>
          <a:noFill/>
        </p:spPr>
        <p:txBody>
          <a:bodyPr wrap="square" lIns="0" tIns="0" rIns="0" bIns="0" anchor="ctr">
            <a:spAutoFit/>
          </a:bodyPr>
          <a:lstStyle/>
          <a:p>
            <a:pPr algn="ctr"/>
            <a:r>
              <a:rPr sz="1300" b="1" i="0">
                <a:solidFill>
                  <a:srgbClr val="FFFFFF"/>
                </a:solidFill>
                <a:latin typeface="+mj-lt"/>
              </a:rPr>
              <a:t>3</a:t>
            </a:r>
          </a:p>
        </p:txBody>
      </p:sp>
      <p:sp>
        <p:nvSpPr>
          <p:cNvPr id="1027" name="TextBox 1026"/>
          <p:cNvSpPr txBox="1"/>
          <p:nvPr/>
        </p:nvSpPr>
        <p:spPr>
          <a:xfrm>
            <a:off x="8686800" y="4270248"/>
            <a:ext cx="2834640" cy="365760"/>
          </a:xfrm>
          <a:prstGeom prst="rect">
            <a:avLst/>
          </a:prstGeom>
          <a:noFill/>
        </p:spPr>
        <p:txBody>
          <a:bodyPr wrap="square" lIns="0" tIns="0" rIns="0" bIns="0" anchor="ctr">
            <a:spAutoFit/>
          </a:bodyPr>
          <a:lstStyle/>
          <a:p>
            <a:r>
              <a:rPr sz="1300" b="1" i="0">
                <a:solidFill>
                  <a:srgbClr val="0B1F3A"/>
                </a:solidFill>
              </a:rPr>
              <a:t>Blocks: </a:t>
            </a:r>
            <a:r>
              <a:rPr sz="1300" b="0" i="0">
                <a:solidFill>
                  <a:srgbClr val="0B1F3A"/>
                </a:solidFill>
              </a:rPr>
              <a:t>one named transition</a:t>
            </a:r>
          </a:p>
        </p:txBody>
      </p:sp>
      <p:sp>
        <p:nvSpPr>
          <p:cNvPr id="1028" name="Rounded Rectangle 1027"/>
          <p:cNvSpPr/>
          <p:nvPr/>
        </p:nvSpPr>
        <p:spPr>
          <a:xfrm>
            <a:off x="8183879" y="4782312"/>
            <a:ext cx="365760" cy="36576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TextBox 1028"/>
          <p:cNvSpPr txBox="1"/>
          <p:nvPr/>
        </p:nvSpPr>
        <p:spPr>
          <a:xfrm>
            <a:off x="8183879" y="4782312"/>
            <a:ext cx="365760" cy="365760"/>
          </a:xfrm>
          <a:prstGeom prst="rect">
            <a:avLst/>
          </a:prstGeom>
          <a:noFill/>
        </p:spPr>
        <p:txBody>
          <a:bodyPr wrap="square" lIns="0" tIns="0" rIns="0" bIns="0" anchor="ctr">
            <a:spAutoFit/>
          </a:bodyPr>
          <a:lstStyle/>
          <a:p>
            <a:pPr algn="ctr"/>
            <a:r>
              <a:rPr sz="1300" b="1" i="0">
                <a:solidFill>
                  <a:srgbClr val="FFFFFF"/>
                </a:solidFill>
                <a:latin typeface="+mj-lt"/>
              </a:rPr>
              <a:t>4</a:t>
            </a:r>
          </a:p>
        </p:txBody>
      </p:sp>
      <p:sp>
        <p:nvSpPr>
          <p:cNvPr id="1030" name="TextBox 1029"/>
          <p:cNvSpPr txBox="1"/>
          <p:nvPr/>
        </p:nvSpPr>
        <p:spPr>
          <a:xfrm>
            <a:off x="8686800" y="4782312"/>
            <a:ext cx="2834640" cy="365760"/>
          </a:xfrm>
          <a:prstGeom prst="rect">
            <a:avLst/>
          </a:prstGeom>
          <a:noFill/>
        </p:spPr>
        <p:txBody>
          <a:bodyPr wrap="square" lIns="0" tIns="0" rIns="0" bIns="0" anchor="ctr">
            <a:spAutoFit/>
          </a:bodyPr>
          <a:lstStyle/>
          <a:p>
            <a:r>
              <a:rPr sz="1300" b="1" i="0">
                <a:solidFill>
                  <a:srgbClr val="0B1F3A"/>
                </a:solidFill>
              </a:rPr>
              <a:t>Artifact: </a:t>
            </a:r>
            <a:r>
              <a:rPr sz="1300" b="0" i="0">
                <a:solidFill>
                  <a:srgbClr val="0B1F3A"/>
                </a:solidFill>
              </a:rPr>
              <a:t>what exists when it closes</a:t>
            </a:r>
          </a:p>
        </p:txBody>
      </p:sp>
      <p:sp>
        <p:nvSpPr>
          <p:cNvPr id="1031" name="Rounded Rectangle 1030"/>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2" name="TextBox 1031"/>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Opened at the end, every gap becomes a deadline problem. Opened in week one, it is an engineering problem.</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GATE 4 · THE GO-LIVE GATE</a:t>
            </a:r>
          </a:p>
        </p:txBody>
      </p:sp>
      <p:sp>
        <p:nvSpPr>
          <p:cNvPr id="3" name="Title 2"/>
          <p:cNvSpPr>
            <a:spLocks noGrp="1"/>
          </p:cNvSpPr>
          <p:nvPr>
            <p:ph type="title" idx="101"/>
          </p:nvPr>
        </p:nvSpPr>
        <p:spPr/>
        <p:txBody>
          <a:bodyPr/>
          <a:lstStyle/>
          <a:p>
            <a:pPr algn="l"/>
            <a:r>
              <a:t>The release loop: from cut release to verified app</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16</a:t>
            </a:fld>
            <a:endParaRPr lang="en-US" b="0"/>
          </a:p>
        </p:txBody>
      </p:sp>
      <p:sp>
        <p:nvSpPr>
          <p:cNvPr id="1000" name="Rounded Rectangle 999"/>
          <p:cNvSpPr/>
          <p:nvPr/>
        </p:nvSpPr>
        <p:spPr>
          <a:xfrm>
            <a:off x="548640" y="1783080"/>
            <a:ext cx="1874519" cy="36118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Rounded Rectangle 1000"/>
          <p:cNvSpPr/>
          <p:nvPr/>
        </p:nvSpPr>
        <p:spPr>
          <a:xfrm>
            <a:off x="731520" y="1938528"/>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31520" y="1938528"/>
            <a:ext cx="457200" cy="457200"/>
          </a:xfrm>
          <a:prstGeom prst="rect">
            <a:avLst/>
          </a:prstGeom>
          <a:noFill/>
        </p:spPr>
        <p:txBody>
          <a:bodyPr wrap="square" lIns="0" tIns="0" rIns="0" bIns="0" anchor="ctr">
            <a:spAutoFit/>
          </a:bodyPr>
          <a:lstStyle/>
          <a:p>
            <a:pPr algn="ctr"/>
            <a:r>
              <a:rPr sz="2000" b="1" i="0">
                <a:solidFill>
                  <a:srgbClr val="FFFFFF"/>
                </a:solidFill>
                <a:latin typeface="+mj-lt"/>
              </a:rPr>
              <a:t>1</a:t>
            </a:r>
          </a:p>
        </p:txBody>
      </p:sp>
      <p:sp>
        <p:nvSpPr>
          <p:cNvPr id="1003" name="TextBox 1002"/>
          <p:cNvSpPr txBox="1"/>
          <p:nvPr/>
        </p:nvSpPr>
        <p:spPr>
          <a:xfrm>
            <a:off x="731520" y="2560320"/>
            <a:ext cx="1554480" cy="594360"/>
          </a:xfrm>
          <a:prstGeom prst="rect">
            <a:avLst/>
          </a:prstGeom>
          <a:noFill/>
        </p:spPr>
        <p:txBody>
          <a:bodyPr wrap="square" lIns="0" tIns="0" rIns="0" bIns="0" anchor="t">
            <a:spAutoFit/>
          </a:bodyPr>
          <a:lstStyle/>
          <a:p>
            <a:r>
              <a:rPr sz="1600" b="1" i="0">
                <a:solidFill>
                  <a:srgbClr val="0B1F3A"/>
                </a:solidFill>
                <a:latin typeface="+mj-lt"/>
              </a:rPr>
              <a:t>Cut the release</a:t>
            </a:r>
          </a:p>
        </p:txBody>
      </p:sp>
      <p:sp>
        <p:nvSpPr>
          <p:cNvPr id="1004" name="TextBox 1003"/>
          <p:cNvSpPr txBox="1"/>
          <p:nvPr/>
        </p:nvSpPr>
        <p:spPr>
          <a:xfrm>
            <a:off x="731520" y="3200400"/>
            <a:ext cx="1554480" cy="2103120"/>
          </a:xfrm>
          <a:prstGeom prst="rect">
            <a:avLst/>
          </a:prstGeom>
          <a:noFill/>
        </p:spPr>
        <p:txBody>
          <a:bodyPr wrap="square" lIns="0" tIns="0" rIns="0" bIns="0" anchor="t">
            <a:spAutoFit/>
          </a:bodyPr>
          <a:lstStyle/>
          <a:p>
            <a:r>
              <a:rPr sz="1200" b="0" i="0">
                <a:solidFill>
                  <a:srgbClr val="0B1F3A"/>
                </a:solidFill>
              </a:rPr>
              <a:t>Lockstep versions, an annotated tag equal to the manifest, and a readiness record. /tdmi:release-cut does this.</a:t>
            </a:r>
          </a:p>
        </p:txBody>
      </p:sp>
      <p:sp>
        <p:nvSpPr>
          <p:cNvPr id="1005" name="Rounded Rectangle 1004"/>
          <p:cNvSpPr/>
          <p:nvPr/>
        </p:nvSpPr>
        <p:spPr>
          <a:xfrm>
            <a:off x="2560320" y="1783080"/>
            <a:ext cx="1874519" cy="36118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Rounded Rectangle 1005"/>
          <p:cNvSpPr/>
          <p:nvPr/>
        </p:nvSpPr>
        <p:spPr>
          <a:xfrm>
            <a:off x="2743200" y="1938528"/>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2743200" y="1938528"/>
            <a:ext cx="457200" cy="457200"/>
          </a:xfrm>
          <a:prstGeom prst="rect">
            <a:avLst/>
          </a:prstGeom>
          <a:noFill/>
        </p:spPr>
        <p:txBody>
          <a:bodyPr wrap="square" lIns="0" tIns="0" rIns="0" bIns="0" anchor="ctr">
            <a:spAutoFit/>
          </a:bodyPr>
          <a:lstStyle/>
          <a:p>
            <a:pPr algn="ctr"/>
            <a:r>
              <a:rPr sz="2000" b="1" i="0">
                <a:solidFill>
                  <a:srgbClr val="FFFFFF"/>
                </a:solidFill>
                <a:latin typeface="+mj-lt"/>
              </a:rPr>
              <a:t>2</a:t>
            </a:r>
          </a:p>
        </p:txBody>
      </p:sp>
      <p:sp>
        <p:nvSpPr>
          <p:cNvPr id="1008" name="TextBox 1007"/>
          <p:cNvSpPr txBox="1"/>
          <p:nvPr/>
        </p:nvSpPr>
        <p:spPr>
          <a:xfrm>
            <a:off x="2743200" y="2560320"/>
            <a:ext cx="1554480" cy="594360"/>
          </a:xfrm>
          <a:prstGeom prst="rect">
            <a:avLst/>
          </a:prstGeom>
          <a:noFill/>
        </p:spPr>
        <p:txBody>
          <a:bodyPr wrap="square" lIns="0" tIns="0" rIns="0" bIns="0" anchor="t">
            <a:spAutoFit/>
          </a:bodyPr>
          <a:lstStyle/>
          <a:p>
            <a:r>
              <a:rPr sz="1600" b="1" i="0">
                <a:solidFill>
                  <a:srgbClr val="0B1F3A"/>
                </a:solidFill>
                <a:latin typeface="+mj-lt"/>
              </a:rPr>
              <a:t>Sync the test cases</a:t>
            </a:r>
          </a:p>
        </p:txBody>
      </p:sp>
      <p:sp>
        <p:nvSpPr>
          <p:cNvPr id="1009" name="TextBox 1008"/>
          <p:cNvSpPr txBox="1"/>
          <p:nvPr/>
        </p:nvSpPr>
        <p:spPr>
          <a:xfrm>
            <a:off x="2743200" y="3200400"/>
            <a:ext cx="1554480" cy="2103120"/>
          </a:xfrm>
          <a:prstGeom prst="rect">
            <a:avLst/>
          </a:prstGeom>
          <a:noFill/>
        </p:spPr>
        <p:txBody>
          <a:bodyPr wrap="square" lIns="0" tIns="0" rIns="0" bIns="0" anchor="t">
            <a:spAutoFit/>
          </a:bodyPr>
          <a:lstStyle/>
          <a:p>
            <a:r>
              <a:rPr sz="1200" b="0" i="0">
                <a:solidFill>
                  <a:srgbClr val="0B1F3A"/>
                </a:solidFill>
              </a:rPr>
              <a:t>UAT cases live in git as markdown and sync one way into test management.</a:t>
            </a:r>
          </a:p>
        </p:txBody>
      </p:sp>
      <p:sp>
        <p:nvSpPr>
          <p:cNvPr id="1010" name="Rounded Rectangle 1009"/>
          <p:cNvSpPr/>
          <p:nvPr/>
        </p:nvSpPr>
        <p:spPr>
          <a:xfrm>
            <a:off x="4572000" y="1783080"/>
            <a:ext cx="1874519" cy="36118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Rounded Rectangle 1010"/>
          <p:cNvSpPr/>
          <p:nvPr/>
        </p:nvSpPr>
        <p:spPr>
          <a:xfrm>
            <a:off x="4754880" y="1938528"/>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TextBox 1011"/>
          <p:cNvSpPr txBox="1"/>
          <p:nvPr/>
        </p:nvSpPr>
        <p:spPr>
          <a:xfrm>
            <a:off x="4754880" y="1938528"/>
            <a:ext cx="457200" cy="457200"/>
          </a:xfrm>
          <a:prstGeom prst="rect">
            <a:avLst/>
          </a:prstGeom>
          <a:noFill/>
        </p:spPr>
        <p:txBody>
          <a:bodyPr wrap="square" lIns="0" tIns="0" rIns="0" bIns="0" anchor="ctr">
            <a:spAutoFit/>
          </a:bodyPr>
          <a:lstStyle/>
          <a:p>
            <a:pPr algn="ctr"/>
            <a:r>
              <a:rPr sz="2000" b="1" i="0">
                <a:solidFill>
                  <a:srgbClr val="FFFFFF"/>
                </a:solidFill>
                <a:latin typeface="+mj-lt"/>
              </a:rPr>
              <a:t>3</a:t>
            </a:r>
          </a:p>
        </p:txBody>
      </p:sp>
      <p:sp>
        <p:nvSpPr>
          <p:cNvPr id="1013" name="TextBox 1012"/>
          <p:cNvSpPr txBox="1"/>
          <p:nvPr/>
        </p:nvSpPr>
        <p:spPr>
          <a:xfrm>
            <a:off x="4754880" y="2560320"/>
            <a:ext cx="1554480" cy="594360"/>
          </a:xfrm>
          <a:prstGeom prst="rect">
            <a:avLst/>
          </a:prstGeom>
          <a:noFill/>
        </p:spPr>
        <p:txBody>
          <a:bodyPr wrap="square" lIns="0" tIns="0" rIns="0" bIns="0" anchor="t">
            <a:spAutoFit/>
          </a:bodyPr>
          <a:lstStyle/>
          <a:p>
            <a:r>
              <a:rPr sz="1600" b="1" i="0">
                <a:solidFill>
                  <a:srgbClr val="0B1F3A"/>
                </a:solidFill>
                <a:latin typeface="+mj-lt"/>
              </a:rPr>
              <a:t>Accept in TEST</a:t>
            </a:r>
          </a:p>
        </p:txBody>
      </p:sp>
      <p:sp>
        <p:nvSpPr>
          <p:cNvPr id="1014" name="TextBox 1013"/>
          <p:cNvSpPr txBox="1"/>
          <p:nvPr/>
        </p:nvSpPr>
        <p:spPr>
          <a:xfrm>
            <a:off x="4754880" y="3200400"/>
            <a:ext cx="1554480" cy="2103120"/>
          </a:xfrm>
          <a:prstGeom prst="rect">
            <a:avLst/>
          </a:prstGeom>
          <a:noFill/>
        </p:spPr>
        <p:txBody>
          <a:bodyPr wrap="square" lIns="0" tIns="0" rIns="0" bIns="0" anchor="t">
            <a:spAutoFit/>
          </a:bodyPr>
          <a:lstStyle/>
          <a:p>
            <a:r>
              <a:rPr sz="1200" b="0" i="0">
                <a:solidFill>
                  <a:srgbClr val="0B1F3A"/>
                </a:solidFill>
              </a:rPr>
              <a:t>Business users run the manual cycle. The process owner signs and the technical owner countersigns.</a:t>
            </a:r>
          </a:p>
        </p:txBody>
      </p:sp>
      <p:sp>
        <p:nvSpPr>
          <p:cNvPr id="1015" name="Rounded Rectangle 1014"/>
          <p:cNvSpPr/>
          <p:nvPr/>
        </p:nvSpPr>
        <p:spPr>
          <a:xfrm>
            <a:off x="6583680" y="1783080"/>
            <a:ext cx="1874519" cy="36118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Rounded Rectangle 1015"/>
          <p:cNvSpPr/>
          <p:nvPr/>
        </p:nvSpPr>
        <p:spPr>
          <a:xfrm>
            <a:off x="6766560" y="1938528"/>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6766560" y="1938528"/>
            <a:ext cx="457200" cy="457200"/>
          </a:xfrm>
          <a:prstGeom prst="rect">
            <a:avLst/>
          </a:prstGeom>
          <a:noFill/>
        </p:spPr>
        <p:txBody>
          <a:bodyPr wrap="square" lIns="0" tIns="0" rIns="0" bIns="0" anchor="ctr">
            <a:spAutoFit/>
          </a:bodyPr>
          <a:lstStyle/>
          <a:p>
            <a:pPr algn="ctr"/>
            <a:r>
              <a:rPr sz="2000" b="1" i="0">
                <a:solidFill>
                  <a:srgbClr val="FFFFFF"/>
                </a:solidFill>
                <a:latin typeface="+mj-lt"/>
              </a:rPr>
              <a:t>4</a:t>
            </a:r>
          </a:p>
        </p:txBody>
      </p:sp>
      <p:sp>
        <p:nvSpPr>
          <p:cNvPr id="1018" name="TextBox 1017"/>
          <p:cNvSpPr txBox="1"/>
          <p:nvPr/>
        </p:nvSpPr>
        <p:spPr>
          <a:xfrm>
            <a:off x="6766560" y="2560320"/>
            <a:ext cx="1554480" cy="594360"/>
          </a:xfrm>
          <a:prstGeom prst="rect">
            <a:avLst/>
          </a:prstGeom>
          <a:noFill/>
        </p:spPr>
        <p:txBody>
          <a:bodyPr wrap="square" lIns="0" tIns="0" rIns="0" bIns="0" anchor="t">
            <a:spAutoFit/>
          </a:bodyPr>
          <a:lstStyle/>
          <a:p>
            <a:r>
              <a:rPr sz="1600" b="1" i="0">
                <a:solidFill>
                  <a:srgbClr val="0B1F3A"/>
                </a:solidFill>
                <a:latin typeface="+mj-lt"/>
              </a:rPr>
              <a:t>Promote to PROD</a:t>
            </a:r>
          </a:p>
        </p:txBody>
      </p:sp>
      <p:sp>
        <p:nvSpPr>
          <p:cNvPr id="1019" name="TextBox 1018"/>
          <p:cNvSpPr txBox="1"/>
          <p:nvPr/>
        </p:nvSpPr>
        <p:spPr>
          <a:xfrm>
            <a:off x="6766560" y="3200400"/>
            <a:ext cx="1554480" cy="2103120"/>
          </a:xfrm>
          <a:prstGeom prst="rect">
            <a:avLst/>
          </a:prstGeom>
          <a:noFill/>
        </p:spPr>
        <p:txBody>
          <a:bodyPr wrap="square" lIns="0" tIns="0" rIns="0" bIns="0" anchor="t">
            <a:spAutoFit/>
          </a:bodyPr>
          <a:lstStyle/>
          <a:p>
            <a:r>
              <a:rPr sz="1200" b="0" i="0">
                <a:solidFill>
                  <a:srgbClr val="0B1F3A"/>
                </a:solidFill>
              </a:rPr>
              <a:t>The same tag, after sign-off, with every event gate closed. Then verify the running app.</a:t>
            </a:r>
          </a:p>
        </p:txBody>
      </p:sp>
      <p:sp>
        <p:nvSpPr>
          <p:cNvPr id="1020" name="Rounded Rectangle 1019"/>
          <p:cNvSpPr/>
          <p:nvPr/>
        </p:nvSpPr>
        <p:spPr>
          <a:xfrm>
            <a:off x="8641080" y="1783080"/>
            <a:ext cx="2999232" cy="361188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Diamond 1020"/>
          <p:cNvSpPr/>
          <p:nvPr/>
        </p:nvSpPr>
        <p:spPr>
          <a:xfrm>
            <a:off x="8869680" y="1965960"/>
            <a:ext cx="329184" cy="329184"/>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TextBox 1021"/>
          <p:cNvSpPr txBox="1"/>
          <p:nvPr/>
        </p:nvSpPr>
        <p:spPr>
          <a:xfrm>
            <a:off x="9281160" y="1938528"/>
            <a:ext cx="2286000" cy="365760"/>
          </a:xfrm>
          <a:prstGeom prst="rect">
            <a:avLst/>
          </a:prstGeom>
          <a:noFill/>
        </p:spPr>
        <p:txBody>
          <a:bodyPr wrap="square" lIns="0" tIns="0" rIns="0" bIns="0" anchor="ctr">
            <a:spAutoFit/>
          </a:bodyPr>
          <a:lstStyle/>
          <a:p>
            <a:r>
              <a:rPr sz="1600" b="1" i="0">
                <a:solidFill>
                  <a:srgbClr val="FFFFFF"/>
                </a:solidFill>
                <a:latin typeface="+mj-lt"/>
              </a:rPr>
              <a:t>Go-live checklist</a:t>
            </a:r>
          </a:p>
        </p:txBody>
      </p:sp>
      <p:sp>
        <p:nvSpPr>
          <p:cNvPr id="1023" name="TextBox 1022"/>
          <p:cNvSpPr txBox="1"/>
          <p:nvPr/>
        </p:nvSpPr>
        <p:spPr>
          <a:xfrm>
            <a:off x="8869680" y="2514600"/>
            <a:ext cx="2606040" cy="2834640"/>
          </a:xfrm>
          <a:prstGeom prst="rect">
            <a:avLst/>
          </a:prstGeom>
          <a:noFill/>
        </p:spPr>
        <p:txBody>
          <a:bodyPr wrap="square" lIns="0" tIns="0" rIns="0" bIns="0">
            <a:spAutoFit/>
          </a:bodyPr>
          <a:lstStyle/>
          <a:p>
            <a:pPr marL="228600" indent="-228600">
              <a:spcAft>
                <a:spcPts val="500"/>
              </a:spcAft>
              <a:buChar char="•"/>
            </a:pPr>
            <a:r>
              <a:rPr sz="1200" b="0">
                <a:solidFill>
                  <a:srgbClr val="FFFFFF"/>
                </a:solidFill>
              </a:rPr>
              <a:t>TEST consent granted before UAT</a:t>
            </a:r>
          </a:p>
          <a:p>
            <a:pPr marL="228600" indent="-228600">
              <a:spcAft>
                <a:spcPts val="500"/>
              </a:spcAft>
              <a:buChar char="•"/>
            </a:pPr>
            <a:r>
              <a:rPr sz="1200" b="0">
                <a:solidFill>
                  <a:srgbClr val="FFFFFF"/>
                </a:solidFill>
              </a:rPr>
              <a:t>Functional sign-off recorded</a:t>
            </a:r>
          </a:p>
          <a:p>
            <a:pPr marL="228600" indent="-228600">
              <a:spcAft>
                <a:spcPts val="500"/>
              </a:spcAft>
              <a:buChar char="•"/>
            </a:pPr>
            <a:r>
              <a:rPr sz="1200" b="0">
                <a:solidFill>
                  <a:srgbClr val="FFFFFF"/>
                </a:solidFill>
              </a:rPr>
              <a:t>ESIS approved</a:t>
            </a:r>
          </a:p>
          <a:p>
            <a:pPr marL="228600" indent="-228600">
              <a:spcAft>
                <a:spcPts val="500"/>
              </a:spcAft>
              <a:buChar char="•"/>
            </a:pPr>
            <a:r>
              <a:rPr sz="1200" b="0">
                <a:solidFill>
                  <a:srgbClr val="FFFFFF"/>
                </a:solidFill>
              </a:rPr>
              <a:t>PROD consent and email relay in place</a:t>
            </a:r>
          </a:p>
          <a:p>
            <a:pPr marL="228600" indent="-228600">
              <a:spcAft>
                <a:spcPts val="500"/>
              </a:spcAft>
              <a:buChar char="•"/>
            </a:pPr>
            <a:r>
              <a:rPr sz="1200" b="0">
                <a:solidFill>
                  <a:srgbClr val="FFFFFF"/>
                </a:solidFill>
              </a:rPr>
              <a:t>Same tag that passed TEST</a:t>
            </a:r>
          </a:p>
          <a:p>
            <a:pPr marL="228600" indent="-228600">
              <a:spcAft>
                <a:spcPts val="500"/>
              </a:spcAft>
              <a:buChar char="•"/>
            </a:pPr>
            <a:r>
              <a:rPr sz="1200" b="0">
                <a:solidFill>
                  <a:srgbClr val="FFFFFF"/>
                </a:solidFill>
              </a:rPr>
              <a:t>Running app verified in PROD</a:t>
            </a:r>
          </a:p>
          <a:p>
            <a:pPr marL="228600" indent="-228600">
              <a:spcAft>
                <a:spcPts val="500"/>
              </a:spcAft>
              <a:buChar char="•"/>
            </a:pPr>
            <a:r>
              <a:rPr sz="1200" b="0">
                <a:solidFill>
                  <a:srgbClr val="FFFFFF"/>
                </a:solidFill>
              </a:rPr>
              <a:t>HCL handoff docs complete</a:t>
            </a:r>
          </a:p>
        </p:txBody>
      </p:sp>
      <p:sp>
        <p:nvSpPr>
          <p:cNvPr id="1024" name="Rounded Rectangle 1023"/>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TextBox 1024"/>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Verify the running application in production, not the pipeline log.</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GATE 4 · UAT</a:t>
            </a:r>
          </a:p>
        </p:txBody>
      </p:sp>
      <p:sp>
        <p:nvSpPr>
          <p:cNvPr id="3" name="Title 2"/>
          <p:cNvSpPr>
            <a:spLocks noGrp="1"/>
          </p:cNvSpPr>
          <p:nvPr>
            <p:ph type="title" idx="101"/>
          </p:nvPr>
        </p:nvSpPr>
        <p:spPr/>
        <p:txBody>
          <a:bodyPr/>
          <a:lstStyle/>
          <a:p>
            <a:pPr algn="l"/>
            <a:r>
              <a:t>Git is the source. Test management is a build output.</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17</a:t>
            </a:fld>
            <a:endParaRPr lang="en-US" b="0"/>
          </a:p>
        </p:txBody>
      </p:sp>
      <p:sp>
        <p:nvSpPr>
          <p:cNvPr id="1000" name="TextBox 999"/>
          <p:cNvSpPr txBox="1"/>
          <p:nvPr/>
        </p:nvSpPr>
        <p:spPr>
          <a:xfrm>
            <a:off x="548640" y="1691640"/>
            <a:ext cx="11064240" cy="457200"/>
          </a:xfrm>
          <a:prstGeom prst="rect">
            <a:avLst/>
          </a:prstGeom>
          <a:noFill/>
        </p:spPr>
        <p:txBody>
          <a:bodyPr wrap="square" lIns="0" tIns="0" rIns="0" bIns="0" anchor="t">
            <a:spAutoFit/>
          </a:bodyPr>
          <a:lstStyle/>
          <a:p>
            <a:r>
              <a:rPr sz="1400" b="0" i="0">
                <a:solidFill>
                  <a:srgbClr val="0B1F3A"/>
                </a:solidFill>
              </a:rPr>
              <a:t>The single most expensive mistake in test management is editing a case directly in the tool.</a:t>
            </a:r>
          </a:p>
        </p:txBody>
      </p:sp>
      <p:sp>
        <p:nvSpPr>
          <p:cNvPr id="1001" name="Rounded Rectangle 1000"/>
          <p:cNvSpPr/>
          <p:nvPr/>
        </p:nvSpPr>
        <p:spPr>
          <a:xfrm>
            <a:off x="548640" y="2331720"/>
            <a:ext cx="3593592" cy="210312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Rounded Rectangle 1001"/>
          <p:cNvSpPr/>
          <p:nvPr/>
        </p:nvSpPr>
        <p:spPr>
          <a:xfrm>
            <a:off x="777240" y="2542032"/>
            <a:ext cx="1097280" cy="274320"/>
          </a:xfrm>
          <a:prstGeom prst="roundRect">
            <a:avLst>
              <a:gd name="adj" fmla="val 50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777240" y="2542032"/>
            <a:ext cx="1097280" cy="274320"/>
          </a:xfrm>
          <a:prstGeom prst="rect">
            <a:avLst/>
          </a:prstGeom>
          <a:noFill/>
        </p:spPr>
        <p:txBody>
          <a:bodyPr wrap="square" lIns="0" tIns="0" rIns="0" bIns="0" anchor="ctr">
            <a:spAutoFit/>
          </a:bodyPr>
          <a:lstStyle/>
          <a:p>
            <a:pPr algn="ctr"/>
            <a:r>
              <a:rPr sz="950" b="1" i="0" spc="200">
                <a:solidFill>
                  <a:srgbClr val="FFFFFF"/>
                </a:solidFill>
              </a:rPr>
              <a:t>DO</a:t>
            </a:r>
          </a:p>
        </p:txBody>
      </p:sp>
      <p:sp>
        <p:nvSpPr>
          <p:cNvPr id="1004" name="TextBox 1003"/>
          <p:cNvSpPr txBox="1"/>
          <p:nvPr/>
        </p:nvSpPr>
        <p:spPr>
          <a:xfrm>
            <a:off x="777240" y="3017520"/>
            <a:ext cx="3154680" cy="365760"/>
          </a:xfrm>
          <a:prstGeom prst="rect">
            <a:avLst/>
          </a:prstGeom>
          <a:noFill/>
        </p:spPr>
        <p:txBody>
          <a:bodyPr wrap="square" lIns="0" tIns="0" rIns="0" bIns="0" anchor="t">
            <a:spAutoFit/>
          </a:bodyPr>
          <a:lstStyle/>
          <a:p>
            <a:r>
              <a:rPr sz="1800" b="1" i="0">
                <a:solidFill>
                  <a:srgbClr val="0B1F3A"/>
                </a:solidFill>
                <a:latin typeface="+mj-lt"/>
              </a:rPr>
              <a:t>Edit the markdown</a:t>
            </a:r>
          </a:p>
        </p:txBody>
      </p:sp>
      <p:sp>
        <p:nvSpPr>
          <p:cNvPr id="1005" name="TextBox 1004"/>
          <p:cNvSpPr txBox="1"/>
          <p:nvPr/>
        </p:nvSpPr>
        <p:spPr>
          <a:xfrm>
            <a:off x="777240" y="3474720"/>
            <a:ext cx="3154680" cy="914400"/>
          </a:xfrm>
          <a:prstGeom prst="rect">
            <a:avLst/>
          </a:prstGeom>
          <a:noFill/>
        </p:spPr>
        <p:txBody>
          <a:bodyPr wrap="square" lIns="0" tIns="0" rIns="0" bIns="0" anchor="t">
            <a:spAutoFit/>
          </a:bodyPr>
          <a:lstStyle/>
          <a:p>
            <a:r>
              <a:rPr sz="1300" b="0" i="0">
                <a:solidFill>
                  <a:srgbClr val="0B1F3A"/>
                </a:solidFill>
              </a:rPr>
              <a:t>Test cases and requirements live in git. Change them there, then sync one way.</a:t>
            </a:r>
          </a:p>
        </p:txBody>
      </p:sp>
      <p:sp>
        <p:nvSpPr>
          <p:cNvPr id="1006" name="Rounded Rectangle 1005"/>
          <p:cNvSpPr/>
          <p:nvPr/>
        </p:nvSpPr>
        <p:spPr>
          <a:xfrm>
            <a:off x="4297679" y="2331720"/>
            <a:ext cx="3593592" cy="210312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ounded Rectangle 1006"/>
          <p:cNvSpPr/>
          <p:nvPr/>
        </p:nvSpPr>
        <p:spPr>
          <a:xfrm>
            <a:off x="4526279" y="2542032"/>
            <a:ext cx="1097280" cy="27432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4526279" y="2542032"/>
            <a:ext cx="1097280" cy="274320"/>
          </a:xfrm>
          <a:prstGeom prst="rect">
            <a:avLst/>
          </a:prstGeom>
          <a:noFill/>
        </p:spPr>
        <p:txBody>
          <a:bodyPr wrap="square" lIns="0" tIns="0" rIns="0" bIns="0" anchor="ctr">
            <a:spAutoFit/>
          </a:bodyPr>
          <a:lstStyle/>
          <a:p>
            <a:pPr algn="ctr"/>
            <a:r>
              <a:rPr sz="950" b="1" i="0" spc="200">
                <a:solidFill>
                  <a:srgbClr val="0B1F3A"/>
                </a:solidFill>
              </a:rPr>
              <a:t>DO NOT</a:t>
            </a:r>
          </a:p>
        </p:txBody>
      </p:sp>
      <p:sp>
        <p:nvSpPr>
          <p:cNvPr id="1009" name="TextBox 1008"/>
          <p:cNvSpPr txBox="1"/>
          <p:nvPr/>
        </p:nvSpPr>
        <p:spPr>
          <a:xfrm>
            <a:off x="4526279" y="3017520"/>
            <a:ext cx="3154680" cy="365760"/>
          </a:xfrm>
          <a:prstGeom prst="rect">
            <a:avLst/>
          </a:prstGeom>
          <a:noFill/>
        </p:spPr>
        <p:txBody>
          <a:bodyPr wrap="square" lIns="0" tIns="0" rIns="0" bIns="0" anchor="t">
            <a:spAutoFit/>
          </a:bodyPr>
          <a:lstStyle/>
          <a:p>
            <a:r>
              <a:rPr sz="1800" b="1" i="0">
                <a:solidFill>
                  <a:srgbClr val="0B1F3A"/>
                </a:solidFill>
                <a:latin typeface="+mj-lt"/>
              </a:rPr>
              <a:t>Edit in the tool</a:t>
            </a:r>
          </a:p>
        </p:txBody>
      </p:sp>
      <p:sp>
        <p:nvSpPr>
          <p:cNvPr id="1010" name="TextBox 1009"/>
          <p:cNvSpPr txBox="1"/>
          <p:nvPr/>
        </p:nvSpPr>
        <p:spPr>
          <a:xfrm>
            <a:off x="4526279" y="3474720"/>
            <a:ext cx="3154680" cy="914400"/>
          </a:xfrm>
          <a:prstGeom prst="rect">
            <a:avLst/>
          </a:prstGeom>
          <a:noFill/>
        </p:spPr>
        <p:txBody>
          <a:bodyPr wrap="square" lIns="0" tIns="0" rIns="0" bIns="0" anchor="t">
            <a:spAutoFit/>
          </a:bodyPr>
          <a:lstStyle/>
          <a:p>
            <a:r>
              <a:rPr sz="1300" b="0" i="0">
                <a:solidFill>
                  <a:srgbClr val="0B1F3A"/>
                </a:solidFill>
              </a:rPr>
              <a:t>An edit in the tool is drift. Copy it back to git before the cycle closes, then sync.</a:t>
            </a:r>
          </a:p>
        </p:txBody>
      </p:sp>
      <p:sp>
        <p:nvSpPr>
          <p:cNvPr id="1011" name="Rounded Rectangle 1010"/>
          <p:cNvSpPr/>
          <p:nvPr/>
        </p:nvSpPr>
        <p:spPr>
          <a:xfrm>
            <a:off x="8046719" y="2331720"/>
            <a:ext cx="3593592" cy="210312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ounded Rectangle 1011"/>
          <p:cNvSpPr/>
          <p:nvPr/>
        </p:nvSpPr>
        <p:spPr>
          <a:xfrm>
            <a:off x="8275319" y="2542032"/>
            <a:ext cx="1097280" cy="274320"/>
          </a:xfrm>
          <a:prstGeom prst="roundRect">
            <a:avLst>
              <a:gd name="adj" fmla="val 50000"/>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8275319" y="2542032"/>
            <a:ext cx="1097280" cy="274320"/>
          </a:xfrm>
          <a:prstGeom prst="rect">
            <a:avLst/>
          </a:prstGeom>
          <a:noFill/>
        </p:spPr>
        <p:txBody>
          <a:bodyPr wrap="square" lIns="0" tIns="0" rIns="0" bIns="0" anchor="ctr">
            <a:spAutoFit/>
          </a:bodyPr>
          <a:lstStyle/>
          <a:p>
            <a:pPr algn="ctr"/>
            <a:r>
              <a:rPr sz="950" b="1" i="0" spc="200">
                <a:solidFill>
                  <a:srgbClr val="FFFFFF"/>
                </a:solidFill>
              </a:rPr>
              <a:t>NEVER</a:t>
            </a:r>
          </a:p>
        </p:txBody>
      </p:sp>
      <p:sp>
        <p:nvSpPr>
          <p:cNvPr id="1014" name="TextBox 1013"/>
          <p:cNvSpPr txBox="1"/>
          <p:nvPr/>
        </p:nvSpPr>
        <p:spPr>
          <a:xfrm>
            <a:off x="8275319" y="3017520"/>
            <a:ext cx="3154680" cy="365760"/>
          </a:xfrm>
          <a:prstGeom prst="rect">
            <a:avLst/>
          </a:prstGeom>
          <a:noFill/>
        </p:spPr>
        <p:txBody>
          <a:bodyPr wrap="square" lIns="0" tIns="0" rIns="0" bIns="0" anchor="t">
            <a:spAutoFit/>
          </a:bodyPr>
          <a:lstStyle/>
          <a:p>
            <a:r>
              <a:rPr sz="1800" b="1" i="0">
                <a:solidFill>
                  <a:srgbClr val="0B1F3A"/>
                </a:solidFill>
                <a:latin typeface="+mj-lt"/>
              </a:rPr>
              <a:t>Reformat an identity key</a:t>
            </a:r>
          </a:p>
        </p:txBody>
      </p:sp>
      <p:sp>
        <p:nvSpPr>
          <p:cNvPr id="1015" name="TextBox 1014"/>
          <p:cNvSpPr txBox="1"/>
          <p:nvPr/>
        </p:nvSpPr>
        <p:spPr>
          <a:xfrm>
            <a:off x="8275319" y="3474720"/>
            <a:ext cx="3154680" cy="914400"/>
          </a:xfrm>
          <a:prstGeom prst="rect">
            <a:avLst/>
          </a:prstGeom>
          <a:noFill/>
        </p:spPr>
        <p:txBody>
          <a:bodyPr wrap="square" lIns="0" tIns="0" rIns="0" bIns="0" anchor="t">
            <a:spAutoFit/>
          </a:bodyPr>
          <a:lstStyle/>
          <a:p>
            <a:r>
              <a:rPr sz="1300" b="0" i="0">
                <a:solidFill>
                  <a:srgbClr val="0B1F3A"/>
                </a:solidFill>
              </a:rPr>
              <a:t>Case IDs and name prefixes are permanent after first publish. A reformat duplicates every record.</a:t>
            </a:r>
          </a:p>
        </p:txBody>
      </p:sp>
      <p:sp>
        <p:nvSpPr>
          <p:cNvPr id="1016" name="Rounded Rectangle 1015"/>
          <p:cNvSpPr/>
          <p:nvPr/>
        </p:nvSpPr>
        <p:spPr>
          <a:xfrm>
            <a:off x="548640" y="4617720"/>
            <a:ext cx="11091672" cy="7772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777240" y="4617720"/>
            <a:ext cx="10607040" cy="777240"/>
          </a:xfrm>
          <a:prstGeom prst="rect">
            <a:avLst/>
          </a:prstGeom>
          <a:noFill/>
        </p:spPr>
        <p:txBody>
          <a:bodyPr wrap="square" lIns="0" tIns="0" rIns="0" bIns="0" anchor="ctr">
            <a:spAutoFit/>
          </a:bodyPr>
          <a:lstStyle/>
          <a:p>
            <a:r>
              <a:rPr sz="1300" b="1" i="0">
                <a:solidFill>
                  <a:srgbClr val="0B1F3A"/>
                </a:solidFill>
              </a:rPr>
              <a:t>For tax reviewers: </a:t>
            </a:r>
            <a:r>
              <a:rPr sz="1300" b="0" i="0">
                <a:solidFill>
                  <a:srgbClr val="0B1F3A"/>
                </a:solidFill>
              </a:rPr>
              <a:t>if a test step is wrong, tell the builder rather than fixing it in the tool. The fix belongs in git so the next cycle has it too.</a:t>
            </a:r>
          </a:p>
        </p:txBody>
      </p:sp>
      <p:sp>
        <p:nvSpPr>
          <p:cNvPr id="1018" name="Rounded Rectangle 1017"/>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TextBox 1018"/>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A second sync in a row must report every case unchanged. That is the acceptance test for the sync.</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STEP 12 · HCL HANDOFF</a:t>
            </a:r>
          </a:p>
        </p:txBody>
      </p:sp>
      <p:sp>
        <p:nvSpPr>
          <p:cNvPr id="3" name="Title 2"/>
          <p:cNvSpPr>
            <a:spLocks noGrp="1"/>
          </p:cNvSpPr>
          <p:nvPr>
            <p:ph type="title" idx="101"/>
          </p:nvPr>
        </p:nvSpPr>
        <p:spPr/>
        <p:txBody>
          <a:bodyPr/>
          <a:lstStyle/>
          <a:p>
            <a:pPr algn="l"/>
            <a:r>
              <a:t>The handoff pack is built at every gate, not at the end</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18</a:t>
            </a:fld>
            <a:endParaRPr lang="en-US" b="0"/>
          </a:p>
        </p:txBody>
      </p:sp>
      <p:sp>
        <p:nvSpPr>
          <p:cNvPr id="1000" name="Rounded Rectangle 999"/>
          <p:cNvSpPr/>
          <p:nvPr/>
        </p:nvSpPr>
        <p:spPr>
          <a:xfrm>
            <a:off x="548640" y="1783080"/>
            <a:ext cx="2651760" cy="2514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Diamond 1000"/>
          <p:cNvSpPr/>
          <p:nvPr/>
        </p:nvSpPr>
        <p:spPr>
          <a:xfrm>
            <a:off x="749808" y="1938528"/>
            <a:ext cx="274320" cy="27432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1115568" y="1965960"/>
            <a:ext cx="2011680" cy="228600"/>
          </a:xfrm>
          <a:prstGeom prst="rect">
            <a:avLst/>
          </a:prstGeom>
          <a:noFill/>
        </p:spPr>
        <p:txBody>
          <a:bodyPr wrap="square" lIns="0" tIns="0" rIns="0" bIns="0" anchor="t">
            <a:spAutoFit/>
          </a:bodyPr>
          <a:lstStyle/>
          <a:p>
            <a:r>
              <a:rPr sz="950" b="1" i="0" spc="200">
                <a:solidFill>
                  <a:srgbClr val="1E49E2"/>
                </a:solidFill>
              </a:rPr>
              <a:t>UPSIZE GATE</a:t>
            </a:r>
          </a:p>
        </p:txBody>
      </p:sp>
      <p:sp>
        <p:nvSpPr>
          <p:cNvPr id="1003" name="TextBox 1002"/>
          <p:cNvSpPr txBox="1"/>
          <p:nvPr/>
        </p:nvSpPr>
        <p:spPr>
          <a:xfrm>
            <a:off x="749808" y="2423160"/>
            <a:ext cx="2286000" cy="640080"/>
          </a:xfrm>
          <a:prstGeom prst="rect">
            <a:avLst/>
          </a:prstGeom>
          <a:noFill/>
        </p:spPr>
        <p:txBody>
          <a:bodyPr wrap="square" lIns="0" tIns="0" rIns="0" bIns="0" anchor="t">
            <a:spAutoFit/>
          </a:bodyPr>
          <a:lstStyle/>
          <a:p>
            <a:r>
              <a:rPr sz="1700" b="1" i="0">
                <a:solidFill>
                  <a:srgbClr val="0B1F3A"/>
                </a:solidFill>
                <a:latin typeface="+mj-lt"/>
              </a:rPr>
              <a:t>Closed model charter</a:t>
            </a:r>
          </a:p>
        </p:txBody>
      </p:sp>
      <p:sp>
        <p:nvSpPr>
          <p:cNvPr id="1004" name="TextBox 1003"/>
          <p:cNvSpPr txBox="1"/>
          <p:nvPr/>
        </p:nvSpPr>
        <p:spPr>
          <a:xfrm>
            <a:off x="749808" y="3108960"/>
            <a:ext cx="2286000" cy="1097280"/>
          </a:xfrm>
          <a:prstGeom prst="rect">
            <a:avLst/>
          </a:prstGeom>
          <a:noFill/>
        </p:spPr>
        <p:txBody>
          <a:bodyPr wrap="square" lIns="0" tIns="0" rIns="0" bIns="0" anchor="t">
            <a:spAutoFit/>
          </a:bodyPr>
          <a:lstStyle/>
          <a:p>
            <a:r>
              <a:rPr sz="1250" b="0" i="0">
                <a:solidFill>
                  <a:srgbClr val="0B1F3A"/>
                </a:solidFill>
              </a:rPr>
              <a:t>Purpose, users and scope, reused in four later documents</a:t>
            </a:r>
          </a:p>
        </p:txBody>
      </p:sp>
      <p:sp>
        <p:nvSpPr>
          <p:cNvPr id="1005" name="Right Arrow 1004"/>
          <p:cNvSpPr/>
          <p:nvPr/>
        </p:nvSpPr>
        <p:spPr>
          <a:xfrm>
            <a:off x="3218688" y="2926080"/>
            <a:ext cx="128016" cy="274320"/>
          </a:xfrm>
          <a:prstGeom prst="rightArrow">
            <a:avLst/>
          </a:prstGeom>
          <a:solidFill>
            <a:srgbClr val="8D9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Rounded Rectangle 1005"/>
          <p:cNvSpPr/>
          <p:nvPr/>
        </p:nvSpPr>
        <p:spPr>
          <a:xfrm>
            <a:off x="3364992" y="1783080"/>
            <a:ext cx="2651760" cy="2514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Diamond 1006"/>
          <p:cNvSpPr/>
          <p:nvPr/>
        </p:nvSpPr>
        <p:spPr>
          <a:xfrm>
            <a:off x="3566160" y="1938528"/>
            <a:ext cx="274320" cy="27432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3931920" y="1965960"/>
            <a:ext cx="2011680" cy="228600"/>
          </a:xfrm>
          <a:prstGeom prst="rect">
            <a:avLst/>
          </a:prstGeom>
          <a:noFill/>
        </p:spPr>
        <p:txBody>
          <a:bodyPr wrap="square" lIns="0" tIns="0" rIns="0" bIns="0" anchor="t">
            <a:spAutoFit/>
          </a:bodyPr>
          <a:lstStyle/>
          <a:p>
            <a:r>
              <a:rPr sz="950" b="1" i="0" spc="200">
                <a:solidFill>
                  <a:srgbClr val="1E49E2"/>
                </a:solidFill>
              </a:rPr>
              <a:t>DEV GATE</a:t>
            </a:r>
          </a:p>
        </p:txBody>
      </p:sp>
      <p:sp>
        <p:nvSpPr>
          <p:cNvPr id="1009" name="TextBox 1008"/>
          <p:cNvSpPr txBox="1"/>
          <p:nvPr/>
        </p:nvSpPr>
        <p:spPr>
          <a:xfrm>
            <a:off x="3566160" y="2423160"/>
            <a:ext cx="2286000" cy="640080"/>
          </a:xfrm>
          <a:prstGeom prst="rect">
            <a:avLst/>
          </a:prstGeom>
          <a:noFill/>
        </p:spPr>
        <p:txBody>
          <a:bodyPr wrap="square" lIns="0" tIns="0" rIns="0" bIns="0" anchor="t">
            <a:spAutoFit/>
          </a:bodyPr>
          <a:lstStyle/>
          <a:p>
            <a:r>
              <a:rPr sz="1700" b="1" i="0">
                <a:solidFill>
                  <a:srgbClr val="0B1F3A"/>
                </a:solidFill>
                <a:latin typeface="+mj-lt"/>
              </a:rPr>
              <a:t>Running app evidence</a:t>
            </a:r>
          </a:p>
        </p:txBody>
      </p:sp>
      <p:sp>
        <p:nvSpPr>
          <p:cNvPr id="1010" name="TextBox 1009"/>
          <p:cNvSpPr txBox="1"/>
          <p:nvPr/>
        </p:nvSpPr>
        <p:spPr>
          <a:xfrm>
            <a:off x="3566160" y="3108960"/>
            <a:ext cx="2286000" cy="1097280"/>
          </a:xfrm>
          <a:prstGeom prst="rect">
            <a:avLst/>
          </a:prstGeom>
          <a:noFill/>
        </p:spPr>
        <p:txBody>
          <a:bodyPr wrap="square" lIns="0" tIns="0" rIns="0" bIns="0" anchor="t">
            <a:spAutoFit/>
          </a:bodyPr>
          <a:lstStyle/>
          <a:p>
            <a:r>
              <a:rPr sz="1250" b="0" i="0">
                <a:solidFill>
                  <a:srgbClr val="0B1F3A"/>
                </a:solidFill>
              </a:rPr>
              <a:t>The response, the image digest and the reported version</a:t>
            </a:r>
          </a:p>
        </p:txBody>
      </p:sp>
      <p:sp>
        <p:nvSpPr>
          <p:cNvPr id="1011" name="Right Arrow 1010"/>
          <p:cNvSpPr/>
          <p:nvPr/>
        </p:nvSpPr>
        <p:spPr>
          <a:xfrm>
            <a:off x="6035040" y="2926080"/>
            <a:ext cx="128016" cy="274320"/>
          </a:xfrm>
          <a:prstGeom prst="rightArrow">
            <a:avLst/>
          </a:prstGeom>
          <a:solidFill>
            <a:srgbClr val="8D9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ounded Rectangle 1011"/>
          <p:cNvSpPr/>
          <p:nvPr/>
        </p:nvSpPr>
        <p:spPr>
          <a:xfrm>
            <a:off x="6181344" y="1783080"/>
            <a:ext cx="2651760" cy="2514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Diamond 1012"/>
          <p:cNvSpPr/>
          <p:nvPr/>
        </p:nvSpPr>
        <p:spPr>
          <a:xfrm>
            <a:off x="6382512" y="1938528"/>
            <a:ext cx="274320" cy="27432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4" name="TextBox 1013"/>
          <p:cNvSpPr txBox="1"/>
          <p:nvPr/>
        </p:nvSpPr>
        <p:spPr>
          <a:xfrm>
            <a:off x="6748272" y="1965960"/>
            <a:ext cx="2011680" cy="228600"/>
          </a:xfrm>
          <a:prstGeom prst="rect">
            <a:avLst/>
          </a:prstGeom>
          <a:noFill/>
        </p:spPr>
        <p:txBody>
          <a:bodyPr wrap="square" lIns="0" tIns="0" rIns="0" bIns="0" anchor="t">
            <a:spAutoFit/>
          </a:bodyPr>
          <a:lstStyle/>
          <a:p>
            <a:r>
              <a:rPr sz="950" b="1" i="0" spc="200">
                <a:solidFill>
                  <a:srgbClr val="1E49E2"/>
                </a:solidFill>
              </a:rPr>
              <a:t>SCOPE GATE</a:t>
            </a:r>
          </a:p>
        </p:txBody>
      </p:sp>
      <p:sp>
        <p:nvSpPr>
          <p:cNvPr id="1015" name="TextBox 1014"/>
          <p:cNvSpPr txBox="1"/>
          <p:nvPr/>
        </p:nvSpPr>
        <p:spPr>
          <a:xfrm>
            <a:off x="6382512" y="2423160"/>
            <a:ext cx="2286000" cy="640080"/>
          </a:xfrm>
          <a:prstGeom prst="rect">
            <a:avLst/>
          </a:prstGeom>
          <a:noFill/>
        </p:spPr>
        <p:txBody>
          <a:bodyPr wrap="square" lIns="0" tIns="0" rIns="0" bIns="0" anchor="t">
            <a:spAutoFit/>
          </a:bodyPr>
          <a:lstStyle/>
          <a:p>
            <a:r>
              <a:rPr sz="1700" b="1" i="0">
                <a:solidFill>
                  <a:srgbClr val="0B1F3A"/>
                </a:solidFill>
                <a:latin typeface="+mj-lt"/>
              </a:rPr>
              <a:t>Rails and test results</a:t>
            </a:r>
          </a:p>
        </p:txBody>
      </p:sp>
      <p:sp>
        <p:nvSpPr>
          <p:cNvPr id="1016" name="TextBox 1015"/>
          <p:cNvSpPr txBox="1"/>
          <p:nvPr/>
        </p:nvSpPr>
        <p:spPr>
          <a:xfrm>
            <a:off x="6382512" y="3108960"/>
            <a:ext cx="2286000" cy="1097280"/>
          </a:xfrm>
          <a:prstGeom prst="rect">
            <a:avLst/>
          </a:prstGeom>
          <a:noFill/>
        </p:spPr>
        <p:txBody>
          <a:bodyPr wrap="square" lIns="0" tIns="0" rIns="0" bIns="0" anchor="t">
            <a:spAutoFit/>
          </a:bodyPr>
          <a:lstStyle/>
          <a:p>
            <a:r>
              <a:rPr sz="1250" b="0" i="0">
                <a:solidFill>
                  <a:srgbClr val="0B1F3A"/>
                </a:solidFill>
              </a:rPr>
              <a:t>Scan output, test cases in git, the confirmed full flow</a:t>
            </a:r>
          </a:p>
        </p:txBody>
      </p:sp>
      <p:sp>
        <p:nvSpPr>
          <p:cNvPr id="1017" name="Right Arrow 1016"/>
          <p:cNvSpPr/>
          <p:nvPr/>
        </p:nvSpPr>
        <p:spPr>
          <a:xfrm>
            <a:off x="8851392" y="2926080"/>
            <a:ext cx="128016" cy="274320"/>
          </a:xfrm>
          <a:prstGeom prst="rightArrow">
            <a:avLst/>
          </a:prstGeom>
          <a:solidFill>
            <a:srgbClr val="8D9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Rounded Rectangle 1017"/>
          <p:cNvSpPr/>
          <p:nvPr/>
        </p:nvSpPr>
        <p:spPr>
          <a:xfrm>
            <a:off x="8997696" y="1783080"/>
            <a:ext cx="2651760" cy="2514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Diamond 1018"/>
          <p:cNvSpPr/>
          <p:nvPr/>
        </p:nvSpPr>
        <p:spPr>
          <a:xfrm>
            <a:off x="9198864" y="1938528"/>
            <a:ext cx="274320" cy="27432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TextBox 1019"/>
          <p:cNvSpPr txBox="1"/>
          <p:nvPr/>
        </p:nvSpPr>
        <p:spPr>
          <a:xfrm>
            <a:off x="9564624" y="1965960"/>
            <a:ext cx="2011680" cy="228600"/>
          </a:xfrm>
          <a:prstGeom prst="rect">
            <a:avLst/>
          </a:prstGeom>
          <a:noFill/>
        </p:spPr>
        <p:txBody>
          <a:bodyPr wrap="square" lIns="0" tIns="0" rIns="0" bIns="0" anchor="t">
            <a:spAutoFit/>
          </a:bodyPr>
          <a:lstStyle/>
          <a:p>
            <a:r>
              <a:rPr sz="950" b="1" i="0" spc="200">
                <a:solidFill>
                  <a:srgbClr val="1E49E2"/>
                </a:solidFill>
              </a:rPr>
              <a:t>GO-LIVE GATE</a:t>
            </a:r>
          </a:p>
        </p:txBody>
      </p:sp>
      <p:sp>
        <p:nvSpPr>
          <p:cNvPr id="1021" name="TextBox 1020"/>
          <p:cNvSpPr txBox="1"/>
          <p:nvPr/>
        </p:nvSpPr>
        <p:spPr>
          <a:xfrm>
            <a:off x="9198864" y="2423160"/>
            <a:ext cx="2286000" cy="640080"/>
          </a:xfrm>
          <a:prstGeom prst="rect">
            <a:avLst/>
          </a:prstGeom>
          <a:noFill/>
        </p:spPr>
        <p:txBody>
          <a:bodyPr wrap="square" lIns="0" tIns="0" rIns="0" bIns="0" anchor="t">
            <a:spAutoFit/>
          </a:bodyPr>
          <a:lstStyle/>
          <a:p>
            <a:r>
              <a:rPr sz="1700" b="1" i="0">
                <a:solidFill>
                  <a:srgbClr val="0B1F3A"/>
                </a:solidFill>
                <a:latin typeface="+mj-lt"/>
              </a:rPr>
              <a:t>Release and approvals</a:t>
            </a:r>
          </a:p>
        </p:txBody>
      </p:sp>
      <p:sp>
        <p:nvSpPr>
          <p:cNvPr id="1022" name="TextBox 1021"/>
          <p:cNvSpPr txBox="1"/>
          <p:nvPr/>
        </p:nvSpPr>
        <p:spPr>
          <a:xfrm>
            <a:off x="9198864" y="3108960"/>
            <a:ext cx="2286000" cy="1097280"/>
          </a:xfrm>
          <a:prstGeom prst="rect">
            <a:avLst/>
          </a:prstGeom>
          <a:noFill/>
        </p:spPr>
        <p:txBody>
          <a:bodyPr wrap="square" lIns="0" tIns="0" rIns="0" bIns="0" anchor="t">
            <a:spAutoFit/>
          </a:bodyPr>
          <a:lstStyle/>
          <a:p>
            <a:r>
              <a:rPr sz="1250" b="0" i="0">
                <a:solidFill>
                  <a:srgbClr val="0B1F3A"/>
                </a:solidFill>
              </a:rPr>
              <a:t>Readiness record, UAT sign-off, ESIS approval and user documentation</a:t>
            </a:r>
          </a:p>
        </p:txBody>
      </p:sp>
      <p:sp>
        <p:nvSpPr>
          <p:cNvPr id="1023" name="Rounded Rectangle 1022"/>
          <p:cNvSpPr/>
          <p:nvPr/>
        </p:nvSpPr>
        <p:spPr>
          <a:xfrm>
            <a:off x="548640" y="4462272"/>
            <a:ext cx="11091672" cy="96012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TextBox 1023"/>
          <p:cNvSpPr txBox="1"/>
          <p:nvPr/>
        </p:nvSpPr>
        <p:spPr>
          <a:xfrm>
            <a:off x="777240" y="4462272"/>
            <a:ext cx="2194560" cy="960120"/>
          </a:xfrm>
          <a:prstGeom prst="rect">
            <a:avLst/>
          </a:prstGeom>
          <a:noFill/>
        </p:spPr>
        <p:txBody>
          <a:bodyPr wrap="square" lIns="0" tIns="0" rIns="0" bIns="0" anchor="ctr">
            <a:spAutoFit/>
          </a:bodyPr>
          <a:lstStyle/>
          <a:p>
            <a:r>
              <a:rPr sz="1800" b="1" i="0">
                <a:solidFill>
                  <a:srgbClr val="F2A900"/>
                </a:solidFill>
                <a:latin typeface="+mj-lt"/>
              </a:rPr>
              <a:t>HCL handoff</a:t>
            </a:r>
          </a:p>
        </p:txBody>
      </p:sp>
      <p:sp>
        <p:nvSpPr>
          <p:cNvPr id="1025" name="TextBox 1024"/>
          <p:cNvSpPr txBox="1"/>
          <p:nvPr/>
        </p:nvSpPr>
        <p:spPr>
          <a:xfrm>
            <a:off x="2926080" y="4462272"/>
            <a:ext cx="8503920" cy="960120"/>
          </a:xfrm>
          <a:prstGeom prst="rect">
            <a:avLst/>
          </a:prstGeom>
          <a:noFill/>
        </p:spPr>
        <p:txBody>
          <a:bodyPr wrap="square" lIns="0" tIns="0" rIns="0" bIns="0" anchor="ctr">
            <a:spAutoFit/>
          </a:bodyPr>
          <a:lstStyle/>
          <a:p>
            <a:r>
              <a:rPr sz="1350" b="0" i="0">
                <a:solidFill>
                  <a:srgbClr val="FFFFFF"/>
                </a:solidFill>
              </a:rPr>
              <a:t>Support takes over an application with its evidence already in place. The final pack is assembled from what each gate produced. Nothing is written from memory.</a:t>
            </a:r>
          </a:p>
        </p:txBody>
      </p:sp>
      <p:sp>
        <p:nvSpPr>
          <p:cNvPr id="1026" name="Rounded Rectangle 1025"/>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TextBox 1026"/>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Evidence is produced along the way, not written afterwards. It exists before anyone asks for it.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PART 6 · THE TOOLKIT</a:t>
            </a:r>
          </a:p>
        </p:txBody>
      </p:sp>
      <p:sp>
        <p:nvSpPr>
          <p:cNvPr id="3" name="Title 2"/>
          <p:cNvSpPr>
            <a:spLocks noGrp="1"/>
          </p:cNvSpPr>
          <p:nvPr>
            <p:ph type="title" idx="101"/>
          </p:nvPr>
        </p:nvSpPr>
        <p:spPr/>
        <p:txBody>
          <a:bodyPr/>
          <a:lstStyle/>
          <a:p>
            <a:pPr algn="l"/>
            <a:r>
              <a:t>One rule set in every repo, and six skills to apply it</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19</a:t>
            </a:fld>
            <a:endParaRPr lang="en-US" b="0"/>
          </a:p>
        </p:txBody>
      </p:sp>
      <p:sp>
        <p:nvSpPr>
          <p:cNvPr id="1000" name="Rounded Rectangle 999"/>
          <p:cNvSpPr/>
          <p:nvPr/>
        </p:nvSpPr>
        <p:spPr>
          <a:xfrm>
            <a:off x="548640" y="1783080"/>
            <a:ext cx="4206240" cy="361188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TextBox 1000"/>
          <p:cNvSpPr txBox="1"/>
          <p:nvPr/>
        </p:nvSpPr>
        <p:spPr>
          <a:xfrm>
            <a:off x="777240" y="1938528"/>
            <a:ext cx="3657600" cy="228600"/>
          </a:xfrm>
          <a:prstGeom prst="rect">
            <a:avLst/>
          </a:prstGeom>
          <a:noFill/>
        </p:spPr>
        <p:txBody>
          <a:bodyPr wrap="square" lIns="0" tIns="0" rIns="0" bIns="0" anchor="t">
            <a:spAutoFit/>
          </a:bodyPr>
          <a:lstStyle/>
          <a:p>
            <a:r>
              <a:rPr sz="1000" b="1" i="0" spc="200">
                <a:solidFill>
                  <a:srgbClr val="00A3A1"/>
                </a:solidFill>
              </a:rPr>
              <a:t>THE CANON</a:t>
            </a:r>
          </a:p>
        </p:txBody>
      </p:sp>
      <p:sp>
        <p:nvSpPr>
          <p:cNvPr id="1002" name="TextBox 1001"/>
          <p:cNvSpPr txBox="1"/>
          <p:nvPr/>
        </p:nvSpPr>
        <p:spPr>
          <a:xfrm>
            <a:off x="777240" y="2240280"/>
            <a:ext cx="3749039" cy="822960"/>
          </a:xfrm>
          <a:prstGeom prst="rect">
            <a:avLst/>
          </a:prstGeom>
          <a:noFill/>
        </p:spPr>
        <p:txBody>
          <a:bodyPr wrap="square" lIns="0" tIns="0" rIns="0" bIns="0" anchor="t">
            <a:spAutoFit/>
          </a:bodyPr>
          <a:lstStyle/>
          <a:p>
            <a:r>
              <a:rPr sz="1600" b="1" i="0">
                <a:solidFill>
                  <a:srgbClr val="FFFFFF"/>
                </a:solidFill>
                <a:latin typeface="+mj-lt"/>
              </a:rPr>
              <a:t>A CLAUDE.md index plus rules files, at the root of every repository.</a:t>
            </a:r>
          </a:p>
        </p:txBody>
      </p:sp>
      <p:sp>
        <p:nvSpPr>
          <p:cNvPr id="1003" name="TextBox 1002"/>
          <p:cNvSpPr txBox="1"/>
          <p:nvPr/>
        </p:nvSpPr>
        <p:spPr>
          <a:xfrm>
            <a:off x="777240" y="3154680"/>
            <a:ext cx="3749039" cy="2194560"/>
          </a:xfrm>
          <a:prstGeom prst="rect">
            <a:avLst/>
          </a:prstGeom>
          <a:noFill/>
        </p:spPr>
        <p:txBody>
          <a:bodyPr wrap="square" lIns="0" tIns="0" rIns="0" bIns="0">
            <a:spAutoFit/>
          </a:bodyPr>
          <a:lstStyle/>
          <a:p>
            <a:pPr marL="228600" indent="-228600">
              <a:spcAft>
                <a:spcPts val="700"/>
              </a:spcAft>
              <a:buChar char="•"/>
            </a:pPr>
            <a:r>
              <a:rPr sz="1250" b="1">
                <a:solidFill>
                  <a:srgbClr val="FFFFFF"/>
                </a:solidFill>
              </a:rPr>
              <a:t>Loaded automatically </a:t>
            </a:r>
            <a:r>
              <a:rPr sz="1250" b="0">
                <a:solidFill>
                  <a:srgbClr val="FFFFFF"/>
                </a:solidFill>
              </a:rPr>
              <a:t>by every Claude Code session</a:t>
            </a:r>
          </a:p>
          <a:p>
            <a:pPr marL="228600" indent="-228600">
              <a:spcAft>
                <a:spcPts val="700"/>
              </a:spcAft>
              <a:buChar char="•"/>
            </a:pPr>
            <a:r>
              <a:rPr sz="1250" b="1">
                <a:solidFill>
                  <a:srgbClr val="FFFFFF"/>
                </a:solidFill>
              </a:rPr>
              <a:t>Versioned as a whole. </a:t>
            </a:r>
            <a:r>
              <a:rPr sz="1250" b="0">
                <a:solidFill>
                  <a:srgbClr val="FFFFFF"/>
                </a:solidFill>
              </a:rPr>
              <a:t>One version, in the index's first line</a:t>
            </a:r>
          </a:p>
          <a:p>
            <a:pPr marL="228600" indent="-228600">
              <a:spcAft>
                <a:spcPts val="700"/>
              </a:spcAft>
              <a:buChar char="•"/>
            </a:pPr>
            <a:r>
              <a:rPr sz="1250" b="1">
                <a:solidFill>
                  <a:srgbClr val="FFFFFF"/>
                </a:solidFill>
              </a:rPr>
              <a:t>Never edit it locally. </a:t>
            </a:r>
            <a:r>
              <a:rPr sz="1250" b="0">
                <a:solidFill>
                  <a:srgbClr val="FFFFFF"/>
                </a:solidFill>
              </a:rPr>
              <a:t>Flag a conflict to the owner</a:t>
            </a:r>
          </a:p>
          <a:p>
            <a:pPr marL="228600" indent="-228600">
              <a:spcAft>
                <a:spcPts val="700"/>
              </a:spcAft>
              <a:buChar char="•"/>
            </a:pPr>
            <a:r>
              <a:rPr sz="1250" b="1">
                <a:solidFill>
                  <a:srgbClr val="FFFFFF"/>
                </a:solidFill>
              </a:rPr>
              <a:t>If your repo disagrees, </a:t>
            </a:r>
            <a:r>
              <a:rPr sz="1250" b="0">
                <a:solidFill>
                  <a:srgbClr val="FFFFFF"/>
                </a:solidFill>
              </a:rPr>
              <a:t>your repo is out of date. Sync it</a:t>
            </a:r>
          </a:p>
        </p:txBody>
      </p:sp>
      <p:graphicFrame>
        <p:nvGraphicFramePr>
          <p:cNvPr id="1004" name="Table 1003"/>
          <p:cNvGraphicFramePr>
            <a:graphicFrameLocks noGrp="1"/>
          </p:cNvGraphicFramePr>
          <p:nvPr/>
        </p:nvGraphicFramePr>
        <p:xfrm>
          <a:off x="4983480" y="1783080"/>
          <a:ext cx="6656832" cy="3584448"/>
        </p:xfrm>
        <a:graphic>
          <a:graphicData uri="http://schemas.openxmlformats.org/drawingml/2006/table">
            <a:tbl>
              <a:tblPr>
                <a:tableStyleId>{2D5ABB26-0587-4C30-8999-92F81FD0307C}</a:tableStyleId>
              </a:tblPr>
              <a:tblGrid>
                <a:gridCol w="2148840">
                  <a:extLst>
                    <a:ext uri="{9D8B030D-6E8A-4147-A177-3AD203B41FA5}">
                      <a16:colId xmlns:a16="http://schemas.microsoft.com/office/drawing/2014/main" val="20000"/>
                    </a:ext>
                  </a:extLst>
                </a:gridCol>
                <a:gridCol w="4507992">
                  <a:extLst>
                    <a:ext uri="{9D8B030D-6E8A-4147-A177-3AD203B41FA5}">
                      <a16:colId xmlns:a16="http://schemas.microsoft.com/office/drawing/2014/main" val="20001"/>
                    </a:ext>
                  </a:extLst>
                </a:gridCol>
              </a:tblGrid>
              <a:tr h="512064">
                <a:tc>
                  <a:txBody>
                    <a:bodyPr/>
                    <a:lstStyle/>
                    <a:p>
                      <a:r>
                        <a:rPr sz="1100" b="1" spc="100">
                          <a:solidFill>
                            <a:srgbClr val="FFFFFF"/>
                          </a:solidFill>
                        </a:rPr>
                        <a:t>SKILL</a:t>
                      </a:r>
                    </a:p>
                  </a:txBody>
                  <a:tcPr marL="109728" marR="109728" anchor="ctr">
                    <a:solidFill>
                      <a:srgbClr val="0B1F3A"/>
                    </a:solidFill>
                  </a:tcPr>
                </a:tc>
                <a:tc>
                  <a:txBody>
                    <a:bodyPr/>
                    <a:lstStyle/>
                    <a:p>
                      <a:r>
                        <a:rPr sz="1100" b="1" spc="100">
                          <a:solidFill>
                            <a:srgbClr val="FFFFFF"/>
                          </a:solidFill>
                        </a:rPr>
                        <a:t>WHEN YOU REACH FOR IT</a:t>
                      </a:r>
                    </a:p>
                  </a:txBody>
                  <a:tcPr marL="109728" marR="109728" anchor="ctr">
                    <a:solidFill>
                      <a:srgbClr val="0B1F3A"/>
                    </a:solidFill>
                  </a:tcPr>
                </a:tc>
                <a:extLst>
                  <a:ext uri="{0D108BD9-81ED-4DB2-BD59-A6C34878D82A}">
                    <a16:rowId xmlns:a16="http://schemas.microsoft.com/office/drawing/2014/main" val="10000"/>
                  </a:ext>
                </a:extLst>
              </a:tr>
              <a:tr h="512064">
                <a:tc>
                  <a:txBody>
                    <a:bodyPr/>
                    <a:lstStyle/>
                    <a:p>
                      <a:r>
                        <a:rPr sz="1200" b="1">
                          <a:solidFill>
                            <a:srgbClr val="0B1F3A"/>
                          </a:solidFill>
                        </a:rPr>
                        <a:t>/tdmi:upsize</a:t>
                      </a:r>
                    </a:p>
                  </a:txBody>
                  <a:tcPr marL="109728" marR="109728" anchor="ctr">
                    <a:solidFill>
                      <a:srgbClr val="EEF3FB"/>
                    </a:solidFill>
                  </a:tcPr>
                </a:tc>
                <a:tc>
                  <a:txBody>
                    <a:bodyPr/>
                    <a:lstStyle/>
                    <a:p>
                      <a:r>
                        <a:rPr sz="1200" b="0">
                          <a:solidFill>
                            <a:srgbClr val="0B1F3A"/>
                          </a:solidFill>
                        </a:rPr>
                        <a:t>A model was accepted and the real build is starting</a:t>
                      </a:r>
                    </a:p>
                  </a:txBody>
                  <a:tcPr marL="109728" marR="109728" anchor="ctr">
                    <a:solidFill>
                      <a:srgbClr val="EEF3FB"/>
                    </a:solidFill>
                  </a:tcPr>
                </a:tc>
                <a:extLst>
                  <a:ext uri="{0D108BD9-81ED-4DB2-BD59-A6C34878D82A}">
                    <a16:rowId xmlns:a16="http://schemas.microsoft.com/office/drawing/2014/main" val="10001"/>
                  </a:ext>
                </a:extLst>
              </a:tr>
              <a:tr h="512064">
                <a:tc>
                  <a:txBody>
                    <a:bodyPr/>
                    <a:lstStyle/>
                    <a:p>
                      <a:r>
                        <a:rPr sz="1200" b="1">
                          <a:solidFill>
                            <a:srgbClr val="0B1F3A"/>
                          </a:solidFill>
                        </a:rPr>
                        <a:t>/tdmi:repo-setup</a:t>
                      </a:r>
                    </a:p>
                  </a:txBody>
                  <a:tcPr marL="109728" marR="109728" anchor="ctr">
                    <a:solidFill>
                      <a:srgbClr val="FFFFFF"/>
                    </a:solidFill>
                  </a:tcPr>
                </a:tc>
                <a:tc>
                  <a:txBody>
                    <a:bodyPr/>
                    <a:lstStyle/>
                    <a:p>
                      <a:r>
                        <a:rPr sz="1200" b="0">
                          <a:solidFill>
                            <a:srgbClr val="0B1F3A"/>
                          </a:solidFill>
                        </a:rPr>
                        <a:t>A repo, new or existing, needs bringing up to the standard</a:t>
                      </a:r>
                    </a:p>
                  </a:txBody>
                  <a:tcPr marL="109728" marR="109728" anchor="ctr">
                    <a:solidFill>
                      <a:srgbClr val="FFFFFF"/>
                    </a:solidFill>
                  </a:tcPr>
                </a:tc>
                <a:extLst>
                  <a:ext uri="{0D108BD9-81ED-4DB2-BD59-A6C34878D82A}">
                    <a16:rowId xmlns:a16="http://schemas.microsoft.com/office/drawing/2014/main" val="10002"/>
                  </a:ext>
                </a:extLst>
              </a:tr>
              <a:tr h="512064">
                <a:tc>
                  <a:txBody>
                    <a:bodyPr/>
                    <a:lstStyle/>
                    <a:p>
                      <a:r>
                        <a:rPr sz="1200" b="1">
                          <a:solidFill>
                            <a:srgbClr val="0B1F3A"/>
                          </a:solidFill>
                        </a:rPr>
                        <a:t>/tdmi:canon-sync</a:t>
                      </a:r>
                    </a:p>
                  </a:txBody>
                  <a:tcPr marL="109728" marR="109728" anchor="ctr">
                    <a:solidFill>
                      <a:srgbClr val="EEF3FB"/>
                    </a:solidFill>
                  </a:tcPr>
                </a:tc>
                <a:tc>
                  <a:txBody>
                    <a:bodyPr/>
                    <a:lstStyle/>
                    <a:p>
                      <a:r>
                        <a:rPr sz="1200" b="0">
                          <a:solidFill>
                            <a:srgbClr val="0B1F3A"/>
                          </a:solidFill>
                        </a:rPr>
                        <a:t>The rules set is missing or out of date</a:t>
                      </a:r>
                    </a:p>
                  </a:txBody>
                  <a:tcPr marL="109728" marR="109728" anchor="ctr">
                    <a:solidFill>
                      <a:srgbClr val="EEF3FB"/>
                    </a:solidFill>
                  </a:tcPr>
                </a:tc>
                <a:extLst>
                  <a:ext uri="{0D108BD9-81ED-4DB2-BD59-A6C34878D82A}">
                    <a16:rowId xmlns:a16="http://schemas.microsoft.com/office/drawing/2014/main" val="10003"/>
                  </a:ext>
                </a:extLst>
              </a:tr>
              <a:tr h="512064">
                <a:tc>
                  <a:txBody>
                    <a:bodyPr/>
                    <a:lstStyle/>
                    <a:p>
                      <a:r>
                        <a:rPr sz="1200" b="1">
                          <a:solidFill>
                            <a:srgbClr val="0B1F3A"/>
                          </a:solidFill>
                        </a:rPr>
                        <a:t>/tdmi:sql-onboard</a:t>
                      </a:r>
                    </a:p>
                  </a:txBody>
                  <a:tcPr marL="109728" marR="109728" anchor="ctr">
                    <a:solidFill>
                      <a:srgbClr val="FFFFFF"/>
                    </a:solidFill>
                  </a:tcPr>
                </a:tc>
                <a:tc>
                  <a:txBody>
                    <a:bodyPr/>
                    <a:lstStyle/>
                    <a:p>
                      <a:r>
                        <a:rPr sz="1200" b="0">
                          <a:solidFill>
                            <a:srgbClr val="0B1F3A"/>
                          </a:solidFill>
                        </a:rPr>
                        <a:t>The app needs a database on a shared server</a:t>
                      </a:r>
                    </a:p>
                  </a:txBody>
                  <a:tcPr marL="109728" marR="109728" anchor="ctr">
                    <a:solidFill>
                      <a:srgbClr val="FFFFFF"/>
                    </a:solidFill>
                  </a:tcPr>
                </a:tc>
                <a:extLst>
                  <a:ext uri="{0D108BD9-81ED-4DB2-BD59-A6C34878D82A}">
                    <a16:rowId xmlns:a16="http://schemas.microsoft.com/office/drawing/2014/main" val="10004"/>
                  </a:ext>
                </a:extLst>
              </a:tr>
              <a:tr h="512064">
                <a:tc>
                  <a:txBody>
                    <a:bodyPr/>
                    <a:lstStyle/>
                    <a:p>
                      <a:r>
                        <a:rPr sz="1200" b="1">
                          <a:solidFill>
                            <a:srgbClr val="0B1F3A"/>
                          </a:solidFill>
                        </a:rPr>
                        <a:t>/tdmi:release-cut</a:t>
                      </a:r>
                    </a:p>
                  </a:txBody>
                  <a:tcPr marL="109728" marR="109728" anchor="ctr">
                    <a:solidFill>
                      <a:srgbClr val="EEF3FB"/>
                    </a:solidFill>
                  </a:tcPr>
                </a:tc>
                <a:tc>
                  <a:txBody>
                    <a:bodyPr/>
                    <a:lstStyle/>
                    <a:p>
                      <a:r>
                        <a:rPr sz="1200" b="0">
                          <a:solidFill>
                            <a:srgbClr val="0B1F3A"/>
                          </a:solidFill>
                        </a:rPr>
                        <a:t>You are cutting a release across a repo pair</a:t>
                      </a:r>
                    </a:p>
                  </a:txBody>
                  <a:tcPr marL="109728" marR="109728" anchor="ctr">
                    <a:solidFill>
                      <a:srgbClr val="EEF3FB"/>
                    </a:solidFill>
                  </a:tcPr>
                </a:tc>
                <a:extLst>
                  <a:ext uri="{0D108BD9-81ED-4DB2-BD59-A6C34878D82A}">
                    <a16:rowId xmlns:a16="http://schemas.microsoft.com/office/drawing/2014/main" val="10005"/>
                  </a:ext>
                </a:extLst>
              </a:tr>
              <a:tr h="512064">
                <a:tc>
                  <a:txBody>
                    <a:bodyPr/>
                    <a:lstStyle/>
                    <a:p>
                      <a:r>
                        <a:rPr sz="1200" b="1">
                          <a:solidFill>
                            <a:srgbClr val="0B1F3A"/>
                          </a:solidFill>
                        </a:rPr>
                        <a:t>/tdmi:qtest-adopt</a:t>
                      </a:r>
                    </a:p>
                  </a:txBody>
                  <a:tcPr marL="109728" marR="109728" anchor="ctr">
                    <a:solidFill>
                      <a:srgbClr val="FFFFFF"/>
                    </a:solidFill>
                  </a:tcPr>
                </a:tc>
                <a:tc>
                  <a:txBody>
                    <a:bodyPr/>
                    <a:lstStyle/>
                    <a:p>
                      <a:r>
                        <a:rPr sz="1200" b="0">
                          <a:solidFill>
                            <a:srgbClr val="0B1F3A"/>
                          </a:solidFill>
                        </a:rPr>
                        <a:t>The repo is adopting test management for the first time</a:t>
                      </a:r>
                    </a:p>
                  </a:txBody>
                  <a:tcPr marL="109728" marR="109728" anchor="ctr">
                    <a:solidFill>
                      <a:srgbClr val="FFFFFF"/>
                    </a:solidFill>
                  </a:tcPr>
                </a:tc>
                <a:extLst>
                  <a:ext uri="{0D108BD9-81ED-4DB2-BD59-A6C34878D82A}">
                    <a16:rowId xmlns:a16="http://schemas.microsoft.com/office/drawing/2014/main" val="10006"/>
                  </a:ext>
                </a:extLst>
              </a:tr>
            </a:tbl>
          </a:graphicData>
        </a:graphic>
      </p:graphicFrame>
      <p:sp>
        <p:nvSpPr>
          <p:cNvPr id="1005" name="Rounded Rectangle 1004"/>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TextBox 1005"/>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Install the plugin once from the marketplace, then keep it updated. Stale copies are the problem it exists to fix.</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PART 6 · THE TOOLKIT</a:t>
            </a:r>
          </a:p>
        </p:txBody>
      </p:sp>
      <p:sp>
        <p:nvSpPr>
          <p:cNvPr id="3" name="Title 2"/>
          <p:cNvSpPr>
            <a:spLocks noGrp="1"/>
          </p:cNvSpPr>
          <p:nvPr>
            <p:ph type="title" idx="101"/>
          </p:nvPr>
        </p:nvSpPr>
        <p:spPr/>
        <p:txBody>
          <a:bodyPr/>
          <a:lstStyle/>
          <a:p>
            <a:pPr algn="l"/>
            <a:r>
              <a:t>The guard checks every command before it runs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20</a:t>
            </a:fld>
            <a:endParaRPr lang="en-US" b="0"/>
          </a:p>
        </p:txBody>
      </p:sp>
      <p:graphicFrame>
        <p:nvGraphicFramePr>
          <p:cNvPr id="1000" name="Table 999"/>
          <p:cNvGraphicFramePr>
            <a:graphicFrameLocks noGrp="1"/>
          </p:cNvGraphicFramePr>
          <p:nvPr/>
        </p:nvGraphicFramePr>
        <p:xfrm>
          <a:off x="548640" y="1783080"/>
          <a:ext cx="6766560" cy="3520440"/>
        </p:xfrm>
        <a:graphic>
          <a:graphicData uri="http://schemas.openxmlformats.org/drawingml/2006/table">
            <a:tbl>
              <a:tblPr>
                <a:tableStyleId>{2D5ABB26-0587-4C30-8999-92F81FD0307C}</a:tableStyleId>
              </a:tblPr>
              <a:tblGrid>
                <a:gridCol w="45720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502920">
                <a:tc>
                  <a:txBody>
                    <a:bodyPr/>
                    <a:lstStyle/>
                    <a:p>
                      <a:r>
                        <a:rPr sz="1100" b="1" spc="100">
                          <a:solidFill>
                            <a:srgbClr val="FFFFFF"/>
                          </a:solidFill>
                        </a:rPr>
                        <a:t>RULE</a:t>
                      </a:r>
                    </a:p>
                  </a:txBody>
                  <a:tcPr marL="109728" marR="109728" anchor="ctr">
                    <a:solidFill>
                      <a:srgbClr val="0B1F3A"/>
                    </a:solidFill>
                  </a:tcPr>
                </a:tc>
                <a:tc>
                  <a:txBody>
                    <a:bodyPr/>
                    <a:lstStyle/>
                    <a:p>
                      <a:r>
                        <a:rPr sz="1100" b="1" spc="100">
                          <a:solidFill>
                            <a:srgbClr val="FFFFFF"/>
                          </a:solidFill>
                        </a:rPr>
                        <a:t>ACTION</a:t>
                      </a:r>
                    </a:p>
                  </a:txBody>
                  <a:tcPr marL="109728" marR="109728" anchor="ctr">
                    <a:solidFill>
                      <a:srgbClr val="0B1F3A"/>
                    </a:solidFill>
                  </a:tcPr>
                </a:tc>
                <a:extLst>
                  <a:ext uri="{0D108BD9-81ED-4DB2-BD59-A6C34878D82A}">
                    <a16:rowId xmlns:a16="http://schemas.microsoft.com/office/drawing/2014/main" val="10000"/>
                  </a:ext>
                </a:extLst>
              </a:tr>
              <a:tr h="502920">
                <a:tc>
                  <a:txBody>
                    <a:bodyPr/>
                    <a:lstStyle/>
                    <a:p>
                      <a:r>
                        <a:rPr sz="1250" b="1">
                          <a:solidFill>
                            <a:srgbClr val="0B1F3A"/>
                          </a:solidFill>
                        </a:rPr>
                        <a:t>A command carrying a PROD identifier</a:t>
                      </a:r>
                    </a:p>
                  </a:txBody>
                  <a:tcPr marL="109728" marR="109728" anchor="ctr">
                    <a:solidFill>
                      <a:srgbClr val="EEF3FB"/>
                    </a:solidFill>
                  </a:tcPr>
                </a:tc>
                <a:tc>
                  <a:txBody>
                    <a:bodyPr/>
                    <a:lstStyle/>
                    <a:p>
                      <a:r>
                        <a:rPr sz="1250" b="0">
                          <a:solidFill>
                            <a:srgbClr val="0B1F3A"/>
                          </a:solidFill>
                        </a:rPr>
                        <a:t>Ask</a:t>
                      </a:r>
                    </a:p>
                  </a:txBody>
                  <a:tcPr marL="109728" marR="109728" anchor="ctr">
                    <a:solidFill>
                      <a:srgbClr val="EEF3FB"/>
                    </a:solidFill>
                  </a:tcPr>
                </a:tc>
                <a:extLst>
                  <a:ext uri="{0D108BD9-81ED-4DB2-BD59-A6C34878D82A}">
                    <a16:rowId xmlns:a16="http://schemas.microsoft.com/office/drawing/2014/main" val="10001"/>
                  </a:ext>
                </a:extLst>
              </a:tr>
              <a:tr h="502920">
                <a:tc>
                  <a:txBody>
                    <a:bodyPr/>
                    <a:lstStyle/>
                    <a:p>
                      <a:r>
                        <a:rPr sz="1250" b="1">
                          <a:solidFill>
                            <a:srgbClr val="0B1F3A"/>
                          </a:solidFill>
                        </a:rPr>
                        <a:t>A command that could make a resource reachable anonymously</a:t>
                      </a:r>
                    </a:p>
                  </a:txBody>
                  <a:tcPr marL="109728" marR="109728" anchor="ctr">
                    <a:solidFill>
                      <a:srgbClr val="FFFFFF"/>
                    </a:solidFill>
                  </a:tcPr>
                </a:tc>
                <a:tc>
                  <a:txBody>
                    <a:bodyPr/>
                    <a:lstStyle/>
                    <a:p>
                      <a:r>
                        <a:rPr sz="1250" b="0">
                          <a:solidFill>
                            <a:srgbClr val="0B1F3A"/>
                          </a:solidFill>
                        </a:rPr>
                        <a:t>Ask</a:t>
                      </a:r>
                    </a:p>
                  </a:txBody>
                  <a:tcPr marL="109728" marR="109728" anchor="ctr">
                    <a:solidFill>
                      <a:srgbClr val="FFFFFF"/>
                    </a:solidFill>
                  </a:tcPr>
                </a:tc>
                <a:extLst>
                  <a:ext uri="{0D108BD9-81ED-4DB2-BD59-A6C34878D82A}">
                    <a16:rowId xmlns:a16="http://schemas.microsoft.com/office/drawing/2014/main" val="10002"/>
                  </a:ext>
                </a:extLst>
              </a:tr>
              <a:tr h="502920">
                <a:tc>
                  <a:txBody>
                    <a:bodyPr/>
                    <a:lstStyle/>
                    <a:p>
                      <a:r>
                        <a:rPr sz="1250" b="1">
                          <a:solidFill>
                            <a:srgbClr val="0B1F3A"/>
                          </a:solidFill>
                        </a:rPr>
                        <a:t>An offensive security-testing tool</a:t>
                      </a:r>
                    </a:p>
                  </a:txBody>
                  <a:tcPr marL="109728" marR="109728" anchor="ctr">
                    <a:solidFill>
                      <a:srgbClr val="EEF3FB"/>
                    </a:solidFill>
                  </a:tcPr>
                </a:tc>
                <a:tc>
                  <a:txBody>
                    <a:bodyPr/>
                    <a:lstStyle/>
                    <a:p>
                      <a:r>
                        <a:rPr sz="1250" b="0">
                          <a:solidFill>
                            <a:srgbClr val="0B1F3A"/>
                          </a:solidFill>
                        </a:rPr>
                        <a:t>Block</a:t>
                      </a:r>
                    </a:p>
                  </a:txBody>
                  <a:tcPr marL="109728" marR="109728" anchor="ctr">
                    <a:solidFill>
                      <a:srgbClr val="EEF3FB"/>
                    </a:solidFill>
                  </a:tcPr>
                </a:tc>
                <a:extLst>
                  <a:ext uri="{0D108BD9-81ED-4DB2-BD59-A6C34878D82A}">
                    <a16:rowId xmlns:a16="http://schemas.microsoft.com/office/drawing/2014/main" val="10003"/>
                  </a:ext>
                </a:extLst>
              </a:tr>
              <a:tr h="502920">
                <a:tc>
                  <a:txBody>
                    <a:bodyPr/>
                    <a:lstStyle/>
                    <a:p>
                      <a:r>
                        <a:rPr sz="1250" b="1">
                          <a:solidFill>
                            <a:srgbClr val="0B1F3A"/>
                          </a:solidFill>
                        </a:rPr>
                        <a:t>pip install</a:t>
                      </a:r>
                    </a:p>
                  </a:txBody>
                  <a:tcPr marL="109728" marR="109728" anchor="ctr">
                    <a:solidFill>
                      <a:srgbClr val="FFFFFF"/>
                    </a:solidFill>
                  </a:tcPr>
                </a:tc>
                <a:tc>
                  <a:txBody>
                    <a:bodyPr/>
                    <a:lstStyle/>
                    <a:p>
                      <a:r>
                        <a:rPr sz="1250" b="0">
                          <a:solidFill>
                            <a:srgbClr val="0B1F3A"/>
                          </a:solidFill>
                        </a:rPr>
                        <a:t>Block, and suggest uv</a:t>
                      </a:r>
                    </a:p>
                  </a:txBody>
                  <a:tcPr marL="109728" marR="109728" anchor="ctr">
                    <a:solidFill>
                      <a:srgbClr val="FFFFFF"/>
                    </a:solidFill>
                  </a:tcPr>
                </a:tc>
                <a:extLst>
                  <a:ext uri="{0D108BD9-81ED-4DB2-BD59-A6C34878D82A}">
                    <a16:rowId xmlns:a16="http://schemas.microsoft.com/office/drawing/2014/main" val="10004"/>
                  </a:ext>
                </a:extLst>
              </a:tr>
              <a:tr h="502920">
                <a:tc>
                  <a:txBody>
                    <a:bodyPr/>
                    <a:lstStyle/>
                    <a:p>
                      <a:r>
                        <a:rPr sz="1250" b="1">
                          <a:solidFill>
                            <a:srgbClr val="0B1F3A"/>
                          </a:solidFill>
                        </a:rPr>
                        <a:t>A write to the org rules set outside the canon repository</a:t>
                      </a:r>
                    </a:p>
                  </a:txBody>
                  <a:tcPr marL="109728" marR="109728" anchor="ctr">
                    <a:solidFill>
                      <a:srgbClr val="EEF3FB"/>
                    </a:solidFill>
                  </a:tcPr>
                </a:tc>
                <a:tc>
                  <a:txBody>
                    <a:bodyPr/>
                    <a:lstStyle/>
                    <a:p>
                      <a:r>
                        <a:rPr sz="1250" b="0">
                          <a:solidFill>
                            <a:srgbClr val="0B1F3A"/>
                          </a:solidFill>
                        </a:rPr>
                        <a:t>Block</a:t>
                      </a:r>
                    </a:p>
                  </a:txBody>
                  <a:tcPr marL="109728" marR="109728" anchor="ctr">
                    <a:solidFill>
                      <a:srgbClr val="EEF3FB"/>
                    </a:solidFill>
                  </a:tcPr>
                </a:tc>
                <a:extLst>
                  <a:ext uri="{0D108BD9-81ED-4DB2-BD59-A6C34878D82A}">
                    <a16:rowId xmlns:a16="http://schemas.microsoft.com/office/drawing/2014/main" val="10005"/>
                  </a:ext>
                </a:extLst>
              </a:tr>
              <a:tr h="502920">
                <a:tc>
                  <a:txBody>
                    <a:bodyPr/>
                    <a:lstStyle/>
                    <a:p>
                      <a:r>
                        <a:rPr sz="1250" b="1">
                          <a:solidFill>
                            <a:srgbClr val="0B1F3A"/>
                          </a:solidFill>
                        </a:rPr>
                        <a:t>A force push to a protected branch</a:t>
                      </a:r>
                    </a:p>
                  </a:txBody>
                  <a:tcPr marL="109728" marR="109728" anchor="ctr">
                    <a:solidFill>
                      <a:srgbClr val="FFFFFF"/>
                    </a:solidFill>
                  </a:tcPr>
                </a:tc>
                <a:tc>
                  <a:txBody>
                    <a:bodyPr/>
                    <a:lstStyle/>
                    <a:p>
                      <a:r>
                        <a:rPr sz="1250" b="0">
                          <a:solidFill>
                            <a:srgbClr val="0B1F3A"/>
                          </a:solidFill>
                        </a:rPr>
                        <a:t>Block</a:t>
                      </a:r>
                    </a:p>
                  </a:txBody>
                  <a:tcPr marL="109728" marR="109728" anchor="ctr">
                    <a:solidFill>
                      <a:srgbClr val="FFFFFF"/>
                    </a:solidFill>
                  </a:tcPr>
                </a:tc>
                <a:extLst>
                  <a:ext uri="{0D108BD9-81ED-4DB2-BD59-A6C34878D82A}">
                    <a16:rowId xmlns:a16="http://schemas.microsoft.com/office/drawing/2014/main" val="10006"/>
                  </a:ext>
                </a:extLst>
              </a:tr>
            </a:tbl>
          </a:graphicData>
        </a:graphic>
      </p:graphicFrame>
      <p:sp>
        <p:nvSpPr>
          <p:cNvPr id="1001" name="Rounded Rectangle 1000"/>
          <p:cNvSpPr/>
          <p:nvPr/>
        </p:nvSpPr>
        <p:spPr>
          <a:xfrm>
            <a:off x="7543800" y="1783080"/>
            <a:ext cx="4096512" cy="16916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772400" y="1920240"/>
            <a:ext cx="3657600" cy="228600"/>
          </a:xfrm>
          <a:prstGeom prst="rect">
            <a:avLst/>
          </a:prstGeom>
          <a:noFill/>
        </p:spPr>
        <p:txBody>
          <a:bodyPr wrap="square" lIns="0" tIns="0" rIns="0" bIns="0" anchor="t">
            <a:spAutoFit/>
          </a:bodyPr>
          <a:lstStyle/>
          <a:p>
            <a:r>
              <a:rPr sz="1000" b="1" i="0" spc="200">
                <a:solidFill>
                  <a:srgbClr val="00A3A1"/>
                </a:solidFill>
              </a:rPr>
              <a:t>WHAT IT IS</a:t>
            </a:r>
          </a:p>
        </p:txBody>
      </p:sp>
      <p:sp>
        <p:nvSpPr>
          <p:cNvPr id="1003" name="TextBox 1002"/>
          <p:cNvSpPr txBox="1"/>
          <p:nvPr/>
        </p:nvSpPr>
        <p:spPr>
          <a:xfrm>
            <a:off x="7772400" y="2194560"/>
            <a:ext cx="3657600" cy="1234440"/>
          </a:xfrm>
          <a:prstGeom prst="rect">
            <a:avLst/>
          </a:prstGeom>
          <a:noFill/>
        </p:spPr>
        <p:txBody>
          <a:bodyPr wrap="square" lIns="0" tIns="0" rIns="0" bIns="0" anchor="t">
            <a:spAutoFit/>
          </a:bodyPr>
          <a:lstStyle/>
          <a:p>
            <a:r>
              <a:rPr sz="1300" b="0" i="0">
                <a:solidFill>
                  <a:srgbClr val="0B1F3A"/>
                </a:solidFill>
              </a:rPr>
              <a:t>A guard against mistakes. It catches the tired 6pm command that would have touched production.</a:t>
            </a:r>
          </a:p>
        </p:txBody>
      </p:sp>
      <p:sp>
        <p:nvSpPr>
          <p:cNvPr id="1004" name="Rounded Rectangle 1003"/>
          <p:cNvSpPr/>
          <p:nvPr/>
        </p:nvSpPr>
        <p:spPr>
          <a:xfrm>
            <a:off x="7543800" y="3611880"/>
            <a:ext cx="4096512" cy="1783080"/>
          </a:xfrm>
          <a:prstGeom prst="roundRect">
            <a:avLst>
              <a:gd name="adj" fmla="val 5000"/>
            </a:avLst>
          </a:prstGeom>
          <a:solidFill>
            <a:srgbClr val="FDF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TextBox 1004"/>
          <p:cNvSpPr txBox="1"/>
          <p:nvPr/>
        </p:nvSpPr>
        <p:spPr>
          <a:xfrm>
            <a:off x="7772400" y="3749039"/>
            <a:ext cx="3657600" cy="228600"/>
          </a:xfrm>
          <a:prstGeom prst="rect">
            <a:avLst/>
          </a:prstGeom>
          <a:noFill/>
        </p:spPr>
        <p:txBody>
          <a:bodyPr wrap="square" lIns="0" tIns="0" rIns="0" bIns="0" anchor="t">
            <a:spAutoFit/>
          </a:bodyPr>
          <a:lstStyle/>
          <a:p>
            <a:r>
              <a:rPr sz="1000" b="1" i="0" spc="200">
                <a:solidFill>
                  <a:srgbClr val="B5651D"/>
                </a:solidFill>
              </a:rPr>
              <a:t>WHAT IT IS NOT</a:t>
            </a:r>
          </a:p>
        </p:txBody>
      </p:sp>
      <p:sp>
        <p:nvSpPr>
          <p:cNvPr id="1006" name="TextBox 1005"/>
          <p:cNvSpPr txBox="1"/>
          <p:nvPr/>
        </p:nvSpPr>
        <p:spPr>
          <a:xfrm>
            <a:off x="7772400" y="4023360"/>
            <a:ext cx="3657600" cy="1325880"/>
          </a:xfrm>
          <a:prstGeom prst="rect">
            <a:avLst/>
          </a:prstGeom>
          <a:noFill/>
        </p:spPr>
        <p:txBody>
          <a:bodyPr wrap="square" lIns="0" tIns="0" rIns="0" bIns="0" anchor="t">
            <a:spAutoFit/>
          </a:bodyPr>
          <a:lstStyle/>
          <a:p>
            <a:r>
              <a:rPr sz="1300" b="0" i="0">
                <a:solidFill>
                  <a:srgbClr val="0B1F3A"/>
                </a:solidFill>
              </a:rPr>
              <a:t>A security boundary. The plugin can be disabled, and a hook reads a command string; it cannot prove intent. Platform security stays with Enterprise Technology.</a:t>
            </a:r>
          </a:p>
        </p:txBody>
      </p:sp>
      <p:sp>
        <p:nvSpPr>
          <p:cNvPr id="1007" name="Rounded Rectangle 1006"/>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A control trusted beyond its reach is worse than none, because everyone stops looking.</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EXERCISE 8 · PART 6</a:t>
            </a:r>
          </a:p>
        </p:txBody>
      </p:sp>
      <p:sp>
        <p:nvSpPr>
          <p:cNvPr id="3" name="Title 2"/>
          <p:cNvSpPr>
            <a:spLocks noGrp="1"/>
          </p:cNvSpPr>
          <p:nvPr>
            <p:ph type="title" idx="101"/>
          </p:nvPr>
        </p:nvSpPr>
        <p:spPr/>
        <p:txBody>
          <a:bodyPr/>
          <a:lstStyle/>
          <a:p>
            <a:pPr algn="l"/>
            <a:r>
              <a:t>Exercise 8: run the gate review</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21</a:t>
            </a:fld>
            <a:endParaRPr lang="en-US" b="0"/>
          </a:p>
        </p:txBody>
      </p:sp>
      <p:sp>
        <p:nvSpPr>
          <p:cNvPr id="1000" name="TextBox 999"/>
          <p:cNvSpPr txBox="1"/>
          <p:nvPr/>
        </p:nvSpPr>
        <p:spPr>
          <a:xfrm>
            <a:off x="548640" y="1645920"/>
            <a:ext cx="11064240" cy="365760"/>
          </a:xfrm>
          <a:prstGeom prst="rect">
            <a:avLst/>
          </a:prstGeom>
          <a:noFill/>
        </p:spPr>
        <p:txBody>
          <a:bodyPr wrap="square" lIns="0" tIns="0" rIns="0" bIns="0" anchor="t">
            <a:spAutoFit/>
          </a:bodyPr>
          <a:lstStyle/>
          <a:p>
            <a:r>
              <a:rPr sz="1300" b="1" i="0">
                <a:solidFill>
                  <a:srgbClr val="0B1F3A"/>
                </a:solidFill>
              </a:rPr>
              <a:t>HANDS-ON · 25 MIN    </a:t>
            </a:r>
            <a:r>
              <a:rPr sz="1300" b="0" i="0">
                <a:solidFill>
                  <a:srgbClr val="0B1F3A"/>
                </a:solidFill>
              </a:rPr>
              <a:t>The Day Two lab app is heading to production. For each situation, name the gate or rail, and decide: pass, hold or send back. Who acts next?</a:t>
            </a:r>
          </a:p>
        </p:txBody>
      </p:sp>
      <p:sp>
        <p:nvSpPr>
          <p:cNvPr id="1001" name="Rounded Rectangle 1000"/>
          <p:cNvSpPr/>
          <p:nvPr/>
        </p:nvSpPr>
        <p:spPr>
          <a:xfrm>
            <a:off x="548640" y="2148840"/>
            <a:ext cx="3593592" cy="1508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Rounded Rectangle 1001"/>
          <p:cNvSpPr/>
          <p:nvPr/>
        </p:nvSpPr>
        <p:spPr>
          <a:xfrm>
            <a:off x="749808" y="233172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749808" y="2331720"/>
            <a:ext cx="457200" cy="457200"/>
          </a:xfrm>
          <a:prstGeom prst="rect">
            <a:avLst/>
          </a:prstGeom>
          <a:noFill/>
        </p:spPr>
        <p:txBody>
          <a:bodyPr wrap="square" lIns="0" tIns="0" rIns="0" bIns="0" anchor="ctr">
            <a:spAutoFit/>
          </a:bodyPr>
          <a:lstStyle/>
          <a:p>
            <a:pPr algn="ctr"/>
            <a:r>
              <a:rPr sz="2000" b="1" i="0">
                <a:solidFill>
                  <a:srgbClr val="FFFFFF"/>
                </a:solidFill>
                <a:latin typeface="+mj-lt"/>
              </a:rPr>
              <a:t>1</a:t>
            </a:r>
          </a:p>
        </p:txBody>
      </p:sp>
      <p:sp>
        <p:nvSpPr>
          <p:cNvPr id="1004" name="TextBox 1003"/>
          <p:cNvSpPr txBox="1"/>
          <p:nvPr/>
        </p:nvSpPr>
        <p:spPr>
          <a:xfrm>
            <a:off x="1371600" y="2313432"/>
            <a:ext cx="2606040" cy="1280160"/>
          </a:xfrm>
          <a:prstGeom prst="rect">
            <a:avLst/>
          </a:prstGeom>
          <a:noFill/>
        </p:spPr>
        <p:txBody>
          <a:bodyPr wrap="square" lIns="0" tIns="0" rIns="0" bIns="0" anchor="t">
            <a:spAutoFit/>
          </a:bodyPr>
          <a:lstStyle/>
          <a:p>
            <a:r>
              <a:rPr sz="1250" b="0" i="0">
                <a:solidFill>
                  <a:srgbClr val="0B1F3A"/>
                </a:solidFill>
              </a:rPr>
              <a:t>The model charter still lists one open question: should unmapped ad units block the run or only warn?</a:t>
            </a:r>
          </a:p>
        </p:txBody>
      </p:sp>
      <p:sp>
        <p:nvSpPr>
          <p:cNvPr id="1005" name="Rounded Rectangle 1004"/>
          <p:cNvSpPr/>
          <p:nvPr/>
        </p:nvSpPr>
        <p:spPr>
          <a:xfrm>
            <a:off x="4297679" y="2148840"/>
            <a:ext cx="3593592" cy="1508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Rounded Rectangle 1005"/>
          <p:cNvSpPr/>
          <p:nvPr/>
        </p:nvSpPr>
        <p:spPr>
          <a:xfrm>
            <a:off x="4498847" y="233172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4498847" y="2331720"/>
            <a:ext cx="457200" cy="457200"/>
          </a:xfrm>
          <a:prstGeom prst="rect">
            <a:avLst/>
          </a:prstGeom>
          <a:noFill/>
        </p:spPr>
        <p:txBody>
          <a:bodyPr wrap="square" lIns="0" tIns="0" rIns="0" bIns="0" anchor="ctr">
            <a:spAutoFit/>
          </a:bodyPr>
          <a:lstStyle/>
          <a:p>
            <a:pPr algn="ctr"/>
            <a:r>
              <a:rPr sz="2000" b="1" i="0">
                <a:solidFill>
                  <a:srgbClr val="FFFFFF"/>
                </a:solidFill>
                <a:latin typeface="+mj-lt"/>
              </a:rPr>
              <a:t>2</a:t>
            </a:r>
          </a:p>
        </p:txBody>
      </p:sp>
      <p:sp>
        <p:nvSpPr>
          <p:cNvPr id="1008" name="TextBox 1007"/>
          <p:cNvSpPr txBox="1"/>
          <p:nvPr/>
        </p:nvSpPr>
        <p:spPr>
          <a:xfrm>
            <a:off x="5120640" y="2313432"/>
            <a:ext cx="2606040" cy="1280160"/>
          </a:xfrm>
          <a:prstGeom prst="rect">
            <a:avLst/>
          </a:prstGeom>
          <a:noFill/>
        </p:spPr>
        <p:txBody>
          <a:bodyPr wrap="square" lIns="0" tIns="0" rIns="0" bIns="0" anchor="t">
            <a:spAutoFit/>
          </a:bodyPr>
          <a:lstStyle/>
          <a:p>
            <a:r>
              <a:rPr sz="1250" b="0" i="0">
                <a:solidFill>
                  <a:srgbClr val="0B1F3A"/>
                </a:solidFill>
              </a:rPr>
              <a:t>The DEV pipeline is green, but the app URL returns a default placeholder page.</a:t>
            </a:r>
          </a:p>
        </p:txBody>
      </p:sp>
      <p:sp>
        <p:nvSpPr>
          <p:cNvPr id="1009" name="Rounded Rectangle 1008"/>
          <p:cNvSpPr/>
          <p:nvPr/>
        </p:nvSpPr>
        <p:spPr>
          <a:xfrm>
            <a:off x="8046719" y="2148840"/>
            <a:ext cx="3593592" cy="1508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0" name="Rounded Rectangle 1009"/>
          <p:cNvSpPr/>
          <p:nvPr/>
        </p:nvSpPr>
        <p:spPr>
          <a:xfrm>
            <a:off x="8247888" y="233172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TextBox 1010"/>
          <p:cNvSpPr txBox="1"/>
          <p:nvPr/>
        </p:nvSpPr>
        <p:spPr>
          <a:xfrm>
            <a:off x="8247888" y="2331720"/>
            <a:ext cx="457200" cy="457200"/>
          </a:xfrm>
          <a:prstGeom prst="rect">
            <a:avLst/>
          </a:prstGeom>
          <a:noFill/>
        </p:spPr>
        <p:txBody>
          <a:bodyPr wrap="square" lIns="0" tIns="0" rIns="0" bIns="0" anchor="ctr">
            <a:spAutoFit/>
          </a:bodyPr>
          <a:lstStyle/>
          <a:p>
            <a:pPr algn="ctr"/>
            <a:r>
              <a:rPr sz="2000" b="1" i="0">
                <a:solidFill>
                  <a:srgbClr val="FFFFFF"/>
                </a:solidFill>
                <a:latin typeface="+mj-lt"/>
              </a:rPr>
              <a:t>3</a:t>
            </a:r>
          </a:p>
        </p:txBody>
      </p:sp>
      <p:sp>
        <p:nvSpPr>
          <p:cNvPr id="1012" name="TextBox 1011"/>
          <p:cNvSpPr txBox="1"/>
          <p:nvPr/>
        </p:nvSpPr>
        <p:spPr>
          <a:xfrm>
            <a:off x="8869680" y="2313432"/>
            <a:ext cx="2606040" cy="1280160"/>
          </a:xfrm>
          <a:prstGeom prst="rect">
            <a:avLst/>
          </a:prstGeom>
          <a:noFill/>
        </p:spPr>
        <p:txBody>
          <a:bodyPr wrap="square" lIns="0" tIns="0" rIns="0" bIns="0" anchor="t">
            <a:spAutoFit/>
          </a:bodyPr>
          <a:lstStyle/>
          <a:p>
            <a:r>
              <a:rPr sz="1250" b="0" i="0">
                <a:solidFill>
                  <a:srgbClr val="0B1F3A"/>
                </a:solidFill>
              </a:rPr>
              <a:t>It is week six and UAT starts Monday. Nobody has raised ESIS or requested TEST consent.</a:t>
            </a:r>
          </a:p>
        </p:txBody>
      </p:sp>
      <p:sp>
        <p:nvSpPr>
          <p:cNvPr id="1013" name="Rounded Rectangle 1012"/>
          <p:cNvSpPr/>
          <p:nvPr/>
        </p:nvSpPr>
        <p:spPr>
          <a:xfrm>
            <a:off x="548640" y="3794760"/>
            <a:ext cx="3593592" cy="1508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4" name="Rounded Rectangle 1013"/>
          <p:cNvSpPr/>
          <p:nvPr/>
        </p:nvSpPr>
        <p:spPr>
          <a:xfrm>
            <a:off x="749808" y="397764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5" name="TextBox 1014"/>
          <p:cNvSpPr txBox="1"/>
          <p:nvPr/>
        </p:nvSpPr>
        <p:spPr>
          <a:xfrm>
            <a:off x="749808" y="3977640"/>
            <a:ext cx="457200" cy="457200"/>
          </a:xfrm>
          <a:prstGeom prst="rect">
            <a:avLst/>
          </a:prstGeom>
          <a:noFill/>
        </p:spPr>
        <p:txBody>
          <a:bodyPr wrap="square" lIns="0" tIns="0" rIns="0" bIns="0" anchor="ctr">
            <a:spAutoFit/>
          </a:bodyPr>
          <a:lstStyle/>
          <a:p>
            <a:pPr algn="ctr"/>
            <a:r>
              <a:rPr sz="2000" b="1" i="0">
                <a:solidFill>
                  <a:srgbClr val="FFFFFF"/>
                </a:solidFill>
                <a:latin typeface="+mj-lt"/>
              </a:rPr>
              <a:t>4</a:t>
            </a:r>
          </a:p>
        </p:txBody>
      </p:sp>
      <p:sp>
        <p:nvSpPr>
          <p:cNvPr id="1016" name="TextBox 1015"/>
          <p:cNvSpPr txBox="1"/>
          <p:nvPr/>
        </p:nvSpPr>
        <p:spPr>
          <a:xfrm>
            <a:off x="1371600" y="3959352"/>
            <a:ext cx="2606040" cy="1280160"/>
          </a:xfrm>
          <a:prstGeom prst="rect">
            <a:avLst/>
          </a:prstGeom>
          <a:noFill/>
        </p:spPr>
        <p:txBody>
          <a:bodyPr wrap="square" lIns="0" tIns="0" rIns="0" bIns="0" anchor="t">
            <a:spAutoFit/>
          </a:bodyPr>
          <a:lstStyle/>
          <a:p>
            <a:r>
              <a:rPr sz="1250" b="0" i="0">
                <a:solidFill>
                  <a:srgbClr val="0B1F3A"/>
                </a:solidFill>
              </a:rPr>
              <a:t>A notebook in the pull request contains a hardcoded connection string with a password.</a:t>
            </a:r>
          </a:p>
        </p:txBody>
      </p:sp>
      <p:sp>
        <p:nvSpPr>
          <p:cNvPr id="1017" name="Rounded Rectangle 1016"/>
          <p:cNvSpPr/>
          <p:nvPr/>
        </p:nvSpPr>
        <p:spPr>
          <a:xfrm>
            <a:off x="4297679" y="3794760"/>
            <a:ext cx="3593592" cy="1508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Rounded Rectangle 1017"/>
          <p:cNvSpPr/>
          <p:nvPr/>
        </p:nvSpPr>
        <p:spPr>
          <a:xfrm>
            <a:off x="4498847" y="397764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TextBox 1018"/>
          <p:cNvSpPr txBox="1"/>
          <p:nvPr/>
        </p:nvSpPr>
        <p:spPr>
          <a:xfrm>
            <a:off x="4498847" y="3977640"/>
            <a:ext cx="457200" cy="457200"/>
          </a:xfrm>
          <a:prstGeom prst="rect">
            <a:avLst/>
          </a:prstGeom>
          <a:noFill/>
        </p:spPr>
        <p:txBody>
          <a:bodyPr wrap="square" lIns="0" tIns="0" rIns="0" bIns="0" anchor="ctr">
            <a:spAutoFit/>
          </a:bodyPr>
          <a:lstStyle/>
          <a:p>
            <a:pPr algn="ctr"/>
            <a:r>
              <a:rPr sz="2000" b="1" i="0">
                <a:solidFill>
                  <a:srgbClr val="FFFFFF"/>
                </a:solidFill>
                <a:latin typeface="+mj-lt"/>
              </a:rPr>
              <a:t>5</a:t>
            </a:r>
          </a:p>
        </p:txBody>
      </p:sp>
      <p:sp>
        <p:nvSpPr>
          <p:cNvPr id="1020" name="TextBox 1019"/>
          <p:cNvSpPr txBox="1"/>
          <p:nvPr/>
        </p:nvSpPr>
        <p:spPr>
          <a:xfrm>
            <a:off x="5120640" y="3959352"/>
            <a:ext cx="2606040" cy="1280160"/>
          </a:xfrm>
          <a:prstGeom prst="rect">
            <a:avLst/>
          </a:prstGeom>
          <a:noFill/>
        </p:spPr>
        <p:txBody>
          <a:bodyPr wrap="square" lIns="0" tIns="0" rIns="0" bIns="0" anchor="t">
            <a:spAutoFit/>
          </a:bodyPr>
          <a:lstStyle/>
          <a:p>
            <a:r>
              <a:rPr sz="1250" b="0" i="0">
                <a:solidFill>
                  <a:srgbClr val="0B1F3A"/>
                </a:solidFill>
              </a:rPr>
              <a:t>During UAT, a tester corrected a step's wording directly in the test management tool.</a:t>
            </a:r>
          </a:p>
        </p:txBody>
      </p:sp>
      <p:sp>
        <p:nvSpPr>
          <p:cNvPr id="1021" name="Rounded Rectangle 1020"/>
          <p:cNvSpPr/>
          <p:nvPr/>
        </p:nvSpPr>
        <p:spPr>
          <a:xfrm>
            <a:off x="8046719" y="3794760"/>
            <a:ext cx="3593592" cy="1508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Rounded Rectangle 1021"/>
          <p:cNvSpPr/>
          <p:nvPr/>
        </p:nvSpPr>
        <p:spPr>
          <a:xfrm>
            <a:off x="8247888" y="397764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TextBox 1022"/>
          <p:cNvSpPr txBox="1"/>
          <p:nvPr/>
        </p:nvSpPr>
        <p:spPr>
          <a:xfrm>
            <a:off x="8247888" y="3977640"/>
            <a:ext cx="457200" cy="457200"/>
          </a:xfrm>
          <a:prstGeom prst="rect">
            <a:avLst/>
          </a:prstGeom>
          <a:noFill/>
        </p:spPr>
        <p:txBody>
          <a:bodyPr wrap="square" lIns="0" tIns="0" rIns="0" bIns="0" anchor="ctr">
            <a:spAutoFit/>
          </a:bodyPr>
          <a:lstStyle/>
          <a:p>
            <a:pPr algn="ctr"/>
            <a:r>
              <a:rPr sz="2000" b="1" i="0">
                <a:solidFill>
                  <a:srgbClr val="FFFFFF"/>
                </a:solidFill>
                <a:latin typeface="+mj-lt"/>
              </a:rPr>
              <a:t>6</a:t>
            </a:r>
          </a:p>
        </p:txBody>
      </p:sp>
      <p:sp>
        <p:nvSpPr>
          <p:cNvPr id="1024" name="TextBox 1023"/>
          <p:cNvSpPr txBox="1"/>
          <p:nvPr/>
        </p:nvSpPr>
        <p:spPr>
          <a:xfrm>
            <a:off x="8869680" y="3959352"/>
            <a:ext cx="2606040" cy="1280160"/>
          </a:xfrm>
          <a:prstGeom prst="rect">
            <a:avLst/>
          </a:prstGeom>
          <a:noFill/>
        </p:spPr>
        <p:txBody>
          <a:bodyPr wrap="square" lIns="0" tIns="0" rIns="0" bIns="0" anchor="t">
            <a:spAutoFit/>
          </a:bodyPr>
          <a:lstStyle/>
          <a:p>
            <a:r>
              <a:rPr sz="1250" b="0" i="0">
                <a:solidFill>
                  <a:srgbClr val="0B1F3A"/>
                </a:solidFill>
              </a:rPr>
              <a:t>UAT is signed off and ESIS is approved. The app emails a summary to users, and email relay was never onboarded.</a:t>
            </a:r>
          </a:p>
        </p:txBody>
      </p:sp>
      <p:sp>
        <p:nvSpPr>
          <p:cNvPr id="1025" name="Rounded Rectangle 1024"/>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6" name="TextBox 1025"/>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Work in mixed pairs: one tax professional and one technologist. Be ready to defend one call.</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EXERCISE 8 · PART 6</a:t>
            </a:r>
          </a:p>
        </p:txBody>
      </p:sp>
      <p:sp>
        <p:nvSpPr>
          <p:cNvPr id="3" name="Title 2"/>
          <p:cNvSpPr>
            <a:spLocks noGrp="1"/>
          </p:cNvSpPr>
          <p:nvPr>
            <p:ph type="title" idx="101"/>
          </p:nvPr>
        </p:nvSpPr>
        <p:spPr/>
        <p:txBody>
          <a:bodyPr/>
          <a:lstStyle/>
          <a:p>
            <a:pPr algn="l"/>
            <a:r>
              <a:t>Exercise 8: answers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22</a:t>
            </a:fld>
            <a:endParaRPr lang="en-US" b="0"/>
          </a:p>
        </p:txBody>
      </p:sp>
      <p:graphicFrame>
        <p:nvGraphicFramePr>
          <p:cNvPr id="1000" name="Table 999"/>
          <p:cNvGraphicFramePr>
            <a:graphicFrameLocks noGrp="1"/>
          </p:cNvGraphicFramePr>
          <p:nvPr/>
        </p:nvGraphicFramePr>
        <p:xfrm>
          <a:off x="548640" y="1783080"/>
          <a:ext cx="11091671" cy="3840480"/>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4050791">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tblGrid>
              <a:tr h="548640">
                <a:tc>
                  <a:txBody>
                    <a:bodyPr/>
                    <a:lstStyle/>
                    <a:p>
                      <a:r>
                        <a:rPr sz="1100" b="1" spc="100">
                          <a:solidFill>
                            <a:srgbClr val="FFFFFF"/>
                          </a:solidFill>
                        </a:rPr>
                        <a:t>#</a:t>
                      </a:r>
                    </a:p>
                  </a:txBody>
                  <a:tcPr marL="109728" marR="109728" anchor="ctr">
                    <a:solidFill>
                      <a:srgbClr val="0B1F3A"/>
                    </a:solidFill>
                  </a:tcPr>
                </a:tc>
                <a:tc>
                  <a:txBody>
                    <a:bodyPr/>
                    <a:lstStyle/>
                    <a:p>
                      <a:r>
                        <a:rPr sz="1100" b="1" spc="100">
                          <a:solidFill>
                            <a:srgbClr val="FFFFFF"/>
                          </a:solidFill>
                        </a:rPr>
                        <a:t>GATE OR RAIL</a:t>
                      </a:r>
                    </a:p>
                  </a:txBody>
                  <a:tcPr marL="109728" marR="109728" anchor="ctr">
                    <a:solidFill>
                      <a:srgbClr val="0B1F3A"/>
                    </a:solidFill>
                  </a:tcPr>
                </a:tc>
                <a:tc>
                  <a:txBody>
                    <a:bodyPr/>
                    <a:lstStyle/>
                    <a:p>
                      <a:r>
                        <a:rPr sz="1100" b="1" spc="100">
                          <a:solidFill>
                            <a:srgbClr val="FFFFFF"/>
                          </a:solidFill>
                        </a:rPr>
                        <a:t>CALL</a:t>
                      </a:r>
                    </a:p>
                  </a:txBody>
                  <a:tcPr marL="109728" marR="109728" anchor="ctr">
                    <a:solidFill>
                      <a:srgbClr val="0B1F3A"/>
                    </a:solidFill>
                  </a:tcPr>
                </a:tc>
                <a:tc>
                  <a:txBody>
                    <a:bodyPr/>
                    <a:lstStyle/>
                    <a:p>
                      <a:r>
                        <a:rPr sz="1100" b="1" spc="100">
                          <a:solidFill>
                            <a:srgbClr val="FFFFFF"/>
                          </a:solidFill>
                        </a:rPr>
                        <a:t>WHY</a:t>
                      </a:r>
                    </a:p>
                  </a:txBody>
                  <a:tcPr marL="109728" marR="109728" anchor="ctr">
                    <a:solidFill>
                      <a:srgbClr val="0B1F3A"/>
                    </a:solidFill>
                  </a:tcPr>
                </a:tc>
                <a:tc>
                  <a:txBody>
                    <a:bodyPr/>
                    <a:lstStyle/>
                    <a:p>
                      <a:r>
                        <a:rPr sz="1100" b="1" spc="100">
                          <a:solidFill>
                            <a:srgbClr val="FFFFFF"/>
                          </a:solidFill>
                        </a:rPr>
                        <a:t>WHO ACTS NEXT</a:t>
                      </a:r>
                    </a:p>
                  </a:txBody>
                  <a:tcPr marL="109728" marR="109728" anchor="ctr">
                    <a:solidFill>
                      <a:srgbClr val="0B1F3A"/>
                    </a:solidFill>
                  </a:tcPr>
                </a:tc>
                <a:extLst>
                  <a:ext uri="{0D108BD9-81ED-4DB2-BD59-A6C34878D82A}">
                    <a16:rowId xmlns:a16="http://schemas.microsoft.com/office/drawing/2014/main" val="10000"/>
                  </a:ext>
                </a:extLst>
              </a:tr>
              <a:tr h="548640">
                <a:tc>
                  <a:txBody>
                    <a:bodyPr/>
                    <a:lstStyle/>
                    <a:p>
                      <a:r>
                        <a:rPr sz="1150" b="1">
                          <a:solidFill>
                            <a:srgbClr val="0B1F3A"/>
                          </a:solidFill>
                        </a:rPr>
                        <a:t>1</a:t>
                      </a:r>
                    </a:p>
                  </a:txBody>
                  <a:tcPr marL="109728" marR="109728" anchor="ctr">
                    <a:solidFill>
                      <a:srgbClr val="EEF3FB"/>
                    </a:solidFill>
                  </a:tcPr>
                </a:tc>
                <a:tc>
                  <a:txBody>
                    <a:bodyPr/>
                    <a:lstStyle/>
                    <a:p>
                      <a:r>
                        <a:rPr sz="1150" b="0">
                          <a:solidFill>
                            <a:srgbClr val="0B1F3A"/>
                          </a:solidFill>
                        </a:rPr>
                        <a:t>Upsize gate</a:t>
                      </a:r>
                    </a:p>
                  </a:txBody>
                  <a:tcPr marL="109728" marR="109728" anchor="ctr">
                    <a:solidFill>
                      <a:srgbClr val="EEF3FB"/>
                    </a:solidFill>
                  </a:tcPr>
                </a:tc>
                <a:tc>
                  <a:txBody>
                    <a:bodyPr/>
                    <a:lstStyle/>
                    <a:p>
                      <a:r>
                        <a:rPr sz="1150" b="0">
                          <a:solidFill>
                            <a:srgbClr val="0B1F3A"/>
                          </a:solidFill>
                        </a:rPr>
                        <a:t>Send back</a:t>
                      </a:r>
                    </a:p>
                  </a:txBody>
                  <a:tcPr marL="109728" marR="109728" anchor="ctr">
                    <a:solidFill>
                      <a:srgbClr val="EEF3FB"/>
                    </a:solidFill>
                  </a:tcPr>
                </a:tc>
                <a:tc>
                  <a:txBody>
                    <a:bodyPr/>
                    <a:lstStyle/>
                    <a:p>
                      <a:r>
                        <a:rPr sz="1150" b="0">
                          <a:solidFill>
                            <a:srgbClr val="0B1F3A"/>
                          </a:solidFill>
                        </a:rPr>
                        <a:t>An open question is a decision nobody made. Don't answer it yourself</a:t>
                      </a:r>
                    </a:p>
                  </a:txBody>
                  <a:tcPr marL="109728" marR="109728" anchor="ctr">
                    <a:solidFill>
                      <a:srgbClr val="EEF3FB"/>
                    </a:solidFill>
                  </a:tcPr>
                </a:tc>
                <a:tc>
                  <a:txBody>
                    <a:bodyPr/>
                    <a:lstStyle/>
                    <a:p>
                      <a:r>
                        <a:rPr sz="1150" b="0">
                          <a:solidFill>
                            <a:srgbClr val="0B1F3A"/>
                          </a:solidFill>
                        </a:rPr>
                        <a:t>The requester and process owner decide and update the charter</a:t>
                      </a:r>
                    </a:p>
                  </a:txBody>
                  <a:tcPr marL="109728" marR="109728" anchor="ctr">
                    <a:solidFill>
                      <a:srgbClr val="EEF3FB"/>
                    </a:solidFill>
                  </a:tcPr>
                </a:tc>
                <a:extLst>
                  <a:ext uri="{0D108BD9-81ED-4DB2-BD59-A6C34878D82A}">
                    <a16:rowId xmlns:a16="http://schemas.microsoft.com/office/drawing/2014/main" val="10001"/>
                  </a:ext>
                </a:extLst>
              </a:tr>
              <a:tr h="548640">
                <a:tc>
                  <a:txBody>
                    <a:bodyPr/>
                    <a:lstStyle/>
                    <a:p>
                      <a:r>
                        <a:rPr sz="1150" b="1">
                          <a:solidFill>
                            <a:srgbClr val="0B1F3A"/>
                          </a:solidFill>
                        </a:rPr>
                        <a:t>2</a:t>
                      </a:r>
                    </a:p>
                  </a:txBody>
                  <a:tcPr marL="109728" marR="109728" anchor="ctr">
                    <a:solidFill>
                      <a:srgbClr val="FFFFFF"/>
                    </a:solidFill>
                  </a:tcPr>
                </a:tc>
                <a:tc>
                  <a:txBody>
                    <a:bodyPr/>
                    <a:lstStyle/>
                    <a:p>
                      <a:r>
                        <a:rPr sz="1150" b="0">
                          <a:solidFill>
                            <a:srgbClr val="0B1F3A"/>
                          </a:solidFill>
                        </a:rPr>
                        <a:t>DEV gate</a:t>
                      </a:r>
                    </a:p>
                  </a:txBody>
                  <a:tcPr marL="109728" marR="109728" anchor="ctr">
                    <a:solidFill>
                      <a:srgbClr val="FFFFFF"/>
                    </a:solidFill>
                  </a:tcPr>
                </a:tc>
                <a:tc>
                  <a:txBody>
                    <a:bodyPr/>
                    <a:lstStyle/>
                    <a:p>
                      <a:r>
                        <a:rPr sz="1150" b="0">
                          <a:solidFill>
                            <a:srgbClr val="0B1F3A"/>
                          </a:solidFill>
                        </a:rPr>
                        <a:t>Hold</a:t>
                      </a:r>
                    </a:p>
                  </a:txBody>
                  <a:tcPr marL="109728" marR="109728" anchor="ctr">
                    <a:solidFill>
                      <a:srgbClr val="FFFFFF"/>
                    </a:solidFill>
                  </a:tcPr>
                </a:tc>
                <a:tc>
                  <a:txBody>
                    <a:bodyPr/>
                    <a:lstStyle/>
                    <a:p>
                      <a:r>
                        <a:rPr sz="1150" b="0">
                          <a:solidFill>
                            <a:srgbClr val="0B1F3A"/>
                          </a:solidFill>
                        </a:rPr>
                        <a:t>Green means the steps ran. Proof is the running app answering</a:t>
                      </a:r>
                    </a:p>
                  </a:txBody>
                  <a:tcPr marL="109728" marR="109728" anchor="ctr">
                    <a:solidFill>
                      <a:srgbClr val="FFFFFF"/>
                    </a:solidFill>
                  </a:tcPr>
                </a:tc>
                <a:tc>
                  <a:txBody>
                    <a:bodyPr/>
                    <a:lstStyle/>
                    <a:p>
                      <a:r>
                        <a:rPr sz="1150" b="0">
                          <a:solidFill>
                            <a:srgbClr val="0B1F3A"/>
                          </a:solidFill>
                        </a:rPr>
                        <a:t>The builder checks the image digest and version, then redeploys</a:t>
                      </a:r>
                    </a:p>
                  </a:txBody>
                  <a:tcPr marL="109728" marR="109728" anchor="ctr">
                    <a:solidFill>
                      <a:srgbClr val="FFFFFF"/>
                    </a:solidFill>
                  </a:tcPr>
                </a:tc>
                <a:extLst>
                  <a:ext uri="{0D108BD9-81ED-4DB2-BD59-A6C34878D82A}">
                    <a16:rowId xmlns:a16="http://schemas.microsoft.com/office/drawing/2014/main" val="10002"/>
                  </a:ext>
                </a:extLst>
              </a:tr>
              <a:tr h="548640">
                <a:tc>
                  <a:txBody>
                    <a:bodyPr/>
                    <a:lstStyle/>
                    <a:p>
                      <a:r>
                        <a:rPr sz="1150" b="1">
                          <a:solidFill>
                            <a:srgbClr val="0B1F3A"/>
                          </a:solidFill>
                        </a:rPr>
                        <a:t>3</a:t>
                      </a:r>
                    </a:p>
                  </a:txBody>
                  <a:tcPr marL="109728" marR="109728" anchor="ctr">
                    <a:solidFill>
                      <a:srgbClr val="EEF3FB"/>
                    </a:solidFill>
                  </a:tcPr>
                </a:tc>
                <a:tc>
                  <a:txBody>
                    <a:bodyPr/>
                    <a:lstStyle/>
                    <a:p>
                      <a:r>
                        <a:rPr sz="1150" b="0">
                          <a:solidFill>
                            <a:srgbClr val="0B1F3A"/>
                          </a:solidFill>
                        </a:rPr>
                        <a:t>Long poles</a:t>
                      </a:r>
                    </a:p>
                  </a:txBody>
                  <a:tcPr marL="109728" marR="109728" anchor="ctr">
                    <a:solidFill>
                      <a:srgbClr val="EEF3FB"/>
                    </a:solidFill>
                  </a:tcPr>
                </a:tc>
                <a:tc>
                  <a:txBody>
                    <a:bodyPr/>
                    <a:lstStyle/>
                    <a:p>
                      <a:r>
                        <a:rPr sz="1150" b="0">
                          <a:solidFill>
                            <a:srgbClr val="0B1F3A"/>
                          </a:solidFill>
                        </a:rPr>
                        <a:t>Hold UAT</a:t>
                      </a:r>
                    </a:p>
                  </a:txBody>
                  <a:tcPr marL="109728" marR="109728" anchor="ctr">
                    <a:solidFill>
                      <a:srgbClr val="EEF3FB"/>
                    </a:solidFill>
                  </a:tcPr>
                </a:tc>
                <a:tc>
                  <a:txBody>
                    <a:bodyPr/>
                    <a:lstStyle/>
                    <a:p>
                      <a:r>
                        <a:rPr sz="1150" b="0">
                          <a:solidFill>
                            <a:srgbClr val="0B1F3A"/>
                          </a:solidFill>
                        </a:rPr>
                        <a:t>No TEST consent means no UAT. ESIS adds four to eight weeks</a:t>
                      </a:r>
                    </a:p>
                  </a:txBody>
                  <a:tcPr marL="109728" marR="109728" anchor="ctr">
                    <a:solidFill>
                      <a:srgbClr val="EEF3FB"/>
                    </a:solidFill>
                  </a:tcPr>
                </a:tc>
                <a:tc>
                  <a:txBody>
                    <a:bodyPr/>
                    <a:lstStyle/>
                    <a:p>
                      <a:r>
                        <a:rPr sz="1150" b="0">
                          <a:solidFill>
                            <a:srgbClr val="0B1F3A"/>
                          </a:solidFill>
                        </a:rPr>
                        <a:t>The builder raises ESIS and consent today, and the go-live date is re-planned</a:t>
                      </a:r>
                    </a:p>
                  </a:txBody>
                  <a:tcPr marL="109728" marR="109728" anchor="ctr">
                    <a:solidFill>
                      <a:srgbClr val="EEF3FB"/>
                    </a:solidFill>
                  </a:tcPr>
                </a:tc>
                <a:extLst>
                  <a:ext uri="{0D108BD9-81ED-4DB2-BD59-A6C34878D82A}">
                    <a16:rowId xmlns:a16="http://schemas.microsoft.com/office/drawing/2014/main" val="10003"/>
                  </a:ext>
                </a:extLst>
              </a:tr>
              <a:tr h="548640">
                <a:tc>
                  <a:txBody>
                    <a:bodyPr/>
                    <a:lstStyle/>
                    <a:p>
                      <a:r>
                        <a:rPr sz="1150" b="1">
                          <a:solidFill>
                            <a:srgbClr val="0B1F3A"/>
                          </a:solidFill>
                        </a:rPr>
                        <a:t>4</a:t>
                      </a:r>
                    </a:p>
                  </a:txBody>
                  <a:tcPr marL="109728" marR="109728" anchor="ctr">
                    <a:solidFill>
                      <a:srgbClr val="FFFFFF"/>
                    </a:solidFill>
                  </a:tcPr>
                </a:tc>
                <a:tc>
                  <a:txBody>
                    <a:bodyPr/>
                    <a:lstStyle/>
                    <a:p>
                      <a:r>
                        <a:rPr sz="1150" b="0">
                          <a:solidFill>
                            <a:srgbClr val="0B1F3A"/>
                          </a:solidFill>
                        </a:rPr>
                        <a:t>Secret scanning rail</a:t>
                      </a:r>
                    </a:p>
                  </a:txBody>
                  <a:tcPr marL="109728" marR="109728" anchor="ctr">
                    <a:solidFill>
                      <a:srgbClr val="FFFFFF"/>
                    </a:solidFill>
                  </a:tcPr>
                </a:tc>
                <a:tc>
                  <a:txBody>
                    <a:bodyPr/>
                    <a:lstStyle/>
                    <a:p>
                      <a:r>
                        <a:rPr sz="1150" b="0">
                          <a:solidFill>
                            <a:srgbClr val="0B1F3A"/>
                          </a:solidFill>
                        </a:rPr>
                        <a:t>Blocked</a:t>
                      </a:r>
                    </a:p>
                  </a:txBody>
                  <a:tcPr marL="109728" marR="109728" anchor="ctr">
                    <a:solidFill>
                      <a:srgbClr val="FFFFFF"/>
                    </a:solidFill>
                  </a:tcPr>
                </a:tc>
                <a:tc>
                  <a:txBody>
                    <a:bodyPr/>
                    <a:lstStyle/>
                    <a:p>
                      <a:r>
                        <a:rPr sz="1150" b="0">
                          <a:solidFill>
                            <a:srgbClr val="0B1F3A"/>
                          </a:solidFill>
                        </a:rPr>
                        <a:t>No threshold. A secret is never a severity question</a:t>
                      </a:r>
                    </a:p>
                  </a:txBody>
                  <a:tcPr marL="109728" marR="109728" anchor="ctr">
                    <a:solidFill>
                      <a:srgbClr val="FFFFFF"/>
                    </a:solidFill>
                  </a:tcPr>
                </a:tc>
                <a:tc>
                  <a:txBody>
                    <a:bodyPr/>
                    <a:lstStyle/>
                    <a:p>
                      <a:r>
                        <a:rPr sz="1150" b="0">
                          <a:solidFill>
                            <a:srgbClr val="0B1F3A"/>
                          </a:solidFill>
                        </a:rPr>
                        <a:t>The builder removes it, uses a managed secret and rotates the password</a:t>
                      </a:r>
                    </a:p>
                  </a:txBody>
                  <a:tcPr marL="109728" marR="109728" anchor="ctr">
                    <a:solidFill>
                      <a:srgbClr val="FFFFFF"/>
                    </a:solidFill>
                  </a:tcPr>
                </a:tc>
                <a:extLst>
                  <a:ext uri="{0D108BD9-81ED-4DB2-BD59-A6C34878D82A}">
                    <a16:rowId xmlns:a16="http://schemas.microsoft.com/office/drawing/2014/main" val="10004"/>
                  </a:ext>
                </a:extLst>
              </a:tr>
              <a:tr h="548640">
                <a:tc>
                  <a:txBody>
                    <a:bodyPr/>
                    <a:lstStyle/>
                    <a:p>
                      <a:r>
                        <a:rPr sz="1150" b="1">
                          <a:solidFill>
                            <a:srgbClr val="0B1F3A"/>
                          </a:solidFill>
                        </a:rPr>
                        <a:t>5</a:t>
                      </a:r>
                    </a:p>
                  </a:txBody>
                  <a:tcPr marL="109728" marR="109728" anchor="ctr">
                    <a:solidFill>
                      <a:srgbClr val="EEF3FB"/>
                    </a:solidFill>
                  </a:tcPr>
                </a:tc>
                <a:tc>
                  <a:txBody>
                    <a:bodyPr/>
                    <a:lstStyle/>
                    <a:p>
                      <a:r>
                        <a:rPr sz="1150" b="0">
                          <a:solidFill>
                            <a:srgbClr val="0B1F3A"/>
                          </a:solidFill>
                        </a:rPr>
                        <a:t>Go-live gate (UAT)</a:t>
                      </a:r>
                    </a:p>
                  </a:txBody>
                  <a:tcPr marL="109728" marR="109728" anchor="ctr">
                    <a:solidFill>
                      <a:srgbClr val="EEF3FB"/>
                    </a:solidFill>
                  </a:tcPr>
                </a:tc>
                <a:tc>
                  <a:txBody>
                    <a:bodyPr/>
                    <a:lstStyle/>
                    <a:p>
                      <a:r>
                        <a:rPr sz="1150" b="0">
                          <a:solidFill>
                            <a:srgbClr val="0B1F3A"/>
                          </a:solidFill>
                        </a:rPr>
                        <a:t>Fix before close</a:t>
                      </a:r>
                    </a:p>
                  </a:txBody>
                  <a:tcPr marL="109728" marR="109728" anchor="ctr">
                    <a:solidFill>
                      <a:srgbClr val="EEF3FB"/>
                    </a:solidFill>
                  </a:tcPr>
                </a:tc>
                <a:tc>
                  <a:txBody>
                    <a:bodyPr/>
                    <a:lstStyle/>
                    <a:p>
                      <a:r>
                        <a:rPr sz="1150" b="0">
                          <a:solidFill>
                            <a:srgbClr val="0B1F3A"/>
                          </a:solidFill>
                        </a:rPr>
                        <a:t>An edit in the tool is drift. Git is the source</a:t>
                      </a:r>
                    </a:p>
                  </a:txBody>
                  <a:tcPr marL="109728" marR="109728" anchor="ctr">
                    <a:solidFill>
                      <a:srgbClr val="EEF3FB"/>
                    </a:solidFill>
                  </a:tcPr>
                </a:tc>
                <a:tc>
                  <a:txBody>
                    <a:bodyPr/>
                    <a:lstStyle/>
                    <a:p>
                      <a:r>
                        <a:rPr sz="1150" b="0">
                          <a:solidFill>
                            <a:srgbClr val="0B1F3A"/>
                          </a:solidFill>
                        </a:rPr>
                        <a:t>The builder copies the change back to git, then re-syncs</a:t>
                      </a:r>
                    </a:p>
                  </a:txBody>
                  <a:tcPr marL="109728" marR="109728" anchor="ctr">
                    <a:solidFill>
                      <a:srgbClr val="EEF3FB"/>
                    </a:solidFill>
                  </a:tcPr>
                </a:tc>
                <a:extLst>
                  <a:ext uri="{0D108BD9-81ED-4DB2-BD59-A6C34878D82A}">
                    <a16:rowId xmlns:a16="http://schemas.microsoft.com/office/drawing/2014/main" val="10005"/>
                  </a:ext>
                </a:extLst>
              </a:tr>
              <a:tr h="548640">
                <a:tc>
                  <a:txBody>
                    <a:bodyPr/>
                    <a:lstStyle/>
                    <a:p>
                      <a:r>
                        <a:rPr sz="1150" b="1">
                          <a:solidFill>
                            <a:srgbClr val="0B1F3A"/>
                          </a:solidFill>
                        </a:rPr>
                        <a:t>6</a:t>
                      </a:r>
                    </a:p>
                  </a:txBody>
                  <a:tcPr marL="109728" marR="109728" anchor="ctr">
                    <a:solidFill>
                      <a:srgbClr val="FFFFFF"/>
                    </a:solidFill>
                  </a:tcPr>
                </a:tc>
                <a:tc>
                  <a:txBody>
                    <a:bodyPr/>
                    <a:lstStyle/>
                    <a:p>
                      <a:r>
                        <a:rPr sz="1150" b="0">
                          <a:solidFill>
                            <a:srgbClr val="0B1F3A"/>
                          </a:solidFill>
                        </a:rPr>
                        <a:t>Go-live gate</a:t>
                      </a:r>
                    </a:p>
                  </a:txBody>
                  <a:tcPr marL="109728" marR="109728" anchor="ctr">
                    <a:solidFill>
                      <a:srgbClr val="FFFFFF"/>
                    </a:solidFill>
                  </a:tcPr>
                </a:tc>
                <a:tc>
                  <a:txBody>
                    <a:bodyPr/>
                    <a:lstStyle/>
                    <a:p>
                      <a:r>
                        <a:rPr sz="1150" b="0">
                          <a:solidFill>
                            <a:srgbClr val="0B1F3A"/>
                          </a:solidFill>
                        </a:rPr>
                        <a:t>Hold</a:t>
                      </a:r>
                    </a:p>
                  </a:txBody>
                  <a:tcPr marL="109728" marR="109728" anchor="ctr">
                    <a:solidFill>
                      <a:srgbClr val="FFFFFF"/>
                    </a:solidFill>
                  </a:tcPr>
                </a:tc>
                <a:tc>
                  <a:txBody>
                    <a:bodyPr/>
                    <a:lstStyle/>
                    <a:p>
                      <a:r>
                        <a:rPr sz="1150" b="0">
                          <a:solidFill>
                            <a:srgbClr val="0B1F3A"/>
                          </a:solidFill>
                        </a:rPr>
                        <a:t>Email relay is required before go-live, not after</a:t>
                      </a:r>
                    </a:p>
                  </a:txBody>
                  <a:tcPr marL="109728" marR="109728" anchor="ctr">
                    <a:solidFill>
                      <a:srgbClr val="FFFFFF"/>
                    </a:solidFill>
                  </a:tcPr>
                </a:tc>
                <a:tc>
                  <a:txBody>
                    <a:bodyPr/>
                    <a:lstStyle/>
                    <a:p>
                      <a:r>
                        <a:rPr sz="1150" b="0">
                          <a:solidFill>
                            <a:srgbClr val="0B1F3A"/>
                          </a:solidFill>
                        </a:rPr>
                        <a:t>The builder opens ET&amp;D Messaging onboarding. Should have been phase 1</a:t>
                      </a:r>
                    </a:p>
                  </a:txBody>
                  <a:tcPr marL="109728" marR="109728" anchor="ctr">
                    <a:solidFill>
                      <a:srgbClr val="FFFFFF"/>
                    </a:solidFill>
                  </a:tcPr>
                </a:tc>
                <a:extLst>
                  <a:ext uri="{0D108BD9-81ED-4DB2-BD59-A6C34878D82A}">
                    <a16:rowId xmlns:a16="http://schemas.microsoft.com/office/drawing/2014/main" val="10006"/>
                  </a:ext>
                </a:extLst>
              </a:tr>
            </a:tbl>
          </a:graphicData>
        </a:graphic>
      </p:graphicFrame>
      <p:sp>
        <p:nvSpPr>
          <p:cNvPr id="1001" name="Rounded Rectangle 1000"/>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Four of the six were avoidable in week one. That is the lesson of Part 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PART 6 · THE STANDARD</a:t>
            </a:r>
          </a:p>
        </p:txBody>
      </p:sp>
      <p:sp>
        <p:nvSpPr>
          <p:cNvPr id="3" name="Title 2"/>
          <p:cNvSpPr>
            <a:spLocks noGrp="1"/>
          </p:cNvSpPr>
          <p:nvPr>
            <p:ph type="title" idx="101"/>
          </p:nvPr>
        </p:nvSpPr>
        <p:spPr/>
        <p:txBody>
          <a:bodyPr/>
          <a:lstStyle/>
          <a:p>
            <a:pPr algn="l"/>
            <a:r>
              <a:t>What good looks like</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23</a:t>
            </a:fld>
            <a:endParaRPr lang="en-US" b="0"/>
          </a:p>
        </p:txBody>
      </p:sp>
      <p:sp>
        <p:nvSpPr>
          <p:cNvPr id="1000" name="Rounded Rectangle 999"/>
          <p:cNvSpPr/>
          <p:nvPr/>
        </p:nvSpPr>
        <p:spPr>
          <a:xfrm>
            <a:off x="548640" y="1783080"/>
            <a:ext cx="5486400" cy="10789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Oval 1000"/>
          <p:cNvSpPr/>
          <p:nvPr/>
        </p:nvSpPr>
        <p:spPr>
          <a:xfrm>
            <a:off x="777240" y="2057400"/>
            <a:ext cx="502920" cy="502920"/>
          </a:xfrm>
          <a:prstGeom prst="ellipse">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77240" y="2057400"/>
            <a:ext cx="502920" cy="502920"/>
          </a:xfrm>
          <a:prstGeom prst="rect">
            <a:avLst/>
          </a:prstGeom>
          <a:noFill/>
        </p:spPr>
        <p:txBody>
          <a:bodyPr wrap="square" lIns="0" tIns="0" rIns="0" bIns="0" anchor="ctr">
            <a:spAutoFit/>
          </a:bodyPr>
          <a:lstStyle/>
          <a:p>
            <a:pPr algn="ctr"/>
            <a:r>
              <a:rPr sz="2000" b="1" i="0">
                <a:solidFill>
                  <a:srgbClr val="FFFFFF"/>
                </a:solidFill>
              </a:rPr>
              <a:t>✓</a:t>
            </a:r>
          </a:p>
        </p:txBody>
      </p:sp>
      <p:sp>
        <p:nvSpPr>
          <p:cNvPr id="1003" name="TextBox 1002"/>
          <p:cNvSpPr txBox="1"/>
          <p:nvPr/>
        </p:nvSpPr>
        <p:spPr>
          <a:xfrm>
            <a:off x="1508760" y="1938528"/>
            <a:ext cx="4389120" cy="320040"/>
          </a:xfrm>
          <a:prstGeom prst="rect">
            <a:avLst/>
          </a:prstGeom>
          <a:noFill/>
        </p:spPr>
        <p:txBody>
          <a:bodyPr wrap="square" lIns="0" tIns="0" rIns="0" bIns="0" anchor="t">
            <a:spAutoFit/>
          </a:bodyPr>
          <a:lstStyle/>
          <a:p>
            <a:r>
              <a:rPr sz="1600" b="1" i="0">
                <a:solidFill>
                  <a:srgbClr val="0B1F3A"/>
                </a:solidFill>
                <a:latin typeface="+mj-lt"/>
              </a:rPr>
              <a:t>Charter closed first</a:t>
            </a:r>
          </a:p>
        </p:txBody>
      </p:sp>
      <p:sp>
        <p:nvSpPr>
          <p:cNvPr id="1004" name="TextBox 1003"/>
          <p:cNvSpPr txBox="1"/>
          <p:nvPr/>
        </p:nvSpPr>
        <p:spPr>
          <a:xfrm>
            <a:off x="1508760" y="2286000"/>
            <a:ext cx="4389120" cy="502920"/>
          </a:xfrm>
          <a:prstGeom prst="rect">
            <a:avLst/>
          </a:prstGeom>
          <a:noFill/>
        </p:spPr>
        <p:txBody>
          <a:bodyPr wrap="square" lIns="0" tIns="0" rIns="0" bIns="0" anchor="t">
            <a:spAutoFit/>
          </a:bodyPr>
          <a:lstStyle/>
          <a:p>
            <a:r>
              <a:rPr sz="1250" b="0" i="0">
                <a:solidFill>
                  <a:srgbClr val="0B1F3A"/>
                </a:solidFill>
              </a:rPr>
              <a:t>You sent back an open question instead of answering it yourself.</a:t>
            </a:r>
          </a:p>
        </p:txBody>
      </p:sp>
      <p:sp>
        <p:nvSpPr>
          <p:cNvPr id="1005" name="Rounded Rectangle 1004"/>
          <p:cNvSpPr/>
          <p:nvPr/>
        </p:nvSpPr>
        <p:spPr>
          <a:xfrm>
            <a:off x="6153912" y="1783080"/>
            <a:ext cx="5486400" cy="10789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Oval 1005"/>
          <p:cNvSpPr/>
          <p:nvPr/>
        </p:nvSpPr>
        <p:spPr>
          <a:xfrm>
            <a:off x="6382512" y="2057400"/>
            <a:ext cx="502920" cy="502920"/>
          </a:xfrm>
          <a:prstGeom prst="ellipse">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6382512" y="2057400"/>
            <a:ext cx="502920" cy="502920"/>
          </a:xfrm>
          <a:prstGeom prst="rect">
            <a:avLst/>
          </a:prstGeom>
          <a:noFill/>
        </p:spPr>
        <p:txBody>
          <a:bodyPr wrap="square" lIns="0" tIns="0" rIns="0" bIns="0" anchor="ctr">
            <a:spAutoFit/>
          </a:bodyPr>
          <a:lstStyle/>
          <a:p>
            <a:pPr algn="ctr"/>
            <a:r>
              <a:rPr sz="2000" b="1" i="0">
                <a:solidFill>
                  <a:srgbClr val="FFFFFF"/>
                </a:solidFill>
              </a:rPr>
              <a:t>✓</a:t>
            </a:r>
          </a:p>
        </p:txBody>
      </p:sp>
      <p:sp>
        <p:nvSpPr>
          <p:cNvPr id="1008" name="TextBox 1007"/>
          <p:cNvSpPr txBox="1"/>
          <p:nvPr/>
        </p:nvSpPr>
        <p:spPr>
          <a:xfrm>
            <a:off x="7114031" y="1938528"/>
            <a:ext cx="4389120" cy="320040"/>
          </a:xfrm>
          <a:prstGeom prst="rect">
            <a:avLst/>
          </a:prstGeom>
          <a:noFill/>
        </p:spPr>
        <p:txBody>
          <a:bodyPr wrap="square" lIns="0" tIns="0" rIns="0" bIns="0" anchor="t">
            <a:spAutoFit/>
          </a:bodyPr>
          <a:lstStyle/>
          <a:p>
            <a:r>
              <a:rPr sz="1600" b="1" i="0">
                <a:solidFill>
                  <a:srgbClr val="0B1F3A"/>
                </a:solidFill>
                <a:latin typeface="+mj-lt"/>
              </a:rPr>
              <a:t>Slow gates opened early</a:t>
            </a:r>
          </a:p>
        </p:txBody>
      </p:sp>
      <p:sp>
        <p:nvSpPr>
          <p:cNvPr id="1009" name="TextBox 1008"/>
          <p:cNvSpPr txBox="1"/>
          <p:nvPr/>
        </p:nvSpPr>
        <p:spPr>
          <a:xfrm>
            <a:off x="7114031" y="2286000"/>
            <a:ext cx="4389120" cy="502920"/>
          </a:xfrm>
          <a:prstGeom prst="rect">
            <a:avLst/>
          </a:prstGeom>
          <a:noFill/>
        </p:spPr>
        <p:txBody>
          <a:bodyPr wrap="square" lIns="0" tIns="0" rIns="0" bIns="0" anchor="t">
            <a:spAutoFit/>
          </a:bodyPr>
          <a:lstStyle/>
          <a:p>
            <a:r>
              <a:rPr sz="1250" b="0" i="0">
                <a:solidFill>
                  <a:srgbClr val="0B1F3A"/>
                </a:solidFill>
              </a:rPr>
              <a:t>Nothing waits on a six-week review that started last week.</a:t>
            </a:r>
          </a:p>
        </p:txBody>
      </p:sp>
      <p:sp>
        <p:nvSpPr>
          <p:cNvPr id="1010" name="Rounded Rectangle 1009"/>
          <p:cNvSpPr/>
          <p:nvPr/>
        </p:nvSpPr>
        <p:spPr>
          <a:xfrm>
            <a:off x="548640" y="2990088"/>
            <a:ext cx="5486400" cy="10789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Oval 1010"/>
          <p:cNvSpPr/>
          <p:nvPr/>
        </p:nvSpPr>
        <p:spPr>
          <a:xfrm>
            <a:off x="777240" y="3264408"/>
            <a:ext cx="502920" cy="502920"/>
          </a:xfrm>
          <a:prstGeom prst="ellipse">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TextBox 1011"/>
          <p:cNvSpPr txBox="1"/>
          <p:nvPr/>
        </p:nvSpPr>
        <p:spPr>
          <a:xfrm>
            <a:off x="777240" y="3264408"/>
            <a:ext cx="502920" cy="502920"/>
          </a:xfrm>
          <a:prstGeom prst="rect">
            <a:avLst/>
          </a:prstGeom>
          <a:noFill/>
        </p:spPr>
        <p:txBody>
          <a:bodyPr wrap="square" lIns="0" tIns="0" rIns="0" bIns="0" anchor="ctr">
            <a:spAutoFit/>
          </a:bodyPr>
          <a:lstStyle/>
          <a:p>
            <a:pPr algn="ctr"/>
            <a:r>
              <a:rPr sz="2000" b="1" i="0">
                <a:solidFill>
                  <a:srgbClr val="FFFFFF"/>
                </a:solidFill>
              </a:rPr>
              <a:t>✓</a:t>
            </a:r>
          </a:p>
        </p:txBody>
      </p:sp>
      <p:sp>
        <p:nvSpPr>
          <p:cNvPr id="1013" name="TextBox 1012"/>
          <p:cNvSpPr txBox="1"/>
          <p:nvPr/>
        </p:nvSpPr>
        <p:spPr>
          <a:xfrm>
            <a:off x="1508760" y="3145536"/>
            <a:ext cx="4389120" cy="320040"/>
          </a:xfrm>
          <a:prstGeom prst="rect">
            <a:avLst/>
          </a:prstGeom>
          <a:noFill/>
        </p:spPr>
        <p:txBody>
          <a:bodyPr wrap="square" lIns="0" tIns="0" rIns="0" bIns="0" anchor="t">
            <a:spAutoFit/>
          </a:bodyPr>
          <a:lstStyle/>
          <a:p>
            <a:r>
              <a:rPr sz="1600" b="1" i="0">
                <a:solidFill>
                  <a:srgbClr val="0B1F3A"/>
                </a:solidFill>
                <a:latin typeface="+mj-lt"/>
              </a:rPr>
              <a:t>Rails green on every change</a:t>
            </a:r>
          </a:p>
        </p:txBody>
      </p:sp>
      <p:sp>
        <p:nvSpPr>
          <p:cNvPr id="1014" name="TextBox 1013"/>
          <p:cNvSpPr txBox="1"/>
          <p:nvPr/>
        </p:nvSpPr>
        <p:spPr>
          <a:xfrm>
            <a:off x="1508760" y="3493008"/>
            <a:ext cx="4389120" cy="502920"/>
          </a:xfrm>
          <a:prstGeom prst="rect">
            <a:avLst/>
          </a:prstGeom>
          <a:noFill/>
        </p:spPr>
        <p:txBody>
          <a:bodyPr wrap="square" lIns="0" tIns="0" rIns="0" bIns="0" anchor="t">
            <a:spAutoFit/>
          </a:bodyPr>
          <a:lstStyle/>
          <a:p>
            <a:r>
              <a:rPr sz="1250" b="0" i="0">
                <a:solidFill>
                  <a:srgbClr val="0B1F3A"/>
                </a:solidFill>
              </a:rPr>
              <a:t>A habit with every merge, not a scramble before release.</a:t>
            </a:r>
          </a:p>
        </p:txBody>
      </p:sp>
      <p:sp>
        <p:nvSpPr>
          <p:cNvPr id="1015" name="Rounded Rectangle 1014"/>
          <p:cNvSpPr/>
          <p:nvPr/>
        </p:nvSpPr>
        <p:spPr>
          <a:xfrm>
            <a:off x="6153912" y="2990088"/>
            <a:ext cx="5486400" cy="10789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Oval 1015"/>
          <p:cNvSpPr/>
          <p:nvPr/>
        </p:nvSpPr>
        <p:spPr>
          <a:xfrm>
            <a:off x="6382512" y="3264408"/>
            <a:ext cx="502920" cy="502920"/>
          </a:xfrm>
          <a:prstGeom prst="ellipse">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6382512" y="3264408"/>
            <a:ext cx="502920" cy="502920"/>
          </a:xfrm>
          <a:prstGeom prst="rect">
            <a:avLst/>
          </a:prstGeom>
          <a:noFill/>
        </p:spPr>
        <p:txBody>
          <a:bodyPr wrap="square" lIns="0" tIns="0" rIns="0" bIns="0" anchor="ctr">
            <a:spAutoFit/>
          </a:bodyPr>
          <a:lstStyle/>
          <a:p>
            <a:pPr algn="ctr"/>
            <a:r>
              <a:rPr sz="2000" b="1" i="0">
                <a:solidFill>
                  <a:srgbClr val="FFFFFF"/>
                </a:solidFill>
              </a:rPr>
              <a:t>✓</a:t>
            </a:r>
          </a:p>
        </p:txBody>
      </p:sp>
      <p:sp>
        <p:nvSpPr>
          <p:cNvPr id="1018" name="TextBox 1017"/>
          <p:cNvSpPr txBox="1"/>
          <p:nvPr/>
        </p:nvSpPr>
        <p:spPr>
          <a:xfrm>
            <a:off x="7114031" y="3145536"/>
            <a:ext cx="4389120" cy="320040"/>
          </a:xfrm>
          <a:prstGeom prst="rect">
            <a:avLst/>
          </a:prstGeom>
          <a:noFill/>
        </p:spPr>
        <p:txBody>
          <a:bodyPr wrap="square" lIns="0" tIns="0" rIns="0" bIns="0" anchor="t">
            <a:spAutoFit/>
          </a:bodyPr>
          <a:lstStyle/>
          <a:p>
            <a:r>
              <a:rPr sz="1600" b="1" i="0">
                <a:solidFill>
                  <a:srgbClr val="0B1F3A"/>
                </a:solidFill>
                <a:latin typeface="+mj-lt"/>
              </a:rPr>
              <a:t>Evidence produced, not written</a:t>
            </a:r>
          </a:p>
        </p:txBody>
      </p:sp>
      <p:sp>
        <p:nvSpPr>
          <p:cNvPr id="1019" name="TextBox 1018"/>
          <p:cNvSpPr txBox="1"/>
          <p:nvPr/>
        </p:nvSpPr>
        <p:spPr>
          <a:xfrm>
            <a:off x="7114031" y="3493008"/>
            <a:ext cx="4389120" cy="502920"/>
          </a:xfrm>
          <a:prstGeom prst="rect">
            <a:avLst/>
          </a:prstGeom>
          <a:noFill/>
        </p:spPr>
        <p:txBody>
          <a:bodyPr wrap="square" lIns="0" tIns="0" rIns="0" bIns="0" anchor="t">
            <a:spAutoFit/>
          </a:bodyPr>
          <a:lstStyle/>
          <a:p>
            <a:r>
              <a:rPr sz="1250" b="0" i="0">
                <a:solidFill>
                  <a:srgbClr val="0B1F3A"/>
                </a:solidFill>
              </a:rPr>
              <a:t>The diagram, the scan and the readiness record exist before anyone asks.</a:t>
            </a:r>
          </a:p>
        </p:txBody>
      </p:sp>
      <p:sp>
        <p:nvSpPr>
          <p:cNvPr id="1020" name="Rounded Rectangle 1019"/>
          <p:cNvSpPr/>
          <p:nvPr/>
        </p:nvSpPr>
        <p:spPr>
          <a:xfrm>
            <a:off x="548640" y="4197096"/>
            <a:ext cx="5486400" cy="10789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Oval 1020"/>
          <p:cNvSpPr/>
          <p:nvPr/>
        </p:nvSpPr>
        <p:spPr>
          <a:xfrm>
            <a:off x="777240" y="4471416"/>
            <a:ext cx="502920" cy="502920"/>
          </a:xfrm>
          <a:prstGeom prst="ellipse">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TextBox 1021"/>
          <p:cNvSpPr txBox="1"/>
          <p:nvPr/>
        </p:nvSpPr>
        <p:spPr>
          <a:xfrm>
            <a:off x="777240" y="4471416"/>
            <a:ext cx="502920" cy="502920"/>
          </a:xfrm>
          <a:prstGeom prst="rect">
            <a:avLst/>
          </a:prstGeom>
          <a:noFill/>
        </p:spPr>
        <p:txBody>
          <a:bodyPr wrap="square" lIns="0" tIns="0" rIns="0" bIns="0" anchor="ctr">
            <a:spAutoFit/>
          </a:bodyPr>
          <a:lstStyle/>
          <a:p>
            <a:pPr algn="ctr"/>
            <a:r>
              <a:rPr sz="2000" b="1" i="0">
                <a:solidFill>
                  <a:srgbClr val="FFFFFF"/>
                </a:solidFill>
              </a:rPr>
              <a:t>✓</a:t>
            </a:r>
          </a:p>
        </p:txBody>
      </p:sp>
      <p:sp>
        <p:nvSpPr>
          <p:cNvPr id="1023" name="TextBox 1022"/>
          <p:cNvSpPr txBox="1"/>
          <p:nvPr/>
        </p:nvSpPr>
        <p:spPr>
          <a:xfrm>
            <a:off x="1508760" y="4352544"/>
            <a:ext cx="4389120" cy="320040"/>
          </a:xfrm>
          <a:prstGeom prst="rect">
            <a:avLst/>
          </a:prstGeom>
          <a:noFill/>
        </p:spPr>
        <p:txBody>
          <a:bodyPr wrap="square" lIns="0" tIns="0" rIns="0" bIns="0" anchor="t">
            <a:spAutoFit/>
          </a:bodyPr>
          <a:lstStyle/>
          <a:p>
            <a:r>
              <a:rPr sz="1600" b="1" i="0">
                <a:solidFill>
                  <a:srgbClr val="0B1F3A"/>
                </a:solidFill>
                <a:latin typeface="+mj-lt"/>
              </a:rPr>
              <a:t>One system of record</a:t>
            </a:r>
          </a:p>
        </p:txBody>
      </p:sp>
      <p:sp>
        <p:nvSpPr>
          <p:cNvPr id="1024" name="TextBox 1023"/>
          <p:cNvSpPr txBox="1"/>
          <p:nvPr/>
        </p:nvSpPr>
        <p:spPr>
          <a:xfrm>
            <a:off x="1508760" y="4700016"/>
            <a:ext cx="4389120" cy="502920"/>
          </a:xfrm>
          <a:prstGeom prst="rect">
            <a:avLst/>
          </a:prstGeom>
          <a:noFill/>
        </p:spPr>
        <p:txBody>
          <a:bodyPr wrap="square" lIns="0" tIns="0" rIns="0" bIns="0" anchor="t">
            <a:spAutoFit/>
          </a:bodyPr>
          <a:lstStyle/>
          <a:p>
            <a:r>
              <a:rPr sz="1250" b="0" i="0">
                <a:solidFill>
                  <a:srgbClr val="0B1F3A"/>
                </a:solidFill>
              </a:rPr>
              <a:t>Workfront owns project state. Boards owns engineering detail and feeds it.</a:t>
            </a:r>
          </a:p>
        </p:txBody>
      </p:sp>
      <p:sp>
        <p:nvSpPr>
          <p:cNvPr id="1025" name="Rounded Rectangle 1024"/>
          <p:cNvSpPr/>
          <p:nvPr/>
        </p:nvSpPr>
        <p:spPr>
          <a:xfrm>
            <a:off x="6153912" y="4197096"/>
            <a:ext cx="5486400" cy="10789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6" name="Oval 1025"/>
          <p:cNvSpPr/>
          <p:nvPr/>
        </p:nvSpPr>
        <p:spPr>
          <a:xfrm>
            <a:off x="6382512" y="4471416"/>
            <a:ext cx="502920" cy="502920"/>
          </a:xfrm>
          <a:prstGeom prst="ellipse">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TextBox 1026"/>
          <p:cNvSpPr txBox="1"/>
          <p:nvPr/>
        </p:nvSpPr>
        <p:spPr>
          <a:xfrm>
            <a:off x="6382512" y="4471416"/>
            <a:ext cx="502920" cy="502920"/>
          </a:xfrm>
          <a:prstGeom prst="rect">
            <a:avLst/>
          </a:prstGeom>
          <a:noFill/>
        </p:spPr>
        <p:txBody>
          <a:bodyPr wrap="square" lIns="0" tIns="0" rIns="0" bIns="0" anchor="ctr">
            <a:spAutoFit/>
          </a:bodyPr>
          <a:lstStyle/>
          <a:p>
            <a:pPr algn="ctr"/>
            <a:r>
              <a:rPr sz="2000" b="1" i="0">
                <a:solidFill>
                  <a:srgbClr val="FFFFFF"/>
                </a:solidFill>
              </a:rPr>
              <a:t>✓</a:t>
            </a:r>
          </a:p>
        </p:txBody>
      </p:sp>
      <p:sp>
        <p:nvSpPr>
          <p:cNvPr id="1028" name="TextBox 1027"/>
          <p:cNvSpPr txBox="1"/>
          <p:nvPr/>
        </p:nvSpPr>
        <p:spPr>
          <a:xfrm>
            <a:off x="7114031" y="4352544"/>
            <a:ext cx="4389120" cy="320040"/>
          </a:xfrm>
          <a:prstGeom prst="rect">
            <a:avLst/>
          </a:prstGeom>
          <a:noFill/>
        </p:spPr>
        <p:txBody>
          <a:bodyPr wrap="square" lIns="0" tIns="0" rIns="0" bIns="0" anchor="t">
            <a:spAutoFit/>
          </a:bodyPr>
          <a:lstStyle/>
          <a:p>
            <a:r>
              <a:rPr sz="1600" b="1" i="0">
                <a:solidFill>
                  <a:srgbClr val="0B1F3A"/>
                </a:solidFill>
                <a:latin typeface="+mj-lt"/>
              </a:rPr>
              <a:t>You verified the running app</a:t>
            </a:r>
          </a:p>
        </p:txBody>
      </p:sp>
      <p:sp>
        <p:nvSpPr>
          <p:cNvPr id="1029" name="TextBox 1028"/>
          <p:cNvSpPr txBox="1"/>
          <p:nvPr/>
        </p:nvSpPr>
        <p:spPr>
          <a:xfrm>
            <a:off x="7114031" y="4700016"/>
            <a:ext cx="4389120" cy="502920"/>
          </a:xfrm>
          <a:prstGeom prst="rect">
            <a:avLst/>
          </a:prstGeom>
          <a:noFill/>
        </p:spPr>
        <p:txBody>
          <a:bodyPr wrap="square" lIns="0" tIns="0" rIns="0" bIns="0" anchor="t">
            <a:spAutoFit/>
          </a:bodyPr>
          <a:lstStyle/>
          <a:p>
            <a:r>
              <a:rPr sz="1250" b="0" i="0">
                <a:solidFill>
                  <a:srgbClr val="0B1F3A"/>
                </a:solidFill>
              </a:rPr>
              <a:t>Not the pipeline log. The response.</a:t>
            </a:r>
          </a:p>
        </p:txBody>
      </p:sp>
      <p:sp>
        <p:nvSpPr>
          <p:cNvPr id="1030" name="TextBox 1029"/>
          <p:cNvSpPr txBox="1"/>
          <p:nvPr/>
        </p:nvSpPr>
        <p:spPr>
          <a:xfrm>
            <a:off x="548640" y="5486400"/>
            <a:ext cx="11091672" cy="228600"/>
          </a:xfrm>
          <a:prstGeom prst="rect">
            <a:avLst/>
          </a:prstGeom>
          <a:noFill/>
        </p:spPr>
        <p:txBody>
          <a:bodyPr wrap="square" lIns="0" tIns="0" rIns="0" bIns="0" anchor="t">
            <a:spAutoFit/>
          </a:bodyPr>
          <a:lstStyle/>
          <a:p>
            <a:r>
              <a:rPr sz="1050" b="0" i="1">
                <a:solidFill>
                  <a:srgbClr val="0B1F3A"/>
                </a:solidFill>
              </a:rPr>
              <a:t>Hold each project to these six at every gate review.</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pPr algn="l"/>
            <a:r>
              <a:t>WRAP-UP</a:t>
            </a:r>
          </a:p>
        </p:txBody>
      </p:sp>
      <p:sp>
        <p:nvSpPr>
          <p:cNvPr id="3" name="Title 2"/>
          <p:cNvSpPr>
            <a:spLocks noGrp="1"/>
          </p:cNvSpPr>
          <p:nvPr>
            <p:ph type="title" idx="101"/>
          </p:nvPr>
        </p:nvSpPr>
        <p:spPr/>
        <p:txBody>
          <a:bodyPr/>
          <a:lstStyle/>
          <a:p>
            <a:pPr algn="l"/>
            <a:r>
              <a:t>Part 6 in four gates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24</a:t>
            </a:fld>
            <a:endParaRPr lang="en-US" b="0"/>
          </a:p>
        </p:txBody>
      </p:sp>
      <p:sp>
        <p:nvSpPr>
          <p:cNvPr id="1000" name="Rounded Rectangle 999"/>
          <p:cNvSpPr/>
          <p:nvPr/>
        </p:nvSpPr>
        <p:spPr>
          <a:xfrm>
            <a:off x="548640" y="1783080"/>
            <a:ext cx="5486400" cy="14630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Rounded Rectangle 1000"/>
          <p:cNvSpPr/>
          <p:nvPr/>
        </p:nvSpPr>
        <p:spPr>
          <a:xfrm>
            <a:off x="777240" y="201168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77240" y="2011680"/>
            <a:ext cx="457200" cy="457200"/>
          </a:xfrm>
          <a:prstGeom prst="rect">
            <a:avLst/>
          </a:prstGeom>
          <a:noFill/>
        </p:spPr>
        <p:txBody>
          <a:bodyPr wrap="square" lIns="0" tIns="0" rIns="0" bIns="0" anchor="ctr">
            <a:spAutoFit/>
          </a:bodyPr>
          <a:lstStyle/>
          <a:p>
            <a:pPr algn="ctr"/>
            <a:r>
              <a:rPr sz="2000" b="1" i="0">
                <a:solidFill>
                  <a:srgbClr val="FFFFFF"/>
                </a:solidFill>
                <a:latin typeface="+mj-lt"/>
              </a:rPr>
              <a:t>1</a:t>
            </a:r>
          </a:p>
        </p:txBody>
      </p:sp>
      <p:sp>
        <p:nvSpPr>
          <p:cNvPr id="1003" name="TextBox 1002"/>
          <p:cNvSpPr txBox="1"/>
          <p:nvPr/>
        </p:nvSpPr>
        <p:spPr>
          <a:xfrm>
            <a:off x="1417319" y="2112264"/>
            <a:ext cx="4114800" cy="228600"/>
          </a:xfrm>
          <a:prstGeom prst="rect">
            <a:avLst/>
          </a:prstGeom>
          <a:noFill/>
        </p:spPr>
        <p:txBody>
          <a:bodyPr wrap="square" lIns="0" tIns="0" rIns="0" bIns="0" anchor="t">
            <a:spAutoFit/>
          </a:bodyPr>
          <a:lstStyle/>
          <a:p>
            <a:r>
              <a:rPr sz="1000" b="1" i="0" spc="200">
                <a:solidFill>
                  <a:srgbClr val="1E49E2"/>
                </a:solidFill>
              </a:rPr>
              <a:t>UPSIZE GATE</a:t>
            </a:r>
          </a:p>
        </p:txBody>
      </p:sp>
      <p:sp>
        <p:nvSpPr>
          <p:cNvPr id="1004" name="TextBox 1003"/>
          <p:cNvSpPr txBox="1"/>
          <p:nvPr/>
        </p:nvSpPr>
        <p:spPr>
          <a:xfrm>
            <a:off x="777240" y="2606040"/>
            <a:ext cx="5029200" cy="594360"/>
          </a:xfrm>
          <a:prstGeom prst="rect">
            <a:avLst/>
          </a:prstGeom>
          <a:noFill/>
        </p:spPr>
        <p:txBody>
          <a:bodyPr wrap="square" lIns="0" tIns="0" rIns="0" bIns="0" anchor="t">
            <a:spAutoFit/>
          </a:bodyPr>
          <a:lstStyle/>
          <a:p>
            <a:r>
              <a:rPr sz="1500" b="0" i="0">
                <a:solidFill>
                  <a:srgbClr val="0B1F3A"/>
                </a:solidFill>
              </a:rPr>
              <a:t>Accept a model only when its charter has no open questions. Never answer one yourself.</a:t>
            </a:r>
          </a:p>
        </p:txBody>
      </p:sp>
      <p:sp>
        <p:nvSpPr>
          <p:cNvPr id="1005" name="Rounded Rectangle 1004"/>
          <p:cNvSpPr/>
          <p:nvPr/>
        </p:nvSpPr>
        <p:spPr>
          <a:xfrm>
            <a:off x="6153912" y="1783080"/>
            <a:ext cx="5486400" cy="14630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Rounded Rectangle 1005"/>
          <p:cNvSpPr/>
          <p:nvPr/>
        </p:nvSpPr>
        <p:spPr>
          <a:xfrm>
            <a:off x="6382512" y="201168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6382512" y="2011680"/>
            <a:ext cx="457200" cy="457200"/>
          </a:xfrm>
          <a:prstGeom prst="rect">
            <a:avLst/>
          </a:prstGeom>
          <a:noFill/>
        </p:spPr>
        <p:txBody>
          <a:bodyPr wrap="square" lIns="0" tIns="0" rIns="0" bIns="0" anchor="ctr">
            <a:spAutoFit/>
          </a:bodyPr>
          <a:lstStyle/>
          <a:p>
            <a:pPr algn="ctr"/>
            <a:r>
              <a:rPr sz="2000" b="1" i="0">
                <a:solidFill>
                  <a:srgbClr val="FFFFFF"/>
                </a:solidFill>
                <a:latin typeface="+mj-lt"/>
              </a:rPr>
              <a:t>2</a:t>
            </a:r>
          </a:p>
        </p:txBody>
      </p:sp>
      <p:sp>
        <p:nvSpPr>
          <p:cNvPr id="1008" name="TextBox 1007"/>
          <p:cNvSpPr txBox="1"/>
          <p:nvPr/>
        </p:nvSpPr>
        <p:spPr>
          <a:xfrm>
            <a:off x="7022592" y="2112264"/>
            <a:ext cx="4114800" cy="228600"/>
          </a:xfrm>
          <a:prstGeom prst="rect">
            <a:avLst/>
          </a:prstGeom>
          <a:noFill/>
        </p:spPr>
        <p:txBody>
          <a:bodyPr wrap="square" lIns="0" tIns="0" rIns="0" bIns="0" anchor="t">
            <a:spAutoFit/>
          </a:bodyPr>
          <a:lstStyle/>
          <a:p>
            <a:r>
              <a:rPr sz="1000" b="1" i="0" spc="200">
                <a:solidFill>
                  <a:srgbClr val="1E49E2"/>
                </a:solidFill>
              </a:rPr>
              <a:t>DEV GATE</a:t>
            </a:r>
          </a:p>
        </p:txBody>
      </p:sp>
      <p:sp>
        <p:nvSpPr>
          <p:cNvPr id="1009" name="TextBox 1008"/>
          <p:cNvSpPr txBox="1"/>
          <p:nvPr/>
        </p:nvSpPr>
        <p:spPr>
          <a:xfrm>
            <a:off x="6382512" y="2606040"/>
            <a:ext cx="5029200" cy="594360"/>
          </a:xfrm>
          <a:prstGeom prst="rect">
            <a:avLst/>
          </a:prstGeom>
          <a:noFill/>
        </p:spPr>
        <p:txBody>
          <a:bodyPr wrap="square" lIns="0" tIns="0" rIns="0" bIns="0" anchor="t">
            <a:spAutoFit/>
          </a:bodyPr>
          <a:lstStyle/>
          <a:p>
            <a:r>
              <a:rPr sz="1500" b="0" i="0">
                <a:solidFill>
                  <a:srgbClr val="0B1F3A"/>
                </a:solidFill>
              </a:rPr>
              <a:t>DEV is done when the running app answers, not when the pipeline is green.</a:t>
            </a:r>
          </a:p>
        </p:txBody>
      </p:sp>
      <p:sp>
        <p:nvSpPr>
          <p:cNvPr id="1010" name="Rounded Rectangle 1009"/>
          <p:cNvSpPr/>
          <p:nvPr/>
        </p:nvSpPr>
        <p:spPr>
          <a:xfrm>
            <a:off x="548640" y="3383280"/>
            <a:ext cx="5486400" cy="14630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Rounded Rectangle 1010"/>
          <p:cNvSpPr/>
          <p:nvPr/>
        </p:nvSpPr>
        <p:spPr>
          <a:xfrm>
            <a:off x="777240" y="3611880"/>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TextBox 1011"/>
          <p:cNvSpPr txBox="1"/>
          <p:nvPr/>
        </p:nvSpPr>
        <p:spPr>
          <a:xfrm>
            <a:off x="777240" y="3611880"/>
            <a:ext cx="457200" cy="457200"/>
          </a:xfrm>
          <a:prstGeom prst="rect">
            <a:avLst/>
          </a:prstGeom>
          <a:noFill/>
        </p:spPr>
        <p:txBody>
          <a:bodyPr wrap="square" lIns="0" tIns="0" rIns="0" bIns="0" anchor="ctr">
            <a:spAutoFit/>
          </a:bodyPr>
          <a:lstStyle/>
          <a:p>
            <a:pPr algn="ctr"/>
            <a:r>
              <a:rPr sz="2000" b="1" i="0">
                <a:solidFill>
                  <a:srgbClr val="FFFFFF"/>
                </a:solidFill>
                <a:latin typeface="+mj-lt"/>
              </a:rPr>
              <a:t>3</a:t>
            </a:r>
          </a:p>
        </p:txBody>
      </p:sp>
      <p:sp>
        <p:nvSpPr>
          <p:cNvPr id="1013" name="TextBox 1012"/>
          <p:cNvSpPr txBox="1"/>
          <p:nvPr/>
        </p:nvSpPr>
        <p:spPr>
          <a:xfrm>
            <a:off x="1417319" y="3712464"/>
            <a:ext cx="4114800" cy="228600"/>
          </a:xfrm>
          <a:prstGeom prst="rect">
            <a:avLst/>
          </a:prstGeom>
          <a:noFill/>
        </p:spPr>
        <p:txBody>
          <a:bodyPr wrap="square" lIns="0" tIns="0" rIns="0" bIns="0" anchor="t">
            <a:spAutoFit/>
          </a:bodyPr>
          <a:lstStyle/>
          <a:p>
            <a:r>
              <a:rPr sz="1000" b="1" i="0" spc="200">
                <a:solidFill>
                  <a:srgbClr val="1E49E2"/>
                </a:solidFill>
              </a:rPr>
              <a:t>SCOPE GATE</a:t>
            </a:r>
          </a:p>
        </p:txBody>
      </p:sp>
      <p:sp>
        <p:nvSpPr>
          <p:cNvPr id="1014" name="TextBox 1013"/>
          <p:cNvSpPr txBox="1"/>
          <p:nvPr/>
        </p:nvSpPr>
        <p:spPr>
          <a:xfrm>
            <a:off x="777240" y="4206240"/>
            <a:ext cx="5029200" cy="594360"/>
          </a:xfrm>
          <a:prstGeom prst="rect">
            <a:avLst/>
          </a:prstGeom>
          <a:noFill/>
        </p:spPr>
        <p:txBody>
          <a:bodyPr wrap="square" lIns="0" tIns="0" rIns="0" bIns="0" anchor="t">
            <a:spAutoFit/>
          </a:bodyPr>
          <a:lstStyle/>
          <a:p>
            <a:r>
              <a:rPr sz="1500" b="0" i="0">
                <a:solidFill>
                  <a:srgbClr val="0B1F3A"/>
                </a:solidFill>
              </a:rPr>
              <a:t>The full flow works, every state is reachable, and the rails are green.</a:t>
            </a:r>
          </a:p>
        </p:txBody>
      </p:sp>
      <p:sp>
        <p:nvSpPr>
          <p:cNvPr id="1015" name="Rounded Rectangle 1014"/>
          <p:cNvSpPr/>
          <p:nvPr/>
        </p:nvSpPr>
        <p:spPr>
          <a:xfrm>
            <a:off x="6153912" y="3383280"/>
            <a:ext cx="5486400" cy="14630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Rounded Rectangle 1015"/>
          <p:cNvSpPr/>
          <p:nvPr/>
        </p:nvSpPr>
        <p:spPr>
          <a:xfrm>
            <a:off x="6382512" y="3611880"/>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6382512" y="3611880"/>
            <a:ext cx="457200" cy="457200"/>
          </a:xfrm>
          <a:prstGeom prst="rect">
            <a:avLst/>
          </a:prstGeom>
          <a:noFill/>
        </p:spPr>
        <p:txBody>
          <a:bodyPr wrap="square" lIns="0" tIns="0" rIns="0" bIns="0" anchor="ctr">
            <a:spAutoFit/>
          </a:bodyPr>
          <a:lstStyle/>
          <a:p>
            <a:pPr algn="ctr"/>
            <a:r>
              <a:rPr sz="2000" b="1" i="0">
                <a:solidFill>
                  <a:srgbClr val="FFFFFF"/>
                </a:solidFill>
                <a:latin typeface="+mj-lt"/>
              </a:rPr>
              <a:t>4</a:t>
            </a:r>
          </a:p>
        </p:txBody>
      </p:sp>
      <p:sp>
        <p:nvSpPr>
          <p:cNvPr id="1018" name="TextBox 1017"/>
          <p:cNvSpPr txBox="1"/>
          <p:nvPr/>
        </p:nvSpPr>
        <p:spPr>
          <a:xfrm>
            <a:off x="7022592" y="3712464"/>
            <a:ext cx="4114800" cy="228600"/>
          </a:xfrm>
          <a:prstGeom prst="rect">
            <a:avLst/>
          </a:prstGeom>
          <a:noFill/>
        </p:spPr>
        <p:txBody>
          <a:bodyPr wrap="square" lIns="0" tIns="0" rIns="0" bIns="0" anchor="t">
            <a:spAutoFit/>
          </a:bodyPr>
          <a:lstStyle/>
          <a:p>
            <a:r>
              <a:rPr sz="1000" b="1" i="0" spc="200">
                <a:solidFill>
                  <a:srgbClr val="1E49E2"/>
                </a:solidFill>
              </a:rPr>
              <a:t>GO-LIVE GATE</a:t>
            </a:r>
          </a:p>
        </p:txBody>
      </p:sp>
      <p:sp>
        <p:nvSpPr>
          <p:cNvPr id="1019" name="TextBox 1018"/>
          <p:cNvSpPr txBox="1"/>
          <p:nvPr/>
        </p:nvSpPr>
        <p:spPr>
          <a:xfrm>
            <a:off x="6382512" y="4206240"/>
            <a:ext cx="5029200" cy="594360"/>
          </a:xfrm>
          <a:prstGeom prst="rect">
            <a:avLst/>
          </a:prstGeom>
          <a:noFill/>
        </p:spPr>
        <p:txBody>
          <a:bodyPr wrap="square" lIns="0" tIns="0" rIns="0" bIns="0" anchor="t">
            <a:spAutoFit/>
          </a:bodyPr>
          <a:lstStyle/>
          <a:p>
            <a:r>
              <a:rPr sz="1500" b="0" i="0">
                <a:solidFill>
                  <a:srgbClr val="0B1F3A"/>
                </a:solidFill>
              </a:rPr>
              <a:t>Signed off, every approval closed, same tag promoted, running app verified.</a:t>
            </a:r>
          </a:p>
        </p:txBody>
      </p:sp>
      <p:sp>
        <p:nvSpPr>
          <p:cNvPr id="1020" name="Rounded Rectangle 1019"/>
          <p:cNvSpPr/>
          <p:nvPr/>
        </p:nvSpPr>
        <p:spPr>
          <a:xfrm>
            <a:off x="548640" y="5120640"/>
            <a:ext cx="11091672" cy="54864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TextBox 1020"/>
          <p:cNvSpPr txBox="1"/>
          <p:nvPr/>
        </p:nvSpPr>
        <p:spPr>
          <a:xfrm>
            <a:off x="822960" y="5120640"/>
            <a:ext cx="10607040" cy="548640"/>
          </a:xfrm>
          <a:prstGeom prst="rect">
            <a:avLst/>
          </a:prstGeom>
          <a:noFill/>
        </p:spPr>
        <p:txBody>
          <a:bodyPr wrap="square" lIns="0" tIns="0" rIns="0" bIns="0" anchor="ctr">
            <a:spAutoFit/>
          </a:bodyPr>
          <a:lstStyle/>
          <a:p>
            <a:r>
              <a:rPr sz="1600" b="0" i="1">
                <a:solidFill>
                  <a:srgbClr val="FFFFFF"/>
                </a:solidFill>
              </a:rPr>
              <a:t>The artifact you produce along the way is the one you never have to write under deadline.</a:t>
            </a:r>
          </a:p>
        </p:txBody>
      </p:sp>
      <p:sp>
        <p:nvSpPr>
          <p:cNvPr id="1022" name="TextBox 1021"/>
          <p:cNvSpPr txBox="1"/>
          <p:nvPr/>
        </p:nvSpPr>
        <p:spPr>
          <a:xfrm>
            <a:off x="548640" y="5806440"/>
            <a:ext cx="11091672" cy="228600"/>
          </a:xfrm>
          <a:prstGeom prst="rect">
            <a:avLst/>
          </a:prstGeom>
          <a:noFill/>
        </p:spPr>
        <p:txBody>
          <a:bodyPr wrap="square" lIns="0" tIns="0" rIns="0" bIns="0" anchor="t">
            <a:spAutoFit/>
          </a:bodyPr>
          <a:lstStyle/>
          <a:p>
            <a:r>
              <a:rPr sz="1050" b="0" i="1">
                <a:solidFill>
                  <a:srgbClr val="0B1F3A"/>
                </a:solidFill>
              </a:rPr>
              <a:t>The delivery map, the gate register and every skill are in the process-canon repository. Named owners to be confirmed with TDMI.</a:t>
            </a:r>
          </a:p>
        </p:txBody>
      </p:sp>
    </p:spTree>
  </p:cSld>
  <p:clrMapOvr>
    <a:masterClrMapping/>
  </p:clrMapOvr>
</p:sld>
</file>

<file path=ppt/theme/theme1.xml><?xml version="1.0" encoding="utf-8"?>
<a:theme xmlns:a="http://schemas.openxmlformats.org/drawingml/2006/main" name="TDMI Fabric Training">
  <a:themeElements>
    <a:clrScheme name="TDMI Fabric Training">
      <a:dk1>
        <a:srgbClr val="0B1F3A"/>
      </a:dk1>
      <a:lt1>
        <a:srgbClr val="FFFFFF"/>
      </a:lt1>
      <a:dk2>
        <a:srgbClr val="00338D"/>
      </a:dk2>
      <a:lt2>
        <a:srgbClr val="EEF3FB"/>
      </a:lt2>
      <a:accent1>
        <a:srgbClr val="1E49E2"/>
      </a:accent1>
      <a:accent2>
        <a:srgbClr val="00A3A1"/>
      </a:accent2>
      <a:accent3>
        <a:srgbClr val="F2A900"/>
      </a:accent3>
      <a:accent4>
        <a:srgbClr val="B5651D"/>
      </a:accent4>
      <a:accent5>
        <a:srgbClr val="8D99A6"/>
      </a:accent5>
      <a:accent6>
        <a:srgbClr val="C9A227"/>
      </a:accent6>
      <a:hlink>
        <a:srgbClr val="1E49E2"/>
      </a:hlink>
      <a:folHlink>
        <a:srgbClr val="6B3FA0"/>
      </a:folHlink>
    </a:clrScheme>
    <a:fontScheme name="TDMI Fabric Trai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85</Slides>
  <Notes>85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85</vt:i4>
      </vt:variant>
    </vt:vector>
  </HeadingPairs>
  <TitlesOfParts>
    <vt:vector size="8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Fabric &amp; DevOps Enablement: Day Three, Shipping to production</dc:title>
  <dc:subject>Disney Tax Data Management &amp; Innovation: Fabric training, Day Three (Parts 5 and 6)</dc:subject>
  <dc:creator>KPMG</dc:creator>
  <cp:lastModifiedBy>KPMG</cp:lastModifiedBy>
  <cp:revision>1</cp:revision>
  <dcterms:created xsi:type="dcterms:W3CDTF">2026-10-13T21:41:53Z</dcterms:created>
  <dcterms:modified xsi:type="dcterms:W3CDTF">2026-10-13T21:41:53Z</dcterms:modified>
</cp:coreProperties>
</file>