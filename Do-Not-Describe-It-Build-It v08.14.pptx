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8"/>
  </p:notesMasterIdLst>
  <p:sldIdLst>
    <p:sldId id="256" r:id="rId5"/>
    <p:sldId id="286" r:id="rId6"/>
    <p:sldId id="287" r:id="rId7"/>
    <p:sldId id="288"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19E0AC-B34D-4810-98A7-F8296A3AEE5A}" v="5" dt="2026-08-19T17:55:03.6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60"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95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Before the hack-a-thon starts, I want to give you one idea and one skill. The idea: the best requirements document is not a document. It is a working model of the app you want. The skill: how to use Claude Code Desktop to build that model as one HTML file in an afternoon. This talk is not about tools for their own sake. It is about the oldest problem in software: being understood. We have about fifty minutes: the case for models, the craft of building them, and what this changes about requirements. Questions come at the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the shape of the hour. Act one is the argument: what is broken about requirements documents, and why a clickable model fixes it. Act two is the training core. You already know your way around Claude Code. So we focus on the craft of building models: the session setup, the prompts, the iteration loop, and the quality bar. Act three zooms back out: what this technique means for how work reaches the development team, and what it does not change. Then questions.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know this story because you lived it. Every application starts as a picture in someone's head: complete, coherent, and unwritten. Conversation compresses it. A document freezes it. People who were not in the room interpret it. Then someone builds it. Each hand-off is a translation, and every translation loses something. The loss appears at the demo, months later, at the most expensive possible moment. Nobody in that chain did anything wrong. The medium did this. Hold that thought. Everything today is about a change of medium.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do documents keep failing us? Three structural reasons, and none of them is about effort or writing skill. First, translation loss. Prose is a lossy format for intent, and every reader decompresses it a little differently. Second, the imagination gap, and this is the big one. People are genuinely bad at specifying things they have never seen. People are genuinely great at reacting to things in front of them. Documents demand the skill we lack. Third, staleness. A document is a snapshot of one afternoon of understanding, and the understanding keeps moving after the ink dries. The fix is not a better document. The fix is a medium that plays to the skill we have: reacting.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the whole talk in one sentence. For the entire history of software, working prototypes were the expensive artifact. They cost weeks of developer time. So we produced cheap descriptions instead. Documents were never the goal. They were a cost-saving workaround. AI-assisted coding flipped the cost structure. Today, a business user with Claude Code can build a working, clickable version of an idea faster than they can write and reconcile a specification about it. And the working version communicates more. When the cheapest artifact is also the highest-fidelity one, describe-first stops making sense. Everything else today follows from this one inversion.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we name the thing we make. We call it a model: a static, single-file HTML application that looks and feels like the app you want. Five properties define it. It is one file, with markup, styles, behavior, and data all inside. It looks and feels real. You click through screens, sort tables, open records. The data is realistic but entirely fabricated. There is no backend at all: no server, no real login, nothing connected. And it opens with a double-click, on any machine, with no setup. The word model is deliberate. Like an architect's scale model, it is cheap enough to throw away and clear enough to build the real thing from.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 the hood, a model is deliberately simple. One file. At the very top sits a comment block we call the Model Charter. We spend a whole slide on it later, because it is the hand-off letter to the developers. Then one style block for the entire look. Each screen is just a section of the page that JavaScript shows or hides. That is how one file can feel like a multi-screen app. And at the bottom, the behavior plus the fake data, in memory. Why insist on a single file? It makes the model perfectly portable. It opens anywhere with a double-click. It is durable. It opens identically six months from now. And it is inspectable. The whole specification is readable in one place.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the full pipeline. You and Claude Code spend hours, not weeks, and produce model.html. That file goes to the development team with its charter. The team reviews it, asks about the open questions, and then upsizes it. Upsizing means: rebuild it properly, with real data, real security, real integrations, on the real stack. The word is deliberate. Your model is the requirements input, not the starting codebase. Nobody takes your prototype and ships it. Think of it like handing an architect a detailed scale model instead of a letter about your dream house. The builder still does the engineering. But the builder finally knows exactly what house you meant.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Put yourself in the chair of the development team. From a document, they get layouts in paragraphs, and every reader pictures those differently. They get workflows as numbered steps that nobody can click, and field lists with no shapes or examples. Weeks of clarification meetings close the gaps, or worse, guesses do. From a model, they get the exact layout and labels, workflows they can click end to end, the awkward states already demonstrated, and data shapes they can read straight out of the fake rows. The first conversation changes character completely. It stops being: what did you mean? It becomes: here is what it takes to build. That is a fundamentally better meeting.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the honest slide, and I mean every word of it. A model is not real data. Ever. It is not secure. The login screen is theater. It is not connected to anything. It proves a layout, not performance. And it is not production code. The development team rebuilds it properly, on the real stack. Say this out loud early and often, because it protects everyone. Requesters do not expect their prototype to ship on Monday. Developers do not feel their craft is trivialized. Those five gaps are precisely what upsizing means, and upsizing is serious engineering. The division of labor is clean. The model decides what to build. Engineering decides how.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the benefit nobody advertises. The first person to click through the model is not a developer. It is you. And the model interrogates you. You filter the table and it comes back empty. What should this screen say? You open a notice with no assignee. Is that even allowed? You try to move a status backward. Should that work? Every one of those is a requirement, and no document template ever forced anyone to write it down. With a model, you discover your own gaps in minutes, before development starts, when a wrong answer costs nothing. That is the quiet superpower of this whole approach. The model makes you the first tester of your own thinking.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 two. You all use Claude Code, so we skip installation and hello-world. We work in the Desktop app today. This section is the craft: the specific habits that make model building fast, and that make the result useful to the development team. Eleven ideas. Each one is small. Together they separate a convincing model from a pretty screenshot.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ninety-second refresher, because the mental model matters more than the buttons. Claude Code Desktop looks like a chat app. It is not one. It is an agent. It takes real actions on real files. Every session roots to one folder, and you pick that folder when the session starts. That folder is its whole world, and we exploit that in a minute. The interaction is plain English in, file changes out. The app shows every change, and you can review the diffs. The last card matters most. Claude drafts fast and confidently, and sometimes it is confidently wrong. You remain the reviewer. You look, you judge, you steer. That is the entire theory. The rest of this act is technique.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Setup takes two minutes and pays for itself all day. Step one: make a dedicated folder per model, empty and standalone. Step two: drop in a file named CLAUDE.md. Think of it as the standing orders for the session. Claude Code reads that file automatically when the session starts. You do not paste it. You do not mention it. It just governs. Step three: in Claude Code Desktop, start a new session and select this folder as the working directory. The session begins with the rules loaded. One caution. Claude Code also picks up CLAUDE.md files from parent folders. If your folder sits inside some existing project, those instructions blend with yours. A clean standalone folder keeps the session pure.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goes in the standing orders? Four sections. Hard rules: the constraints that must never break. One file, fabricated data only, no external calls, no project scaffolding. Working style: keep section markers in the HTML, make small edits, offer checkpoint saves, keep the charter current. A quality bar: realistic rows, every state reachable, out-of-scope items visibly labeled. And a starter prompt, so the first message of the session lands well. Why bother? These are exactly the things you would otherwise repeat in every single prompt. Written once in CLAUDE.md, the whole session obeys them, even fifty prompts in. And when a whole group uses the same file, every model comes back meeting the same bar.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good session starts with a founding prompt, and it has five ingredients. Who uses the app. What job it does, in verbs, not features. The main screens, as a plain list. The key data: the entities and a few fields each. You do not need a schema, just the nouns. The fifth ingredient is the trick. End with: propose the screen list and layout first. Claude presents its plan before it builds, and that catches misunderstanding at the cheapest possible moment. Notice the echo. That is the argument for models, one level down. Read the example. It is about six sentences. Six sentences of clarity buy an afternoon of speed.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Once the shell exists, the whole day is this loop. Ask for something small: one screen, one change, one idea. Claude edits the file in seconds. You refresh the browser. And yes, keep the browser open right next to the Claude Code window all day. The refresh key is your feedback loop. Look at the actual thing. Then point precisely at what is off, and go again. The rhythm matters more than any single prompt. People who struggle with Claude Code almost always batch. They ask for ten things, wait, then untangle which of the ten went wrong. Momentum comes from many small correct steps, never one giant leap.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the single highest-leverage habit. Vague words force Claude to guess, and a guess means another round trip. Make the table look better could go forty directions. Make Status a colored pill, green Resolved, amber In Review, red Overdue, goes exactly one direction, and it is yours, on the first try. Same with the page feels empty versus a named panel, named fields, and a sort order. Notice the pattern. Name the element, name the change, give the values. Screens are made of nouns: tables, columns, pills, panels. Use those nouns. Specificity is not extra work. It is the work, moved to the cheap end of the loop.</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fastest way to describe the spreadsheet you replace is to not describe it at all. Show it. Claude reads images. A screenshot of the legacy screen communicates layout, columns, and terminology in one shot. Five hundred words of prose cannot match it. Sketches count too. A whiteboard photo or a napkin drawing is a perfectly good layout spec. Rough is fine, because placement matters, not polish. The mechanics: drop the image file into your session folder and reference it by name. One caution matters here. The fabricated-data rule applies to what goes in, not just what comes out. If the screenshot shows real vendors or real amounts, scrub or mock it first.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rules about data, and both are load-bearing. First: make it realistic. Ask Claude for ten-plus rows with genuine variety: plausible names, dates, amounts, statuses. Believable data makes reviewers take the model seriously, and it does real spec work. A long vendor name that wraps badly is a layout requirement you just discovered for free. Second, and this rule has no exceptions: keep it fabricated. No real vendors, no real tax IDs, no invoice numbers, no employees. Nothing copied from a production system. Models travel by design. They get emailed, dropped in Teams, posted to SharePoint. Production data must never travel with them. When in doubt, invent. Claude invents plausible data very well if you ask.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Happy paths are easy. Every demo shows the populated table. But four states define how an app actually feels, and each one is a decision. Empty: a brand new user, no rows yet. What does the screen say, and what is the first action it offers? Error: the save fails. What does the user read, and what can they do about it? Success: how do they know it worked, and where do they land? Loading: even faked with a half-second delay, it decides what waiting feels like. Here is the point. What happens when the list is empty is a requirement that no document template has ever forced anyone to write down. A model forces the answer. Demand all four states from Claude. It builds them happily. You just have to ask.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habits keep a bad hour from becoming a bad day. First, checkpoints. At every milestone, ask Claude to save a numbered copy: model-v1, v2, v3. It costs nothing and it is your undo button. Never overwrite one. Second, recovery. Sooner or later a session gets confused. You ask for a fix and get a worse version. You ask again and get worse still. Do not argue with a confused session. You cannot win, and every exchange muddies it further. Instead: stop. Start a fresh session in the same folder. Your files and checkpoints stay exactly where they are, and the new session reads your standing orders again. Then restate cleanly against the last good version: start from model-v2, add the dashboard. Reset and restate takes minutes. Arguing takes an afternoon.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the piece that makes the hand-off actually work: the Model Charter. It is a comment block at the very top of the file. What the app is, who it is for, the assumptions you made, the questions you could not answer, and what is deliberately out of scope. The screens show what. The charter says why, and for whom, and what is missing on purpose. Those open questions are not a weakness. They become the agenda for the first upsizing conversation. And because the charter lives inside the file, the requirements can never separate from the model. Best part: you do not maintain it by hand. Your standing orders tell Claude to create it first and update it whenever a decision lands. And it will.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what does good actually look like? Five checks. Clickable end to end: every primary workflow completes, and no dead buttons exist unless a label marks them. Believable data: enough rows, enough variety, that sorting and filtering look true. States shown: empty, error, and success all reachable. Honest edges: anything out of scope stays visible and carries a future label, never silently dropped, because a dropped element reads as a decision you did not make. And a complete, current charter. Then apply the one test that beats all five: the cold handoff. Give the file to a person who has never seen it, and say nothing. If they can navigate it without your narration, the model is done. If you find yourself explaining, that explanation belongs in the model.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Last act, and the shortest. We zoom out from technique to what this changes about how requirements move through an organization. Three ideas: how roles shift, how the flow inverts, and what stays exactly the same.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Whenever a workflow changes this much, the first question is: who loses their job? So we answer it. Nobody. Everybody moves up a level. Requesters become authors of intent. Instead of describing the app to a chain of intermediaries, you express it directly, in a medium that nobody can misread. Analysts move from transcription to judgment. They curate and sharpen models, spot where two teams asked for the same thing, and connect requirements across the portfolio. And developers become upsizers, which is a promotion, not a demotion. Freed from guessing intent, they spend their skill on the engineering that genuinely needs engineers. The translation layer thins. The judgment stays. All of it.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Put the two flows side by side and the inversion is obvious. The old flow: interview, document, mockup, build, surprise. Weeks or months of words pass before anyone sees anything. So the feedback arrives at the very end, where it costs the most to act on. The model-first flow: build, react, refine, upsize. Something real is on screen in the first hour. So the feedback arrives at the start, where it is nearly free. Same people, same rigor, opposite ordering of when reality shows up. And it changes what meetings are. A requirements meeting stops being a debate about words on a page. It becomes a review of a thing on a screen. Debates about words go in circles. Reviews of things converge.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slide of reassurance, because it is earned. Security and access control, data architecture, integrations, testing and controls, performance and scale: none of it changes. All of it happens with full rigor, on the real stack, by the people trained to do it. What models change is what flows into that engineering. Instead of a document that requires interpretation, the dev team starts from clear, early, clickable intent, with the assumptions and open questions attached. The floor of every project rises. That is the honest pitch. Not less engineering. Better-fed engineering.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you take one line out of this room, make it this one: the best requirements document is a working model of the answer. Everything else today, the founding prompt, the loop, the states, the charter, is just how you produce that model well. So here is the ask. The next time you need an application built, do not open a blank document. Open a folder, drop in the standing orders, and start a model. Pick a real one, about something that annoys you weekly. An afternoon of building says more than a month of writing.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the floor. Likely questions, with honest answers. Will the dev team use these? Yes. A model plus charter is a better input than any document, and the open-questions list becomes the agenda of the first meeting. What if my model is ugly? Irrelevant. It is a communication artifact, not a product. How long does one take? A focused afternoon produces a credible first model. Can I use real data just this once? No. Invent it. Claude invents plausible data well. Close on the practice: the next real request you have is the first model worth building.</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4.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15.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4.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40.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F47"/>
        </a:solidFill>
        <a:effectLst/>
      </p:bgPr>
    </p:bg>
    <p:spTree>
      <p:nvGrpSpPr>
        <p:cNvPr id="1" name=""/>
        <p:cNvGrpSpPr/>
        <p:nvPr/>
      </p:nvGrpSpPr>
      <p:grpSpPr>
        <a:xfrm>
          <a:off x="0" y="0"/>
          <a:ext cx="0" cy="0"/>
          <a:chOff x="0" y="0"/>
          <a:chExt cx="0" cy="0"/>
        </a:xfrm>
      </p:grpSpPr>
      <p:sp>
        <p:nvSpPr>
          <p:cNvPr id="2" name="Shape 0"/>
          <p:cNvSpPr/>
          <p:nvPr/>
        </p:nvSpPr>
        <p:spPr>
          <a:xfrm>
            <a:off x="9692640" y="-1920240"/>
            <a:ext cx="4937760" cy="4937760"/>
          </a:xfrm>
          <a:prstGeom prst="ellipse">
            <a:avLst/>
          </a:prstGeom>
          <a:solidFill>
            <a:srgbClr val="0F8B8D">
              <a:alpha val="14000"/>
            </a:srgbClr>
          </a:solidFill>
          <a:ln/>
        </p:spPr>
        <p:txBody>
          <a:bodyPr/>
          <a:lstStyle/>
          <a:p>
            <a:endParaRPr lang="en-US"/>
          </a:p>
        </p:txBody>
      </p:sp>
      <p:sp>
        <p:nvSpPr>
          <p:cNvPr id="3" name="Shape 1"/>
          <p:cNvSpPr/>
          <p:nvPr/>
        </p:nvSpPr>
        <p:spPr>
          <a:xfrm>
            <a:off x="10881360" y="4480560"/>
            <a:ext cx="3291840" cy="3291840"/>
          </a:xfrm>
          <a:prstGeom prst="ellipse">
            <a:avLst/>
          </a:prstGeom>
          <a:solidFill>
            <a:srgbClr val="DFA13F">
              <a:alpha val="10000"/>
            </a:srgbClr>
          </a:solidFill>
          <a:ln/>
        </p:spPr>
        <p:txBody>
          <a:bodyPr/>
          <a:lstStyle/>
          <a:p>
            <a:endParaRPr lang="en-US"/>
          </a:p>
        </p:txBody>
      </p:sp>
      <p:sp>
        <p:nvSpPr>
          <p:cNvPr id="4" name="Shape 2"/>
          <p:cNvSpPr/>
          <p:nvPr/>
        </p:nvSpPr>
        <p:spPr>
          <a:xfrm>
            <a:off x="-1463040" y="4937760"/>
            <a:ext cx="3840480" cy="3840480"/>
          </a:xfrm>
          <a:prstGeom prst="ellipse">
            <a:avLst/>
          </a:prstGeom>
          <a:solidFill>
            <a:srgbClr val="0F8B8D">
              <a:alpha val="10000"/>
            </a:srgbClr>
          </a:solidFill>
          <a:ln/>
        </p:spPr>
        <p:txBody>
          <a:bodyPr/>
          <a:lstStyle/>
          <a:p>
            <a:endParaRPr lang="en-US"/>
          </a:p>
        </p:txBody>
      </p:sp>
      <p:sp>
        <p:nvSpPr>
          <p:cNvPr id="5" name="Text 3"/>
          <p:cNvSpPr/>
          <p:nvPr/>
        </p:nvSpPr>
        <p:spPr>
          <a:xfrm>
            <a:off x="822960" y="1417320"/>
            <a:ext cx="10515600" cy="320040"/>
          </a:xfrm>
          <a:prstGeom prst="rect">
            <a:avLst/>
          </a:prstGeom>
          <a:noFill/>
          <a:ln/>
        </p:spPr>
        <p:txBody>
          <a:bodyPr wrap="square" lIns="0" tIns="0" rIns="0" bIns="0" rtlCol="0" anchor="ctr"/>
          <a:lstStyle/>
          <a:p>
            <a:pPr marL="0" indent="0">
              <a:buNone/>
            </a:pPr>
            <a:r>
              <a:rPr lang="en-US" sz="1300" b="1" kern="0" spc="300">
                <a:solidFill>
                  <a:srgbClr val="DFA13F"/>
                </a:solidFill>
                <a:latin typeface="Calibri" pitchFamily="34" charset="0"/>
                <a:ea typeface="Calibri" pitchFamily="34" charset="-122"/>
                <a:cs typeface="Calibri" pitchFamily="34" charset="-120"/>
              </a:rPr>
              <a:t>SINGLE-FILE HTML MODELS WITH CLAUDE CODE DESKTOP</a:t>
            </a:r>
            <a:endParaRPr lang="en-US" sz="1300"/>
          </a:p>
        </p:txBody>
      </p:sp>
      <p:sp>
        <p:nvSpPr>
          <p:cNvPr id="6" name="Text 4"/>
          <p:cNvSpPr/>
          <p:nvPr/>
        </p:nvSpPr>
        <p:spPr>
          <a:xfrm>
            <a:off x="777240" y="1783080"/>
            <a:ext cx="10607040" cy="2286000"/>
          </a:xfrm>
          <a:prstGeom prst="rect">
            <a:avLst/>
          </a:prstGeom>
          <a:noFill/>
          <a:ln/>
        </p:spPr>
        <p:txBody>
          <a:bodyPr wrap="square" lIns="0" tIns="0" rIns="0" bIns="0" rtlCol="0" anchor="ctr"/>
          <a:lstStyle/>
          <a:p>
            <a:pPr marL="0" indent="0">
              <a:lnSpc>
                <a:spcPct val="100000"/>
              </a:lnSpc>
              <a:buNone/>
            </a:pPr>
            <a:r>
              <a:rPr lang="en-US" sz="6000" b="1">
                <a:solidFill>
                  <a:srgbClr val="FFFFFF"/>
                </a:solidFill>
                <a:latin typeface="Cambria" pitchFamily="34" charset="0"/>
                <a:ea typeface="Cambria" pitchFamily="34" charset="-122"/>
                <a:cs typeface="Cambria" pitchFamily="34" charset="-120"/>
              </a:rPr>
              <a:t>Do Not Describe It.
</a:t>
            </a:r>
            <a:r>
              <a:rPr lang="en-US" sz="6000" b="1">
                <a:solidFill>
                  <a:srgbClr val="7ED4D6"/>
                </a:solidFill>
                <a:latin typeface="Cambria" pitchFamily="34" charset="0"/>
                <a:ea typeface="Cambria" pitchFamily="34" charset="-122"/>
                <a:cs typeface="Cambria" pitchFamily="34" charset="-120"/>
              </a:rPr>
              <a:t>Build It.</a:t>
            </a:r>
            <a:endParaRPr lang="en-US" sz="6000"/>
          </a:p>
        </p:txBody>
      </p:sp>
      <p:sp>
        <p:nvSpPr>
          <p:cNvPr id="7" name="Text 5"/>
          <p:cNvSpPr/>
          <p:nvPr/>
        </p:nvSpPr>
        <p:spPr>
          <a:xfrm>
            <a:off x="822960" y="4160520"/>
            <a:ext cx="8778240" cy="731520"/>
          </a:xfrm>
          <a:prstGeom prst="rect">
            <a:avLst/>
          </a:prstGeom>
          <a:noFill/>
          <a:ln/>
        </p:spPr>
        <p:txBody>
          <a:bodyPr wrap="square" lIns="0" tIns="0" rIns="0" bIns="0" rtlCol="0" anchor="ctr"/>
          <a:lstStyle/>
          <a:p>
            <a:pPr marL="0" indent="0">
              <a:buNone/>
            </a:pPr>
            <a:r>
              <a:rPr lang="en-US" sz="1700">
                <a:solidFill>
                  <a:srgbClr val="C7D6DF"/>
                </a:solidFill>
                <a:latin typeface="Calibri" pitchFamily="34" charset="0"/>
                <a:ea typeface="Calibri" pitchFamily="34" charset="-122"/>
                <a:cs typeface="Calibri" pitchFamily="34" charset="-120"/>
              </a:rPr>
              <a:t>Why working models replace requirements documents, and how to build one well.</a:t>
            </a:r>
            <a:endParaRPr lang="en-US" sz="1700"/>
          </a:p>
        </p:txBody>
      </p:sp>
      <p:sp>
        <p:nvSpPr>
          <p:cNvPr id="8" name="Shape 6"/>
          <p:cNvSpPr/>
          <p:nvPr/>
        </p:nvSpPr>
        <p:spPr>
          <a:xfrm>
            <a:off x="841248" y="5257800"/>
            <a:ext cx="4023360" cy="0"/>
          </a:xfrm>
          <a:prstGeom prst="line">
            <a:avLst/>
          </a:prstGeom>
          <a:noFill/>
          <a:ln w="15875">
            <a:solidFill>
              <a:srgbClr val="0F8B8D"/>
            </a:solidFill>
            <a:prstDash val="solid"/>
          </a:ln>
        </p:spPr>
        <p:txBody>
          <a:bodyPr/>
          <a:lstStyle/>
          <a:p>
            <a:endParaRPr lang="en-US"/>
          </a:p>
        </p:txBody>
      </p:sp>
      <p:sp>
        <p:nvSpPr>
          <p:cNvPr id="9" name="Text 7"/>
          <p:cNvSpPr/>
          <p:nvPr/>
        </p:nvSpPr>
        <p:spPr>
          <a:xfrm>
            <a:off x="822960" y="5440680"/>
            <a:ext cx="8229600" cy="685800"/>
          </a:xfrm>
          <a:prstGeom prst="rect">
            <a:avLst/>
          </a:prstGeom>
          <a:noFill/>
          <a:ln/>
        </p:spPr>
        <p:txBody>
          <a:bodyPr wrap="square" lIns="0" tIns="0" rIns="0" bIns="0" rtlCol="0" anchor="ctr"/>
          <a:lstStyle/>
          <a:p>
            <a:pPr marL="0" indent="0">
              <a:lnSpc>
                <a:spcPct val="125000"/>
              </a:lnSpc>
              <a:buNone/>
            </a:pPr>
            <a:r>
              <a:rPr lang="en-US" sz="1300">
                <a:solidFill>
                  <a:srgbClr val="9DB3C0"/>
                </a:solidFill>
                <a:latin typeface="Calibri" pitchFamily="34" charset="0"/>
                <a:ea typeface="Calibri" pitchFamily="34" charset="-122"/>
                <a:cs typeface="Calibri" pitchFamily="34" charset="-120"/>
              </a:rPr>
              <a:t>Johnny Meredith  ·  Tax Data Management &amp; Innovation</a:t>
            </a:r>
            <a:endParaRPr lang="en-US" sz="1300"/>
          </a:p>
          <a:p>
            <a:pPr>
              <a:lnSpc>
                <a:spcPct val="125000"/>
              </a:lnSpc>
            </a:pPr>
            <a:r>
              <a:rPr lang="en-US" sz="1300">
                <a:solidFill>
                  <a:srgbClr val="9DB3C0"/>
                </a:solidFill>
                <a:latin typeface="Calibri" pitchFamily="34" charset="0"/>
                <a:ea typeface="Calibri" pitchFamily="34" charset="-122"/>
                <a:cs typeface="Calibri" pitchFamily="34" charset="-120"/>
              </a:rPr>
              <a:t>Max Hanson  ·  KPMG AI Strategy Consulting Leader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2F47"/>
        </a:solidFill>
        <a:effectLst/>
      </p:bgPr>
    </p:bg>
    <p:spTree>
      <p:nvGrpSpPr>
        <p:cNvPr id="1" name=""/>
        <p:cNvGrpSpPr/>
        <p:nvPr/>
      </p:nvGrpSpPr>
      <p:grpSpPr>
        <a:xfrm>
          <a:off x="0" y="0"/>
          <a:ext cx="0" cy="0"/>
          <a:chOff x="0" y="0"/>
          <a:chExt cx="0" cy="0"/>
        </a:xfrm>
      </p:grpSpPr>
      <p:sp>
        <p:nvSpPr>
          <p:cNvPr id="2" name="Text 0"/>
          <p:cNvSpPr/>
          <p:nvPr/>
        </p:nvSpPr>
        <p:spPr>
          <a:xfrm>
            <a:off x="594360" y="6483096"/>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7C8B99"/>
                </a:solidFill>
                <a:effectLst/>
                <a:uLnTx/>
                <a:uFillTx/>
                <a:latin typeface="Calibri" pitchFamily="34" charset="0"/>
                <a:ea typeface="Calibri" pitchFamily="34" charset="-122"/>
                <a:cs typeface="Calibri" pitchFamily="34" charset="-120"/>
              </a:rPr>
              <a:t>Do Not Describe It. Build It.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11384280" y="6483096"/>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7C8B99"/>
                </a:solidFill>
                <a:effectLst/>
                <a:uLnTx/>
                <a:uFillTx/>
                <a:latin typeface="Calibri" pitchFamily="34" charset="0"/>
                <a:ea typeface="Calibri" pitchFamily="34" charset="-122"/>
                <a:cs typeface="Calibri" pitchFamily="34" charset="-120"/>
              </a:rPr>
              <a:t>1</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9692640" y="-1920240"/>
            <a:ext cx="4937760" cy="4937760"/>
          </a:xfrm>
          <a:prstGeom prst="ellipse">
            <a:avLst/>
          </a:prstGeom>
          <a:solidFill>
            <a:srgbClr val="0F8B8D">
              <a:alpha val="14000"/>
            </a:srgbClr>
          </a:solidFill>
          <a:ln/>
        </p:spPr>
        <p:txBody>
          <a:bodyPr/>
          <a:lstStyle/>
          <a:p>
            <a:endParaRPr lang="en-US"/>
          </a:p>
        </p:txBody>
      </p:sp>
      <p:sp>
        <p:nvSpPr>
          <p:cNvPr id="5" name="Shape 3"/>
          <p:cNvSpPr/>
          <p:nvPr/>
        </p:nvSpPr>
        <p:spPr>
          <a:xfrm>
            <a:off x="10881360" y="4480560"/>
            <a:ext cx="3291840" cy="3291840"/>
          </a:xfrm>
          <a:prstGeom prst="ellipse">
            <a:avLst/>
          </a:prstGeom>
          <a:solidFill>
            <a:srgbClr val="DFA13F">
              <a:alpha val="10000"/>
            </a:srgbClr>
          </a:solidFill>
          <a:ln/>
        </p:spPr>
        <p:txBody>
          <a:bodyPr/>
          <a:lstStyle/>
          <a:p>
            <a:endParaRPr lang="en-US"/>
          </a:p>
        </p:txBody>
      </p:sp>
      <p:sp>
        <p:nvSpPr>
          <p:cNvPr id="6" name="Shape 4"/>
          <p:cNvSpPr/>
          <p:nvPr/>
        </p:nvSpPr>
        <p:spPr>
          <a:xfrm>
            <a:off x="-1463040" y="4937760"/>
            <a:ext cx="3840480" cy="3840480"/>
          </a:xfrm>
          <a:prstGeom prst="ellipse">
            <a:avLst/>
          </a:prstGeom>
          <a:solidFill>
            <a:srgbClr val="0F8B8D">
              <a:alpha val="10000"/>
            </a:srgbClr>
          </a:solidFill>
          <a:ln/>
        </p:spPr>
        <p:txBody>
          <a:bodyPr/>
          <a:lstStyle/>
          <a:p>
            <a:endParaRPr lang="en-US"/>
          </a:p>
        </p:txBody>
      </p:sp>
      <p:sp>
        <p:nvSpPr>
          <p:cNvPr id="7" name="Text 5"/>
          <p:cNvSpPr/>
          <p:nvPr/>
        </p:nvSpPr>
        <p:spPr>
          <a:xfrm>
            <a:off x="868680" y="1234440"/>
            <a:ext cx="10058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300" normalizeH="0" baseline="0" noProof="0">
                <a:ln>
                  <a:noFill/>
                </a:ln>
                <a:solidFill>
                  <a:srgbClr val="DFA13F"/>
                </a:solidFill>
                <a:effectLst/>
                <a:uLnTx/>
                <a:uFillTx/>
                <a:latin typeface="Calibri" pitchFamily="34" charset="0"/>
                <a:ea typeface="Calibri" pitchFamily="34" charset="-122"/>
                <a:cs typeface="Calibri" pitchFamily="34" charset="-120"/>
              </a:rPr>
              <a:t>WHERE WE STARTED · ONE YEAR AGO</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822960" y="1737360"/>
            <a:ext cx="10515600" cy="2743200"/>
          </a:xfrm>
          <a:prstGeom prst="rect">
            <a:avLst/>
          </a:prstGeom>
          <a:noFill/>
          <a:ln/>
        </p:spPr>
        <p:txBody>
          <a:bodyPr wrap="square" lIns="0" tIns="0" rIns="0" bIns="0" rtlCol="0" anchor="ctr"/>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3700" b="1" i="0" u="none" strike="noStrike" kern="1200" cap="none" spc="0" normalizeH="0" baseline="0" noProof="0">
                <a:ln>
                  <a:noFill/>
                </a:ln>
                <a:solidFill>
                  <a:srgbClr val="FFFFFF"/>
                </a:solidFill>
                <a:effectLst/>
                <a:uLnTx/>
                <a:uFillTx/>
                <a:latin typeface="Cambria" pitchFamily="34" charset="0"/>
                <a:ea typeface="Cambria" pitchFamily="34" charset="-122"/>
                <a:cs typeface="Cambria" pitchFamily="34" charset="-120"/>
              </a:rPr>
              <a:t>A year ago, we ran </a:t>
            </a:r>
            <a:r>
              <a:rPr kumimoji="0" lang="en-US" sz="3700" b="1" i="0" u="none" strike="noStrike" kern="1200" cap="none" spc="0" normalizeH="0" baseline="0" noProof="0">
                <a:ln>
                  <a:noFill/>
                </a:ln>
                <a:solidFill>
                  <a:srgbClr val="7ED4D6"/>
                </a:solidFill>
                <a:effectLst/>
                <a:uLnTx/>
                <a:uFillTx/>
                <a:latin typeface="Cambria" pitchFamily="34" charset="0"/>
                <a:ea typeface="Cambria" pitchFamily="34" charset="-122"/>
                <a:cs typeface="Cambria" pitchFamily="34" charset="-120"/>
              </a:rPr>
              <a:t>Copilot 101</a:t>
            </a:r>
            <a:r>
              <a:rPr kumimoji="0" lang="en-US" sz="3700" b="1" i="0" u="none" strike="noStrike" kern="1200" cap="none" spc="0" normalizeH="0" baseline="0" noProof="0">
                <a:ln>
                  <a:noFill/>
                </a:ln>
                <a:solidFill>
                  <a:srgbClr val="FFFFFF"/>
                </a:solidFill>
                <a:effectLst/>
                <a:uLnTx/>
                <a:uFillTx/>
                <a:latin typeface="Cambria" pitchFamily="34" charset="0"/>
                <a:ea typeface="Cambria" pitchFamily="34" charset="-122"/>
                <a:cs typeface="Cambria" pitchFamily="34" charset="-120"/>
              </a:rPr>
              <a:t> and the </a:t>
            </a:r>
            <a:r>
              <a:rPr kumimoji="0" lang="en-US" sz="3700" b="1" i="1" u="none" strike="noStrike" kern="1200" cap="none" spc="0" normalizeH="0" baseline="0" noProof="0">
                <a:ln>
                  <a:noFill/>
                </a:ln>
                <a:solidFill>
                  <a:srgbClr val="DFA13F"/>
                </a:solidFill>
                <a:effectLst/>
                <a:uLnTx/>
                <a:uFillTx/>
                <a:latin typeface="Cambria" pitchFamily="34" charset="0"/>
                <a:ea typeface="Cambria" pitchFamily="34" charset="-122"/>
                <a:cs typeface="Cambria" pitchFamily="34" charset="-120"/>
              </a:rPr>
              <a:t>Copilot hackathon</a:t>
            </a:r>
            <a:r>
              <a:rPr kumimoji="0" lang="en-US" sz="3700" b="1" i="0" u="none" strike="noStrike" kern="1200" cap="none" spc="0" normalizeH="0" baseline="0" noProof="0">
                <a:ln>
                  <a:noFill/>
                </a:ln>
                <a:solidFill>
                  <a:srgbClr val="FFFFFF"/>
                </a:solidFill>
                <a:effectLst/>
                <a:uLnTx/>
                <a:uFillTx/>
                <a:latin typeface="Cambria" pitchFamily="34" charset="0"/>
                <a:ea typeface="Cambria" pitchFamily="34" charset="-122"/>
                <a:cs typeface="Cambria" pitchFamily="34" charset="-120"/>
              </a:rPr>
              <a:t>. That foundation is not going away.</a:t>
            </a:r>
            <a:endParaRPr kumimoji="0" lang="en-US" sz="37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868680" y="4892040"/>
            <a:ext cx="9875520" cy="100584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0" i="0" u="none" strike="noStrike" kern="1200" cap="none" spc="0" normalizeH="0" baseline="0" noProof="0">
                <a:ln>
                  <a:noFill/>
                </a:ln>
                <a:solidFill>
                  <a:srgbClr val="C7D6DF"/>
                </a:solidFill>
                <a:effectLst/>
                <a:uLnTx/>
                <a:uFillTx/>
                <a:latin typeface="Calibri" pitchFamily="34" charset="0"/>
                <a:ea typeface="Calibri" pitchFamily="34" charset="-122"/>
                <a:cs typeface="Calibri" pitchFamily="34" charset="-120"/>
              </a:rPr>
              <a:t>Everything your teams learned still applies — Copilot remains a fast, high-value way to work.</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0" i="0" u="none" strike="noStrike" kern="1200" cap="none" spc="0" normalizeH="0" baseline="0" noProof="0">
                <a:ln>
                  <a:noFill/>
                </a:ln>
                <a:solidFill>
                  <a:srgbClr val="C7D6DF"/>
                </a:solidFill>
                <a:effectLst/>
                <a:uLnTx/>
                <a:uFillTx/>
                <a:latin typeface="Calibri" pitchFamily="34" charset="0"/>
                <a:ea typeface="Calibri" pitchFamily="34" charset="-122"/>
                <a:cs typeface="Calibri" pitchFamily="34" charset="-120"/>
              </a:rPr>
              <a:t>Today is the next chapter for that work — an evolution, not a replacement.</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a:ln>
                  <a:noFill/>
                </a:ln>
                <a:solidFill>
                  <a:srgbClr val="0F8B8D"/>
                </a:solidFill>
                <a:effectLst/>
                <a:uLnTx/>
                <a:uFillTx/>
                <a:latin typeface="Calibri" pitchFamily="34" charset="0"/>
                <a:ea typeface="Calibri" pitchFamily="34" charset="-122"/>
                <a:cs typeface="Calibri" pitchFamily="34" charset="-120"/>
              </a:rPr>
              <a:t>INTRODUCTION · WHY COPILOT STILL MATTERS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100" b="1" i="0" u="none" strike="noStrike" kern="1200" cap="none" spc="0" normalizeH="0" baseline="0" noProof="0">
                <a:ln>
                  <a:noFill/>
                </a:ln>
                <a:solidFill>
                  <a:srgbClr val="142F47"/>
                </a:solidFill>
                <a:effectLst/>
                <a:uLnTx/>
                <a:uFillTx/>
                <a:latin typeface="Cambria"/>
                <a:ea typeface="Cambria"/>
                <a:cs typeface="Cambria" pitchFamily="34" charset="-120"/>
              </a:rPr>
              <a:t>Copilot is not going away — it is the first step</a:t>
            </a:r>
            <a:endParaRPr kumimoji="0" lang="en-US" sz="3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7C8B99"/>
                </a:solidFill>
                <a:effectLst/>
                <a:uLnTx/>
                <a:uFillTx/>
                <a:latin typeface="Calibri" pitchFamily="34" charset="0"/>
                <a:ea typeface="Calibri" pitchFamily="34" charset="-122"/>
                <a:cs typeface="Calibri" pitchFamily="34" charset="-120"/>
              </a:rPr>
              <a:t>Do Not Describe It. Build It.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7C8B99"/>
                </a:solidFill>
                <a:effectLst/>
                <a:uLnTx/>
                <a:uFillTx/>
                <a:latin typeface="Calibri" pitchFamily="34" charset="0"/>
                <a:ea typeface="Calibri" pitchFamily="34" charset="-122"/>
                <a:cs typeface="Calibri" pitchFamily="34" charset="-120"/>
              </a:rPr>
              <a:t>2</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94360" y="1874520"/>
            <a:ext cx="11000232" cy="1234440"/>
          </a:xfrm>
          <a:prstGeom prst="roundRect">
            <a:avLst>
              <a:gd name="adj" fmla="val 6667"/>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7" name="Shape 5"/>
          <p:cNvSpPr/>
          <p:nvPr/>
        </p:nvSpPr>
        <p:spPr>
          <a:xfrm>
            <a:off x="896112" y="2148840"/>
            <a:ext cx="731520" cy="731520"/>
          </a:xfrm>
          <a:prstGeom prst="ellipse">
            <a:avLst/>
          </a:prstGeom>
          <a:solidFill>
            <a:srgbClr val="0F8B8D"/>
          </a:solidFill>
          <a:ln/>
        </p:spPr>
        <p:txBody>
          <a:bodyPr/>
          <a:lstStyle/>
          <a:p>
            <a:endParaRPr lang="en-US"/>
          </a:p>
        </p:txBody>
      </p:sp>
      <p:pic>
        <p:nvPicPr>
          <p:cNvPr id="8" name="Image 0" descr="preencoded.png"/>
          <p:cNvPicPr>
            <a:picLocks noChangeAspect="1"/>
          </p:cNvPicPr>
          <p:nvPr/>
        </p:nvPicPr>
        <p:blipFill>
          <a:blip r:embed="rId2"/>
          <a:stretch>
            <a:fillRect/>
          </a:stretch>
        </p:blipFill>
        <p:spPr>
          <a:xfrm>
            <a:off x="1071677" y="2324405"/>
            <a:ext cx="380390" cy="380390"/>
          </a:xfrm>
          <a:prstGeom prst="rect">
            <a:avLst/>
          </a:prstGeom>
        </p:spPr>
      </p:pic>
      <p:sp>
        <p:nvSpPr>
          <p:cNvPr id="9" name="Text 6"/>
          <p:cNvSpPr/>
          <p:nvPr/>
        </p:nvSpPr>
        <p:spPr>
          <a:xfrm>
            <a:off x="1874520" y="2093976"/>
            <a:ext cx="301752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42F47"/>
                </a:solidFill>
                <a:effectLst/>
                <a:uLnTx/>
                <a:uFillTx/>
                <a:latin typeface="Cambria" pitchFamily="34" charset="0"/>
                <a:ea typeface="Cambria" pitchFamily="34" charset="-122"/>
                <a:cs typeface="Cambria" pitchFamily="34" charset="-120"/>
              </a:rPr>
              <a:t>Microsoft-enabled apps</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983480" y="2020824"/>
            <a:ext cx="6355080" cy="1005840"/>
          </a:xfrm>
          <a:prstGeom prst="rect">
            <a:avLst/>
          </a:prstGeom>
          <a:noFill/>
          <a:ln/>
        </p:spPr>
        <p:txBody>
          <a:bodyPr wrap="square" lIns="0" tIns="0" rIns="0" bIns="0" rtlCol="0" anchor="ct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50" b="0" i="0" u="none" strike="noStrike" kern="1200" cap="none" spc="0" normalizeH="0" baseline="0" noProof="0">
                <a:ln>
                  <a:noFill/>
                </a:ln>
                <a:solidFill>
                  <a:srgbClr val="45586A"/>
                </a:solidFill>
                <a:effectLst/>
                <a:uLnTx/>
                <a:uFillTx/>
                <a:latin typeface="Calibri" pitchFamily="34" charset="0"/>
                <a:ea typeface="Calibri" pitchFamily="34" charset="-122"/>
                <a:cs typeface="Calibri" pitchFamily="34" charset="-120"/>
              </a:rPr>
              <a:t>Copilot keeps delivering real value inside Microsoft 365 — drafting, summarizing, and analyzing across the tools your teams already use every day.</a:t>
            </a: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594360" y="3246120"/>
            <a:ext cx="11000232" cy="1234440"/>
          </a:xfrm>
          <a:prstGeom prst="roundRect">
            <a:avLst>
              <a:gd name="adj" fmla="val 6667"/>
            </a:avLst>
          </a:prstGeom>
          <a:solidFill>
            <a:srgbClr val="E4F2F2"/>
          </a:solidFill>
          <a:ln w="12700">
            <a:solidFill>
              <a:srgbClr val="CBE4E4"/>
            </a:solidFill>
            <a:prstDash val="solid"/>
          </a:ln>
          <a:effectLst>
            <a:outerShdw blurRad="88900" dist="25400" dir="5400000" algn="bl" rotWithShape="0">
              <a:srgbClr val="9FB1BC">
                <a:alpha val="30000"/>
              </a:srgbClr>
            </a:outerShdw>
          </a:effectLst>
        </p:spPr>
        <p:txBody>
          <a:bodyPr/>
          <a:lstStyle/>
          <a:p>
            <a:endParaRPr lang="en-US"/>
          </a:p>
        </p:txBody>
      </p:sp>
      <p:sp>
        <p:nvSpPr>
          <p:cNvPr id="12" name="Shape 9"/>
          <p:cNvSpPr/>
          <p:nvPr/>
        </p:nvSpPr>
        <p:spPr>
          <a:xfrm>
            <a:off x="896112" y="3520440"/>
            <a:ext cx="731520" cy="731520"/>
          </a:xfrm>
          <a:prstGeom prst="ellipse">
            <a:avLst/>
          </a:prstGeom>
          <a:solidFill>
            <a:srgbClr val="0B6E70"/>
          </a:solidFill>
          <a:ln/>
        </p:spPr>
        <p:txBody>
          <a:bodyPr/>
          <a:lstStyle/>
          <a:p>
            <a:endParaRPr lang="en-US"/>
          </a:p>
        </p:txBody>
      </p:sp>
      <p:pic>
        <p:nvPicPr>
          <p:cNvPr id="13" name="Image 1" descr="preencoded.png"/>
          <p:cNvPicPr>
            <a:picLocks noChangeAspect="1"/>
          </p:cNvPicPr>
          <p:nvPr/>
        </p:nvPicPr>
        <p:blipFill>
          <a:blip r:embed="rId3"/>
          <a:stretch>
            <a:fillRect/>
          </a:stretch>
        </p:blipFill>
        <p:spPr>
          <a:xfrm>
            <a:off x="1071677" y="3696005"/>
            <a:ext cx="380390" cy="380390"/>
          </a:xfrm>
          <a:prstGeom prst="rect">
            <a:avLst/>
          </a:prstGeom>
        </p:spPr>
      </p:pic>
      <p:sp>
        <p:nvSpPr>
          <p:cNvPr id="14" name="Text 10"/>
          <p:cNvSpPr/>
          <p:nvPr/>
        </p:nvSpPr>
        <p:spPr>
          <a:xfrm>
            <a:off x="1874520" y="3465576"/>
            <a:ext cx="301752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42F47"/>
                </a:solidFill>
                <a:effectLst/>
                <a:uLnTx/>
                <a:uFillTx/>
                <a:latin typeface="Cambria" pitchFamily="34" charset="0"/>
                <a:ea typeface="Cambria" pitchFamily="34" charset="-122"/>
                <a:cs typeface="Cambria" pitchFamily="34" charset="-120"/>
              </a:rPr>
              <a:t>Quick agent-builder use cases</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1"/>
          <p:cNvSpPr/>
          <p:nvPr/>
        </p:nvSpPr>
        <p:spPr>
          <a:xfrm>
            <a:off x="4983480" y="3392424"/>
            <a:ext cx="6355080" cy="1005840"/>
          </a:xfrm>
          <a:prstGeom prst="rect">
            <a:avLst/>
          </a:prstGeom>
          <a:noFill/>
          <a:ln/>
        </p:spPr>
        <p:txBody>
          <a:bodyPr wrap="square" lIns="0" tIns="0" rIns="0" bIns="0" rtlCol="0" anchor="ct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50" b="0" i="0" u="none" strike="noStrike" kern="1200" cap="none" spc="0" normalizeH="0" baseline="0" noProof="0">
                <a:ln>
                  <a:noFill/>
                </a:ln>
                <a:solidFill>
                  <a:srgbClr val="45586A"/>
                </a:solidFill>
                <a:effectLst/>
                <a:uLnTx/>
                <a:uFillTx/>
                <a:latin typeface="Calibri" pitchFamily="34" charset="0"/>
                <a:ea typeface="Calibri" pitchFamily="34" charset="-122"/>
                <a:cs typeface="Calibri" pitchFamily="34" charset="-120"/>
              </a:rPr>
              <a:t>Copilot Studio and agent builder let teams stand up lightweight agents fast — low-code, quick wins, owned and maintained by the business.</a:t>
            </a: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594360" y="4617720"/>
            <a:ext cx="11000232" cy="1234440"/>
          </a:xfrm>
          <a:prstGeom prst="roundRect">
            <a:avLst>
              <a:gd name="adj" fmla="val 6667"/>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7" name="Shape 13"/>
          <p:cNvSpPr/>
          <p:nvPr/>
        </p:nvSpPr>
        <p:spPr>
          <a:xfrm>
            <a:off x="896112" y="4892040"/>
            <a:ext cx="731520" cy="731520"/>
          </a:xfrm>
          <a:prstGeom prst="ellipse">
            <a:avLst/>
          </a:prstGeom>
          <a:solidFill>
            <a:srgbClr val="0F8B8D"/>
          </a:solidFill>
          <a:ln/>
        </p:spPr>
        <p:txBody>
          <a:bodyPr/>
          <a:lstStyle/>
          <a:p>
            <a:endParaRPr lang="en-US"/>
          </a:p>
        </p:txBody>
      </p:sp>
      <p:pic>
        <p:nvPicPr>
          <p:cNvPr id="18" name="Image 2" descr="preencoded.png"/>
          <p:cNvPicPr>
            <a:picLocks noChangeAspect="1"/>
          </p:cNvPicPr>
          <p:nvPr/>
        </p:nvPicPr>
        <p:blipFill>
          <a:blip r:embed="rId4"/>
          <a:stretch>
            <a:fillRect/>
          </a:stretch>
        </p:blipFill>
        <p:spPr>
          <a:xfrm>
            <a:off x="1071677" y="5067605"/>
            <a:ext cx="380390" cy="380390"/>
          </a:xfrm>
          <a:prstGeom prst="rect">
            <a:avLst/>
          </a:prstGeom>
        </p:spPr>
      </p:pic>
      <p:sp>
        <p:nvSpPr>
          <p:cNvPr id="19" name="Text 14"/>
          <p:cNvSpPr/>
          <p:nvPr/>
        </p:nvSpPr>
        <p:spPr>
          <a:xfrm>
            <a:off x="1874520" y="4837176"/>
            <a:ext cx="301752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42F47"/>
                </a:solidFill>
                <a:effectLst/>
                <a:uLnTx/>
                <a:uFillTx/>
                <a:latin typeface="Cambria" pitchFamily="34" charset="0"/>
                <a:ea typeface="Cambria" pitchFamily="34" charset="-122"/>
                <a:cs typeface="Cambria" pitchFamily="34" charset="-120"/>
              </a:rPr>
              <a:t>A year of skills that compound</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5"/>
          <p:cNvSpPr/>
          <p:nvPr/>
        </p:nvSpPr>
        <p:spPr>
          <a:xfrm>
            <a:off x="4983480" y="4764024"/>
            <a:ext cx="6355080" cy="1005840"/>
          </a:xfrm>
          <a:prstGeom prst="rect">
            <a:avLst/>
          </a:prstGeom>
          <a:noFill/>
          <a:ln/>
        </p:spPr>
        <p:txBody>
          <a:bodyPr wrap="square" lIns="0" tIns="0" rIns="0" bIns="0" rtlCol="0" anchor="ct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50" b="0" i="0" u="none" strike="noStrike" kern="1200" cap="none" spc="0" normalizeH="0" baseline="0" noProof="0">
                <a:ln>
                  <a:noFill/>
                </a:ln>
                <a:solidFill>
                  <a:srgbClr val="45586A"/>
                </a:solidFill>
                <a:effectLst/>
                <a:uLnTx/>
                <a:uFillTx/>
                <a:latin typeface="Calibri" pitchFamily="34" charset="0"/>
                <a:ea typeface="Calibri" pitchFamily="34" charset="-122"/>
                <a:cs typeface="Calibri" pitchFamily="34" charset="-120"/>
              </a:rPr>
              <a:t>Everything learned since Copilot 101 and the hackathon still applies. These skills are the base the more complex work builds on.</a:t>
            </a: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2F47"/>
        </a:solidFill>
        <a:effectLst/>
      </p:bgPr>
    </p:bg>
    <p:spTree>
      <p:nvGrpSpPr>
        <p:cNvPr id="1" name=""/>
        <p:cNvGrpSpPr/>
        <p:nvPr/>
      </p:nvGrpSpPr>
      <p:grpSpPr>
        <a:xfrm>
          <a:off x="0" y="0"/>
          <a:ext cx="0" cy="0"/>
          <a:chOff x="0" y="0"/>
          <a:chExt cx="0" cy="0"/>
        </a:xfrm>
      </p:grpSpPr>
      <p:sp>
        <p:nvSpPr>
          <p:cNvPr id="2" name="Text 0"/>
          <p:cNvSpPr/>
          <p:nvPr/>
        </p:nvSpPr>
        <p:spPr>
          <a:xfrm>
            <a:off x="594360" y="6483096"/>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7C8B99"/>
                </a:solidFill>
                <a:effectLst/>
                <a:uLnTx/>
                <a:uFillTx/>
                <a:latin typeface="Calibri" pitchFamily="34" charset="0"/>
                <a:ea typeface="Calibri" pitchFamily="34" charset="-122"/>
                <a:cs typeface="Calibri" pitchFamily="34" charset="-120"/>
              </a:rPr>
              <a:t>Do Not Describe It. Build It.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11384280" y="6483096"/>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7C8B99"/>
                </a:solidFill>
                <a:effectLst/>
                <a:uLnTx/>
                <a:uFillTx/>
                <a:latin typeface="Calibri" pitchFamily="34" charset="0"/>
                <a:ea typeface="Calibri" pitchFamily="34" charset="-122"/>
                <a:cs typeface="Calibri" pitchFamily="34" charset="-120"/>
              </a:rPr>
              <a:t>3</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9692640" y="-1920240"/>
            <a:ext cx="4937760" cy="4937760"/>
          </a:xfrm>
          <a:prstGeom prst="ellipse">
            <a:avLst/>
          </a:prstGeom>
          <a:solidFill>
            <a:srgbClr val="0F8B8D">
              <a:alpha val="14000"/>
            </a:srgbClr>
          </a:solidFill>
          <a:ln/>
        </p:spPr>
        <p:txBody>
          <a:bodyPr/>
          <a:lstStyle/>
          <a:p>
            <a:endParaRPr lang="en-US"/>
          </a:p>
        </p:txBody>
      </p:sp>
      <p:sp>
        <p:nvSpPr>
          <p:cNvPr id="5" name="Shape 3"/>
          <p:cNvSpPr/>
          <p:nvPr/>
        </p:nvSpPr>
        <p:spPr>
          <a:xfrm>
            <a:off x="10881360" y="4480560"/>
            <a:ext cx="3291840" cy="3291840"/>
          </a:xfrm>
          <a:prstGeom prst="ellipse">
            <a:avLst/>
          </a:prstGeom>
          <a:solidFill>
            <a:srgbClr val="DFA13F">
              <a:alpha val="10000"/>
            </a:srgbClr>
          </a:solidFill>
          <a:ln/>
        </p:spPr>
        <p:txBody>
          <a:bodyPr/>
          <a:lstStyle/>
          <a:p>
            <a:endParaRPr lang="en-US"/>
          </a:p>
        </p:txBody>
      </p:sp>
      <p:sp>
        <p:nvSpPr>
          <p:cNvPr id="6" name="Shape 4"/>
          <p:cNvSpPr/>
          <p:nvPr/>
        </p:nvSpPr>
        <p:spPr>
          <a:xfrm>
            <a:off x="-1463040" y="4937760"/>
            <a:ext cx="3840480" cy="3840480"/>
          </a:xfrm>
          <a:prstGeom prst="ellipse">
            <a:avLst/>
          </a:prstGeom>
          <a:solidFill>
            <a:srgbClr val="0F8B8D">
              <a:alpha val="10000"/>
            </a:srgbClr>
          </a:solidFill>
          <a:ln/>
        </p:spPr>
        <p:txBody>
          <a:bodyPr/>
          <a:lstStyle/>
          <a:p>
            <a:endParaRPr lang="en-US"/>
          </a:p>
        </p:txBody>
      </p:sp>
      <p:sp>
        <p:nvSpPr>
          <p:cNvPr id="7" name="Text 5"/>
          <p:cNvSpPr/>
          <p:nvPr/>
        </p:nvSpPr>
        <p:spPr>
          <a:xfrm>
            <a:off x="868680" y="1234440"/>
            <a:ext cx="10058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300" normalizeH="0" baseline="0" noProof="0">
                <a:ln>
                  <a:noFill/>
                </a:ln>
                <a:solidFill>
                  <a:srgbClr val="DFA13F"/>
                </a:solidFill>
                <a:effectLst/>
                <a:uLnTx/>
                <a:uFillTx/>
                <a:latin typeface="Calibri" pitchFamily="34" charset="0"/>
                <a:ea typeface="Calibri" pitchFamily="34" charset="-122"/>
                <a:cs typeface="Calibri" pitchFamily="34" charset="-120"/>
              </a:rPr>
              <a:t>WHAT’S NEW TODAY · AN EVOLUTION</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822960" y="1737360"/>
            <a:ext cx="10515600" cy="2743200"/>
          </a:xfrm>
          <a:prstGeom prst="rect">
            <a:avLst/>
          </a:prstGeom>
          <a:noFill/>
          <a:ln/>
        </p:spPr>
        <p:txBody>
          <a:bodyPr wrap="square" lIns="0" tIns="0" rIns="0" bIns="0" rtlCol="0" anchor="ctr"/>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3700" b="1" i="0" u="none" strike="noStrike" kern="1200" cap="none" spc="0" normalizeH="0" baseline="0" noProof="0">
                <a:ln>
                  <a:noFill/>
                </a:ln>
                <a:solidFill>
                  <a:srgbClr val="FFFFFF"/>
                </a:solidFill>
                <a:effectLst/>
                <a:uLnTx/>
                <a:uFillTx/>
                <a:latin typeface="Cambria"/>
                <a:ea typeface="Cambria"/>
                <a:cs typeface="Cambria" pitchFamily="34" charset="-120"/>
              </a:rPr>
              <a:t>What we are building next are the </a:t>
            </a:r>
            <a:r>
              <a:rPr kumimoji="0" lang="en-US" sz="3700" b="1" i="0" u="none" strike="noStrike" kern="1200" cap="none" spc="0" normalizeH="0" baseline="0" noProof="0">
                <a:ln>
                  <a:noFill/>
                </a:ln>
                <a:solidFill>
                  <a:srgbClr val="7ED4D6"/>
                </a:solidFill>
                <a:effectLst/>
                <a:uLnTx/>
                <a:uFillTx/>
                <a:latin typeface="Cambria"/>
                <a:ea typeface="Cambria"/>
                <a:cs typeface="Cambria" pitchFamily="34" charset="-120"/>
              </a:rPr>
              <a:t>more complex use cases</a:t>
            </a:r>
            <a:r>
              <a:rPr kumimoji="0" lang="en-US" sz="3700" b="1" i="0" u="none" strike="noStrike" kern="1200" cap="none" spc="0" normalizeH="0" baseline="0" noProof="0">
                <a:ln>
                  <a:noFill/>
                </a:ln>
                <a:solidFill>
                  <a:srgbClr val="FFFFFF"/>
                </a:solidFill>
                <a:effectLst/>
                <a:uLnTx/>
                <a:uFillTx/>
                <a:latin typeface="Cambria"/>
                <a:ea typeface="Cambria"/>
                <a:cs typeface="Cambria" pitchFamily="34" charset="-120"/>
              </a:rPr>
              <a:t> — </a:t>
            </a:r>
            <a:r>
              <a:rPr kumimoji="0" lang="en-US" sz="3700" b="1" i="1" u="none" strike="noStrike" kern="1200" cap="none" spc="0" normalizeH="0" baseline="0" noProof="0">
                <a:ln>
                  <a:noFill/>
                </a:ln>
                <a:solidFill>
                  <a:srgbClr val="DFA13F"/>
                </a:solidFill>
                <a:effectLst/>
                <a:uLnTx/>
                <a:uFillTx/>
                <a:latin typeface="Cambria"/>
                <a:ea typeface="Cambria"/>
                <a:cs typeface="Cambria" pitchFamily="34" charset="-120"/>
              </a:rPr>
              <a:t>standalone AI enabled applications</a:t>
            </a:r>
            <a:r>
              <a:rPr kumimoji="0" lang="en-US" sz="3700" b="1" i="0" u="none" strike="noStrike" kern="1200" cap="none" spc="0" normalizeH="0" baseline="0" noProof="0">
                <a:ln>
                  <a:noFill/>
                </a:ln>
                <a:solidFill>
                  <a:srgbClr val="FFFFFF"/>
                </a:solidFill>
                <a:effectLst/>
                <a:uLnTx/>
                <a:uFillTx/>
                <a:latin typeface="Cambria"/>
                <a:ea typeface="Cambria"/>
                <a:cs typeface="Cambria" pitchFamily="34" charset="-120"/>
              </a:rPr>
              <a:t> that live under Disney’s infrastructure, built to be maintained for the long term.</a:t>
            </a:r>
            <a:endParaRPr kumimoji="0" lang="en-US" sz="3700" b="0" i="0" u="none" strike="noStrike" kern="1200" cap="none" spc="0" normalizeH="0" baseline="0" noProof="0">
              <a:ln>
                <a:noFill/>
              </a:ln>
              <a:solidFill>
                <a:prstClr val="black"/>
              </a:solidFill>
              <a:effectLst/>
              <a:uLnTx/>
              <a:uFillTx/>
              <a:latin typeface="Cambria"/>
              <a:ea typeface="Cambria"/>
              <a:cs typeface="+mn-cs"/>
            </a:endParaRPr>
          </a:p>
        </p:txBody>
      </p:sp>
      <p:sp>
        <p:nvSpPr>
          <p:cNvPr id="9" name="Text 7"/>
          <p:cNvSpPr/>
          <p:nvPr/>
        </p:nvSpPr>
        <p:spPr>
          <a:xfrm>
            <a:off x="868680" y="4892040"/>
            <a:ext cx="9875520" cy="100584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0" i="0" u="none" strike="noStrike" kern="1200" cap="none" spc="0" normalizeH="0" baseline="0" noProof="0">
                <a:ln>
                  <a:noFill/>
                </a:ln>
                <a:solidFill>
                  <a:srgbClr val="C7D6DF"/>
                </a:solidFill>
                <a:effectLst/>
                <a:uLnTx/>
                <a:uFillTx/>
                <a:latin typeface="Calibri" pitchFamily="34" charset="0"/>
                <a:ea typeface="Calibri" pitchFamily="34" charset="-122"/>
                <a:cs typeface="Calibri" pitchFamily="34" charset="-120"/>
              </a:rPr>
              <a:t>This is an evolution, not a replacement. Copilot and agent builder stay in the toolkit for everyday speed.</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0" i="0" u="none" strike="noStrike" kern="1200" cap="none" spc="0" normalizeH="0" baseline="0" noProof="0">
                <a:ln>
                  <a:noFill/>
                </a:ln>
                <a:solidFill>
                  <a:srgbClr val="C7D6DF"/>
                </a:solidFill>
                <a:effectLst/>
                <a:uLnTx/>
                <a:uFillTx/>
                <a:latin typeface="Calibri" pitchFamily="34" charset="0"/>
                <a:ea typeface="Calibri" pitchFamily="34" charset="-122"/>
                <a:cs typeface="Calibri" pitchFamily="34" charset="-120"/>
              </a:rPr>
              <a:t>What is new is scale and permanence: deeper, custom applications that live inside your environment.</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TODAY</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Three acts, fifty minutes</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2</a:t>
            </a:r>
            <a:endParaRPr lang="en-US" sz="900"/>
          </a:p>
        </p:txBody>
      </p:sp>
      <p:sp>
        <p:nvSpPr>
          <p:cNvPr id="6" name="Shape 4"/>
          <p:cNvSpPr/>
          <p:nvPr/>
        </p:nvSpPr>
        <p:spPr>
          <a:xfrm>
            <a:off x="594360" y="1783080"/>
            <a:ext cx="3566160" cy="3611880"/>
          </a:xfrm>
          <a:prstGeom prst="roundRect">
            <a:avLst>
              <a:gd name="adj" fmla="val 230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7" name="Shape 5"/>
          <p:cNvSpPr/>
          <p:nvPr/>
        </p:nvSpPr>
        <p:spPr>
          <a:xfrm>
            <a:off x="914400" y="2057400"/>
            <a:ext cx="777240" cy="777240"/>
          </a:xfrm>
          <a:prstGeom prst="ellipse">
            <a:avLst/>
          </a:prstGeom>
          <a:solidFill>
            <a:srgbClr val="0F8B8D"/>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100938" y="2243938"/>
            <a:ext cx="404165" cy="404165"/>
          </a:xfrm>
          <a:prstGeom prst="rect">
            <a:avLst/>
          </a:prstGeom>
        </p:spPr>
      </p:pic>
      <p:sp>
        <p:nvSpPr>
          <p:cNvPr id="9" name="Text 6"/>
          <p:cNvSpPr/>
          <p:nvPr/>
        </p:nvSpPr>
        <p:spPr>
          <a:xfrm>
            <a:off x="3246120" y="1920240"/>
            <a:ext cx="777240" cy="914400"/>
          </a:xfrm>
          <a:prstGeom prst="rect">
            <a:avLst/>
          </a:prstGeom>
          <a:noFill/>
          <a:ln/>
        </p:spPr>
        <p:txBody>
          <a:bodyPr wrap="square" lIns="0" tIns="0" rIns="0" bIns="0" rtlCol="0" anchor="ctr"/>
          <a:lstStyle/>
          <a:p>
            <a:pPr marL="0" indent="0" algn="r">
              <a:buNone/>
            </a:pPr>
            <a:r>
              <a:rPr lang="en-US" sz="5400" b="1">
                <a:solidFill>
                  <a:srgbClr val="D3E2E5"/>
                </a:solidFill>
                <a:latin typeface="Cambria" pitchFamily="34" charset="0"/>
                <a:ea typeface="Cambria" pitchFamily="34" charset="-122"/>
                <a:cs typeface="Cambria" pitchFamily="34" charset="-120"/>
              </a:rPr>
              <a:t>1</a:t>
            </a:r>
            <a:endParaRPr lang="en-US" sz="5400"/>
          </a:p>
        </p:txBody>
      </p:sp>
      <p:sp>
        <p:nvSpPr>
          <p:cNvPr id="10" name="Text 7"/>
          <p:cNvSpPr/>
          <p:nvPr/>
        </p:nvSpPr>
        <p:spPr>
          <a:xfrm>
            <a:off x="914400" y="3108960"/>
            <a:ext cx="2926080" cy="457200"/>
          </a:xfrm>
          <a:prstGeom prst="rect">
            <a:avLst/>
          </a:prstGeom>
          <a:noFill/>
          <a:ln/>
        </p:spPr>
        <p:txBody>
          <a:bodyPr wrap="square" lIns="0" tIns="0" rIns="0" bIns="0" rtlCol="0" anchor="ctr"/>
          <a:lstStyle/>
          <a:p>
            <a:pPr marL="0" indent="0">
              <a:buNone/>
            </a:pPr>
            <a:r>
              <a:rPr lang="en-US" sz="2200" b="1">
                <a:solidFill>
                  <a:srgbClr val="142F47"/>
                </a:solidFill>
                <a:latin typeface="Cambria" pitchFamily="34" charset="0"/>
                <a:ea typeface="Cambria" pitchFamily="34" charset="-122"/>
                <a:cs typeface="Cambria" pitchFamily="34" charset="-120"/>
              </a:rPr>
              <a:t>The Case</a:t>
            </a:r>
            <a:endParaRPr lang="en-US" sz="2200"/>
          </a:p>
        </p:txBody>
      </p:sp>
      <p:sp>
        <p:nvSpPr>
          <p:cNvPr id="11" name="Text 8"/>
          <p:cNvSpPr/>
          <p:nvPr/>
        </p:nvSpPr>
        <p:spPr>
          <a:xfrm>
            <a:off x="914400" y="3611880"/>
            <a:ext cx="2971800" cy="1234440"/>
          </a:xfrm>
          <a:prstGeom prst="rect">
            <a:avLst/>
          </a:prstGeom>
          <a:noFill/>
          <a:ln/>
        </p:spPr>
        <p:txBody>
          <a:bodyPr wrap="square" lIns="0" tIns="0" rIns="0" bIns="0" rtlCol="0" anchor="ctr"/>
          <a:lstStyle/>
          <a:p>
            <a:pPr marL="0" indent="0">
              <a:lnSpc>
                <a:spcPct val="112000"/>
              </a:lnSpc>
              <a:buNone/>
            </a:pPr>
            <a:r>
              <a:rPr lang="en-US" sz="1350">
                <a:solidFill>
                  <a:srgbClr val="45586A"/>
                </a:solidFill>
                <a:latin typeface="Calibri" pitchFamily="34" charset="0"/>
                <a:ea typeface="Calibri" pitchFamily="34" charset="-122"/>
                <a:cs typeface="Calibri" pitchFamily="34" charset="-120"/>
              </a:rPr>
              <a:t>Why documents fail us, and what a working model gives everyone instead.</a:t>
            </a:r>
            <a:endParaRPr lang="en-US" sz="1350"/>
          </a:p>
        </p:txBody>
      </p:sp>
      <p:sp>
        <p:nvSpPr>
          <p:cNvPr id="12" name="Text 9"/>
          <p:cNvSpPr/>
          <p:nvPr/>
        </p:nvSpPr>
        <p:spPr>
          <a:xfrm>
            <a:off x="914400" y="4956048"/>
            <a:ext cx="2743200" cy="320040"/>
          </a:xfrm>
          <a:prstGeom prst="rect">
            <a:avLst/>
          </a:prstGeom>
          <a:noFill/>
          <a:ln/>
        </p:spPr>
        <p:txBody>
          <a:bodyPr wrap="square" lIns="0" tIns="0" rIns="0" bIns="0" rtlCol="0" anchor="ctr"/>
          <a:lstStyle/>
          <a:p>
            <a:pPr marL="0" indent="0">
              <a:buNone/>
            </a:pPr>
            <a:r>
              <a:rPr lang="en-US" sz="1200" b="1">
                <a:solidFill>
                  <a:srgbClr val="0B6E70"/>
                </a:solidFill>
                <a:latin typeface="Calibri" pitchFamily="34" charset="0"/>
                <a:ea typeface="Calibri" pitchFamily="34" charset="-122"/>
                <a:cs typeface="Calibri" pitchFamily="34" charset="-120"/>
              </a:rPr>
              <a:t>~15 min</a:t>
            </a:r>
            <a:endParaRPr lang="en-US" sz="1200"/>
          </a:p>
        </p:txBody>
      </p:sp>
      <p:sp>
        <p:nvSpPr>
          <p:cNvPr id="13" name="Shape 10"/>
          <p:cNvSpPr/>
          <p:nvPr/>
        </p:nvSpPr>
        <p:spPr>
          <a:xfrm>
            <a:off x="4453128" y="1783080"/>
            <a:ext cx="3566160" cy="3611880"/>
          </a:xfrm>
          <a:prstGeom prst="roundRect">
            <a:avLst>
              <a:gd name="adj" fmla="val 2308"/>
            </a:avLst>
          </a:prstGeom>
          <a:solidFill>
            <a:srgbClr val="E4F2F2"/>
          </a:solidFill>
          <a:ln w="12700">
            <a:solidFill>
              <a:srgbClr val="CBE4E4"/>
            </a:solidFill>
            <a:prstDash val="solid"/>
          </a:ln>
          <a:effectLst>
            <a:outerShdw blurRad="88900" dist="25400" dir="5400000" algn="bl" rotWithShape="0">
              <a:srgbClr val="9FB1BC">
                <a:alpha val="30000"/>
              </a:srgbClr>
            </a:outerShdw>
          </a:effectLst>
        </p:spPr>
        <p:txBody>
          <a:bodyPr/>
          <a:lstStyle/>
          <a:p>
            <a:endParaRPr lang="en-US"/>
          </a:p>
        </p:txBody>
      </p:sp>
      <p:sp>
        <p:nvSpPr>
          <p:cNvPr id="14" name="Shape 11"/>
          <p:cNvSpPr/>
          <p:nvPr/>
        </p:nvSpPr>
        <p:spPr>
          <a:xfrm>
            <a:off x="4773168" y="2057400"/>
            <a:ext cx="777240" cy="777240"/>
          </a:xfrm>
          <a:prstGeom prst="ellipse">
            <a:avLst/>
          </a:prstGeom>
          <a:solidFill>
            <a:srgbClr val="0B6E70"/>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4959706" y="2243938"/>
            <a:ext cx="404165" cy="404165"/>
          </a:xfrm>
          <a:prstGeom prst="rect">
            <a:avLst/>
          </a:prstGeom>
        </p:spPr>
      </p:pic>
      <p:sp>
        <p:nvSpPr>
          <p:cNvPr id="16" name="Text 12"/>
          <p:cNvSpPr/>
          <p:nvPr/>
        </p:nvSpPr>
        <p:spPr>
          <a:xfrm>
            <a:off x="7104888" y="1920240"/>
            <a:ext cx="777240" cy="914400"/>
          </a:xfrm>
          <a:prstGeom prst="rect">
            <a:avLst/>
          </a:prstGeom>
          <a:noFill/>
          <a:ln/>
        </p:spPr>
        <p:txBody>
          <a:bodyPr wrap="square" lIns="0" tIns="0" rIns="0" bIns="0" rtlCol="0" anchor="ctr"/>
          <a:lstStyle/>
          <a:p>
            <a:pPr marL="0" indent="0" algn="r">
              <a:buNone/>
            </a:pPr>
            <a:r>
              <a:rPr lang="en-US" sz="5400" b="1">
                <a:solidFill>
                  <a:srgbClr val="D3E2E5"/>
                </a:solidFill>
                <a:latin typeface="Cambria" pitchFamily="34" charset="0"/>
                <a:ea typeface="Cambria" pitchFamily="34" charset="-122"/>
                <a:cs typeface="Cambria" pitchFamily="34" charset="-120"/>
              </a:rPr>
              <a:t>2</a:t>
            </a:r>
            <a:endParaRPr lang="en-US" sz="5400"/>
          </a:p>
        </p:txBody>
      </p:sp>
      <p:sp>
        <p:nvSpPr>
          <p:cNvPr id="17" name="Text 13"/>
          <p:cNvSpPr/>
          <p:nvPr/>
        </p:nvSpPr>
        <p:spPr>
          <a:xfrm>
            <a:off x="4773168" y="3108960"/>
            <a:ext cx="2926080" cy="457200"/>
          </a:xfrm>
          <a:prstGeom prst="rect">
            <a:avLst/>
          </a:prstGeom>
          <a:noFill/>
          <a:ln/>
        </p:spPr>
        <p:txBody>
          <a:bodyPr wrap="square" lIns="0" tIns="0" rIns="0" bIns="0" rtlCol="0" anchor="ctr"/>
          <a:lstStyle/>
          <a:p>
            <a:pPr marL="0" indent="0">
              <a:buNone/>
            </a:pPr>
            <a:r>
              <a:rPr lang="en-US" sz="2200" b="1">
                <a:solidFill>
                  <a:srgbClr val="142F47"/>
                </a:solidFill>
                <a:latin typeface="Cambria" pitchFamily="34" charset="0"/>
                <a:ea typeface="Cambria" pitchFamily="34" charset="-122"/>
                <a:cs typeface="Cambria" pitchFamily="34" charset="-120"/>
              </a:rPr>
              <a:t>The Craft</a:t>
            </a:r>
            <a:endParaRPr lang="en-US" sz="2200"/>
          </a:p>
        </p:txBody>
      </p:sp>
      <p:sp>
        <p:nvSpPr>
          <p:cNvPr id="18" name="Text 14"/>
          <p:cNvSpPr/>
          <p:nvPr/>
        </p:nvSpPr>
        <p:spPr>
          <a:xfrm>
            <a:off x="4773168" y="3611880"/>
            <a:ext cx="2971800" cy="1234440"/>
          </a:xfrm>
          <a:prstGeom prst="rect">
            <a:avLst/>
          </a:prstGeom>
          <a:noFill/>
          <a:ln/>
        </p:spPr>
        <p:txBody>
          <a:bodyPr wrap="square" lIns="0" tIns="0" rIns="0" bIns="0" rtlCol="0" anchor="ctr"/>
          <a:lstStyle/>
          <a:p>
            <a:pPr marL="0" indent="0">
              <a:lnSpc>
                <a:spcPct val="112000"/>
              </a:lnSpc>
              <a:buNone/>
            </a:pPr>
            <a:r>
              <a:rPr lang="en-US" sz="1350">
                <a:solidFill>
                  <a:srgbClr val="45586A"/>
                </a:solidFill>
                <a:latin typeface="Calibri" pitchFamily="34" charset="0"/>
                <a:ea typeface="Calibri" pitchFamily="34" charset="-122"/>
                <a:cs typeface="Calibri" pitchFamily="34" charset="-120"/>
              </a:rPr>
              <a:t>Driving Claude Code well: prompts, the build loop, fake data, states, checkpoints, the charter.</a:t>
            </a:r>
            <a:endParaRPr lang="en-US" sz="1350"/>
          </a:p>
        </p:txBody>
      </p:sp>
      <p:sp>
        <p:nvSpPr>
          <p:cNvPr id="19" name="Text 15"/>
          <p:cNvSpPr/>
          <p:nvPr/>
        </p:nvSpPr>
        <p:spPr>
          <a:xfrm>
            <a:off x="4773168" y="4956048"/>
            <a:ext cx="2743200" cy="320040"/>
          </a:xfrm>
          <a:prstGeom prst="rect">
            <a:avLst/>
          </a:prstGeom>
          <a:noFill/>
          <a:ln/>
        </p:spPr>
        <p:txBody>
          <a:bodyPr wrap="square" lIns="0" tIns="0" rIns="0" bIns="0" rtlCol="0" anchor="ctr"/>
          <a:lstStyle/>
          <a:p>
            <a:pPr marL="0" indent="0">
              <a:buNone/>
            </a:pPr>
            <a:r>
              <a:rPr lang="en-US" sz="1200" b="1">
                <a:solidFill>
                  <a:srgbClr val="0B6E70"/>
                </a:solidFill>
                <a:latin typeface="Calibri" pitchFamily="34" charset="0"/>
                <a:ea typeface="Calibri" pitchFamily="34" charset="-122"/>
                <a:cs typeface="Calibri" pitchFamily="34" charset="-120"/>
              </a:rPr>
              <a:t>~25 min</a:t>
            </a:r>
            <a:endParaRPr lang="en-US" sz="1200"/>
          </a:p>
        </p:txBody>
      </p:sp>
      <p:sp>
        <p:nvSpPr>
          <p:cNvPr id="20" name="Shape 16"/>
          <p:cNvSpPr/>
          <p:nvPr/>
        </p:nvSpPr>
        <p:spPr>
          <a:xfrm>
            <a:off x="8311896" y="1783080"/>
            <a:ext cx="3566160" cy="3611880"/>
          </a:xfrm>
          <a:prstGeom prst="roundRect">
            <a:avLst>
              <a:gd name="adj" fmla="val 230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21" name="Shape 17"/>
          <p:cNvSpPr/>
          <p:nvPr/>
        </p:nvSpPr>
        <p:spPr>
          <a:xfrm>
            <a:off x="8631936" y="2057400"/>
            <a:ext cx="777240" cy="777240"/>
          </a:xfrm>
          <a:prstGeom prst="ellipse">
            <a:avLst/>
          </a:prstGeom>
          <a:solidFill>
            <a:srgbClr val="0F8B8D"/>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8818474" y="2243938"/>
            <a:ext cx="404165" cy="404165"/>
          </a:xfrm>
          <a:prstGeom prst="rect">
            <a:avLst/>
          </a:prstGeom>
        </p:spPr>
      </p:pic>
      <p:sp>
        <p:nvSpPr>
          <p:cNvPr id="23" name="Text 18"/>
          <p:cNvSpPr/>
          <p:nvPr/>
        </p:nvSpPr>
        <p:spPr>
          <a:xfrm>
            <a:off x="10963656" y="1920240"/>
            <a:ext cx="777240" cy="914400"/>
          </a:xfrm>
          <a:prstGeom prst="rect">
            <a:avLst/>
          </a:prstGeom>
          <a:noFill/>
          <a:ln/>
        </p:spPr>
        <p:txBody>
          <a:bodyPr wrap="square" lIns="0" tIns="0" rIns="0" bIns="0" rtlCol="0" anchor="ctr"/>
          <a:lstStyle/>
          <a:p>
            <a:pPr marL="0" indent="0" algn="r">
              <a:buNone/>
            </a:pPr>
            <a:r>
              <a:rPr lang="en-US" sz="5400" b="1">
                <a:solidFill>
                  <a:srgbClr val="D3E2E5"/>
                </a:solidFill>
                <a:latin typeface="Cambria" pitchFamily="34" charset="0"/>
                <a:ea typeface="Cambria" pitchFamily="34" charset="-122"/>
                <a:cs typeface="Cambria" pitchFamily="34" charset="-120"/>
              </a:rPr>
              <a:t>3</a:t>
            </a:r>
            <a:endParaRPr lang="en-US" sz="5400"/>
          </a:p>
        </p:txBody>
      </p:sp>
      <p:sp>
        <p:nvSpPr>
          <p:cNvPr id="24" name="Text 19"/>
          <p:cNvSpPr/>
          <p:nvPr/>
        </p:nvSpPr>
        <p:spPr>
          <a:xfrm>
            <a:off x="8631936" y="3108960"/>
            <a:ext cx="2926080" cy="457200"/>
          </a:xfrm>
          <a:prstGeom prst="rect">
            <a:avLst/>
          </a:prstGeom>
          <a:noFill/>
          <a:ln/>
        </p:spPr>
        <p:txBody>
          <a:bodyPr wrap="square" lIns="0" tIns="0" rIns="0" bIns="0" rtlCol="0" anchor="ctr"/>
          <a:lstStyle/>
          <a:p>
            <a:pPr marL="0" indent="0">
              <a:buNone/>
            </a:pPr>
            <a:r>
              <a:rPr lang="en-US" sz="2200" b="1">
                <a:solidFill>
                  <a:srgbClr val="142F47"/>
                </a:solidFill>
                <a:latin typeface="Cambria" pitchFamily="34" charset="0"/>
                <a:ea typeface="Cambria" pitchFamily="34" charset="-122"/>
                <a:cs typeface="Cambria" pitchFamily="34" charset="-120"/>
              </a:rPr>
              <a:t>The Future</a:t>
            </a:r>
            <a:endParaRPr lang="en-US" sz="2200"/>
          </a:p>
        </p:txBody>
      </p:sp>
      <p:sp>
        <p:nvSpPr>
          <p:cNvPr id="25" name="Text 20"/>
          <p:cNvSpPr/>
          <p:nvPr/>
        </p:nvSpPr>
        <p:spPr>
          <a:xfrm>
            <a:off x="8631936" y="3611880"/>
            <a:ext cx="2971800" cy="1234440"/>
          </a:xfrm>
          <a:prstGeom prst="rect">
            <a:avLst/>
          </a:prstGeom>
          <a:noFill/>
          <a:ln/>
        </p:spPr>
        <p:txBody>
          <a:bodyPr wrap="square" lIns="0" tIns="0" rIns="0" bIns="0" rtlCol="0" anchor="ctr"/>
          <a:lstStyle/>
          <a:p>
            <a:pPr marL="0" indent="0">
              <a:lnSpc>
                <a:spcPct val="112000"/>
              </a:lnSpc>
              <a:buNone/>
            </a:pPr>
            <a:r>
              <a:rPr lang="en-US" sz="1350">
                <a:solidFill>
                  <a:srgbClr val="45586A"/>
                </a:solidFill>
                <a:latin typeface="Calibri" pitchFamily="34" charset="0"/>
                <a:ea typeface="Calibri" pitchFamily="34" charset="-122"/>
                <a:cs typeface="Calibri" pitchFamily="34" charset="-120"/>
              </a:rPr>
              <a:t>How this reshapes requirements gathering, and what stays exactly the same.</a:t>
            </a:r>
            <a:endParaRPr lang="en-US" sz="1350"/>
          </a:p>
        </p:txBody>
      </p:sp>
      <p:sp>
        <p:nvSpPr>
          <p:cNvPr id="26" name="Text 21"/>
          <p:cNvSpPr/>
          <p:nvPr/>
        </p:nvSpPr>
        <p:spPr>
          <a:xfrm>
            <a:off x="8631936" y="4956048"/>
            <a:ext cx="2743200" cy="320040"/>
          </a:xfrm>
          <a:prstGeom prst="rect">
            <a:avLst/>
          </a:prstGeom>
          <a:noFill/>
          <a:ln/>
        </p:spPr>
        <p:txBody>
          <a:bodyPr wrap="square" lIns="0" tIns="0" rIns="0" bIns="0" rtlCol="0" anchor="ctr"/>
          <a:lstStyle/>
          <a:p>
            <a:pPr marL="0" indent="0">
              <a:buNone/>
            </a:pPr>
            <a:r>
              <a:rPr lang="en-US" sz="1200" b="1">
                <a:solidFill>
                  <a:srgbClr val="0B6E70"/>
                </a:solidFill>
                <a:latin typeface="Calibri" pitchFamily="34" charset="0"/>
                <a:ea typeface="Calibri" pitchFamily="34" charset="-122"/>
                <a:cs typeface="Calibri" pitchFamily="34" charset="-120"/>
              </a:rPr>
              <a:t>~10 min</a:t>
            </a:r>
            <a:endParaRPr lang="en-US" sz="1200"/>
          </a:p>
        </p:txBody>
      </p:sp>
      <p:sp>
        <p:nvSpPr>
          <p:cNvPr id="27" name="Text 22"/>
          <p:cNvSpPr/>
          <p:nvPr/>
        </p:nvSpPr>
        <p:spPr>
          <a:xfrm>
            <a:off x="594360" y="5806440"/>
            <a:ext cx="10972800" cy="365760"/>
          </a:xfrm>
          <a:prstGeom prst="rect">
            <a:avLst/>
          </a:prstGeom>
          <a:noFill/>
          <a:ln/>
        </p:spPr>
        <p:txBody>
          <a:bodyPr wrap="square" lIns="0" tIns="0" rIns="0" bIns="0" rtlCol="0" anchor="ctr"/>
          <a:lstStyle/>
          <a:p>
            <a:pPr marL="0" indent="0">
              <a:buNone/>
            </a:pPr>
            <a:r>
              <a:rPr lang="en-US" sz="1300" i="1">
                <a:solidFill>
                  <a:srgbClr val="7C8B99"/>
                </a:solidFill>
                <a:latin typeface="Calibri" pitchFamily="34" charset="0"/>
                <a:ea typeface="Calibri" pitchFamily="34" charset="-122"/>
                <a:cs typeface="Calibri" pitchFamily="34" charset="-120"/>
              </a:rPr>
              <a:t>Plus five minutes at the end for questions.</a:t>
            </a:r>
            <a:endParaRPr lang="en-US" sz="13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1 · THE CASE</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Every project plays the same game of telephone</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3</a:t>
            </a:r>
            <a:endParaRPr lang="en-US" sz="900"/>
          </a:p>
        </p:txBody>
      </p:sp>
      <p:sp>
        <p:nvSpPr>
          <p:cNvPr id="6" name="Shape 4"/>
          <p:cNvSpPr/>
          <p:nvPr/>
        </p:nvSpPr>
        <p:spPr>
          <a:xfrm>
            <a:off x="594360" y="1828800"/>
            <a:ext cx="2606040" cy="2697480"/>
          </a:xfrm>
          <a:prstGeom prst="roundRect">
            <a:avLst>
              <a:gd name="adj" fmla="val 315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7" name="Shape 5"/>
          <p:cNvSpPr/>
          <p:nvPr/>
        </p:nvSpPr>
        <p:spPr>
          <a:xfrm>
            <a:off x="877824" y="2148840"/>
            <a:ext cx="731520" cy="731520"/>
          </a:xfrm>
          <a:prstGeom prst="ellipse">
            <a:avLst/>
          </a:prstGeom>
          <a:solidFill>
            <a:srgbClr val="0F8B8D"/>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53389" y="2324405"/>
            <a:ext cx="380390" cy="380390"/>
          </a:xfrm>
          <a:prstGeom prst="rect">
            <a:avLst/>
          </a:prstGeom>
        </p:spPr>
      </p:pic>
      <p:sp>
        <p:nvSpPr>
          <p:cNvPr id="9" name="Text 6"/>
          <p:cNvSpPr/>
          <p:nvPr/>
        </p:nvSpPr>
        <p:spPr>
          <a:xfrm>
            <a:off x="877824" y="3063240"/>
            <a:ext cx="2148840" cy="594360"/>
          </a:xfrm>
          <a:prstGeom prst="rect">
            <a:avLst/>
          </a:prstGeom>
          <a:noFill/>
          <a:ln/>
        </p:spPr>
        <p:txBody>
          <a:bodyPr wrap="square" lIns="0" tIns="0" rIns="0" bIns="0" rtlCol="0" anchor="ctr"/>
          <a:lstStyle/>
          <a:p>
            <a:pPr marL="0" indent="0">
              <a:buNone/>
            </a:pPr>
            <a:r>
              <a:rPr lang="en-US" sz="1700" b="1">
                <a:solidFill>
                  <a:srgbClr val="142F47"/>
                </a:solidFill>
                <a:latin typeface="Cambria" pitchFamily="34" charset="0"/>
                <a:ea typeface="Cambria" pitchFamily="34" charset="-122"/>
                <a:cs typeface="Cambria" pitchFamily="34" charset="-120"/>
              </a:rPr>
              <a:t>What you meant</a:t>
            </a:r>
            <a:endParaRPr lang="en-US" sz="1700"/>
          </a:p>
        </p:txBody>
      </p:sp>
      <p:sp>
        <p:nvSpPr>
          <p:cNvPr id="10" name="Text 7"/>
          <p:cNvSpPr/>
          <p:nvPr/>
        </p:nvSpPr>
        <p:spPr>
          <a:xfrm>
            <a:off x="877824" y="3611880"/>
            <a:ext cx="2103120" cy="822960"/>
          </a:xfrm>
          <a:prstGeom prst="rect">
            <a:avLst/>
          </a:prstGeom>
          <a:noFill/>
          <a:ln/>
        </p:spPr>
        <p:txBody>
          <a:bodyPr wrap="square" lIns="0" tIns="0" rIns="0" bIns="0" rtlCol="0" anchor="ctr"/>
          <a:lstStyle/>
          <a:p>
            <a:pPr marL="0" indent="0">
              <a:lnSpc>
                <a:spcPct val="110000"/>
              </a:lnSpc>
              <a:buNone/>
            </a:pPr>
            <a:r>
              <a:rPr lang="en-US" sz="1200">
                <a:solidFill>
                  <a:srgbClr val="45586A"/>
                </a:solidFill>
                <a:latin typeface="Calibri" pitchFamily="34" charset="0"/>
                <a:ea typeface="Calibri" pitchFamily="34" charset="-122"/>
                <a:cs typeface="Calibri" pitchFamily="34" charset="-120"/>
              </a:rPr>
              <a:t>A picture in your head: complete, obvious, unwritten.</a:t>
            </a:r>
            <a:endParaRPr lang="en-US" sz="1200"/>
          </a:p>
        </p:txBody>
      </p:sp>
      <p:sp>
        <p:nvSpPr>
          <p:cNvPr id="11" name="Shape 8"/>
          <p:cNvSpPr/>
          <p:nvPr/>
        </p:nvSpPr>
        <p:spPr>
          <a:xfrm>
            <a:off x="3200400" y="3035808"/>
            <a:ext cx="384048" cy="274320"/>
          </a:xfrm>
          <a:prstGeom prst="rightArrow">
            <a:avLst/>
          </a:prstGeom>
          <a:solidFill>
            <a:srgbClr val="0F8B8D"/>
          </a:solidFill>
          <a:ln/>
        </p:spPr>
        <p:txBody>
          <a:bodyPr/>
          <a:lstStyle/>
          <a:p>
            <a:endParaRPr lang="en-US"/>
          </a:p>
        </p:txBody>
      </p:sp>
      <p:sp>
        <p:nvSpPr>
          <p:cNvPr id="12" name="Shape 9"/>
          <p:cNvSpPr/>
          <p:nvPr/>
        </p:nvSpPr>
        <p:spPr>
          <a:xfrm>
            <a:off x="3584448" y="1828800"/>
            <a:ext cx="2606040" cy="2697480"/>
          </a:xfrm>
          <a:prstGeom prst="roundRect">
            <a:avLst>
              <a:gd name="adj" fmla="val 315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3" name="Shape 10"/>
          <p:cNvSpPr/>
          <p:nvPr/>
        </p:nvSpPr>
        <p:spPr>
          <a:xfrm>
            <a:off x="3867912" y="2148840"/>
            <a:ext cx="731520" cy="731520"/>
          </a:xfrm>
          <a:prstGeom prst="ellipse">
            <a:avLst/>
          </a:prstGeom>
          <a:solidFill>
            <a:srgbClr val="0F8B8D"/>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043477" y="2324405"/>
            <a:ext cx="380390" cy="380390"/>
          </a:xfrm>
          <a:prstGeom prst="rect">
            <a:avLst/>
          </a:prstGeom>
        </p:spPr>
      </p:pic>
      <p:sp>
        <p:nvSpPr>
          <p:cNvPr id="15" name="Text 11"/>
          <p:cNvSpPr/>
          <p:nvPr/>
        </p:nvSpPr>
        <p:spPr>
          <a:xfrm>
            <a:off x="3867912" y="3063240"/>
            <a:ext cx="2148840" cy="594360"/>
          </a:xfrm>
          <a:prstGeom prst="rect">
            <a:avLst/>
          </a:prstGeom>
          <a:noFill/>
          <a:ln/>
        </p:spPr>
        <p:txBody>
          <a:bodyPr wrap="square" lIns="0" tIns="0" rIns="0" bIns="0" rtlCol="0" anchor="ctr"/>
          <a:lstStyle/>
          <a:p>
            <a:pPr marL="0" indent="0">
              <a:buNone/>
            </a:pPr>
            <a:r>
              <a:rPr lang="en-US" sz="1700" b="1">
                <a:solidFill>
                  <a:srgbClr val="142F47"/>
                </a:solidFill>
                <a:latin typeface="Cambria" pitchFamily="34" charset="0"/>
                <a:ea typeface="Cambria" pitchFamily="34" charset="-122"/>
                <a:cs typeface="Cambria" pitchFamily="34" charset="-120"/>
              </a:rPr>
              <a:t>What you said</a:t>
            </a:r>
            <a:endParaRPr lang="en-US" sz="1700"/>
          </a:p>
        </p:txBody>
      </p:sp>
      <p:sp>
        <p:nvSpPr>
          <p:cNvPr id="16" name="Text 12"/>
          <p:cNvSpPr/>
          <p:nvPr/>
        </p:nvSpPr>
        <p:spPr>
          <a:xfrm>
            <a:off x="3867912" y="3611880"/>
            <a:ext cx="2103120" cy="822960"/>
          </a:xfrm>
          <a:prstGeom prst="rect">
            <a:avLst/>
          </a:prstGeom>
          <a:noFill/>
          <a:ln/>
        </p:spPr>
        <p:txBody>
          <a:bodyPr wrap="square" lIns="0" tIns="0" rIns="0" bIns="0" rtlCol="0" anchor="ctr"/>
          <a:lstStyle/>
          <a:p>
            <a:pPr marL="0" indent="0">
              <a:lnSpc>
                <a:spcPct val="110000"/>
              </a:lnSpc>
              <a:buNone/>
            </a:pPr>
            <a:r>
              <a:rPr lang="en-US" sz="1200">
                <a:solidFill>
                  <a:srgbClr val="45586A"/>
                </a:solidFill>
                <a:latin typeface="Calibri" pitchFamily="34" charset="0"/>
                <a:ea typeface="Calibri" pitchFamily="34" charset="-122"/>
                <a:cs typeface="Calibri" pitchFamily="34" charset="-120"/>
              </a:rPr>
              <a:t>An hour of conversation, compressed into notes.</a:t>
            </a:r>
            <a:endParaRPr lang="en-US" sz="1200"/>
          </a:p>
        </p:txBody>
      </p:sp>
      <p:sp>
        <p:nvSpPr>
          <p:cNvPr id="17" name="Shape 13"/>
          <p:cNvSpPr/>
          <p:nvPr/>
        </p:nvSpPr>
        <p:spPr>
          <a:xfrm>
            <a:off x="6190488" y="3035808"/>
            <a:ext cx="384048" cy="274320"/>
          </a:xfrm>
          <a:prstGeom prst="rightArrow">
            <a:avLst/>
          </a:prstGeom>
          <a:solidFill>
            <a:srgbClr val="0F8B8D"/>
          </a:solidFill>
          <a:ln/>
        </p:spPr>
        <p:txBody>
          <a:bodyPr/>
          <a:lstStyle/>
          <a:p>
            <a:endParaRPr lang="en-US"/>
          </a:p>
        </p:txBody>
      </p:sp>
      <p:sp>
        <p:nvSpPr>
          <p:cNvPr id="18" name="Shape 14"/>
          <p:cNvSpPr/>
          <p:nvPr/>
        </p:nvSpPr>
        <p:spPr>
          <a:xfrm>
            <a:off x="6574536" y="1828800"/>
            <a:ext cx="2606040" cy="2697480"/>
          </a:xfrm>
          <a:prstGeom prst="roundRect">
            <a:avLst>
              <a:gd name="adj" fmla="val 315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9" name="Shape 15"/>
          <p:cNvSpPr/>
          <p:nvPr/>
        </p:nvSpPr>
        <p:spPr>
          <a:xfrm>
            <a:off x="6858000" y="2148840"/>
            <a:ext cx="731520" cy="731520"/>
          </a:xfrm>
          <a:prstGeom prst="ellipse">
            <a:avLst/>
          </a:prstGeom>
          <a:solidFill>
            <a:srgbClr val="0F8B8D"/>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7033565" y="2324405"/>
            <a:ext cx="380390" cy="380390"/>
          </a:xfrm>
          <a:prstGeom prst="rect">
            <a:avLst/>
          </a:prstGeom>
        </p:spPr>
      </p:pic>
      <p:sp>
        <p:nvSpPr>
          <p:cNvPr id="21" name="Text 16"/>
          <p:cNvSpPr/>
          <p:nvPr/>
        </p:nvSpPr>
        <p:spPr>
          <a:xfrm>
            <a:off x="6858000" y="3063240"/>
            <a:ext cx="2148840" cy="594360"/>
          </a:xfrm>
          <a:prstGeom prst="rect">
            <a:avLst/>
          </a:prstGeom>
          <a:noFill/>
          <a:ln/>
        </p:spPr>
        <p:txBody>
          <a:bodyPr wrap="square" lIns="0" tIns="0" rIns="0" bIns="0" rtlCol="0" anchor="ctr"/>
          <a:lstStyle/>
          <a:p>
            <a:pPr marL="0" indent="0">
              <a:buNone/>
            </a:pPr>
            <a:r>
              <a:rPr lang="en-US" sz="1700" b="1">
                <a:solidFill>
                  <a:srgbClr val="142F47"/>
                </a:solidFill>
                <a:latin typeface="Cambria" pitchFamily="34" charset="0"/>
                <a:ea typeface="Cambria" pitchFamily="34" charset="-122"/>
                <a:cs typeface="Cambria" pitchFamily="34" charset="-120"/>
              </a:rPr>
              <a:t>What was written</a:t>
            </a:r>
            <a:endParaRPr lang="en-US" sz="1700"/>
          </a:p>
        </p:txBody>
      </p:sp>
      <p:sp>
        <p:nvSpPr>
          <p:cNvPr id="22" name="Text 17"/>
          <p:cNvSpPr/>
          <p:nvPr/>
        </p:nvSpPr>
        <p:spPr>
          <a:xfrm>
            <a:off x="6858000" y="3611880"/>
            <a:ext cx="2103120" cy="822960"/>
          </a:xfrm>
          <a:prstGeom prst="rect">
            <a:avLst/>
          </a:prstGeom>
          <a:noFill/>
          <a:ln/>
        </p:spPr>
        <p:txBody>
          <a:bodyPr wrap="square" lIns="0" tIns="0" rIns="0" bIns="0" rtlCol="0" anchor="ctr"/>
          <a:lstStyle/>
          <a:p>
            <a:pPr marL="0" indent="0">
              <a:lnSpc>
                <a:spcPct val="110000"/>
              </a:lnSpc>
              <a:buNone/>
            </a:pPr>
            <a:r>
              <a:rPr lang="en-US" sz="1200">
                <a:solidFill>
                  <a:srgbClr val="45586A"/>
                </a:solidFill>
                <a:latin typeface="Calibri" pitchFamily="34" charset="0"/>
                <a:ea typeface="Calibri" pitchFamily="34" charset="-122"/>
                <a:cs typeface="Calibri" pitchFamily="34" charset="-120"/>
              </a:rPr>
              <a:t>Thirty pages. Someone else interprets them.</a:t>
            </a:r>
            <a:endParaRPr lang="en-US" sz="1200"/>
          </a:p>
        </p:txBody>
      </p:sp>
      <p:sp>
        <p:nvSpPr>
          <p:cNvPr id="23" name="Shape 18"/>
          <p:cNvSpPr/>
          <p:nvPr/>
        </p:nvSpPr>
        <p:spPr>
          <a:xfrm>
            <a:off x="9180576" y="3035808"/>
            <a:ext cx="384048" cy="274320"/>
          </a:xfrm>
          <a:prstGeom prst="rightArrow">
            <a:avLst/>
          </a:prstGeom>
          <a:solidFill>
            <a:srgbClr val="0F8B8D"/>
          </a:solidFill>
          <a:ln/>
        </p:spPr>
        <p:txBody>
          <a:bodyPr/>
          <a:lstStyle/>
          <a:p>
            <a:endParaRPr lang="en-US"/>
          </a:p>
        </p:txBody>
      </p:sp>
      <p:sp>
        <p:nvSpPr>
          <p:cNvPr id="24" name="Shape 19"/>
          <p:cNvSpPr/>
          <p:nvPr/>
        </p:nvSpPr>
        <p:spPr>
          <a:xfrm>
            <a:off x="9564624" y="1828800"/>
            <a:ext cx="2606040" cy="2697480"/>
          </a:xfrm>
          <a:prstGeom prst="roundRect">
            <a:avLst>
              <a:gd name="adj" fmla="val 315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25" name="Shape 20"/>
          <p:cNvSpPr/>
          <p:nvPr/>
        </p:nvSpPr>
        <p:spPr>
          <a:xfrm>
            <a:off x="9848088" y="2148840"/>
            <a:ext cx="731520" cy="731520"/>
          </a:xfrm>
          <a:prstGeom prst="ellipse">
            <a:avLst/>
          </a:prstGeom>
          <a:solidFill>
            <a:srgbClr val="0F8B8D"/>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10023653" y="2324405"/>
            <a:ext cx="380390" cy="380390"/>
          </a:xfrm>
          <a:prstGeom prst="rect">
            <a:avLst/>
          </a:prstGeom>
        </p:spPr>
      </p:pic>
      <p:sp>
        <p:nvSpPr>
          <p:cNvPr id="27" name="Text 21"/>
          <p:cNvSpPr/>
          <p:nvPr/>
        </p:nvSpPr>
        <p:spPr>
          <a:xfrm>
            <a:off x="9848088" y="3063240"/>
            <a:ext cx="2148840" cy="594360"/>
          </a:xfrm>
          <a:prstGeom prst="rect">
            <a:avLst/>
          </a:prstGeom>
          <a:noFill/>
          <a:ln/>
        </p:spPr>
        <p:txBody>
          <a:bodyPr wrap="square" lIns="0" tIns="0" rIns="0" bIns="0" rtlCol="0" anchor="ctr"/>
          <a:lstStyle/>
          <a:p>
            <a:pPr marL="0" indent="0">
              <a:buNone/>
            </a:pPr>
            <a:r>
              <a:rPr lang="en-US" sz="1700" b="1">
                <a:solidFill>
                  <a:srgbClr val="142F47"/>
                </a:solidFill>
                <a:latin typeface="Cambria" pitchFamily="34" charset="0"/>
                <a:ea typeface="Cambria" pitchFamily="34" charset="-122"/>
                <a:cs typeface="Cambria" pitchFamily="34" charset="-120"/>
              </a:rPr>
              <a:t>What was built</a:t>
            </a:r>
            <a:endParaRPr lang="en-US" sz="1700"/>
          </a:p>
        </p:txBody>
      </p:sp>
      <p:sp>
        <p:nvSpPr>
          <p:cNvPr id="28" name="Text 22"/>
          <p:cNvSpPr/>
          <p:nvPr/>
        </p:nvSpPr>
        <p:spPr>
          <a:xfrm>
            <a:off x="9848088" y="3611880"/>
            <a:ext cx="2103120" cy="822960"/>
          </a:xfrm>
          <a:prstGeom prst="rect">
            <a:avLst/>
          </a:prstGeom>
          <a:noFill/>
          <a:ln/>
        </p:spPr>
        <p:txBody>
          <a:bodyPr wrap="square" lIns="0" tIns="0" rIns="0" bIns="0" rtlCol="0" anchor="ctr"/>
          <a:lstStyle/>
          <a:p>
            <a:pPr marL="0" indent="0">
              <a:lnSpc>
                <a:spcPct val="110000"/>
              </a:lnSpc>
              <a:buNone/>
            </a:pPr>
            <a:r>
              <a:rPr lang="en-US" sz="1200">
                <a:solidFill>
                  <a:srgbClr val="45586A"/>
                </a:solidFill>
                <a:latin typeface="Calibri" pitchFamily="34" charset="0"/>
                <a:ea typeface="Calibri" pitchFamily="34" charset="-122"/>
                <a:cs typeface="Calibri" pitchFamily="34" charset="-120"/>
              </a:rPr>
              <a:t>Months later. The most expensive possible moment.</a:t>
            </a:r>
            <a:endParaRPr lang="en-US" sz="1200"/>
          </a:p>
        </p:txBody>
      </p:sp>
      <p:sp>
        <p:nvSpPr>
          <p:cNvPr id="29" name="Shape 23"/>
          <p:cNvSpPr/>
          <p:nvPr/>
        </p:nvSpPr>
        <p:spPr>
          <a:xfrm>
            <a:off x="2148840" y="5074920"/>
            <a:ext cx="7863840" cy="868680"/>
          </a:xfrm>
          <a:prstGeom prst="roundRect">
            <a:avLst>
              <a:gd name="adj" fmla="val 9474"/>
            </a:avLst>
          </a:prstGeom>
          <a:solidFill>
            <a:srgbClr val="FBF3E2"/>
          </a:solidFill>
          <a:ln w="12700">
            <a:solidFill>
              <a:srgbClr val="F0DFBB"/>
            </a:solidFill>
            <a:prstDash val="solid"/>
          </a:ln>
          <a:effectLst>
            <a:outerShdw blurRad="88900" dist="25400" dir="5400000" algn="bl" rotWithShape="0">
              <a:srgbClr val="9FB1BC">
                <a:alpha val="30000"/>
              </a:srgbClr>
            </a:outerShdw>
          </a:effectLst>
        </p:spPr>
        <p:txBody>
          <a:bodyPr/>
          <a:lstStyle/>
          <a:p>
            <a:endParaRPr lang="en-US"/>
          </a:p>
        </p:txBody>
      </p:sp>
      <p:sp>
        <p:nvSpPr>
          <p:cNvPr id="30" name="Text 24"/>
          <p:cNvSpPr/>
          <p:nvPr/>
        </p:nvSpPr>
        <p:spPr>
          <a:xfrm>
            <a:off x="2148840" y="5074920"/>
            <a:ext cx="7863840" cy="868680"/>
          </a:xfrm>
          <a:prstGeom prst="rect">
            <a:avLst/>
          </a:prstGeom>
          <a:noFill/>
          <a:ln/>
        </p:spPr>
        <p:txBody>
          <a:bodyPr wrap="square" lIns="0" tIns="0" rIns="0" bIns="0" rtlCol="0" anchor="ctr"/>
          <a:lstStyle/>
          <a:p>
            <a:pPr marL="0" indent="0" algn="ctr">
              <a:buNone/>
            </a:pPr>
            <a:r>
              <a:rPr lang="en-US" sz="1700" i="1">
                <a:solidFill>
                  <a:srgbClr val="8A6420"/>
                </a:solidFill>
                <a:latin typeface="Cambria" pitchFamily="34" charset="0"/>
                <a:ea typeface="Cambria" pitchFamily="34" charset="-122"/>
                <a:cs typeface="Cambria" pitchFamily="34" charset="-120"/>
              </a:rPr>
              <a:t>“That's… not what I meant.”  ·  every stakeholder, at every demo, since forever</a:t>
            </a:r>
            <a:endParaRPr lang="en-US" sz="17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1 · THE CASE</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Documents fail for three structural reasons</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4</a:t>
            </a:r>
            <a:endParaRPr lang="en-US" sz="900"/>
          </a:p>
        </p:txBody>
      </p:sp>
      <p:sp>
        <p:nvSpPr>
          <p:cNvPr id="6" name="Shape 4"/>
          <p:cNvSpPr/>
          <p:nvPr/>
        </p:nvSpPr>
        <p:spPr>
          <a:xfrm>
            <a:off x="594360" y="1874520"/>
            <a:ext cx="11000232" cy="1234440"/>
          </a:xfrm>
          <a:prstGeom prst="roundRect">
            <a:avLst>
              <a:gd name="adj" fmla="val 6667"/>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7" name="Shape 5"/>
          <p:cNvSpPr/>
          <p:nvPr/>
        </p:nvSpPr>
        <p:spPr>
          <a:xfrm>
            <a:off x="896112" y="2148840"/>
            <a:ext cx="731520" cy="731520"/>
          </a:xfrm>
          <a:prstGeom prst="ellipse">
            <a:avLst/>
          </a:prstGeom>
          <a:solidFill>
            <a:srgbClr val="0F8B8D"/>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71677" y="2324405"/>
            <a:ext cx="380390" cy="380390"/>
          </a:xfrm>
          <a:prstGeom prst="rect">
            <a:avLst/>
          </a:prstGeom>
        </p:spPr>
      </p:pic>
      <p:sp>
        <p:nvSpPr>
          <p:cNvPr id="9" name="Text 6"/>
          <p:cNvSpPr/>
          <p:nvPr/>
        </p:nvSpPr>
        <p:spPr>
          <a:xfrm>
            <a:off x="1874520" y="2093976"/>
            <a:ext cx="3017520" cy="822960"/>
          </a:xfrm>
          <a:prstGeom prst="rect">
            <a:avLst/>
          </a:prstGeom>
          <a:noFill/>
          <a:ln/>
        </p:spPr>
        <p:txBody>
          <a:bodyPr wrap="square" lIns="0" tIns="0" rIns="0" bIns="0" rtlCol="0" anchor="ctr"/>
          <a:lstStyle/>
          <a:p>
            <a:pPr marL="0" indent="0">
              <a:buNone/>
            </a:pPr>
            <a:r>
              <a:rPr lang="en-US" sz="1800" b="1">
                <a:solidFill>
                  <a:srgbClr val="142F47"/>
                </a:solidFill>
                <a:latin typeface="Cambria" pitchFamily="34" charset="0"/>
                <a:ea typeface="Cambria" pitchFamily="34" charset="-122"/>
                <a:cs typeface="Cambria" pitchFamily="34" charset="-120"/>
              </a:rPr>
              <a:t>Translation loss</a:t>
            </a:r>
            <a:endParaRPr lang="en-US" sz="1800"/>
          </a:p>
        </p:txBody>
      </p:sp>
      <p:sp>
        <p:nvSpPr>
          <p:cNvPr id="10" name="Text 7"/>
          <p:cNvSpPr/>
          <p:nvPr/>
        </p:nvSpPr>
        <p:spPr>
          <a:xfrm>
            <a:off x="4983480" y="2020824"/>
            <a:ext cx="6355080" cy="1005840"/>
          </a:xfrm>
          <a:prstGeom prst="rect">
            <a:avLst/>
          </a:prstGeom>
          <a:noFill/>
          <a:ln/>
        </p:spPr>
        <p:txBody>
          <a:bodyPr wrap="square" lIns="0" tIns="0" rIns="0" bIns="0" rtlCol="0" anchor="ctr"/>
          <a:lstStyle/>
          <a:p>
            <a:pPr marL="0" indent="0">
              <a:lnSpc>
                <a:spcPct val="110000"/>
              </a:lnSpc>
              <a:buNone/>
            </a:pPr>
            <a:r>
              <a:rPr lang="en-US" sz="1350">
                <a:solidFill>
                  <a:srgbClr val="45586A"/>
                </a:solidFill>
                <a:latin typeface="Calibri" pitchFamily="34" charset="0"/>
                <a:ea typeface="Calibri" pitchFamily="34" charset="-122"/>
                <a:cs typeface="Calibri" pitchFamily="34" charset="-120"/>
              </a:rPr>
              <a:t>Prose is lossy compression of intent. Every reader decompresses it differently, and the differences surface as defects.</a:t>
            </a:r>
            <a:endParaRPr lang="en-US" sz="1350"/>
          </a:p>
        </p:txBody>
      </p:sp>
      <p:sp>
        <p:nvSpPr>
          <p:cNvPr id="11" name="Shape 8"/>
          <p:cNvSpPr/>
          <p:nvPr/>
        </p:nvSpPr>
        <p:spPr>
          <a:xfrm>
            <a:off x="594360" y="3246120"/>
            <a:ext cx="11000232" cy="1234440"/>
          </a:xfrm>
          <a:prstGeom prst="roundRect">
            <a:avLst>
              <a:gd name="adj" fmla="val 6667"/>
            </a:avLst>
          </a:prstGeom>
          <a:solidFill>
            <a:srgbClr val="E4F2F2"/>
          </a:solidFill>
          <a:ln w="12700">
            <a:solidFill>
              <a:srgbClr val="CBE4E4"/>
            </a:solidFill>
            <a:prstDash val="solid"/>
          </a:ln>
          <a:effectLst>
            <a:outerShdw blurRad="88900" dist="25400" dir="5400000" algn="bl" rotWithShape="0">
              <a:srgbClr val="9FB1BC">
                <a:alpha val="30000"/>
              </a:srgbClr>
            </a:outerShdw>
          </a:effectLst>
        </p:spPr>
        <p:txBody>
          <a:bodyPr/>
          <a:lstStyle/>
          <a:p>
            <a:endParaRPr lang="en-US"/>
          </a:p>
        </p:txBody>
      </p:sp>
      <p:sp>
        <p:nvSpPr>
          <p:cNvPr id="12" name="Shape 9"/>
          <p:cNvSpPr/>
          <p:nvPr/>
        </p:nvSpPr>
        <p:spPr>
          <a:xfrm>
            <a:off x="896112" y="3520440"/>
            <a:ext cx="731520" cy="731520"/>
          </a:xfrm>
          <a:prstGeom prst="ellipse">
            <a:avLst/>
          </a:prstGeom>
          <a:solidFill>
            <a:srgbClr val="0B6E70"/>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1071677" y="3696005"/>
            <a:ext cx="380390" cy="380390"/>
          </a:xfrm>
          <a:prstGeom prst="rect">
            <a:avLst/>
          </a:prstGeom>
        </p:spPr>
      </p:pic>
      <p:sp>
        <p:nvSpPr>
          <p:cNvPr id="14" name="Text 10"/>
          <p:cNvSpPr/>
          <p:nvPr/>
        </p:nvSpPr>
        <p:spPr>
          <a:xfrm>
            <a:off x="1874520" y="3465576"/>
            <a:ext cx="3017520" cy="822960"/>
          </a:xfrm>
          <a:prstGeom prst="rect">
            <a:avLst/>
          </a:prstGeom>
          <a:noFill/>
          <a:ln/>
        </p:spPr>
        <p:txBody>
          <a:bodyPr wrap="square" lIns="0" tIns="0" rIns="0" bIns="0" rtlCol="0" anchor="ctr"/>
          <a:lstStyle/>
          <a:p>
            <a:pPr marL="0" indent="0">
              <a:buNone/>
            </a:pPr>
            <a:r>
              <a:rPr lang="en-US" sz="1800" b="1">
                <a:solidFill>
                  <a:srgbClr val="142F47"/>
                </a:solidFill>
                <a:latin typeface="Cambria" pitchFamily="34" charset="0"/>
                <a:ea typeface="Cambria" pitchFamily="34" charset="-122"/>
                <a:cs typeface="Cambria" pitchFamily="34" charset="-120"/>
              </a:rPr>
              <a:t>The imagination gap</a:t>
            </a:r>
            <a:endParaRPr lang="en-US" sz="1800"/>
          </a:p>
        </p:txBody>
      </p:sp>
      <p:sp>
        <p:nvSpPr>
          <p:cNvPr id="15" name="Text 11"/>
          <p:cNvSpPr/>
          <p:nvPr/>
        </p:nvSpPr>
        <p:spPr>
          <a:xfrm>
            <a:off x="4983480" y="3392424"/>
            <a:ext cx="6355080" cy="1005840"/>
          </a:xfrm>
          <a:prstGeom prst="rect">
            <a:avLst/>
          </a:prstGeom>
          <a:noFill/>
          <a:ln/>
        </p:spPr>
        <p:txBody>
          <a:bodyPr wrap="square" lIns="0" tIns="0" rIns="0" bIns="0" rtlCol="0" anchor="ctr"/>
          <a:lstStyle/>
          <a:p>
            <a:pPr marL="0" indent="0">
              <a:lnSpc>
                <a:spcPct val="110000"/>
              </a:lnSpc>
              <a:buNone/>
            </a:pPr>
            <a:r>
              <a:rPr lang="en-US" sz="1350">
                <a:solidFill>
                  <a:srgbClr val="45586A"/>
                </a:solidFill>
                <a:latin typeface="Calibri" pitchFamily="34" charset="0"/>
                <a:ea typeface="Calibri" pitchFamily="34" charset="-122"/>
                <a:cs typeface="Calibri" pitchFamily="34" charset="-120"/>
              </a:rPr>
              <a:t>People specify poorly what they have never seen. People react well to what is in front of them. Documents demand the first skill. Humans have the second.</a:t>
            </a:r>
            <a:endParaRPr lang="en-US" sz="1350"/>
          </a:p>
        </p:txBody>
      </p:sp>
      <p:sp>
        <p:nvSpPr>
          <p:cNvPr id="16" name="Shape 12"/>
          <p:cNvSpPr/>
          <p:nvPr/>
        </p:nvSpPr>
        <p:spPr>
          <a:xfrm>
            <a:off x="594360" y="4617720"/>
            <a:ext cx="11000232" cy="1234440"/>
          </a:xfrm>
          <a:prstGeom prst="roundRect">
            <a:avLst>
              <a:gd name="adj" fmla="val 6667"/>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7" name="Shape 13"/>
          <p:cNvSpPr/>
          <p:nvPr/>
        </p:nvSpPr>
        <p:spPr>
          <a:xfrm>
            <a:off x="896112" y="4892040"/>
            <a:ext cx="731520" cy="731520"/>
          </a:xfrm>
          <a:prstGeom prst="ellipse">
            <a:avLst/>
          </a:prstGeom>
          <a:solidFill>
            <a:srgbClr val="0F8B8D"/>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1071677" y="5067605"/>
            <a:ext cx="380390" cy="380390"/>
          </a:xfrm>
          <a:prstGeom prst="rect">
            <a:avLst/>
          </a:prstGeom>
        </p:spPr>
      </p:pic>
      <p:sp>
        <p:nvSpPr>
          <p:cNvPr id="19" name="Text 14"/>
          <p:cNvSpPr/>
          <p:nvPr/>
        </p:nvSpPr>
        <p:spPr>
          <a:xfrm>
            <a:off x="1874520" y="4837176"/>
            <a:ext cx="3017520" cy="822960"/>
          </a:xfrm>
          <a:prstGeom prst="rect">
            <a:avLst/>
          </a:prstGeom>
          <a:noFill/>
          <a:ln/>
        </p:spPr>
        <p:txBody>
          <a:bodyPr wrap="square" lIns="0" tIns="0" rIns="0" bIns="0" rtlCol="0" anchor="ctr"/>
          <a:lstStyle/>
          <a:p>
            <a:pPr marL="0" indent="0">
              <a:buNone/>
            </a:pPr>
            <a:r>
              <a:rPr lang="en-US" sz="1800" b="1">
                <a:solidFill>
                  <a:srgbClr val="142F47"/>
                </a:solidFill>
                <a:latin typeface="Cambria" pitchFamily="34" charset="0"/>
                <a:ea typeface="Cambria" pitchFamily="34" charset="-122"/>
                <a:cs typeface="Cambria" pitchFamily="34" charset="-120"/>
              </a:rPr>
              <a:t>Instant staleness</a:t>
            </a:r>
            <a:endParaRPr lang="en-US" sz="1800"/>
          </a:p>
        </p:txBody>
      </p:sp>
      <p:sp>
        <p:nvSpPr>
          <p:cNvPr id="20" name="Text 15"/>
          <p:cNvSpPr/>
          <p:nvPr/>
        </p:nvSpPr>
        <p:spPr>
          <a:xfrm>
            <a:off x="4983480" y="4764024"/>
            <a:ext cx="6355080" cy="1005840"/>
          </a:xfrm>
          <a:prstGeom prst="rect">
            <a:avLst/>
          </a:prstGeom>
          <a:noFill/>
          <a:ln/>
        </p:spPr>
        <p:txBody>
          <a:bodyPr wrap="square" lIns="0" tIns="0" rIns="0" bIns="0" rtlCol="0" anchor="ctr"/>
          <a:lstStyle/>
          <a:p>
            <a:pPr marL="0" indent="0">
              <a:lnSpc>
                <a:spcPct val="110000"/>
              </a:lnSpc>
              <a:buNone/>
            </a:pPr>
            <a:r>
              <a:rPr lang="en-US" sz="1350">
                <a:solidFill>
                  <a:srgbClr val="45586A"/>
                </a:solidFill>
                <a:latin typeface="Calibri" pitchFamily="34" charset="0"/>
                <a:ea typeface="Calibri" pitchFamily="34" charset="-122"/>
                <a:cs typeface="Calibri" pitchFamily="34" charset="-120"/>
              </a:rPr>
              <a:t>A document freezes the understanding of one afternoon. The thinking keeps moving. The paper does not. And nobody rereads page 23.</a:t>
            </a:r>
            <a:endParaRPr lang="en-US" sz="13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142F47"/>
        </a:solidFill>
        <a:effectLst/>
      </p:bgPr>
    </p:bg>
    <p:spTree>
      <p:nvGrpSpPr>
        <p:cNvPr id="1" name=""/>
        <p:cNvGrpSpPr/>
        <p:nvPr/>
      </p:nvGrpSpPr>
      <p:grpSpPr>
        <a:xfrm>
          <a:off x="0" y="0"/>
          <a:ext cx="0" cy="0"/>
          <a:chOff x="0" y="0"/>
          <a:chExt cx="0" cy="0"/>
        </a:xfrm>
      </p:grpSpPr>
      <p:sp>
        <p:nvSpPr>
          <p:cNvPr id="2" name="Text 0"/>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3" name="Text 1"/>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5</a:t>
            </a:r>
            <a:endParaRPr lang="en-US" sz="900"/>
          </a:p>
        </p:txBody>
      </p:sp>
      <p:sp>
        <p:nvSpPr>
          <p:cNvPr id="4" name="Shape 2"/>
          <p:cNvSpPr/>
          <p:nvPr/>
        </p:nvSpPr>
        <p:spPr>
          <a:xfrm>
            <a:off x="9692640" y="-1920240"/>
            <a:ext cx="4937760" cy="4937760"/>
          </a:xfrm>
          <a:prstGeom prst="ellipse">
            <a:avLst/>
          </a:prstGeom>
          <a:solidFill>
            <a:srgbClr val="0F8B8D">
              <a:alpha val="14000"/>
            </a:srgbClr>
          </a:solidFill>
          <a:ln/>
        </p:spPr>
        <p:txBody>
          <a:bodyPr/>
          <a:lstStyle/>
          <a:p>
            <a:endParaRPr lang="en-US"/>
          </a:p>
        </p:txBody>
      </p:sp>
      <p:sp>
        <p:nvSpPr>
          <p:cNvPr id="5" name="Shape 3"/>
          <p:cNvSpPr/>
          <p:nvPr/>
        </p:nvSpPr>
        <p:spPr>
          <a:xfrm>
            <a:off x="10881360" y="4480560"/>
            <a:ext cx="3291840" cy="3291840"/>
          </a:xfrm>
          <a:prstGeom prst="ellipse">
            <a:avLst/>
          </a:prstGeom>
          <a:solidFill>
            <a:srgbClr val="DFA13F">
              <a:alpha val="10000"/>
            </a:srgbClr>
          </a:solidFill>
          <a:ln/>
        </p:spPr>
        <p:txBody>
          <a:bodyPr/>
          <a:lstStyle/>
          <a:p>
            <a:endParaRPr lang="en-US"/>
          </a:p>
        </p:txBody>
      </p:sp>
      <p:sp>
        <p:nvSpPr>
          <p:cNvPr id="6" name="Shape 4"/>
          <p:cNvSpPr/>
          <p:nvPr/>
        </p:nvSpPr>
        <p:spPr>
          <a:xfrm>
            <a:off x="-1463040" y="4937760"/>
            <a:ext cx="3840480" cy="3840480"/>
          </a:xfrm>
          <a:prstGeom prst="ellipse">
            <a:avLst/>
          </a:prstGeom>
          <a:solidFill>
            <a:srgbClr val="0F8B8D">
              <a:alpha val="10000"/>
            </a:srgbClr>
          </a:solidFill>
          <a:ln/>
        </p:spPr>
        <p:txBody>
          <a:bodyPr/>
          <a:lstStyle/>
          <a:p>
            <a:endParaRPr lang="en-US"/>
          </a:p>
        </p:txBody>
      </p:sp>
      <p:sp>
        <p:nvSpPr>
          <p:cNvPr id="7" name="Text 5"/>
          <p:cNvSpPr/>
          <p:nvPr/>
        </p:nvSpPr>
        <p:spPr>
          <a:xfrm>
            <a:off x="868680" y="1234440"/>
            <a:ext cx="10058400" cy="320040"/>
          </a:xfrm>
          <a:prstGeom prst="rect">
            <a:avLst/>
          </a:prstGeom>
          <a:noFill/>
          <a:ln/>
        </p:spPr>
        <p:txBody>
          <a:bodyPr wrap="square" lIns="0" tIns="0" rIns="0" bIns="0" rtlCol="0" anchor="ctr"/>
          <a:lstStyle/>
          <a:p>
            <a:pPr marL="0" indent="0">
              <a:buNone/>
            </a:pPr>
            <a:r>
              <a:rPr lang="en-US" sz="1300" b="1" kern="0" spc="300">
                <a:solidFill>
                  <a:srgbClr val="DFA13F"/>
                </a:solidFill>
                <a:latin typeface="Calibri" pitchFamily="34" charset="0"/>
                <a:ea typeface="Calibri" pitchFamily="34" charset="-122"/>
                <a:cs typeface="Calibri" pitchFamily="34" charset="-120"/>
              </a:rPr>
              <a:t>THE ECONOMICS QUIETLY FLIPPED</a:t>
            </a:r>
            <a:endParaRPr lang="en-US" sz="1300"/>
          </a:p>
        </p:txBody>
      </p:sp>
      <p:sp>
        <p:nvSpPr>
          <p:cNvPr id="8" name="Text 6"/>
          <p:cNvSpPr/>
          <p:nvPr/>
        </p:nvSpPr>
        <p:spPr>
          <a:xfrm>
            <a:off x="822960" y="1737360"/>
            <a:ext cx="10515600" cy="2743200"/>
          </a:xfrm>
          <a:prstGeom prst="rect">
            <a:avLst/>
          </a:prstGeom>
          <a:noFill/>
          <a:ln/>
        </p:spPr>
        <p:txBody>
          <a:bodyPr wrap="square" lIns="0" tIns="0" rIns="0" bIns="0" rtlCol="0" anchor="ctr"/>
          <a:lstStyle/>
          <a:p>
            <a:pPr marL="0" indent="0">
              <a:lnSpc>
                <a:spcPct val="112000"/>
              </a:lnSpc>
              <a:buNone/>
            </a:pPr>
            <a:r>
              <a:rPr lang="en-US" sz="3700" b="1">
                <a:solidFill>
                  <a:srgbClr val="FFFFFF"/>
                </a:solidFill>
                <a:latin typeface="Cambria" pitchFamily="34" charset="0"/>
                <a:ea typeface="Cambria" pitchFamily="34" charset="-122"/>
                <a:cs typeface="Cambria" pitchFamily="34" charset="-120"/>
              </a:rPr>
              <a:t>It is now cheaper to build a </a:t>
            </a:r>
            <a:r>
              <a:rPr lang="en-US" sz="3700" b="1">
                <a:solidFill>
                  <a:srgbClr val="7ED4D6"/>
                </a:solidFill>
                <a:latin typeface="Cambria" pitchFamily="34" charset="0"/>
                <a:ea typeface="Cambria" pitchFamily="34" charset="-122"/>
                <a:cs typeface="Cambria" pitchFamily="34" charset="-120"/>
              </a:rPr>
              <a:t>disposable working version</a:t>
            </a:r>
            <a:r>
              <a:rPr lang="en-US" sz="3700" b="1">
                <a:solidFill>
                  <a:srgbClr val="FFFFFF"/>
                </a:solidFill>
                <a:latin typeface="Cambria" pitchFamily="34" charset="0"/>
                <a:ea typeface="Cambria" pitchFamily="34" charset="-122"/>
                <a:cs typeface="Cambria" pitchFamily="34" charset="-120"/>
              </a:rPr>
              <a:t> of an app than to write and defend a </a:t>
            </a:r>
            <a:r>
              <a:rPr lang="en-US" sz="3700" b="1" i="1">
                <a:solidFill>
                  <a:srgbClr val="DFA13F"/>
                </a:solidFill>
                <a:latin typeface="Cambria" pitchFamily="34" charset="0"/>
                <a:ea typeface="Cambria" pitchFamily="34" charset="-122"/>
                <a:cs typeface="Cambria" pitchFamily="34" charset="-120"/>
              </a:rPr>
              <a:t>document</a:t>
            </a:r>
            <a:r>
              <a:rPr lang="en-US" sz="3700" b="1">
                <a:solidFill>
                  <a:srgbClr val="FFFFFF"/>
                </a:solidFill>
                <a:latin typeface="Cambria" pitchFamily="34" charset="0"/>
                <a:ea typeface="Cambria" pitchFamily="34" charset="-122"/>
                <a:cs typeface="Cambria" pitchFamily="34" charset="-120"/>
              </a:rPr>
              <a:t> about it.</a:t>
            </a:r>
            <a:endParaRPr lang="en-US" sz="3700"/>
          </a:p>
        </p:txBody>
      </p:sp>
      <p:sp>
        <p:nvSpPr>
          <p:cNvPr id="9" name="Text 7"/>
          <p:cNvSpPr/>
          <p:nvPr/>
        </p:nvSpPr>
        <p:spPr>
          <a:xfrm>
            <a:off x="868680" y="4892040"/>
            <a:ext cx="9875520" cy="1005840"/>
          </a:xfrm>
          <a:prstGeom prst="rect">
            <a:avLst/>
          </a:prstGeom>
          <a:noFill/>
          <a:ln/>
        </p:spPr>
        <p:txBody>
          <a:bodyPr wrap="square" lIns="0" tIns="0" rIns="0" bIns="0" rtlCol="0" anchor="ctr"/>
          <a:lstStyle/>
          <a:p>
            <a:pPr marL="0" indent="0">
              <a:lnSpc>
                <a:spcPct val="125000"/>
              </a:lnSpc>
              <a:buNone/>
            </a:pPr>
            <a:r>
              <a:rPr lang="en-US" sz="1600">
                <a:solidFill>
                  <a:srgbClr val="C7D6DF"/>
                </a:solidFill>
                <a:latin typeface="Calibri" pitchFamily="34" charset="0"/>
                <a:ea typeface="Calibri" pitchFamily="34" charset="-122"/>
                <a:cs typeface="Calibri" pitchFamily="34" charset="-120"/>
              </a:rPr>
              <a:t>We wrote requirements documents because prototypes were expensive. That reason is gone.</a:t>
            </a:r>
            <a:endParaRPr lang="en-US" sz="1600"/>
          </a:p>
          <a:p>
            <a:pPr marL="0" indent="0">
              <a:lnSpc>
                <a:spcPct val="125000"/>
              </a:lnSpc>
              <a:buNone/>
            </a:pPr>
            <a:r>
              <a:rPr lang="en-US" sz="1600">
                <a:solidFill>
                  <a:srgbClr val="C7D6DF"/>
                </a:solidFill>
                <a:latin typeface="Calibri" pitchFamily="34" charset="0"/>
                <a:ea typeface="Calibri" pitchFamily="34" charset="-122"/>
                <a:cs typeface="Calibri" pitchFamily="34" charset="-120"/>
              </a:rPr>
              <a:t>When the cheapest artifact is also the highest-fidelity one, the process flips.</a:t>
            </a:r>
            <a:endParaRPr lang="en-US"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1 · THE CASE</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Meet the model</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6</a:t>
            </a:r>
            <a:endParaRPr lang="en-US" sz="900"/>
          </a:p>
        </p:txBody>
      </p:sp>
      <p:sp>
        <p:nvSpPr>
          <p:cNvPr id="6" name="Shape 4"/>
          <p:cNvSpPr/>
          <p:nvPr/>
        </p:nvSpPr>
        <p:spPr>
          <a:xfrm>
            <a:off x="594360" y="1783080"/>
            <a:ext cx="4297680" cy="4114800"/>
          </a:xfrm>
          <a:prstGeom prst="roundRect">
            <a:avLst>
              <a:gd name="adj" fmla="val 2000"/>
            </a:avLst>
          </a:prstGeom>
          <a:solidFill>
            <a:srgbClr val="E4F2F2"/>
          </a:solidFill>
          <a:ln w="12700">
            <a:solidFill>
              <a:srgbClr val="CBE4E4"/>
            </a:solidFill>
            <a:prstDash val="solid"/>
          </a:ln>
          <a:effectLst>
            <a:outerShdw blurRad="88900" dist="25400" dir="5400000" algn="bl" rotWithShape="0">
              <a:srgbClr val="9FB1BC">
                <a:alpha val="30000"/>
              </a:srgbClr>
            </a:outerShdw>
          </a:effectLst>
        </p:spPr>
        <p:txBody>
          <a:bodyPr/>
          <a:lstStyle/>
          <a:p>
            <a:endParaRPr lang="en-US"/>
          </a:p>
        </p:txBody>
      </p:sp>
      <p:sp>
        <p:nvSpPr>
          <p:cNvPr id="7" name="Text 5"/>
          <p:cNvSpPr/>
          <p:nvPr/>
        </p:nvSpPr>
        <p:spPr>
          <a:xfrm>
            <a:off x="914400" y="2148840"/>
            <a:ext cx="3657600" cy="731520"/>
          </a:xfrm>
          <a:prstGeom prst="rect">
            <a:avLst/>
          </a:prstGeom>
          <a:noFill/>
          <a:ln/>
        </p:spPr>
        <p:txBody>
          <a:bodyPr wrap="square" lIns="0" tIns="0" rIns="0" bIns="0" rtlCol="0" anchor="ctr"/>
          <a:lstStyle/>
          <a:p>
            <a:pPr marL="0" indent="0">
              <a:buNone/>
            </a:pPr>
            <a:r>
              <a:rPr lang="en-US" sz="4200" b="1">
                <a:solidFill>
                  <a:srgbClr val="142F47"/>
                </a:solidFill>
                <a:latin typeface="Cambria" pitchFamily="34" charset="0"/>
                <a:ea typeface="Cambria" pitchFamily="34" charset="-122"/>
                <a:cs typeface="Cambria" pitchFamily="34" charset="-120"/>
              </a:rPr>
              <a:t>mod·el</a:t>
            </a:r>
            <a:endParaRPr lang="en-US" sz="4200"/>
          </a:p>
        </p:txBody>
      </p:sp>
      <p:sp>
        <p:nvSpPr>
          <p:cNvPr id="8" name="Text 6"/>
          <p:cNvSpPr/>
          <p:nvPr/>
        </p:nvSpPr>
        <p:spPr>
          <a:xfrm>
            <a:off x="932688" y="2880360"/>
            <a:ext cx="3657600" cy="320040"/>
          </a:xfrm>
          <a:prstGeom prst="rect">
            <a:avLst/>
          </a:prstGeom>
          <a:noFill/>
          <a:ln/>
        </p:spPr>
        <p:txBody>
          <a:bodyPr wrap="square" lIns="0" tIns="0" rIns="0" bIns="0" rtlCol="0" anchor="ctr"/>
          <a:lstStyle/>
          <a:p>
            <a:pPr marL="0" indent="0">
              <a:buNone/>
            </a:pPr>
            <a:r>
              <a:rPr lang="en-US" sz="1200" i="1">
                <a:solidFill>
                  <a:srgbClr val="0B6E70"/>
                </a:solidFill>
                <a:latin typeface="Calibri" pitchFamily="34" charset="0"/>
                <a:ea typeface="Calibri" pitchFamily="34" charset="-122"/>
                <a:cs typeface="Calibri" pitchFamily="34" charset="-120"/>
              </a:rPr>
              <a:t>noun  ·  a new kind of requirements artifact</a:t>
            </a:r>
            <a:endParaRPr lang="en-US" sz="1200"/>
          </a:p>
        </p:txBody>
      </p:sp>
      <p:sp>
        <p:nvSpPr>
          <p:cNvPr id="9" name="Text 7"/>
          <p:cNvSpPr/>
          <p:nvPr/>
        </p:nvSpPr>
        <p:spPr>
          <a:xfrm>
            <a:off x="914400" y="3291840"/>
            <a:ext cx="3611880" cy="1463040"/>
          </a:xfrm>
          <a:prstGeom prst="rect">
            <a:avLst/>
          </a:prstGeom>
          <a:noFill/>
          <a:ln/>
        </p:spPr>
        <p:txBody>
          <a:bodyPr wrap="square" lIns="0" tIns="0" rIns="0" bIns="0" rtlCol="0" anchor="ctr"/>
          <a:lstStyle/>
          <a:p>
            <a:pPr marL="0" indent="0">
              <a:lnSpc>
                <a:spcPct val="120000"/>
              </a:lnSpc>
              <a:buNone/>
            </a:pPr>
            <a:r>
              <a:rPr lang="en-US" sz="1550">
                <a:solidFill>
                  <a:srgbClr val="20364A"/>
                </a:solidFill>
                <a:latin typeface="Calibri" pitchFamily="34" charset="0"/>
                <a:ea typeface="Calibri" pitchFamily="34" charset="-122"/>
                <a:cs typeface="Calibri" pitchFamily="34" charset="-120"/>
              </a:rPr>
              <a:t>A static, single-file HTML application that looks and feels like the app you want. Realistic fabricated data. Zero backend.</a:t>
            </a:r>
            <a:endParaRPr lang="en-US" sz="1550"/>
          </a:p>
        </p:txBody>
      </p:sp>
      <p:sp>
        <p:nvSpPr>
          <p:cNvPr id="10" name="Text 8"/>
          <p:cNvSpPr/>
          <p:nvPr/>
        </p:nvSpPr>
        <p:spPr>
          <a:xfrm>
            <a:off x="914400" y="4892040"/>
            <a:ext cx="3611880" cy="731520"/>
          </a:xfrm>
          <a:prstGeom prst="rect">
            <a:avLst/>
          </a:prstGeom>
          <a:noFill/>
          <a:ln/>
        </p:spPr>
        <p:txBody>
          <a:bodyPr wrap="square" lIns="0" tIns="0" rIns="0" bIns="0" rtlCol="0" anchor="ctr"/>
          <a:lstStyle/>
          <a:p>
            <a:pPr marL="0" indent="0">
              <a:lnSpc>
                <a:spcPct val="115000"/>
              </a:lnSpc>
              <a:buNone/>
            </a:pPr>
            <a:r>
              <a:rPr lang="en-US" sz="1400" b="1" i="1">
                <a:solidFill>
                  <a:srgbClr val="0B6E70"/>
                </a:solidFill>
                <a:latin typeface="Cambria" pitchFamily="34" charset="0"/>
                <a:ea typeface="Cambria" pitchFamily="34" charset="-122"/>
                <a:cs typeface="Cambria" pitchFamily="34" charset="-120"/>
              </a:rPr>
              <a:t>Cheap enough to throw away. Clear enough to build from.</a:t>
            </a:r>
            <a:endParaRPr lang="en-US" sz="1400"/>
          </a:p>
        </p:txBody>
      </p:sp>
      <p:sp>
        <p:nvSpPr>
          <p:cNvPr id="11" name="Shape 9"/>
          <p:cNvSpPr/>
          <p:nvPr/>
        </p:nvSpPr>
        <p:spPr>
          <a:xfrm>
            <a:off x="5257800" y="1865376"/>
            <a:ext cx="566928" cy="566928"/>
          </a:xfrm>
          <a:prstGeom prst="ellipse">
            <a:avLst/>
          </a:prstGeom>
          <a:solidFill>
            <a:srgbClr val="0F8B8D"/>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5393863" y="2001439"/>
            <a:ext cx="294803" cy="294803"/>
          </a:xfrm>
          <a:prstGeom prst="rect">
            <a:avLst/>
          </a:prstGeom>
        </p:spPr>
      </p:pic>
      <p:sp>
        <p:nvSpPr>
          <p:cNvPr id="13" name="Text 10"/>
          <p:cNvSpPr/>
          <p:nvPr/>
        </p:nvSpPr>
        <p:spPr>
          <a:xfrm>
            <a:off x="5989320" y="1810512"/>
            <a:ext cx="2834640" cy="365760"/>
          </a:xfrm>
          <a:prstGeom prst="rect">
            <a:avLst/>
          </a:prstGeom>
          <a:noFill/>
          <a:ln/>
        </p:spPr>
        <p:txBody>
          <a:bodyPr wrap="square" lIns="0" tIns="0" rIns="0" bIns="0" rtlCol="0" anchor="ctr"/>
          <a:lstStyle/>
          <a:p>
            <a:pPr marL="0" indent="0">
              <a:buNone/>
            </a:pPr>
            <a:r>
              <a:rPr lang="en-US" sz="1450" b="1">
                <a:solidFill>
                  <a:srgbClr val="142F47"/>
                </a:solidFill>
                <a:latin typeface="Calibri" pitchFamily="34" charset="0"/>
                <a:ea typeface="Calibri" pitchFamily="34" charset="-122"/>
                <a:cs typeface="Calibri" pitchFamily="34" charset="-120"/>
              </a:rPr>
              <a:t>One .html file</a:t>
            </a:r>
            <a:endParaRPr lang="en-US" sz="1450"/>
          </a:p>
        </p:txBody>
      </p:sp>
      <p:sp>
        <p:nvSpPr>
          <p:cNvPr id="14" name="Text 11"/>
          <p:cNvSpPr/>
          <p:nvPr/>
        </p:nvSpPr>
        <p:spPr>
          <a:xfrm>
            <a:off x="5989320" y="2121408"/>
            <a:ext cx="5577840" cy="411480"/>
          </a:xfrm>
          <a:prstGeom prst="rect">
            <a:avLst/>
          </a:prstGeom>
          <a:noFill/>
          <a:ln/>
        </p:spPr>
        <p:txBody>
          <a:bodyPr wrap="square" lIns="0" tIns="0" rIns="0" bIns="0" rtlCol="0" anchor="ctr"/>
          <a:lstStyle/>
          <a:p>
            <a:pPr marL="0" indent="0">
              <a:buNone/>
            </a:pPr>
            <a:r>
              <a:rPr lang="en-US" sz="1250">
                <a:solidFill>
                  <a:srgbClr val="45586A"/>
                </a:solidFill>
                <a:latin typeface="Calibri" pitchFamily="34" charset="0"/>
                <a:ea typeface="Calibri" pitchFamily="34" charset="-122"/>
                <a:cs typeface="Calibri" pitchFamily="34" charset="-120"/>
              </a:rPr>
              <a:t>Everything inside: markup, styles, script, data.</a:t>
            </a:r>
            <a:endParaRPr lang="en-US" sz="1250"/>
          </a:p>
        </p:txBody>
      </p:sp>
      <p:sp>
        <p:nvSpPr>
          <p:cNvPr id="15" name="Shape 12"/>
          <p:cNvSpPr/>
          <p:nvPr/>
        </p:nvSpPr>
        <p:spPr>
          <a:xfrm>
            <a:off x="5257800" y="2724912"/>
            <a:ext cx="566928" cy="566928"/>
          </a:xfrm>
          <a:prstGeom prst="ellipse">
            <a:avLst/>
          </a:prstGeom>
          <a:solidFill>
            <a:srgbClr val="0F8B8D"/>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5393863" y="2860975"/>
            <a:ext cx="294803" cy="294803"/>
          </a:xfrm>
          <a:prstGeom prst="rect">
            <a:avLst/>
          </a:prstGeom>
        </p:spPr>
      </p:pic>
      <p:sp>
        <p:nvSpPr>
          <p:cNvPr id="17" name="Text 13"/>
          <p:cNvSpPr/>
          <p:nvPr/>
        </p:nvSpPr>
        <p:spPr>
          <a:xfrm>
            <a:off x="5989320" y="2670048"/>
            <a:ext cx="2834640" cy="365760"/>
          </a:xfrm>
          <a:prstGeom prst="rect">
            <a:avLst/>
          </a:prstGeom>
          <a:noFill/>
          <a:ln/>
        </p:spPr>
        <p:txBody>
          <a:bodyPr wrap="square" lIns="0" tIns="0" rIns="0" bIns="0" rtlCol="0" anchor="ctr"/>
          <a:lstStyle/>
          <a:p>
            <a:pPr marL="0" indent="0">
              <a:buNone/>
            </a:pPr>
            <a:r>
              <a:rPr lang="en-US" sz="1450" b="1">
                <a:solidFill>
                  <a:srgbClr val="142F47"/>
                </a:solidFill>
                <a:latin typeface="Calibri" pitchFamily="34" charset="0"/>
                <a:ea typeface="Calibri" pitchFamily="34" charset="-122"/>
                <a:cs typeface="Calibri" pitchFamily="34" charset="-120"/>
              </a:rPr>
              <a:t>Looks &amp; feels real</a:t>
            </a:r>
            <a:endParaRPr lang="en-US" sz="1450"/>
          </a:p>
        </p:txBody>
      </p:sp>
      <p:sp>
        <p:nvSpPr>
          <p:cNvPr id="18" name="Text 14"/>
          <p:cNvSpPr/>
          <p:nvPr/>
        </p:nvSpPr>
        <p:spPr>
          <a:xfrm>
            <a:off x="5989320" y="2980944"/>
            <a:ext cx="5577840" cy="411480"/>
          </a:xfrm>
          <a:prstGeom prst="rect">
            <a:avLst/>
          </a:prstGeom>
          <a:noFill/>
          <a:ln/>
        </p:spPr>
        <p:txBody>
          <a:bodyPr wrap="square" lIns="0" tIns="0" rIns="0" bIns="0" rtlCol="0" anchor="ctr"/>
          <a:lstStyle/>
          <a:p>
            <a:pPr marL="0" indent="0">
              <a:buNone/>
            </a:pPr>
            <a:r>
              <a:rPr lang="en-US" sz="1250">
                <a:solidFill>
                  <a:srgbClr val="45586A"/>
                </a:solidFill>
                <a:latin typeface="Calibri" pitchFamily="34" charset="0"/>
                <a:ea typeface="Calibri" pitchFamily="34" charset="-122"/>
                <a:cs typeface="Calibri" pitchFamily="34" charset="-120"/>
              </a:rPr>
              <a:t>Click through screens, sort tables, open records.</a:t>
            </a:r>
            <a:endParaRPr lang="en-US" sz="1250"/>
          </a:p>
        </p:txBody>
      </p:sp>
      <p:sp>
        <p:nvSpPr>
          <p:cNvPr id="19" name="Shape 15"/>
          <p:cNvSpPr/>
          <p:nvPr/>
        </p:nvSpPr>
        <p:spPr>
          <a:xfrm>
            <a:off x="5257800" y="3584448"/>
            <a:ext cx="566928" cy="566928"/>
          </a:xfrm>
          <a:prstGeom prst="ellipse">
            <a:avLst/>
          </a:prstGeom>
          <a:solidFill>
            <a:srgbClr val="0F8B8D"/>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5393863" y="3720511"/>
            <a:ext cx="294803" cy="294803"/>
          </a:xfrm>
          <a:prstGeom prst="rect">
            <a:avLst/>
          </a:prstGeom>
        </p:spPr>
      </p:pic>
      <p:sp>
        <p:nvSpPr>
          <p:cNvPr id="21" name="Text 16"/>
          <p:cNvSpPr/>
          <p:nvPr/>
        </p:nvSpPr>
        <p:spPr>
          <a:xfrm>
            <a:off x="5989320" y="3529584"/>
            <a:ext cx="2834640" cy="365760"/>
          </a:xfrm>
          <a:prstGeom prst="rect">
            <a:avLst/>
          </a:prstGeom>
          <a:noFill/>
          <a:ln/>
        </p:spPr>
        <p:txBody>
          <a:bodyPr wrap="square" lIns="0" tIns="0" rIns="0" bIns="0" rtlCol="0" anchor="ctr"/>
          <a:lstStyle/>
          <a:p>
            <a:pPr marL="0" indent="0">
              <a:buNone/>
            </a:pPr>
            <a:r>
              <a:rPr lang="en-US" sz="1450" b="1">
                <a:solidFill>
                  <a:srgbClr val="142F47"/>
                </a:solidFill>
                <a:latin typeface="Calibri" pitchFamily="34" charset="0"/>
                <a:ea typeface="Calibri" pitchFamily="34" charset="-122"/>
                <a:cs typeface="Calibri" pitchFamily="34" charset="-120"/>
              </a:rPr>
              <a:t>Fabricated data</a:t>
            </a:r>
            <a:endParaRPr lang="en-US" sz="1450"/>
          </a:p>
        </p:txBody>
      </p:sp>
      <p:sp>
        <p:nvSpPr>
          <p:cNvPr id="22" name="Text 17"/>
          <p:cNvSpPr/>
          <p:nvPr/>
        </p:nvSpPr>
        <p:spPr>
          <a:xfrm>
            <a:off x="5989320" y="3840480"/>
            <a:ext cx="5577840" cy="411480"/>
          </a:xfrm>
          <a:prstGeom prst="rect">
            <a:avLst/>
          </a:prstGeom>
          <a:noFill/>
          <a:ln/>
        </p:spPr>
        <p:txBody>
          <a:bodyPr wrap="square" lIns="0" tIns="0" rIns="0" bIns="0" rtlCol="0" anchor="ctr"/>
          <a:lstStyle/>
          <a:p>
            <a:pPr marL="0" indent="0">
              <a:buNone/>
            </a:pPr>
            <a:r>
              <a:rPr lang="en-US" sz="1250">
                <a:solidFill>
                  <a:srgbClr val="45586A"/>
                </a:solidFill>
                <a:latin typeface="Calibri" pitchFamily="34" charset="0"/>
                <a:ea typeface="Calibri" pitchFamily="34" charset="-122"/>
                <a:cs typeface="Calibri" pitchFamily="34" charset="-120"/>
              </a:rPr>
              <a:t>Plausible rows, invented names. Never real data.</a:t>
            </a:r>
            <a:endParaRPr lang="en-US" sz="1250"/>
          </a:p>
        </p:txBody>
      </p:sp>
      <p:sp>
        <p:nvSpPr>
          <p:cNvPr id="23" name="Shape 18"/>
          <p:cNvSpPr/>
          <p:nvPr/>
        </p:nvSpPr>
        <p:spPr>
          <a:xfrm>
            <a:off x="5257800" y="4443984"/>
            <a:ext cx="566928" cy="566928"/>
          </a:xfrm>
          <a:prstGeom prst="ellipse">
            <a:avLst/>
          </a:prstGeom>
          <a:solidFill>
            <a:srgbClr val="0F8B8D"/>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5393863" y="4580047"/>
            <a:ext cx="294803" cy="294803"/>
          </a:xfrm>
          <a:prstGeom prst="rect">
            <a:avLst/>
          </a:prstGeom>
        </p:spPr>
      </p:pic>
      <p:sp>
        <p:nvSpPr>
          <p:cNvPr id="25" name="Text 19"/>
          <p:cNvSpPr/>
          <p:nvPr/>
        </p:nvSpPr>
        <p:spPr>
          <a:xfrm>
            <a:off x="5989320" y="4389120"/>
            <a:ext cx="2834640" cy="365760"/>
          </a:xfrm>
          <a:prstGeom prst="rect">
            <a:avLst/>
          </a:prstGeom>
          <a:noFill/>
          <a:ln/>
        </p:spPr>
        <p:txBody>
          <a:bodyPr wrap="square" lIns="0" tIns="0" rIns="0" bIns="0" rtlCol="0" anchor="ctr"/>
          <a:lstStyle/>
          <a:p>
            <a:pPr marL="0" indent="0">
              <a:buNone/>
            </a:pPr>
            <a:r>
              <a:rPr lang="en-US" sz="1450" b="1">
                <a:solidFill>
                  <a:srgbClr val="142F47"/>
                </a:solidFill>
                <a:latin typeface="Calibri" pitchFamily="34" charset="0"/>
                <a:ea typeface="Calibri" pitchFamily="34" charset="-122"/>
                <a:cs typeface="Calibri" pitchFamily="34" charset="-120"/>
              </a:rPr>
              <a:t>Zero backend</a:t>
            </a:r>
            <a:endParaRPr lang="en-US" sz="1450"/>
          </a:p>
        </p:txBody>
      </p:sp>
      <p:sp>
        <p:nvSpPr>
          <p:cNvPr id="26" name="Text 20"/>
          <p:cNvSpPr/>
          <p:nvPr/>
        </p:nvSpPr>
        <p:spPr>
          <a:xfrm>
            <a:off x="5989320" y="4700016"/>
            <a:ext cx="5577840" cy="411480"/>
          </a:xfrm>
          <a:prstGeom prst="rect">
            <a:avLst/>
          </a:prstGeom>
          <a:noFill/>
          <a:ln/>
        </p:spPr>
        <p:txBody>
          <a:bodyPr wrap="square" lIns="0" tIns="0" rIns="0" bIns="0" rtlCol="0" anchor="ctr"/>
          <a:lstStyle/>
          <a:p>
            <a:pPr marL="0" indent="0">
              <a:buNone/>
            </a:pPr>
            <a:r>
              <a:rPr lang="en-US" sz="1250">
                <a:solidFill>
                  <a:srgbClr val="45586A"/>
                </a:solidFill>
                <a:latin typeface="Calibri" pitchFamily="34" charset="0"/>
                <a:ea typeface="Calibri" pitchFamily="34" charset="-122"/>
                <a:cs typeface="Calibri" pitchFamily="34" charset="-120"/>
              </a:rPr>
              <a:t>No server, no login, no integrations. All behavior is simulated.</a:t>
            </a:r>
            <a:endParaRPr lang="en-US" sz="1250"/>
          </a:p>
        </p:txBody>
      </p:sp>
      <p:sp>
        <p:nvSpPr>
          <p:cNvPr id="27" name="Shape 21"/>
          <p:cNvSpPr/>
          <p:nvPr/>
        </p:nvSpPr>
        <p:spPr>
          <a:xfrm>
            <a:off x="5257800" y="5303520"/>
            <a:ext cx="566928" cy="566928"/>
          </a:xfrm>
          <a:prstGeom prst="ellipse">
            <a:avLst/>
          </a:prstGeom>
          <a:solidFill>
            <a:srgbClr val="0F8B8D"/>
          </a:solidFill>
          <a:ln/>
        </p:spPr>
        <p:txBody>
          <a:bodyPr/>
          <a:lstStyle/>
          <a:p>
            <a:endParaRPr lang="en-US"/>
          </a:p>
        </p:txBody>
      </p:sp>
      <p:pic>
        <p:nvPicPr>
          <p:cNvPr id="28" name="Image 4" descr="preencoded.png"/>
          <p:cNvPicPr>
            <a:picLocks noChangeAspect="1"/>
          </p:cNvPicPr>
          <p:nvPr/>
        </p:nvPicPr>
        <p:blipFill>
          <a:blip r:embed="rId7"/>
          <a:stretch>
            <a:fillRect/>
          </a:stretch>
        </p:blipFill>
        <p:spPr>
          <a:xfrm>
            <a:off x="5393863" y="5439583"/>
            <a:ext cx="294803" cy="294803"/>
          </a:xfrm>
          <a:prstGeom prst="rect">
            <a:avLst/>
          </a:prstGeom>
        </p:spPr>
      </p:pic>
      <p:sp>
        <p:nvSpPr>
          <p:cNvPr id="29" name="Text 22"/>
          <p:cNvSpPr/>
          <p:nvPr/>
        </p:nvSpPr>
        <p:spPr>
          <a:xfrm>
            <a:off x="5989320" y="5248656"/>
            <a:ext cx="2834640" cy="365760"/>
          </a:xfrm>
          <a:prstGeom prst="rect">
            <a:avLst/>
          </a:prstGeom>
          <a:noFill/>
          <a:ln/>
        </p:spPr>
        <p:txBody>
          <a:bodyPr wrap="square" lIns="0" tIns="0" rIns="0" bIns="0" rtlCol="0" anchor="ctr"/>
          <a:lstStyle/>
          <a:p>
            <a:pPr marL="0" indent="0">
              <a:buNone/>
            </a:pPr>
            <a:r>
              <a:rPr lang="en-US" sz="1450" b="1">
                <a:solidFill>
                  <a:srgbClr val="142F47"/>
                </a:solidFill>
                <a:latin typeface="Calibri" pitchFamily="34" charset="0"/>
                <a:ea typeface="Calibri" pitchFamily="34" charset="-122"/>
                <a:cs typeface="Calibri" pitchFamily="34" charset="-120"/>
              </a:rPr>
              <a:t>Opens instantly</a:t>
            </a:r>
            <a:endParaRPr lang="en-US" sz="1450"/>
          </a:p>
        </p:txBody>
      </p:sp>
      <p:sp>
        <p:nvSpPr>
          <p:cNvPr id="30" name="Text 23"/>
          <p:cNvSpPr/>
          <p:nvPr/>
        </p:nvSpPr>
        <p:spPr>
          <a:xfrm>
            <a:off x="5989320" y="5559552"/>
            <a:ext cx="5577840" cy="411480"/>
          </a:xfrm>
          <a:prstGeom prst="rect">
            <a:avLst/>
          </a:prstGeom>
          <a:noFill/>
          <a:ln/>
        </p:spPr>
        <p:txBody>
          <a:bodyPr wrap="square" lIns="0" tIns="0" rIns="0" bIns="0" rtlCol="0" anchor="ctr"/>
          <a:lstStyle/>
          <a:p>
            <a:pPr marL="0" indent="0">
              <a:buNone/>
            </a:pPr>
            <a:r>
              <a:rPr lang="en-US" sz="1250">
                <a:solidFill>
                  <a:srgbClr val="45586A"/>
                </a:solidFill>
                <a:latin typeface="Calibri" pitchFamily="34" charset="0"/>
                <a:ea typeface="Calibri" pitchFamily="34" charset="-122"/>
                <a:cs typeface="Calibri" pitchFamily="34" charset="-120"/>
              </a:rPr>
              <a:t>Double-click the file. No installs, no setup, no IT ticket.</a:t>
            </a:r>
            <a:endParaRPr lang="en-US" sz="12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1 · THE CASE</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Anatomy: everything lives in one file</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7</a:t>
            </a:r>
            <a:endParaRPr lang="en-US" sz="900"/>
          </a:p>
        </p:txBody>
      </p:sp>
      <p:sp>
        <p:nvSpPr>
          <p:cNvPr id="6" name="Shape 4"/>
          <p:cNvSpPr/>
          <p:nvPr/>
        </p:nvSpPr>
        <p:spPr>
          <a:xfrm>
            <a:off x="685800" y="1737360"/>
            <a:ext cx="4160520" cy="4343400"/>
          </a:xfrm>
          <a:prstGeom prst="roundRect">
            <a:avLst>
              <a:gd name="adj" fmla="val 1978"/>
            </a:avLst>
          </a:prstGeom>
          <a:solidFill>
            <a:srgbClr val="0E2334"/>
          </a:solidFill>
          <a:ln/>
          <a:effectLst>
            <a:outerShdw blurRad="88900" dist="25400" dir="5400000" algn="bl" rotWithShape="0">
              <a:srgbClr val="9FB1BC">
                <a:alpha val="30000"/>
              </a:srgbClr>
            </a:outerShdw>
          </a:effectLst>
        </p:spPr>
        <p:txBody>
          <a:bodyPr/>
          <a:lstStyle/>
          <a:p>
            <a:endParaRPr lang="en-US"/>
          </a:p>
        </p:txBody>
      </p:sp>
      <p:sp>
        <p:nvSpPr>
          <p:cNvPr id="7" name="Text 5"/>
          <p:cNvSpPr/>
          <p:nvPr/>
        </p:nvSpPr>
        <p:spPr>
          <a:xfrm>
            <a:off x="960120" y="1920240"/>
            <a:ext cx="3566160" cy="320040"/>
          </a:xfrm>
          <a:prstGeom prst="rect">
            <a:avLst/>
          </a:prstGeom>
          <a:noFill/>
          <a:ln/>
        </p:spPr>
        <p:txBody>
          <a:bodyPr wrap="square" lIns="0" tIns="0" rIns="0" bIns="0" rtlCol="0" anchor="ctr"/>
          <a:lstStyle/>
          <a:p>
            <a:pPr marL="0" indent="0">
              <a:buNone/>
            </a:pPr>
            <a:r>
              <a:rPr lang="en-US" sz="1400" b="1">
                <a:solidFill>
                  <a:srgbClr val="7ED4D6"/>
                </a:solidFill>
                <a:latin typeface="Courier New" pitchFamily="34" charset="0"/>
                <a:ea typeface="Courier New" pitchFamily="34" charset="-122"/>
                <a:cs typeface="Courier New" pitchFamily="34" charset="-120"/>
              </a:rPr>
              <a:t>model.html</a:t>
            </a:r>
            <a:endParaRPr lang="en-US" sz="1400"/>
          </a:p>
        </p:txBody>
      </p:sp>
      <p:sp>
        <p:nvSpPr>
          <p:cNvPr id="8" name="Shape 6"/>
          <p:cNvSpPr/>
          <p:nvPr/>
        </p:nvSpPr>
        <p:spPr>
          <a:xfrm>
            <a:off x="960120" y="2395728"/>
            <a:ext cx="3611880" cy="603504"/>
          </a:xfrm>
          <a:prstGeom prst="roundRect">
            <a:avLst>
              <a:gd name="adj" fmla="val 9091"/>
            </a:avLst>
          </a:prstGeom>
          <a:solidFill>
            <a:srgbClr val="1B3A55"/>
          </a:solidFill>
          <a:ln w="12700">
            <a:solidFill>
              <a:srgbClr val="2B4E6C"/>
            </a:solidFill>
            <a:prstDash val="solid"/>
          </a:ln>
        </p:spPr>
        <p:txBody>
          <a:bodyPr/>
          <a:lstStyle/>
          <a:p>
            <a:endParaRPr lang="en-US"/>
          </a:p>
        </p:txBody>
      </p:sp>
      <p:sp>
        <p:nvSpPr>
          <p:cNvPr id="9" name="Text 7"/>
          <p:cNvSpPr/>
          <p:nvPr/>
        </p:nvSpPr>
        <p:spPr>
          <a:xfrm>
            <a:off x="1115568" y="2450592"/>
            <a:ext cx="3383280" cy="274320"/>
          </a:xfrm>
          <a:prstGeom prst="rect">
            <a:avLst/>
          </a:prstGeom>
          <a:noFill/>
          <a:ln/>
        </p:spPr>
        <p:txBody>
          <a:bodyPr wrap="square" lIns="0" tIns="0" rIns="0" bIns="0" rtlCol="0" anchor="ctr"/>
          <a:lstStyle/>
          <a:p>
            <a:pPr marL="0" indent="0">
              <a:buNone/>
            </a:pPr>
            <a:r>
              <a:rPr lang="en-US" sz="1150">
                <a:solidFill>
                  <a:srgbClr val="FFFFFF"/>
                </a:solidFill>
                <a:latin typeface="Courier New" pitchFamily="34" charset="0"/>
                <a:ea typeface="Courier New" pitchFamily="34" charset="-122"/>
                <a:cs typeface="Courier New" pitchFamily="34" charset="-120"/>
              </a:rPr>
              <a:t>&lt;!-- MODEL CHARTER --&gt;</a:t>
            </a:r>
            <a:endParaRPr lang="en-US" sz="1150"/>
          </a:p>
        </p:txBody>
      </p:sp>
      <p:sp>
        <p:nvSpPr>
          <p:cNvPr id="10" name="Text 8"/>
          <p:cNvSpPr/>
          <p:nvPr/>
        </p:nvSpPr>
        <p:spPr>
          <a:xfrm>
            <a:off x="1115568" y="2706624"/>
            <a:ext cx="3383280" cy="256032"/>
          </a:xfrm>
          <a:prstGeom prst="rect">
            <a:avLst/>
          </a:prstGeom>
          <a:noFill/>
          <a:ln/>
        </p:spPr>
        <p:txBody>
          <a:bodyPr wrap="square" lIns="0" tIns="0" rIns="0" bIns="0" rtlCol="0" anchor="ctr"/>
          <a:lstStyle/>
          <a:p>
            <a:pPr marL="0" indent="0">
              <a:buNone/>
            </a:pPr>
            <a:r>
              <a:rPr lang="en-US" sz="950">
                <a:solidFill>
                  <a:srgbClr val="9DB3C0"/>
                </a:solidFill>
                <a:latin typeface="Calibri" pitchFamily="34" charset="0"/>
                <a:ea typeface="Calibri" pitchFamily="34" charset="-122"/>
                <a:cs typeface="Calibri" pitchFamily="34" charset="-120"/>
              </a:rPr>
              <a:t>purpose · users · assumptions · open questions</a:t>
            </a:r>
            <a:endParaRPr lang="en-US" sz="950"/>
          </a:p>
        </p:txBody>
      </p:sp>
      <p:sp>
        <p:nvSpPr>
          <p:cNvPr id="11" name="Shape 9"/>
          <p:cNvSpPr/>
          <p:nvPr/>
        </p:nvSpPr>
        <p:spPr>
          <a:xfrm>
            <a:off x="960120" y="3118104"/>
            <a:ext cx="3611880" cy="603504"/>
          </a:xfrm>
          <a:prstGeom prst="roundRect">
            <a:avLst>
              <a:gd name="adj" fmla="val 9091"/>
            </a:avLst>
          </a:prstGeom>
          <a:solidFill>
            <a:srgbClr val="1B3A55"/>
          </a:solidFill>
          <a:ln w="12700">
            <a:solidFill>
              <a:srgbClr val="2B4E6C"/>
            </a:solidFill>
            <a:prstDash val="solid"/>
          </a:ln>
        </p:spPr>
        <p:txBody>
          <a:bodyPr/>
          <a:lstStyle/>
          <a:p>
            <a:endParaRPr lang="en-US"/>
          </a:p>
        </p:txBody>
      </p:sp>
      <p:sp>
        <p:nvSpPr>
          <p:cNvPr id="12" name="Text 10"/>
          <p:cNvSpPr/>
          <p:nvPr/>
        </p:nvSpPr>
        <p:spPr>
          <a:xfrm>
            <a:off x="1115568" y="3172968"/>
            <a:ext cx="3383280" cy="274320"/>
          </a:xfrm>
          <a:prstGeom prst="rect">
            <a:avLst/>
          </a:prstGeom>
          <a:noFill/>
          <a:ln/>
        </p:spPr>
        <p:txBody>
          <a:bodyPr wrap="square" lIns="0" tIns="0" rIns="0" bIns="0" rtlCol="0" anchor="ctr"/>
          <a:lstStyle/>
          <a:p>
            <a:pPr marL="0" indent="0">
              <a:buNone/>
            </a:pPr>
            <a:r>
              <a:rPr lang="en-US" sz="1150">
                <a:solidFill>
                  <a:srgbClr val="FFFFFF"/>
                </a:solidFill>
                <a:latin typeface="Courier New" pitchFamily="34" charset="0"/>
                <a:ea typeface="Courier New" pitchFamily="34" charset="-122"/>
                <a:cs typeface="Courier New" pitchFamily="34" charset="-120"/>
              </a:rPr>
              <a:t>&lt;style&gt;</a:t>
            </a:r>
            <a:endParaRPr lang="en-US" sz="1150"/>
          </a:p>
        </p:txBody>
      </p:sp>
      <p:sp>
        <p:nvSpPr>
          <p:cNvPr id="13" name="Text 11"/>
          <p:cNvSpPr/>
          <p:nvPr/>
        </p:nvSpPr>
        <p:spPr>
          <a:xfrm>
            <a:off x="1115568" y="3429000"/>
            <a:ext cx="3383280" cy="256032"/>
          </a:xfrm>
          <a:prstGeom prst="rect">
            <a:avLst/>
          </a:prstGeom>
          <a:noFill/>
          <a:ln/>
        </p:spPr>
        <p:txBody>
          <a:bodyPr wrap="square" lIns="0" tIns="0" rIns="0" bIns="0" rtlCol="0" anchor="ctr"/>
          <a:lstStyle/>
          <a:p>
            <a:pPr marL="0" indent="0">
              <a:buNone/>
            </a:pPr>
            <a:r>
              <a:rPr lang="en-US" sz="950">
                <a:solidFill>
                  <a:srgbClr val="9DB3C0"/>
                </a:solidFill>
                <a:latin typeface="Calibri" pitchFamily="34" charset="0"/>
                <a:ea typeface="Calibri" pitchFamily="34" charset="-122"/>
                <a:cs typeface="Calibri" pitchFamily="34" charset="-120"/>
              </a:rPr>
              <a:t>the entire look, in one block</a:t>
            </a:r>
            <a:endParaRPr lang="en-US" sz="950"/>
          </a:p>
        </p:txBody>
      </p:sp>
      <p:sp>
        <p:nvSpPr>
          <p:cNvPr id="14" name="Shape 12"/>
          <p:cNvSpPr/>
          <p:nvPr/>
        </p:nvSpPr>
        <p:spPr>
          <a:xfrm>
            <a:off x="960120" y="3840480"/>
            <a:ext cx="3611880" cy="603504"/>
          </a:xfrm>
          <a:prstGeom prst="roundRect">
            <a:avLst>
              <a:gd name="adj" fmla="val 9091"/>
            </a:avLst>
          </a:prstGeom>
          <a:solidFill>
            <a:srgbClr val="1B3A55"/>
          </a:solidFill>
          <a:ln w="12700">
            <a:solidFill>
              <a:srgbClr val="2B4E6C"/>
            </a:solidFill>
            <a:prstDash val="solid"/>
          </a:ln>
        </p:spPr>
        <p:txBody>
          <a:bodyPr/>
          <a:lstStyle/>
          <a:p>
            <a:endParaRPr lang="en-US"/>
          </a:p>
        </p:txBody>
      </p:sp>
      <p:sp>
        <p:nvSpPr>
          <p:cNvPr id="15" name="Text 13"/>
          <p:cNvSpPr/>
          <p:nvPr/>
        </p:nvSpPr>
        <p:spPr>
          <a:xfrm>
            <a:off x="1115568" y="3895344"/>
            <a:ext cx="3383280" cy="274320"/>
          </a:xfrm>
          <a:prstGeom prst="rect">
            <a:avLst/>
          </a:prstGeom>
          <a:noFill/>
          <a:ln/>
        </p:spPr>
        <p:txBody>
          <a:bodyPr wrap="square" lIns="0" tIns="0" rIns="0" bIns="0" rtlCol="0" anchor="ctr"/>
          <a:lstStyle/>
          <a:p>
            <a:pPr marL="0" indent="0">
              <a:buNone/>
            </a:pPr>
            <a:r>
              <a:rPr lang="en-US" sz="1150">
                <a:solidFill>
                  <a:srgbClr val="FFFFFF"/>
                </a:solidFill>
                <a:latin typeface="Courier New" pitchFamily="34" charset="0"/>
                <a:ea typeface="Courier New" pitchFamily="34" charset="-122"/>
                <a:cs typeface="Courier New" pitchFamily="34" charset="-120"/>
              </a:rPr>
              <a:t>&lt;!-- SECTION: Screen 1 --&gt;</a:t>
            </a:r>
            <a:endParaRPr lang="en-US" sz="1150"/>
          </a:p>
        </p:txBody>
      </p:sp>
      <p:sp>
        <p:nvSpPr>
          <p:cNvPr id="16" name="Text 14"/>
          <p:cNvSpPr/>
          <p:nvPr/>
        </p:nvSpPr>
        <p:spPr>
          <a:xfrm>
            <a:off x="1115568" y="4151376"/>
            <a:ext cx="3383280" cy="256032"/>
          </a:xfrm>
          <a:prstGeom prst="rect">
            <a:avLst/>
          </a:prstGeom>
          <a:noFill/>
          <a:ln/>
        </p:spPr>
        <p:txBody>
          <a:bodyPr wrap="square" lIns="0" tIns="0" rIns="0" bIns="0" rtlCol="0" anchor="ctr"/>
          <a:lstStyle/>
          <a:p>
            <a:pPr marL="0" indent="0">
              <a:buNone/>
            </a:pPr>
            <a:r>
              <a:rPr lang="en-US" sz="950">
                <a:solidFill>
                  <a:srgbClr val="9DB3C0"/>
                </a:solidFill>
                <a:latin typeface="Calibri" pitchFamily="34" charset="0"/>
                <a:ea typeface="Calibri" pitchFamily="34" charset="-122"/>
                <a:cs typeface="Calibri" pitchFamily="34" charset="-120"/>
              </a:rPr>
              <a:t>each screen is a section that JS toggles</a:t>
            </a:r>
            <a:endParaRPr lang="en-US" sz="950"/>
          </a:p>
        </p:txBody>
      </p:sp>
      <p:sp>
        <p:nvSpPr>
          <p:cNvPr id="17" name="Shape 15"/>
          <p:cNvSpPr/>
          <p:nvPr/>
        </p:nvSpPr>
        <p:spPr>
          <a:xfrm>
            <a:off x="960120" y="4562856"/>
            <a:ext cx="3611880" cy="603504"/>
          </a:xfrm>
          <a:prstGeom prst="roundRect">
            <a:avLst>
              <a:gd name="adj" fmla="val 9091"/>
            </a:avLst>
          </a:prstGeom>
          <a:solidFill>
            <a:srgbClr val="1B3A55"/>
          </a:solidFill>
          <a:ln w="12700">
            <a:solidFill>
              <a:srgbClr val="2B4E6C"/>
            </a:solidFill>
            <a:prstDash val="solid"/>
          </a:ln>
        </p:spPr>
        <p:txBody>
          <a:bodyPr/>
          <a:lstStyle/>
          <a:p>
            <a:endParaRPr lang="en-US"/>
          </a:p>
        </p:txBody>
      </p:sp>
      <p:sp>
        <p:nvSpPr>
          <p:cNvPr id="18" name="Text 16"/>
          <p:cNvSpPr/>
          <p:nvPr/>
        </p:nvSpPr>
        <p:spPr>
          <a:xfrm>
            <a:off x="1115568" y="4617720"/>
            <a:ext cx="3383280" cy="274320"/>
          </a:xfrm>
          <a:prstGeom prst="rect">
            <a:avLst/>
          </a:prstGeom>
          <a:noFill/>
          <a:ln/>
        </p:spPr>
        <p:txBody>
          <a:bodyPr wrap="square" lIns="0" tIns="0" rIns="0" bIns="0" rtlCol="0" anchor="ctr"/>
          <a:lstStyle/>
          <a:p>
            <a:pPr marL="0" indent="0">
              <a:buNone/>
            </a:pPr>
            <a:r>
              <a:rPr lang="en-US" sz="1150">
                <a:solidFill>
                  <a:srgbClr val="FFFFFF"/>
                </a:solidFill>
                <a:latin typeface="Courier New" pitchFamily="34" charset="0"/>
                <a:ea typeface="Courier New" pitchFamily="34" charset="-122"/>
                <a:cs typeface="Courier New" pitchFamily="34" charset="-120"/>
              </a:rPr>
              <a:t>&lt;!-- SECTION: Screen 2 --&gt;</a:t>
            </a:r>
            <a:endParaRPr lang="en-US" sz="1150"/>
          </a:p>
        </p:txBody>
      </p:sp>
      <p:sp>
        <p:nvSpPr>
          <p:cNvPr id="19" name="Text 17"/>
          <p:cNvSpPr/>
          <p:nvPr/>
        </p:nvSpPr>
        <p:spPr>
          <a:xfrm>
            <a:off x="1115568" y="4873752"/>
            <a:ext cx="3383280" cy="256032"/>
          </a:xfrm>
          <a:prstGeom prst="rect">
            <a:avLst/>
          </a:prstGeom>
          <a:noFill/>
          <a:ln/>
        </p:spPr>
        <p:txBody>
          <a:bodyPr wrap="square" lIns="0" tIns="0" rIns="0" bIns="0" rtlCol="0" anchor="ctr"/>
          <a:lstStyle/>
          <a:p>
            <a:pPr marL="0" indent="0">
              <a:buNone/>
            </a:pPr>
            <a:r>
              <a:rPr lang="en-US" sz="950">
                <a:solidFill>
                  <a:srgbClr val="9DB3C0"/>
                </a:solidFill>
                <a:latin typeface="Calibri" pitchFamily="34" charset="0"/>
                <a:ea typeface="Calibri" pitchFamily="34" charset="-122"/>
                <a:cs typeface="Calibri" pitchFamily="34" charset="-120"/>
              </a:rPr>
              <a:t>…navigation just shows and hides</a:t>
            </a:r>
            <a:endParaRPr lang="en-US" sz="950"/>
          </a:p>
        </p:txBody>
      </p:sp>
      <p:sp>
        <p:nvSpPr>
          <p:cNvPr id="20" name="Shape 18"/>
          <p:cNvSpPr/>
          <p:nvPr/>
        </p:nvSpPr>
        <p:spPr>
          <a:xfrm>
            <a:off x="960120" y="5285232"/>
            <a:ext cx="3611880" cy="603504"/>
          </a:xfrm>
          <a:prstGeom prst="roundRect">
            <a:avLst>
              <a:gd name="adj" fmla="val 9091"/>
            </a:avLst>
          </a:prstGeom>
          <a:solidFill>
            <a:srgbClr val="1B3A55"/>
          </a:solidFill>
          <a:ln w="12700">
            <a:solidFill>
              <a:srgbClr val="2B4E6C"/>
            </a:solidFill>
            <a:prstDash val="solid"/>
          </a:ln>
        </p:spPr>
        <p:txBody>
          <a:bodyPr/>
          <a:lstStyle/>
          <a:p>
            <a:endParaRPr lang="en-US"/>
          </a:p>
        </p:txBody>
      </p:sp>
      <p:sp>
        <p:nvSpPr>
          <p:cNvPr id="21" name="Text 19"/>
          <p:cNvSpPr/>
          <p:nvPr/>
        </p:nvSpPr>
        <p:spPr>
          <a:xfrm>
            <a:off x="1115568" y="5340096"/>
            <a:ext cx="3383280" cy="274320"/>
          </a:xfrm>
          <a:prstGeom prst="rect">
            <a:avLst/>
          </a:prstGeom>
          <a:noFill/>
          <a:ln/>
        </p:spPr>
        <p:txBody>
          <a:bodyPr wrap="square" lIns="0" tIns="0" rIns="0" bIns="0" rtlCol="0" anchor="ctr"/>
          <a:lstStyle/>
          <a:p>
            <a:pPr marL="0" indent="0">
              <a:buNone/>
            </a:pPr>
            <a:r>
              <a:rPr lang="en-US" sz="1150">
                <a:solidFill>
                  <a:srgbClr val="FFFFFF"/>
                </a:solidFill>
                <a:latin typeface="Courier New" pitchFamily="34" charset="0"/>
                <a:ea typeface="Courier New" pitchFamily="34" charset="-122"/>
                <a:cs typeface="Courier New" pitchFamily="34" charset="-120"/>
              </a:rPr>
              <a:t>&lt;script&gt; + data</a:t>
            </a:r>
            <a:endParaRPr lang="en-US" sz="1150"/>
          </a:p>
        </p:txBody>
      </p:sp>
      <p:sp>
        <p:nvSpPr>
          <p:cNvPr id="22" name="Text 20"/>
          <p:cNvSpPr/>
          <p:nvPr/>
        </p:nvSpPr>
        <p:spPr>
          <a:xfrm>
            <a:off x="1115568" y="5596128"/>
            <a:ext cx="3383280" cy="256032"/>
          </a:xfrm>
          <a:prstGeom prst="rect">
            <a:avLst/>
          </a:prstGeom>
          <a:noFill/>
          <a:ln/>
        </p:spPr>
        <p:txBody>
          <a:bodyPr wrap="square" lIns="0" tIns="0" rIns="0" bIns="0" rtlCol="0" anchor="ctr"/>
          <a:lstStyle/>
          <a:p>
            <a:pPr marL="0" indent="0">
              <a:buNone/>
            </a:pPr>
            <a:r>
              <a:rPr lang="en-US" sz="950">
                <a:solidFill>
                  <a:srgbClr val="9DB3C0"/>
                </a:solidFill>
                <a:latin typeface="Calibri" pitchFamily="34" charset="0"/>
                <a:ea typeface="Calibri" pitchFamily="34" charset="-122"/>
                <a:cs typeface="Calibri" pitchFamily="34" charset="-120"/>
              </a:rPr>
              <a:t>behavior and fake records, in memory</a:t>
            </a:r>
            <a:endParaRPr lang="en-US" sz="950"/>
          </a:p>
        </p:txBody>
      </p:sp>
      <p:sp>
        <p:nvSpPr>
          <p:cNvPr id="23" name="Text 21"/>
          <p:cNvSpPr/>
          <p:nvPr/>
        </p:nvSpPr>
        <p:spPr>
          <a:xfrm>
            <a:off x="5394960" y="1828800"/>
            <a:ext cx="5943600" cy="365760"/>
          </a:xfrm>
          <a:prstGeom prst="rect">
            <a:avLst/>
          </a:prstGeom>
          <a:noFill/>
          <a:ln/>
        </p:spPr>
        <p:txBody>
          <a:bodyPr wrap="square" lIns="0" tIns="0" rIns="0" bIns="0" rtlCol="0" anchor="ctr"/>
          <a:lstStyle/>
          <a:p>
            <a:pPr marL="0" indent="0">
              <a:buNone/>
            </a:pPr>
            <a:r>
              <a:rPr lang="en-US" sz="1900" b="1">
                <a:solidFill>
                  <a:srgbClr val="142F47"/>
                </a:solidFill>
                <a:latin typeface="Cambria" pitchFamily="34" charset="0"/>
                <a:ea typeface="Cambria" pitchFamily="34" charset="-122"/>
                <a:cs typeface="Cambria" pitchFamily="34" charset="-120"/>
              </a:rPr>
              <a:t>Why a single file?</a:t>
            </a:r>
            <a:endParaRPr lang="en-US" sz="1900"/>
          </a:p>
        </p:txBody>
      </p:sp>
      <p:sp>
        <p:nvSpPr>
          <p:cNvPr id="24" name="Shape 22"/>
          <p:cNvSpPr/>
          <p:nvPr/>
        </p:nvSpPr>
        <p:spPr>
          <a:xfrm>
            <a:off x="5394960" y="2377440"/>
            <a:ext cx="603504" cy="603504"/>
          </a:xfrm>
          <a:prstGeom prst="ellipse">
            <a:avLst/>
          </a:prstGeom>
          <a:solidFill>
            <a:srgbClr val="0F8B8D"/>
          </a:solidFill>
          <a:ln/>
        </p:spPr>
        <p:txBody>
          <a:bodyPr/>
          <a:lstStyle/>
          <a:p>
            <a:endParaRPr lang="en-US"/>
          </a:p>
        </p:txBody>
      </p:sp>
      <p:pic>
        <p:nvPicPr>
          <p:cNvPr id="25" name="Image 0" descr="preencoded.png"/>
          <p:cNvPicPr>
            <a:picLocks noChangeAspect="1"/>
          </p:cNvPicPr>
          <p:nvPr/>
        </p:nvPicPr>
        <p:blipFill>
          <a:blip r:embed="rId3"/>
          <a:stretch>
            <a:fillRect/>
          </a:stretch>
        </p:blipFill>
        <p:spPr>
          <a:xfrm>
            <a:off x="5539801" y="2522281"/>
            <a:ext cx="313822" cy="313822"/>
          </a:xfrm>
          <a:prstGeom prst="rect">
            <a:avLst/>
          </a:prstGeom>
        </p:spPr>
      </p:pic>
      <p:sp>
        <p:nvSpPr>
          <p:cNvPr id="26" name="Text 23"/>
          <p:cNvSpPr/>
          <p:nvPr/>
        </p:nvSpPr>
        <p:spPr>
          <a:xfrm>
            <a:off x="6172200" y="2340864"/>
            <a:ext cx="5394960" cy="365760"/>
          </a:xfrm>
          <a:prstGeom prst="rect">
            <a:avLst/>
          </a:prstGeom>
          <a:noFill/>
          <a:ln/>
        </p:spPr>
        <p:txBody>
          <a:bodyPr wrap="square" lIns="0" tIns="0" rIns="0" bIns="0" rtlCol="0" anchor="ctr"/>
          <a:lstStyle/>
          <a:p>
            <a:pPr marL="0" indent="0">
              <a:buNone/>
            </a:pPr>
            <a:r>
              <a:rPr lang="en-US" sz="1500" b="1">
                <a:solidFill>
                  <a:srgbClr val="142F47"/>
                </a:solidFill>
                <a:latin typeface="Calibri" pitchFamily="34" charset="0"/>
                <a:ea typeface="Calibri" pitchFamily="34" charset="-122"/>
                <a:cs typeface="Calibri" pitchFamily="34" charset="-120"/>
              </a:rPr>
              <a:t>Perfectly portable</a:t>
            </a:r>
            <a:endParaRPr lang="en-US" sz="1500"/>
          </a:p>
        </p:txBody>
      </p:sp>
      <p:sp>
        <p:nvSpPr>
          <p:cNvPr id="27" name="Text 24"/>
          <p:cNvSpPr/>
          <p:nvPr/>
        </p:nvSpPr>
        <p:spPr>
          <a:xfrm>
            <a:off x="6172200" y="2670048"/>
            <a:ext cx="5394960" cy="777240"/>
          </a:xfrm>
          <a:prstGeom prst="rect">
            <a:avLst/>
          </a:prstGeom>
          <a:noFill/>
          <a:ln/>
        </p:spPr>
        <p:txBody>
          <a:bodyPr wrap="square" lIns="0" tIns="0" rIns="0" bIns="0" rtlCol="0" anchor="ctr"/>
          <a:lstStyle/>
          <a:p>
            <a:pPr marL="0" indent="0">
              <a:lnSpc>
                <a:spcPct val="110000"/>
              </a:lnSpc>
              <a:buNone/>
            </a:pPr>
            <a:r>
              <a:rPr lang="en-US" sz="1250">
                <a:solidFill>
                  <a:srgbClr val="45586A"/>
                </a:solidFill>
                <a:latin typeface="Calibri" pitchFamily="34" charset="0"/>
                <a:ea typeface="Calibri" pitchFamily="34" charset="-122"/>
                <a:cs typeface="Calibri" pitchFamily="34" charset="-120"/>
              </a:rPr>
              <a:t>Email it, drop it in Teams, put it on SharePoint. It just opens. No environment, no dependencies, nothing to break.</a:t>
            </a:r>
            <a:endParaRPr lang="en-US" sz="1250"/>
          </a:p>
        </p:txBody>
      </p:sp>
      <p:sp>
        <p:nvSpPr>
          <p:cNvPr id="28" name="Shape 25"/>
          <p:cNvSpPr/>
          <p:nvPr/>
        </p:nvSpPr>
        <p:spPr>
          <a:xfrm>
            <a:off x="5394960" y="3611880"/>
            <a:ext cx="603504" cy="603504"/>
          </a:xfrm>
          <a:prstGeom prst="ellipse">
            <a:avLst/>
          </a:prstGeom>
          <a:solidFill>
            <a:srgbClr val="0F8B8D"/>
          </a:solidFill>
          <a:ln/>
        </p:spPr>
        <p:txBody>
          <a:bodyPr/>
          <a:lstStyle/>
          <a:p>
            <a:endParaRPr lang="en-US"/>
          </a:p>
        </p:txBody>
      </p:sp>
      <p:pic>
        <p:nvPicPr>
          <p:cNvPr id="29" name="Image 1" descr="preencoded.png"/>
          <p:cNvPicPr>
            <a:picLocks noChangeAspect="1"/>
          </p:cNvPicPr>
          <p:nvPr/>
        </p:nvPicPr>
        <p:blipFill>
          <a:blip r:embed="rId4"/>
          <a:stretch>
            <a:fillRect/>
          </a:stretch>
        </p:blipFill>
        <p:spPr>
          <a:xfrm>
            <a:off x="5539801" y="3756721"/>
            <a:ext cx="313822" cy="313822"/>
          </a:xfrm>
          <a:prstGeom prst="rect">
            <a:avLst/>
          </a:prstGeom>
        </p:spPr>
      </p:pic>
      <p:sp>
        <p:nvSpPr>
          <p:cNvPr id="30" name="Text 26"/>
          <p:cNvSpPr/>
          <p:nvPr/>
        </p:nvSpPr>
        <p:spPr>
          <a:xfrm>
            <a:off x="6172200" y="3575304"/>
            <a:ext cx="5394960" cy="365760"/>
          </a:xfrm>
          <a:prstGeom prst="rect">
            <a:avLst/>
          </a:prstGeom>
          <a:noFill/>
          <a:ln/>
        </p:spPr>
        <p:txBody>
          <a:bodyPr wrap="square" lIns="0" tIns="0" rIns="0" bIns="0" rtlCol="0" anchor="ctr"/>
          <a:lstStyle/>
          <a:p>
            <a:pPr marL="0" indent="0">
              <a:buNone/>
            </a:pPr>
            <a:r>
              <a:rPr lang="en-US" sz="1500" b="1">
                <a:solidFill>
                  <a:srgbClr val="142F47"/>
                </a:solidFill>
                <a:latin typeface="Calibri" pitchFamily="34" charset="0"/>
                <a:ea typeface="Calibri" pitchFamily="34" charset="-122"/>
                <a:cs typeface="Calibri" pitchFamily="34" charset="-120"/>
              </a:rPr>
              <a:t>Durable</a:t>
            </a:r>
            <a:endParaRPr lang="en-US" sz="1500"/>
          </a:p>
        </p:txBody>
      </p:sp>
      <p:sp>
        <p:nvSpPr>
          <p:cNvPr id="31" name="Text 27"/>
          <p:cNvSpPr/>
          <p:nvPr/>
        </p:nvSpPr>
        <p:spPr>
          <a:xfrm>
            <a:off x="6172200" y="3904488"/>
            <a:ext cx="5394960" cy="777240"/>
          </a:xfrm>
          <a:prstGeom prst="rect">
            <a:avLst/>
          </a:prstGeom>
          <a:noFill/>
          <a:ln/>
        </p:spPr>
        <p:txBody>
          <a:bodyPr wrap="square" lIns="0" tIns="0" rIns="0" bIns="0" rtlCol="0" anchor="ctr"/>
          <a:lstStyle/>
          <a:p>
            <a:pPr marL="0" indent="0">
              <a:lnSpc>
                <a:spcPct val="110000"/>
              </a:lnSpc>
              <a:buNone/>
            </a:pPr>
            <a:r>
              <a:rPr lang="en-US" sz="1250">
                <a:solidFill>
                  <a:srgbClr val="45586A"/>
                </a:solidFill>
                <a:latin typeface="Calibri" pitchFamily="34" charset="0"/>
                <a:ea typeface="Calibri" pitchFamily="34" charset="-122"/>
                <a:cs typeface="Calibri" pitchFamily="34" charset="-120"/>
              </a:rPr>
              <a:t>Six months from now it still opens exactly the same. Requirements that cannot rot.</a:t>
            </a:r>
            <a:endParaRPr lang="en-US" sz="1250"/>
          </a:p>
        </p:txBody>
      </p:sp>
      <p:sp>
        <p:nvSpPr>
          <p:cNvPr id="32" name="Shape 28"/>
          <p:cNvSpPr/>
          <p:nvPr/>
        </p:nvSpPr>
        <p:spPr>
          <a:xfrm>
            <a:off x="5394960" y="4846320"/>
            <a:ext cx="603504" cy="603504"/>
          </a:xfrm>
          <a:prstGeom prst="ellipse">
            <a:avLst/>
          </a:prstGeom>
          <a:solidFill>
            <a:srgbClr val="0F8B8D"/>
          </a:solidFill>
          <a:ln/>
        </p:spPr>
        <p:txBody>
          <a:bodyPr/>
          <a:lstStyle/>
          <a:p>
            <a:endParaRPr lang="en-US"/>
          </a:p>
        </p:txBody>
      </p:sp>
      <p:pic>
        <p:nvPicPr>
          <p:cNvPr id="33" name="Image 2" descr="preencoded.png"/>
          <p:cNvPicPr>
            <a:picLocks noChangeAspect="1"/>
          </p:cNvPicPr>
          <p:nvPr/>
        </p:nvPicPr>
        <p:blipFill>
          <a:blip r:embed="rId5"/>
          <a:stretch>
            <a:fillRect/>
          </a:stretch>
        </p:blipFill>
        <p:spPr>
          <a:xfrm>
            <a:off x="5539801" y="4991161"/>
            <a:ext cx="313822" cy="313822"/>
          </a:xfrm>
          <a:prstGeom prst="rect">
            <a:avLst/>
          </a:prstGeom>
        </p:spPr>
      </p:pic>
      <p:sp>
        <p:nvSpPr>
          <p:cNvPr id="34" name="Text 29"/>
          <p:cNvSpPr/>
          <p:nvPr/>
        </p:nvSpPr>
        <p:spPr>
          <a:xfrm>
            <a:off x="6172200" y="4809744"/>
            <a:ext cx="5394960" cy="365760"/>
          </a:xfrm>
          <a:prstGeom prst="rect">
            <a:avLst/>
          </a:prstGeom>
          <a:noFill/>
          <a:ln/>
        </p:spPr>
        <p:txBody>
          <a:bodyPr wrap="square" lIns="0" tIns="0" rIns="0" bIns="0" rtlCol="0" anchor="ctr"/>
          <a:lstStyle/>
          <a:p>
            <a:pPr marL="0" indent="0">
              <a:buNone/>
            </a:pPr>
            <a:r>
              <a:rPr lang="en-US" sz="1500" b="1">
                <a:solidFill>
                  <a:srgbClr val="142F47"/>
                </a:solidFill>
                <a:latin typeface="Calibri" pitchFamily="34" charset="0"/>
                <a:ea typeface="Calibri" pitchFamily="34" charset="-122"/>
                <a:cs typeface="Calibri" pitchFamily="34" charset="-120"/>
              </a:rPr>
              <a:t>Inspectable</a:t>
            </a:r>
            <a:endParaRPr lang="en-US" sz="1500"/>
          </a:p>
        </p:txBody>
      </p:sp>
      <p:sp>
        <p:nvSpPr>
          <p:cNvPr id="35" name="Text 30"/>
          <p:cNvSpPr/>
          <p:nvPr/>
        </p:nvSpPr>
        <p:spPr>
          <a:xfrm>
            <a:off x="6172200" y="5138928"/>
            <a:ext cx="5394960" cy="777240"/>
          </a:xfrm>
          <a:prstGeom prst="rect">
            <a:avLst/>
          </a:prstGeom>
          <a:noFill/>
          <a:ln/>
        </p:spPr>
        <p:txBody>
          <a:bodyPr wrap="square" lIns="0" tIns="0" rIns="0" bIns="0" rtlCol="0" anchor="ctr"/>
          <a:lstStyle/>
          <a:p>
            <a:pPr marL="0" indent="0">
              <a:lnSpc>
                <a:spcPct val="110000"/>
              </a:lnSpc>
              <a:buNone/>
            </a:pPr>
            <a:r>
              <a:rPr lang="en-US" sz="1250">
                <a:solidFill>
                  <a:srgbClr val="45586A"/>
                </a:solidFill>
                <a:latin typeface="Calibri" pitchFamily="34" charset="0"/>
                <a:ea typeface="Calibri" pitchFamily="34" charset="-122"/>
                <a:cs typeface="Calibri" pitchFamily="34" charset="-120"/>
              </a:rPr>
              <a:t>The dev team reads one file and sees every label, rule, and data shape you implied.</a:t>
            </a:r>
            <a:endParaRPr lang="en-US" sz="12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1 · THE CASE</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The pipeline: model in, application out</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8</a:t>
            </a:r>
            <a:endParaRPr lang="en-US" sz="900"/>
          </a:p>
        </p:txBody>
      </p:sp>
      <p:sp>
        <p:nvSpPr>
          <p:cNvPr id="6" name="Shape 4"/>
          <p:cNvSpPr/>
          <p:nvPr/>
        </p:nvSpPr>
        <p:spPr>
          <a:xfrm>
            <a:off x="594360" y="2148840"/>
            <a:ext cx="2606040" cy="2514600"/>
          </a:xfrm>
          <a:prstGeom prst="roundRect">
            <a:avLst>
              <a:gd name="adj" fmla="val 3273"/>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7" name="Shape 5"/>
          <p:cNvSpPr/>
          <p:nvPr/>
        </p:nvSpPr>
        <p:spPr>
          <a:xfrm>
            <a:off x="1527048" y="2468880"/>
            <a:ext cx="731520" cy="731520"/>
          </a:xfrm>
          <a:prstGeom prst="ellipse">
            <a:avLst/>
          </a:prstGeom>
          <a:solidFill>
            <a:srgbClr val="0F8B8D"/>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702613" y="2644445"/>
            <a:ext cx="380390" cy="380390"/>
          </a:xfrm>
          <a:prstGeom prst="rect">
            <a:avLst/>
          </a:prstGeom>
        </p:spPr>
      </p:pic>
      <p:sp>
        <p:nvSpPr>
          <p:cNvPr id="9" name="Text 6"/>
          <p:cNvSpPr/>
          <p:nvPr/>
        </p:nvSpPr>
        <p:spPr>
          <a:xfrm>
            <a:off x="731520" y="3346704"/>
            <a:ext cx="2331720" cy="384048"/>
          </a:xfrm>
          <a:prstGeom prst="rect">
            <a:avLst/>
          </a:prstGeom>
          <a:noFill/>
          <a:ln/>
        </p:spPr>
        <p:txBody>
          <a:bodyPr wrap="square" lIns="0" tIns="0" rIns="0" bIns="0" rtlCol="0" anchor="ctr"/>
          <a:lstStyle/>
          <a:p>
            <a:pPr marL="0" indent="0" algn="ctr">
              <a:buNone/>
            </a:pPr>
            <a:r>
              <a:rPr lang="en-US" sz="1550" b="1">
                <a:solidFill>
                  <a:srgbClr val="142F47"/>
                </a:solidFill>
                <a:latin typeface="Cambria" pitchFamily="34" charset="0"/>
                <a:ea typeface="Cambria" pitchFamily="34" charset="-122"/>
                <a:cs typeface="Cambria" pitchFamily="34" charset="-120"/>
              </a:rPr>
              <a:t>You + Claude Code</a:t>
            </a:r>
            <a:endParaRPr lang="en-US" sz="1550"/>
          </a:p>
        </p:txBody>
      </p:sp>
      <p:sp>
        <p:nvSpPr>
          <p:cNvPr id="10" name="Text 7"/>
          <p:cNvSpPr/>
          <p:nvPr/>
        </p:nvSpPr>
        <p:spPr>
          <a:xfrm>
            <a:off x="731520" y="3749040"/>
            <a:ext cx="2331720" cy="731520"/>
          </a:xfrm>
          <a:prstGeom prst="rect">
            <a:avLst/>
          </a:prstGeom>
          <a:noFill/>
          <a:ln/>
        </p:spPr>
        <p:txBody>
          <a:bodyPr wrap="square" lIns="0" tIns="0" rIns="0" bIns="0" rtlCol="0" anchor="ctr"/>
          <a:lstStyle/>
          <a:p>
            <a:pPr marL="0" indent="0" algn="ctr">
              <a:lnSpc>
                <a:spcPct val="108000"/>
              </a:lnSpc>
              <a:buNone/>
            </a:pPr>
            <a:r>
              <a:rPr lang="en-US" sz="1150">
                <a:solidFill>
                  <a:srgbClr val="45586A"/>
                </a:solidFill>
                <a:latin typeface="Calibri" pitchFamily="34" charset="0"/>
                <a:ea typeface="Calibri" pitchFamily="34" charset="-122"/>
                <a:cs typeface="Calibri" pitchFamily="34" charset="-120"/>
              </a:rPr>
              <a:t>Hours of building,</a:t>
            </a:r>
            <a:endParaRPr lang="en-US" sz="1150"/>
          </a:p>
          <a:p>
            <a:pPr marL="0" indent="0" algn="ctr">
              <a:lnSpc>
                <a:spcPct val="108000"/>
              </a:lnSpc>
              <a:buNone/>
            </a:pPr>
            <a:r>
              <a:rPr lang="en-US" sz="1150">
                <a:solidFill>
                  <a:srgbClr val="45586A"/>
                </a:solidFill>
                <a:latin typeface="Calibri" pitchFamily="34" charset="0"/>
                <a:ea typeface="Calibri" pitchFamily="34" charset="-122"/>
                <a:cs typeface="Calibri" pitchFamily="34" charset="-120"/>
              </a:rPr>
              <a:t>not weeks of writing</a:t>
            </a:r>
            <a:endParaRPr lang="en-US" sz="1150"/>
          </a:p>
        </p:txBody>
      </p:sp>
      <p:sp>
        <p:nvSpPr>
          <p:cNvPr id="11" name="Shape 8"/>
          <p:cNvSpPr/>
          <p:nvPr/>
        </p:nvSpPr>
        <p:spPr>
          <a:xfrm>
            <a:off x="3200400" y="3273552"/>
            <a:ext cx="384048" cy="274320"/>
          </a:xfrm>
          <a:prstGeom prst="rightArrow">
            <a:avLst/>
          </a:prstGeom>
          <a:solidFill>
            <a:srgbClr val="0F8B8D"/>
          </a:solidFill>
          <a:ln/>
        </p:spPr>
        <p:txBody>
          <a:bodyPr/>
          <a:lstStyle/>
          <a:p>
            <a:endParaRPr lang="en-US"/>
          </a:p>
        </p:txBody>
      </p:sp>
      <p:sp>
        <p:nvSpPr>
          <p:cNvPr id="12" name="Shape 9"/>
          <p:cNvSpPr/>
          <p:nvPr/>
        </p:nvSpPr>
        <p:spPr>
          <a:xfrm>
            <a:off x="3584448" y="2148840"/>
            <a:ext cx="2606040" cy="2514600"/>
          </a:xfrm>
          <a:prstGeom prst="roundRect">
            <a:avLst>
              <a:gd name="adj" fmla="val 3273"/>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3" name="Shape 10"/>
          <p:cNvSpPr/>
          <p:nvPr/>
        </p:nvSpPr>
        <p:spPr>
          <a:xfrm>
            <a:off x="4517136" y="2468880"/>
            <a:ext cx="731520" cy="731520"/>
          </a:xfrm>
          <a:prstGeom prst="ellipse">
            <a:avLst/>
          </a:prstGeom>
          <a:solidFill>
            <a:srgbClr val="0B6E70"/>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692701" y="2644445"/>
            <a:ext cx="380390" cy="380390"/>
          </a:xfrm>
          <a:prstGeom prst="rect">
            <a:avLst/>
          </a:prstGeom>
        </p:spPr>
      </p:pic>
      <p:sp>
        <p:nvSpPr>
          <p:cNvPr id="15" name="Text 11"/>
          <p:cNvSpPr/>
          <p:nvPr/>
        </p:nvSpPr>
        <p:spPr>
          <a:xfrm>
            <a:off x="3721608" y="3346704"/>
            <a:ext cx="2331720" cy="384048"/>
          </a:xfrm>
          <a:prstGeom prst="rect">
            <a:avLst/>
          </a:prstGeom>
          <a:noFill/>
          <a:ln/>
        </p:spPr>
        <p:txBody>
          <a:bodyPr wrap="square" lIns="0" tIns="0" rIns="0" bIns="0" rtlCol="0" anchor="ctr"/>
          <a:lstStyle/>
          <a:p>
            <a:pPr marL="0" indent="0" algn="ctr">
              <a:buNone/>
            </a:pPr>
            <a:r>
              <a:rPr lang="en-US" sz="1550" b="1">
                <a:solidFill>
                  <a:srgbClr val="142F47"/>
                </a:solidFill>
                <a:latin typeface="Cambria" pitchFamily="34" charset="0"/>
                <a:ea typeface="Cambria" pitchFamily="34" charset="-122"/>
                <a:cs typeface="Cambria" pitchFamily="34" charset="-120"/>
              </a:rPr>
              <a:t>model.html</a:t>
            </a:r>
            <a:endParaRPr lang="en-US" sz="1550"/>
          </a:p>
        </p:txBody>
      </p:sp>
      <p:sp>
        <p:nvSpPr>
          <p:cNvPr id="16" name="Text 12"/>
          <p:cNvSpPr/>
          <p:nvPr/>
        </p:nvSpPr>
        <p:spPr>
          <a:xfrm>
            <a:off x="3721608" y="3749040"/>
            <a:ext cx="2331720" cy="731520"/>
          </a:xfrm>
          <a:prstGeom prst="rect">
            <a:avLst/>
          </a:prstGeom>
          <a:noFill/>
          <a:ln/>
        </p:spPr>
        <p:txBody>
          <a:bodyPr wrap="square" lIns="0" tIns="0" rIns="0" bIns="0" rtlCol="0" anchor="ctr"/>
          <a:lstStyle/>
          <a:p>
            <a:pPr marL="0" indent="0" algn="ctr">
              <a:lnSpc>
                <a:spcPct val="108000"/>
              </a:lnSpc>
              <a:buNone/>
            </a:pPr>
            <a:r>
              <a:rPr lang="en-US" sz="1150">
                <a:solidFill>
                  <a:srgbClr val="45586A"/>
                </a:solidFill>
                <a:latin typeface="Calibri" pitchFamily="34" charset="0"/>
                <a:ea typeface="Calibri" pitchFamily="34" charset="-122"/>
                <a:cs typeface="Calibri" pitchFamily="34" charset="-120"/>
              </a:rPr>
              <a:t>The requirements,</a:t>
            </a:r>
            <a:endParaRPr lang="en-US" sz="1150"/>
          </a:p>
          <a:p>
            <a:pPr marL="0" indent="0" algn="ctr">
              <a:lnSpc>
                <a:spcPct val="108000"/>
              </a:lnSpc>
              <a:buNone/>
            </a:pPr>
            <a:r>
              <a:rPr lang="en-US" sz="1150">
                <a:solidFill>
                  <a:srgbClr val="45586A"/>
                </a:solidFill>
                <a:latin typeface="Calibri" pitchFamily="34" charset="0"/>
                <a:ea typeface="Calibri" pitchFamily="34" charset="-122"/>
                <a:cs typeface="Calibri" pitchFamily="34" charset="-120"/>
              </a:rPr>
              <a:t>as a working thing</a:t>
            </a:r>
            <a:endParaRPr lang="en-US" sz="1150"/>
          </a:p>
        </p:txBody>
      </p:sp>
      <p:sp>
        <p:nvSpPr>
          <p:cNvPr id="17" name="Shape 13"/>
          <p:cNvSpPr/>
          <p:nvPr/>
        </p:nvSpPr>
        <p:spPr>
          <a:xfrm>
            <a:off x="6190488" y="3273552"/>
            <a:ext cx="384048" cy="274320"/>
          </a:xfrm>
          <a:prstGeom prst="rightArrow">
            <a:avLst/>
          </a:prstGeom>
          <a:solidFill>
            <a:srgbClr val="0F8B8D"/>
          </a:solidFill>
          <a:ln/>
        </p:spPr>
        <p:txBody>
          <a:bodyPr/>
          <a:lstStyle/>
          <a:p>
            <a:endParaRPr lang="en-US"/>
          </a:p>
        </p:txBody>
      </p:sp>
      <p:sp>
        <p:nvSpPr>
          <p:cNvPr id="18" name="Shape 14"/>
          <p:cNvSpPr/>
          <p:nvPr/>
        </p:nvSpPr>
        <p:spPr>
          <a:xfrm>
            <a:off x="6574536" y="2148840"/>
            <a:ext cx="2606040" cy="2514600"/>
          </a:xfrm>
          <a:prstGeom prst="roundRect">
            <a:avLst>
              <a:gd name="adj" fmla="val 3273"/>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9" name="Shape 15"/>
          <p:cNvSpPr/>
          <p:nvPr/>
        </p:nvSpPr>
        <p:spPr>
          <a:xfrm>
            <a:off x="7507224" y="2468880"/>
            <a:ext cx="731520" cy="731520"/>
          </a:xfrm>
          <a:prstGeom prst="ellipse">
            <a:avLst/>
          </a:prstGeom>
          <a:solidFill>
            <a:srgbClr val="0F8B8D"/>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7682789" y="2644445"/>
            <a:ext cx="380390" cy="380390"/>
          </a:xfrm>
          <a:prstGeom prst="rect">
            <a:avLst/>
          </a:prstGeom>
        </p:spPr>
      </p:pic>
      <p:sp>
        <p:nvSpPr>
          <p:cNvPr id="21" name="Text 16"/>
          <p:cNvSpPr/>
          <p:nvPr/>
        </p:nvSpPr>
        <p:spPr>
          <a:xfrm>
            <a:off x="6711696" y="3346704"/>
            <a:ext cx="2331720" cy="384048"/>
          </a:xfrm>
          <a:prstGeom prst="rect">
            <a:avLst/>
          </a:prstGeom>
          <a:noFill/>
          <a:ln/>
        </p:spPr>
        <p:txBody>
          <a:bodyPr wrap="square" lIns="0" tIns="0" rIns="0" bIns="0" rtlCol="0" anchor="ctr"/>
          <a:lstStyle/>
          <a:p>
            <a:pPr marL="0" indent="0" algn="ctr">
              <a:buNone/>
            </a:pPr>
            <a:r>
              <a:rPr lang="en-US" sz="1550" b="1">
                <a:solidFill>
                  <a:srgbClr val="142F47"/>
                </a:solidFill>
                <a:latin typeface="Cambria" pitchFamily="34" charset="0"/>
                <a:ea typeface="Cambria" pitchFamily="34" charset="-122"/>
                <a:cs typeface="Cambria" pitchFamily="34" charset="-120"/>
              </a:rPr>
              <a:t>Development team</a:t>
            </a:r>
            <a:endParaRPr lang="en-US" sz="1550"/>
          </a:p>
        </p:txBody>
      </p:sp>
      <p:sp>
        <p:nvSpPr>
          <p:cNvPr id="22" name="Text 17"/>
          <p:cNvSpPr/>
          <p:nvPr/>
        </p:nvSpPr>
        <p:spPr>
          <a:xfrm>
            <a:off x="6711696" y="3749040"/>
            <a:ext cx="2331720" cy="731520"/>
          </a:xfrm>
          <a:prstGeom prst="rect">
            <a:avLst/>
          </a:prstGeom>
          <a:noFill/>
          <a:ln/>
        </p:spPr>
        <p:txBody>
          <a:bodyPr wrap="square" lIns="0" tIns="0" rIns="0" bIns="0" rtlCol="0" anchor="ctr"/>
          <a:lstStyle/>
          <a:p>
            <a:pPr marL="0" indent="0" algn="ctr">
              <a:lnSpc>
                <a:spcPct val="108000"/>
              </a:lnSpc>
              <a:buNone/>
            </a:pPr>
            <a:r>
              <a:rPr lang="en-US" sz="1150">
                <a:solidFill>
                  <a:srgbClr val="45586A"/>
                </a:solidFill>
                <a:latin typeface="Calibri" pitchFamily="34" charset="0"/>
                <a:ea typeface="Calibri" pitchFamily="34" charset="-122"/>
                <a:cs typeface="Calibri" pitchFamily="34" charset="-120"/>
              </a:rPr>
              <a:t>Reviews the model</a:t>
            </a:r>
            <a:endParaRPr lang="en-US" sz="1150"/>
          </a:p>
          <a:p>
            <a:pPr marL="0" indent="0" algn="ctr">
              <a:lnSpc>
                <a:spcPct val="108000"/>
              </a:lnSpc>
              <a:buNone/>
            </a:pPr>
            <a:r>
              <a:rPr lang="en-US" sz="1150">
                <a:solidFill>
                  <a:srgbClr val="45586A"/>
                </a:solidFill>
                <a:latin typeface="Calibri" pitchFamily="34" charset="0"/>
                <a:ea typeface="Calibri" pitchFamily="34" charset="-122"/>
                <a:cs typeface="Calibri" pitchFamily="34" charset="-120"/>
              </a:rPr>
              <a:t>and the charter</a:t>
            </a:r>
            <a:endParaRPr lang="en-US" sz="1150"/>
          </a:p>
        </p:txBody>
      </p:sp>
      <p:sp>
        <p:nvSpPr>
          <p:cNvPr id="23" name="Shape 18"/>
          <p:cNvSpPr/>
          <p:nvPr/>
        </p:nvSpPr>
        <p:spPr>
          <a:xfrm>
            <a:off x="9180576" y="3273552"/>
            <a:ext cx="384048" cy="274320"/>
          </a:xfrm>
          <a:prstGeom prst="rightArrow">
            <a:avLst/>
          </a:prstGeom>
          <a:solidFill>
            <a:srgbClr val="0F8B8D"/>
          </a:solidFill>
          <a:ln/>
        </p:spPr>
        <p:txBody>
          <a:bodyPr/>
          <a:lstStyle/>
          <a:p>
            <a:endParaRPr lang="en-US"/>
          </a:p>
        </p:txBody>
      </p:sp>
      <p:sp>
        <p:nvSpPr>
          <p:cNvPr id="24" name="Shape 19"/>
          <p:cNvSpPr/>
          <p:nvPr/>
        </p:nvSpPr>
        <p:spPr>
          <a:xfrm>
            <a:off x="9564624" y="2148840"/>
            <a:ext cx="2606040" cy="2514600"/>
          </a:xfrm>
          <a:prstGeom prst="roundRect">
            <a:avLst>
              <a:gd name="adj" fmla="val 3273"/>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25" name="Shape 20"/>
          <p:cNvSpPr/>
          <p:nvPr/>
        </p:nvSpPr>
        <p:spPr>
          <a:xfrm>
            <a:off x="10497312" y="2468880"/>
            <a:ext cx="731520" cy="731520"/>
          </a:xfrm>
          <a:prstGeom prst="ellipse">
            <a:avLst/>
          </a:prstGeom>
          <a:solidFill>
            <a:srgbClr val="142F47"/>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10672877" y="2644445"/>
            <a:ext cx="380390" cy="380390"/>
          </a:xfrm>
          <a:prstGeom prst="rect">
            <a:avLst/>
          </a:prstGeom>
        </p:spPr>
      </p:pic>
      <p:sp>
        <p:nvSpPr>
          <p:cNvPr id="27" name="Text 21"/>
          <p:cNvSpPr/>
          <p:nvPr/>
        </p:nvSpPr>
        <p:spPr>
          <a:xfrm>
            <a:off x="9701784" y="3346704"/>
            <a:ext cx="2331720" cy="384048"/>
          </a:xfrm>
          <a:prstGeom prst="rect">
            <a:avLst/>
          </a:prstGeom>
          <a:noFill/>
          <a:ln/>
        </p:spPr>
        <p:txBody>
          <a:bodyPr wrap="square" lIns="0" tIns="0" rIns="0" bIns="0" rtlCol="0" anchor="ctr"/>
          <a:lstStyle/>
          <a:p>
            <a:pPr marL="0" indent="0" algn="ctr">
              <a:buNone/>
            </a:pPr>
            <a:r>
              <a:rPr lang="en-US" sz="1550" b="1">
                <a:solidFill>
                  <a:srgbClr val="142F47"/>
                </a:solidFill>
                <a:latin typeface="Cambria" pitchFamily="34" charset="0"/>
                <a:ea typeface="Cambria" pitchFamily="34" charset="-122"/>
                <a:cs typeface="Cambria" pitchFamily="34" charset="-120"/>
              </a:rPr>
              <a:t>Production app</a:t>
            </a:r>
            <a:endParaRPr lang="en-US" sz="1550"/>
          </a:p>
        </p:txBody>
      </p:sp>
      <p:sp>
        <p:nvSpPr>
          <p:cNvPr id="28" name="Text 22"/>
          <p:cNvSpPr/>
          <p:nvPr/>
        </p:nvSpPr>
        <p:spPr>
          <a:xfrm>
            <a:off x="9701784" y="3749040"/>
            <a:ext cx="2331720" cy="731520"/>
          </a:xfrm>
          <a:prstGeom prst="rect">
            <a:avLst/>
          </a:prstGeom>
          <a:noFill/>
          <a:ln/>
        </p:spPr>
        <p:txBody>
          <a:bodyPr wrap="square" lIns="0" tIns="0" rIns="0" bIns="0" rtlCol="0" anchor="ctr"/>
          <a:lstStyle/>
          <a:p>
            <a:pPr marL="0" indent="0" algn="ctr">
              <a:lnSpc>
                <a:spcPct val="108000"/>
              </a:lnSpc>
              <a:buNone/>
            </a:pPr>
            <a:r>
              <a:rPr lang="en-US" sz="1150">
                <a:solidFill>
                  <a:srgbClr val="45586A"/>
                </a:solidFill>
                <a:latin typeface="Calibri" pitchFamily="34" charset="0"/>
                <a:ea typeface="Calibri" pitchFamily="34" charset="-122"/>
                <a:cs typeface="Calibri" pitchFamily="34" charset="-120"/>
              </a:rPr>
              <a:t>Real data, security,</a:t>
            </a:r>
            <a:endParaRPr lang="en-US" sz="1150"/>
          </a:p>
          <a:p>
            <a:pPr marL="0" indent="0" algn="ctr">
              <a:lnSpc>
                <a:spcPct val="108000"/>
              </a:lnSpc>
              <a:buNone/>
            </a:pPr>
            <a:r>
              <a:rPr lang="en-US" sz="1150">
                <a:solidFill>
                  <a:srgbClr val="45586A"/>
                </a:solidFill>
                <a:latin typeface="Calibri" pitchFamily="34" charset="0"/>
                <a:ea typeface="Calibri" pitchFamily="34" charset="-122"/>
                <a:cs typeface="Calibri" pitchFamily="34" charset="-120"/>
              </a:rPr>
              <a:t>integration, scale</a:t>
            </a:r>
            <a:endParaRPr lang="en-US" sz="1150"/>
          </a:p>
        </p:txBody>
      </p:sp>
      <p:sp>
        <p:nvSpPr>
          <p:cNvPr id="29" name="Text 23"/>
          <p:cNvSpPr/>
          <p:nvPr/>
        </p:nvSpPr>
        <p:spPr>
          <a:xfrm>
            <a:off x="8641080" y="1856232"/>
            <a:ext cx="1463040" cy="256032"/>
          </a:xfrm>
          <a:prstGeom prst="rect">
            <a:avLst/>
          </a:prstGeom>
          <a:noFill/>
          <a:ln/>
        </p:spPr>
        <p:txBody>
          <a:bodyPr wrap="square" lIns="0" tIns="0" rIns="0" bIns="0" rtlCol="0" anchor="ctr"/>
          <a:lstStyle/>
          <a:p>
            <a:pPr marL="0" indent="0" algn="ctr">
              <a:buNone/>
            </a:pPr>
            <a:r>
              <a:rPr lang="en-US" sz="1050" b="1" kern="0" spc="200">
                <a:solidFill>
                  <a:srgbClr val="DFA13F"/>
                </a:solidFill>
                <a:latin typeface="Calibri" pitchFamily="34" charset="0"/>
                <a:ea typeface="Calibri" pitchFamily="34" charset="-122"/>
                <a:cs typeface="Calibri" pitchFamily="34" charset="-120"/>
              </a:rPr>
              <a:t>“UPSIZING”</a:t>
            </a:r>
            <a:endParaRPr lang="en-US" sz="1050"/>
          </a:p>
        </p:txBody>
      </p:sp>
      <p:sp>
        <p:nvSpPr>
          <p:cNvPr id="30" name="Shape 24"/>
          <p:cNvSpPr/>
          <p:nvPr/>
        </p:nvSpPr>
        <p:spPr>
          <a:xfrm>
            <a:off x="1828800" y="5166360"/>
            <a:ext cx="8503920" cy="822960"/>
          </a:xfrm>
          <a:prstGeom prst="roundRect">
            <a:avLst>
              <a:gd name="adj" fmla="val 10000"/>
            </a:avLst>
          </a:prstGeom>
          <a:solidFill>
            <a:srgbClr val="F5F8F9"/>
          </a:solidFill>
          <a:ln w="12700">
            <a:solidFill>
              <a:srgbClr val="D9E4E7"/>
            </a:solidFill>
            <a:prstDash val="solid"/>
          </a:ln>
        </p:spPr>
        <p:txBody>
          <a:bodyPr/>
          <a:lstStyle/>
          <a:p>
            <a:endParaRPr lang="en-US"/>
          </a:p>
        </p:txBody>
      </p:sp>
      <p:sp>
        <p:nvSpPr>
          <p:cNvPr id="31" name="Text 25"/>
          <p:cNvSpPr/>
          <p:nvPr/>
        </p:nvSpPr>
        <p:spPr>
          <a:xfrm>
            <a:off x="1828800" y="5166360"/>
            <a:ext cx="8503920" cy="822960"/>
          </a:xfrm>
          <a:prstGeom prst="rect">
            <a:avLst/>
          </a:prstGeom>
          <a:noFill/>
          <a:ln/>
        </p:spPr>
        <p:txBody>
          <a:bodyPr wrap="square" lIns="0" tIns="0" rIns="0" bIns="0" rtlCol="0" anchor="ctr"/>
          <a:lstStyle/>
          <a:p>
            <a:pPr marL="0" indent="0" algn="ctr">
              <a:buNone/>
            </a:pPr>
            <a:r>
              <a:rPr lang="en-US" sz="1450" b="1">
                <a:solidFill>
                  <a:srgbClr val="142F47"/>
                </a:solidFill>
                <a:latin typeface="Calibri" pitchFamily="34" charset="0"/>
                <a:ea typeface="Calibri" pitchFamily="34" charset="-122"/>
                <a:cs typeface="Calibri" pitchFamily="34" charset="-120"/>
              </a:rPr>
              <a:t>The model is the requirements input, never the codebase. </a:t>
            </a:r>
            <a:r>
              <a:rPr lang="en-US" sz="1450">
                <a:solidFill>
                  <a:srgbClr val="45586A"/>
                </a:solidFill>
                <a:latin typeface="Calibri" pitchFamily="34" charset="0"/>
                <a:ea typeface="Calibri" pitchFamily="34" charset="-122"/>
                <a:cs typeface="Calibri" pitchFamily="34" charset="-120"/>
              </a:rPr>
              <a:t>Nobody ships your prototype.</a:t>
            </a:r>
            <a:endParaRPr lang="en-US" sz="14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1 · THE CASE</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What the development team receives</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9</a:t>
            </a:r>
            <a:endParaRPr lang="en-US" sz="900"/>
          </a:p>
        </p:txBody>
      </p:sp>
      <p:sp>
        <p:nvSpPr>
          <p:cNvPr id="6" name="Shape 4"/>
          <p:cNvSpPr/>
          <p:nvPr/>
        </p:nvSpPr>
        <p:spPr>
          <a:xfrm>
            <a:off x="594360" y="1783080"/>
            <a:ext cx="5394960" cy="4160520"/>
          </a:xfrm>
          <a:prstGeom prst="roundRect">
            <a:avLst>
              <a:gd name="adj" fmla="val 1978"/>
            </a:avLst>
          </a:prstGeom>
          <a:solidFill>
            <a:srgbClr val="F5F8F9"/>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7" name="Shape 5"/>
          <p:cNvSpPr/>
          <p:nvPr/>
        </p:nvSpPr>
        <p:spPr>
          <a:xfrm>
            <a:off x="914400" y="2057400"/>
            <a:ext cx="640080" cy="640080"/>
          </a:xfrm>
          <a:prstGeom prst="ellipse">
            <a:avLst/>
          </a:prstGeom>
          <a:solidFill>
            <a:srgbClr val="7C8B99"/>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68019" y="2211019"/>
            <a:ext cx="332842" cy="332842"/>
          </a:xfrm>
          <a:prstGeom prst="rect">
            <a:avLst/>
          </a:prstGeom>
        </p:spPr>
      </p:pic>
      <p:sp>
        <p:nvSpPr>
          <p:cNvPr id="9" name="Text 6"/>
          <p:cNvSpPr/>
          <p:nvPr/>
        </p:nvSpPr>
        <p:spPr>
          <a:xfrm>
            <a:off x="1737360" y="2121408"/>
            <a:ext cx="4023360" cy="502920"/>
          </a:xfrm>
          <a:prstGeom prst="rect">
            <a:avLst/>
          </a:prstGeom>
          <a:noFill/>
          <a:ln/>
        </p:spPr>
        <p:txBody>
          <a:bodyPr wrap="square" lIns="0" tIns="0" rIns="0" bIns="0" rtlCol="0" anchor="ctr"/>
          <a:lstStyle/>
          <a:p>
            <a:pPr marL="0" indent="0">
              <a:buNone/>
            </a:pPr>
            <a:r>
              <a:rPr lang="en-US" sz="1700" b="1">
                <a:solidFill>
                  <a:srgbClr val="5B6C7B"/>
                </a:solidFill>
                <a:latin typeface="Cambria" pitchFamily="34" charset="0"/>
                <a:ea typeface="Cambria" pitchFamily="34" charset="-122"/>
                <a:cs typeface="Cambria" pitchFamily="34" charset="-120"/>
              </a:rPr>
              <a:t>From a 30-page document</a:t>
            </a:r>
            <a:endParaRPr lang="en-US" sz="1700"/>
          </a:p>
        </p:txBody>
      </p:sp>
      <p:sp>
        <p:nvSpPr>
          <p:cNvPr id="10" name="Text 7"/>
          <p:cNvSpPr/>
          <p:nvPr/>
        </p:nvSpPr>
        <p:spPr>
          <a:xfrm>
            <a:off x="960120" y="2926080"/>
            <a:ext cx="4754880" cy="2834640"/>
          </a:xfrm>
          <a:prstGeom prst="rect">
            <a:avLst/>
          </a:prstGeom>
          <a:noFill/>
          <a:ln/>
        </p:spPr>
        <p:txBody>
          <a:bodyPr wrap="square" lIns="0" tIns="0" rIns="0" bIns="0" rtlCol="0" anchor="t"/>
          <a:lstStyle/>
          <a:p>
            <a:pPr marL="152400" indent="-152400">
              <a:lnSpc>
                <a:spcPct val="106000"/>
              </a:lnSpc>
              <a:spcAft>
                <a:spcPts val="900"/>
              </a:spcAft>
              <a:buSzPct val="100000"/>
              <a:buChar char="•"/>
            </a:pPr>
            <a:r>
              <a:rPr lang="en-US" sz="1300">
                <a:solidFill>
                  <a:srgbClr val="5B6C7B"/>
                </a:solidFill>
                <a:latin typeface="Calibri" pitchFamily="34" charset="0"/>
                <a:ea typeface="Calibri" pitchFamily="34" charset="-122"/>
                <a:cs typeface="Calibri" pitchFamily="34" charset="-120"/>
              </a:rPr>
              <a:t>Layouts in paragraphs. Each reader pictures them differently</a:t>
            </a:r>
            <a:endParaRPr lang="en-US" sz="1300"/>
          </a:p>
          <a:p>
            <a:pPr marL="152400" indent="-152400">
              <a:lnSpc>
                <a:spcPct val="106000"/>
              </a:lnSpc>
              <a:spcAft>
                <a:spcPts val="900"/>
              </a:spcAft>
              <a:buSzPct val="100000"/>
              <a:buChar char="•"/>
            </a:pPr>
            <a:r>
              <a:rPr lang="en-US" sz="1300">
                <a:solidFill>
                  <a:srgbClr val="5B6C7B"/>
                </a:solidFill>
                <a:latin typeface="Calibri" pitchFamily="34" charset="0"/>
                <a:ea typeface="Calibri" pitchFamily="34" charset="-122"/>
                <a:cs typeface="Calibri" pitchFamily="34" charset="-120"/>
              </a:rPr>
              <a:t>Workflows as numbered steps, untested and unclickable</a:t>
            </a:r>
            <a:endParaRPr lang="en-US" sz="1300"/>
          </a:p>
          <a:p>
            <a:pPr marL="152400" indent="-152400">
              <a:lnSpc>
                <a:spcPct val="106000"/>
              </a:lnSpc>
              <a:spcAft>
                <a:spcPts val="900"/>
              </a:spcAft>
              <a:buSzPct val="100000"/>
              <a:buChar char="•"/>
            </a:pPr>
            <a:r>
              <a:rPr lang="en-US" sz="1300">
                <a:solidFill>
                  <a:srgbClr val="5B6C7B"/>
                </a:solidFill>
                <a:latin typeface="Calibri" pitchFamily="34" charset="0"/>
                <a:ea typeface="Calibri" pitchFamily="34" charset="-122"/>
                <a:cs typeface="Calibri" pitchFamily="34" charset="-120"/>
              </a:rPr>
              <a:t>Edge cases that surface during development, or after</a:t>
            </a:r>
            <a:endParaRPr lang="en-US" sz="1300"/>
          </a:p>
          <a:p>
            <a:pPr marL="152400" indent="-152400">
              <a:lnSpc>
                <a:spcPct val="106000"/>
              </a:lnSpc>
              <a:spcAft>
                <a:spcPts val="900"/>
              </a:spcAft>
              <a:buSzPct val="100000"/>
              <a:buChar char="•"/>
            </a:pPr>
            <a:r>
              <a:rPr lang="en-US" sz="1300">
                <a:solidFill>
                  <a:srgbClr val="5B6C7B"/>
                </a:solidFill>
                <a:latin typeface="Calibri" pitchFamily="34" charset="0"/>
                <a:ea typeface="Calibri" pitchFamily="34" charset="-122"/>
                <a:cs typeface="Calibri" pitchFamily="34" charset="-120"/>
              </a:rPr>
              <a:t>Field lists without shapes, formats, or examples</a:t>
            </a:r>
            <a:endParaRPr lang="en-US" sz="1300"/>
          </a:p>
          <a:p>
            <a:pPr marL="152400" indent="-152400">
              <a:lnSpc>
                <a:spcPct val="106000"/>
              </a:lnSpc>
              <a:spcAft>
                <a:spcPts val="900"/>
              </a:spcAft>
              <a:buSzPct val="100000"/>
              <a:buChar char="•"/>
            </a:pPr>
            <a:r>
              <a:rPr lang="en-US" sz="1300">
                <a:solidFill>
                  <a:srgbClr val="5B6C7B"/>
                </a:solidFill>
                <a:latin typeface="Calibri" pitchFamily="34" charset="0"/>
                <a:ea typeface="Calibri" pitchFamily="34" charset="-122"/>
                <a:cs typeface="Calibri" pitchFamily="34" charset="-120"/>
              </a:rPr>
              <a:t>Weeks of clarification meetings to close the gaps</a:t>
            </a:r>
            <a:endParaRPr lang="en-US" sz="1300"/>
          </a:p>
        </p:txBody>
      </p:sp>
      <p:sp>
        <p:nvSpPr>
          <p:cNvPr id="11" name="Shape 8"/>
          <p:cNvSpPr/>
          <p:nvPr/>
        </p:nvSpPr>
        <p:spPr>
          <a:xfrm>
            <a:off x="6199632" y="1783080"/>
            <a:ext cx="5394960" cy="4160520"/>
          </a:xfrm>
          <a:prstGeom prst="roundRect">
            <a:avLst>
              <a:gd name="adj" fmla="val 1978"/>
            </a:avLst>
          </a:prstGeom>
          <a:solidFill>
            <a:srgbClr val="E4F2F2"/>
          </a:solidFill>
          <a:ln w="12700">
            <a:solidFill>
              <a:srgbClr val="CBE4E4"/>
            </a:solidFill>
            <a:prstDash val="solid"/>
          </a:ln>
          <a:effectLst>
            <a:outerShdw blurRad="88900" dist="25400" dir="5400000" algn="bl" rotWithShape="0">
              <a:srgbClr val="9FB1BC">
                <a:alpha val="30000"/>
              </a:srgbClr>
            </a:outerShdw>
          </a:effectLst>
        </p:spPr>
        <p:txBody>
          <a:bodyPr/>
          <a:lstStyle/>
          <a:p>
            <a:endParaRPr lang="en-US"/>
          </a:p>
        </p:txBody>
      </p:sp>
      <p:sp>
        <p:nvSpPr>
          <p:cNvPr id="12" name="Shape 9"/>
          <p:cNvSpPr/>
          <p:nvPr/>
        </p:nvSpPr>
        <p:spPr>
          <a:xfrm>
            <a:off x="6519672" y="2057400"/>
            <a:ext cx="640080" cy="640080"/>
          </a:xfrm>
          <a:prstGeom prst="ellipse">
            <a:avLst/>
          </a:prstGeom>
          <a:solidFill>
            <a:srgbClr val="0B6E70"/>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6673291" y="2211019"/>
            <a:ext cx="332842" cy="332842"/>
          </a:xfrm>
          <a:prstGeom prst="rect">
            <a:avLst/>
          </a:prstGeom>
        </p:spPr>
      </p:pic>
      <p:sp>
        <p:nvSpPr>
          <p:cNvPr id="14" name="Text 10"/>
          <p:cNvSpPr/>
          <p:nvPr/>
        </p:nvSpPr>
        <p:spPr>
          <a:xfrm>
            <a:off x="7342632" y="2121408"/>
            <a:ext cx="4023360" cy="502920"/>
          </a:xfrm>
          <a:prstGeom prst="rect">
            <a:avLst/>
          </a:prstGeom>
          <a:noFill/>
          <a:ln/>
        </p:spPr>
        <p:txBody>
          <a:bodyPr wrap="square" lIns="0" tIns="0" rIns="0" bIns="0" rtlCol="0" anchor="ctr"/>
          <a:lstStyle/>
          <a:p>
            <a:pPr marL="0" indent="0">
              <a:buNone/>
            </a:pPr>
            <a:r>
              <a:rPr lang="en-US" sz="1700" b="1">
                <a:solidFill>
                  <a:srgbClr val="142F47"/>
                </a:solidFill>
                <a:latin typeface="Cambria" pitchFamily="34" charset="0"/>
                <a:ea typeface="Cambria" pitchFamily="34" charset="-122"/>
                <a:cs typeface="Cambria" pitchFamily="34" charset="-120"/>
              </a:rPr>
              <a:t>From a working model</a:t>
            </a:r>
            <a:endParaRPr lang="en-US" sz="1700"/>
          </a:p>
        </p:txBody>
      </p:sp>
      <p:sp>
        <p:nvSpPr>
          <p:cNvPr id="15" name="Text 11"/>
          <p:cNvSpPr/>
          <p:nvPr/>
        </p:nvSpPr>
        <p:spPr>
          <a:xfrm>
            <a:off x="6565392" y="2926080"/>
            <a:ext cx="4754880" cy="2834640"/>
          </a:xfrm>
          <a:prstGeom prst="rect">
            <a:avLst/>
          </a:prstGeom>
          <a:noFill/>
          <a:ln/>
        </p:spPr>
        <p:txBody>
          <a:bodyPr wrap="square" lIns="0" tIns="0" rIns="0" bIns="0" rtlCol="0" anchor="t"/>
          <a:lstStyle/>
          <a:p>
            <a:pPr marL="152400" indent="-152400">
              <a:lnSpc>
                <a:spcPct val="106000"/>
              </a:lnSpc>
              <a:spcAft>
                <a:spcPts val="900"/>
              </a:spcAft>
              <a:buSzPct val="100000"/>
              <a:buChar char="•"/>
            </a:pPr>
            <a:r>
              <a:rPr lang="en-US" sz="1300">
                <a:solidFill>
                  <a:srgbClr val="20364A"/>
                </a:solidFill>
                <a:latin typeface="Calibri" pitchFamily="34" charset="0"/>
                <a:ea typeface="Calibri" pitchFamily="34" charset="-122"/>
                <a:cs typeface="Calibri" pitchFamily="34" charset="-120"/>
              </a:rPr>
              <a:t>Exact layouts, labels, and terminology, visible instead of described</a:t>
            </a:r>
            <a:endParaRPr lang="en-US" sz="1300"/>
          </a:p>
          <a:p>
            <a:pPr marL="152400" indent="-152400">
              <a:lnSpc>
                <a:spcPct val="106000"/>
              </a:lnSpc>
              <a:spcAft>
                <a:spcPts val="900"/>
              </a:spcAft>
              <a:buSzPct val="100000"/>
              <a:buChar char="•"/>
            </a:pPr>
            <a:r>
              <a:rPr lang="en-US" sz="1300">
                <a:solidFill>
                  <a:srgbClr val="20364A"/>
                </a:solidFill>
                <a:latin typeface="Calibri" pitchFamily="34" charset="0"/>
                <a:ea typeface="Calibri" pitchFamily="34" charset="-122"/>
                <a:cs typeface="Calibri" pitchFamily="34" charset="-120"/>
              </a:rPr>
              <a:t>Workflows you can click end to end before a line of real code</a:t>
            </a:r>
            <a:endParaRPr lang="en-US" sz="1300"/>
          </a:p>
          <a:p>
            <a:pPr marL="152400" indent="-152400">
              <a:lnSpc>
                <a:spcPct val="106000"/>
              </a:lnSpc>
              <a:spcAft>
                <a:spcPts val="900"/>
              </a:spcAft>
              <a:buSzPct val="100000"/>
              <a:buChar char="•"/>
            </a:pPr>
            <a:r>
              <a:rPr lang="en-US" sz="1300">
                <a:solidFill>
                  <a:srgbClr val="20364A"/>
                </a:solidFill>
                <a:latin typeface="Calibri" pitchFamily="34" charset="0"/>
                <a:ea typeface="Calibri" pitchFamily="34" charset="-122"/>
                <a:cs typeface="Calibri" pitchFamily="34" charset="-120"/>
              </a:rPr>
              <a:t>Empty, error, and success states already demonstrated</a:t>
            </a:r>
            <a:endParaRPr lang="en-US" sz="1300"/>
          </a:p>
          <a:p>
            <a:pPr marL="152400" indent="-152400">
              <a:lnSpc>
                <a:spcPct val="106000"/>
              </a:lnSpc>
              <a:spcAft>
                <a:spcPts val="900"/>
              </a:spcAft>
              <a:buSzPct val="100000"/>
              <a:buChar char="•"/>
            </a:pPr>
            <a:r>
              <a:rPr lang="en-US" sz="1300">
                <a:solidFill>
                  <a:srgbClr val="20364A"/>
                </a:solidFill>
                <a:latin typeface="Calibri" pitchFamily="34" charset="0"/>
                <a:ea typeface="Calibri" pitchFamily="34" charset="-122"/>
                <a:cs typeface="Calibri" pitchFamily="34" charset="-120"/>
              </a:rPr>
              <a:t>Data shapes readable straight from the fabricated rows</a:t>
            </a:r>
            <a:endParaRPr lang="en-US" sz="1300"/>
          </a:p>
          <a:p>
            <a:pPr marL="152400" indent="-152400">
              <a:lnSpc>
                <a:spcPct val="106000"/>
              </a:lnSpc>
              <a:spcAft>
                <a:spcPts val="900"/>
              </a:spcAft>
              <a:buSzPct val="100000"/>
              <a:buChar char="•"/>
            </a:pPr>
            <a:r>
              <a:rPr lang="en-US" sz="1300">
                <a:solidFill>
                  <a:srgbClr val="20364A"/>
                </a:solidFill>
                <a:latin typeface="Calibri" pitchFamily="34" charset="0"/>
                <a:ea typeface="Calibri" pitchFamily="34" charset="-122"/>
                <a:cs typeface="Calibri" pitchFamily="34" charset="-120"/>
              </a:rPr>
              <a:t>A first meeting about feasibility, not about meaning</a:t>
            </a:r>
            <a:endParaRPr lang="en-US" sz="13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1 · THE CASE</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The honest slide: what a model is not</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10</a:t>
            </a:r>
            <a:endParaRPr lang="en-US" sz="900"/>
          </a:p>
        </p:txBody>
      </p:sp>
      <p:sp>
        <p:nvSpPr>
          <p:cNvPr id="6" name="Shape 4"/>
          <p:cNvSpPr/>
          <p:nvPr/>
        </p:nvSpPr>
        <p:spPr>
          <a:xfrm>
            <a:off x="594360" y="1828800"/>
            <a:ext cx="2048256" cy="2651760"/>
          </a:xfrm>
          <a:prstGeom prst="roundRect">
            <a:avLst>
              <a:gd name="adj" fmla="val 401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7" name="Shape 5"/>
          <p:cNvSpPr/>
          <p:nvPr/>
        </p:nvSpPr>
        <p:spPr>
          <a:xfrm>
            <a:off x="1261872" y="2121408"/>
            <a:ext cx="713232" cy="713232"/>
          </a:xfrm>
          <a:prstGeom prst="ellipse">
            <a:avLst/>
          </a:prstGeom>
          <a:solidFill>
            <a:srgbClr val="DFA13F"/>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433048" y="2292584"/>
            <a:ext cx="370881" cy="370881"/>
          </a:xfrm>
          <a:prstGeom prst="rect">
            <a:avLst/>
          </a:prstGeom>
        </p:spPr>
      </p:pic>
      <p:sp>
        <p:nvSpPr>
          <p:cNvPr id="9" name="Text 6"/>
          <p:cNvSpPr/>
          <p:nvPr/>
        </p:nvSpPr>
        <p:spPr>
          <a:xfrm>
            <a:off x="685800" y="2999232"/>
            <a:ext cx="1865376" cy="384048"/>
          </a:xfrm>
          <a:prstGeom prst="rect">
            <a:avLst/>
          </a:prstGeom>
          <a:noFill/>
          <a:ln/>
        </p:spPr>
        <p:txBody>
          <a:bodyPr wrap="square" lIns="0" tIns="0" rIns="0" bIns="0" rtlCol="0" anchor="ctr"/>
          <a:lstStyle/>
          <a:p>
            <a:pPr marL="0" indent="0" algn="ctr">
              <a:buNone/>
            </a:pPr>
            <a:r>
              <a:rPr lang="en-US" sz="1450" b="1">
                <a:solidFill>
                  <a:srgbClr val="142F47"/>
                </a:solidFill>
                <a:latin typeface="Cambria" pitchFamily="34" charset="0"/>
                <a:ea typeface="Cambria" pitchFamily="34" charset="-122"/>
                <a:cs typeface="Cambria" pitchFamily="34" charset="-120"/>
              </a:rPr>
              <a:t>Not real data</a:t>
            </a:r>
            <a:endParaRPr lang="en-US" sz="1450"/>
          </a:p>
        </p:txBody>
      </p:sp>
      <p:sp>
        <p:nvSpPr>
          <p:cNvPr id="10" name="Text 7"/>
          <p:cNvSpPr/>
          <p:nvPr/>
        </p:nvSpPr>
        <p:spPr>
          <a:xfrm>
            <a:off x="713232" y="3401568"/>
            <a:ext cx="1810512" cy="960120"/>
          </a:xfrm>
          <a:prstGeom prst="rect">
            <a:avLst/>
          </a:prstGeom>
          <a:noFill/>
          <a:ln/>
        </p:spPr>
        <p:txBody>
          <a:bodyPr wrap="square" lIns="0" tIns="0" rIns="0" bIns="0" rtlCol="0" anchor="ctr"/>
          <a:lstStyle/>
          <a:p>
            <a:pPr marL="0" indent="0" algn="ctr">
              <a:lnSpc>
                <a:spcPct val="108000"/>
              </a:lnSpc>
              <a:buNone/>
            </a:pPr>
            <a:r>
              <a:rPr lang="en-US" sz="1050">
                <a:solidFill>
                  <a:srgbClr val="45586A"/>
                </a:solidFill>
                <a:latin typeface="Calibri" pitchFamily="34" charset="0"/>
                <a:ea typeface="Calibri" pitchFamily="34" charset="-122"/>
                <a:cs typeface="Calibri" pitchFamily="34" charset="-120"/>
              </a:rPr>
              <a:t>Fabricated rows only. Nothing from any production system.</a:t>
            </a:r>
            <a:endParaRPr lang="en-US" sz="1050"/>
          </a:p>
        </p:txBody>
      </p:sp>
      <p:sp>
        <p:nvSpPr>
          <p:cNvPr id="11" name="Shape 8"/>
          <p:cNvSpPr/>
          <p:nvPr/>
        </p:nvSpPr>
        <p:spPr>
          <a:xfrm>
            <a:off x="2830982" y="1828800"/>
            <a:ext cx="2048256" cy="2651760"/>
          </a:xfrm>
          <a:prstGeom prst="roundRect">
            <a:avLst>
              <a:gd name="adj" fmla="val 401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2" name="Shape 9"/>
          <p:cNvSpPr/>
          <p:nvPr/>
        </p:nvSpPr>
        <p:spPr>
          <a:xfrm>
            <a:off x="3498494" y="2121408"/>
            <a:ext cx="713232" cy="713232"/>
          </a:xfrm>
          <a:prstGeom prst="ellipse">
            <a:avLst/>
          </a:prstGeom>
          <a:solidFill>
            <a:srgbClr val="DFA13F"/>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3669670" y="2292584"/>
            <a:ext cx="370881" cy="370881"/>
          </a:xfrm>
          <a:prstGeom prst="rect">
            <a:avLst/>
          </a:prstGeom>
        </p:spPr>
      </p:pic>
      <p:sp>
        <p:nvSpPr>
          <p:cNvPr id="14" name="Text 10"/>
          <p:cNvSpPr/>
          <p:nvPr/>
        </p:nvSpPr>
        <p:spPr>
          <a:xfrm>
            <a:off x="2922422" y="2999232"/>
            <a:ext cx="1865376" cy="384048"/>
          </a:xfrm>
          <a:prstGeom prst="rect">
            <a:avLst/>
          </a:prstGeom>
          <a:noFill/>
          <a:ln/>
        </p:spPr>
        <p:txBody>
          <a:bodyPr wrap="square" lIns="0" tIns="0" rIns="0" bIns="0" rtlCol="0" anchor="ctr"/>
          <a:lstStyle/>
          <a:p>
            <a:pPr marL="0" indent="0" algn="ctr">
              <a:buNone/>
            </a:pPr>
            <a:r>
              <a:rPr lang="en-US" sz="1450" b="1">
                <a:solidFill>
                  <a:srgbClr val="142F47"/>
                </a:solidFill>
                <a:latin typeface="Cambria" pitchFamily="34" charset="0"/>
                <a:ea typeface="Cambria" pitchFamily="34" charset="-122"/>
                <a:cs typeface="Cambria" pitchFamily="34" charset="-120"/>
              </a:rPr>
              <a:t>Not secure</a:t>
            </a:r>
            <a:endParaRPr lang="en-US" sz="1450"/>
          </a:p>
        </p:txBody>
      </p:sp>
      <p:sp>
        <p:nvSpPr>
          <p:cNvPr id="15" name="Text 11"/>
          <p:cNvSpPr/>
          <p:nvPr/>
        </p:nvSpPr>
        <p:spPr>
          <a:xfrm>
            <a:off x="2949854" y="3401568"/>
            <a:ext cx="1810512" cy="960120"/>
          </a:xfrm>
          <a:prstGeom prst="rect">
            <a:avLst/>
          </a:prstGeom>
          <a:noFill/>
          <a:ln/>
        </p:spPr>
        <p:txBody>
          <a:bodyPr wrap="square" lIns="0" tIns="0" rIns="0" bIns="0" rtlCol="0" anchor="ctr"/>
          <a:lstStyle/>
          <a:p>
            <a:pPr marL="0" indent="0" algn="ctr">
              <a:lnSpc>
                <a:spcPct val="108000"/>
              </a:lnSpc>
              <a:buNone/>
            </a:pPr>
            <a:r>
              <a:rPr lang="en-US" sz="1050">
                <a:solidFill>
                  <a:srgbClr val="45586A"/>
                </a:solidFill>
                <a:latin typeface="Calibri" pitchFamily="34" charset="0"/>
                <a:ea typeface="Calibri" pitchFamily="34" charset="-122"/>
                <a:cs typeface="Calibri" pitchFamily="34" charset="-120"/>
              </a:rPr>
              <a:t>The login is fake. There is no auth, no permissions, no protection.</a:t>
            </a:r>
            <a:endParaRPr lang="en-US" sz="1050"/>
          </a:p>
        </p:txBody>
      </p:sp>
      <p:sp>
        <p:nvSpPr>
          <p:cNvPr id="16" name="Shape 12"/>
          <p:cNvSpPr/>
          <p:nvPr/>
        </p:nvSpPr>
        <p:spPr>
          <a:xfrm>
            <a:off x="5067605" y="1828800"/>
            <a:ext cx="2048256" cy="2651760"/>
          </a:xfrm>
          <a:prstGeom prst="roundRect">
            <a:avLst>
              <a:gd name="adj" fmla="val 401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7" name="Shape 13"/>
          <p:cNvSpPr/>
          <p:nvPr/>
        </p:nvSpPr>
        <p:spPr>
          <a:xfrm>
            <a:off x="5735117" y="2121408"/>
            <a:ext cx="713232" cy="713232"/>
          </a:xfrm>
          <a:prstGeom prst="ellipse">
            <a:avLst/>
          </a:prstGeom>
          <a:solidFill>
            <a:srgbClr val="DFA13F"/>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5906292" y="2292584"/>
            <a:ext cx="370881" cy="370881"/>
          </a:xfrm>
          <a:prstGeom prst="rect">
            <a:avLst/>
          </a:prstGeom>
        </p:spPr>
      </p:pic>
      <p:sp>
        <p:nvSpPr>
          <p:cNvPr id="19" name="Text 14"/>
          <p:cNvSpPr/>
          <p:nvPr/>
        </p:nvSpPr>
        <p:spPr>
          <a:xfrm>
            <a:off x="5159045" y="2999232"/>
            <a:ext cx="1865376" cy="384048"/>
          </a:xfrm>
          <a:prstGeom prst="rect">
            <a:avLst/>
          </a:prstGeom>
          <a:noFill/>
          <a:ln/>
        </p:spPr>
        <p:txBody>
          <a:bodyPr wrap="square" lIns="0" tIns="0" rIns="0" bIns="0" rtlCol="0" anchor="ctr"/>
          <a:lstStyle/>
          <a:p>
            <a:pPr marL="0" indent="0" algn="ctr">
              <a:buNone/>
            </a:pPr>
            <a:r>
              <a:rPr lang="en-US" sz="1450" b="1">
                <a:solidFill>
                  <a:srgbClr val="142F47"/>
                </a:solidFill>
                <a:latin typeface="Cambria" pitchFamily="34" charset="0"/>
                <a:ea typeface="Cambria" pitchFamily="34" charset="-122"/>
                <a:cs typeface="Cambria" pitchFamily="34" charset="-120"/>
              </a:rPr>
              <a:t>Not connected</a:t>
            </a:r>
            <a:endParaRPr lang="en-US" sz="1450"/>
          </a:p>
        </p:txBody>
      </p:sp>
      <p:sp>
        <p:nvSpPr>
          <p:cNvPr id="20" name="Text 15"/>
          <p:cNvSpPr/>
          <p:nvPr/>
        </p:nvSpPr>
        <p:spPr>
          <a:xfrm>
            <a:off x="5186477" y="3401568"/>
            <a:ext cx="1810512" cy="960120"/>
          </a:xfrm>
          <a:prstGeom prst="rect">
            <a:avLst/>
          </a:prstGeom>
          <a:noFill/>
          <a:ln/>
        </p:spPr>
        <p:txBody>
          <a:bodyPr wrap="square" lIns="0" tIns="0" rIns="0" bIns="0" rtlCol="0" anchor="ctr"/>
          <a:lstStyle/>
          <a:p>
            <a:pPr marL="0" indent="0" algn="ctr">
              <a:lnSpc>
                <a:spcPct val="108000"/>
              </a:lnSpc>
              <a:buNone/>
            </a:pPr>
            <a:r>
              <a:rPr lang="en-US" sz="1050">
                <a:solidFill>
                  <a:srgbClr val="45586A"/>
                </a:solidFill>
                <a:latin typeface="Calibri" pitchFamily="34" charset="0"/>
                <a:ea typeface="Calibri" pitchFamily="34" charset="-122"/>
                <a:cs typeface="Calibri" pitchFamily="34" charset="-120"/>
              </a:rPr>
              <a:t>No SAP, no APIs, no email. Every integration is simulated.</a:t>
            </a:r>
            <a:endParaRPr lang="en-US" sz="1050"/>
          </a:p>
        </p:txBody>
      </p:sp>
      <p:sp>
        <p:nvSpPr>
          <p:cNvPr id="21" name="Shape 16"/>
          <p:cNvSpPr/>
          <p:nvPr/>
        </p:nvSpPr>
        <p:spPr>
          <a:xfrm>
            <a:off x="7304227" y="1828800"/>
            <a:ext cx="2048256" cy="2651760"/>
          </a:xfrm>
          <a:prstGeom prst="roundRect">
            <a:avLst>
              <a:gd name="adj" fmla="val 401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22" name="Shape 17"/>
          <p:cNvSpPr/>
          <p:nvPr/>
        </p:nvSpPr>
        <p:spPr>
          <a:xfrm>
            <a:off x="7971739" y="2121408"/>
            <a:ext cx="713232" cy="713232"/>
          </a:xfrm>
          <a:prstGeom prst="ellipse">
            <a:avLst/>
          </a:prstGeom>
          <a:solidFill>
            <a:srgbClr val="DFA13F"/>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8142915" y="2292584"/>
            <a:ext cx="370881" cy="370881"/>
          </a:xfrm>
          <a:prstGeom prst="rect">
            <a:avLst/>
          </a:prstGeom>
        </p:spPr>
      </p:pic>
      <p:sp>
        <p:nvSpPr>
          <p:cNvPr id="24" name="Text 18"/>
          <p:cNvSpPr/>
          <p:nvPr/>
        </p:nvSpPr>
        <p:spPr>
          <a:xfrm>
            <a:off x="7395667" y="2999232"/>
            <a:ext cx="1865376" cy="384048"/>
          </a:xfrm>
          <a:prstGeom prst="rect">
            <a:avLst/>
          </a:prstGeom>
          <a:noFill/>
          <a:ln/>
        </p:spPr>
        <p:txBody>
          <a:bodyPr wrap="square" lIns="0" tIns="0" rIns="0" bIns="0" rtlCol="0" anchor="ctr"/>
          <a:lstStyle/>
          <a:p>
            <a:pPr marL="0" indent="0" algn="ctr">
              <a:buNone/>
            </a:pPr>
            <a:r>
              <a:rPr lang="en-US" sz="1450" b="1">
                <a:solidFill>
                  <a:srgbClr val="142F47"/>
                </a:solidFill>
                <a:latin typeface="Cambria" pitchFamily="34" charset="0"/>
                <a:ea typeface="Cambria" pitchFamily="34" charset="-122"/>
                <a:cs typeface="Cambria" pitchFamily="34" charset="-120"/>
              </a:rPr>
              <a:t>Not performant</a:t>
            </a:r>
            <a:endParaRPr lang="en-US" sz="1450"/>
          </a:p>
        </p:txBody>
      </p:sp>
      <p:sp>
        <p:nvSpPr>
          <p:cNvPr id="25" name="Text 19"/>
          <p:cNvSpPr/>
          <p:nvPr/>
        </p:nvSpPr>
        <p:spPr>
          <a:xfrm>
            <a:off x="7423099" y="3401568"/>
            <a:ext cx="1810512" cy="960120"/>
          </a:xfrm>
          <a:prstGeom prst="rect">
            <a:avLst/>
          </a:prstGeom>
          <a:noFill/>
          <a:ln/>
        </p:spPr>
        <p:txBody>
          <a:bodyPr wrap="square" lIns="0" tIns="0" rIns="0" bIns="0" rtlCol="0" anchor="ctr"/>
          <a:lstStyle/>
          <a:p>
            <a:pPr marL="0" indent="0" algn="ctr">
              <a:lnSpc>
                <a:spcPct val="108000"/>
              </a:lnSpc>
              <a:buNone/>
            </a:pPr>
            <a:r>
              <a:rPr lang="en-US" sz="1050">
                <a:solidFill>
                  <a:srgbClr val="45586A"/>
                </a:solidFill>
                <a:latin typeface="Calibri" pitchFamily="34" charset="0"/>
                <a:ea typeface="Calibri" pitchFamily="34" charset="-122"/>
                <a:cs typeface="Calibri" pitchFamily="34" charset="-120"/>
              </a:rPr>
              <a:t>Fifty fake rows prove a layout, not a query plan.</a:t>
            </a:r>
            <a:endParaRPr lang="en-US" sz="1050"/>
          </a:p>
        </p:txBody>
      </p:sp>
      <p:sp>
        <p:nvSpPr>
          <p:cNvPr id="26" name="Shape 20"/>
          <p:cNvSpPr/>
          <p:nvPr/>
        </p:nvSpPr>
        <p:spPr>
          <a:xfrm>
            <a:off x="9540850" y="1828800"/>
            <a:ext cx="2048256" cy="2651760"/>
          </a:xfrm>
          <a:prstGeom prst="roundRect">
            <a:avLst>
              <a:gd name="adj" fmla="val 401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27" name="Shape 21"/>
          <p:cNvSpPr/>
          <p:nvPr/>
        </p:nvSpPr>
        <p:spPr>
          <a:xfrm>
            <a:off x="10208362" y="2121408"/>
            <a:ext cx="713232" cy="713232"/>
          </a:xfrm>
          <a:prstGeom prst="ellipse">
            <a:avLst/>
          </a:prstGeom>
          <a:solidFill>
            <a:srgbClr val="DFA13F"/>
          </a:solidFill>
          <a:ln/>
        </p:spPr>
        <p:txBody>
          <a:bodyPr/>
          <a:lstStyle/>
          <a:p>
            <a:endParaRPr lang="en-US"/>
          </a:p>
        </p:txBody>
      </p:sp>
      <p:pic>
        <p:nvPicPr>
          <p:cNvPr id="28" name="Image 4" descr="preencoded.png"/>
          <p:cNvPicPr>
            <a:picLocks noChangeAspect="1"/>
          </p:cNvPicPr>
          <p:nvPr/>
        </p:nvPicPr>
        <p:blipFill>
          <a:blip r:embed="rId7"/>
          <a:stretch>
            <a:fillRect/>
          </a:stretch>
        </p:blipFill>
        <p:spPr>
          <a:xfrm>
            <a:off x="10379537" y="2292584"/>
            <a:ext cx="370881" cy="370881"/>
          </a:xfrm>
          <a:prstGeom prst="rect">
            <a:avLst/>
          </a:prstGeom>
        </p:spPr>
      </p:pic>
      <p:sp>
        <p:nvSpPr>
          <p:cNvPr id="29" name="Text 22"/>
          <p:cNvSpPr/>
          <p:nvPr/>
        </p:nvSpPr>
        <p:spPr>
          <a:xfrm>
            <a:off x="9632290" y="2999232"/>
            <a:ext cx="1865376" cy="384048"/>
          </a:xfrm>
          <a:prstGeom prst="rect">
            <a:avLst/>
          </a:prstGeom>
          <a:noFill/>
          <a:ln/>
        </p:spPr>
        <p:txBody>
          <a:bodyPr wrap="square" lIns="0" tIns="0" rIns="0" bIns="0" rtlCol="0" anchor="ctr"/>
          <a:lstStyle/>
          <a:p>
            <a:pPr marL="0" indent="0" algn="ctr">
              <a:buNone/>
            </a:pPr>
            <a:r>
              <a:rPr lang="en-US" sz="1450" b="1">
                <a:solidFill>
                  <a:srgbClr val="142F47"/>
                </a:solidFill>
                <a:latin typeface="Cambria" pitchFamily="34" charset="0"/>
                <a:ea typeface="Cambria" pitchFamily="34" charset="-122"/>
                <a:cs typeface="Cambria" pitchFamily="34" charset="-120"/>
              </a:rPr>
              <a:t>Not production code</a:t>
            </a:r>
            <a:endParaRPr lang="en-US" sz="1450"/>
          </a:p>
        </p:txBody>
      </p:sp>
      <p:sp>
        <p:nvSpPr>
          <p:cNvPr id="30" name="Text 23"/>
          <p:cNvSpPr/>
          <p:nvPr/>
        </p:nvSpPr>
        <p:spPr>
          <a:xfrm>
            <a:off x="9659722" y="3401568"/>
            <a:ext cx="1810512" cy="960120"/>
          </a:xfrm>
          <a:prstGeom prst="rect">
            <a:avLst/>
          </a:prstGeom>
          <a:noFill/>
          <a:ln/>
        </p:spPr>
        <p:txBody>
          <a:bodyPr wrap="square" lIns="0" tIns="0" rIns="0" bIns="0" rtlCol="0" anchor="ctr"/>
          <a:lstStyle/>
          <a:p>
            <a:pPr marL="0" indent="0" algn="ctr">
              <a:lnSpc>
                <a:spcPct val="108000"/>
              </a:lnSpc>
              <a:buNone/>
            </a:pPr>
            <a:r>
              <a:rPr lang="en-US" sz="1050">
                <a:solidFill>
                  <a:srgbClr val="45586A"/>
                </a:solidFill>
                <a:latin typeface="Calibri" pitchFamily="34" charset="0"/>
                <a:ea typeface="Calibri" pitchFamily="34" charset="-122"/>
                <a:cs typeface="Calibri" pitchFamily="34" charset="-120"/>
              </a:rPr>
              <a:t>The dev team rebuilds it properly, on the real stack.</a:t>
            </a:r>
            <a:endParaRPr lang="en-US" sz="1050"/>
          </a:p>
        </p:txBody>
      </p:sp>
      <p:sp>
        <p:nvSpPr>
          <p:cNvPr id="31" name="Shape 24"/>
          <p:cNvSpPr/>
          <p:nvPr/>
        </p:nvSpPr>
        <p:spPr>
          <a:xfrm>
            <a:off x="1371600" y="4983480"/>
            <a:ext cx="9418320" cy="914400"/>
          </a:xfrm>
          <a:prstGeom prst="roundRect">
            <a:avLst>
              <a:gd name="adj" fmla="val 9000"/>
            </a:avLst>
          </a:prstGeom>
          <a:solidFill>
            <a:srgbClr val="142F47"/>
          </a:solidFill>
          <a:ln/>
          <a:effectLst>
            <a:outerShdw blurRad="88900" dist="25400" dir="5400000" algn="bl" rotWithShape="0">
              <a:srgbClr val="9FB1BC">
                <a:alpha val="30000"/>
              </a:srgbClr>
            </a:outerShdw>
          </a:effectLst>
        </p:spPr>
        <p:txBody>
          <a:bodyPr/>
          <a:lstStyle/>
          <a:p>
            <a:endParaRPr lang="en-US"/>
          </a:p>
        </p:txBody>
      </p:sp>
      <p:sp>
        <p:nvSpPr>
          <p:cNvPr id="32" name="Text 25"/>
          <p:cNvSpPr/>
          <p:nvPr/>
        </p:nvSpPr>
        <p:spPr>
          <a:xfrm>
            <a:off x="1554480" y="4983480"/>
            <a:ext cx="9052560" cy="914400"/>
          </a:xfrm>
          <a:prstGeom prst="rect">
            <a:avLst/>
          </a:prstGeom>
          <a:noFill/>
          <a:ln/>
        </p:spPr>
        <p:txBody>
          <a:bodyPr wrap="square" lIns="0" tIns="0" rIns="0" bIns="0" rtlCol="0" anchor="ctr"/>
          <a:lstStyle/>
          <a:p>
            <a:pPr marL="0" indent="0">
              <a:lnSpc>
                <a:spcPct val="115000"/>
              </a:lnSpc>
              <a:buNone/>
            </a:pPr>
            <a:r>
              <a:rPr lang="en-US" sz="1450" b="1">
                <a:solidFill>
                  <a:srgbClr val="FFFFFF"/>
                </a:solidFill>
                <a:latin typeface="Calibri" pitchFamily="34" charset="0"/>
                <a:ea typeface="Calibri" pitchFamily="34" charset="-122"/>
                <a:cs typeface="Calibri" pitchFamily="34" charset="-120"/>
              </a:rPr>
              <a:t>All five are the upsizing, and the upsizing is real engineering.  </a:t>
            </a:r>
            <a:r>
              <a:rPr lang="en-US" sz="1450">
                <a:solidFill>
                  <a:srgbClr val="9FD9DA"/>
                </a:solidFill>
                <a:latin typeface="Calibri" pitchFamily="34" charset="0"/>
                <a:ea typeface="Calibri" pitchFamily="34" charset="-122"/>
                <a:cs typeface="Calibri" pitchFamily="34" charset="-120"/>
              </a:rPr>
              <a:t>The model decides what to build. Engineering decides how.</a:t>
            </a:r>
            <a:endParaRPr lang="en-US" sz="14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1 · THE CASE</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The hidden superpower: you find your own gaps</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11</a:t>
            </a:r>
            <a:endParaRPr lang="en-US" sz="900"/>
          </a:p>
        </p:txBody>
      </p:sp>
      <p:sp>
        <p:nvSpPr>
          <p:cNvPr id="6" name="Text 4"/>
          <p:cNvSpPr/>
          <p:nvPr/>
        </p:nvSpPr>
        <p:spPr>
          <a:xfrm>
            <a:off x="594360" y="1783080"/>
            <a:ext cx="5029200" cy="1371600"/>
          </a:xfrm>
          <a:prstGeom prst="rect">
            <a:avLst/>
          </a:prstGeom>
          <a:noFill/>
          <a:ln/>
        </p:spPr>
        <p:txBody>
          <a:bodyPr wrap="square" lIns="0" tIns="0" rIns="0" bIns="0" rtlCol="0" anchor="ctr"/>
          <a:lstStyle/>
          <a:p>
            <a:pPr marL="0" indent="0">
              <a:lnSpc>
                <a:spcPct val="118000"/>
              </a:lnSpc>
              <a:buNone/>
            </a:pPr>
            <a:r>
              <a:rPr lang="en-US" sz="1900" b="1">
                <a:solidFill>
                  <a:srgbClr val="142F47"/>
                </a:solidFill>
                <a:latin typeface="Cambria" pitchFamily="34" charset="0"/>
                <a:ea typeface="Cambria" pitchFamily="34" charset="-122"/>
                <a:cs typeface="Cambria" pitchFamily="34" charset="-120"/>
              </a:rPr>
              <a:t>The first person to click through the model is you. The model asks questions no document ever forced you to answer.</a:t>
            </a:r>
            <a:endParaRPr lang="en-US" sz="1900"/>
          </a:p>
        </p:txBody>
      </p:sp>
      <p:sp>
        <p:nvSpPr>
          <p:cNvPr id="7" name="Text 5"/>
          <p:cNvSpPr/>
          <p:nvPr/>
        </p:nvSpPr>
        <p:spPr>
          <a:xfrm>
            <a:off x="621792" y="3246120"/>
            <a:ext cx="4937760" cy="2651760"/>
          </a:xfrm>
          <a:prstGeom prst="rect">
            <a:avLst/>
          </a:prstGeom>
          <a:noFill/>
          <a:ln/>
        </p:spPr>
        <p:txBody>
          <a:bodyPr wrap="square" lIns="0" tIns="0" rIns="0" bIns="0" rtlCol="0" anchor="t"/>
          <a:lstStyle/>
          <a:p>
            <a:pPr marL="152400" indent="-152400">
              <a:lnSpc>
                <a:spcPct val="106000"/>
              </a:lnSpc>
              <a:spcAft>
                <a:spcPts val="1000"/>
              </a:spcAft>
              <a:buSzPct val="100000"/>
              <a:buChar char="•"/>
            </a:pPr>
            <a:r>
              <a:rPr lang="en-US" sz="1400">
                <a:solidFill>
                  <a:srgbClr val="45586A"/>
                </a:solidFill>
                <a:latin typeface="Calibri" pitchFamily="34" charset="0"/>
                <a:ea typeface="Calibri" pitchFamily="34" charset="-122"/>
                <a:cs typeface="Calibri" pitchFamily="34" charset="-120"/>
              </a:rPr>
              <a:t>What shows when the table has no rows yet?</a:t>
            </a:r>
            <a:endParaRPr lang="en-US" sz="1400"/>
          </a:p>
          <a:p>
            <a:pPr marL="152400" indent="-152400">
              <a:lnSpc>
                <a:spcPct val="106000"/>
              </a:lnSpc>
              <a:spcAft>
                <a:spcPts val="1000"/>
              </a:spcAft>
              <a:buSzPct val="100000"/>
              <a:buChar char="•"/>
            </a:pPr>
            <a:r>
              <a:rPr lang="en-US" sz="1400">
                <a:solidFill>
                  <a:srgbClr val="45586A"/>
                </a:solidFill>
                <a:latin typeface="Calibri" pitchFamily="34" charset="0"/>
                <a:ea typeface="Calibri" pitchFamily="34" charset="-122"/>
                <a:cs typeface="Calibri" pitchFamily="34" charset="-120"/>
              </a:rPr>
              <a:t>What happens to a notice with no assignee?</a:t>
            </a:r>
            <a:endParaRPr lang="en-US" sz="1400"/>
          </a:p>
          <a:p>
            <a:pPr marL="152400" indent="-152400">
              <a:lnSpc>
                <a:spcPct val="106000"/>
              </a:lnSpc>
              <a:spcAft>
                <a:spcPts val="1000"/>
              </a:spcAft>
              <a:buSzPct val="100000"/>
              <a:buChar char="•"/>
            </a:pPr>
            <a:r>
              <a:rPr lang="en-US" sz="1400">
                <a:solidFill>
                  <a:srgbClr val="45586A"/>
                </a:solidFill>
                <a:latin typeface="Calibri" pitchFamily="34" charset="0"/>
                <a:ea typeface="Calibri" pitchFamily="34" charset="-122"/>
                <a:cs typeface="Calibri" pitchFamily="34" charset="-120"/>
              </a:rPr>
              <a:t>Which statuses can follow which? Who can change them?</a:t>
            </a:r>
            <a:endParaRPr lang="en-US" sz="1400"/>
          </a:p>
          <a:p>
            <a:pPr marL="152400" indent="-152400">
              <a:lnSpc>
                <a:spcPct val="106000"/>
              </a:lnSpc>
              <a:spcAft>
                <a:spcPts val="1000"/>
              </a:spcAft>
              <a:buSzPct val="100000"/>
              <a:buChar char="•"/>
            </a:pPr>
            <a:r>
              <a:rPr lang="en-US" sz="1400">
                <a:solidFill>
                  <a:srgbClr val="45586A"/>
                </a:solidFill>
                <a:latin typeface="Calibri" pitchFamily="34" charset="0"/>
                <a:ea typeface="Calibri" pitchFamily="34" charset="-122"/>
                <a:cs typeface="Calibri" pitchFamily="34" charset="-120"/>
              </a:rPr>
              <a:t>What does an error actually say to the user?</a:t>
            </a:r>
            <a:endParaRPr lang="en-US" sz="1400"/>
          </a:p>
        </p:txBody>
      </p:sp>
      <p:sp>
        <p:nvSpPr>
          <p:cNvPr id="8" name="Text 6"/>
          <p:cNvSpPr/>
          <p:nvPr/>
        </p:nvSpPr>
        <p:spPr>
          <a:xfrm>
            <a:off x="621792" y="5212080"/>
            <a:ext cx="4937760" cy="914400"/>
          </a:xfrm>
          <a:prstGeom prst="rect">
            <a:avLst/>
          </a:prstGeom>
          <a:noFill/>
          <a:ln/>
        </p:spPr>
        <p:txBody>
          <a:bodyPr wrap="square" lIns="0" tIns="0" rIns="0" bIns="0" rtlCol="0" anchor="ctr"/>
          <a:lstStyle/>
          <a:p>
            <a:pPr marL="0" indent="0">
              <a:lnSpc>
                <a:spcPct val="115000"/>
              </a:lnSpc>
              <a:buNone/>
            </a:pPr>
            <a:r>
              <a:rPr lang="en-US" sz="1300" i="1">
                <a:solidFill>
                  <a:srgbClr val="0B6E70"/>
                </a:solidFill>
                <a:latin typeface="Calibri" pitchFamily="34" charset="0"/>
                <a:ea typeface="Calibri" pitchFamily="34" charset="-122"/>
                <a:cs typeface="Calibri" pitchFamily="34" charset="-120"/>
              </a:rPr>
              <a:t>These are requirements. You discover them by clicking, before development, at the cheapest possible moment to be wrong.</a:t>
            </a:r>
            <a:endParaRPr lang="en-US" sz="1300"/>
          </a:p>
        </p:txBody>
      </p:sp>
      <p:sp>
        <p:nvSpPr>
          <p:cNvPr id="9" name="Shape 7"/>
          <p:cNvSpPr/>
          <p:nvPr/>
        </p:nvSpPr>
        <p:spPr>
          <a:xfrm>
            <a:off x="6035040" y="1783080"/>
            <a:ext cx="5532120" cy="4206240"/>
          </a:xfrm>
          <a:prstGeom prst="roundRect">
            <a:avLst>
              <a:gd name="adj" fmla="val 1957"/>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0" name="Shape 8"/>
          <p:cNvSpPr/>
          <p:nvPr/>
        </p:nvSpPr>
        <p:spPr>
          <a:xfrm>
            <a:off x="6035040" y="1783080"/>
            <a:ext cx="5532120" cy="457200"/>
          </a:xfrm>
          <a:prstGeom prst="roundRect">
            <a:avLst>
              <a:gd name="adj" fmla="val 18000"/>
            </a:avLst>
          </a:prstGeom>
          <a:solidFill>
            <a:srgbClr val="EDF2F4"/>
          </a:solidFill>
          <a:ln w="12700">
            <a:solidFill>
              <a:srgbClr val="D9E4E7"/>
            </a:solidFill>
            <a:prstDash val="solid"/>
          </a:ln>
        </p:spPr>
        <p:txBody>
          <a:bodyPr/>
          <a:lstStyle/>
          <a:p>
            <a:endParaRPr lang="en-US"/>
          </a:p>
        </p:txBody>
      </p:sp>
      <p:sp>
        <p:nvSpPr>
          <p:cNvPr id="11" name="Shape 9"/>
          <p:cNvSpPr/>
          <p:nvPr/>
        </p:nvSpPr>
        <p:spPr>
          <a:xfrm>
            <a:off x="6263640" y="1947672"/>
            <a:ext cx="128016" cy="128016"/>
          </a:xfrm>
          <a:prstGeom prst="ellipse">
            <a:avLst/>
          </a:prstGeom>
          <a:solidFill>
            <a:srgbClr val="C24E42"/>
          </a:solidFill>
          <a:ln/>
        </p:spPr>
        <p:txBody>
          <a:bodyPr/>
          <a:lstStyle/>
          <a:p>
            <a:endParaRPr lang="en-US"/>
          </a:p>
        </p:txBody>
      </p:sp>
      <p:sp>
        <p:nvSpPr>
          <p:cNvPr id="12" name="Shape 10"/>
          <p:cNvSpPr/>
          <p:nvPr/>
        </p:nvSpPr>
        <p:spPr>
          <a:xfrm>
            <a:off x="6501384" y="1947672"/>
            <a:ext cx="128016" cy="128016"/>
          </a:xfrm>
          <a:prstGeom prst="ellipse">
            <a:avLst/>
          </a:prstGeom>
          <a:solidFill>
            <a:srgbClr val="D9A441"/>
          </a:solidFill>
          <a:ln/>
        </p:spPr>
        <p:txBody>
          <a:bodyPr/>
          <a:lstStyle/>
          <a:p>
            <a:endParaRPr lang="en-US"/>
          </a:p>
        </p:txBody>
      </p:sp>
      <p:sp>
        <p:nvSpPr>
          <p:cNvPr id="13" name="Shape 11"/>
          <p:cNvSpPr/>
          <p:nvPr/>
        </p:nvSpPr>
        <p:spPr>
          <a:xfrm>
            <a:off x="6739128" y="1947672"/>
            <a:ext cx="128016" cy="128016"/>
          </a:xfrm>
          <a:prstGeom prst="ellipse">
            <a:avLst/>
          </a:prstGeom>
          <a:solidFill>
            <a:srgbClr val="5FA45B"/>
          </a:solidFill>
          <a:ln/>
        </p:spPr>
        <p:txBody>
          <a:bodyPr/>
          <a:lstStyle/>
          <a:p>
            <a:endParaRPr lang="en-US"/>
          </a:p>
        </p:txBody>
      </p:sp>
      <p:sp>
        <p:nvSpPr>
          <p:cNvPr id="14" name="Text 12"/>
          <p:cNvSpPr/>
          <p:nvPr/>
        </p:nvSpPr>
        <p:spPr>
          <a:xfrm>
            <a:off x="7132320" y="1847088"/>
            <a:ext cx="4206240" cy="329184"/>
          </a:xfrm>
          <a:prstGeom prst="rect">
            <a:avLst/>
          </a:prstGeom>
          <a:noFill/>
          <a:ln/>
        </p:spPr>
        <p:txBody>
          <a:bodyPr wrap="square" lIns="0" tIns="0" rIns="0" bIns="0" rtlCol="0" anchor="ctr"/>
          <a:lstStyle/>
          <a:p>
            <a:pPr marL="0" indent="0">
              <a:buNone/>
            </a:pPr>
            <a:r>
              <a:rPr lang="en-US" sz="950">
                <a:solidFill>
                  <a:srgbClr val="7C8B99"/>
                </a:solidFill>
                <a:latin typeface="Courier New" pitchFamily="34" charset="0"/>
                <a:ea typeface="Courier New" pitchFamily="34" charset="-122"/>
                <a:cs typeface="Courier New" pitchFamily="34" charset="-120"/>
              </a:rPr>
              <a:t>state-tax-notice-tracker  ·  model.html</a:t>
            </a:r>
            <a:endParaRPr lang="en-US" sz="950"/>
          </a:p>
        </p:txBody>
      </p:sp>
      <p:sp>
        <p:nvSpPr>
          <p:cNvPr id="15" name="Text 13"/>
          <p:cNvSpPr/>
          <p:nvPr/>
        </p:nvSpPr>
        <p:spPr>
          <a:xfrm>
            <a:off x="6355080" y="2432304"/>
            <a:ext cx="2286000" cy="320040"/>
          </a:xfrm>
          <a:prstGeom prst="rect">
            <a:avLst/>
          </a:prstGeom>
          <a:noFill/>
          <a:ln/>
        </p:spPr>
        <p:txBody>
          <a:bodyPr wrap="square" lIns="0" tIns="0" rIns="0" bIns="0" rtlCol="0" anchor="ctr"/>
          <a:lstStyle/>
          <a:p>
            <a:pPr marL="0" indent="0">
              <a:buNone/>
            </a:pPr>
            <a:r>
              <a:rPr lang="en-US" sz="1300" b="1">
                <a:solidFill>
                  <a:srgbClr val="20364A"/>
                </a:solidFill>
                <a:latin typeface="Calibri" pitchFamily="34" charset="0"/>
                <a:ea typeface="Calibri" pitchFamily="34" charset="-122"/>
                <a:cs typeface="Calibri" pitchFamily="34" charset="-120"/>
              </a:rPr>
              <a:t>Notices</a:t>
            </a:r>
            <a:endParaRPr lang="en-US" sz="1300"/>
          </a:p>
        </p:txBody>
      </p:sp>
      <p:sp>
        <p:nvSpPr>
          <p:cNvPr id="16" name="Shape 14"/>
          <p:cNvSpPr/>
          <p:nvPr/>
        </p:nvSpPr>
        <p:spPr>
          <a:xfrm>
            <a:off x="9966960" y="2432304"/>
            <a:ext cx="1371600" cy="310896"/>
          </a:xfrm>
          <a:prstGeom prst="roundRect">
            <a:avLst>
              <a:gd name="adj" fmla="val 17647"/>
            </a:avLst>
          </a:prstGeom>
          <a:solidFill>
            <a:srgbClr val="E4F2F2"/>
          </a:solidFill>
          <a:ln w="12700">
            <a:solidFill>
              <a:srgbClr val="CBE4E4"/>
            </a:solidFill>
            <a:prstDash val="solid"/>
          </a:ln>
        </p:spPr>
        <p:txBody>
          <a:bodyPr/>
          <a:lstStyle/>
          <a:p>
            <a:endParaRPr lang="en-US"/>
          </a:p>
        </p:txBody>
      </p:sp>
      <p:sp>
        <p:nvSpPr>
          <p:cNvPr id="17" name="Text 15"/>
          <p:cNvSpPr/>
          <p:nvPr/>
        </p:nvSpPr>
        <p:spPr>
          <a:xfrm>
            <a:off x="9966960" y="2432304"/>
            <a:ext cx="1371600" cy="310896"/>
          </a:xfrm>
          <a:prstGeom prst="rect">
            <a:avLst/>
          </a:prstGeom>
          <a:noFill/>
          <a:ln/>
        </p:spPr>
        <p:txBody>
          <a:bodyPr wrap="square" lIns="0" tIns="0" rIns="0" bIns="0" rtlCol="0" anchor="ctr"/>
          <a:lstStyle/>
          <a:p>
            <a:pPr marL="0" indent="0" algn="ctr">
              <a:buNone/>
            </a:pPr>
            <a:r>
              <a:rPr lang="en-US" sz="900">
                <a:solidFill>
                  <a:srgbClr val="0B6E70"/>
                </a:solidFill>
                <a:latin typeface="Calibri" pitchFamily="34" charset="0"/>
                <a:ea typeface="Calibri" pitchFamily="34" charset="-122"/>
                <a:cs typeface="Calibri" pitchFamily="34" charset="-120"/>
              </a:rPr>
              <a:t>Filter: Overdue</a:t>
            </a:r>
            <a:endParaRPr lang="en-US" sz="900"/>
          </a:p>
        </p:txBody>
      </p:sp>
      <p:sp>
        <p:nvSpPr>
          <p:cNvPr id="18" name="Shape 16"/>
          <p:cNvSpPr/>
          <p:nvPr/>
        </p:nvSpPr>
        <p:spPr>
          <a:xfrm>
            <a:off x="6355080" y="2880360"/>
            <a:ext cx="4983480" cy="0"/>
          </a:xfrm>
          <a:prstGeom prst="line">
            <a:avLst/>
          </a:prstGeom>
          <a:noFill/>
          <a:ln w="12700">
            <a:solidFill>
              <a:srgbClr val="D9E4E7"/>
            </a:solidFill>
            <a:prstDash val="solid"/>
          </a:ln>
        </p:spPr>
        <p:txBody>
          <a:bodyPr/>
          <a:lstStyle/>
          <a:p>
            <a:endParaRPr lang="en-US"/>
          </a:p>
        </p:txBody>
      </p:sp>
      <p:sp>
        <p:nvSpPr>
          <p:cNvPr id="19" name="Shape 17"/>
          <p:cNvSpPr/>
          <p:nvPr/>
        </p:nvSpPr>
        <p:spPr>
          <a:xfrm>
            <a:off x="8485632" y="3291840"/>
            <a:ext cx="777240" cy="777240"/>
          </a:xfrm>
          <a:prstGeom prst="ellipse">
            <a:avLst/>
          </a:prstGeom>
          <a:solidFill>
            <a:srgbClr val="E7EEF1"/>
          </a:solidFill>
          <a:ln/>
        </p:spPr>
        <p:txBody>
          <a:bodyPr/>
          <a:lstStyle/>
          <a:p>
            <a:endParaRPr lang="en-US"/>
          </a:p>
        </p:txBody>
      </p:sp>
      <p:pic>
        <p:nvPicPr>
          <p:cNvPr id="20" name="Image 0" descr="preencoded.png"/>
          <p:cNvPicPr>
            <a:picLocks noChangeAspect="1"/>
          </p:cNvPicPr>
          <p:nvPr/>
        </p:nvPicPr>
        <p:blipFill>
          <a:blip r:embed="rId3"/>
          <a:stretch>
            <a:fillRect/>
          </a:stretch>
        </p:blipFill>
        <p:spPr>
          <a:xfrm>
            <a:off x="8672170" y="3478378"/>
            <a:ext cx="404165" cy="404165"/>
          </a:xfrm>
          <a:prstGeom prst="rect">
            <a:avLst/>
          </a:prstGeom>
        </p:spPr>
      </p:pic>
      <p:sp>
        <p:nvSpPr>
          <p:cNvPr id="21" name="Text 18"/>
          <p:cNvSpPr/>
          <p:nvPr/>
        </p:nvSpPr>
        <p:spPr>
          <a:xfrm>
            <a:off x="6766560" y="4224528"/>
            <a:ext cx="4114800" cy="365760"/>
          </a:xfrm>
          <a:prstGeom prst="rect">
            <a:avLst/>
          </a:prstGeom>
          <a:noFill/>
          <a:ln/>
        </p:spPr>
        <p:txBody>
          <a:bodyPr wrap="square" lIns="0" tIns="0" rIns="0" bIns="0" rtlCol="0" anchor="ctr"/>
          <a:lstStyle/>
          <a:p>
            <a:pPr marL="0" indent="0" algn="ctr">
              <a:buNone/>
            </a:pPr>
            <a:r>
              <a:rPr lang="en-US" sz="1400" b="1">
                <a:solidFill>
                  <a:srgbClr val="20364A"/>
                </a:solidFill>
                <a:latin typeface="Calibri" pitchFamily="34" charset="0"/>
                <a:ea typeface="Calibri" pitchFamily="34" charset="-122"/>
                <a:cs typeface="Calibri" pitchFamily="34" charset="-120"/>
              </a:rPr>
              <a:t>No notices match this filter</a:t>
            </a:r>
            <a:endParaRPr lang="en-US" sz="1400"/>
          </a:p>
        </p:txBody>
      </p:sp>
      <p:sp>
        <p:nvSpPr>
          <p:cNvPr id="22" name="Text 19"/>
          <p:cNvSpPr/>
          <p:nvPr/>
        </p:nvSpPr>
        <p:spPr>
          <a:xfrm>
            <a:off x="6766560" y="4590288"/>
            <a:ext cx="4114800" cy="502920"/>
          </a:xfrm>
          <a:prstGeom prst="rect">
            <a:avLst/>
          </a:prstGeom>
          <a:noFill/>
          <a:ln/>
        </p:spPr>
        <p:txBody>
          <a:bodyPr wrap="square" lIns="0" tIns="0" rIns="0" bIns="0" rtlCol="0" anchor="ctr"/>
          <a:lstStyle/>
          <a:p>
            <a:pPr marL="0" indent="0" algn="ctr">
              <a:buNone/>
            </a:pPr>
            <a:r>
              <a:rPr lang="en-US" sz="1100" i="1">
                <a:solidFill>
                  <a:srgbClr val="7C8B99"/>
                </a:solidFill>
                <a:latin typeface="Calibri" pitchFamily="34" charset="0"/>
                <a:ea typeface="Calibri" pitchFamily="34" charset="-122"/>
                <a:cs typeface="Calibri" pitchFamily="34" charset="-120"/>
              </a:rPr>
              <a:t>Is that a relief… or a problem someone should hear about?</a:t>
            </a:r>
            <a:endParaRPr lang="en-US" sz="1100"/>
          </a:p>
        </p:txBody>
      </p:sp>
      <p:sp>
        <p:nvSpPr>
          <p:cNvPr id="23" name="Shape 20"/>
          <p:cNvSpPr/>
          <p:nvPr/>
        </p:nvSpPr>
        <p:spPr>
          <a:xfrm>
            <a:off x="8092440" y="5138928"/>
            <a:ext cx="1554480" cy="384048"/>
          </a:xfrm>
          <a:prstGeom prst="roundRect">
            <a:avLst>
              <a:gd name="adj" fmla="val 19048"/>
            </a:avLst>
          </a:prstGeom>
          <a:solidFill>
            <a:srgbClr val="0F8B8D"/>
          </a:solidFill>
          <a:ln/>
        </p:spPr>
        <p:txBody>
          <a:bodyPr/>
          <a:lstStyle/>
          <a:p>
            <a:endParaRPr lang="en-US"/>
          </a:p>
        </p:txBody>
      </p:sp>
      <p:sp>
        <p:nvSpPr>
          <p:cNvPr id="24" name="Text 21"/>
          <p:cNvSpPr/>
          <p:nvPr/>
        </p:nvSpPr>
        <p:spPr>
          <a:xfrm>
            <a:off x="8092440" y="5138928"/>
            <a:ext cx="1554480"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Clear filters</a:t>
            </a:r>
            <a:endParaRPr lang="en-US" sz="10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142F47"/>
        </a:solidFill>
        <a:effectLst/>
      </p:bgPr>
    </p:bg>
    <p:spTree>
      <p:nvGrpSpPr>
        <p:cNvPr id="1" name=""/>
        <p:cNvGrpSpPr/>
        <p:nvPr/>
      </p:nvGrpSpPr>
      <p:grpSpPr>
        <a:xfrm>
          <a:off x="0" y="0"/>
          <a:ext cx="0" cy="0"/>
          <a:chOff x="0" y="0"/>
          <a:chExt cx="0" cy="0"/>
        </a:xfrm>
      </p:grpSpPr>
      <p:sp>
        <p:nvSpPr>
          <p:cNvPr id="2" name="Text 0"/>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3" name="Text 1"/>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12</a:t>
            </a:r>
            <a:endParaRPr lang="en-US" sz="900"/>
          </a:p>
        </p:txBody>
      </p:sp>
      <p:sp>
        <p:nvSpPr>
          <p:cNvPr id="4" name="Shape 2"/>
          <p:cNvSpPr/>
          <p:nvPr/>
        </p:nvSpPr>
        <p:spPr>
          <a:xfrm>
            <a:off x="9692640" y="-1920240"/>
            <a:ext cx="4937760" cy="4937760"/>
          </a:xfrm>
          <a:prstGeom prst="ellipse">
            <a:avLst/>
          </a:prstGeom>
          <a:solidFill>
            <a:srgbClr val="0F8B8D">
              <a:alpha val="14000"/>
            </a:srgbClr>
          </a:solidFill>
          <a:ln/>
        </p:spPr>
        <p:txBody>
          <a:bodyPr/>
          <a:lstStyle/>
          <a:p>
            <a:endParaRPr lang="en-US"/>
          </a:p>
        </p:txBody>
      </p:sp>
      <p:sp>
        <p:nvSpPr>
          <p:cNvPr id="5" name="Shape 3"/>
          <p:cNvSpPr/>
          <p:nvPr/>
        </p:nvSpPr>
        <p:spPr>
          <a:xfrm>
            <a:off x="10881360" y="4480560"/>
            <a:ext cx="3291840" cy="3291840"/>
          </a:xfrm>
          <a:prstGeom prst="ellipse">
            <a:avLst/>
          </a:prstGeom>
          <a:solidFill>
            <a:srgbClr val="DFA13F">
              <a:alpha val="10000"/>
            </a:srgbClr>
          </a:solidFill>
          <a:ln/>
        </p:spPr>
        <p:txBody>
          <a:bodyPr/>
          <a:lstStyle/>
          <a:p>
            <a:endParaRPr lang="en-US"/>
          </a:p>
        </p:txBody>
      </p:sp>
      <p:sp>
        <p:nvSpPr>
          <p:cNvPr id="6" name="Shape 4"/>
          <p:cNvSpPr/>
          <p:nvPr/>
        </p:nvSpPr>
        <p:spPr>
          <a:xfrm>
            <a:off x="-1463040" y="4937760"/>
            <a:ext cx="3840480" cy="3840480"/>
          </a:xfrm>
          <a:prstGeom prst="ellipse">
            <a:avLst/>
          </a:prstGeom>
          <a:solidFill>
            <a:srgbClr val="0F8B8D">
              <a:alpha val="10000"/>
            </a:srgbClr>
          </a:solidFill>
          <a:ln/>
        </p:spPr>
        <p:txBody>
          <a:bodyPr/>
          <a:lstStyle/>
          <a:p>
            <a:endParaRPr lang="en-US"/>
          </a:p>
        </p:txBody>
      </p:sp>
      <p:sp>
        <p:nvSpPr>
          <p:cNvPr id="7" name="Text 5"/>
          <p:cNvSpPr/>
          <p:nvPr/>
        </p:nvSpPr>
        <p:spPr>
          <a:xfrm>
            <a:off x="868680" y="1965960"/>
            <a:ext cx="3657600" cy="365760"/>
          </a:xfrm>
          <a:prstGeom prst="rect">
            <a:avLst/>
          </a:prstGeom>
          <a:noFill/>
          <a:ln/>
        </p:spPr>
        <p:txBody>
          <a:bodyPr wrap="square" lIns="0" tIns="0" rIns="0" bIns="0" rtlCol="0" anchor="ctr"/>
          <a:lstStyle/>
          <a:p>
            <a:pPr marL="0" indent="0">
              <a:buNone/>
            </a:pPr>
            <a:r>
              <a:rPr lang="en-US" sz="1400" b="1" kern="0" spc="400">
                <a:solidFill>
                  <a:srgbClr val="DFA13F"/>
                </a:solidFill>
                <a:latin typeface="Calibri" pitchFamily="34" charset="0"/>
                <a:ea typeface="Calibri" pitchFamily="34" charset="-122"/>
                <a:cs typeface="Calibri" pitchFamily="34" charset="-120"/>
              </a:rPr>
              <a:t>ACT 2</a:t>
            </a:r>
            <a:endParaRPr lang="en-US" sz="1400"/>
          </a:p>
        </p:txBody>
      </p:sp>
      <p:sp>
        <p:nvSpPr>
          <p:cNvPr id="8" name="Text 6"/>
          <p:cNvSpPr/>
          <p:nvPr/>
        </p:nvSpPr>
        <p:spPr>
          <a:xfrm>
            <a:off x="822960" y="2331720"/>
            <a:ext cx="10058400" cy="1005840"/>
          </a:xfrm>
          <a:prstGeom prst="rect">
            <a:avLst/>
          </a:prstGeom>
          <a:noFill/>
          <a:ln/>
        </p:spPr>
        <p:txBody>
          <a:bodyPr wrap="square" lIns="0" tIns="0" rIns="0" bIns="0" rtlCol="0" anchor="ctr"/>
          <a:lstStyle/>
          <a:p>
            <a:pPr marL="0" indent="0">
              <a:buNone/>
            </a:pPr>
            <a:r>
              <a:rPr lang="en-US" sz="5400" b="1">
                <a:solidFill>
                  <a:srgbClr val="FFFFFF"/>
                </a:solidFill>
                <a:latin typeface="Cambria" pitchFamily="34" charset="0"/>
                <a:ea typeface="Cambria" pitchFamily="34" charset="-122"/>
                <a:cs typeface="Cambria" pitchFamily="34" charset="-120"/>
              </a:rPr>
              <a:t>The Craft</a:t>
            </a:r>
            <a:endParaRPr lang="en-US" sz="5400"/>
          </a:p>
        </p:txBody>
      </p:sp>
      <p:sp>
        <p:nvSpPr>
          <p:cNvPr id="9" name="Text 7"/>
          <p:cNvSpPr/>
          <p:nvPr/>
        </p:nvSpPr>
        <p:spPr>
          <a:xfrm>
            <a:off x="868680" y="3520440"/>
            <a:ext cx="9601200" cy="914400"/>
          </a:xfrm>
          <a:prstGeom prst="rect">
            <a:avLst/>
          </a:prstGeom>
          <a:noFill/>
          <a:ln/>
        </p:spPr>
        <p:txBody>
          <a:bodyPr wrap="square" lIns="0" tIns="0" rIns="0" bIns="0" rtlCol="0" anchor="ctr"/>
          <a:lstStyle/>
          <a:p>
            <a:pPr marL="0" indent="0">
              <a:lnSpc>
                <a:spcPct val="120000"/>
              </a:lnSpc>
              <a:buNone/>
            </a:pPr>
            <a:r>
              <a:rPr lang="en-US" sz="1700">
                <a:solidFill>
                  <a:srgbClr val="C7D6DF"/>
                </a:solidFill>
                <a:latin typeface="Calibri" pitchFamily="34" charset="0"/>
                <a:ea typeface="Calibri" pitchFamily="34" charset="-122"/>
                <a:cs typeface="Calibri" pitchFamily="34" charset="-120"/>
              </a:rPr>
              <a:t>Building models with Claude Code Desktop: the habits that separate</a:t>
            </a:r>
            <a:endParaRPr lang="en-US" sz="1700"/>
          </a:p>
          <a:p>
            <a:pPr marL="0" indent="0">
              <a:lnSpc>
                <a:spcPct val="120000"/>
              </a:lnSpc>
              <a:buNone/>
            </a:pPr>
            <a:r>
              <a:rPr lang="en-US" sz="1700">
                <a:solidFill>
                  <a:srgbClr val="C7D6DF"/>
                </a:solidFill>
                <a:latin typeface="Calibri" pitchFamily="34" charset="0"/>
                <a:ea typeface="Calibri" pitchFamily="34" charset="-122"/>
                <a:cs typeface="Calibri" pitchFamily="34" charset="-120"/>
              </a:rPr>
              <a:t>a convincing model from a pretty screenshot.</a:t>
            </a:r>
            <a:endParaRPr lang="en-US" sz="17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2 · THE CRAFT</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Claude Code Desktop in ninety seconds</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13</a:t>
            </a:r>
            <a:endParaRPr lang="en-US" sz="900"/>
          </a:p>
        </p:txBody>
      </p:sp>
      <p:sp>
        <p:nvSpPr>
          <p:cNvPr id="6" name="Shape 4"/>
          <p:cNvSpPr/>
          <p:nvPr/>
        </p:nvSpPr>
        <p:spPr>
          <a:xfrm>
            <a:off x="594360" y="1783080"/>
            <a:ext cx="5367528" cy="1874520"/>
          </a:xfrm>
          <a:prstGeom prst="roundRect">
            <a:avLst>
              <a:gd name="adj" fmla="val 4390"/>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7" name="Shape 5"/>
          <p:cNvSpPr/>
          <p:nvPr/>
        </p:nvSpPr>
        <p:spPr>
          <a:xfrm>
            <a:off x="886968" y="2075688"/>
            <a:ext cx="658368" cy="658368"/>
          </a:xfrm>
          <a:prstGeom prst="ellipse">
            <a:avLst/>
          </a:prstGeom>
          <a:solidFill>
            <a:srgbClr val="0F8B8D"/>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44976" y="2233696"/>
            <a:ext cx="342351" cy="342351"/>
          </a:xfrm>
          <a:prstGeom prst="rect">
            <a:avLst/>
          </a:prstGeom>
        </p:spPr>
      </p:pic>
      <p:sp>
        <p:nvSpPr>
          <p:cNvPr id="9" name="Text 6"/>
          <p:cNvSpPr/>
          <p:nvPr/>
        </p:nvSpPr>
        <p:spPr>
          <a:xfrm>
            <a:off x="1737360" y="2057400"/>
            <a:ext cx="4069080" cy="685800"/>
          </a:xfrm>
          <a:prstGeom prst="rect">
            <a:avLst/>
          </a:prstGeom>
          <a:noFill/>
          <a:ln/>
        </p:spPr>
        <p:txBody>
          <a:bodyPr wrap="square" lIns="0" tIns="0" rIns="0" bIns="0" rtlCol="0" anchor="ctr"/>
          <a:lstStyle/>
          <a:p>
            <a:pPr marL="0" indent="0">
              <a:buNone/>
            </a:pPr>
            <a:r>
              <a:rPr lang="en-US" sz="1650" b="1">
                <a:solidFill>
                  <a:srgbClr val="142F47"/>
                </a:solidFill>
                <a:latin typeface="Cambria" pitchFamily="34" charset="0"/>
                <a:ea typeface="Cambria" pitchFamily="34" charset="-122"/>
                <a:cs typeface="Cambria" pitchFamily="34" charset="-120"/>
              </a:rPr>
              <a:t>An agent in an app</a:t>
            </a:r>
            <a:endParaRPr lang="en-US" sz="1650"/>
          </a:p>
        </p:txBody>
      </p:sp>
      <p:sp>
        <p:nvSpPr>
          <p:cNvPr id="10" name="Text 7"/>
          <p:cNvSpPr/>
          <p:nvPr/>
        </p:nvSpPr>
        <p:spPr>
          <a:xfrm>
            <a:off x="905256" y="2807208"/>
            <a:ext cx="4754880" cy="777240"/>
          </a:xfrm>
          <a:prstGeom prst="rect">
            <a:avLst/>
          </a:prstGeom>
          <a:noFill/>
          <a:ln/>
        </p:spPr>
        <p:txBody>
          <a:bodyPr wrap="square" lIns="0" tIns="0" rIns="0" bIns="0" rtlCol="0" anchor="ctr"/>
          <a:lstStyle/>
          <a:p>
            <a:pPr marL="0" indent="0">
              <a:lnSpc>
                <a:spcPct val="110000"/>
              </a:lnSpc>
              <a:buNone/>
            </a:pPr>
            <a:r>
              <a:rPr lang="en-US" sz="1250">
                <a:solidFill>
                  <a:srgbClr val="45586A"/>
                </a:solidFill>
                <a:latin typeface="Calibri" pitchFamily="34" charset="0"/>
                <a:ea typeface="Calibri" pitchFamily="34" charset="-122"/>
                <a:cs typeface="Calibri" pitchFamily="34" charset="-120"/>
              </a:rPr>
              <a:t>It looks like chat. It is not. Claude takes real actions in a real folder on your machine.</a:t>
            </a:r>
            <a:endParaRPr lang="en-US" sz="1250"/>
          </a:p>
        </p:txBody>
      </p:sp>
      <p:sp>
        <p:nvSpPr>
          <p:cNvPr id="11" name="Shape 8"/>
          <p:cNvSpPr/>
          <p:nvPr/>
        </p:nvSpPr>
        <p:spPr>
          <a:xfrm>
            <a:off x="6199632" y="1783080"/>
            <a:ext cx="5367528" cy="1874520"/>
          </a:xfrm>
          <a:prstGeom prst="roundRect">
            <a:avLst>
              <a:gd name="adj" fmla="val 4390"/>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2" name="Shape 9"/>
          <p:cNvSpPr/>
          <p:nvPr/>
        </p:nvSpPr>
        <p:spPr>
          <a:xfrm>
            <a:off x="6492240" y="2075688"/>
            <a:ext cx="658368" cy="658368"/>
          </a:xfrm>
          <a:prstGeom prst="ellipse">
            <a:avLst/>
          </a:prstGeom>
          <a:solidFill>
            <a:srgbClr val="0F8B8D"/>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6650248" y="2233696"/>
            <a:ext cx="342351" cy="342351"/>
          </a:xfrm>
          <a:prstGeom prst="rect">
            <a:avLst/>
          </a:prstGeom>
        </p:spPr>
      </p:pic>
      <p:sp>
        <p:nvSpPr>
          <p:cNvPr id="14" name="Text 10"/>
          <p:cNvSpPr/>
          <p:nvPr/>
        </p:nvSpPr>
        <p:spPr>
          <a:xfrm>
            <a:off x="7342632" y="2057400"/>
            <a:ext cx="4069080" cy="685800"/>
          </a:xfrm>
          <a:prstGeom prst="rect">
            <a:avLst/>
          </a:prstGeom>
          <a:noFill/>
          <a:ln/>
        </p:spPr>
        <p:txBody>
          <a:bodyPr wrap="square" lIns="0" tIns="0" rIns="0" bIns="0" rtlCol="0" anchor="ctr"/>
          <a:lstStyle/>
          <a:p>
            <a:pPr marL="0" indent="0">
              <a:buNone/>
            </a:pPr>
            <a:r>
              <a:rPr lang="en-US" sz="1650" b="1">
                <a:solidFill>
                  <a:srgbClr val="142F47"/>
                </a:solidFill>
                <a:latin typeface="Cambria" pitchFamily="34" charset="0"/>
                <a:ea typeface="Cambria" pitchFamily="34" charset="-122"/>
                <a:cs typeface="Cambria" pitchFamily="34" charset="-120"/>
              </a:rPr>
              <a:t>It works one folder</a:t>
            </a:r>
            <a:endParaRPr lang="en-US" sz="1650"/>
          </a:p>
        </p:txBody>
      </p:sp>
      <p:sp>
        <p:nvSpPr>
          <p:cNvPr id="15" name="Text 11"/>
          <p:cNvSpPr/>
          <p:nvPr/>
        </p:nvSpPr>
        <p:spPr>
          <a:xfrm>
            <a:off x="6510528" y="2807208"/>
            <a:ext cx="4754880" cy="777240"/>
          </a:xfrm>
          <a:prstGeom prst="rect">
            <a:avLst/>
          </a:prstGeom>
          <a:noFill/>
          <a:ln/>
        </p:spPr>
        <p:txBody>
          <a:bodyPr wrap="square" lIns="0" tIns="0" rIns="0" bIns="0" rtlCol="0" anchor="ctr"/>
          <a:lstStyle/>
          <a:p>
            <a:pPr marL="0" indent="0">
              <a:lnSpc>
                <a:spcPct val="110000"/>
              </a:lnSpc>
              <a:buNone/>
            </a:pPr>
            <a:r>
              <a:rPr lang="en-US" sz="1250">
                <a:solidFill>
                  <a:srgbClr val="45586A"/>
                </a:solidFill>
                <a:latin typeface="Calibri" pitchFamily="34" charset="0"/>
                <a:ea typeface="Calibri" pitchFamily="34" charset="-122"/>
                <a:cs typeface="Calibri" pitchFamily="34" charset="-120"/>
              </a:rPr>
              <a:t>It reads and writes files in the folder you pick at session start. That folder is the workspace.</a:t>
            </a:r>
            <a:endParaRPr lang="en-US" sz="1250"/>
          </a:p>
        </p:txBody>
      </p:sp>
      <p:sp>
        <p:nvSpPr>
          <p:cNvPr id="16" name="Shape 12"/>
          <p:cNvSpPr/>
          <p:nvPr/>
        </p:nvSpPr>
        <p:spPr>
          <a:xfrm>
            <a:off x="594360" y="3886200"/>
            <a:ext cx="5367528" cy="1874520"/>
          </a:xfrm>
          <a:prstGeom prst="roundRect">
            <a:avLst>
              <a:gd name="adj" fmla="val 4390"/>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7" name="Shape 13"/>
          <p:cNvSpPr/>
          <p:nvPr/>
        </p:nvSpPr>
        <p:spPr>
          <a:xfrm>
            <a:off x="886968" y="4178808"/>
            <a:ext cx="658368" cy="658368"/>
          </a:xfrm>
          <a:prstGeom prst="ellipse">
            <a:avLst/>
          </a:prstGeom>
          <a:solidFill>
            <a:srgbClr val="0F8B8D"/>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1044976" y="4336816"/>
            <a:ext cx="342351" cy="342351"/>
          </a:xfrm>
          <a:prstGeom prst="rect">
            <a:avLst/>
          </a:prstGeom>
        </p:spPr>
      </p:pic>
      <p:sp>
        <p:nvSpPr>
          <p:cNvPr id="19" name="Text 14"/>
          <p:cNvSpPr/>
          <p:nvPr/>
        </p:nvSpPr>
        <p:spPr>
          <a:xfrm>
            <a:off x="1737360" y="4160520"/>
            <a:ext cx="4069080" cy="685800"/>
          </a:xfrm>
          <a:prstGeom prst="rect">
            <a:avLst/>
          </a:prstGeom>
          <a:noFill/>
          <a:ln/>
        </p:spPr>
        <p:txBody>
          <a:bodyPr wrap="square" lIns="0" tIns="0" rIns="0" bIns="0" rtlCol="0" anchor="ctr"/>
          <a:lstStyle/>
          <a:p>
            <a:pPr marL="0" indent="0">
              <a:buNone/>
            </a:pPr>
            <a:r>
              <a:rPr lang="en-US" sz="1650" b="1">
                <a:solidFill>
                  <a:srgbClr val="142F47"/>
                </a:solidFill>
                <a:latin typeface="Cambria" pitchFamily="34" charset="0"/>
                <a:ea typeface="Cambria" pitchFamily="34" charset="-122"/>
                <a:cs typeface="Cambria" pitchFamily="34" charset="-120"/>
              </a:rPr>
              <a:t>You talk, it edits</a:t>
            </a:r>
            <a:endParaRPr lang="en-US" sz="1650"/>
          </a:p>
        </p:txBody>
      </p:sp>
      <p:sp>
        <p:nvSpPr>
          <p:cNvPr id="20" name="Text 15"/>
          <p:cNvSpPr/>
          <p:nvPr/>
        </p:nvSpPr>
        <p:spPr>
          <a:xfrm>
            <a:off x="905256" y="4910328"/>
            <a:ext cx="4754880" cy="777240"/>
          </a:xfrm>
          <a:prstGeom prst="rect">
            <a:avLst/>
          </a:prstGeom>
          <a:noFill/>
          <a:ln/>
        </p:spPr>
        <p:txBody>
          <a:bodyPr wrap="square" lIns="0" tIns="0" rIns="0" bIns="0" rtlCol="0" anchor="ctr"/>
          <a:lstStyle/>
          <a:p>
            <a:pPr marL="0" indent="0">
              <a:lnSpc>
                <a:spcPct val="110000"/>
              </a:lnSpc>
              <a:buNone/>
            </a:pPr>
            <a:r>
              <a:rPr lang="en-US" sz="1250">
                <a:solidFill>
                  <a:srgbClr val="45586A"/>
                </a:solidFill>
                <a:latin typeface="Calibri" pitchFamily="34" charset="0"/>
                <a:ea typeface="Calibri" pitchFamily="34" charset="-122"/>
                <a:cs typeface="Calibri" pitchFamily="34" charset="-120"/>
              </a:rPr>
              <a:t>Plain English in, file changes out. Every change is visible, reviewable, and reversible.</a:t>
            </a:r>
            <a:endParaRPr lang="en-US" sz="1250"/>
          </a:p>
        </p:txBody>
      </p:sp>
      <p:sp>
        <p:nvSpPr>
          <p:cNvPr id="21" name="Shape 16"/>
          <p:cNvSpPr/>
          <p:nvPr/>
        </p:nvSpPr>
        <p:spPr>
          <a:xfrm>
            <a:off x="6199632" y="3886200"/>
            <a:ext cx="5367528" cy="1874520"/>
          </a:xfrm>
          <a:prstGeom prst="roundRect">
            <a:avLst>
              <a:gd name="adj" fmla="val 4390"/>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22" name="Shape 17"/>
          <p:cNvSpPr/>
          <p:nvPr/>
        </p:nvSpPr>
        <p:spPr>
          <a:xfrm>
            <a:off x="6492240" y="4178808"/>
            <a:ext cx="658368" cy="658368"/>
          </a:xfrm>
          <a:prstGeom prst="ellipse">
            <a:avLst/>
          </a:prstGeom>
          <a:solidFill>
            <a:srgbClr val="0F8B8D"/>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6650248" y="4336816"/>
            <a:ext cx="342351" cy="342351"/>
          </a:xfrm>
          <a:prstGeom prst="rect">
            <a:avLst/>
          </a:prstGeom>
        </p:spPr>
      </p:pic>
      <p:sp>
        <p:nvSpPr>
          <p:cNvPr id="24" name="Text 18"/>
          <p:cNvSpPr/>
          <p:nvPr/>
        </p:nvSpPr>
        <p:spPr>
          <a:xfrm>
            <a:off x="7342632" y="4160520"/>
            <a:ext cx="4069080" cy="685800"/>
          </a:xfrm>
          <a:prstGeom prst="rect">
            <a:avLst/>
          </a:prstGeom>
          <a:noFill/>
          <a:ln/>
        </p:spPr>
        <p:txBody>
          <a:bodyPr wrap="square" lIns="0" tIns="0" rIns="0" bIns="0" rtlCol="0" anchor="ctr"/>
          <a:lstStyle/>
          <a:p>
            <a:pPr marL="0" indent="0">
              <a:buNone/>
            </a:pPr>
            <a:r>
              <a:rPr lang="en-US" sz="1650" b="1">
                <a:solidFill>
                  <a:srgbClr val="142F47"/>
                </a:solidFill>
                <a:latin typeface="Cambria" pitchFamily="34" charset="0"/>
                <a:ea typeface="Cambria" pitchFamily="34" charset="-122"/>
                <a:cs typeface="Cambria" pitchFamily="34" charset="-120"/>
              </a:rPr>
              <a:t>You stay the reviewer</a:t>
            </a:r>
            <a:endParaRPr lang="en-US" sz="1650"/>
          </a:p>
        </p:txBody>
      </p:sp>
      <p:sp>
        <p:nvSpPr>
          <p:cNvPr id="25" name="Text 19"/>
          <p:cNvSpPr/>
          <p:nvPr/>
        </p:nvSpPr>
        <p:spPr>
          <a:xfrm>
            <a:off x="6510528" y="4910328"/>
            <a:ext cx="4754880" cy="777240"/>
          </a:xfrm>
          <a:prstGeom prst="rect">
            <a:avLst/>
          </a:prstGeom>
          <a:noFill/>
          <a:ln/>
        </p:spPr>
        <p:txBody>
          <a:bodyPr wrap="square" lIns="0" tIns="0" rIns="0" bIns="0" rtlCol="0" anchor="ctr"/>
          <a:lstStyle/>
          <a:p>
            <a:pPr marL="0" indent="0">
              <a:lnSpc>
                <a:spcPct val="110000"/>
              </a:lnSpc>
              <a:buNone/>
            </a:pPr>
            <a:r>
              <a:rPr lang="en-US" sz="1250">
                <a:solidFill>
                  <a:srgbClr val="45586A"/>
                </a:solidFill>
                <a:latin typeface="Calibri" pitchFamily="34" charset="0"/>
                <a:ea typeface="Calibri" pitchFamily="34" charset="-122"/>
                <a:cs typeface="Calibri" pitchFamily="34" charset="-120"/>
              </a:rPr>
              <a:t>It drafts fast and confidently, and sometimes confidently wrong. Your eyes close the loop.</a:t>
            </a:r>
            <a:endParaRPr lang="en-US" sz="1250"/>
          </a:p>
        </p:txBody>
      </p:sp>
      <p:sp>
        <p:nvSpPr>
          <p:cNvPr id="26" name="Text 20"/>
          <p:cNvSpPr/>
          <p:nvPr/>
        </p:nvSpPr>
        <p:spPr>
          <a:xfrm>
            <a:off x="594360" y="5897880"/>
            <a:ext cx="10972800" cy="365760"/>
          </a:xfrm>
          <a:prstGeom prst="rect">
            <a:avLst/>
          </a:prstGeom>
          <a:noFill/>
          <a:ln/>
        </p:spPr>
        <p:txBody>
          <a:bodyPr wrap="square" lIns="0" tIns="0" rIns="0" bIns="0" rtlCol="0" anchor="ctr"/>
          <a:lstStyle/>
          <a:p>
            <a:pPr marL="0" indent="0">
              <a:buNone/>
            </a:pPr>
            <a:r>
              <a:rPr lang="en-US" sz="1300" i="1">
                <a:solidFill>
                  <a:srgbClr val="7C8B99"/>
                </a:solidFill>
                <a:latin typeface="Calibri" pitchFamily="34" charset="0"/>
                <a:ea typeface="Calibri" pitchFamily="34" charset="-122"/>
                <a:cs typeface="Calibri" pitchFamily="34" charset="-120"/>
              </a:rPr>
              <a:t>For today, that is the whole theory. Everything else is technique.</a:t>
            </a:r>
            <a:endParaRPr lang="en-US" sz="13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2 · THE CRAFT</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Set up the session: one model, one clean folder</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14</a:t>
            </a:r>
            <a:endParaRPr lang="en-US" sz="900"/>
          </a:p>
        </p:txBody>
      </p:sp>
      <p:sp>
        <p:nvSpPr>
          <p:cNvPr id="6" name="Shape 4"/>
          <p:cNvSpPr/>
          <p:nvPr/>
        </p:nvSpPr>
        <p:spPr>
          <a:xfrm>
            <a:off x="594360" y="1783080"/>
            <a:ext cx="3566160" cy="3017520"/>
          </a:xfrm>
          <a:prstGeom prst="roundRect">
            <a:avLst>
              <a:gd name="adj" fmla="val 2727"/>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7" name="Text 5"/>
          <p:cNvSpPr/>
          <p:nvPr/>
        </p:nvSpPr>
        <p:spPr>
          <a:xfrm>
            <a:off x="3337560" y="1920240"/>
            <a:ext cx="685800" cy="822960"/>
          </a:xfrm>
          <a:prstGeom prst="rect">
            <a:avLst/>
          </a:prstGeom>
          <a:noFill/>
          <a:ln/>
        </p:spPr>
        <p:txBody>
          <a:bodyPr wrap="square" lIns="0" tIns="0" rIns="0" bIns="0" rtlCol="0" anchor="ctr"/>
          <a:lstStyle/>
          <a:p>
            <a:pPr marL="0" indent="0" algn="r">
              <a:buNone/>
            </a:pPr>
            <a:r>
              <a:rPr lang="en-US" sz="4600" b="1">
                <a:solidFill>
                  <a:srgbClr val="D3E2E5"/>
                </a:solidFill>
                <a:latin typeface="Cambria" pitchFamily="34" charset="0"/>
                <a:ea typeface="Cambria" pitchFamily="34" charset="-122"/>
                <a:cs typeface="Cambria" pitchFamily="34" charset="-120"/>
              </a:rPr>
              <a:t>1</a:t>
            </a:r>
            <a:endParaRPr lang="en-US" sz="4600"/>
          </a:p>
        </p:txBody>
      </p:sp>
      <p:sp>
        <p:nvSpPr>
          <p:cNvPr id="8" name="Shape 6"/>
          <p:cNvSpPr/>
          <p:nvPr/>
        </p:nvSpPr>
        <p:spPr>
          <a:xfrm>
            <a:off x="896112" y="2057400"/>
            <a:ext cx="713232" cy="713232"/>
          </a:xfrm>
          <a:prstGeom prst="ellipse">
            <a:avLst/>
          </a:prstGeom>
          <a:solidFill>
            <a:srgbClr val="0F8B8D"/>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1067288" y="2228576"/>
            <a:ext cx="370881" cy="370881"/>
          </a:xfrm>
          <a:prstGeom prst="rect">
            <a:avLst/>
          </a:prstGeom>
        </p:spPr>
      </p:pic>
      <p:sp>
        <p:nvSpPr>
          <p:cNvPr id="10" name="Text 7"/>
          <p:cNvSpPr/>
          <p:nvPr/>
        </p:nvSpPr>
        <p:spPr>
          <a:xfrm>
            <a:off x="896112" y="3017520"/>
            <a:ext cx="3017520" cy="640080"/>
          </a:xfrm>
          <a:prstGeom prst="rect">
            <a:avLst/>
          </a:prstGeom>
          <a:noFill/>
          <a:ln/>
        </p:spPr>
        <p:txBody>
          <a:bodyPr wrap="square" lIns="0" tIns="0" rIns="0" bIns="0" rtlCol="0" anchor="ctr"/>
          <a:lstStyle/>
          <a:p>
            <a:pPr marL="0" indent="0">
              <a:lnSpc>
                <a:spcPct val="105000"/>
              </a:lnSpc>
              <a:buNone/>
            </a:pPr>
            <a:r>
              <a:rPr lang="en-US" sz="1650" b="1">
                <a:solidFill>
                  <a:srgbClr val="142F47"/>
                </a:solidFill>
                <a:latin typeface="Cambria" pitchFamily="34" charset="0"/>
                <a:ea typeface="Cambria" pitchFamily="34" charset="-122"/>
                <a:cs typeface="Cambria" pitchFamily="34" charset="-120"/>
              </a:rPr>
              <a:t>Make a dedicated folder</a:t>
            </a:r>
            <a:endParaRPr lang="en-US" sz="1650"/>
          </a:p>
        </p:txBody>
      </p:sp>
      <p:sp>
        <p:nvSpPr>
          <p:cNvPr id="11" name="Text 8"/>
          <p:cNvSpPr/>
          <p:nvPr/>
        </p:nvSpPr>
        <p:spPr>
          <a:xfrm>
            <a:off x="896112" y="3703320"/>
            <a:ext cx="3017520" cy="1005840"/>
          </a:xfrm>
          <a:prstGeom prst="rect">
            <a:avLst/>
          </a:prstGeom>
          <a:noFill/>
          <a:ln/>
        </p:spPr>
        <p:txBody>
          <a:bodyPr wrap="square" lIns="0" tIns="0" rIns="0" bIns="0" rtlCol="0" anchor="ctr"/>
          <a:lstStyle/>
          <a:p>
            <a:pPr marL="0" indent="0">
              <a:lnSpc>
                <a:spcPct val="112000"/>
              </a:lnSpc>
              <a:buNone/>
            </a:pPr>
            <a:r>
              <a:rPr lang="en-US" sz="1250">
                <a:solidFill>
                  <a:srgbClr val="45586A"/>
                </a:solidFill>
                <a:latin typeface="Calibri" pitchFamily="34" charset="0"/>
                <a:ea typeface="Calibri" pitchFamily="34" charset="-122"/>
                <a:cs typeface="Calibri" pitchFamily="34" charset="-120"/>
              </a:rPr>
              <a:t>One model per folder. Keep it empty except what belongs to this model. No repos, no clutter.</a:t>
            </a:r>
            <a:endParaRPr lang="en-US" sz="1250"/>
          </a:p>
        </p:txBody>
      </p:sp>
      <p:sp>
        <p:nvSpPr>
          <p:cNvPr id="12" name="Shape 9"/>
          <p:cNvSpPr/>
          <p:nvPr/>
        </p:nvSpPr>
        <p:spPr>
          <a:xfrm>
            <a:off x="4453128" y="1783080"/>
            <a:ext cx="3566160" cy="3017520"/>
          </a:xfrm>
          <a:prstGeom prst="roundRect">
            <a:avLst>
              <a:gd name="adj" fmla="val 2727"/>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3" name="Text 10"/>
          <p:cNvSpPr/>
          <p:nvPr/>
        </p:nvSpPr>
        <p:spPr>
          <a:xfrm>
            <a:off x="7196328" y="1920240"/>
            <a:ext cx="685800" cy="822960"/>
          </a:xfrm>
          <a:prstGeom prst="rect">
            <a:avLst/>
          </a:prstGeom>
          <a:noFill/>
          <a:ln/>
        </p:spPr>
        <p:txBody>
          <a:bodyPr wrap="square" lIns="0" tIns="0" rIns="0" bIns="0" rtlCol="0" anchor="ctr"/>
          <a:lstStyle/>
          <a:p>
            <a:pPr marL="0" indent="0" algn="r">
              <a:buNone/>
            </a:pPr>
            <a:r>
              <a:rPr lang="en-US" sz="4600" b="1">
                <a:solidFill>
                  <a:srgbClr val="D3E2E5"/>
                </a:solidFill>
                <a:latin typeface="Cambria" pitchFamily="34" charset="0"/>
                <a:ea typeface="Cambria" pitchFamily="34" charset="-122"/>
                <a:cs typeface="Cambria" pitchFamily="34" charset="-120"/>
              </a:rPr>
              <a:t>2</a:t>
            </a:r>
            <a:endParaRPr lang="en-US" sz="4600"/>
          </a:p>
        </p:txBody>
      </p:sp>
      <p:sp>
        <p:nvSpPr>
          <p:cNvPr id="14" name="Shape 11"/>
          <p:cNvSpPr/>
          <p:nvPr/>
        </p:nvSpPr>
        <p:spPr>
          <a:xfrm>
            <a:off x="4754880" y="2057400"/>
            <a:ext cx="713232" cy="713232"/>
          </a:xfrm>
          <a:prstGeom prst="ellipse">
            <a:avLst/>
          </a:prstGeom>
          <a:solidFill>
            <a:srgbClr val="0F8B8D"/>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4926056" y="2228576"/>
            <a:ext cx="370881" cy="370881"/>
          </a:xfrm>
          <a:prstGeom prst="rect">
            <a:avLst/>
          </a:prstGeom>
        </p:spPr>
      </p:pic>
      <p:sp>
        <p:nvSpPr>
          <p:cNvPr id="16" name="Text 12"/>
          <p:cNvSpPr/>
          <p:nvPr/>
        </p:nvSpPr>
        <p:spPr>
          <a:xfrm>
            <a:off x="4754880" y="3017520"/>
            <a:ext cx="3017520" cy="640080"/>
          </a:xfrm>
          <a:prstGeom prst="rect">
            <a:avLst/>
          </a:prstGeom>
          <a:noFill/>
          <a:ln/>
        </p:spPr>
        <p:txBody>
          <a:bodyPr wrap="square" lIns="0" tIns="0" rIns="0" bIns="0" rtlCol="0" anchor="ctr"/>
          <a:lstStyle/>
          <a:p>
            <a:pPr marL="0" indent="0">
              <a:lnSpc>
                <a:spcPct val="105000"/>
              </a:lnSpc>
              <a:buNone/>
            </a:pPr>
            <a:r>
              <a:rPr lang="en-US" sz="1650" b="1">
                <a:solidFill>
                  <a:srgbClr val="142F47"/>
                </a:solidFill>
                <a:latin typeface="Cambria" pitchFamily="34" charset="0"/>
                <a:ea typeface="Cambria" pitchFamily="34" charset="-122"/>
                <a:cs typeface="Cambria" pitchFamily="34" charset="-120"/>
              </a:rPr>
              <a:t>Drop in the standing orders</a:t>
            </a:r>
            <a:endParaRPr lang="en-US" sz="1650"/>
          </a:p>
        </p:txBody>
      </p:sp>
      <p:sp>
        <p:nvSpPr>
          <p:cNvPr id="17" name="Text 13"/>
          <p:cNvSpPr/>
          <p:nvPr/>
        </p:nvSpPr>
        <p:spPr>
          <a:xfrm>
            <a:off x="4754880" y="3703320"/>
            <a:ext cx="3017520" cy="1005840"/>
          </a:xfrm>
          <a:prstGeom prst="rect">
            <a:avLst/>
          </a:prstGeom>
          <a:noFill/>
          <a:ln/>
        </p:spPr>
        <p:txBody>
          <a:bodyPr wrap="square" lIns="0" tIns="0" rIns="0" bIns="0" rtlCol="0" anchor="ctr"/>
          <a:lstStyle/>
          <a:p>
            <a:pPr marL="0" indent="0">
              <a:lnSpc>
                <a:spcPct val="112000"/>
              </a:lnSpc>
              <a:buNone/>
            </a:pPr>
            <a:r>
              <a:rPr lang="en-US" sz="1250">
                <a:solidFill>
                  <a:srgbClr val="45586A"/>
                </a:solidFill>
                <a:latin typeface="Calibri" pitchFamily="34" charset="0"/>
                <a:ea typeface="Calibri" pitchFamily="34" charset="-122"/>
                <a:cs typeface="Calibri" pitchFamily="34" charset="-120"/>
              </a:rPr>
              <a:t>A CLAUDE.md file that holds the session rules. Claude Code reads it automatically at session start.</a:t>
            </a:r>
            <a:endParaRPr lang="en-US" sz="1250"/>
          </a:p>
        </p:txBody>
      </p:sp>
      <p:sp>
        <p:nvSpPr>
          <p:cNvPr id="18" name="Shape 14"/>
          <p:cNvSpPr/>
          <p:nvPr/>
        </p:nvSpPr>
        <p:spPr>
          <a:xfrm>
            <a:off x="8311896" y="1783080"/>
            <a:ext cx="3566160" cy="3017520"/>
          </a:xfrm>
          <a:prstGeom prst="roundRect">
            <a:avLst>
              <a:gd name="adj" fmla="val 2727"/>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9" name="Text 15"/>
          <p:cNvSpPr/>
          <p:nvPr/>
        </p:nvSpPr>
        <p:spPr>
          <a:xfrm>
            <a:off x="11055096" y="1920240"/>
            <a:ext cx="685800" cy="822960"/>
          </a:xfrm>
          <a:prstGeom prst="rect">
            <a:avLst/>
          </a:prstGeom>
          <a:noFill/>
          <a:ln/>
        </p:spPr>
        <p:txBody>
          <a:bodyPr wrap="square" lIns="0" tIns="0" rIns="0" bIns="0" rtlCol="0" anchor="ctr"/>
          <a:lstStyle/>
          <a:p>
            <a:pPr marL="0" indent="0" algn="r">
              <a:buNone/>
            </a:pPr>
            <a:r>
              <a:rPr lang="en-US" sz="4600" b="1">
                <a:solidFill>
                  <a:srgbClr val="D3E2E5"/>
                </a:solidFill>
                <a:latin typeface="Cambria" pitchFamily="34" charset="0"/>
                <a:ea typeface="Cambria" pitchFamily="34" charset="-122"/>
                <a:cs typeface="Cambria" pitchFamily="34" charset="-120"/>
              </a:rPr>
              <a:t>3</a:t>
            </a:r>
            <a:endParaRPr lang="en-US" sz="4600"/>
          </a:p>
        </p:txBody>
      </p:sp>
      <p:sp>
        <p:nvSpPr>
          <p:cNvPr id="20" name="Shape 16"/>
          <p:cNvSpPr/>
          <p:nvPr/>
        </p:nvSpPr>
        <p:spPr>
          <a:xfrm>
            <a:off x="8613648" y="2057400"/>
            <a:ext cx="713232" cy="713232"/>
          </a:xfrm>
          <a:prstGeom prst="ellipse">
            <a:avLst/>
          </a:prstGeom>
          <a:solidFill>
            <a:srgbClr val="0F8B8D"/>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8784824" y="2228576"/>
            <a:ext cx="370881" cy="370881"/>
          </a:xfrm>
          <a:prstGeom prst="rect">
            <a:avLst/>
          </a:prstGeom>
        </p:spPr>
      </p:pic>
      <p:sp>
        <p:nvSpPr>
          <p:cNvPr id="22" name="Text 17"/>
          <p:cNvSpPr/>
          <p:nvPr/>
        </p:nvSpPr>
        <p:spPr>
          <a:xfrm>
            <a:off x="8613648" y="3017520"/>
            <a:ext cx="3017520" cy="640080"/>
          </a:xfrm>
          <a:prstGeom prst="rect">
            <a:avLst/>
          </a:prstGeom>
          <a:noFill/>
          <a:ln/>
        </p:spPr>
        <p:txBody>
          <a:bodyPr wrap="square" lIns="0" tIns="0" rIns="0" bIns="0" rtlCol="0" anchor="ctr"/>
          <a:lstStyle/>
          <a:p>
            <a:pPr marL="0" indent="0">
              <a:lnSpc>
                <a:spcPct val="105000"/>
              </a:lnSpc>
              <a:buNone/>
            </a:pPr>
            <a:r>
              <a:rPr lang="en-US" sz="1650" b="1">
                <a:solidFill>
                  <a:srgbClr val="142F47"/>
                </a:solidFill>
                <a:latin typeface="Cambria" pitchFamily="34" charset="0"/>
                <a:ea typeface="Cambria" pitchFamily="34" charset="-122"/>
                <a:cs typeface="Cambria" pitchFamily="34" charset="-120"/>
              </a:rPr>
              <a:t>Start the session there</a:t>
            </a:r>
            <a:endParaRPr lang="en-US" sz="1650"/>
          </a:p>
        </p:txBody>
      </p:sp>
      <p:sp>
        <p:nvSpPr>
          <p:cNvPr id="23" name="Text 18"/>
          <p:cNvSpPr/>
          <p:nvPr/>
        </p:nvSpPr>
        <p:spPr>
          <a:xfrm>
            <a:off x="8613648" y="3703320"/>
            <a:ext cx="3017520" cy="1005840"/>
          </a:xfrm>
          <a:prstGeom prst="rect">
            <a:avLst/>
          </a:prstGeom>
          <a:noFill/>
          <a:ln/>
        </p:spPr>
        <p:txBody>
          <a:bodyPr wrap="square" lIns="0" tIns="0" rIns="0" bIns="0" rtlCol="0" anchor="ctr"/>
          <a:lstStyle/>
          <a:p>
            <a:pPr marL="0" indent="0">
              <a:lnSpc>
                <a:spcPct val="112000"/>
              </a:lnSpc>
              <a:buNone/>
            </a:pPr>
            <a:r>
              <a:rPr lang="en-US" sz="1250">
                <a:solidFill>
                  <a:srgbClr val="45586A"/>
                </a:solidFill>
                <a:latin typeface="Calibri" pitchFamily="34" charset="0"/>
                <a:ea typeface="Calibri" pitchFamily="34" charset="-122"/>
                <a:cs typeface="Calibri" pitchFamily="34" charset="-120"/>
              </a:rPr>
              <a:t>In Claude Code Desktop, start a new session and select this folder. The rules load with it.</a:t>
            </a:r>
            <a:endParaRPr lang="en-US" sz="1250"/>
          </a:p>
        </p:txBody>
      </p:sp>
      <p:sp>
        <p:nvSpPr>
          <p:cNvPr id="24" name="Shape 19"/>
          <p:cNvSpPr/>
          <p:nvPr/>
        </p:nvSpPr>
        <p:spPr>
          <a:xfrm>
            <a:off x="594360" y="5120640"/>
            <a:ext cx="10972800" cy="868680"/>
          </a:xfrm>
          <a:prstGeom prst="roundRect">
            <a:avLst>
              <a:gd name="adj" fmla="val 9474"/>
            </a:avLst>
          </a:prstGeom>
          <a:solidFill>
            <a:srgbClr val="FBF3E2"/>
          </a:solidFill>
          <a:ln w="12700">
            <a:solidFill>
              <a:srgbClr val="F0DFBB"/>
            </a:solidFill>
            <a:prstDash val="solid"/>
          </a:ln>
        </p:spPr>
        <p:txBody>
          <a:bodyPr/>
          <a:lstStyle/>
          <a:p>
            <a:endParaRPr lang="en-US"/>
          </a:p>
        </p:txBody>
      </p:sp>
      <p:sp>
        <p:nvSpPr>
          <p:cNvPr id="25" name="Shape 20"/>
          <p:cNvSpPr/>
          <p:nvPr/>
        </p:nvSpPr>
        <p:spPr>
          <a:xfrm>
            <a:off x="868680" y="5276088"/>
            <a:ext cx="548640" cy="548640"/>
          </a:xfrm>
          <a:prstGeom prst="ellipse">
            <a:avLst/>
          </a:prstGeom>
          <a:solidFill>
            <a:srgbClr val="DFA13F"/>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1000354" y="5407762"/>
            <a:ext cx="285293" cy="285293"/>
          </a:xfrm>
          <a:prstGeom prst="rect">
            <a:avLst/>
          </a:prstGeom>
        </p:spPr>
      </p:pic>
      <p:sp>
        <p:nvSpPr>
          <p:cNvPr id="27" name="Text 21"/>
          <p:cNvSpPr/>
          <p:nvPr/>
        </p:nvSpPr>
        <p:spPr>
          <a:xfrm>
            <a:off x="1600200" y="5120640"/>
            <a:ext cx="9784080" cy="868680"/>
          </a:xfrm>
          <a:prstGeom prst="rect">
            <a:avLst/>
          </a:prstGeom>
          <a:noFill/>
          <a:ln/>
        </p:spPr>
        <p:txBody>
          <a:bodyPr wrap="square" lIns="0" tIns="0" rIns="0" bIns="0" rtlCol="0" anchor="ctr"/>
          <a:lstStyle/>
          <a:p>
            <a:pPr marL="0" indent="0">
              <a:lnSpc>
                <a:spcPct val="110000"/>
              </a:lnSpc>
              <a:buNone/>
            </a:pPr>
            <a:r>
              <a:rPr lang="en-US" sz="1250" b="1">
                <a:solidFill>
                  <a:srgbClr val="8A6420"/>
                </a:solidFill>
                <a:latin typeface="Calibri" pitchFamily="34" charset="0"/>
                <a:ea typeface="Calibri" pitchFamily="34" charset="-122"/>
                <a:cs typeface="Calibri" pitchFamily="34" charset="-120"/>
              </a:rPr>
              <a:t>Watch out: </a:t>
            </a:r>
            <a:r>
              <a:rPr lang="en-US" sz="1250">
                <a:solidFill>
                  <a:srgbClr val="7A6234"/>
                </a:solidFill>
                <a:latin typeface="Calibri" pitchFamily="34" charset="0"/>
                <a:ea typeface="Calibri" pitchFamily="34" charset="-122"/>
                <a:cs typeface="Calibri" pitchFamily="34" charset="-120"/>
              </a:rPr>
              <a:t>Claude Code also loads CLAUDE.md files from parent folders. If your folder sits inside another project, those instructions mix with yours. A clean, standalone folder keeps the session pure.</a:t>
            </a:r>
            <a:endParaRPr lang="en-US" sz="12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2 · THE CRAFT</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Standing orders: the session CLAUDE.md</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15</a:t>
            </a:r>
            <a:endParaRPr lang="en-US" sz="900"/>
          </a:p>
        </p:txBody>
      </p:sp>
      <p:sp>
        <p:nvSpPr>
          <p:cNvPr id="6" name="Shape 4"/>
          <p:cNvSpPr/>
          <p:nvPr/>
        </p:nvSpPr>
        <p:spPr>
          <a:xfrm>
            <a:off x="640080" y="1737360"/>
            <a:ext cx="4892040" cy="4297680"/>
          </a:xfrm>
          <a:prstGeom prst="roundRect">
            <a:avLst>
              <a:gd name="adj" fmla="val 1915"/>
            </a:avLst>
          </a:prstGeom>
          <a:solidFill>
            <a:srgbClr val="0E2334"/>
          </a:solidFill>
          <a:ln/>
          <a:effectLst>
            <a:outerShdw blurRad="88900" dist="25400" dir="5400000" algn="bl" rotWithShape="0">
              <a:srgbClr val="9FB1BC">
                <a:alpha val="30000"/>
              </a:srgbClr>
            </a:outerShdw>
          </a:effectLst>
        </p:spPr>
        <p:txBody>
          <a:bodyPr/>
          <a:lstStyle/>
          <a:p>
            <a:endParaRPr lang="en-US"/>
          </a:p>
        </p:txBody>
      </p:sp>
      <p:sp>
        <p:nvSpPr>
          <p:cNvPr id="7" name="Text 5"/>
          <p:cNvSpPr/>
          <p:nvPr/>
        </p:nvSpPr>
        <p:spPr>
          <a:xfrm>
            <a:off x="914400" y="1901952"/>
            <a:ext cx="4206240" cy="320040"/>
          </a:xfrm>
          <a:prstGeom prst="rect">
            <a:avLst/>
          </a:prstGeom>
          <a:noFill/>
          <a:ln/>
        </p:spPr>
        <p:txBody>
          <a:bodyPr wrap="square" lIns="0" tIns="0" rIns="0" bIns="0" rtlCol="0" anchor="ctr"/>
          <a:lstStyle/>
          <a:p>
            <a:pPr marL="0" indent="0">
              <a:buNone/>
            </a:pPr>
            <a:r>
              <a:rPr lang="en-US" sz="1300" b="1">
                <a:solidFill>
                  <a:srgbClr val="7ED4D6"/>
                </a:solidFill>
                <a:latin typeface="Courier New" pitchFamily="34" charset="0"/>
                <a:ea typeface="Courier New" pitchFamily="34" charset="-122"/>
                <a:cs typeface="Courier New" pitchFamily="34" charset="-120"/>
              </a:rPr>
              <a:t>CLAUDE.md</a:t>
            </a:r>
            <a:endParaRPr lang="en-US" sz="1300"/>
          </a:p>
        </p:txBody>
      </p:sp>
      <p:sp>
        <p:nvSpPr>
          <p:cNvPr id="8" name="Shape 6"/>
          <p:cNvSpPr/>
          <p:nvPr/>
        </p:nvSpPr>
        <p:spPr>
          <a:xfrm>
            <a:off x="914400" y="2377440"/>
            <a:ext cx="4343400" cy="768096"/>
          </a:xfrm>
          <a:prstGeom prst="roundRect">
            <a:avLst>
              <a:gd name="adj" fmla="val 7143"/>
            </a:avLst>
          </a:prstGeom>
          <a:solidFill>
            <a:srgbClr val="1B3A55"/>
          </a:solidFill>
          <a:ln w="12700">
            <a:solidFill>
              <a:srgbClr val="2B4E6C"/>
            </a:solidFill>
            <a:prstDash val="solid"/>
          </a:ln>
        </p:spPr>
        <p:txBody>
          <a:bodyPr/>
          <a:lstStyle/>
          <a:p>
            <a:endParaRPr lang="en-US"/>
          </a:p>
        </p:txBody>
      </p:sp>
      <p:sp>
        <p:nvSpPr>
          <p:cNvPr id="9" name="Text 7"/>
          <p:cNvSpPr/>
          <p:nvPr/>
        </p:nvSpPr>
        <p:spPr>
          <a:xfrm>
            <a:off x="1078992" y="2450592"/>
            <a:ext cx="4023360" cy="274320"/>
          </a:xfrm>
          <a:prstGeom prst="rect">
            <a:avLst/>
          </a:prstGeom>
          <a:noFill/>
          <a:ln/>
        </p:spPr>
        <p:txBody>
          <a:bodyPr wrap="square" lIns="0" tIns="0" rIns="0" bIns="0" rtlCol="0" anchor="ctr"/>
          <a:lstStyle/>
          <a:p>
            <a:pPr marL="0" indent="0">
              <a:buNone/>
            </a:pPr>
            <a:r>
              <a:rPr lang="en-US" sz="1150" b="1">
                <a:solidFill>
                  <a:srgbClr val="FFFFFF"/>
                </a:solidFill>
                <a:latin typeface="Courier New" pitchFamily="34" charset="0"/>
                <a:ea typeface="Courier New" pitchFamily="34" charset="-122"/>
                <a:cs typeface="Courier New" pitchFamily="34" charset="-120"/>
              </a:rPr>
              <a:t>## Hard rules</a:t>
            </a:r>
            <a:endParaRPr lang="en-US" sz="1150"/>
          </a:p>
        </p:txBody>
      </p:sp>
      <p:sp>
        <p:nvSpPr>
          <p:cNvPr id="10" name="Text 8"/>
          <p:cNvSpPr/>
          <p:nvPr/>
        </p:nvSpPr>
        <p:spPr>
          <a:xfrm>
            <a:off x="1078992" y="2743200"/>
            <a:ext cx="4069080" cy="329184"/>
          </a:xfrm>
          <a:prstGeom prst="rect">
            <a:avLst/>
          </a:prstGeom>
          <a:noFill/>
          <a:ln/>
        </p:spPr>
        <p:txBody>
          <a:bodyPr wrap="square" lIns="0" tIns="0" rIns="0" bIns="0" rtlCol="0" anchor="ctr"/>
          <a:lstStyle/>
          <a:p>
            <a:pPr marL="0" indent="0">
              <a:buNone/>
            </a:pPr>
            <a:r>
              <a:rPr lang="en-US" sz="1000">
                <a:solidFill>
                  <a:srgbClr val="9DB3C0"/>
                </a:solidFill>
                <a:latin typeface="Calibri" pitchFamily="34" charset="0"/>
                <a:ea typeface="Calibri" pitchFamily="34" charset="-122"/>
                <a:cs typeface="Calibri" pitchFamily="34" charset="-120"/>
              </a:rPr>
              <a:t>one file · fabricated data only · no external calls · no scaffolding</a:t>
            </a:r>
            <a:endParaRPr lang="en-US" sz="1000"/>
          </a:p>
        </p:txBody>
      </p:sp>
      <p:sp>
        <p:nvSpPr>
          <p:cNvPr id="11" name="Shape 9"/>
          <p:cNvSpPr/>
          <p:nvPr/>
        </p:nvSpPr>
        <p:spPr>
          <a:xfrm>
            <a:off x="914400" y="3264408"/>
            <a:ext cx="4343400" cy="768096"/>
          </a:xfrm>
          <a:prstGeom prst="roundRect">
            <a:avLst>
              <a:gd name="adj" fmla="val 7143"/>
            </a:avLst>
          </a:prstGeom>
          <a:solidFill>
            <a:srgbClr val="1B3A55"/>
          </a:solidFill>
          <a:ln w="12700">
            <a:solidFill>
              <a:srgbClr val="2B4E6C"/>
            </a:solidFill>
            <a:prstDash val="solid"/>
          </a:ln>
        </p:spPr>
        <p:txBody>
          <a:bodyPr/>
          <a:lstStyle/>
          <a:p>
            <a:endParaRPr lang="en-US"/>
          </a:p>
        </p:txBody>
      </p:sp>
      <p:sp>
        <p:nvSpPr>
          <p:cNvPr id="12" name="Text 10"/>
          <p:cNvSpPr/>
          <p:nvPr/>
        </p:nvSpPr>
        <p:spPr>
          <a:xfrm>
            <a:off x="1078992" y="3337560"/>
            <a:ext cx="4023360" cy="274320"/>
          </a:xfrm>
          <a:prstGeom prst="rect">
            <a:avLst/>
          </a:prstGeom>
          <a:noFill/>
          <a:ln/>
        </p:spPr>
        <p:txBody>
          <a:bodyPr wrap="square" lIns="0" tIns="0" rIns="0" bIns="0" rtlCol="0" anchor="ctr"/>
          <a:lstStyle/>
          <a:p>
            <a:pPr marL="0" indent="0">
              <a:buNone/>
            </a:pPr>
            <a:r>
              <a:rPr lang="en-US" sz="1150" b="1">
                <a:solidFill>
                  <a:srgbClr val="FFFFFF"/>
                </a:solidFill>
                <a:latin typeface="Courier New" pitchFamily="34" charset="0"/>
                <a:ea typeface="Courier New" pitchFamily="34" charset="-122"/>
                <a:cs typeface="Courier New" pitchFamily="34" charset="-120"/>
              </a:rPr>
              <a:t>## How to work</a:t>
            </a:r>
            <a:endParaRPr lang="en-US" sz="1150"/>
          </a:p>
        </p:txBody>
      </p:sp>
      <p:sp>
        <p:nvSpPr>
          <p:cNvPr id="13" name="Text 11"/>
          <p:cNvSpPr/>
          <p:nvPr/>
        </p:nvSpPr>
        <p:spPr>
          <a:xfrm>
            <a:off x="1078992" y="3630168"/>
            <a:ext cx="4069080" cy="329184"/>
          </a:xfrm>
          <a:prstGeom prst="rect">
            <a:avLst/>
          </a:prstGeom>
          <a:noFill/>
          <a:ln/>
        </p:spPr>
        <p:txBody>
          <a:bodyPr wrap="square" lIns="0" tIns="0" rIns="0" bIns="0" rtlCol="0" anchor="ctr"/>
          <a:lstStyle/>
          <a:p>
            <a:pPr marL="0" indent="0">
              <a:buNone/>
            </a:pPr>
            <a:r>
              <a:rPr lang="en-US" sz="1000">
                <a:solidFill>
                  <a:srgbClr val="9DB3C0"/>
                </a:solidFill>
                <a:latin typeface="Calibri" pitchFamily="34" charset="0"/>
                <a:ea typeface="Calibri" pitchFamily="34" charset="-122"/>
                <a:cs typeface="Calibri" pitchFamily="34" charset="-120"/>
              </a:rPr>
              <a:t>section markers · small edits · offer checkpoints · keep the charter current</a:t>
            </a:r>
            <a:endParaRPr lang="en-US" sz="1000"/>
          </a:p>
        </p:txBody>
      </p:sp>
      <p:sp>
        <p:nvSpPr>
          <p:cNvPr id="14" name="Shape 12"/>
          <p:cNvSpPr/>
          <p:nvPr/>
        </p:nvSpPr>
        <p:spPr>
          <a:xfrm>
            <a:off x="914400" y="4151376"/>
            <a:ext cx="4343400" cy="768096"/>
          </a:xfrm>
          <a:prstGeom prst="roundRect">
            <a:avLst>
              <a:gd name="adj" fmla="val 7143"/>
            </a:avLst>
          </a:prstGeom>
          <a:solidFill>
            <a:srgbClr val="1B3A55"/>
          </a:solidFill>
          <a:ln w="12700">
            <a:solidFill>
              <a:srgbClr val="2B4E6C"/>
            </a:solidFill>
            <a:prstDash val="solid"/>
          </a:ln>
        </p:spPr>
        <p:txBody>
          <a:bodyPr/>
          <a:lstStyle/>
          <a:p>
            <a:endParaRPr lang="en-US"/>
          </a:p>
        </p:txBody>
      </p:sp>
      <p:sp>
        <p:nvSpPr>
          <p:cNvPr id="15" name="Text 13"/>
          <p:cNvSpPr/>
          <p:nvPr/>
        </p:nvSpPr>
        <p:spPr>
          <a:xfrm>
            <a:off x="1078992" y="4224528"/>
            <a:ext cx="4023360" cy="274320"/>
          </a:xfrm>
          <a:prstGeom prst="rect">
            <a:avLst/>
          </a:prstGeom>
          <a:noFill/>
          <a:ln/>
        </p:spPr>
        <p:txBody>
          <a:bodyPr wrap="square" lIns="0" tIns="0" rIns="0" bIns="0" rtlCol="0" anchor="ctr"/>
          <a:lstStyle/>
          <a:p>
            <a:pPr marL="0" indent="0">
              <a:buNone/>
            </a:pPr>
            <a:r>
              <a:rPr lang="en-US" sz="1150" b="1">
                <a:solidFill>
                  <a:srgbClr val="FFFFFF"/>
                </a:solidFill>
                <a:latin typeface="Courier New" pitchFamily="34" charset="0"/>
                <a:ea typeface="Courier New" pitchFamily="34" charset="-122"/>
                <a:cs typeface="Courier New" pitchFamily="34" charset="-120"/>
              </a:rPr>
              <a:t>## Quality bar</a:t>
            </a:r>
            <a:endParaRPr lang="en-US" sz="1150"/>
          </a:p>
        </p:txBody>
      </p:sp>
      <p:sp>
        <p:nvSpPr>
          <p:cNvPr id="16" name="Text 14"/>
          <p:cNvSpPr/>
          <p:nvPr/>
        </p:nvSpPr>
        <p:spPr>
          <a:xfrm>
            <a:off x="1078992" y="4517136"/>
            <a:ext cx="4069080" cy="329184"/>
          </a:xfrm>
          <a:prstGeom prst="rect">
            <a:avLst/>
          </a:prstGeom>
          <a:noFill/>
          <a:ln/>
        </p:spPr>
        <p:txBody>
          <a:bodyPr wrap="square" lIns="0" tIns="0" rIns="0" bIns="0" rtlCol="0" anchor="ctr"/>
          <a:lstStyle/>
          <a:p>
            <a:pPr marL="0" indent="0">
              <a:buNone/>
            </a:pPr>
            <a:r>
              <a:rPr lang="en-US" sz="1000">
                <a:solidFill>
                  <a:srgbClr val="9DB3C0"/>
                </a:solidFill>
                <a:latin typeface="Calibri" pitchFamily="34" charset="0"/>
                <a:ea typeface="Calibri" pitchFamily="34" charset="-122"/>
                <a:cs typeface="Calibri" pitchFamily="34" charset="-120"/>
              </a:rPr>
              <a:t>realistic rows · every state reachable · out-of-scope items labeled</a:t>
            </a:r>
            <a:endParaRPr lang="en-US" sz="1000"/>
          </a:p>
        </p:txBody>
      </p:sp>
      <p:sp>
        <p:nvSpPr>
          <p:cNvPr id="17" name="Shape 15"/>
          <p:cNvSpPr/>
          <p:nvPr/>
        </p:nvSpPr>
        <p:spPr>
          <a:xfrm>
            <a:off x="914400" y="5038344"/>
            <a:ext cx="4343400" cy="768096"/>
          </a:xfrm>
          <a:prstGeom prst="roundRect">
            <a:avLst>
              <a:gd name="adj" fmla="val 7143"/>
            </a:avLst>
          </a:prstGeom>
          <a:solidFill>
            <a:srgbClr val="1B3A55"/>
          </a:solidFill>
          <a:ln w="12700">
            <a:solidFill>
              <a:srgbClr val="2B4E6C"/>
            </a:solidFill>
            <a:prstDash val="solid"/>
          </a:ln>
        </p:spPr>
        <p:txBody>
          <a:bodyPr/>
          <a:lstStyle/>
          <a:p>
            <a:endParaRPr lang="en-US"/>
          </a:p>
        </p:txBody>
      </p:sp>
      <p:sp>
        <p:nvSpPr>
          <p:cNvPr id="18" name="Text 16"/>
          <p:cNvSpPr/>
          <p:nvPr/>
        </p:nvSpPr>
        <p:spPr>
          <a:xfrm>
            <a:off x="1078992" y="5111496"/>
            <a:ext cx="4023360" cy="274320"/>
          </a:xfrm>
          <a:prstGeom prst="rect">
            <a:avLst/>
          </a:prstGeom>
          <a:noFill/>
          <a:ln/>
        </p:spPr>
        <p:txBody>
          <a:bodyPr wrap="square" lIns="0" tIns="0" rIns="0" bIns="0" rtlCol="0" anchor="ctr"/>
          <a:lstStyle/>
          <a:p>
            <a:pPr marL="0" indent="0">
              <a:buNone/>
            </a:pPr>
            <a:r>
              <a:rPr lang="en-US" sz="1150" b="1">
                <a:solidFill>
                  <a:srgbClr val="FFFFFF"/>
                </a:solidFill>
                <a:latin typeface="Courier New" pitchFamily="34" charset="0"/>
                <a:ea typeface="Courier New" pitchFamily="34" charset="-122"/>
                <a:cs typeface="Courier New" pitchFamily="34" charset="-120"/>
              </a:rPr>
              <a:t>## Starter prompt</a:t>
            </a:r>
            <a:endParaRPr lang="en-US" sz="1150"/>
          </a:p>
        </p:txBody>
      </p:sp>
      <p:sp>
        <p:nvSpPr>
          <p:cNvPr id="19" name="Text 17"/>
          <p:cNvSpPr/>
          <p:nvPr/>
        </p:nvSpPr>
        <p:spPr>
          <a:xfrm>
            <a:off x="1078992" y="5404104"/>
            <a:ext cx="4069080" cy="329184"/>
          </a:xfrm>
          <a:prstGeom prst="rect">
            <a:avLst/>
          </a:prstGeom>
          <a:noFill/>
          <a:ln/>
        </p:spPr>
        <p:txBody>
          <a:bodyPr wrap="square" lIns="0" tIns="0" rIns="0" bIns="0" rtlCol="0" anchor="ctr"/>
          <a:lstStyle/>
          <a:p>
            <a:pPr marL="0" indent="0">
              <a:buNone/>
            </a:pPr>
            <a:r>
              <a:rPr lang="en-US" sz="1000">
                <a:solidFill>
                  <a:srgbClr val="9DB3C0"/>
                </a:solidFill>
                <a:latin typeface="Calibri" pitchFamily="34" charset="0"/>
                <a:ea typeface="Calibri" pitchFamily="34" charset="-122"/>
                <a:cs typeface="Calibri" pitchFamily="34" charset="-120"/>
              </a:rPr>
              <a:t>a fill-in-the-blanks opener so the first message lands well</a:t>
            </a:r>
            <a:endParaRPr lang="en-US" sz="1000"/>
          </a:p>
        </p:txBody>
      </p:sp>
      <p:sp>
        <p:nvSpPr>
          <p:cNvPr id="20" name="Text 18"/>
          <p:cNvSpPr/>
          <p:nvPr/>
        </p:nvSpPr>
        <p:spPr>
          <a:xfrm>
            <a:off x="5989320" y="1874520"/>
            <a:ext cx="5577840" cy="822960"/>
          </a:xfrm>
          <a:prstGeom prst="rect">
            <a:avLst/>
          </a:prstGeom>
          <a:noFill/>
          <a:ln/>
        </p:spPr>
        <p:txBody>
          <a:bodyPr wrap="square" lIns="0" tIns="0" rIns="0" bIns="0" rtlCol="0" anchor="ctr"/>
          <a:lstStyle/>
          <a:p>
            <a:pPr marL="0" indent="0">
              <a:lnSpc>
                <a:spcPct val="110000"/>
              </a:lnSpc>
              <a:buNone/>
            </a:pPr>
            <a:r>
              <a:rPr lang="en-US" sz="1900" b="1">
                <a:solidFill>
                  <a:srgbClr val="142F47"/>
                </a:solidFill>
                <a:latin typeface="Cambria" pitchFamily="34" charset="0"/>
                <a:ea typeface="Cambria" pitchFamily="34" charset="-122"/>
                <a:cs typeface="Cambria" pitchFamily="34" charset="-120"/>
              </a:rPr>
              <a:t>Rules you would otherwise repeat in every prompt</a:t>
            </a:r>
            <a:endParaRPr lang="en-US" sz="1900"/>
          </a:p>
        </p:txBody>
      </p:sp>
      <p:sp>
        <p:nvSpPr>
          <p:cNvPr id="21" name="Text 19"/>
          <p:cNvSpPr/>
          <p:nvPr/>
        </p:nvSpPr>
        <p:spPr>
          <a:xfrm>
            <a:off x="6016752" y="2788920"/>
            <a:ext cx="5532120" cy="2377440"/>
          </a:xfrm>
          <a:prstGeom prst="rect">
            <a:avLst/>
          </a:prstGeom>
          <a:noFill/>
          <a:ln/>
        </p:spPr>
        <p:txBody>
          <a:bodyPr wrap="square" lIns="0" tIns="0" rIns="0" bIns="0" rtlCol="0" anchor="t"/>
          <a:lstStyle/>
          <a:p>
            <a:pPr marL="152400" indent="-152400">
              <a:lnSpc>
                <a:spcPct val="106000"/>
              </a:lnSpc>
              <a:spcAft>
                <a:spcPts val="1100"/>
              </a:spcAft>
              <a:buSzPct val="100000"/>
              <a:buChar char="•"/>
            </a:pPr>
            <a:r>
              <a:rPr lang="en-US" sz="1350">
                <a:solidFill>
                  <a:srgbClr val="45586A"/>
                </a:solidFill>
                <a:latin typeface="Calibri" pitchFamily="34" charset="0"/>
                <a:ea typeface="Calibri" pitchFamily="34" charset="-122"/>
                <a:cs typeface="Calibri" pitchFamily="34" charset="-120"/>
              </a:rPr>
              <a:t>Write the constraint once. The whole session obeys it, even fifty prompts in.</a:t>
            </a:r>
            <a:endParaRPr lang="en-US" sz="1350"/>
          </a:p>
          <a:p>
            <a:pPr marL="152400" indent="-152400">
              <a:lnSpc>
                <a:spcPct val="106000"/>
              </a:lnSpc>
              <a:spcAft>
                <a:spcPts val="1100"/>
              </a:spcAft>
              <a:buSzPct val="100000"/>
              <a:buChar char="•"/>
            </a:pPr>
            <a:r>
              <a:rPr lang="en-US" sz="1350">
                <a:solidFill>
                  <a:srgbClr val="45586A"/>
                </a:solidFill>
                <a:latin typeface="Calibri" pitchFamily="34" charset="0"/>
                <a:ea typeface="Calibri" pitchFamily="34" charset="-122"/>
                <a:cs typeface="Calibri" pitchFamily="34" charset="-120"/>
              </a:rPr>
              <a:t>The file does the nagging: no more “remember, keep it in one file” every message.</a:t>
            </a:r>
            <a:endParaRPr lang="en-US" sz="1350"/>
          </a:p>
          <a:p>
            <a:pPr marL="152400" indent="-152400">
              <a:lnSpc>
                <a:spcPct val="106000"/>
              </a:lnSpc>
              <a:spcAft>
                <a:spcPts val="1100"/>
              </a:spcAft>
              <a:buSzPct val="100000"/>
              <a:buChar char="•"/>
            </a:pPr>
            <a:r>
              <a:rPr lang="en-US" sz="1350">
                <a:solidFill>
                  <a:srgbClr val="45586A"/>
                </a:solidFill>
                <a:latin typeface="Calibri" pitchFamily="34" charset="0"/>
                <a:ea typeface="Calibri" pitchFamily="34" charset="-122"/>
                <a:cs typeface="Calibri" pitchFamily="34" charset="-120"/>
              </a:rPr>
              <a:t>Consistency across people: everyone's session follows the same rules, so every model meets the same bar.</a:t>
            </a:r>
            <a:endParaRPr lang="en-US" sz="1350"/>
          </a:p>
        </p:txBody>
      </p:sp>
      <p:sp>
        <p:nvSpPr>
          <p:cNvPr id="22" name="Text 20"/>
          <p:cNvSpPr/>
          <p:nvPr/>
        </p:nvSpPr>
        <p:spPr>
          <a:xfrm>
            <a:off x="6016752" y="5257800"/>
            <a:ext cx="5532120" cy="731520"/>
          </a:xfrm>
          <a:prstGeom prst="rect">
            <a:avLst/>
          </a:prstGeom>
          <a:noFill/>
          <a:ln/>
        </p:spPr>
        <p:txBody>
          <a:bodyPr wrap="square" lIns="0" tIns="0" rIns="0" bIns="0" rtlCol="0" anchor="ctr"/>
          <a:lstStyle/>
          <a:p>
            <a:pPr marL="0" indent="0">
              <a:lnSpc>
                <a:spcPct val="112000"/>
              </a:lnSpc>
              <a:buNone/>
            </a:pPr>
            <a:r>
              <a:rPr lang="en-US" sz="1200" i="1">
                <a:solidFill>
                  <a:srgbClr val="0B6E70"/>
                </a:solidFill>
                <a:latin typeface="Calibri" pitchFamily="34" charset="0"/>
                <a:ea typeface="Calibri" pitchFamily="34" charset="-122"/>
                <a:cs typeface="Calibri" pitchFamily="34" charset="-120"/>
              </a:rPr>
              <a:t>This is the same mechanism behind team-level Claude Code standards, scoped down to a single working session.</a:t>
            </a:r>
            <a:endParaRPr lang="en-US" sz="1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2 · THE CRAFT</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The founding prompt: five ingredients</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16</a:t>
            </a:r>
            <a:endParaRPr lang="en-US" sz="900"/>
          </a:p>
        </p:txBody>
      </p:sp>
      <p:sp>
        <p:nvSpPr>
          <p:cNvPr id="6" name="Shape 4"/>
          <p:cNvSpPr/>
          <p:nvPr/>
        </p:nvSpPr>
        <p:spPr>
          <a:xfrm>
            <a:off x="640080" y="1783080"/>
            <a:ext cx="548640" cy="548640"/>
          </a:xfrm>
          <a:prstGeom prst="ellipse">
            <a:avLst/>
          </a:prstGeom>
          <a:solidFill>
            <a:srgbClr val="0F8B8D"/>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71754" y="1914754"/>
            <a:ext cx="285293" cy="285293"/>
          </a:xfrm>
          <a:prstGeom prst="rect">
            <a:avLst/>
          </a:prstGeom>
        </p:spPr>
      </p:pic>
      <p:sp>
        <p:nvSpPr>
          <p:cNvPr id="8" name="Text 5"/>
          <p:cNvSpPr/>
          <p:nvPr/>
        </p:nvSpPr>
        <p:spPr>
          <a:xfrm>
            <a:off x="1353312" y="1837944"/>
            <a:ext cx="3200400" cy="457200"/>
          </a:xfrm>
          <a:prstGeom prst="rect">
            <a:avLst/>
          </a:prstGeom>
          <a:noFill/>
          <a:ln/>
        </p:spPr>
        <p:txBody>
          <a:bodyPr wrap="square" lIns="0" tIns="0" rIns="0" bIns="0" rtlCol="0" anchor="ctr"/>
          <a:lstStyle/>
          <a:p>
            <a:pPr marL="0" indent="0">
              <a:buNone/>
            </a:pPr>
            <a:r>
              <a:rPr lang="en-US" sz="1450" b="1">
                <a:solidFill>
                  <a:srgbClr val="142F47"/>
                </a:solidFill>
                <a:latin typeface="Calibri" pitchFamily="34" charset="0"/>
                <a:ea typeface="Calibri" pitchFamily="34" charset="-122"/>
                <a:cs typeface="Calibri" pitchFamily="34" charset="-120"/>
              </a:rPr>
              <a:t>Who uses it</a:t>
            </a:r>
            <a:endParaRPr lang="en-US" sz="1450"/>
          </a:p>
        </p:txBody>
      </p:sp>
      <p:sp>
        <p:nvSpPr>
          <p:cNvPr id="9" name="Shape 6"/>
          <p:cNvSpPr/>
          <p:nvPr/>
        </p:nvSpPr>
        <p:spPr>
          <a:xfrm>
            <a:off x="640080" y="2624328"/>
            <a:ext cx="548640" cy="548640"/>
          </a:xfrm>
          <a:prstGeom prst="ellipse">
            <a:avLst/>
          </a:prstGeom>
          <a:solidFill>
            <a:srgbClr val="0F8B8D"/>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771754" y="2756002"/>
            <a:ext cx="285293" cy="285293"/>
          </a:xfrm>
          <a:prstGeom prst="rect">
            <a:avLst/>
          </a:prstGeom>
        </p:spPr>
      </p:pic>
      <p:sp>
        <p:nvSpPr>
          <p:cNvPr id="11" name="Text 7"/>
          <p:cNvSpPr/>
          <p:nvPr/>
        </p:nvSpPr>
        <p:spPr>
          <a:xfrm>
            <a:off x="1353312" y="2679192"/>
            <a:ext cx="3200400" cy="457200"/>
          </a:xfrm>
          <a:prstGeom prst="rect">
            <a:avLst/>
          </a:prstGeom>
          <a:noFill/>
          <a:ln/>
        </p:spPr>
        <p:txBody>
          <a:bodyPr wrap="square" lIns="0" tIns="0" rIns="0" bIns="0" rtlCol="0" anchor="ctr"/>
          <a:lstStyle/>
          <a:p>
            <a:pPr marL="0" indent="0">
              <a:buNone/>
            </a:pPr>
            <a:r>
              <a:rPr lang="en-US" sz="1450" b="1">
                <a:solidFill>
                  <a:srgbClr val="142F47"/>
                </a:solidFill>
                <a:latin typeface="Calibri" pitchFamily="34" charset="0"/>
                <a:ea typeface="Calibri" pitchFamily="34" charset="-122"/>
                <a:cs typeface="Calibri" pitchFamily="34" charset="-120"/>
              </a:rPr>
              <a:t>What job it does</a:t>
            </a:r>
            <a:endParaRPr lang="en-US" sz="1450"/>
          </a:p>
        </p:txBody>
      </p:sp>
      <p:sp>
        <p:nvSpPr>
          <p:cNvPr id="12" name="Shape 8"/>
          <p:cNvSpPr/>
          <p:nvPr/>
        </p:nvSpPr>
        <p:spPr>
          <a:xfrm>
            <a:off x="640080" y="3465576"/>
            <a:ext cx="548640" cy="548640"/>
          </a:xfrm>
          <a:prstGeom prst="ellipse">
            <a:avLst/>
          </a:prstGeom>
          <a:solidFill>
            <a:srgbClr val="0F8B8D"/>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771754" y="3597250"/>
            <a:ext cx="285293" cy="285293"/>
          </a:xfrm>
          <a:prstGeom prst="rect">
            <a:avLst/>
          </a:prstGeom>
        </p:spPr>
      </p:pic>
      <p:sp>
        <p:nvSpPr>
          <p:cNvPr id="14" name="Text 9"/>
          <p:cNvSpPr/>
          <p:nvPr/>
        </p:nvSpPr>
        <p:spPr>
          <a:xfrm>
            <a:off x="1353312" y="3520440"/>
            <a:ext cx="3200400" cy="457200"/>
          </a:xfrm>
          <a:prstGeom prst="rect">
            <a:avLst/>
          </a:prstGeom>
          <a:noFill/>
          <a:ln/>
        </p:spPr>
        <p:txBody>
          <a:bodyPr wrap="square" lIns="0" tIns="0" rIns="0" bIns="0" rtlCol="0" anchor="ctr"/>
          <a:lstStyle/>
          <a:p>
            <a:pPr marL="0" indent="0">
              <a:buNone/>
            </a:pPr>
            <a:r>
              <a:rPr lang="en-US" sz="1450" b="1">
                <a:solidFill>
                  <a:srgbClr val="142F47"/>
                </a:solidFill>
                <a:latin typeface="Calibri" pitchFamily="34" charset="0"/>
                <a:ea typeface="Calibri" pitchFamily="34" charset="-122"/>
                <a:cs typeface="Calibri" pitchFamily="34" charset="-120"/>
              </a:rPr>
              <a:t>The main screens</a:t>
            </a:r>
            <a:endParaRPr lang="en-US" sz="1450"/>
          </a:p>
        </p:txBody>
      </p:sp>
      <p:sp>
        <p:nvSpPr>
          <p:cNvPr id="15" name="Shape 10"/>
          <p:cNvSpPr/>
          <p:nvPr/>
        </p:nvSpPr>
        <p:spPr>
          <a:xfrm>
            <a:off x="640080" y="4306824"/>
            <a:ext cx="548640" cy="548640"/>
          </a:xfrm>
          <a:prstGeom prst="ellipse">
            <a:avLst/>
          </a:prstGeom>
          <a:solidFill>
            <a:srgbClr val="0F8B8D"/>
          </a:solidFill>
          <a:ln/>
        </p:spPr>
        <p:txBody>
          <a:bodyPr/>
          <a:lstStyle/>
          <a:p>
            <a:endParaRPr lang="en-US"/>
          </a:p>
        </p:txBody>
      </p:sp>
      <p:pic>
        <p:nvPicPr>
          <p:cNvPr id="16" name="Image 3" descr="preencoded.png"/>
          <p:cNvPicPr>
            <a:picLocks noChangeAspect="1"/>
          </p:cNvPicPr>
          <p:nvPr/>
        </p:nvPicPr>
        <p:blipFill>
          <a:blip r:embed="rId6"/>
          <a:stretch>
            <a:fillRect/>
          </a:stretch>
        </p:blipFill>
        <p:spPr>
          <a:xfrm>
            <a:off x="771754" y="4438498"/>
            <a:ext cx="285293" cy="285293"/>
          </a:xfrm>
          <a:prstGeom prst="rect">
            <a:avLst/>
          </a:prstGeom>
        </p:spPr>
      </p:pic>
      <p:sp>
        <p:nvSpPr>
          <p:cNvPr id="17" name="Text 11"/>
          <p:cNvSpPr/>
          <p:nvPr/>
        </p:nvSpPr>
        <p:spPr>
          <a:xfrm>
            <a:off x="1353312" y="4361688"/>
            <a:ext cx="3200400" cy="457200"/>
          </a:xfrm>
          <a:prstGeom prst="rect">
            <a:avLst/>
          </a:prstGeom>
          <a:noFill/>
          <a:ln/>
        </p:spPr>
        <p:txBody>
          <a:bodyPr wrap="square" lIns="0" tIns="0" rIns="0" bIns="0" rtlCol="0" anchor="ctr"/>
          <a:lstStyle/>
          <a:p>
            <a:pPr marL="0" indent="0">
              <a:buNone/>
            </a:pPr>
            <a:r>
              <a:rPr lang="en-US" sz="1450" b="1">
                <a:solidFill>
                  <a:srgbClr val="142F47"/>
                </a:solidFill>
                <a:latin typeface="Calibri" pitchFamily="34" charset="0"/>
                <a:ea typeface="Calibri" pitchFamily="34" charset="-122"/>
                <a:cs typeface="Calibri" pitchFamily="34" charset="-120"/>
              </a:rPr>
              <a:t>The key data</a:t>
            </a:r>
            <a:endParaRPr lang="en-US" sz="1450"/>
          </a:p>
        </p:txBody>
      </p:sp>
      <p:sp>
        <p:nvSpPr>
          <p:cNvPr id="18" name="Shape 12"/>
          <p:cNvSpPr/>
          <p:nvPr/>
        </p:nvSpPr>
        <p:spPr>
          <a:xfrm>
            <a:off x="640080" y="5148072"/>
            <a:ext cx="548640" cy="548640"/>
          </a:xfrm>
          <a:prstGeom prst="ellipse">
            <a:avLst/>
          </a:prstGeom>
          <a:solidFill>
            <a:srgbClr val="DFA13F"/>
          </a:solidFill>
          <a:ln/>
        </p:spPr>
        <p:txBody>
          <a:bodyPr/>
          <a:lstStyle/>
          <a:p>
            <a:endParaRPr lang="en-US"/>
          </a:p>
        </p:txBody>
      </p:sp>
      <p:pic>
        <p:nvPicPr>
          <p:cNvPr id="19" name="Image 4" descr="preencoded.png"/>
          <p:cNvPicPr>
            <a:picLocks noChangeAspect="1"/>
          </p:cNvPicPr>
          <p:nvPr/>
        </p:nvPicPr>
        <p:blipFill>
          <a:blip r:embed="rId7"/>
          <a:stretch>
            <a:fillRect/>
          </a:stretch>
        </p:blipFill>
        <p:spPr>
          <a:xfrm>
            <a:off x="771754" y="5279746"/>
            <a:ext cx="285293" cy="285293"/>
          </a:xfrm>
          <a:prstGeom prst="rect">
            <a:avLst/>
          </a:prstGeom>
        </p:spPr>
      </p:pic>
      <p:sp>
        <p:nvSpPr>
          <p:cNvPr id="20" name="Text 13"/>
          <p:cNvSpPr/>
          <p:nvPr/>
        </p:nvSpPr>
        <p:spPr>
          <a:xfrm>
            <a:off x="1353312" y="5202936"/>
            <a:ext cx="3200400" cy="457200"/>
          </a:xfrm>
          <a:prstGeom prst="rect">
            <a:avLst/>
          </a:prstGeom>
          <a:noFill/>
          <a:ln/>
        </p:spPr>
        <p:txBody>
          <a:bodyPr wrap="square" lIns="0" tIns="0" rIns="0" bIns="0" rtlCol="0" anchor="ctr"/>
          <a:lstStyle/>
          <a:p>
            <a:pPr marL="0" indent="0">
              <a:buNone/>
            </a:pPr>
            <a:r>
              <a:rPr lang="en-US" sz="1450" b="1">
                <a:solidFill>
                  <a:srgbClr val="142F47"/>
                </a:solidFill>
                <a:latin typeface="Calibri" pitchFamily="34" charset="0"/>
                <a:ea typeface="Calibri" pitchFamily="34" charset="-122"/>
                <a:cs typeface="Calibri" pitchFamily="34" charset="-120"/>
              </a:rPr>
              <a:t>“Propose before building”</a:t>
            </a:r>
            <a:endParaRPr lang="en-US" sz="1450"/>
          </a:p>
        </p:txBody>
      </p:sp>
      <p:sp>
        <p:nvSpPr>
          <p:cNvPr id="21" name="Text 14"/>
          <p:cNvSpPr/>
          <p:nvPr/>
        </p:nvSpPr>
        <p:spPr>
          <a:xfrm>
            <a:off x="658368" y="5532120"/>
            <a:ext cx="4206240" cy="914400"/>
          </a:xfrm>
          <a:prstGeom prst="rect">
            <a:avLst/>
          </a:prstGeom>
          <a:noFill/>
          <a:ln/>
        </p:spPr>
        <p:txBody>
          <a:bodyPr wrap="square" lIns="0" tIns="0" rIns="0" bIns="0" rtlCol="0" anchor="ctr"/>
          <a:lstStyle/>
          <a:p>
            <a:pPr marL="0" indent="0">
              <a:lnSpc>
                <a:spcPct val="112000"/>
              </a:lnSpc>
              <a:buNone/>
            </a:pPr>
            <a:r>
              <a:rPr lang="en-US" sz="1150" i="1">
                <a:solidFill>
                  <a:srgbClr val="0B6E70"/>
                </a:solidFill>
                <a:latin typeface="Calibri" pitchFamily="34" charset="0"/>
                <a:ea typeface="Calibri" pitchFamily="34" charset="-122"/>
                <a:cs typeface="Calibri" pitchFamily="34" charset="-120"/>
              </a:rPr>
              <a:t>The last ingredient is the trick. Claude proposes the plan first, which catches misunderstanding at the cheapest moment.</a:t>
            </a:r>
            <a:endParaRPr lang="en-US" sz="1150"/>
          </a:p>
        </p:txBody>
      </p:sp>
      <p:sp>
        <p:nvSpPr>
          <p:cNvPr id="22" name="Shape 15"/>
          <p:cNvSpPr/>
          <p:nvPr/>
        </p:nvSpPr>
        <p:spPr>
          <a:xfrm>
            <a:off x="5120640" y="1737360"/>
            <a:ext cx="6473952" cy="4343400"/>
          </a:xfrm>
          <a:prstGeom prst="roundRect">
            <a:avLst>
              <a:gd name="adj" fmla="val 1895"/>
            </a:avLst>
          </a:prstGeom>
          <a:solidFill>
            <a:srgbClr val="0E2334"/>
          </a:solidFill>
          <a:ln/>
          <a:effectLst>
            <a:outerShdw blurRad="88900" dist="25400" dir="5400000" algn="bl" rotWithShape="0">
              <a:srgbClr val="9FB1BC">
                <a:alpha val="30000"/>
              </a:srgbClr>
            </a:outerShdw>
          </a:effectLst>
        </p:spPr>
        <p:txBody>
          <a:bodyPr/>
          <a:lstStyle/>
          <a:p>
            <a:endParaRPr lang="en-US"/>
          </a:p>
        </p:txBody>
      </p:sp>
      <p:sp>
        <p:nvSpPr>
          <p:cNvPr id="23" name="Text 16"/>
          <p:cNvSpPr/>
          <p:nvPr/>
        </p:nvSpPr>
        <p:spPr>
          <a:xfrm>
            <a:off x="5413248" y="1901952"/>
            <a:ext cx="5852160" cy="274320"/>
          </a:xfrm>
          <a:prstGeom prst="rect">
            <a:avLst/>
          </a:prstGeom>
          <a:noFill/>
          <a:ln/>
        </p:spPr>
        <p:txBody>
          <a:bodyPr wrap="square" lIns="0" tIns="0" rIns="0" bIns="0" rtlCol="0" anchor="ctr"/>
          <a:lstStyle/>
          <a:p>
            <a:pPr marL="0" indent="0">
              <a:buNone/>
            </a:pPr>
            <a:r>
              <a:rPr lang="en-US" sz="1000" b="1" kern="0" spc="200">
                <a:solidFill>
                  <a:srgbClr val="7ED4D6"/>
                </a:solidFill>
                <a:latin typeface="Calibri" pitchFamily="34" charset="0"/>
                <a:ea typeface="Calibri" pitchFamily="34" charset="-122"/>
                <a:cs typeface="Calibri" pitchFamily="34" charset="-120"/>
              </a:rPr>
              <a:t>EXAMPLE: FIRST MESSAGE OF THE SESSION</a:t>
            </a:r>
            <a:endParaRPr lang="en-US" sz="1000"/>
          </a:p>
        </p:txBody>
      </p:sp>
      <p:sp>
        <p:nvSpPr>
          <p:cNvPr id="24" name="Text 17"/>
          <p:cNvSpPr/>
          <p:nvPr/>
        </p:nvSpPr>
        <p:spPr>
          <a:xfrm>
            <a:off x="5413248" y="2240280"/>
            <a:ext cx="5897880" cy="3703320"/>
          </a:xfrm>
          <a:prstGeom prst="rect">
            <a:avLst/>
          </a:prstGeom>
          <a:noFill/>
          <a:ln/>
        </p:spPr>
        <p:txBody>
          <a:bodyPr wrap="square" lIns="0" tIns="0" rIns="0" bIns="0" rtlCol="0" anchor="ctr"/>
          <a:lstStyle/>
          <a:p>
            <a:pPr marL="0" indent="0">
              <a:lnSpc>
                <a:spcPct val="118000"/>
              </a:lnSpc>
              <a:buNone/>
            </a:pPr>
            <a:r>
              <a:rPr lang="en-US" sz="1200">
                <a:solidFill>
                  <a:srgbClr val="C9D8E2"/>
                </a:solidFill>
                <a:latin typeface="Courier New" pitchFamily="34" charset="0"/>
                <a:ea typeface="Courier New" pitchFamily="34" charset="-122"/>
                <a:cs typeface="Courier New" pitchFamily="34" charset="-120"/>
              </a:rPr>
              <a:t>I am building a model of a </a:t>
            </a:r>
            <a:r>
              <a:rPr lang="en-US" sz="1200" b="1">
                <a:solidFill>
                  <a:srgbClr val="7ED4D6"/>
                </a:solidFill>
                <a:latin typeface="Courier New" pitchFamily="34" charset="0"/>
                <a:ea typeface="Courier New" pitchFamily="34" charset="-122"/>
                <a:cs typeface="Courier New" pitchFamily="34" charset="-120"/>
              </a:rPr>
              <a:t>State Tax Notice Tracker</a:t>
            </a:r>
            <a:r>
              <a:rPr lang="en-US" sz="1200">
                <a:solidFill>
                  <a:srgbClr val="C9D8E2"/>
                </a:solidFill>
                <a:latin typeface="Courier New" pitchFamily="34" charset="0"/>
                <a:ea typeface="Courier New" pitchFamily="34" charset="-122"/>
                <a:cs typeface="Courier New" pitchFamily="34" charset="-120"/>
              </a:rPr>
              <a:t> for </a:t>
            </a:r>
            <a:r>
              <a:rPr lang="en-US" sz="1200" b="1">
                <a:solidFill>
                  <a:srgbClr val="7ED4D6"/>
                </a:solidFill>
                <a:latin typeface="Courier New" pitchFamily="34" charset="0"/>
                <a:ea typeface="Courier New" pitchFamily="34" charset="-122"/>
                <a:cs typeface="Courier New" pitchFamily="34" charset="-120"/>
              </a:rPr>
              <a:t>tax analysts</a:t>
            </a:r>
            <a:r>
              <a:rPr lang="en-US" sz="1200">
                <a:solidFill>
                  <a:srgbClr val="C9D8E2"/>
                </a:solidFill>
                <a:latin typeface="Courier New" pitchFamily="34" charset="0"/>
                <a:ea typeface="Courier New" pitchFamily="34" charset="-122"/>
                <a:cs typeface="Courier New" pitchFamily="34" charset="-120"/>
              </a:rPr>
              <a:t> who </a:t>
            </a:r>
            <a:r>
              <a:rPr lang="en-US" sz="1200" b="1">
                <a:solidFill>
                  <a:srgbClr val="7ED4D6"/>
                </a:solidFill>
                <a:latin typeface="Courier New" pitchFamily="34" charset="0"/>
                <a:ea typeface="Courier New" pitchFamily="34" charset="-122"/>
                <a:cs typeface="Courier New" pitchFamily="34" charset="-120"/>
              </a:rPr>
              <a:t>log, assign, and resolve incoming state notices</a:t>
            </a:r>
            <a:r>
              <a:rPr lang="en-US" sz="1200">
                <a:solidFill>
                  <a:srgbClr val="C9D8E2"/>
                </a:solidFill>
                <a:latin typeface="Courier New" pitchFamily="34" charset="0"/>
                <a:ea typeface="Courier New" pitchFamily="34" charset="-122"/>
                <a:cs typeface="Courier New" pitchFamily="34" charset="-120"/>
              </a:rPr>
              <a:t>.</a:t>
            </a:r>
            <a:endParaRPr lang="en-US" sz="1200"/>
          </a:p>
          <a:p>
            <a:pPr marL="0" indent="0">
              <a:lnSpc>
                <a:spcPct val="118000"/>
              </a:lnSpc>
              <a:buNone/>
            </a:pPr>
            <a:endParaRPr lang="en-US" sz="1200"/>
          </a:p>
          <a:p>
            <a:pPr marL="0" indent="0">
              <a:lnSpc>
                <a:spcPct val="118000"/>
              </a:lnSpc>
              <a:buNone/>
            </a:pPr>
            <a:r>
              <a:rPr lang="en-US" sz="1200">
                <a:solidFill>
                  <a:srgbClr val="C9D8E2"/>
                </a:solidFill>
                <a:latin typeface="Courier New" pitchFamily="34" charset="0"/>
                <a:ea typeface="Courier New" pitchFamily="34" charset="-122"/>
                <a:cs typeface="Courier New" pitchFamily="34" charset="-120"/>
              </a:rPr>
              <a:t>Main screens: </a:t>
            </a:r>
            <a:endParaRPr lang="en-US" sz="1200"/>
          </a:p>
          <a:p>
            <a:pPr marL="0" indent="0">
              <a:lnSpc>
                <a:spcPct val="118000"/>
              </a:lnSpc>
              <a:buNone/>
            </a:pPr>
            <a:r>
              <a:rPr lang="en-US" sz="1200">
                <a:solidFill>
                  <a:srgbClr val="F0C878"/>
                </a:solidFill>
                <a:latin typeface="Courier New" pitchFamily="34" charset="0"/>
                <a:ea typeface="Courier New" pitchFamily="34" charset="-122"/>
                <a:cs typeface="Courier New" pitchFamily="34" charset="-120"/>
              </a:rPr>
              <a:t>notice list, notice detail, simple dashboard</a:t>
            </a:r>
            <a:r>
              <a:rPr lang="en-US" sz="1200">
                <a:solidFill>
                  <a:srgbClr val="C9D8E2"/>
                </a:solidFill>
                <a:latin typeface="Courier New" pitchFamily="34" charset="0"/>
                <a:ea typeface="Courier New" pitchFamily="34" charset="-122"/>
                <a:cs typeface="Courier New" pitchFamily="34" charset="-120"/>
              </a:rPr>
              <a:t>.</a:t>
            </a:r>
            <a:endParaRPr lang="en-US" sz="1200"/>
          </a:p>
          <a:p>
            <a:pPr marL="0" indent="0">
              <a:lnSpc>
                <a:spcPct val="118000"/>
              </a:lnSpc>
              <a:buNone/>
            </a:pPr>
            <a:r>
              <a:rPr lang="en-US" sz="1200">
                <a:solidFill>
                  <a:srgbClr val="C9D8E2"/>
                </a:solidFill>
                <a:latin typeface="Courier New" pitchFamily="34" charset="0"/>
                <a:ea typeface="Courier New" pitchFamily="34" charset="-122"/>
                <a:cs typeface="Courier New" pitchFamily="34" charset="-120"/>
              </a:rPr>
              <a:t>Key data: </a:t>
            </a:r>
            <a:endParaRPr lang="en-US" sz="1200"/>
          </a:p>
          <a:p>
            <a:pPr marL="0" indent="0">
              <a:lnSpc>
                <a:spcPct val="118000"/>
              </a:lnSpc>
              <a:buNone/>
            </a:pPr>
            <a:r>
              <a:rPr lang="en-US" sz="1200">
                <a:solidFill>
                  <a:srgbClr val="F0C878"/>
                </a:solidFill>
                <a:latin typeface="Courier New" pitchFamily="34" charset="0"/>
                <a:ea typeface="Courier New" pitchFamily="34" charset="-122"/>
                <a:cs typeface="Courier New" pitchFamily="34" charset="-120"/>
              </a:rPr>
              <a:t>notices (state, type, received date, due date, amount, status, assignee) and analysts (name, team)</a:t>
            </a:r>
            <a:r>
              <a:rPr lang="en-US" sz="1200">
                <a:solidFill>
                  <a:srgbClr val="C9D8E2"/>
                </a:solidFill>
                <a:latin typeface="Courier New" pitchFamily="34" charset="0"/>
                <a:ea typeface="Courier New" pitchFamily="34" charset="-122"/>
                <a:cs typeface="Courier New" pitchFamily="34" charset="-120"/>
              </a:rPr>
              <a:t>.</a:t>
            </a:r>
            <a:endParaRPr lang="en-US" sz="1200"/>
          </a:p>
          <a:p>
            <a:pPr marL="0" indent="0">
              <a:lnSpc>
                <a:spcPct val="118000"/>
              </a:lnSpc>
              <a:buNone/>
            </a:pPr>
            <a:endParaRPr lang="en-US" sz="1200"/>
          </a:p>
          <a:p>
            <a:pPr marL="0" indent="0">
              <a:lnSpc>
                <a:spcPct val="118000"/>
              </a:lnSpc>
              <a:buNone/>
            </a:pPr>
            <a:r>
              <a:rPr lang="en-US" sz="1200">
                <a:solidFill>
                  <a:srgbClr val="C9D8E2"/>
                </a:solidFill>
                <a:latin typeface="Courier New" pitchFamily="34" charset="0"/>
                <a:ea typeface="Courier New" pitchFamily="34" charset="-122"/>
                <a:cs typeface="Courier New" pitchFamily="34" charset="-120"/>
              </a:rPr>
              <a:t>Follow the CLAUDE.md rules in this folder. </a:t>
            </a:r>
            <a:endParaRPr lang="en-US" sz="1200"/>
          </a:p>
          <a:p>
            <a:pPr marL="0" indent="0">
              <a:lnSpc>
                <a:spcPct val="118000"/>
              </a:lnSpc>
              <a:buNone/>
            </a:pPr>
            <a:r>
              <a:rPr lang="en-US" sz="1200" b="1">
                <a:solidFill>
                  <a:srgbClr val="FFFFFF"/>
                </a:solidFill>
                <a:latin typeface="Courier New" pitchFamily="34" charset="0"/>
                <a:ea typeface="Courier New" pitchFamily="34" charset="-122"/>
                <a:cs typeface="Courier New" pitchFamily="34" charset="-120"/>
              </a:rPr>
              <a:t>Propose the screen list and layout approach first</a:t>
            </a:r>
            <a:r>
              <a:rPr lang="en-US" sz="1200">
                <a:solidFill>
                  <a:srgbClr val="C9D8E2"/>
                </a:solidFill>
                <a:latin typeface="Courier New" pitchFamily="34" charset="0"/>
                <a:ea typeface="Courier New" pitchFamily="34" charset="-122"/>
                <a:cs typeface="Courier New" pitchFamily="34" charset="-120"/>
              </a:rPr>
              <a:t>. After I confirm, build the shell, the first screen with realistic fake data, and the Model Charter.</a:t>
            </a:r>
            <a:endParaRPr lang="en-US" sz="12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2 · THE CRAFT</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The build loop: small ask, look, point, repeat</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17</a:t>
            </a:r>
            <a:endParaRPr lang="en-US" sz="900"/>
          </a:p>
        </p:txBody>
      </p:sp>
      <p:sp>
        <p:nvSpPr>
          <p:cNvPr id="6" name="Shape 4"/>
          <p:cNvSpPr/>
          <p:nvPr/>
        </p:nvSpPr>
        <p:spPr>
          <a:xfrm>
            <a:off x="594360" y="2057400"/>
            <a:ext cx="2048256" cy="2377440"/>
          </a:xfrm>
          <a:prstGeom prst="roundRect">
            <a:avLst>
              <a:gd name="adj" fmla="val 401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7" name="Shape 5"/>
          <p:cNvSpPr/>
          <p:nvPr/>
        </p:nvSpPr>
        <p:spPr>
          <a:xfrm>
            <a:off x="1289304" y="2331720"/>
            <a:ext cx="658368" cy="658368"/>
          </a:xfrm>
          <a:prstGeom prst="ellipse">
            <a:avLst/>
          </a:prstGeom>
          <a:solidFill>
            <a:srgbClr val="0F8B8D"/>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447312" y="2489728"/>
            <a:ext cx="342351" cy="342351"/>
          </a:xfrm>
          <a:prstGeom prst="rect">
            <a:avLst/>
          </a:prstGeom>
        </p:spPr>
      </p:pic>
      <p:sp>
        <p:nvSpPr>
          <p:cNvPr id="9" name="Text 6"/>
          <p:cNvSpPr/>
          <p:nvPr/>
        </p:nvSpPr>
        <p:spPr>
          <a:xfrm>
            <a:off x="658368" y="3127248"/>
            <a:ext cx="1920240" cy="365760"/>
          </a:xfrm>
          <a:prstGeom prst="rect">
            <a:avLst/>
          </a:prstGeom>
          <a:noFill/>
          <a:ln/>
        </p:spPr>
        <p:txBody>
          <a:bodyPr wrap="square" lIns="0" tIns="0" rIns="0" bIns="0" rtlCol="0" anchor="ctr"/>
          <a:lstStyle/>
          <a:p>
            <a:pPr marL="0" indent="0" algn="ctr">
              <a:buNone/>
            </a:pPr>
            <a:r>
              <a:rPr lang="en-US" sz="1450" b="1">
                <a:solidFill>
                  <a:srgbClr val="142F47"/>
                </a:solidFill>
                <a:latin typeface="Cambria" pitchFamily="34" charset="0"/>
                <a:ea typeface="Cambria" pitchFamily="34" charset="-122"/>
                <a:cs typeface="Cambria" pitchFamily="34" charset="-120"/>
              </a:rPr>
              <a:t>Ask small</a:t>
            </a:r>
            <a:endParaRPr lang="en-US" sz="1450"/>
          </a:p>
        </p:txBody>
      </p:sp>
      <p:sp>
        <p:nvSpPr>
          <p:cNvPr id="10" name="Text 7"/>
          <p:cNvSpPr/>
          <p:nvPr/>
        </p:nvSpPr>
        <p:spPr>
          <a:xfrm>
            <a:off x="676656" y="3502152"/>
            <a:ext cx="1883664" cy="777240"/>
          </a:xfrm>
          <a:prstGeom prst="rect">
            <a:avLst/>
          </a:prstGeom>
          <a:noFill/>
          <a:ln/>
        </p:spPr>
        <p:txBody>
          <a:bodyPr wrap="square" lIns="0" tIns="0" rIns="0" bIns="0" rtlCol="0" anchor="ctr"/>
          <a:lstStyle/>
          <a:p>
            <a:pPr marL="0" indent="0" algn="ctr">
              <a:lnSpc>
                <a:spcPct val="108000"/>
              </a:lnSpc>
              <a:buNone/>
            </a:pPr>
            <a:r>
              <a:rPr lang="en-US" sz="1050">
                <a:solidFill>
                  <a:srgbClr val="45586A"/>
                </a:solidFill>
                <a:latin typeface="Calibri" pitchFamily="34" charset="0"/>
                <a:ea typeface="Calibri" pitchFamily="34" charset="-122"/>
                <a:cs typeface="Calibri" pitchFamily="34" charset="-120"/>
              </a:rPr>
              <a:t>One screen, one change,</a:t>
            </a:r>
            <a:endParaRPr lang="en-US" sz="1050"/>
          </a:p>
          <a:p>
            <a:pPr marL="0" indent="0" algn="ctr">
              <a:lnSpc>
                <a:spcPct val="108000"/>
              </a:lnSpc>
              <a:buNone/>
            </a:pPr>
            <a:r>
              <a:rPr lang="en-US" sz="1050">
                <a:solidFill>
                  <a:srgbClr val="45586A"/>
                </a:solidFill>
                <a:latin typeface="Calibri" pitchFamily="34" charset="0"/>
                <a:ea typeface="Calibri" pitchFamily="34" charset="-122"/>
                <a:cs typeface="Calibri" pitchFamily="34" charset="-120"/>
              </a:rPr>
              <a:t>one idea at a time</a:t>
            </a:r>
            <a:endParaRPr lang="en-US" sz="1050"/>
          </a:p>
        </p:txBody>
      </p:sp>
      <p:sp>
        <p:nvSpPr>
          <p:cNvPr id="11" name="Shape 8"/>
          <p:cNvSpPr/>
          <p:nvPr/>
        </p:nvSpPr>
        <p:spPr>
          <a:xfrm>
            <a:off x="2633472" y="3127248"/>
            <a:ext cx="219456" cy="219456"/>
          </a:xfrm>
          <a:prstGeom prst="rightArrow">
            <a:avLst/>
          </a:prstGeom>
          <a:solidFill>
            <a:srgbClr val="0F8B8D"/>
          </a:solidFill>
          <a:ln/>
        </p:spPr>
        <p:txBody>
          <a:bodyPr/>
          <a:lstStyle/>
          <a:p>
            <a:endParaRPr lang="en-US"/>
          </a:p>
        </p:txBody>
      </p:sp>
      <p:sp>
        <p:nvSpPr>
          <p:cNvPr id="12" name="Shape 9"/>
          <p:cNvSpPr/>
          <p:nvPr/>
        </p:nvSpPr>
        <p:spPr>
          <a:xfrm>
            <a:off x="2830982" y="2057400"/>
            <a:ext cx="2048256" cy="2377440"/>
          </a:xfrm>
          <a:prstGeom prst="roundRect">
            <a:avLst>
              <a:gd name="adj" fmla="val 401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3" name="Shape 10"/>
          <p:cNvSpPr/>
          <p:nvPr/>
        </p:nvSpPr>
        <p:spPr>
          <a:xfrm>
            <a:off x="3525926" y="2331720"/>
            <a:ext cx="658368" cy="658368"/>
          </a:xfrm>
          <a:prstGeom prst="ellipse">
            <a:avLst/>
          </a:prstGeom>
          <a:solidFill>
            <a:srgbClr val="0F8B8D"/>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683935" y="2489728"/>
            <a:ext cx="342351" cy="342351"/>
          </a:xfrm>
          <a:prstGeom prst="rect">
            <a:avLst/>
          </a:prstGeom>
        </p:spPr>
      </p:pic>
      <p:sp>
        <p:nvSpPr>
          <p:cNvPr id="15" name="Text 11"/>
          <p:cNvSpPr/>
          <p:nvPr/>
        </p:nvSpPr>
        <p:spPr>
          <a:xfrm>
            <a:off x="2894990" y="3127248"/>
            <a:ext cx="1920240" cy="365760"/>
          </a:xfrm>
          <a:prstGeom prst="rect">
            <a:avLst/>
          </a:prstGeom>
          <a:noFill/>
          <a:ln/>
        </p:spPr>
        <p:txBody>
          <a:bodyPr wrap="square" lIns="0" tIns="0" rIns="0" bIns="0" rtlCol="0" anchor="ctr"/>
          <a:lstStyle/>
          <a:p>
            <a:pPr marL="0" indent="0" algn="ctr">
              <a:buNone/>
            </a:pPr>
            <a:r>
              <a:rPr lang="en-US" sz="1450" b="1">
                <a:solidFill>
                  <a:srgbClr val="142F47"/>
                </a:solidFill>
                <a:latin typeface="Cambria" pitchFamily="34" charset="0"/>
                <a:ea typeface="Cambria" pitchFamily="34" charset="-122"/>
                <a:cs typeface="Cambria" pitchFamily="34" charset="-120"/>
              </a:rPr>
              <a:t>Claude edits</a:t>
            </a:r>
            <a:endParaRPr lang="en-US" sz="1450"/>
          </a:p>
        </p:txBody>
      </p:sp>
      <p:sp>
        <p:nvSpPr>
          <p:cNvPr id="16" name="Text 12"/>
          <p:cNvSpPr/>
          <p:nvPr/>
        </p:nvSpPr>
        <p:spPr>
          <a:xfrm>
            <a:off x="2913278" y="3502152"/>
            <a:ext cx="1883664" cy="777240"/>
          </a:xfrm>
          <a:prstGeom prst="rect">
            <a:avLst/>
          </a:prstGeom>
          <a:noFill/>
          <a:ln/>
        </p:spPr>
        <p:txBody>
          <a:bodyPr wrap="square" lIns="0" tIns="0" rIns="0" bIns="0" rtlCol="0" anchor="ctr"/>
          <a:lstStyle/>
          <a:p>
            <a:pPr marL="0" indent="0" algn="ctr">
              <a:lnSpc>
                <a:spcPct val="108000"/>
              </a:lnSpc>
              <a:buNone/>
            </a:pPr>
            <a:r>
              <a:rPr lang="en-US" sz="1050">
                <a:solidFill>
                  <a:srgbClr val="45586A"/>
                </a:solidFill>
                <a:latin typeface="Calibri" pitchFamily="34" charset="0"/>
                <a:ea typeface="Calibri" pitchFamily="34" charset="-122"/>
                <a:cs typeface="Calibri" pitchFamily="34" charset="-120"/>
              </a:rPr>
              <a:t>The file updates</a:t>
            </a:r>
            <a:endParaRPr lang="en-US" sz="1050"/>
          </a:p>
          <a:p>
            <a:pPr marL="0" indent="0" algn="ctr">
              <a:lnSpc>
                <a:spcPct val="108000"/>
              </a:lnSpc>
              <a:buNone/>
            </a:pPr>
            <a:r>
              <a:rPr lang="en-US" sz="1050">
                <a:solidFill>
                  <a:srgbClr val="45586A"/>
                </a:solidFill>
                <a:latin typeface="Calibri" pitchFamily="34" charset="0"/>
                <a:ea typeface="Calibri" pitchFamily="34" charset="-122"/>
                <a:cs typeface="Calibri" pitchFamily="34" charset="-120"/>
              </a:rPr>
              <a:t>in seconds</a:t>
            </a:r>
            <a:endParaRPr lang="en-US" sz="1050"/>
          </a:p>
        </p:txBody>
      </p:sp>
      <p:sp>
        <p:nvSpPr>
          <p:cNvPr id="17" name="Shape 13"/>
          <p:cNvSpPr/>
          <p:nvPr/>
        </p:nvSpPr>
        <p:spPr>
          <a:xfrm>
            <a:off x="4870094" y="3127248"/>
            <a:ext cx="219456" cy="219456"/>
          </a:xfrm>
          <a:prstGeom prst="rightArrow">
            <a:avLst/>
          </a:prstGeom>
          <a:solidFill>
            <a:srgbClr val="0F8B8D"/>
          </a:solidFill>
          <a:ln/>
        </p:spPr>
        <p:txBody>
          <a:bodyPr/>
          <a:lstStyle/>
          <a:p>
            <a:endParaRPr lang="en-US"/>
          </a:p>
        </p:txBody>
      </p:sp>
      <p:sp>
        <p:nvSpPr>
          <p:cNvPr id="18" name="Shape 14"/>
          <p:cNvSpPr/>
          <p:nvPr/>
        </p:nvSpPr>
        <p:spPr>
          <a:xfrm>
            <a:off x="5067605" y="2057400"/>
            <a:ext cx="2048256" cy="2377440"/>
          </a:xfrm>
          <a:prstGeom prst="roundRect">
            <a:avLst>
              <a:gd name="adj" fmla="val 401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9" name="Shape 15"/>
          <p:cNvSpPr/>
          <p:nvPr/>
        </p:nvSpPr>
        <p:spPr>
          <a:xfrm>
            <a:off x="5762549" y="2331720"/>
            <a:ext cx="658368" cy="658368"/>
          </a:xfrm>
          <a:prstGeom prst="ellipse">
            <a:avLst/>
          </a:prstGeom>
          <a:solidFill>
            <a:srgbClr val="0F8B8D"/>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5920557" y="2489728"/>
            <a:ext cx="342351" cy="342351"/>
          </a:xfrm>
          <a:prstGeom prst="rect">
            <a:avLst/>
          </a:prstGeom>
        </p:spPr>
      </p:pic>
      <p:sp>
        <p:nvSpPr>
          <p:cNvPr id="21" name="Text 16"/>
          <p:cNvSpPr/>
          <p:nvPr/>
        </p:nvSpPr>
        <p:spPr>
          <a:xfrm>
            <a:off x="5131613" y="3127248"/>
            <a:ext cx="1920240" cy="365760"/>
          </a:xfrm>
          <a:prstGeom prst="rect">
            <a:avLst/>
          </a:prstGeom>
          <a:noFill/>
          <a:ln/>
        </p:spPr>
        <p:txBody>
          <a:bodyPr wrap="square" lIns="0" tIns="0" rIns="0" bIns="0" rtlCol="0" anchor="ctr"/>
          <a:lstStyle/>
          <a:p>
            <a:pPr marL="0" indent="0" algn="ctr">
              <a:buNone/>
            </a:pPr>
            <a:r>
              <a:rPr lang="en-US" sz="1450" b="1">
                <a:solidFill>
                  <a:srgbClr val="142F47"/>
                </a:solidFill>
                <a:latin typeface="Cambria" pitchFamily="34" charset="0"/>
                <a:ea typeface="Cambria" pitchFamily="34" charset="-122"/>
                <a:cs typeface="Cambria" pitchFamily="34" charset="-120"/>
              </a:rPr>
              <a:t>Refresh</a:t>
            </a:r>
            <a:endParaRPr lang="en-US" sz="1450"/>
          </a:p>
        </p:txBody>
      </p:sp>
      <p:sp>
        <p:nvSpPr>
          <p:cNvPr id="22" name="Text 17"/>
          <p:cNvSpPr/>
          <p:nvPr/>
        </p:nvSpPr>
        <p:spPr>
          <a:xfrm>
            <a:off x="5149901" y="3502152"/>
            <a:ext cx="1883664" cy="777240"/>
          </a:xfrm>
          <a:prstGeom prst="rect">
            <a:avLst/>
          </a:prstGeom>
          <a:noFill/>
          <a:ln/>
        </p:spPr>
        <p:txBody>
          <a:bodyPr wrap="square" lIns="0" tIns="0" rIns="0" bIns="0" rtlCol="0" anchor="ctr"/>
          <a:lstStyle/>
          <a:p>
            <a:pPr marL="0" indent="0" algn="ctr">
              <a:lnSpc>
                <a:spcPct val="108000"/>
              </a:lnSpc>
              <a:buNone/>
            </a:pPr>
            <a:r>
              <a:rPr lang="en-US" sz="1050">
                <a:solidFill>
                  <a:srgbClr val="45586A"/>
                </a:solidFill>
                <a:latin typeface="Calibri" pitchFamily="34" charset="0"/>
                <a:ea typeface="Calibri" pitchFamily="34" charset="-122"/>
                <a:cs typeface="Calibri" pitchFamily="34" charset="-120"/>
              </a:rPr>
              <a:t>Browser open beside</a:t>
            </a:r>
            <a:endParaRPr lang="en-US" sz="1050"/>
          </a:p>
          <a:p>
            <a:pPr marL="0" indent="0" algn="ctr">
              <a:lnSpc>
                <a:spcPct val="108000"/>
              </a:lnSpc>
              <a:buNone/>
            </a:pPr>
            <a:r>
              <a:rPr lang="en-US" sz="1050">
                <a:solidFill>
                  <a:srgbClr val="45586A"/>
                </a:solidFill>
                <a:latin typeface="Calibri" pitchFamily="34" charset="0"/>
                <a:ea typeface="Calibri" pitchFamily="34" charset="-122"/>
                <a:cs typeface="Calibri" pitchFamily="34" charset="-120"/>
              </a:rPr>
              <a:t>Claude Code, always</a:t>
            </a:r>
            <a:endParaRPr lang="en-US" sz="1050"/>
          </a:p>
        </p:txBody>
      </p:sp>
      <p:sp>
        <p:nvSpPr>
          <p:cNvPr id="23" name="Shape 18"/>
          <p:cNvSpPr/>
          <p:nvPr/>
        </p:nvSpPr>
        <p:spPr>
          <a:xfrm>
            <a:off x="7106717" y="3127248"/>
            <a:ext cx="219456" cy="219456"/>
          </a:xfrm>
          <a:prstGeom prst="rightArrow">
            <a:avLst/>
          </a:prstGeom>
          <a:solidFill>
            <a:srgbClr val="0F8B8D"/>
          </a:solidFill>
          <a:ln/>
        </p:spPr>
        <p:txBody>
          <a:bodyPr/>
          <a:lstStyle/>
          <a:p>
            <a:endParaRPr lang="en-US"/>
          </a:p>
        </p:txBody>
      </p:sp>
      <p:sp>
        <p:nvSpPr>
          <p:cNvPr id="24" name="Shape 19"/>
          <p:cNvSpPr/>
          <p:nvPr/>
        </p:nvSpPr>
        <p:spPr>
          <a:xfrm>
            <a:off x="7304227" y="2057400"/>
            <a:ext cx="2048256" cy="2377440"/>
          </a:xfrm>
          <a:prstGeom prst="roundRect">
            <a:avLst>
              <a:gd name="adj" fmla="val 401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25" name="Shape 20"/>
          <p:cNvSpPr/>
          <p:nvPr/>
        </p:nvSpPr>
        <p:spPr>
          <a:xfrm>
            <a:off x="7999171" y="2331720"/>
            <a:ext cx="658368" cy="658368"/>
          </a:xfrm>
          <a:prstGeom prst="ellipse">
            <a:avLst/>
          </a:prstGeom>
          <a:solidFill>
            <a:srgbClr val="0F8B8D"/>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8157180" y="2489728"/>
            <a:ext cx="342351" cy="342351"/>
          </a:xfrm>
          <a:prstGeom prst="rect">
            <a:avLst/>
          </a:prstGeom>
        </p:spPr>
      </p:pic>
      <p:sp>
        <p:nvSpPr>
          <p:cNvPr id="27" name="Text 21"/>
          <p:cNvSpPr/>
          <p:nvPr/>
        </p:nvSpPr>
        <p:spPr>
          <a:xfrm>
            <a:off x="7368235" y="3127248"/>
            <a:ext cx="1920240" cy="365760"/>
          </a:xfrm>
          <a:prstGeom prst="rect">
            <a:avLst/>
          </a:prstGeom>
          <a:noFill/>
          <a:ln/>
        </p:spPr>
        <p:txBody>
          <a:bodyPr wrap="square" lIns="0" tIns="0" rIns="0" bIns="0" rtlCol="0" anchor="ctr"/>
          <a:lstStyle/>
          <a:p>
            <a:pPr marL="0" indent="0" algn="ctr">
              <a:buNone/>
            </a:pPr>
            <a:r>
              <a:rPr lang="en-US" sz="1450" b="1">
                <a:solidFill>
                  <a:srgbClr val="142F47"/>
                </a:solidFill>
                <a:latin typeface="Cambria" pitchFamily="34" charset="0"/>
                <a:ea typeface="Cambria" pitchFamily="34" charset="-122"/>
                <a:cs typeface="Cambria" pitchFamily="34" charset="-120"/>
              </a:rPr>
              <a:t>Look</a:t>
            </a:r>
            <a:endParaRPr lang="en-US" sz="1450"/>
          </a:p>
        </p:txBody>
      </p:sp>
      <p:sp>
        <p:nvSpPr>
          <p:cNvPr id="28" name="Text 22"/>
          <p:cNvSpPr/>
          <p:nvPr/>
        </p:nvSpPr>
        <p:spPr>
          <a:xfrm>
            <a:off x="7386523" y="3502152"/>
            <a:ext cx="1883664" cy="777240"/>
          </a:xfrm>
          <a:prstGeom prst="rect">
            <a:avLst/>
          </a:prstGeom>
          <a:noFill/>
          <a:ln/>
        </p:spPr>
        <p:txBody>
          <a:bodyPr wrap="square" lIns="0" tIns="0" rIns="0" bIns="0" rtlCol="0" anchor="ctr"/>
          <a:lstStyle/>
          <a:p>
            <a:pPr marL="0" indent="0" algn="ctr">
              <a:lnSpc>
                <a:spcPct val="108000"/>
              </a:lnSpc>
              <a:buNone/>
            </a:pPr>
            <a:r>
              <a:rPr lang="en-US" sz="1050">
                <a:solidFill>
                  <a:srgbClr val="45586A"/>
                </a:solidFill>
                <a:latin typeface="Calibri" pitchFamily="34" charset="0"/>
                <a:ea typeface="Calibri" pitchFamily="34" charset="-122"/>
                <a:cs typeface="Calibri" pitchFamily="34" charset="-120"/>
              </a:rPr>
              <a:t>Judge the real thing,</a:t>
            </a:r>
            <a:endParaRPr lang="en-US" sz="1050"/>
          </a:p>
          <a:p>
            <a:pPr marL="0" indent="0" algn="ctr">
              <a:lnSpc>
                <a:spcPct val="108000"/>
              </a:lnSpc>
              <a:buNone/>
            </a:pPr>
            <a:r>
              <a:rPr lang="en-US" sz="1050">
                <a:solidFill>
                  <a:srgbClr val="45586A"/>
                </a:solidFill>
                <a:latin typeface="Calibri" pitchFamily="34" charset="0"/>
                <a:ea typeface="Calibri" pitchFamily="34" charset="-122"/>
                <a:cs typeface="Calibri" pitchFamily="34" charset="-120"/>
              </a:rPr>
              <a:t>not the description</a:t>
            </a:r>
            <a:endParaRPr lang="en-US" sz="1050"/>
          </a:p>
        </p:txBody>
      </p:sp>
      <p:sp>
        <p:nvSpPr>
          <p:cNvPr id="29" name="Shape 23"/>
          <p:cNvSpPr/>
          <p:nvPr/>
        </p:nvSpPr>
        <p:spPr>
          <a:xfrm>
            <a:off x="9343339" y="3127248"/>
            <a:ext cx="219456" cy="219456"/>
          </a:xfrm>
          <a:prstGeom prst="rightArrow">
            <a:avLst/>
          </a:prstGeom>
          <a:solidFill>
            <a:srgbClr val="0F8B8D"/>
          </a:solidFill>
          <a:ln/>
        </p:spPr>
        <p:txBody>
          <a:bodyPr/>
          <a:lstStyle/>
          <a:p>
            <a:endParaRPr lang="en-US"/>
          </a:p>
        </p:txBody>
      </p:sp>
      <p:sp>
        <p:nvSpPr>
          <p:cNvPr id="30" name="Shape 24"/>
          <p:cNvSpPr/>
          <p:nvPr/>
        </p:nvSpPr>
        <p:spPr>
          <a:xfrm>
            <a:off x="9540850" y="2057400"/>
            <a:ext cx="2048256" cy="2377440"/>
          </a:xfrm>
          <a:prstGeom prst="roundRect">
            <a:avLst>
              <a:gd name="adj" fmla="val 401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31" name="Shape 25"/>
          <p:cNvSpPr/>
          <p:nvPr/>
        </p:nvSpPr>
        <p:spPr>
          <a:xfrm>
            <a:off x="10235794" y="2331720"/>
            <a:ext cx="658368" cy="658368"/>
          </a:xfrm>
          <a:prstGeom prst="ellipse">
            <a:avLst/>
          </a:prstGeom>
          <a:solidFill>
            <a:srgbClr val="0F8B8D"/>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10393802" y="2489728"/>
            <a:ext cx="342351" cy="342351"/>
          </a:xfrm>
          <a:prstGeom prst="rect">
            <a:avLst/>
          </a:prstGeom>
        </p:spPr>
      </p:pic>
      <p:sp>
        <p:nvSpPr>
          <p:cNvPr id="33" name="Text 26"/>
          <p:cNvSpPr/>
          <p:nvPr/>
        </p:nvSpPr>
        <p:spPr>
          <a:xfrm>
            <a:off x="9604858" y="3127248"/>
            <a:ext cx="1920240" cy="365760"/>
          </a:xfrm>
          <a:prstGeom prst="rect">
            <a:avLst/>
          </a:prstGeom>
          <a:noFill/>
          <a:ln/>
        </p:spPr>
        <p:txBody>
          <a:bodyPr wrap="square" lIns="0" tIns="0" rIns="0" bIns="0" rtlCol="0" anchor="ctr"/>
          <a:lstStyle/>
          <a:p>
            <a:pPr marL="0" indent="0" algn="ctr">
              <a:buNone/>
            </a:pPr>
            <a:r>
              <a:rPr lang="en-US" sz="1450" b="1">
                <a:solidFill>
                  <a:srgbClr val="142F47"/>
                </a:solidFill>
                <a:latin typeface="Cambria" pitchFamily="34" charset="0"/>
                <a:ea typeface="Cambria" pitchFamily="34" charset="-122"/>
                <a:cs typeface="Cambria" pitchFamily="34" charset="-120"/>
              </a:rPr>
              <a:t>Point</a:t>
            </a:r>
            <a:endParaRPr lang="en-US" sz="1450"/>
          </a:p>
        </p:txBody>
      </p:sp>
      <p:sp>
        <p:nvSpPr>
          <p:cNvPr id="34" name="Text 27"/>
          <p:cNvSpPr/>
          <p:nvPr/>
        </p:nvSpPr>
        <p:spPr>
          <a:xfrm>
            <a:off x="9623146" y="3502152"/>
            <a:ext cx="1883664" cy="777240"/>
          </a:xfrm>
          <a:prstGeom prst="rect">
            <a:avLst/>
          </a:prstGeom>
          <a:noFill/>
          <a:ln/>
        </p:spPr>
        <p:txBody>
          <a:bodyPr wrap="square" lIns="0" tIns="0" rIns="0" bIns="0" rtlCol="0" anchor="ctr"/>
          <a:lstStyle/>
          <a:p>
            <a:pPr marL="0" indent="0" algn="ctr">
              <a:lnSpc>
                <a:spcPct val="108000"/>
              </a:lnSpc>
              <a:buNone/>
            </a:pPr>
            <a:r>
              <a:rPr lang="en-US" sz="1050">
                <a:solidFill>
                  <a:srgbClr val="45586A"/>
                </a:solidFill>
                <a:latin typeface="Calibri" pitchFamily="34" charset="0"/>
                <a:ea typeface="Calibri" pitchFamily="34" charset="-122"/>
                <a:cs typeface="Calibri" pitchFamily="34" charset="-120"/>
              </a:rPr>
              <a:t>Name what is off,</a:t>
            </a:r>
            <a:endParaRPr lang="en-US" sz="1050"/>
          </a:p>
          <a:p>
            <a:pPr marL="0" indent="0" algn="ctr">
              <a:lnSpc>
                <a:spcPct val="108000"/>
              </a:lnSpc>
              <a:buNone/>
            </a:pPr>
            <a:r>
              <a:rPr lang="en-US" sz="1050">
                <a:solidFill>
                  <a:srgbClr val="45586A"/>
                </a:solidFill>
                <a:latin typeface="Calibri" pitchFamily="34" charset="0"/>
                <a:ea typeface="Calibri" pitchFamily="34" charset="-122"/>
                <a:cs typeface="Calibri" pitchFamily="34" charset="-120"/>
              </a:rPr>
              <a:t>then go again</a:t>
            </a:r>
            <a:endParaRPr lang="en-US" sz="1050"/>
          </a:p>
        </p:txBody>
      </p:sp>
      <p:sp>
        <p:nvSpPr>
          <p:cNvPr id="35" name="Shape 28"/>
          <p:cNvSpPr/>
          <p:nvPr/>
        </p:nvSpPr>
        <p:spPr>
          <a:xfrm>
            <a:off x="10561320" y="4617720"/>
            <a:ext cx="0" cy="502920"/>
          </a:xfrm>
          <a:prstGeom prst="line">
            <a:avLst/>
          </a:prstGeom>
          <a:noFill/>
          <a:ln w="25400">
            <a:solidFill>
              <a:srgbClr val="0B6E70"/>
            </a:solidFill>
            <a:prstDash val="solid"/>
          </a:ln>
        </p:spPr>
        <p:txBody>
          <a:bodyPr/>
          <a:lstStyle/>
          <a:p>
            <a:endParaRPr lang="en-US"/>
          </a:p>
        </p:txBody>
      </p:sp>
      <p:sp>
        <p:nvSpPr>
          <p:cNvPr id="36" name="Shape 29"/>
          <p:cNvSpPr/>
          <p:nvPr/>
        </p:nvSpPr>
        <p:spPr>
          <a:xfrm>
            <a:off x="1618488" y="5120640"/>
            <a:ext cx="8942832" cy="0"/>
          </a:xfrm>
          <a:prstGeom prst="line">
            <a:avLst/>
          </a:prstGeom>
          <a:noFill/>
          <a:ln w="25400">
            <a:solidFill>
              <a:srgbClr val="0B6E70"/>
            </a:solidFill>
            <a:prstDash val="solid"/>
          </a:ln>
        </p:spPr>
        <p:txBody>
          <a:bodyPr/>
          <a:lstStyle/>
          <a:p>
            <a:endParaRPr lang="en-US"/>
          </a:p>
        </p:txBody>
      </p:sp>
      <p:sp>
        <p:nvSpPr>
          <p:cNvPr id="37" name="Shape 30"/>
          <p:cNvSpPr/>
          <p:nvPr/>
        </p:nvSpPr>
        <p:spPr>
          <a:xfrm>
            <a:off x="1618488" y="4617720"/>
            <a:ext cx="0" cy="502920"/>
          </a:xfrm>
          <a:prstGeom prst="line">
            <a:avLst/>
          </a:prstGeom>
          <a:noFill/>
          <a:ln w="25400">
            <a:solidFill>
              <a:srgbClr val="0B6E70"/>
            </a:solidFill>
            <a:prstDash val="solid"/>
            <a:headEnd type="triangle"/>
          </a:ln>
        </p:spPr>
        <p:txBody>
          <a:bodyPr/>
          <a:lstStyle/>
          <a:p>
            <a:endParaRPr lang="en-US"/>
          </a:p>
        </p:txBody>
      </p:sp>
      <p:sp>
        <p:nvSpPr>
          <p:cNvPr id="38" name="Text 31"/>
          <p:cNvSpPr/>
          <p:nvPr/>
        </p:nvSpPr>
        <p:spPr>
          <a:xfrm>
            <a:off x="2194560" y="5230368"/>
            <a:ext cx="8138160" cy="365760"/>
          </a:xfrm>
          <a:prstGeom prst="rect">
            <a:avLst/>
          </a:prstGeom>
          <a:noFill/>
          <a:ln/>
        </p:spPr>
        <p:txBody>
          <a:bodyPr wrap="square" lIns="0" tIns="0" rIns="0" bIns="0" rtlCol="0" anchor="ctr"/>
          <a:lstStyle/>
          <a:p>
            <a:pPr marL="0" indent="0" algn="ctr">
              <a:buNone/>
            </a:pPr>
            <a:r>
              <a:rPr lang="en-US" sz="1300" i="1">
                <a:solidFill>
                  <a:srgbClr val="0B6E70"/>
                </a:solidFill>
                <a:latin typeface="Calibri" pitchFamily="34" charset="0"/>
                <a:ea typeface="Calibri" pitchFamily="34" charset="-122"/>
                <a:cs typeface="Calibri" pitchFamily="34" charset="-120"/>
              </a:rPr>
              <a:t>…and around again. Momentum is many small correct steps, never one giant leap.</a:t>
            </a:r>
            <a:endParaRPr lang="en-US" sz="13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2 · THE CRAFT</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Point precisely: name the element, the change, the values</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18</a:t>
            </a:r>
            <a:endParaRPr lang="en-US" sz="900"/>
          </a:p>
        </p:txBody>
      </p:sp>
      <p:sp>
        <p:nvSpPr>
          <p:cNvPr id="6" name="Shape 4"/>
          <p:cNvSpPr/>
          <p:nvPr/>
        </p:nvSpPr>
        <p:spPr>
          <a:xfrm>
            <a:off x="594360" y="1874520"/>
            <a:ext cx="4206240" cy="1691640"/>
          </a:xfrm>
          <a:prstGeom prst="roundRect">
            <a:avLst>
              <a:gd name="adj" fmla="val 4865"/>
            </a:avLst>
          </a:prstGeom>
          <a:solidFill>
            <a:srgbClr val="F5F8F9"/>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7" name="Text 5"/>
          <p:cNvSpPr/>
          <p:nvPr/>
        </p:nvSpPr>
        <p:spPr>
          <a:xfrm>
            <a:off x="868680" y="2039112"/>
            <a:ext cx="3657600" cy="256032"/>
          </a:xfrm>
          <a:prstGeom prst="rect">
            <a:avLst/>
          </a:prstGeom>
          <a:noFill/>
          <a:ln/>
        </p:spPr>
        <p:txBody>
          <a:bodyPr wrap="square" lIns="0" tIns="0" rIns="0" bIns="0" rtlCol="0" anchor="ctr"/>
          <a:lstStyle/>
          <a:p>
            <a:pPr marL="0" indent="0">
              <a:buNone/>
            </a:pPr>
            <a:r>
              <a:rPr lang="en-US" sz="950" b="1" kern="0" spc="200">
                <a:solidFill>
                  <a:srgbClr val="7C8B99"/>
                </a:solidFill>
                <a:latin typeface="Calibri" pitchFamily="34" charset="0"/>
                <a:ea typeface="Calibri" pitchFamily="34" charset="-122"/>
                <a:cs typeface="Calibri" pitchFamily="34" charset="-120"/>
              </a:rPr>
              <a:t>VAGUE: CLAUDE GUESSES</a:t>
            </a:r>
            <a:endParaRPr lang="en-US" sz="950"/>
          </a:p>
        </p:txBody>
      </p:sp>
      <p:sp>
        <p:nvSpPr>
          <p:cNvPr id="8" name="Text 6"/>
          <p:cNvSpPr/>
          <p:nvPr/>
        </p:nvSpPr>
        <p:spPr>
          <a:xfrm>
            <a:off x="868680" y="2350008"/>
            <a:ext cx="3657600" cy="1051560"/>
          </a:xfrm>
          <a:prstGeom prst="rect">
            <a:avLst/>
          </a:prstGeom>
          <a:noFill/>
          <a:ln/>
        </p:spPr>
        <p:txBody>
          <a:bodyPr wrap="square" lIns="0" tIns="0" rIns="0" bIns="0" rtlCol="0" anchor="ctr"/>
          <a:lstStyle/>
          <a:p>
            <a:pPr marL="0" indent="0">
              <a:lnSpc>
                <a:spcPct val="112000"/>
              </a:lnSpc>
              <a:buNone/>
            </a:pPr>
            <a:r>
              <a:rPr lang="en-US" sz="1400" i="1">
                <a:solidFill>
                  <a:srgbClr val="5B6C7B"/>
                </a:solidFill>
                <a:latin typeface="Calibri" pitchFamily="34" charset="0"/>
                <a:ea typeface="Calibri" pitchFamily="34" charset="-122"/>
                <a:cs typeface="Calibri" pitchFamily="34" charset="-120"/>
              </a:rPr>
              <a:t>“Make the table look better.”</a:t>
            </a:r>
            <a:endParaRPr lang="en-US" sz="1400"/>
          </a:p>
        </p:txBody>
      </p:sp>
      <p:sp>
        <p:nvSpPr>
          <p:cNvPr id="9" name="Shape 7"/>
          <p:cNvSpPr/>
          <p:nvPr/>
        </p:nvSpPr>
        <p:spPr>
          <a:xfrm>
            <a:off x="4956048" y="2587752"/>
            <a:ext cx="457200" cy="292608"/>
          </a:xfrm>
          <a:prstGeom prst="rightArrow">
            <a:avLst/>
          </a:prstGeom>
          <a:solidFill>
            <a:srgbClr val="DFA13F"/>
          </a:solidFill>
          <a:ln/>
        </p:spPr>
        <p:txBody>
          <a:bodyPr/>
          <a:lstStyle/>
          <a:p>
            <a:endParaRPr lang="en-US"/>
          </a:p>
        </p:txBody>
      </p:sp>
      <p:sp>
        <p:nvSpPr>
          <p:cNvPr id="10" name="Shape 8"/>
          <p:cNvSpPr/>
          <p:nvPr/>
        </p:nvSpPr>
        <p:spPr>
          <a:xfrm>
            <a:off x="5577840" y="1874520"/>
            <a:ext cx="5989320" cy="1691640"/>
          </a:xfrm>
          <a:prstGeom prst="roundRect">
            <a:avLst>
              <a:gd name="adj" fmla="val 4865"/>
            </a:avLst>
          </a:prstGeom>
          <a:solidFill>
            <a:srgbClr val="E4F2F2"/>
          </a:solidFill>
          <a:ln w="12700">
            <a:solidFill>
              <a:srgbClr val="CBE4E4"/>
            </a:solidFill>
            <a:prstDash val="solid"/>
          </a:ln>
          <a:effectLst>
            <a:outerShdw blurRad="88900" dist="25400" dir="5400000" algn="bl" rotWithShape="0">
              <a:srgbClr val="9FB1BC">
                <a:alpha val="30000"/>
              </a:srgbClr>
            </a:outerShdw>
          </a:effectLst>
        </p:spPr>
        <p:txBody>
          <a:bodyPr/>
          <a:lstStyle/>
          <a:p>
            <a:endParaRPr lang="en-US"/>
          </a:p>
        </p:txBody>
      </p:sp>
      <p:sp>
        <p:nvSpPr>
          <p:cNvPr id="11" name="Text 9"/>
          <p:cNvSpPr/>
          <p:nvPr/>
        </p:nvSpPr>
        <p:spPr>
          <a:xfrm>
            <a:off x="5852160" y="2039112"/>
            <a:ext cx="5394960" cy="256032"/>
          </a:xfrm>
          <a:prstGeom prst="rect">
            <a:avLst/>
          </a:prstGeom>
          <a:noFill/>
          <a:ln/>
        </p:spPr>
        <p:txBody>
          <a:bodyPr wrap="square" lIns="0" tIns="0" rIns="0" bIns="0" rtlCol="0" anchor="ctr"/>
          <a:lstStyle/>
          <a:p>
            <a:pPr marL="0" indent="0">
              <a:buNone/>
            </a:pPr>
            <a:r>
              <a:rPr lang="en-US" sz="950" b="1" kern="0" spc="200">
                <a:solidFill>
                  <a:srgbClr val="0B6E70"/>
                </a:solidFill>
                <a:latin typeface="Calibri" pitchFamily="34" charset="0"/>
                <a:ea typeface="Calibri" pitchFamily="34" charset="-122"/>
                <a:cs typeface="Calibri" pitchFamily="34" charset="-120"/>
              </a:rPr>
              <a:t>SPECIFIC: CLAUDE NAILS IT</a:t>
            </a:r>
            <a:endParaRPr lang="en-US" sz="950"/>
          </a:p>
        </p:txBody>
      </p:sp>
      <p:sp>
        <p:nvSpPr>
          <p:cNvPr id="12" name="Text 10"/>
          <p:cNvSpPr/>
          <p:nvPr/>
        </p:nvSpPr>
        <p:spPr>
          <a:xfrm>
            <a:off x="5852160" y="2350008"/>
            <a:ext cx="5440680" cy="1097280"/>
          </a:xfrm>
          <a:prstGeom prst="rect">
            <a:avLst/>
          </a:prstGeom>
          <a:noFill/>
          <a:ln/>
        </p:spPr>
        <p:txBody>
          <a:bodyPr wrap="square" lIns="0" tIns="0" rIns="0" bIns="0" rtlCol="0" anchor="ctr"/>
          <a:lstStyle/>
          <a:p>
            <a:pPr marL="0" indent="0">
              <a:lnSpc>
                <a:spcPct val="112000"/>
              </a:lnSpc>
              <a:buNone/>
            </a:pPr>
            <a:r>
              <a:rPr lang="en-US" sz="1350">
                <a:solidFill>
                  <a:srgbClr val="20364A"/>
                </a:solidFill>
                <a:latin typeface="Calibri" pitchFamily="34" charset="0"/>
                <a:ea typeface="Calibri" pitchFamily="34" charset="-122"/>
                <a:cs typeface="Calibri" pitchFamily="34" charset="-120"/>
              </a:rPr>
              <a:t>“In the notices table, make Status a colored pill: green for Resolved, amber for In Review, red for Overdue.”</a:t>
            </a:r>
            <a:endParaRPr lang="en-US" sz="1350"/>
          </a:p>
        </p:txBody>
      </p:sp>
      <p:sp>
        <p:nvSpPr>
          <p:cNvPr id="13" name="Shape 11"/>
          <p:cNvSpPr/>
          <p:nvPr/>
        </p:nvSpPr>
        <p:spPr>
          <a:xfrm>
            <a:off x="594360" y="3840480"/>
            <a:ext cx="4206240" cy="1691640"/>
          </a:xfrm>
          <a:prstGeom prst="roundRect">
            <a:avLst>
              <a:gd name="adj" fmla="val 4865"/>
            </a:avLst>
          </a:prstGeom>
          <a:solidFill>
            <a:srgbClr val="F5F8F9"/>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4" name="Text 12"/>
          <p:cNvSpPr/>
          <p:nvPr/>
        </p:nvSpPr>
        <p:spPr>
          <a:xfrm>
            <a:off x="868680" y="4005072"/>
            <a:ext cx="3657600" cy="256032"/>
          </a:xfrm>
          <a:prstGeom prst="rect">
            <a:avLst/>
          </a:prstGeom>
          <a:noFill/>
          <a:ln/>
        </p:spPr>
        <p:txBody>
          <a:bodyPr wrap="square" lIns="0" tIns="0" rIns="0" bIns="0" rtlCol="0" anchor="ctr"/>
          <a:lstStyle/>
          <a:p>
            <a:pPr marL="0" indent="0">
              <a:buNone/>
            </a:pPr>
            <a:r>
              <a:rPr lang="en-US" sz="950" b="1" kern="0" spc="200">
                <a:solidFill>
                  <a:srgbClr val="7C8B99"/>
                </a:solidFill>
                <a:latin typeface="Calibri" pitchFamily="34" charset="0"/>
                <a:ea typeface="Calibri" pitchFamily="34" charset="-122"/>
                <a:cs typeface="Calibri" pitchFamily="34" charset="-120"/>
              </a:rPr>
              <a:t>VAGUE: CLAUDE GUESSES</a:t>
            </a:r>
            <a:endParaRPr lang="en-US" sz="950"/>
          </a:p>
        </p:txBody>
      </p:sp>
      <p:sp>
        <p:nvSpPr>
          <p:cNvPr id="15" name="Text 13"/>
          <p:cNvSpPr/>
          <p:nvPr/>
        </p:nvSpPr>
        <p:spPr>
          <a:xfrm>
            <a:off x="868680" y="4315968"/>
            <a:ext cx="3657600" cy="1051560"/>
          </a:xfrm>
          <a:prstGeom prst="rect">
            <a:avLst/>
          </a:prstGeom>
          <a:noFill/>
          <a:ln/>
        </p:spPr>
        <p:txBody>
          <a:bodyPr wrap="square" lIns="0" tIns="0" rIns="0" bIns="0" rtlCol="0" anchor="ctr"/>
          <a:lstStyle/>
          <a:p>
            <a:pPr marL="0" indent="0">
              <a:lnSpc>
                <a:spcPct val="112000"/>
              </a:lnSpc>
              <a:buNone/>
            </a:pPr>
            <a:r>
              <a:rPr lang="en-US" sz="1400" i="1">
                <a:solidFill>
                  <a:srgbClr val="5B6C7B"/>
                </a:solidFill>
                <a:latin typeface="Calibri" pitchFamily="34" charset="0"/>
                <a:ea typeface="Calibri" pitchFamily="34" charset="-122"/>
                <a:cs typeface="Calibri" pitchFamily="34" charset="-120"/>
              </a:rPr>
              <a:t>“The detail page feels empty.”</a:t>
            </a:r>
            <a:endParaRPr lang="en-US" sz="1400"/>
          </a:p>
        </p:txBody>
      </p:sp>
      <p:sp>
        <p:nvSpPr>
          <p:cNvPr id="16" name="Shape 14"/>
          <p:cNvSpPr/>
          <p:nvPr/>
        </p:nvSpPr>
        <p:spPr>
          <a:xfrm>
            <a:off x="4956048" y="4553712"/>
            <a:ext cx="457200" cy="292608"/>
          </a:xfrm>
          <a:prstGeom prst="rightArrow">
            <a:avLst/>
          </a:prstGeom>
          <a:solidFill>
            <a:srgbClr val="DFA13F"/>
          </a:solidFill>
          <a:ln/>
        </p:spPr>
        <p:txBody>
          <a:bodyPr/>
          <a:lstStyle/>
          <a:p>
            <a:endParaRPr lang="en-US"/>
          </a:p>
        </p:txBody>
      </p:sp>
      <p:sp>
        <p:nvSpPr>
          <p:cNvPr id="17" name="Shape 15"/>
          <p:cNvSpPr/>
          <p:nvPr/>
        </p:nvSpPr>
        <p:spPr>
          <a:xfrm>
            <a:off x="5577840" y="3840480"/>
            <a:ext cx="5989320" cy="1691640"/>
          </a:xfrm>
          <a:prstGeom prst="roundRect">
            <a:avLst>
              <a:gd name="adj" fmla="val 4865"/>
            </a:avLst>
          </a:prstGeom>
          <a:solidFill>
            <a:srgbClr val="E4F2F2"/>
          </a:solidFill>
          <a:ln w="12700">
            <a:solidFill>
              <a:srgbClr val="CBE4E4"/>
            </a:solidFill>
            <a:prstDash val="solid"/>
          </a:ln>
          <a:effectLst>
            <a:outerShdw blurRad="88900" dist="25400" dir="5400000" algn="bl" rotWithShape="0">
              <a:srgbClr val="9FB1BC">
                <a:alpha val="30000"/>
              </a:srgbClr>
            </a:outerShdw>
          </a:effectLst>
        </p:spPr>
        <p:txBody>
          <a:bodyPr/>
          <a:lstStyle/>
          <a:p>
            <a:endParaRPr lang="en-US"/>
          </a:p>
        </p:txBody>
      </p:sp>
      <p:sp>
        <p:nvSpPr>
          <p:cNvPr id="18" name="Text 16"/>
          <p:cNvSpPr/>
          <p:nvPr/>
        </p:nvSpPr>
        <p:spPr>
          <a:xfrm>
            <a:off x="5852160" y="4005072"/>
            <a:ext cx="5394960" cy="256032"/>
          </a:xfrm>
          <a:prstGeom prst="rect">
            <a:avLst/>
          </a:prstGeom>
          <a:noFill/>
          <a:ln/>
        </p:spPr>
        <p:txBody>
          <a:bodyPr wrap="square" lIns="0" tIns="0" rIns="0" bIns="0" rtlCol="0" anchor="ctr"/>
          <a:lstStyle/>
          <a:p>
            <a:pPr marL="0" indent="0">
              <a:buNone/>
            </a:pPr>
            <a:r>
              <a:rPr lang="en-US" sz="950" b="1" kern="0" spc="200">
                <a:solidFill>
                  <a:srgbClr val="0B6E70"/>
                </a:solidFill>
                <a:latin typeface="Calibri" pitchFamily="34" charset="0"/>
                <a:ea typeface="Calibri" pitchFamily="34" charset="-122"/>
                <a:cs typeface="Calibri" pitchFamily="34" charset="-120"/>
              </a:rPr>
              <a:t>SPECIFIC: CLAUDE NAILS IT</a:t>
            </a:r>
            <a:endParaRPr lang="en-US" sz="950"/>
          </a:p>
        </p:txBody>
      </p:sp>
      <p:sp>
        <p:nvSpPr>
          <p:cNvPr id="19" name="Text 17"/>
          <p:cNvSpPr/>
          <p:nvPr/>
        </p:nvSpPr>
        <p:spPr>
          <a:xfrm>
            <a:off x="5852160" y="4315968"/>
            <a:ext cx="5440680" cy="1097280"/>
          </a:xfrm>
          <a:prstGeom prst="rect">
            <a:avLst/>
          </a:prstGeom>
          <a:noFill/>
          <a:ln/>
        </p:spPr>
        <p:txBody>
          <a:bodyPr wrap="square" lIns="0" tIns="0" rIns="0" bIns="0" rtlCol="0" anchor="ctr"/>
          <a:lstStyle/>
          <a:p>
            <a:pPr marL="0" indent="0">
              <a:lnSpc>
                <a:spcPct val="112000"/>
              </a:lnSpc>
              <a:buNone/>
            </a:pPr>
            <a:r>
              <a:rPr lang="en-US" sz="1350">
                <a:solidFill>
                  <a:srgbClr val="20364A"/>
                </a:solidFill>
                <a:latin typeface="Calibri" pitchFamily="34" charset="0"/>
                <a:ea typeface="Calibri" pitchFamily="34" charset="-122"/>
                <a:cs typeface="Calibri" pitchFamily="34" charset="-120"/>
              </a:rPr>
              <a:t>“On notice detail, add a right-hand panel: assignee dropdown, due date, and a notes timeline with the newest note on top.”</a:t>
            </a:r>
            <a:endParaRPr lang="en-US" sz="1350"/>
          </a:p>
        </p:txBody>
      </p:sp>
      <p:sp>
        <p:nvSpPr>
          <p:cNvPr id="20" name="Text 18"/>
          <p:cNvSpPr/>
          <p:nvPr/>
        </p:nvSpPr>
        <p:spPr>
          <a:xfrm>
            <a:off x="594360" y="5806440"/>
            <a:ext cx="10972800" cy="365760"/>
          </a:xfrm>
          <a:prstGeom prst="rect">
            <a:avLst/>
          </a:prstGeom>
          <a:noFill/>
          <a:ln/>
        </p:spPr>
        <p:txBody>
          <a:bodyPr wrap="square" lIns="0" tIns="0" rIns="0" bIns="0" rtlCol="0" anchor="ctr"/>
          <a:lstStyle/>
          <a:p>
            <a:pPr marL="0" indent="0">
              <a:buNone/>
            </a:pPr>
            <a:r>
              <a:rPr lang="en-US" sz="1300" i="1">
                <a:solidFill>
                  <a:srgbClr val="7C8B99"/>
                </a:solidFill>
                <a:latin typeface="Calibri" pitchFamily="34" charset="0"/>
                <a:ea typeface="Calibri" pitchFamily="34" charset="-122"/>
                <a:cs typeface="Calibri" pitchFamily="34" charset="-120"/>
              </a:rPr>
              <a:t>Screens are made of nouns: tables, columns, panels, buttons. Use their names and give the values.</a:t>
            </a:r>
            <a:endParaRPr lang="en-US" sz="13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2 · THE CRAFT</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Show it. Do not describe it.</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19</a:t>
            </a:r>
            <a:endParaRPr lang="en-US" sz="900"/>
          </a:p>
        </p:txBody>
      </p:sp>
      <p:sp>
        <p:nvSpPr>
          <p:cNvPr id="6" name="Shape 4"/>
          <p:cNvSpPr/>
          <p:nvPr/>
        </p:nvSpPr>
        <p:spPr>
          <a:xfrm>
            <a:off x="594360" y="1828800"/>
            <a:ext cx="3566160" cy="3017520"/>
          </a:xfrm>
          <a:prstGeom prst="roundRect">
            <a:avLst>
              <a:gd name="adj" fmla="val 2727"/>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7" name="Shape 5"/>
          <p:cNvSpPr/>
          <p:nvPr/>
        </p:nvSpPr>
        <p:spPr>
          <a:xfrm>
            <a:off x="896112" y="2121408"/>
            <a:ext cx="713232" cy="713232"/>
          </a:xfrm>
          <a:prstGeom prst="ellipse">
            <a:avLst/>
          </a:prstGeom>
          <a:solidFill>
            <a:srgbClr val="0F8B8D"/>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67288" y="2292584"/>
            <a:ext cx="370881" cy="370881"/>
          </a:xfrm>
          <a:prstGeom prst="rect">
            <a:avLst/>
          </a:prstGeom>
        </p:spPr>
      </p:pic>
      <p:sp>
        <p:nvSpPr>
          <p:cNvPr id="9" name="Text 6"/>
          <p:cNvSpPr/>
          <p:nvPr/>
        </p:nvSpPr>
        <p:spPr>
          <a:xfrm>
            <a:off x="896112" y="3063240"/>
            <a:ext cx="3017520" cy="411480"/>
          </a:xfrm>
          <a:prstGeom prst="rect">
            <a:avLst/>
          </a:prstGeom>
          <a:noFill/>
          <a:ln/>
        </p:spPr>
        <p:txBody>
          <a:bodyPr wrap="square" lIns="0" tIns="0" rIns="0" bIns="0" rtlCol="0" anchor="ctr"/>
          <a:lstStyle/>
          <a:p>
            <a:pPr marL="0" indent="0">
              <a:buNone/>
            </a:pPr>
            <a:r>
              <a:rPr lang="en-US" sz="1700" b="1">
                <a:solidFill>
                  <a:srgbClr val="142F47"/>
                </a:solidFill>
                <a:latin typeface="Cambria" pitchFamily="34" charset="0"/>
                <a:ea typeface="Cambria" pitchFamily="34" charset="-122"/>
                <a:cs typeface="Cambria" pitchFamily="34" charset="-120"/>
              </a:rPr>
              <a:t>Screenshots</a:t>
            </a:r>
            <a:endParaRPr lang="en-US" sz="1700"/>
          </a:p>
        </p:txBody>
      </p:sp>
      <p:sp>
        <p:nvSpPr>
          <p:cNvPr id="10" name="Text 7"/>
          <p:cNvSpPr/>
          <p:nvPr/>
        </p:nvSpPr>
        <p:spPr>
          <a:xfrm>
            <a:off x="896112" y="3520440"/>
            <a:ext cx="3017520" cy="1234440"/>
          </a:xfrm>
          <a:prstGeom prst="rect">
            <a:avLst/>
          </a:prstGeom>
          <a:noFill/>
          <a:ln/>
        </p:spPr>
        <p:txBody>
          <a:bodyPr wrap="square" lIns="0" tIns="0" rIns="0" bIns="0" rtlCol="0" anchor="ctr"/>
          <a:lstStyle/>
          <a:p>
            <a:pPr marL="0" indent="0">
              <a:lnSpc>
                <a:spcPct val="114000"/>
              </a:lnSpc>
              <a:buNone/>
            </a:pPr>
            <a:r>
              <a:rPr lang="en-US" sz="1250">
                <a:solidFill>
                  <a:srgbClr val="45586A"/>
                </a:solidFill>
                <a:latin typeface="Calibri" pitchFamily="34" charset="0"/>
                <a:ea typeface="Calibri" pitchFamily="34" charset="-122"/>
                <a:cs typeface="Calibri" pitchFamily="34" charset="-120"/>
              </a:rPr>
              <a:t>The spreadsheet or legacy screen you replace is worth five hundred words of description. Claude reads images.</a:t>
            </a:r>
            <a:endParaRPr lang="en-US" sz="1250"/>
          </a:p>
        </p:txBody>
      </p:sp>
      <p:sp>
        <p:nvSpPr>
          <p:cNvPr id="11" name="Shape 8"/>
          <p:cNvSpPr/>
          <p:nvPr/>
        </p:nvSpPr>
        <p:spPr>
          <a:xfrm>
            <a:off x="4453128" y="1828800"/>
            <a:ext cx="3566160" cy="3017520"/>
          </a:xfrm>
          <a:prstGeom prst="roundRect">
            <a:avLst>
              <a:gd name="adj" fmla="val 2727"/>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2" name="Shape 9"/>
          <p:cNvSpPr/>
          <p:nvPr/>
        </p:nvSpPr>
        <p:spPr>
          <a:xfrm>
            <a:off x="4754880" y="2121408"/>
            <a:ext cx="713232" cy="713232"/>
          </a:xfrm>
          <a:prstGeom prst="ellipse">
            <a:avLst/>
          </a:prstGeom>
          <a:solidFill>
            <a:srgbClr val="0F8B8D"/>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926056" y="2292584"/>
            <a:ext cx="370881" cy="370881"/>
          </a:xfrm>
          <a:prstGeom prst="rect">
            <a:avLst/>
          </a:prstGeom>
        </p:spPr>
      </p:pic>
      <p:sp>
        <p:nvSpPr>
          <p:cNvPr id="14" name="Text 10"/>
          <p:cNvSpPr/>
          <p:nvPr/>
        </p:nvSpPr>
        <p:spPr>
          <a:xfrm>
            <a:off x="4754880" y="3063240"/>
            <a:ext cx="3017520" cy="411480"/>
          </a:xfrm>
          <a:prstGeom prst="rect">
            <a:avLst/>
          </a:prstGeom>
          <a:noFill/>
          <a:ln/>
        </p:spPr>
        <p:txBody>
          <a:bodyPr wrap="square" lIns="0" tIns="0" rIns="0" bIns="0" rtlCol="0" anchor="ctr"/>
          <a:lstStyle/>
          <a:p>
            <a:pPr marL="0" indent="0">
              <a:buNone/>
            </a:pPr>
            <a:r>
              <a:rPr lang="en-US" sz="1700" b="1">
                <a:solidFill>
                  <a:srgbClr val="142F47"/>
                </a:solidFill>
                <a:latin typeface="Cambria" pitchFamily="34" charset="0"/>
                <a:ea typeface="Cambria" pitchFamily="34" charset="-122"/>
                <a:cs typeface="Cambria" pitchFamily="34" charset="-120"/>
              </a:rPr>
              <a:t>Sketches</a:t>
            </a:r>
            <a:endParaRPr lang="en-US" sz="1700"/>
          </a:p>
        </p:txBody>
      </p:sp>
      <p:sp>
        <p:nvSpPr>
          <p:cNvPr id="15" name="Text 11"/>
          <p:cNvSpPr/>
          <p:nvPr/>
        </p:nvSpPr>
        <p:spPr>
          <a:xfrm>
            <a:off x="4754880" y="3520440"/>
            <a:ext cx="3017520" cy="1234440"/>
          </a:xfrm>
          <a:prstGeom prst="rect">
            <a:avLst/>
          </a:prstGeom>
          <a:noFill/>
          <a:ln/>
        </p:spPr>
        <p:txBody>
          <a:bodyPr wrap="square" lIns="0" tIns="0" rIns="0" bIns="0" rtlCol="0" anchor="ctr"/>
          <a:lstStyle/>
          <a:p>
            <a:pPr marL="0" indent="0">
              <a:lnSpc>
                <a:spcPct val="114000"/>
              </a:lnSpc>
              <a:buNone/>
            </a:pPr>
            <a:r>
              <a:rPr lang="en-US" sz="1250">
                <a:solidFill>
                  <a:srgbClr val="45586A"/>
                </a:solidFill>
                <a:latin typeface="Calibri" pitchFamily="34" charset="0"/>
                <a:ea typeface="Calibri" pitchFamily="34" charset="-122"/>
                <a:cs typeface="Calibri" pitchFamily="34" charset="-120"/>
              </a:rPr>
              <a:t>A whiteboard photo or a napkin drawing of the layout is a perfectly good spec. Rough is fine. Placement matters, not polish.</a:t>
            </a:r>
            <a:endParaRPr lang="en-US" sz="1250"/>
          </a:p>
        </p:txBody>
      </p:sp>
      <p:sp>
        <p:nvSpPr>
          <p:cNvPr id="16" name="Shape 12"/>
          <p:cNvSpPr/>
          <p:nvPr/>
        </p:nvSpPr>
        <p:spPr>
          <a:xfrm>
            <a:off x="8311896" y="1828800"/>
            <a:ext cx="3566160" cy="3017520"/>
          </a:xfrm>
          <a:prstGeom prst="roundRect">
            <a:avLst>
              <a:gd name="adj" fmla="val 2727"/>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7" name="Shape 13"/>
          <p:cNvSpPr/>
          <p:nvPr/>
        </p:nvSpPr>
        <p:spPr>
          <a:xfrm>
            <a:off x="8613648" y="2121408"/>
            <a:ext cx="713232" cy="713232"/>
          </a:xfrm>
          <a:prstGeom prst="ellipse">
            <a:avLst/>
          </a:prstGeom>
          <a:solidFill>
            <a:srgbClr val="0F8B8D"/>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784824" y="2292584"/>
            <a:ext cx="370881" cy="370881"/>
          </a:xfrm>
          <a:prstGeom prst="rect">
            <a:avLst/>
          </a:prstGeom>
        </p:spPr>
      </p:pic>
      <p:sp>
        <p:nvSpPr>
          <p:cNvPr id="19" name="Text 14"/>
          <p:cNvSpPr/>
          <p:nvPr/>
        </p:nvSpPr>
        <p:spPr>
          <a:xfrm>
            <a:off x="8613648" y="3063240"/>
            <a:ext cx="3017520" cy="411480"/>
          </a:xfrm>
          <a:prstGeom prst="rect">
            <a:avLst/>
          </a:prstGeom>
          <a:noFill/>
          <a:ln/>
        </p:spPr>
        <p:txBody>
          <a:bodyPr wrap="square" lIns="0" tIns="0" rIns="0" bIns="0" rtlCol="0" anchor="ctr"/>
          <a:lstStyle/>
          <a:p>
            <a:pPr marL="0" indent="0">
              <a:buNone/>
            </a:pPr>
            <a:r>
              <a:rPr lang="en-US" sz="1700" b="1">
                <a:solidFill>
                  <a:srgbClr val="142F47"/>
                </a:solidFill>
                <a:latin typeface="Cambria" pitchFamily="34" charset="0"/>
                <a:ea typeface="Cambria" pitchFamily="34" charset="-122"/>
                <a:cs typeface="Cambria" pitchFamily="34" charset="-120"/>
              </a:rPr>
              <a:t>Drop &amp; name</a:t>
            </a:r>
            <a:endParaRPr lang="en-US" sz="1700"/>
          </a:p>
        </p:txBody>
      </p:sp>
      <p:sp>
        <p:nvSpPr>
          <p:cNvPr id="20" name="Text 15"/>
          <p:cNvSpPr/>
          <p:nvPr/>
        </p:nvSpPr>
        <p:spPr>
          <a:xfrm>
            <a:off x="8613648" y="3520440"/>
            <a:ext cx="3017520" cy="1234440"/>
          </a:xfrm>
          <a:prstGeom prst="rect">
            <a:avLst/>
          </a:prstGeom>
          <a:noFill/>
          <a:ln/>
        </p:spPr>
        <p:txBody>
          <a:bodyPr wrap="square" lIns="0" tIns="0" rIns="0" bIns="0" rtlCol="0" anchor="ctr"/>
          <a:lstStyle/>
          <a:p>
            <a:pPr marL="0" indent="0">
              <a:lnSpc>
                <a:spcPct val="114000"/>
              </a:lnSpc>
              <a:buNone/>
            </a:pPr>
            <a:r>
              <a:rPr lang="en-US" sz="1250">
                <a:solidFill>
                  <a:srgbClr val="45586A"/>
                </a:solidFill>
                <a:latin typeface="Calibri" pitchFamily="34" charset="0"/>
                <a:ea typeface="Calibri" pitchFamily="34" charset="-122"/>
                <a:cs typeface="Calibri" pitchFamily="34" charset="-120"/>
              </a:rPr>
              <a:t>Put the image file in the session folder and reference it by name: “lay the screen out like legacy-tracker.png.”</a:t>
            </a:r>
            <a:endParaRPr lang="en-US" sz="1250"/>
          </a:p>
        </p:txBody>
      </p:sp>
      <p:sp>
        <p:nvSpPr>
          <p:cNvPr id="21" name="Shape 16"/>
          <p:cNvSpPr/>
          <p:nvPr/>
        </p:nvSpPr>
        <p:spPr>
          <a:xfrm>
            <a:off x="594360" y="5166360"/>
            <a:ext cx="10972800" cy="822960"/>
          </a:xfrm>
          <a:prstGeom prst="roundRect">
            <a:avLst>
              <a:gd name="adj" fmla="val 10000"/>
            </a:avLst>
          </a:prstGeom>
          <a:solidFill>
            <a:srgbClr val="FBF3E2"/>
          </a:solidFill>
          <a:ln w="12700">
            <a:solidFill>
              <a:srgbClr val="F0DFBB"/>
            </a:solidFill>
            <a:prstDash val="solid"/>
          </a:ln>
        </p:spPr>
        <p:txBody>
          <a:bodyPr/>
          <a:lstStyle/>
          <a:p>
            <a:endParaRPr lang="en-US"/>
          </a:p>
        </p:txBody>
      </p:sp>
      <p:sp>
        <p:nvSpPr>
          <p:cNvPr id="22" name="Shape 17"/>
          <p:cNvSpPr/>
          <p:nvPr/>
        </p:nvSpPr>
        <p:spPr>
          <a:xfrm>
            <a:off x="868680" y="5303520"/>
            <a:ext cx="530352" cy="530352"/>
          </a:xfrm>
          <a:prstGeom prst="ellipse">
            <a:avLst/>
          </a:prstGeom>
          <a:solidFill>
            <a:srgbClr val="DFA13F"/>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995964" y="5430804"/>
            <a:ext cx="275783" cy="275783"/>
          </a:xfrm>
          <a:prstGeom prst="rect">
            <a:avLst/>
          </a:prstGeom>
        </p:spPr>
      </p:pic>
      <p:sp>
        <p:nvSpPr>
          <p:cNvPr id="24" name="Text 18"/>
          <p:cNvSpPr/>
          <p:nvPr/>
        </p:nvSpPr>
        <p:spPr>
          <a:xfrm>
            <a:off x="1581912" y="5166360"/>
            <a:ext cx="9829800" cy="822960"/>
          </a:xfrm>
          <a:prstGeom prst="rect">
            <a:avLst/>
          </a:prstGeom>
          <a:noFill/>
          <a:ln/>
        </p:spPr>
        <p:txBody>
          <a:bodyPr wrap="square" lIns="0" tIns="0" rIns="0" bIns="0" rtlCol="0" anchor="ctr"/>
          <a:lstStyle/>
          <a:p>
            <a:pPr marL="0" indent="0">
              <a:buNone/>
            </a:pPr>
            <a:r>
              <a:rPr lang="en-US" sz="1250" b="1">
                <a:solidFill>
                  <a:srgbClr val="8A6420"/>
                </a:solidFill>
                <a:latin typeface="Calibri" pitchFamily="34" charset="0"/>
                <a:ea typeface="Calibri" pitchFamily="34" charset="-122"/>
                <a:cs typeface="Calibri" pitchFamily="34" charset="-120"/>
              </a:rPr>
              <a:t>Mind what is in the screenshot: </a:t>
            </a:r>
            <a:r>
              <a:rPr lang="en-US" sz="1250">
                <a:solidFill>
                  <a:srgbClr val="7A6234"/>
                </a:solidFill>
                <a:latin typeface="Calibri" pitchFamily="34" charset="0"/>
                <a:ea typeface="Calibri" pitchFamily="34" charset="-122"/>
                <a:cs typeface="Calibri" pitchFamily="34" charset="-120"/>
              </a:rPr>
              <a:t>scrub or mock any real values before they enter the session. The fabricated-data rule applies to inputs too.</a:t>
            </a:r>
            <a:endParaRPr lang="en-US" sz="125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2 · THE CRAFT</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Fake data is a feature. Treat it like one</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20</a:t>
            </a:r>
            <a:endParaRPr lang="en-US" sz="900"/>
          </a:p>
        </p:txBody>
      </p:sp>
      <p:sp>
        <p:nvSpPr>
          <p:cNvPr id="6" name="Shape 4"/>
          <p:cNvSpPr/>
          <p:nvPr/>
        </p:nvSpPr>
        <p:spPr>
          <a:xfrm>
            <a:off x="594360" y="1783080"/>
            <a:ext cx="5394960" cy="4160520"/>
          </a:xfrm>
          <a:prstGeom prst="roundRect">
            <a:avLst>
              <a:gd name="adj" fmla="val 1978"/>
            </a:avLst>
          </a:prstGeom>
          <a:solidFill>
            <a:srgbClr val="E4F2F2"/>
          </a:solidFill>
          <a:ln w="12700">
            <a:solidFill>
              <a:srgbClr val="CBE4E4"/>
            </a:solidFill>
            <a:prstDash val="solid"/>
          </a:ln>
          <a:effectLst>
            <a:outerShdw blurRad="88900" dist="25400" dir="5400000" algn="bl" rotWithShape="0">
              <a:srgbClr val="9FB1BC">
                <a:alpha val="30000"/>
              </a:srgbClr>
            </a:outerShdw>
          </a:effectLst>
        </p:spPr>
        <p:txBody>
          <a:bodyPr/>
          <a:lstStyle/>
          <a:p>
            <a:endParaRPr lang="en-US"/>
          </a:p>
        </p:txBody>
      </p:sp>
      <p:sp>
        <p:nvSpPr>
          <p:cNvPr id="7" name="Shape 5"/>
          <p:cNvSpPr/>
          <p:nvPr/>
        </p:nvSpPr>
        <p:spPr>
          <a:xfrm>
            <a:off x="914400" y="2084832"/>
            <a:ext cx="640080" cy="640080"/>
          </a:xfrm>
          <a:prstGeom prst="ellipse">
            <a:avLst/>
          </a:prstGeom>
          <a:solidFill>
            <a:srgbClr val="0B6E70"/>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68019" y="2238451"/>
            <a:ext cx="332842" cy="332842"/>
          </a:xfrm>
          <a:prstGeom prst="rect">
            <a:avLst/>
          </a:prstGeom>
        </p:spPr>
      </p:pic>
      <p:sp>
        <p:nvSpPr>
          <p:cNvPr id="9" name="Text 6"/>
          <p:cNvSpPr/>
          <p:nvPr/>
        </p:nvSpPr>
        <p:spPr>
          <a:xfrm>
            <a:off x="1737360" y="2148840"/>
            <a:ext cx="3931920" cy="502920"/>
          </a:xfrm>
          <a:prstGeom prst="rect">
            <a:avLst/>
          </a:prstGeom>
          <a:noFill/>
          <a:ln/>
        </p:spPr>
        <p:txBody>
          <a:bodyPr wrap="square" lIns="0" tIns="0" rIns="0" bIns="0" rtlCol="0" anchor="ctr"/>
          <a:lstStyle/>
          <a:p>
            <a:pPr marL="0" indent="0">
              <a:buNone/>
            </a:pPr>
            <a:r>
              <a:rPr lang="en-US" sz="1800" b="1">
                <a:solidFill>
                  <a:srgbClr val="142F47"/>
                </a:solidFill>
                <a:latin typeface="Cambria" pitchFamily="34" charset="0"/>
                <a:ea typeface="Cambria" pitchFamily="34" charset="-122"/>
                <a:cs typeface="Cambria" pitchFamily="34" charset="-120"/>
              </a:rPr>
              <a:t>Make it realistic</a:t>
            </a:r>
            <a:endParaRPr lang="en-US" sz="1800"/>
          </a:p>
        </p:txBody>
      </p:sp>
      <p:sp>
        <p:nvSpPr>
          <p:cNvPr id="10" name="Text 7"/>
          <p:cNvSpPr/>
          <p:nvPr/>
        </p:nvSpPr>
        <p:spPr>
          <a:xfrm>
            <a:off x="960120" y="2971800"/>
            <a:ext cx="4754880" cy="2743200"/>
          </a:xfrm>
          <a:prstGeom prst="rect">
            <a:avLst/>
          </a:prstGeom>
          <a:noFill/>
          <a:ln/>
        </p:spPr>
        <p:txBody>
          <a:bodyPr wrap="square" lIns="0" tIns="0" rIns="0" bIns="0" rtlCol="0" anchor="t"/>
          <a:lstStyle/>
          <a:p>
            <a:pPr marL="152400" indent="-152400">
              <a:lnSpc>
                <a:spcPct val="106000"/>
              </a:lnSpc>
              <a:spcAft>
                <a:spcPts val="900"/>
              </a:spcAft>
              <a:buSzPct val="100000"/>
              <a:buChar char="•"/>
            </a:pPr>
            <a:r>
              <a:rPr lang="en-US" sz="1300">
                <a:solidFill>
                  <a:srgbClr val="20364A"/>
                </a:solidFill>
                <a:latin typeface="Calibri" pitchFamily="34" charset="0"/>
                <a:ea typeface="Calibri" pitchFamily="34" charset="-122"/>
                <a:cs typeface="Calibri" pitchFamily="34" charset="-120"/>
              </a:rPr>
              <a:t>Ten-plus rows in any table, enough for sorting and filtering to look true</a:t>
            </a:r>
            <a:endParaRPr lang="en-US" sz="1300"/>
          </a:p>
          <a:p>
            <a:pPr marL="152400" indent="-152400">
              <a:lnSpc>
                <a:spcPct val="106000"/>
              </a:lnSpc>
              <a:spcAft>
                <a:spcPts val="900"/>
              </a:spcAft>
              <a:buSzPct val="100000"/>
              <a:buChar char="•"/>
            </a:pPr>
            <a:r>
              <a:rPr lang="en-US" sz="1300">
                <a:solidFill>
                  <a:srgbClr val="20364A"/>
                </a:solidFill>
                <a:latin typeface="Calibri" pitchFamily="34" charset="0"/>
                <a:ea typeface="Calibri" pitchFamily="34" charset="-122"/>
                <a:cs typeface="Calibri" pitchFamily="34" charset="-120"/>
              </a:rPr>
              <a:t>Plausible names, dates, amounts, and statuses, with real variety</a:t>
            </a:r>
            <a:endParaRPr lang="en-US" sz="1300"/>
          </a:p>
          <a:p>
            <a:pPr marL="152400" indent="-152400">
              <a:lnSpc>
                <a:spcPct val="106000"/>
              </a:lnSpc>
              <a:spcAft>
                <a:spcPts val="900"/>
              </a:spcAft>
              <a:buSzPct val="100000"/>
              <a:buChar char="•"/>
            </a:pPr>
            <a:r>
              <a:rPr lang="en-US" sz="1300">
                <a:solidFill>
                  <a:srgbClr val="20364A"/>
                </a:solidFill>
                <a:latin typeface="Calibri" pitchFamily="34" charset="0"/>
                <a:ea typeface="Calibri" pitchFamily="34" charset="-122"/>
                <a:cs typeface="Calibri" pitchFamily="34" charset="-120"/>
              </a:rPr>
              <a:t>Believable data makes reviewers take the model seriously</a:t>
            </a:r>
            <a:endParaRPr lang="en-US" sz="1300"/>
          </a:p>
          <a:p>
            <a:pPr marL="152400" indent="-152400">
              <a:lnSpc>
                <a:spcPct val="106000"/>
              </a:lnSpc>
              <a:spcAft>
                <a:spcPts val="900"/>
              </a:spcAft>
              <a:buSzPct val="100000"/>
              <a:buChar char="•"/>
            </a:pPr>
            <a:r>
              <a:rPr lang="en-US" sz="1300">
                <a:solidFill>
                  <a:srgbClr val="20364A"/>
                </a:solidFill>
                <a:latin typeface="Calibri" pitchFamily="34" charset="0"/>
                <a:ea typeface="Calibri" pitchFamily="34" charset="-122"/>
                <a:cs typeface="Calibri" pitchFamily="34" charset="-120"/>
              </a:rPr>
              <a:t>…and long values expose layout problems before the dev team inherits them</a:t>
            </a:r>
            <a:endParaRPr lang="en-US" sz="1300"/>
          </a:p>
        </p:txBody>
      </p:sp>
      <p:sp>
        <p:nvSpPr>
          <p:cNvPr id="11" name="Shape 8"/>
          <p:cNvSpPr/>
          <p:nvPr/>
        </p:nvSpPr>
        <p:spPr>
          <a:xfrm>
            <a:off x="6199632" y="1783080"/>
            <a:ext cx="5394960" cy="4160520"/>
          </a:xfrm>
          <a:prstGeom prst="roundRect">
            <a:avLst>
              <a:gd name="adj" fmla="val 1978"/>
            </a:avLst>
          </a:prstGeom>
          <a:solidFill>
            <a:srgbClr val="FBF3E2"/>
          </a:solidFill>
          <a:ln w="12700">
            <a:solidFill>
              <a:srgbClr val="F0DFBB"/>
            </a:solidFill>
            <a:prstDash val="solid"/>
          </a:ln>
          <a:effectLst>
            <a:outerShdw blurRad="88900" dist="25400" dir="5400000" algn="bl" rotWithShape="0">
              <a:srgbClr val="9FB1BC">
                <a:alpha val="30000"/>
              </a:srgbClr>
            </a:outerShdw>
          </a:effectLst>
        </p:spPr>
        <p:txBody>
          <a:bodyPr/>
          <a:lstStyle/>
          <a:p>
            <a:endParaRPr lang="en-US"/>
          </a:p>
        </p:txBody>
      </p:sp>
      <p:sp>
        <p:nvSpPr>
          <p:cNvPr id="12" name="Shape 9"/>
          <p:cNvSpPr/>
          <p:nvPr/>
        </p:nvSpPr>
        <p:spPr>
          <a:xfrm>
            <a:off x="6519672" y="2084832"/>
            <a:ext cx="640080" cy="640080"/>
          </a:xfrm>
          <a:prstGeom prst="ellipse">
            <a:avLst/>
          </a:prstGeom>
          <a:solidFill>
            <a:srgbClr val="DFA13F"/>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6673291" y="2238451"/>
            <a:ext cx="332842" cy="332842"/>
          </a:xfrm>
          <a:prstGeom prst="rect">
            <a:avLst/>
          </a:prstGeom>
        </p:spPr>
      </p:pic>
      <p:sp>
        <p:nvSpPr>
          <p:cNvPr id="14" name="Text 10"/>
          <p:cNvSpPr/>
          <p:nvPr/>
        </p:nvSpPr>
        <p:spPr>
          <a:xfrm>
            <a:off x="7342632" y="2148840"/>
            <a:ext cx="3931920" cy="502920"/>
          </a:xfrm>
          <a:prstGeom prst="rect">
            <a:avLst/>
          </a:prstGeom>
          <a:noFill/>
          <a:ln/>
        </p:spPr>
        <p:txBody>
          <a:bodyPr wrap="square" lIns="0" tIns="0" rIns="0" bIns="0" rtlCol="0" anchor="ctr"/>
          <a:lstStyle/>
          <a:p>
            <a:pPr marL="0" indent="0">
              <a:buNone/>
            </a:pPr>
            <a:r>
              <a:rPr lang="en-US" sz="1800" b="1">
                <a:solidFill>
                  <a:srgbClr val="8A6420"/>
                </a:solidFill>
                <a:latin typeface="Cambria" pitchFamily="34" charset="0"/>
                <a:ea typeface="Cambria" pitchFamily="34" charset="-122"/>
                <a:cs typeface="Cambria" pitchFamily="34" charset="-120"/>
              </a:rPr>
              <a:t>Keep it fabricated</a:t>
            </a:r>
            <a:endParaRPr lang="en-US" sz="1800"/>
          </a:p>
        </p:txBody>
      </p:sp>
      <p:sp>
        <p:nvSpPr>
          <p:cNvPr id="15" name="Text 11"/>
          <p:cNvSpPr/>
          <p:nvPr/>
        </p:nvSpPr>
        <p:spPr>
          <a:xfrm>
            <a:off x="6565392" y="2971800"/>
            <a:ext cx="4754880" cy="2743200"/>
          </a:xfrm>
          <a:prstGeom prst="rect">
            <a:avLst/>
          </a:prstGeom>
          <a:noFill/>
          <a:ln/>
        </p:spPr>
        <p:txBody>
          <a:bodyPr wrap="square" lIns="0" tIns="0" rIns="0" bIns="0" rtlCol="0" anchor="t"/>
          <a:lstStyle/>
          <a:p>
            <a:pPr marL="152400" indent="-152400">
              <a:lnSpc>
                <a:spcPct val="106000"/>
              </a:lnSpc>
              <a:spcAft>
                <a:spcPts val="900"/>
              </a:spcAft>
              <a:buSzPct val="100000"/>
              <a:buChar char="•"/>
            </a:pPr>
            <a:r>
              <a:rPr lang="en-US" sz="1300">
                <a:solidFill>
                  <a:srgbClr val="7A6234"/>
                </a:solidFill>
                <a:latin typeface="Calibri" pitchFamily="34" charset="0"/>
                <a:ea typeface="Calibri" pitchFamily="34" charset="-122"/>
                <a:cs typeface="Calibri" pitchFamily="34" charset="-120"/>
              </a:rPr>
              <a:t>Never real vendors, tax IDs, invoice numbers, employees, or account data</a:t>
            </a:r>
            <a:endParaRPr lang="en-US" sz="1300"/>
          </a:p>
          <a:p>
            <a:pPr marL="152400" indent="-152400">
              <a:lnSpc>
                <a:spcPct val="106000"/>
              </a:lnSpc>
              <a:spcAft>
                <a:spcPts val="900"/>
              </a:spcAft>
              <a:buSzPct val="100000"/>
              <a:buChar char="•"/>
            </a:pPr>
            <a:r>
              <a:rPr lang="en-US" sz="1300">
                <a:solidFill>
                  <a:srgbClr val="7A6234"/>
                </a:solidFill>
                <a:latin typeface="Calibri" pitchFamily="34" charset="0"/>
                <a:ea typeface="Calibri" pitchFamily="34" charset="-122"/>
                <a:cs typeface="Calibri" pitchFamily="34" charset="-120"/>
              </a:rPr>
              <a:t>Nothing copied from a production system or a real document</a:t>
            </a:r>
            <a:endParaRPr lang="en-US" sz="1300"/>
          </a:p>
          <a:p>
            <a:pPr marL="152400" indent="-152400">
              <a:lnSpc>
                <a:spcPct val="106000"/>
              </a:lnSpc>
              <a:spcAft>
                <a:spcPts val="900"/>
              </a:spcAft>
              <a:buSzPct val="100000"/>
              <a:buChar char="•"/>
            </a:pPr>
            <a:r>
              <a:rPr lang="en-US" sz="1300">
                <a:solidFill>
                  <a:srgbClr val="7A6234"/>
                </a:solidFill>
                <a:latin typeface="Calibri" pitchFamily="34" charset="0"/>
                <a:ea typeface="Calibri" pitchFamily="34" charset="-122"/>
                <a:cs typeface="Calibri" pitchFamily="34" charset="-120"/>
              </a:rPr>
              <a:t>Models travel: email, Teams, SharePoint. Production data must not travel with them</a:t>
            </a:r>
            <a:endParaRPr lang="en-US" sz="1300"/>
          </a:p>
          <a:p>
            <a:pPr marL="152400" indent="-152400">
              <a:lnSpc>
                <a:spcPct val="106000"/>
              </a:lnSpc>
              <a:spcAft>
                <a:spcPts val="900"/>
              </a:spcAft>
              <a:buSzPct val="100000"/>
              <a:buChar char="•"/>
            </a:pPr>
            <a:r>
              <a:rPr lang="en-US" sz="1300">
                <a:solidFill>
                  <a:srgbClr val="7A6234"/>
                </a:solidFill>
                <a:latin typeface="Calibri" pitchFamily="34" charset="0"/>
                <a:ea typeface="Calibri" pitchFamily="34" charset="-122"/>
                <a:cs typeface="Calibri" pitchFamily="34" charset="-120"/>
              </a:rPr>
              <a:t>If in doubt, invent it. Claude invents plausible data well on request</a:t>
            </a:r>
            <a:endParaRPr lang="en-US" sz="13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2 · THE CRAFT</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States are requirements. Demand all four</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21</a:t>
            </a:r>
            <a:endParaRPr lang="en-US" sz="900"/>
          </a:p>
        </p:txBody>
      </p:sp>
      <p:sp>
        <p:nvSpPr>
          <p:cNvPr id="6" name="Shape 4"/>
          <p:cNvSpPr/>
          <p:nvPr/>
        </p:nvSpPr>
        <p:spPr>
          <a:xfrm>
            <a:off x="594360" y="1783080"/>
            <a:ext cx="5367528" cy="1783080"/>
          </a:xfrm>
          <a:prstGeom prst="roundRect">
            <a:avLst>
              <a:gd name="adj" fmla="val 4615"/>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7" name="Shape 5"/>
          <p:cNvSpPr/>
          <p:nvPr/>
        </p:nvSpPr>
        <p:spPr>
          <a:xfrm>
            <a:off x="886968" y="2057400"/>
            <a:ext cx="640080" cy="640080"/>
          </a:xfrm>
          <a:prstGeom prst="ellipse">
            <a:avLst/>
          </a:prstGeom>
          <a:solidFill>
            <a:srgbClr val="0F8B8D"/>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40587" y="2211019"/>
            <a:ext cx="332842" cy="332842"/>
          </a:xfrm>
          <a:prstGeom prst="rect">
            <a:avLst/>
          </a:prstGeom>
        </p:spPr>
      </p:pic>
      <p:sp>
        <p:nvSpPr>
          <p:cNvPr id="9" name="Text 6"/>
          <p:cNvSpPr/>
          <p:nvPr/>
        </p:nvSpPr>
        <p:spPr>
          <a:xfrm>
            <a:off x="1709928" y="2039112"/>
            <a:ext cx="4023360" cy="640080"/>
          </a:xfrm>
          <a:prstGeom prst="rect">
            <a:avLst/>
          </a:prstGeom>
          <a:noFill/>
          <a:ln/>
        </p:spPr>
        <p:txBody>
          <a:bodyPr wrap="square" lIns="0" tIns="0" rIns="0" bIns="0" rtlCol="0" anchor="ctr"/>
          <a:lstStyle/>
          <a:p>
            <a:pPr marL="0" indent="0">
              <a:buNone/>
            </a:pPr>
            <a:r>
              <a:rPr lang="en-US" sz="1700" b="1">
                <a:solidFill>
                  <a:srgbClr val="142F47"/>
                </a:solidFill>
                <a:latin typeface="Cambria" pitchFamily="34" charset="0"/>
                <a:ea typeface="Cambria" pitchFamily="34" charset="-122"/>
                <a:cs typeface="Cambria" pitchFamily="34" charset="-120"/>
              </a:rPr>
              <a:t>Empty</a:t>
            </a:r>
            <a:endParaRPr lang="en-US" sz="1700"/>
          </a:p>
        </p:txBody>
      </p:sp>
      <p:sp>
        <p:nvSpPr>
          <p:cNvPr id="10" name="Text 7"/>
          <p:cNvSpPr/>
          <p:nvPr/>
        </p:nvSpPr>
        <p:spPr>
          <a:xfrm>
            <a:off x="905256" y="2743200"/>
            <a:ext cx="4754880" cy="731520"/>
          </a:xfrm>
          <a:prstGeom prst="rect">
            <a:avLst/>
          </a:prstGeom>
          <a:noFill/>
          <a:ln/>
        </p:spPr>
        <p:txBody>
          <a:bodyPr wrap="square" lIns="0" tIns="0" rIns="0" bIns="0" rtlCol="0" anchor="ctr"/>
          <a:lstStyle/>
          <a:p>
            <a:pPr marL="0" indent="0">
              <a:lnSpc>
                <a:spcPct val="110000"/>
              </a:lnSpc>
              <a:buNone/>
            </a:pPr>
            <a:r>
              <a:rPr lang="en-US" sz="1250">
                <a:solidFill>
                  <a:srgbClr val="45586A"/>
                </a:solidFill>
                <a:latin typeface="Calibri" pitchFamily="34" charset="0"/>
                <a:ea typeface="Calibri" pitchFamily="34" charset="-122"/>
                <a:cs typeface="Calibri" pitchFamily="34" charset="-120"/>
              </a:rPr>
              <a:t>“No notices yet.” What does the screen say? What is the first action it offers?</a:t>
            </a:r>
            <a:endParaRPr lang="en-US" sz="1250"/>
          </a:p>
        </p:txBody>
      </p:sp>
      <p:sp>
        <p:nvSpPr>
          <p:cNvPr id="11" name="Shape 8"/>
          <p:cNvSpPr/>
          <p:nvPr/>
        </p:nvSpPr>
        <p:spPr>
          <a:xfrm>
            <a:off x="6199632" y="1783080"/>
            <a:ext cx="5367528" cy="1783080"/>
          </a:xfrm>
          <a:prstGeom prst="roundRect">
            <a:avLst>
              <a:gd name="adj" fmla="val 4615"/>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2" name="Shape 9"/>
          <p:cNvSpPr/>
          <p:nvPr/>
        </p:nvSpPr>
        <p:spPr>
          <a:xfrm>
            <a:off x="6492240" y="2057400"/>
            <a:ext cx="640080" cy="640080"/>
          </a:xfrm>
          <a:prstGeom prst="ellipse">
            <a:avLst/>
          </a:prstGeom>
          <a:solidFill>
            <a:srgbClr val="DFA13F"/>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6645859" y="2211019"/>
            <a:ext cx="332842" cy="332842"/>
          </a:xfrm>
          <a:prstGeom prst="rect">
            <a:avLst/>
          </a:prstGeom>
        </p:spPr>
      </p:pic>
      <p:sp>
        <p:nvSpPr>
          <p:cNvPr id="14" name="Text 10"/>
          <p:cNvSpPr/>
          <p:nvPr/>
        </p:nvSpPr>
        <p:spPr>
          <a:xfrm>
            <a:off x="7315200" y="2039112"/>
            <a:ext cx="4023360" cy="640080"/>
          </a:xfrm>
          <a:prstGeom prst="rect">
            <a:avLst/>
          </a:prstGeom>
          <a:noFill/>
          <a:ln/>
        </p:spPr>
        <p:txBody>
          <a:bodyPr wrap="square" lIns="0" tIns="0" rIns="0" bIns="0" rtlCol="0" anchor="ctr"/>
          <a:lstStyle/>
          <a:p>
            <a:pPr marL="0" indent="0">
              <a:buNone/>
            </a:pPr>
            <a:r>
              <a:rPr lang="en-US" sz="1700" b="1">
                <a:solidFill>
                  <a:srgbClr val="142F47"/>
                </a:solidFill>
                <a:latin typeface="Cambria" pitchFamily="34" charset="0"/>
                <a:ea typeface="Cambria" pitchFamily="34" charset="-122"/>
                <a:cs typeface="Cambria" pitchFamily="34" charset="-120"/>
              </a:rPr>
              <a:t>Error</a:t>
            </a:r>
            <a:endParaRPr lang="en-US" sz="1700"/>
          </a:p>
        </p:txBody>
      </p:sp>
      <p:sp>
        <p:nvSpPr>
          <p:cNvPr id="15" name="Text 11"/>
          <p:cNvSpPr/>
          <p:nvPr/>
        </p:nvSpPr>
        <p:spPr>
          <a:xfrm>
            <a:off x="6510528" y="2743200"/>
            <a:ext cx="4754880" cy="731520"/>
          </a:xfrm>
          <a:prstGeom prst="rect">
            <a:avLst/>
          </a:prstGeom>
          <a:noFill/>
          <a:ln/>
        </p:spPr>
        <p:txBody>
          <a:bodyPr wrap="square" lIns="0" tIns="0" rIns="0" bIns="0" rtlCol="0" anchor="ctr"/>
          <a:lstStyle/>
          <a:p>
            <a:pPr marL="0" indent="0">
              <a:lnSpc>
                <a:spcPct val="110000"/>
              </a:lnSpc>
              <a:buNone/>
            </a:pPr>
            <a:r>
              <a:rPr lang="en-US" sz="1250">
                <a:solidFill>
                  <a:srgbClr val="45586A"/>
                </a:solidFill>
                <a:latin typeface="Calibri" pitchFamily="34" charset="0"/>
                <a:ea typeface="Calibri" pitchFamily="34" charset="-122"/>
                <a:cs typeface="Calibri" pitchFamily="34" charset="-120"/>
              </a:rPr>
              <a:t>The save fails, the file is wrong. What does the user read? What can they do next?</a:t>
            </a:r>
            <a:endParaRPr lang="en-US" sz="1250"/>
          </a:p>
        </p:txBody>
      </p:sp>
      <p:sp>
        <p:nvSpPr>
          <p:cNvPr id="16" name="Shape 12"/>
          <p:cNvSpPr/>
          <p:nvPr/>
        </p:nvSpPr>
        <p:spPr>
          <a:xfrm>
            <a:off x="594360" y="3776472"/>
            <a:ext cx="5367528" cy="1783080"/>
          </a:xfrm>
          <a:prstGeom prst="roundRect">
            <a:avLst>
              <a:gd name="adj" fmla="val 4615"/>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7" name="Shape 13"/>
          <p:cNvSpPr/>
          <p:nvPr/>
        </p:nvSpPr>
        <p:spPr>
          <a:xfrm>
            <a:off x="886968" y="4050792"/>
            <a:ext cx="640080" cy="640080"/>
          </a:xfrm>
          <a:prstGeom prst="ellipse">
            <a:avLst/>
          </a:prstGeom>
          <a:solidFill>
            <a:srgbClr val="0F8B8D"/>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1040587" y="4204411"/>
            <a:ext cx="332842" cy="332842"/>
          </a:xfrm>
          <a:prstGeom prst="rect">
            <a:avLst/>
          </a:prstGeom>
        </p:spPr>
      </p:pic>
      <p:sp>
        <p:nvSpPr>
          <p:cNvPr id="19" name="Text 14"/>
          <p:cNvSpPr/>
          <p:nvPr/>
        </p:nvSpPr>
        <p:spPr>
          <a:xfrm>
            <a:off x="1709928" y="4032504"/>
            <a:ext cx="4023360" cy="640080"/>
          </a:xfrm>
          <a:prstGeom prst="rect">
            <a:avLst/>
          </a:prstGeom>
          <a:noFill/>
          <a:ln/>
        </p:spPr>
        <p:txBody>
          <a:bodyPr wrap="square" lIns="0" tIns="0" rIns="0" bIns="0" rtlCol="0" anchor="ctr"/>
          <a:lstStyle/>
          <a:p>
            <a:pPr marL="0" indent="0">
              <a:buNone/>
            </a:pPr>
            <a:r>
              <a:rPr lang="en-US" sz="1700" b="1">
                <a:solidFill>
                  <a:srgbClr val="142F47"/>
                </a:solidFill>
                <a:latin typeface="Cambria" pitchFamily="34" charset="0"/>
                <a:ea typeface="Cambria" pitchFamily="34" charset="-122"/>
                <a:cs typeface="Cambria" pitchFamily="34" charset="-120"/>
              </a:rPr>
              <a:t>Success</a:t>
            </a:r>
            <a:endParaRPr lang="en-US" sz="1700"/>
          </a:p>
        </p:txBody>
      </p:sp>
      <p:sp>
        <p:nvSpPr>
          <p:cNvPr id="20" name="Text 15"/>
          <p:cNvSpPr/>
          <p:nvPr/>
        </p:nvSpPr>
        <p:spPr>
          <a:xfrm>
            <a:off x="905256" y="4736592"/>
            <a:ext cx="4754880" cy="731520"/>
          </a:xfrm>
          <a:prstGeom prst="rect">
            <a:avLst/>
          </a:prstGeom>
          <a:noFill/>
          <a:ln/>
        </p:spPr>
        <p:txBody>
          <a:bodyPr wrap="square" lIns="0" tIns="0" rIns="0" bIns="0" rtlCol="0" anchor="ctr"/>
          <a:lstStyle/>
          <a:p>
            <a:pPr marL="0" indent="0">
              <a:lnSpc>
                <a:spcPct val="110000"/>
              </a:lnSpc>
              <a:buNone/>
            </a:pPr>
            <a:r>
              <a:rPr lang="en-US" sz="1250">
                <a:solidFill>
                  <a:srgbClr val="45586A"/>
                </a:solidFill>
                <a:latin typeface="Calibri" pitchFamily="34" charset="0"/>
                <a:ea typeface="Calibri" pitchFamily="34" charset="-122"/>
                <a:cs typeface="Calibri" pitchFamily="34" charset="-120"/>
              </a:rPr>
              <a:t>It worked. How does the user know? Where do they land?</a:t>
            </a:r>
            <a:endParaRPr lang="en-US" sz="1250"/>
          </a:p>
        </p:txBody>
      </p:sp>
      <p:sp>
        <p:nvSpPr>
          <p:cNvPr id="21" name="Shape 16"/>
          <p:cNvSpPr/>
          <p:nvPr/>
        </p:nvSpPr>
        <p:spPr>
          <a:xfrm>
            <a:off x="6199632" y="3776472"/>
            <a:ext cx="5367528" cy="1783080"/>
          </a:xfrm>
          <a:prstGeom prst="roundRect">
            <a:avLst>
              <a:gd name="adj" fmla="val 4615"/>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22" name="Shape 17"/>
          <p:cNvSpPr/>
          <p:nvPr/>
        </p:nvSpPr>
        <p:spPr>
          <a:xfrm>
            <a:off x="6492240" y="4050792"/>
            <a:ext cx="640080" cy="640080"/>
          </a:xfrm>
          <a:prstGeom prst="ellipse">
            <a:avLst/>
          </a:prstGeom>
          <a:solidFill>
            <a:srgbClr val="0F8B8D"/>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6645859" y="4204411"/>
            <a:ext cx="332842" cy="332842"/>
          </a:xfrm>
          <a:prstGeom prst="rect">
            <a:avLst/>
          </a:prstGeom>
        </p:spPr>
      </p:pic>
      <p:sp>
        <p:nvSpPr>
          <p:cNvPr id="24" name="Text 18"/>
          <p:cNvSpPr/>
          <p:nvPr/>
        </p:nvSpPr>
        <p:spPr>
          <a:xfrm>
            <a:off x="7315200" y="4032504"/>
            <a:ext cx="4023360" cy="640080"/>
          </a:xfrm>
          <a:prstGeom prst="rect">
            <a:avLst/>
          </a:prstGeom>
          <a:noFill/>
          <a:ln/>
        </p:spPr>
        <p:txBody>
          <a:bodyPr wrap="square" lIns="0" tIns="0" rIns="0" bIns="0" rtlCol="0" anchor="ctr"/>
          <a:lstStyle/>
          <a:p>
            <a:pPr marL="0" indent="0">
              <a:buNone/>
            </a:pPr>
            <a:r>
              <a:rPr lang="en-US" sz="1700" b="1">
                <a:solidFill>
                  <a:srgbClr val="142F47"/>
                </a:solidFill>
                <a:latin typeface="Cambria" pitchFamily="34" charset="0"/>
                <a:ea typeface="Cambria" pitchFamily="34" charset="-122"/>
                <a:cs typeface="Cambria" pitchFamily="34" charset="-120"/>
              </a:rPr>
              <a:t>Loading</a:t>
            </a:r>
            <a:endParaRPr lang="en-US" sz="1700"/>
          </a:p>
        </p:txBody>
      </p:sp>
      <p:sp>
        <p:nvSpPr>
          <p:cNvPr id="25" name="Text 19"/>
          <p:cNvSpPr/>
          <p:nvPr/>
        </p:nvSpPr>
        <p:spPr>
          <a:xfrm>
            <a:off x="6510528" y="4736592"/>
            <a:ext cx="4754880" cy="731520"/>
          </a:xfrm>
          <a:prstGeom prst="rect">
            <a:avLst/>
          </a:prstGeom>
          <a:noFill/>
          <a:ln/>
        </p:spPr>
        <p:txBody>
          <a:bodyPr wrap="square" lIns="0" tIns="0" rIns="0" bIns="0" rtlCol="0" anchor="ctr"/>
          <a:lstStyle/>
          <a:p>
            <a:pPr marL="0" indent="0">
              <a:lnSpc>
                <a:spcPct val="110000"/>
              </a:lnSpc>
              <a:buNone/>
            </a:pPr>
            <a:r>
              <a:rPr lang="en-US" sz="1250">
                <a:solidFill>
                  <a:srgbClr val="45586A"/>
                </a:solidFill>
                <a:latin typeface="Calibri" pitchFamily="34" charset="0"/>
                <a:ea typeface="Calibri" pitchFamily="34" charset="-122"/>
                <a:cs typeface="Calibri" pitchFamily="34" charset="-120"/>
              </a:rPr>
              <a:t>Even faked with a delay, it decides what the wait feels like.</a:t>
            </a:r>
            <a:endParaRPr lang="en-US" sz="1250"/>
          </a:p>
        </p:txBody>
      </p:sp>
      <p:sp>
        <p:nvSpPr>
          <p:cNvPr id="26" name="Text 20"/>
          <p:cNvSpPr/>
          <p:nvPr/>
        </p:nvSpPr>
        <p:spPr>
          <a:xfrm>
            <a:off x="594360" y="5852160"/>
            <a:ext cx="10972800" cy="411480"/>
          </a:xfrm>
          <a:prstGeom prst="rect">
            <a:avLst/>
          </a:prstGeom>
          <a:noFill/>
          <a:ln/>
        </p:spPr>
        <p:txBody>
          <a:bodyPr wrap="square" lIns="0" tIns="0" rIns="0" bIns="0" rtlCol="0" anchor="ctr"/>
          <a:lstStyle/>
          <a:p>
            <a:pPr marL="0" indent="0">
              <a:buNone/>
            </a:pPr>
            <a:r>
              <a:rPr lang="en-US" sz="1300" i="1">
                <a:solidFill>
                  <a:srgbClr val="0B6E70"/>
                </a:solidFill>
                <a:latin typeface="Calibri" pitchFamily="34" charset="0"/>
                <a:ea typeface="Calibri" pitchFamily="34" charset="-122"/>
                <a:cs typeface="Calibri" pitchFamily="34" charset="-120"/>
              </a:rPr>
              <a:t>“What happens when the list is empty?” is a requirement nobody writes down, until a model forces the answer.</a:t>
            </a:r>
            <a:endParaRPr lang="en-US" sz="13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2 · THE CRAFT</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Checkpoint like a pro. Recover like one</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22</a:t>
            </a:r>
            <a:endParaRPr lang="en-US" sz="900"/>
          </a:p>
        </p:txBody>
      </p:sp>
      <p:sp>
        <p:nvSpPr>
          <p:cNvPr id="6" name="Shape 4"/>
          <p:cNvSpPr/>
          <p:nvPr/>
        </p:nvSpPr>
        <p:spPr>
          <a:xfrm>
            <a:off x="594360" y="1783080"/>
            <a:ext cx="5394960" cy="4160520"/>
          </a:xfrm>
          <a:prstGeom prst="roundRect">
            <a:avLst>
              <a:gd name="adj" fmla="val 197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7" name="Shape 5"/>
          <p:cNvSpPr/>
          <p:nvPr/>
        </p:nvSpPr>
        <p:spPr>
          <a:xfrm>
            <a:off x="914400" y="2084832"/>
            <a:ext cx="640080" cy="640080"/>
          </a:xfrm>
          <a:prstGeom prst="ellipse">
            <a:avLst/>
          </a:prstGeom>
          <a:solidFill>
            <a:srgbClr val="0F8B8D"/>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68019" y="2238451"/>
            <a:ext cx="332842" cy="332842"/>
          </a:xfrm>
          <a:prstGeom prst="rect">
            <a:avLst/>
          </a:prstGeom>
        </p:spPr>
      </p:pic>
      <p:sp>
        <p:nvSpPr>
          <p:cNvPr id="9" name="Text 6"/>
          <p:cNvSpPr/>
          <p:nvPr/>
        </p:nvSpPr>
        <p:spPr>
          <a:xfrm>
            <a:off x="1737360" y="2148840"/>
            <a:ext cx="4023360" cy="502920"/>
          </a:xfrm>
          <a:prstGeom prst="rect">
            <a:avLst/>
          </a:prstGeom>
          <a:noFill/>
          <a:ln/>
        </p:spPr>
        <p:txBody>
          <a:bodyPr wrap="square" lIns="0" tIns="0" rIns="0" bIns="0" rtlCol="0" anchor="ctr"/>
          <a:lstStyle/>
          <a:p>
            <a:pPr marL="0" indent="0">
              <a:buNone/>
            </a:pPr>
            <a:r>
              <a:rPr lang="en-US" sz="1750" b="1">
                <a:solidFill>
                  <a:srgbClr val="142F47"/>
                </a:solidFill>
                <a:latin typeface="Cambria" pitchFamily="34" charset="0"/>
                <a:ea typeface="Cambria" pitchFamily="34" charset="-122"/>
                <a:cs typeface="Cambria" pitchFamily="34" charset="-120"/>
              </a:rPr>
              <a:t>Save numbered versions</a:t>
            </a:r>
            <a:endParaRPr lang="en-US" sz="1750"/>
          </a:p>
        </p:txBody>
      </p:sp>
      <p:sp>
        <p:nvSpPr>
          <p:cNvPr id="10" name="Shape 7"/>
          <p:cNvSpPr/>
          <p:nvPr/>
        </p:nvSpPr>
        <p:spPr>
          <a:xfrm>
            <a:off x="960120" y="3063240"/>
            <a:ext cx="2148840" cy="457200"/>
          </a:xfrm>
          <a:prstGeom prst="roundRect">
            <a:avLst>
              <a:gd name="adj" fmla="val 16000"/>
            </a:avLst>
          </a:prstGeom>
          <a:solidFill>
            <a:srgbClr val="F5F8F9"/>
          </a:solidFill>
          <a:ln w="12700">
            <a:solidFill>
              <a:srgbClr val="D9E4E7"/>
            </a:solidFill>
            <a:prstDash val="solid"/>
          </a:ln>
        </p:spPr>
        <p:txBody>
          <a:bodyPr/>
          <a:lstStyle/>
          <a:p>
            <a:endParaRPr lang="en-US"/>
          </a:p>
        </p:txBody>
      </p:sp>
      <p:sp>
        <p:nvSpPr>
          <p:cNvPr id="11" name="Text 8"/>
          <p:cNvSpPr/>
          <p:nvPr/>
        </p:nvSpPr>
        <p:spPr>
          <a:xfrm>
            <a:off x="960120" y="3063240"/>
            <a:ext cx="2148840" cy="457200"/>
          </a:xfrm>
          <a:prstGeom prst="rect">
            <a:avLst/>
          </a:prstGeom>
          <a:noFill/>
          <a:ln/>
        </p:spPr>
        <p:txBody>
          <a:bodyPr wrap="square" lIns="0" tIns="0" rIns="0" bIns="0" rtlCol="0" anchor="ctr"/>
          <a:lstStyle/>
          <a:p>
            <a:pPr marL="0" indent="0" algn="ctr">
              <a:buNone/>
            </a:pPr>
            <a:r>
              <a:rPr lang="en-US" sz="1100">
                <a:solidFill>
                  <a:srgbClr val="5B6C7B"/>
                </a:solidFill>
                <a:latin typeface="Courier New" pitchFamily="34" charset="0"/>
                <a:ea typeface="Courier New" pitchFamily="34" charset="-122"/>
                <a:cs typeface="Courier New" pitchFamily="34" charset="-120"/>
              </a:rPr>
              <a:t>model-v1.html</a:t>
            </a:r>
            <a:endParaRPr lang="en-US" sz="1100"/>
          </a:p>
        </p:txBody>
      </p:sp>
      <p:sp>
        <p:nvSpPr>
          <p:cNvPr id="12" name="Text 9"/>
          <p:cNvSpPr/>
          <p:nvPr/>
        </p:nvSpPr>
        <p:spPr>
          <a:xfrm>
            <a:off x="3291840" y="3136392"/>
            <a:ext cx="2560320" cy="329184"/>
          </a:xfrm>
          <a:prstGeom prst="rect">
            <a:avLst/>
          </a:prstGeom>
          <a:noFill/>
          <a:ln/>
        </p:spPr>
        <p:txBody>
          <a:bodyPr wrap="square" lIns="0" tIns="0" rIns="0" bIns="0" rtlCol="0" anchor="ctr"/>
          <a:lstStyle/>
          <a:p>
            <a:pPr marL="0" indent="0">
              <a:buNone/>
            </a:pPr>
            <a:r>
              <a:rPr lang="en-US" sz="1150">
                <a:solidFill>
                  <a:srgbClr val="7C8B99"/>
                </a:solidFill>
                <a:latin typeface="Calibri" pitchFamily="34" charset="0"/>
                <a:ea typeface="Calibri" pitchFamily="34" charset="-122"/>
                <a:cs typeface="Calibri" pitchFamily="34" charset="-120"/>
              </a:rPr>
              <a:t>first working shell</a:t>
            </a:r>
            <a:endParaRPr lang="en-US" sz="1150"/>
          </a:p>
        </p:txBody>
      </p:sp>
      <p:sp>
        <p:nvSpPr>
          <p:cNvPr id="13" name="Shape 10"/>
          <p:cNvSpPr/>
          <p:nvPr/>
        </p:nvSpPr>
        <p:spPr>
          <a:xfrm>
            <a:off x="960120" y="3721608"/>
            <a:ext cx="2148840" cy="457200"/>
          </a:xfrm>
          <a:prstGeom prst="roundRect">
            <a:avLst>
              <a:gd name="adj" fmla="val 16000"/>
            </a:avLst>
          </a:prstGeom>
          <a:solidFill>
            <a:srgbClr val="F5F8F9"/>
          </a:solidFill>
          <a:ln w="12700">
            <a:solidFill>
              <a:srgbClr val="D9E4E7"/>
            </a:solidFill>
            <a:prstDash val="solid"/>
          </a:ln>
        </p:spPr>
        <p:txBody>
          <a:bodyPr/>
          <a:lstStyle/>
          <a:p>
            <a:endParaRPr lang="en-US"/>
          </a:p>
        </p:txBody>
      </p:sp>
      <p:sp>
        <p:nvSpPr>
          <p:cNvPr id="14" name="Text 11"/>
          <p:cNvSpPr/>
          <p:nvPr/>
        </p:nvSpPr>
        <p:spPr>
          <a:xfrm>
            <a:off x="960120" y="3721608"/>
            <a:ext cx="2148840" cy="457200"/>
          </a:xfrm>
          <a:prstGeom prst="rect">
            <a:avLst/>
          </a:prstGeom>
          <a:noFill/>
          <a:ln/>
        </p:spPr>
        <p:txBody>
          <a:bodyPr wrap="square" lIns="0" tIns="0" rIns="0" bIns="0" rtlCol="0" anchor="ctr"/>
          <a:lstStyle/>
          <a:p>
            <a:pPr marL="0" indent="0" algn="ctr">
              <a:buNone/>
            </a:pPr>
            <a:r>
              <a:rPr lang="en-US" sz="1100">
                <a:solidFill>
                  <a:srgbClr val="5B6C7B"/>
                </a:solidFill>
                <a:latin typeface="Courier New" pitchFamily="34" charset="0"/>
                <a:ea typeface="Courier New" pitchFamily="34" charset="-122"/>
                <a:cs typeface="Courier New" pitchFamily="34" charset="-120"/>
              </a:rPr>
              <a:t>model-v2.html</a:t>
            </a:r>
            <a:endParaRPr lang="en-US" sz="1100"/>
          </a:p>
        </p:txBody>
      </p:sp>
      <p:sp>
        <p:nvSpPr>
          <p:cNvPr id="15" name="Text 12"/>
          <p:cNvSpPr/>
          <p:nvPr/>
        </p:nvSpPr>
        <p:spPr>
          <a:xfrm>
            <a:off x="3291840" y="3794760"/>
            <a:ext cx="2560320" cy="329184"/>
          </a:xfrm>
          <a:prstGeom prst="rect">
            <a:avLst/>
          </a:prstGeom>
          <a:noFill/>
          <a:ln/>
        </p:spPr>
        <p:txBody>
          <a:bodyPr wrap="square" lIns="0" tIns="0" rIns="0" bIns="0" rtlCol="0" anchor="ctr"/>
          <a:lstStyle/>
          <a:p>
            <a:pPr marL="0" indent="0">
              <a:buNone/>
            </a:pPr>
            <a:r>
              <a:rPr lang="en-US" sz="1150">
                <a:solidFill>
                  <a:srgbClr val="7C8B99"/>
                </a:solidFill>
                <a:latin typeface="Calibri" pitchFamily="34" charset="0"/>
                <a:ea typeface="Calibri" pitchFamily="34" charset="-122"/>
                <a:cs typeface="Calibri" pitchFamily="34" charset="-120"/>
              </a:rPr>
              <a:t>list + detail done</a:t>
            </a:r>
            <a:endParaRPr lang="en-US" sz="1150"/>
          </a:p>
        </p:txBody>
      </p:sp>
      <p:sp>
        <p:nvSpPr>
          <p:cNvPr id="16" name="Shape 13"/>
          <p:cNvSpPr/>
          <p:nvPr/>
        </p:nvSpPr>
        <p:spPr>
          <a:xfrm>
            <a:off x="960120" y="4379976"/>
            <a:ext cx="2148840" cy="457200"/>
          </a:xfrm>
          <a:prstGeom prst="roundRect">
            <a:avLst>
              <a:gd name="adj" fmla="val 16000"/>
            </a:avLst>
          </a:prstGeom>
          <a:solidFill>
            <a:srgbClr val="E4F2F2"/>
          </a:solidFill>
          <a:ln w="12700">
            <a:solidFill>
              <a:srgbClr val="CBE4E4"/>
            </a:solidFill>
            <a:prstDash val="solid"/>
          </a:ln>
        </p:spPr>
        <p:txBody>
          <a:bodyPr/>
          <a:lstStyle/>
          <a:p>
            <a:endParaRPr lang="en-US"/>
          </a:p>
        </p:txBody>
      </p:sp>
      <p:sp>
        <p:nvSpPr>
          <p:cNvPr id="17" name="Text 14"/>
          <p:cNvSpPr/>
          <p:nvPr/>
        </p:nvSpPr>
        <p:spPr>
          <a:xfrm>
            <a:off x="960120" y="4379976"/>
            <a:ext cx="2148840" cy="457200"/>
          </a:xfrm>
          <a:prstGeom prst="rect">
            <a:avLst/>
          </a:prstGeom>
          <a:noFill/>
          <a:ln/>
        </p:spPr>
        <p:txBody>
          <a:bodyPr wrap="square" lIns="0" tIns="0" rIns="0" bIns="0" rtlCol="0" anchor="ctr"/>
          <a:lstStyle/>
          <a:p>
            <a:pPr marL="0" indent="0" algn="ctr">
              <a:buNone/>
            </a:pPr>
            <a:r>
              <a:rPr lang="en-US" sz="1100">
                <a:solidFill>
                  <a:srgbClr val="0B6E70"/>
                </a:solidFill>
                <a:latin typeface="Courier New" pitchFamily="34" charset="0"/>
                <a:ea typeface="Courier New" pitchFamily="34" charset="-122"/>
                <a:cs typeface="Courier New" pitchFamily="34" charset="-120"/>
              </a:rPr>
              <a:t>model-v3.html</a:t>
            </a:r>
            <a:endParaRPr lang="en-US" sz="1100"/>
          </a:p>
        </p:txBody>
      </p:sp>
      <p:sp>
        <p:nvSpPr>
          <p:cNvPr id="18" name="Text 15"/>
          <p:cNvSpPr/>
          <p:nvPr/>
        </p:nvSpPr>
        <p:spPr>
          <a:xfrm>
            <a:off x="3291840" y="4453128"/>
            <a:ext cx="2560320" cy="329184"/>
          </a:xfrm>
          <a:prstGeom prst="rect">
            <a:avLst/>
          </a:prstGeom>
          <a:noFill/>
          <a:ln/>
        </p:spPr>
        <p:txBody>
          <a:bodyPr wrap="square" lIns="0" tIns="0" rIns="0" bIns="0" rtlCol="0" anchor="ctr"/>
          <a:lstStyle/>
          <a:p>
            <a:pPr marL="0" indent="0">
              <a:buNone/>
            </a:pPr>
            <a:r>
              <a:rPr lang="en-US" sz="1150">
                <a:solidFill>
                  <a:srgbClr val="7C8B99"/>
                </a:solidFill>
                <a:latin typeface="Calibri" pitchFamily="34" charset="0"/>
                <a:ea typeface="Calibri" pitchFamily="34" charset="-122"/>
                <a:cs typeface="Calibri" pitchFamily="34" charset="-120"/>
              </a:rPr>
              <a:t>dashboard added ✓</a:t>
            </a:r>
            <a:endParaRPr lang="en-US" sz="1150"/>
          </a:p>
        </p:txBody>
      </p:sp>
      <p:sp>
        <p:nvSpPr>
          <p:cNvPr id="19" name="Text 16"/>
          <p:cNvSpPr/>
          <p:nvPr/>
        </p:nvSpPr>
        <p:spPr>
          <a:xfrm>
            <a:off x="960120" y="5120640"/>
            <a:ext cx="4754880" cy="731520"/>
          </a:xfrm>
          <a:prstGeom prst="rect">
            <a:avLst/>
          </a:prstGeom>
          <a:noFill/>
          <a:ln/>
        </p:spPr>
        <p:txBody>
          <a:bodyPr wrap="square" lIns="0" tIns="0" rIns="0" bIns="0" rtlCol="0" anchor="ctr"/>
          <a:lstStyle/>
          <a:p>
            <a:pPr marL="0" indent="0">
              <a:lnSpc>
                <a:spcPct val="110000"/>
              </a:lnSpc>
              <a:buNone/>
            </a:pPr>
            <a:r>
              <a:rPr lang="en-US" sz="1250" i="1">
                <a:solidFill>
                  <a:srgbClr val="0B6E70"/>
                </a:solidFill>
                <a:latin typeface="Calibri" pitchFamily="34" charset="0"/>
                <a:ea typeface="Calibri" pitchFamily="34" charset="-122"/>
                <a:cs typeface="Calibri" pitchFamily="34" charset="-120"/>
              </a:rPr>
              <a:t>A checkpoint at every milestone costs nothing and buys an undo button. Never overwrite one.</a:t>
            </a:r>
            <a:endParaRPr lang="en-US" sz="1250"/>
          </a:p>
        </p:txBody>
      </p:sp>
      <p:sp>
        <p:nvSpPr>
          <p:cNvPr id="20" name="Shape 17"/>
          <p:cNvSpPr/>
          <p:nvPr/>
        </p:nvSpPr>
        <p:spPr>
          <a:xfrm>
            <a:off x="6199632" y="1783080"/>
            <a:ext cx="5394960" cy="4160520"/>
          </a:xfrm>
          <a:prstGeom prst="roundRect">
            <a:avLst>
              <a:gd name="adj" fmla="val 197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21" name="Shape 18"/>
          <p:cNvSpPr/>
          <p:nvPr/>
        </p:nvSpPr>
        <p:spPr>
          <a:xfrm>
            <a:off x="6519672" y="2084832"/>
            <a:ext cx="640080" cy="640080"/>
          </a:xfrm>
          <a:prstGeom prst="ellipse">
            <a:avLst/>
          </a:prstGeom>
          <a:solidFill>
            <a:srgbClr val="DFA13F"/>
          </a:solidFill>
          <a:ln/>
        </p:spPr>
        <p:txBody>
          <a:bodyPr/>
          <a:lstStyle/>
          <a:p>
            <a:endParaRPr lang="en-US"/>
          </a:p>
        </p:txBody>
      </p:sp>
      <p:pic>
        <p:nvPicPr>
          <p:cNvPr id="22" name="Image 1" descr="preencoded.png"/>
          <p:cNvPicPr>
            <a:picLocks noChangeAspect="1"/>
          </p:cNvPicPr>
          <p:nvPr/>
        </p:nvPicPr>
        <p:blipFill>
          <a:blip r:embed="rId4"/>
          <a:stretch>
            <a:fillRect/>
          </a:stretch>
        </p:blipFill>
        <p:spPr>
          <a:xfrm>
            <a:off x="6673291" y="2238451"/>
            <a:ext cx="332842" cy="332842"/>
          </a:xfrm>
          <a:prstGeom prst="rect">
            <a:avLst/>
          </a:prstGeom>
        </p:spPr>
      </p:pic>
      <p:sp>
        <p:nvSpPr>
          <p:cNvPr id="23" name="Text 19"/>
          <p:cNvSpPr/>
          <p:nvPr/>
        </p:nvSpPr>
        <p:spPr>
          <a:xfrm>
            <a:off x="7342632" y="2148840"/>
            <a:ext cx="4023360" cy="502920"/>
          </a:xfrm>
          <a:prstGeom prst="rect">
            <a:avLst/>
          </a:prstGeom>
          <a:noFill/>
          <a:ln/>
        </p:spPr>
        <p:txBody>
          <a:bodyPr wrap="square" lIns="0" tIns="0" rIns="0" bIns="0" rtlCol="0" anchor="ctr"/>
          <a:lstStyle/>
          <a:p>
            <a:pPr marL="0" indent="0">
              <a:buNone/>
            </a:pPr>
            <a:r>
              <a:rPr lang="en-US" sz="1750" b="1">
                <a:solidFill>
                  <a:srgbClr val="142F47"/>
                </a:solidFill>
                <a:latin typeface="Cambria" pitchFamily="34" charset="0"/>
                <a:ea typeface="Cambria" pitchFamily="34" charset="-122"/>
                <a:cs typeface="Cambria" pitchFamily="34" charset="-120"/>
              </a:rPr>
              <a:t>When it goes sideways</a:t>
            </a:r>
            <a:endParaRPr lang="en-US" sz="1750"/>
          </a:p>
        </p:txBody>
      </p:sp>
      <p:sp>
        <p:nvSpPr>
          <p:cNvPr id="24" name="Text 20"/>
          <p:cNvSpPr/>
          <p:nvPr/>
        </p:nvSpPr>
        <p:spPr>
          <a:xfrm>
            <a:off x="6537960" y="3017520"/>
            <a:ext cx="4846320" cy="320040"/>
          </a:xfrm>
          <a:prstGeom prst="rect">
            <a:avLst/>
          </a:prstGeom>
          <a:noFill/>
          <a:ln/>
        </p:spPr>
        <p:txBody>
          <a:bodyPr wrap="square" lIns="0" tIns="0" rIns="0" bIns="0" rtlCol="0" anchor="ctr"/>
          <a:lstStyle/>
          <a:p>
            <a:pPr marL="0" indent="0">
              <a:buNone/>
            </a:pPr>
            <a:r>
              <a:rPr lang="en-US" sz="1400" b="1">
                <a:solidFill>
                  <a:srgbClr val="142F47"/>
                </a:solidFill>
                <a:latin typeface="Calibri" pitchFamily="34" charset="0"/>
                <a:ea typeface="Calibri" pitchFamily="34" charset="-122"/>
                <a:cs typeface="Calibri" pitchFamily="34" charset="-120"/>
              </a:rPr>
              <a:t>1.  Stop.</a:t>
            </a:r>
            <a:endParaRPr lang="en-US" sz="1400"/>
          </a:p>
        </p:txBody>
      </p:sp>
      <p:sp>
        <p:nvSpPr>
          <p:cNvPr id="25" name="Text 21"/>
          <p:cNvSpPr/>
          <p:nvPr/>
        </p:nvSpPr>
        <p:spPr>
          <a:xfrm>
            <a:off x="6537960" y="3328416"/>
            <a:ext cx="4892040" cy="548640"/>
          </a:xfrm>
          <a:prstGeom prst="rect">
            <a:avLst/>
          </a:prstGeom>
          <a:noFill/>
          <a:ln/>
        </p:spPr>
        <p:txBody>
          <a:bodyPr wrap="square" lIns="0" tIns="0" rIns="0" bIns="0" rtlCol="0" anchor="ctr"/>
          <a:lstStyle/>
          <a:p>
            <a:pPr marL="0" indent="0">
              <a:lnSpc>
                <a:spcPct val="108000"/>
              </a:lnSpc>
              <a:buNone/>
            </a:pPr>
            <a:r>
              <a:rPr lang="en-US" sz="1200">
                <a:solidFill>
                  <a:srgbClr val="45586A"/>
                </a:solidFill>
                <a:latin typeface="Calibri" pitchFamily="34" charset="0"/>
                <a:ea typeface="Calibri" pitchFamily="34" charset="-122"/>
                <a:cs typeface="Calibri" pitchFamily="34" charset="-120"/>
              </a:rPr>
              <a:t>Three failed fixes in a row means the session is confused, not you.</a:t>
            </a:r>
            <a:endParaRPr lang="en-US" sz="1200"/>
          </a:p>
        </p:txBody>
      </p:sp>
      <p:sp>
        <p:nvSpPr>
          <p:cNvPr id="26" name="Text 22"/>
          <p:cNvSpPr/>
          <p:nvPr/>
        </p:nvSpPr>
        <p:spPr>
          <a:xfrm>
            <a:off x="6537960" y="3950208"/>
            <a:ext cx="4846320" cy="320040"/>
          </a:xfrm>
          <a:prstGeom prst="rect">
            <a:avLst/>
          </a:prstGeom>
          <a:noFill/>
          <a:ln/>
        </p:spPr>
        <p:txBody>
          <a:bodyPr wrap="square" lIns="0" tIns="0" rIns="0" bIns="0" rtlCol="0" anchor="ctr"/>
          <a:lstStyle/>
          <a:p>
            <a:pPr marL="0" indent="0">
              <a:buNone/>
            </a:pPr>
            <a:r>
              <a:rPr lang="en-US" sz="1400" b="1">
                <a:solidFill>
                  <a:srgbClr val="142F47"/>
                </a:solidFill>
                <a:latin typeface="Calibri" pitchFamily="34" charset="0"/>
                <a:ea typeface="Calibri" pitchFamily="34" charset="-122"/>
                <a:cs typeface="Calibri" pitchFamily="34" charset="-120"/>
              </a:rPr>
              <a:t>2.  Reset with a fresh session.</a:t>
            </a:r>
            <a:endParaRPr lang="en-US" sz="1400"/>
          </a:p>
        </p:txBody>
      </p:sp>
      <p:sp>
        <p:nvSpPr>
          <p:cNvPr id="27" name="Text 23"/>
          <p:cNvSpPr/>
          <p:nvPr/>
        </p:nvSpPr>
        <p:spPr>
          <a:xfrm>
            <a:off x="6537960" y="4261104"/>
            <a:ext cx="4892040" cy="548640"/>
          </a:xfrm>
          <a:prstGeom prst="rect">
            <a:avLst/>
          </a:prstGeom>
          <a:noFill/>
          <a:ln/>
        </p:spPr>
        <p:txBody>
          <a:bodyPr wrap="square" lIns="0" tIns="0" rIns="0" bIns="0" rtlCol="0" anchor="ctr"/>
          <a:lstStyle/>
          <a:p>
            <a:pPr marL="0" indent="0">
              <a:lnSpc>
                <a:spcPct val="108000"/>
              </a:lnSpc>
              <a:buNone/>
            </a:pPr>
            <a:r>
              <a:rPr lang="en-US" sz="1200">
                <a:solidFill>
                  <a:srgbClr val="45586A"/>
                </a:solidFill>
                <a:latin typeface="Calibri" pitchFamily="34" charset="0"/>
                <a:ea typeface="Calibri" pitchFamily="34" charset="-122"/>
                <a:cs typeface="Calibri" pitchFamily="34" charset="-120"/>
              </a:rPr>
              <a:t>Start a new session in the same folder. The files and your checkpoints stay put.</a:t>
            </a:r>
            <a:endParaRPr lang="en-US" sz="1200"/>
          </a:p>
        </p:txBody>
      </p:sp>
      <p:sp>
        <p:nvSpPr>
          <p:cNvPr id="28" name="Text 24"/>
          <p:cNvSpPr/>
          <p:nvPr/>
        </p:nvSpPr>
        <p:spPr>
          <a:xfrm>
            <a:off x="6537960" y="4882896"/>
            <a:ext cx="4846320" cy="320040"/>
          </a:xfrm>
          <a:prstGeom prst="rect">
            <a:avLst/>
          </a:prstGeom>
          <a:noFill/>
          <a:ln/>
        </p:spPr>
        <p:txBody>
          <a:bodyPr wrap="square" lIns="0" tIns="0" rIns="0" bIns="0" rtlCol="0" anchor="ctr"/>
          <a:lstStyle/>
          <a:p>
            <a:pPr marL="0" indent="0">
              <a:buNone/>
            </a:pPr>
            <a:r>
              <a:rPr lang="en-US" sz="1400" b="1">
                <a:solidFill>
                  <a:srgbClr val="142F47"/>
                </a:solidFill>
                <a:latin typeface="Calibri" pitchFamily="34" charset="0"/>
                <a:ea typeface="Calibri" pitchFamily="34" charset="-122"/>
                <a:cs typeface="Calibri" pitchFamily="34" charset="-120"/>
              </a:rPr>
              <a:t>3.  Restate against the last good version.</a:t>
            </a:r>
            <a:endParaRPr lang="en-US" sz="1400"/>
          </a:p>
        </p:txBody>
      </p:sp>
      <p:sp>
        <p:nvSpPr>
          <p:cNvPr id="29" name="Text 25"/>
          <p:cNvSpPr/>
          <p:nvPr/>
        </p:nvSpPr>
        <p:spPr>
          <a:xfrm>
            <a:off x="6537960" y="5193792"/>
            <a:ext cx="4892040" cy="548640"/>
          </a:xfrm>
          <a:prstGeom prst="rect">
            <a:avLst/>
          </a:prstGeom>
          <a:noFill/>
          <a:ln/>
        </p:spPr>
        <p:txBody>
          <a:bodyPr wrap="square" lIns="0" tIns="0" rIns="0" bIns="0" rtlCol="0" anchor="ctr"/>
          <a:lstStyle/>
          <a:p>
            <a:pPr marL="0" indent="0">
              <a:lnSpc>
                <a:spcPct val="108000"/>
              </a:lnSpc>
              <a:buNone/>
            </a:pPr>
            <a:r>
              <a:rPr lang="en-US" sz="1200">
                <a:solidFill>
                  <a:srgbClr val="45586A"/>
                </a:solidFill>
                <a:latin typeface="Calibri" pitchFamily="34" charset="0"/>
                <a:ea typeface="Calibri" pitchFamily="34" charset="-122"/>
                <a:cs typeface="Calibri" pitchFamily="34" charset="-120"/>
              </a:rPr>
              <a:t>“Start from model-v2.html. Add the dashboard as a third screen.”</a:t>
            </a:r>
            <a:endParaRPr lang="en-US" sz="1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2 · THE CRAFT</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The Model Charter: your handoff letter</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23</a:t>
            </a:r>
            <a:endParaRPr lang="en-US" sz="900"/>
          </a:p>
        </p:txBody>
      </p:sp>
      <p:sp>
        <p:nvSpPr>
          <p:cNvPr id="6" name="Shape 4"/>
          <p:cNvSpPr/>
          <p:nvPr/>
        </p:nvSpPr>
        <p:spPr>
          <a:xfrm>
            <a:off x="640080" y="1737360"/>
            <a:ext cx="5212080" cy="4343400"/>
          </a:xfrm>
          <a:prstGeom prst="roundRect">
            <a:avLst>
              <a:gd name="adj" fmla="val 1895"/>
            </a:avLst>
          </a:prstGeom>
          <a:solidFill>
            <a:srgbClr val="0E2334"/>
          </a:solidFill>
          <a:ln/>
          <a:effectLst>
            <a:outerShdw blurRad="88900" dist="25400" dir="5400000" algn="bl" rotWithShape="0">
              <a:srgbClr val="9FB1BC">
                <a:alpha val="30000"/>
              </a:srgbClr>
            </a:outerShdw>
          </a:effectLst>
        </p:spPr>
        <p:txBody>
          <a:bodyPr/>
          <a:lstStyle/>
          <a:p>
            <a:endParaRPr lang="en-US"/>
          </a:p>
        </p:txBody>
      </p:sp>
      <p:sp>
        <p:nvSpPr>
          <p:cNvPr id="7" name="Text 5"/>
          <p:cNvSpPr/>
          <p:nvPr/>
        </p:nvSpPr>
        <p:spPr>
          <a:xfrm>
            <a:off x="914400" y="1883664"/>
            <a:ext cx="4572000" cy="274320"/>
          </a:xfrm>
          <a:prstGeom prst="rect">
            <a:avLst/>
          </a:prstGeom>
          <a:noFill/>
          <a:ln/>
        </p:spPr>
        <p:txBody>
          <a:bodyPr wrap="square" lIns="0" tIns="0" rIns="0" bIns="0" rtlCol="0" anchor="ctr"/>
          <a:lstStyle/>
          <a:p>
            <a:pPr marL="0" indent="0">
              <a:buNone/>
            </a:pPr>
            <a:r>
              <a:rPr lang="en-US" sz="1000" b="1" kern="0" spc="200">
                <a:solidFill>
                  <a:srgbClr val="7ED4D6"/>
                </a:solidFill>
                <a:latin typeface="Calibri" pitchFamily="34" charset="0"/>
                <a:ea typeface="Calibri" pitchFamily="34" charset="-122"/>
                <a:cs typeface="Calibri" pitchFamily="34" charset="-120"/>
              </a:rPr>
              <a:t>top of model.html</a:t>
            </a:r>
            <a:endParaRPr lang="en-US" sz="1000"/>
          </a:p>
        </p:txBody>
      </p:sp>
      <p:sp>
        <p:nvSpPr>
          <p:cNvPr id="8" name="Text 6"/>
          <p:cNvSpPr/>
          <p:nvPr/>
        </p:nvSpPr>
        <p:spPr>
          <a:xfrm>
            <a:off x="914400" y="2212848"/>
            <a:ext cx="4709160" cy="3657600"/>
          </a:xfrm>
          <a:prstGeom prst="rect">
            <a:avLst/>
          </a:prstGeom>
          <a:noFill/>
          <a:ln/>
        </p:spPr>
        <p:txBody>
          <a:bodyPr wrap="square" lIns="0" tIns="0" rIns="0" bIns="0" rtlCol="0" anchor="ctr"/>
          <a:lstStyle/>
          <a:p>
            <a:pPr marL="0" indent="0">
              <a:lnSpc>
                <a:spcPct val="128000"/>
              </a:lnSpc>
              <a:buNone/>
            </a:pPr>
            <a:r>
              <a:rPr lang="en-US" sz="1150">
                <a:solidFill>
                  <a:srgbClr val="C9D8E2"/>
                </a:solidFill>
                <a:latin typeface="Courier New" pitchFamily="34" charset="0"/>
                <a:ea typeface="Courier New" pitchFamily="34" charset="-122"/>
                <a:cs typeface="Courier New" pitchFamily="34" charset="-120"/>
              </a:rPr>
              <a:t>&lt;!--</a:t>
            </a:r>
            <a:endParaRPr lang="en-US" sz="1150"/>
          </a:p>
          <a:p>
            <a:pPr marL="0" indent="0">
              <a:lnSpc>
                <a:spcPct val="128000"/>
              </a:lnSpc>
              <a:buNone/>
            </a:pPr>
            <a:r>
              <a:rPr lang="en-US" sz="1150">
                <a:solidFill>
                  <a:srgbClr val="C9D8E2"/>
                </a:solidFill>
                <a:latin typeface="Courier New" pitchFamily="34" charset="0"/>
                <a:ea typeface="Courier New" pitchFamily="34" charset="-122"/>
                <a:cs typeface="Courier New" pitchFamily="34" charset="-120"/>
              </a:rPr>
              <a:t>MODEL CHARTER</a:t>
            </a:r>
            <a:endParaRPr lang="en-US" sz="1150"/>
          </a:p>
          <a:p>
            <a:pPr marL="0" indent="0">
              <a:lnSpc>
                <a:spcPct val="128000"/>
              </a:lnSpc>
              <a:buNone/>
            </a:pPr>
            <a:r>
              <a:rPr lang="en-US" sz="1150">
                <a:solidFill>
                  <a:srgbClr val="C9D8E2"/>
                </a:solidFill>
                <a:latin typeface="Courier New" pitchFamily="34" charset="0"/>
                <a:ea typeface="Courier New" pitchFamily="34" charset="-122"/>
                <a:cs typeface="Courier New" pitchFamily="34" charset="-120"/>
              </a:rPr>
              <a:t>App name:        State Tax Notice Tracker</a:t>
            </a:r>
            <a:endParaRPr lang="en-US" sz="1150"/>
          </a:p>
          <a:p>
            <a:pPr marL="0" indent="0">
              <a:lnSpc>
                <a:spcPct val="128000"/>
              </a:lnSpc>
              <a:buNone/>
            </a:pPr>
            <a:r>
              <a:rPr lang="en-US" sz="1150">
                <a:solidFill>
                  <a:srgbClr val="C9D8E2"/>
                </a:solidFill>
                <a:latin typeface="Courier New" pitchFamily="34" charset="0"/>
                <a:ea typeface="Courier New" pitchFamily="34" charset="-122"/>
                <a:cs typeface="Courier New" pitchFamily="34" charset="-120"/>
              </a:rPr>
              <a:t>Who uses it:     Tax analysts (5–8 people)</a:t>
            </a:r>
            <a:endParaRPr lang="en-US" sz="1150"/>
          </a:p>
          <a:p>
            <a:pPr marL="0" indent="0">
              <a:lnSpc>
                <a:spcPct val="128000"/>
              </a:lnSpc>
              <a:buNone/>
            </a:pPr>
            <a:r>
              <a:rPr lang="en-US" sz="1150">
                <a:solidFill>
                  <a:srgbClr val="C9D8E2"/>
                </a:solidFill>
                <a:latin typeface="Courier New" pitchFamily="34" charset="0"/>
                <a:ea typeface="Courier New" pitchFamily="34" charset="-122"/>
                <a:cs typeface="Courier New" pitchFamily="34" charset="-120"/>
              </a:rPr>
              <a:t>What job:        Log, assign, resolve notices</a:t>
            </a:r>
            <a:endParaRPr lang="en-US" sz="1150"/>
          </a:p>
          <a:p>
            <a:pPr marL="0" indent="0">
              <a:lnSpc>
                <a:spcPct val="128000"/>
              </a:lnSpc>
              <a:buNone/>
            </a:pPr>
            <a:r>
              <a:rPr lang="en-US" sz="1150">
                <a:solidFill>
                  <a:srgbClr val="C9D8E2"/>
                </a:solidFill>
                <a:latin typeface="Courier New" pitchFamily="34" charset="0"/>
                <a:ea typeface="Courier New" pitchFamily="34" charset="-122"/>
                <a:cs typeface="Courier New" pitchFamily="34" charset="-120"/>
              </a:rPr>
              <a:t>Assumptions:     One assignee per notice</a:t>
            </a:r>
            <a:endParaRPr lang="en-US" sz="1150"/>
          </a:p>
          <a:p>
            <a:pPr marL="0" indent="0">
              <a:lnSpc>
                <a:spcPct val="128000"/>
              </a:lnSpc>
              <a:buNone/>
            </a:pPr>
            <a:r>
              <a:rPr lang="en-US" sz="1150">
                <a:solidFill>
                  <a:srgbClr val="C9D8E2"/>
                </a:solidFill>
                <a:latin typeface="Courier New" pitchFamily="34" charset="0"/>
                <a:ea typeface="Courier New" pitchFamily="34" charset="-122"/>
                <a:cs typeface="Courier New" pitchFamily="34" charset="-120"/>
              </a:rPr>
              <a:t>Open questions:  Auto-import from mailbox?</a:t>
            </a:r>
            <a:endParaRPr lang="en-US" sz="1150"/>
          </a:p>
          <a:p>
            <a:pPr marL="0" indent="0">
              <a:lnSpc>
                <a:spcPct val="128000"/>
              </a:lnSpc>
              <a:buNone/>
            </a:pPr>
            <a:r>
              <a:rPr lang="en-US" sz="1150">
                <a:solidFill>
                  <a:srgbClr val="C9D8E2"/>
                </a:solidFill>
                <a:latin typeface="Courier New" pitchFamily="34" charset="0"/>
                <a:ea typeface="Courier New" pitchFamily="34" charset="-122"/>
                <a:cs typeface="Courier New" pitchFamily="34" charset="-120"/>
              </a:rPr>
              <a:t>                 Retention for resolved items?</a:t>
            </a:r>
            <a:endParaRPr lang="en-US" sz="1150"/>
          </a:p>
          <a:p>
            <a:pPr marL="0" indent="0">
              <a:lnSpc>
                <a:spcPct val="128000"/>
              </a:lnSpc>
              <a:buNone/>
            </a:pPr>
            <a:r>
              <a:rPr lang="en-US" sz="1150">
                <a:solidFill>
                  <a:srgbClr val="C9D8E2"/>
                </a:solidFill>
                <a:latin typeface="Courier New" pitchFamily="34" charset="0"/>
                <a:ea typeface="Courier New" pitchFamily="34" charset="-122"/>
                <a:cs typeface="Courier New" pitchFamily="34" charset="-120"/>
              </a:rPr>
              <a:t>Out of scope:    Payments, correspondence</a:t>
            </a:r>
            <a:endParaRPr lang="en-US" sz="1150"/>
          </a:p>
          <a:p>
            <a:pPr marL="0" indent="0">
              <a:lnSpc>
                <a:spcPct val="128000"/>
              </a:lnSpc>
              <a:buNone/>
            </a:pPr>
            <a:r>
              <a:rPr lang="en-US" sz="1150">
                <a:solidFill>
                  <a:srgbClr val="C9D8E2"/>
                </a:solidFill>
                <a:latin typeface="Courier New" pitchFamily="34" charset="0"/>
                <a:ea typeface="Courier New" pitchFamily="34" charset="-122"/>
                <a:cs typeface="Courier New" pitchFamily="34" charset="-120"/>
              </a:rPr>
              <a:t>--&gt;</a:t>
            </a:r>
            <a:endParaRPr lang="en-US" sz="1150"/>
          </a:p>
        </p:txBody>
      </p:sp>
      <p:sp>
        <p:nvSpPr>
          <p:cNvPr id="9" name="Text 7"/>
          <p:cNvSpPr/>
          <p:nvPr/>
        </p:nvSpPr>
        <p:spPr>
          <a:xfrm>
            <a:off x="6263640" y="1874520"/>
            <a:ext cx="5303520" cy="777240"/>
          </a:xfrm>
          <a:prstGeom prst="rect">
            <a:avLst/>
          </a:prstGeom>
          <a:noFill/>
          <a:ln/>
        </p:spPr>
        <p:txBody>
          <a:bodyPr wrap="square" lIns="0" tIns="0" rIns="0" bIns="0" rtlCol="0" anchor="ctr"/>
          <a:lstStyle/>
          <a:p>
            <a:pPr marL="0" indent="0">
              <a:lnSpc>
                <a:spcPct val="110000"/>
              </a:lnSpc>
              <a:buNone/>
            </a:pPr>
            <a:r>
              <a:rPr lang="en-US" sz="1900" b="1">
                <a:solidFill>
                  <a:srgbClr val="142F47"/>
                </a:solidFill>
                <a:latin typeface="Cambria" pitchFamily="34" charset="0"/>
                <a:ea typeface="Cambria" pitchFamily="34" charset="-122"/>
                <a:cs typeface="Cambria" pitchFamily="34" charset="-120"/>
              </a:rPr>
              <a:t>As important as the screens</a:t>
            </a:r>
            <a:endParaRPr lang="en-US" sz="1900"/>
          </a:p>
        </p:txBody>
      </p:sp>
      <p:sp>
        <p:nvSpPr>
          <p:cNvPr id="10" name="Text 8"/>
          <p:cNvSpPr/>
          <p:nvPr/>
        </p:nvSpPr>
        <p:spPr>
          <a:xfrm>
            <a:off x="6291072" y="2743200"/>
            <a:ext cx="5303520" cy="2468880"/>
          </a:xfrm>
          <a:prstGeom prst="rect">
            <a:avLst/>
          </a:prstGeom>
          <a:noFill/>
          <a:ln/>
        </p:spPr>
        <p:txBody>
          <a:bodyPr wrap="square" lIns="0" tIns="0" rIns="0" bIns="0" rtlCol="0" anchor="t"/>
          <a:lstStyle/>
          <a:p>
            <a:pPr marL="152400" indent="-152400">
              <a:lnSpc>
                <a:spcPct val="106000"/>
              </a:lnSpc>
              <a:spcAft>
                <a:spcPts val="1000"/>
              </a:spcAft>
              <a:buSzPct val="100000"/>
              <a:buChar char="•"/>
            </a:pPr>
            <a:r>
              <a:rPr lang="en-US" sz="1350">
                <a:solidFill>
                  <a:srgbClr val="45586A"/>
                </a:solidFill>
                <a:latin typeface="Calibri" pitchFamily="34" charset="0"/>
                <a:ea typeface="Calibri" pitchFamily="34" charset="-122"/>
                <a:cs typeface="Calibri" pitchFamily="34" charset="-120"/>
              </a:rPr>
              <a:t>The model shows what. The charter says why, for whom, and what is deliberately missing.</a:t>
            </a:r>
            <a:endParaRPr lang="en-US" sz="1350"/>
          </a:p>
          <a:p>
            <a:pPr marL="152400" indent="-152400">
              <a:lnSpc>
                <a:spcPct val="106000"/>
              </a:lnSpc>
              <a:spcAft>
                <a:spcPts val="1000"/>
              </a:spcAft>
              <a:buSzPct val="100000"/>
              <a:buChar char="•"/>
            </a:pPr>
            <a:r>
              <a:rPr lang="en-US" sz="1350">
                <a:solidFill>
                  <a:srgbClr val="45586A"/>
                </a:solidFill>
                <a:latin typeface="Calibri" pitchFamily="34" charset="0"/>
                <a:ea typeface="Calibri" pitchFamily="34" charset="-122"/>
                <a:cs typeface="Calibri" pitchFamily="34" charset="-120"/>
              </a:rPr>
              <a:t>Open questions become the agenda of the first upsizing conversation.</a:t>
            </a:r>
            <a:endParaRPr lang="en-US" sz="1350"/>
          </a:p>
          <a:p>
            <a:pPr marL="152400" indent="-152400">
              <a:lnSpc>
                <a:spcPct val="106000"/>
              </a:lnSpc>
              <a:spcAft>
                <a:spcPts val="1000"/>
              </a:spcAft>
              <a:buSzPct val="100000"/>
              <a:buChar char="•"/>
            </a:pPr>
            <a:r>
              <a:rPr lang="en-US" sz="1350">
                <a:solidFill>
                  <a:srgbClr val="45586A"/>
                </a:solidFill>
                <a:latin typeface="Calibri" pitchFamily="34" charset="0"/>
                <a:ea typeface="Calibri" pitchFamily="34" charset="-122"/>
                <a:cs typeface="Calibri" pitchFamily="34" charset="-120"/>
              </a:rPr>
              <a:t>It travels inside the file. The requirements can never separate from the model.</a:t>
            </a:r>
            <a:endParaRPr lang="en-US" sz="1350"/>
          </a:p>
          <a:p>
            <a:pPr marL="152400" indent="-152400">
              <a:lnSpc>
                <a:spcPct val="106000"/>
              </a:lnSpc>
              <a:spcAft>
                <a:spcPts val="1000"/>
              </a:spcAft>
              <a:buSzPct val="100000"/>
              <a:buChar char="•"/>
            </a:pPr>
            <a:r>
              <a:rPr lang="en-US" sz="1350">
                <a:solidFill>
                  <a:srgbClr val="45586A"/>
                </a:solidFill>
                <a:latin typeface="Calibri" pitchFamily="34" charset="0"/>
                <a:ea typeface="Calibri" pitchFamily="34" charset="-122"/>
                <a:cs typeface="Calibri" pitchFamily="34" charset="-120"/>
              </a:rPr>
              <a:t>Claude maintains it for you as decisions land. Your standing orders make that automatic.</a:t>
            </a:r>
            <a:endParaRPr lang="en-US" sz="135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2 · THE CRAFT</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What a great model looks like</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24</a:t>
            </a:r>
            <a:endParaRPr lang="en-US" sz="900"/>
          </a:p>
        </p:txBody>
      </p:sp>
      <p:sp>
        <p:nvSpPr>
          <p:cNvPr id="6" name="Shape 4"/>
          <p:cNvSpPr/>
          <p:nvPr/>
        </p:nvSpPr>
        <p:spPr>
          <a:xfrm>
            <a:off x="658368" y="1801368"/>
            <a:ext cx="512064" cy="512064"/>
          </a:xfrm>
          <a:prstGeom prst="ellipse">
            <a:avLst/>
          </a:prstGeom>
          <a:solidFill>
            <a:srgbClr val="0F8B8D"/>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81263" y="1924263"/>
            <a:ext cx="266273" cy="266273"/>
          </a:xfrm>
          <a:prstGeom prst="rect">
            <a:avLst/>
          </a:prstGeom>
        </p:spPr>
      </p:pic>
      <p:sp>
        <p:nvSpPr>
          <p:cNvPr id="8" name="Text 5"/>
          <p:cNvSpPr/>
          <p:nvPr/>
        </p:nvSpPr>
        <p:spPr>
          <a:xfrm>
            <a:off x="1353312" y="1783080"/>
            <a:ext cx="3108960" cy="365760"/>
          </a:xfrm>
          <a:prstGeom prst="rect">
            <a:avLst/>
          </a:prstGeom>
          <a:noFill/>
          <a:ln/>
        </p:spPr>
        <p:txBody>
          <a:bodyPr wrap="square" lIns="0" tIns="0" rIns="0" bIns="0" rtlCol="0" anchor="ctr"/>
          <a:lstStyle/>
          <a:p>
            <a:pPr marL="0" indent="0">
              <a:buNone/>
            </a:pPr>
            <a:r>
              <a:rPr lang="en-US" sz="1500" b="1">
                <a:solidFill>
                  <a:srgbClr val="142F47"/>
                </a:solidFill>
                <a:latin typeface="Calibri" pitchFamily="34" charset="0"/>
                <a:ea typeface="Calibri" pitchFamily="34" charset="-122"/>
                <a:cs typeface="Calibri" pitchFamily="34" charset="-120"/>
              </a:rPr>
              <a:t>Clickable end to end</a:t>
            </a:r>
            <a:endParaRPr lang="en-US" sz="1500"/>
          </a:p>
        </p:txBody>
      </p:sp>
      <p:sp>
        <p:nvSpPr>
          <p:cNvPr id="9" name="Text 6"/>
          <p:cNvSpPr/>
          <p:nvPr/>
        </p:nvSpPr>
        <p:spPr>
          <a:xfrm>
            <a:off x="4572000" y="1801368"/>
            <a:ext cx="6949440" cy="502920"/>
          </a:xfrm>
          <a:prstGeom prst="rect">
            <a:avLst/>
          </a:prstGeom>
          <a:noFill/>
          <a:ln/>
        </p:spPr>
        <p:txBody>
          <a:bodyPr wrap="square" lIns="0" tIns="0" rIns="0" bIns="0" rtlCol="0" anchor="ctr"/>
          <a:lstStyle/>
          <a:p>
            <a:pPr marL="0" indent="0">
              <a:buNone/>
            </a:pPr>
            <a:r>
              <a:rPr lang="en-US" sz="1300">
                <a:solidFill>
                  <a:srgbClr val="45586A"/>
                </a:solidFill>
                <a:latin typeface="Calibri" pitchFamily="34" charset="0"/>
                <a:ea typeface="Calibri" pitchFamily="34" charset="-122"/>
                <a:cs typeface="Calibri" pitchFamily="34" charset="-120"/>
              </a:rPr>
              <a:t>Every primary workflow completes. No dead buttons without a label.</a:t>
            </a:r>
            <a:endParaRPr lang="en-US" sz="1300"/>
          </a:p>
        </p:txBody>
      </p:sp>
      <p:sp>
        <p:nvSpPr>
          <p:cNvPr id="10" name="Shape 7"/>
          <p:cNvSpPr/>
          <p:nvPr/>
        </p:nvSpPr>
        <p:spPr>
          <a:xfrm>
            <a:off x="658368" y="2642616"/>
            <a:ext cx="512064" cy="512064"/>
          </a:xfrm>
          <a:prstGeom prst="ellipse">
            <a:avLst/>
          </a:prstGeom>
          <a:solidFill>
            <a:srgbClr val="0F8B8D"/>
          </a:solidFill>
          <a:ln/>
        </p:spPr>
        <p:txBody>
          <a:bodyPr/>
          <a:lstStyle/>
          <a:p>
            <a:endParaRPr lang="en-US"/>
          </a:p>
        </p:txBody>
      </p:sp>
      <p:pic>
        <p:nvPicPr>
          <p:cNvPr id="11" name="Image 1" descr="preencoded.png"/>
          <p:cNvPicPr>
            <a:picLocks noChangeAspect="1"/>
          </p:cNvPicPr>
          <p:nvPr/>
        </p:nvPicPr>
        <p:blipFill>
          <a:blip r:embed="rId3"/>
          <a:stretch>
            <a:fillRect/>
          </a:stretch>
        </p:blipFill>
        <p:spPr>
          <a:xfrm>
            <a:off x="781263" y="2765511"/>
            <a:ext cx="266273" cy="266273"/>
          </a:xfrm>
          <a:prstGeom prst="rect">
            <a:avLst/>
          </a:prstGeom>
        </p:spPr>
      </p:pic>
      <p:sp>
        <p:nvSpPr>
          <p:cNvPr id="12" name="Text 8"/>
          <p:cNvSpPr/>
          <p:nvPr/>
        </p:nvSpPr>
        <p:spPr>
          <a:xfrm>
            <a:off x="1353312" y="2624328"/>
            <a:ext cx="3108960" cy="365760"/>
          </a:xfrm>
          <a:prstGeom prst="rect">
            <a:avLst/>
          </a:prstGeom>
          <a:noFill/>
          <a:ln/>
        </p:spPr>
        <p:txBody>
          <a:bodyPr wrap="square" lIns="0" tIns="0" rIns="0" bIns="0" rtlCol="0" anchor="ctr"/>
          <a:lstStyle/>
          <a:p>
            <a:pPr marL="0" indent="0">
              <a:buNone/>
            </a:pPr>
            <a:r>
              <a:rPr lang="en-US" sz="1500" b="1">
                <a:solidFill>
                  <a:srgbClr val="142F47"/>
                </a:solidFill>
                <a:latin typeface="Calibri" pitchFamily="34" charset="0"/>
                <a:ea typeface="Calibri" pitchFamily="34" charset="-122"/>
                <a:cs typeface="Calibri" pitchFamily="34" charset="-120"/>
              </a:rPr>
              <a:t>Believable data</a:t>
            </a:r>
            <a:endParaRPr lang="en-US" sz="1500"/>
          </a:p>
        </p:txBody>
      </p:sp>
      <p:sp>
        <p:nvSpPr>
          <p:cNvPr id="13" name="Text 9"/>
          <p:cNvSpPr/>
          <p:nvPr/>
        </p:nvSpPr>
        <p:spPr>
          <a:xfrm>
            <a:off x="4572000" y="2642616"/>
            <a:ext cx="6949440" cy="502920"/>
          </a:xfrm>
          <a:prstGeom prst="rect">
            <a:avLst/>
          </a:prstGeom>
          <a:noFill/>
          <a:ln/>
        </p:spPr>
        <p:txBody>
          <a:bodyPr wrap="square" lIns="0" tIns="0" rIns="0" bIns="0" rtlCol="0" anchor="ctr"/>
          <a:lstStyle/>
          <a:p>
            <a:pPr marL="0" indent="0">
              <a:buNone/>
            </a:pPr>
            <a:r>
              <a:rPr lang="en-US" sz="1300">
                <a:solidFill>
                  <a:srgbClr val="45586A"/>
                </a:solidFill>
                <a:latin typeface="Calibri" pitchFamily="34" charset="0"/>
                <a:ea typeface="Calibri" pitchFamily="34" charset="-122"/>
                <a:cs typeface="Calibri" pitchFamily="34" charset="-120"/>
              </a:rPr>
              <a:t>Ten-plus varied rows. Sorting and filtering look true.</a:t>
            </a:r>
            <a:endParaRPr lang="en-US" sz="1300"/>
          </a:p>
        </p:txBody>
      </p:sp>
      <p:sp>
        <p:nvSpPr>
          <p:cNvPr id="14" name="Shape 10"/>
          <p:cNvSpPr/>
          <p:nvPr/>
        </p:nvSpPr>
        <p:spPr>
          <a:xfrm>
            <a:off x="658368" y="3483864"/>
            <a:ext cx="512064" cy="512064"/>
          </a:xfrm>
          <a:prstGeom prst="ellipse">
            <a:avLst/>
          </a:prstGeom>
          <a:solidFill>
            <a:srgbClr val="0F8B8D"/>
          </a:solidFill>
          <a:ln/>
        </p:spPr>
        <p:txBody>
          <a:bodyPr/>
          <a:lstStyle/>
          <a:p>
            <a:endParaRPr lang="en-US"/>
          </a:p>
        </p:txBody>
      </p:sp>
      <p:pic>
        <p:nvPicPr>
          <p:cNvPr id="15" name="Image 2" descr="preencoded.png"/>
          <p:cNvPicPr>
            <a:picLocks noChangeAspect="1"/>
          </p:cNvPicPr>
          <p:nvPr/>
        </p:nvPicPr>
        <p:blipFill>
          <a:blip r:embed="rId3"/>
          <a:stretch>
            <a:fillRect/>
          </a:stretch>
        </p:blipFill>
        <p:spPr>
          <a:xfrm>
            <a:off x="781263" y="3606759"/>
            <a:ext cx="266273" cy="266273"/>
          </a:xfrm>
          <a:prstGeom prst="rect">
            <a:avLst/>
          </a:prstGeom>
        </p:spPr>
      </p:pic>
      <p:sp>
        <p:nvSpPr>
          <p:cNvPr id="16" name="Text 11"/>
          <p:cNvSpPr/>
          <p:nvPr/>
        </p:nvSpPr>
        <p:spPr>
          <a:xfrm>
            <a:off x="1353312" y="3465576"/>
            <a:ext cx="3108960" cy="365760"/>
          </a:xfrm>
          <a:prstGeom prst="rect">
            <a:avLst/>
          </a:prstGeom>
          <a:noFill/>
          <a:ln/>
        </p:spPr>
        <p:txBody>
          <a:bodyPr wrap="square" lIns="0" tIns="0" rIns="0" bIns="0" rtlCol="0" anchor="ctr"/>
          <a:lstStyle/>
          <a:p>
            <a:pPr marL="0" indent="0">
              <a:buNone/>
            </a:pPr>
            <a:r>
              <a:rPr lang="en-US" sz="1500" b="1">
                <a:solidFill>
                  <a:srgbClr val="142F47"/>
                </a:solidFill>
                <a:latin typeface="Calibri" pitchFamily="34" charset="0"/>
                <a:ea typeface="Calibri" pitchFamily="34" charset="-122"/>
                <a:cs typeface="Calibri" pitchFamily="34" charset="-120"/>
              </a:rPr>
              <a:t>States shown</a:t>
            </a:r>
            <a:endParaRPr lang="en-US" sz="1500"/>
          </a:p>
        </p:txBody>
      </p:sp>
      <p:sp>
        <p:nvSpPr>
          <p:cNvPr id="17" name="Text 12"/>
          <p:cNvSpPr/>
          <p:nvPr/>
        </p:nvSpPr>
        <p:spPr>
          <a:xfrm>
            <a:off x="4572000" y="3483864"/>
            <a:ext cx="6949440" cy="502920"/>
          </a:xfrm>
          <a:prstGeom prst="rect">
            <a:avLst/>
          </a:prstGeom>
          <a:noFill/>
          <a:ln/>
        </p:spPr>
        <p:txBody>
          <a:bodyPr wrap="square" lIns="0" tIns="0" rIns="0" bIns="0" rtlCol="0" anchor="ctr"/>
          <a:lstStyle/>
          <a:p>
            <a:pPr marL="0" indent="0">
              <a:buNone/>
            </a:pPr>
            <a:r>
              <a:rPr lang="en-US" sz="1300">
                <a:solidFill>
                  <a:srgbClr val="45586A"/>
                </a:solidFill>
                <a:latin typeface="Calibri" pitchFamily="34" charset="0"/>
                <a:ea typeface="Calibri" pitchFamily="34" charset="-122"/>
                <a:cs typeface="Calibri" pitchFamily="34" charset="-120"/>
              </a:rPr>
              <a:t>Empty, error, and success are all reachable by clicking.</a:t>
            </a:r>
            <a:endParaRPr lang="en-US" sz="1300"/>
          </a:p>
        </p:txBody>
      </p:sp>
      <p:sp>
        <p:nvSpPr>
          <p:cNvPr id="18" name="Shape 13"/>
          <p:cNvSpPr/>
          <p:nvPr/>
        </p:nvSpPr>
        <p:spPr>
          <a:xfrm>
            <a:off x="658368" y="4325112"/>
            <a:ext cx="512064" cy="512064"/>
          </a:xfrm>
          <a:prstGeom prst="ellipse">
            <a:avLst/>
          </a:prstGeom>
          <a:solidFill>
            <a:srgbClr val="0F8B8D"/>
          </a:solidFill>
          <a:ln/>
        </p:spPr>
        <p:txBody>
          <a:bodyPr/>
          <a:lstStyle/>
          <a:p>
            <a:endParaRPr lang="en-US"/>
          </a:p>
        </p:txBody>
      </p:sp>
      <p:pic>
        <p:nvPicPr>
          <p:cNvPr id="19" name="Image 3" descr="preencoded.png"/>
          <p:cNvPicPr>
            <a:picLocks noChangeAspect="1"/>
          </p:cNvPicPr>
          <p:nvPr/>
        </p:nvPicPr>
        <p:blipFill>
          <a:blip r:embed="rId3"/>
          <a:stretch>
            <a:fillRect/>
          </a:stretch>
        </p:blipFill>
        <p:spPr>
          <a:xfrm>
            <a:off x="781263" y="4448007"/>
            <a:ext cx="266273" cy="266273"/>
          </a:xfrm>
          <a:prstGeom prst="rect">
            <a:avLst/>
          </a:prstGeom>
        </p:spPr>
      </p:pic>
      <p:sp>
        <p:nvSpPr>
          <p:cNvPr id="20" name="Text 14"/>
          <p:cNvSpPr/>
          <p:nvPr/>
        </p:nvSpPr>
        <p:spPr>
          <a:xfrm>
            <a:off x="1353312" y="4306824"/>
            <a:ext cx="3108960" cy="365760"/>
          </a:xfrm>
          <a:prstGeom prst="rect">
            <a:avLst/>
          </a:prstGeom>
          <a:noFill/>
          <a:ln/>
        </p:spPr>
        <p:txBody>
          <a:bodyPr wrap="square" lIns="0" tIns="0" rIns="0" bIns="0" rtlCol="0" anchor="ctr"/>
          <a:lstStyle/>
          <a:p>
            <a:pPr marL="0" indent="0">
              <a:buNone/>
            </a:pPr>
            <a:r>
              <a:rPr lang="en-US" sz="1500" b="1">
                <a:solidFill>
                  <a:srgbClr val="142F47"/>
                </a:solidFill>
                <a:latin typeface="Calibri" pitchFamily="34" charset="0"/>
                <a:ea typeface="Calibri" pitchFamily="34" charset="-122"/>
                <a:cs typeface="Calibri" pitchFamily="34" charset="-120"/>
              </a:rPr>
              <a:t>Honest edges</a:t>
            </a:r>
            <a:endParaRPr lang="en-US" sz="1500"/>
          </a:p>
        </p:txBody>
      </p:sp>
      <p:sp>
        <p:nvSpPr>
          <p:cNvPr id="21" name="Text 15"/>
          <p:cNvSpPr/>
          <p:nvPr/>
        </p:nvSpPr>
        <p:spPr>
          <a:xfrm>
            <a:off x="4572000" y="4325112"/>
            <a:ext cx="6949440" cy="502920"/>
          </a:xfrm>
          <a:prstGeom prst="rect">
            <a:avLst/>
          </a:prstGeom>
          <a:noFill/>
          <a:ln/>
        </p:spPr>
        <p:txBody>
          <a:bodyPr wrap="square" lIns="0" tIns="0" rIns="0" bIns="0" rtlCol="0" anchor="ctr"/>
          <a:lstStyle/>
          <a:p>
            <a:pPr marL="0" indent="0">
              <a:buNone/>
            </a:pPr>
            <a:r>
              <a:rPr lang="en-US" sz="1300">
                <a:solidFill>
                  <a:srgbClr val="45586A"/>
                </a:solidFill>
                <a:latin typeface="Calibri" pitchFamily="34" charset="0"/>
                <a:ea typeface="Calibri" pitchFamily="34" charset="-122"/>
                <a:cs typeface="Calibri" pitchFamily="34" charset="-120"/>
              </a:rPr>
              <a:t>Out-of-scope controls stay visible, marked “(future)”, never silently dropped.</a:t>
            </a:r>
            <a:endParaRPr lang="en-US" sz="1300"/>
          </a:p>
        </p:txBody>
      </p:sp>
      <p:sp>
        <p:nvSpPr>
          <p:cNvPr id="22" name="Shape 16"/>
          <p:cNvSpPr/>
          <p:nvPr/>
        </p:nvSpPr>
        <p:spPr>
          <a:xfrm>
            <a:off x="658368" y="5166360"/>
            <a:ext cx="512064" cy="512064"/>
          </a:xfrm>
          <a:prstGeom prst="ellipse">
            <a:avLst/>
          </a:prstGeom>
          <a:solidFill>
            <a:srgbClr val="0F8B8D"/>
          </a:solidFill>
          <a:ln/>
        </p:spPr>
        <p:txBody>
          <a:bodyPr/>
          <a:lstStyle/>
          <a:p>
            <a:endParaRPr lang="en-US"/>
          </a:p>
        </p:txBody>
      </p:sp>
      <p:pic>
        <p:nvPicPr>
          <p:cNvPr id="23" name="Image 4" descr="preencoded.png"/>
          <p:cNvPicPr>
            <a:picLocks noChangeAspect="1"/>
          </p:cNvPicPr>
          <p:nvPr/>
        </p:nvPicPr>
        <p:blipFill>
          <a:blip r:embed="rId3"/>
          <a:stretch>
            <a:fillRect/>
          </a:stretch>
        </p:blipFill>
        <p:spPr>
          <a:xfrm>
            <a:off x="781263" y="5289255"/>
            <a:ext cx="266273" cy="266273"/>
          </a:xfrm>
          <a:prstGeom prst="rect">
            <a:avLst/>
          </a:prstGeom>
        </p:spPr>
      </p:pic>
      <p:sp>
        <p:nvSpPr>
          <p:cNvPr id="24" name="Text 17"/>
          <p:cNvSpPr/>
          <p:nvPr/>
        </p:nvSpPr>
        <p:spPr>
          <a:xfrm>
            <a:off x="1353312" y="5148072"/>
            <a:ext cx="3108960" cy="365760"/>
          </a:xfrm>
          <a:prstGeom prst="rect">
            <a:avLst/>
          </a:prstGeom>
          <a:noFill/>
          <a:ln/>
        </p:spPr>
        <p:txBody>
          <a:bodyPr wrap="square" lIns="0" tIns="0" rIns="0" bIns="0" rtlCol="0" anchor="ctr"/>
          <a:lstStyle/>
          <a:p>
            <a:pPr marL="0" indent="0">
              <a:buNone/>
            </a:pPr>
            <a:r>
              <a:rPr lang="en-US" sz="1500" b="1">
                <a:solidFill>
                  <a:srgbClr val="142F47"/>
                </a:solidFill>
                <a:latin typeface="Calibri" pitchFamily="34" charset="0"/>
                <a:ea typeface="Calibri" pitchFamily="34" charset="-122"/>
                <a:cs typeface="Calibri" pitchFamily="34" charset="-120"/>
              </a:rPr>
              <a:t>Charter complete</a:t>
            </a:r>
            <a:endParaRPr lang="en-US" sz="1500"/>
          </a:p>
        </p:txBody>
      </p:sp>
      <p:sp>
        <p:nvSpPr>
          <p:cNvPr id="25" name="Text 18"/>
          <p:cNvSpPr/>
          <p:nvPr/>
        </p:nvSpPr>
        <p:spPr>
          <a:xfrm>
            <a:off x="4572000" y="5166360"/>
            <a:ext cx="6949440" cy="502920"/>
          </a:xfrm>
          <a:prstGeom prst="rect">
            <a:avLst/>
          </a:prstGeom>
          <a:noFill/>
          <a:ln/>
        </p:spPr>
        <p:txBody>
          <a:bodyPr wrap="square" lIns="0" tIns="0" rIns="0" bIns="0" rtlCol="0" anchor="ctr"/>
          <a:lstStyle/>
          <a:p>
            <a:pPr marL="0" indent="0">
              <a:buNone/>
            </a:pPr>
            <a:r>
              <a:rPr lang="en-US" sz="1300">
                <a:solidFill>
                  <a:srgbClr val="45586A"/>
                </a:solidFill>
                <a:latin typeface="Calibri" pitchFamily="34" charset="0"/>
                <a:ea typeface="Calibri" pitchFamily="34" charset="-122"/>
                <a:cs typeface="Calibri" pitchFamily="34" charset="-120"/>
              </a:rPr>
              <a:t>Purpose, assumptions, and open questions, current as of the last change.</a:t>
            </a:r>
            <a:endParaRPr lang="en-US" sz="1300"/>
          </a:p>
        </p:txBody>
      </p:sp>
      <p:sp>
        <p:nvSpPr>
          <p:cNvPr id="26" name="Shape 19"/>
          <p:cNvSpPr/>
          <p:nvPr/>
        </p:nvSpPr>
        <p:spPr>
          <a:xfrm>
            <a:off x="594360" y="5715000"/>
            <a:ext cx="10972800" cy="658368"/>
          </a:xfrm>
          <a:prstGeom prst="roundRect">
            <a:avLst>
              <a:gd name="adj" fmla="val 12500"/>
            </a:avLst>
          </a:prstGeom>
          <a:solidFill>
            <a:srgbClr val="E4F2F2"/>
          </a:solidFill>
          <a:ln w="12700">
            <a:solidFill>
              <a:srgbClr val="CBE4E4"/>
            </a:solidFill>
            <a:prstDash val="solid"/>
          </a:ln>
        </p:spPr>
        <p:txBody>
          <a:bodyPr/>
          <a:lstStyle/>
          <a:p>
            <a:endParaRPr lang="en-US"/>
          </a:p>
        </p:txBody>
      </p:sp>
      <p:sp>
        <p:nvSpPr>
          <p:cNvPr id="27" name="Text 20"/>
          <p:cNvSpPr/>
          <p:nvPr/>
        </p:nvSpPr>
        <p:spPr>
          <a:xfrm>
            <a:off x="594360" y="5715000"/>
            <a:ext cx="10972800" cy="658368"/>
          </a:xfrm>
          <a:prstGeom prst="rect">
            <a:avLst/>
          </a:prstGeom>
          <a:noFill/>
          <a:ln/>
        </p:spPr>
        <p:txBody>
          <a:bodyPr wrap="square" lIns="0" tIns="0" rIns="0" bIns="0" rtlCol="0" anchor="ctr"/>
          <a:lstStyle/>
          <a:p>
            <a:pPr marL="0" indent="0" algn="ctr">
              <a:buNone/>
            </a:pPr>
            <a:r>
              <a:rPr lang="en-US" sz="1400" b="1" i="1">
                <a:solidFill>
                  <a:srgbClr val="0B6E70"/>
                </a:solidFill>
                <a:latin typeface="Cambria" pitchFamily="34" charset="0"/>
                <a:ea typeface="Cambria" pitchFamily="34" charset="-122"/>
                <a:cs typeface="Cambria" pitchFamily="34" charset="-120"/>
              </a:rPr>
              <a:t>The cold-handoff test: a person who has never seen it navigates the model without your help. If they can, it is done.</a:t>
            </a:r>
            <a:endParaRPr lang="en-US" sz="1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142F47"/>
        </a:solidFill>
        <a:effectLst/>
      </p:bgPr>
    </p:bg>
    <p:spTree>
      <p:nvGrpSpPr>
        <p:cNvPr id="1" name=""/>
        <p:cNvGrpSpPr/>
        <p:nvPr/>
      </p:nvGrpSpPr>
      <p:grpSpPr>
        <a:xfrm>
          <a:off x="0" y="0"/>
          <a:ext cx="0" cy="0"/>
          <a:chOff x="0" y="0"/>
          <a:chExt cx="0" cy="0"/>
        </a:xfrm>
      </p:grpSpPr>
      <p:sp>
        <p:nvSpPr>
          <p:cNvPr id="2" name="Text 0"/>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3" name="Text 1"/>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25</a:t>
            </a:r>
            <a:endParaRPr lang="en-US" sz="900"/>
          </a:p>
        </p:txBody>
      </p:sp>
      <p:sp>
        <p:nvSpPr>
          <p:cNvPr id="4" name="Shape 2"/>
          <p:cNvSpPr/>
          <p:nvPr/>
        </p:nvSpPr>
        <p:spPr>
          <a:xfrm>
            <a:off x="9692640" y="-1920240"/>
            <a:ext cx="4937760" cy="4937760"/>
          </a:xfrm>
          <a:prstGeom prst="ellipse">
            <a:avLst/>
          </a:prstGeom>
          <a:solidFill>
            <a:srgbClr val="0F8B8D">
              <a:alpha val="14000"/>
            </a:srgbClr>
          </a:solidFill>
          <a:ln/>
        </p:spPr>
        <p:txBody>
          <a:bodyPr/>
          <a:lstStyle/>
          <a:p>
            <a:endParaRPr lang="en-US"/>
          </a:p>
        </p:txBody>
      </p:sp>
      <p:sp>
        <p:nvSpPr>
          <p:cNvPr id="5" name="Shape 3"/>
          <p:cNvSpPr/>
          <p:nvPr/>
        </p:nvSpPr>
        <p:spPr>
          <a:xfrm>
            <a:off x="10881360" y="4480560"/>
            <a:ext cx="3291840" cy="3291840"/>
          </a:xfrm>
          <a:prstGeom prst="ellipse">
            <a:avLst/>
          </a:prstGeom>
          <a:solidFill>
            <a:srgbClr val="DFA13F">
              <a:alpha val="10000"/>
            </a:srgbClr>
          </a:solidFill>
          <a:ln/>
        </p:spPr>
        <p:txBody>
          <a:bodyPr/>
          <a:lstStyle/>
          <a:p>
            <a:endParaRPr lang="en-US"/>
          </a:p>
        </p:txBody>
      </p:sp>
      <p:sp>
        <p:nvSpPr>
          <p:cNvPr id="6" name="Shape 4"/>
          <p:cNvSpPr/>
          <p:nvPr/>
        </p:nvSpPr>
        <p:spPr>
          <a:xfrm>
            <a:off x="-1463040" y="4937760"/>
            <a:ext cx="3840480" cy="3840480"/>
          </a:xfrm>
          <a:prstGeom prst="ellipse">
            <a:avLst/>
          </a:prstGeom>
          <a:solidFill>
            <a:srgbClr val="0F8B8D">
              <a:alpha val="10000"/>
            </a:srgbClr>
          </a:solidFill>
          <a:ln/>
        </p:spPr>
        <p:txBody>
          <a:bodyPr/>
          <a:lstStyle/>
          <a:p>
            <a:endParaRPr lang="en-US"/>
          </a:p>
        </p:txBody>
      </p:sp>
      <p:sp>
        <p:nvSpPr>
          <p:cNvPr id="7" name="Text 5"/>
          <p:cNvSpPr/>
          <p:nvPr/>
        </p:nvSpPr>
        <p:spPr>
          <a:xfrm>
            <a:off x="868680" y="1965960"/>
            <a:ext cx="3657600" cy="365760"/>
          </a:xfrm>
          <a:prstGeom prst="rect">
            <a:avLst/>
          </a:prstGeom>
          <a:noFill/>
          <a:ln/>
        </p:spPr>
        <p:txBody>
          <a:bodyPr wrap="square" lIns="0" tIns="0" rIns="0" bIns="0" rtlCol="0" anchor="ctr"/>
          <a:lstStyle/>
          <a:p>
            <a:pPr marL="0" indent="0">
              <a:buNone/>
            </a:pPr>
            <a:r>
              <a:rPr lang="en-US" sz="1400" b="1" kern="0" spc="400">
                <a:solidFill>
                  <a:srgbClr val="DFA13F"/>
                </a:solidFill>
                <a:latin typeface="Calibri" pitchFamily="34" charset="0"/>
                <a:ea typeface="Calibri" pitchFamily="34" charset="-122"/>
                <a:cs typeface="Calibri" pitchFamily="34" charset="-120"/>
              </a:rPr>
              <a:t>ACT 3</a:t>
            </a:r>
            <a:endParaRPr lang="en-US" sz="1400"/>
          </a:p>
        </p:txBody>
      </p:sp>
      <p:sp>
        <p:nvSpPr>
          <p:cNvPr id="8" name="Text 6"/>
          <p:cNvSpPr/>
          <p:nvPr/>
        </p:nvSpPr>
        <p:spPr>
          <a:xfrm>
            <a:off x="822960" y="2331720"/>
            <a:ext cx="10058400" cy="1005840"/>
          </a:xfrm>
          <a:prstGeom prst="rect">
            <a:avLst/>
          </a:prstGeom>
          <a:noFill/>
          <a:ln/>
        </p:spPr>
        <p:txBody>
          <a:bodyPr wrap="square" lIns="0" tIns="0" rIns="0" bIns="0" rtlCol="0" anchor="ctr"/>
          <a:lstStyle/>
          <a:p>
            <a:pPr marL="0" indent="0">
              <a:buNone/>
            </a:pPr>
            <a:r>
              <a:rPr lang="en-US" sz="5400" b="1">
                <a:solidFill>
                  <a:srgbClr val="FFFFFF"/>
                </a:solidFill>
                <a:latin typeface="Cambria" pitchFamily="34" charset="0"/>
                <a:ea typeface="Cambria" pitchFamily="34" charset="-122"/>
                <a:cs typeface="Cambria" pitchFamily="34" charset="-120"/>
              </a:rPr>
              <a:t>The Future</a:t>
            </a:r>
            <a:endParaRPr lang="en-US" sz="5400"/>
          </a:p>
        </p:txBody>
      </p:sp>
      <p:sp>
        <p:nvSpPr>
          <p:cNvPr id="9" name="Text 7"/>
          <p:cNvSpPr/>
          <p:nvPr/>
        </p:nvSpPr>
        <p:spPr>
          <a:xfrm>
            <a:off x="868680" y="3520440"/>
            <a:ext cx="9601200" cy="914400"/>
          </a:xfrm>
          <a:prstGeom prst="rect">
            <a:avLst/>
          </a:prstGeom>
          <a:noFill/>
          <a:ln/>
        </p:spPr>
        <p:txBody>
          <a:bodyPr wrap="square" lIns="0" tIns="0" rIns="0" bIns="0" rtlCol="0" anchor="ctr"/>
          <a:lstStyle/>
          <a:p>
            <a:pPr marL="0" indent="0">
              <a:lnSpc>
                <a:spcPct val="120000"/>
              </a:lnSpc>
              <a:buNone/>
            </a:pPr>
            <a:r>
              <a:rPr lang="en-US" sz="1700">
                <a:solidFill>
                  <a:srgbClr val="C7D6DF"/>
                </a:solidFill>
                <a:latin typeface="Calibri" pitchFamily="34" charset="0"/>
                <a:ea typeface="Calibri" pitchFamily="34" charset="-122"/>
                <a:cs typeface="Calibri" pitchFamily="34" charset="-120"/>
              </a:rPr>
              <a:t>What model-first requirements change about how we work,</a:t>
            </a:r>
            <a:endParaRPr lang="en-US" sz="1700"/>
          </a:p>
          <a:p>
            <a:pPr marL="0" indent="0">
              <a:lnSpc>
                <a:spcPct val="120000"/>
              </a:lnSpc>
              <a:buNone/>
            </a:pPr>
            <a:r>
              <a:rPr lang="en-US" sz="1700">
                <a:solidFill>
                  <a:srgbClr val="C7D6DF"/>
                </a:solidFill>
                <a:latin typeface="Calibri" pitchFamily="34" charset="0"/>
                <a:ea typeface="Calibri" pitchFamily="34" charset="-122"/>
                <a:cs typeface="Calibri" pitchFamily="34" charset="-120"/>
              </a:rPr>
              <a:t>and what they do not.</a:t>
            </a:r>
            <a:endParaRPr lang="en-US" sz="17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3 · THE FUTURE</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This replaces nobody. Everybody moves up</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26</a:t>
            </a:r>
            <a:endParaRPr lang="en-US" sz="900"/>
          </a:p>
        </p:txBody>
      </p:sp>
      <p:sp>
        <p:nvSpPr>
          <p:cNvPr id="6" name="Shape 4"/>
          <p:cNvSpPr/>
          <p:nvPr/>
        </p:nvSpPr>
        <p:spPr>
          <a:xfrm>
            <a:off x="594360" y="1783080"/>
            <a:ext cx="3566160" cy="3977640"/>
          </a:xfrm>
          <a:prstGeom prst="roundRect">
            <a:avLst>
              <a:gd name="adj" fmla="val 2308"/>
            </a:avLst>
          </a:prstGeom>
          <a:solidFill>
            <a:srgbClr val="E4F2F2"/>
          </a:solidFill>
          <a:ln w="12700">
            <a:solidFill>
              <a:srgbClr val="CBE4E4"/>
            </a:solidFill>
            <a:prstDash val="solid"/>
          </a:ln>
          <a:effectLst>
            <a:outerShdw blurRad="88900" dist="25400" dir="5400000" algn="bl" rotWithShape="0">
              <a:srgbClr val="9FB1BC">
                <a:alpha val="30000"/>
              </a:srgbClr>
            </a:outerShdw>
          </a:effectLst>
        </p:spPr>
        <p:txBody>
          <a:bodyPr/>
          <a:lstStyle/>
          <a:p>
            <a:endParaRPr lang="en-US"/>
          </a:p>
        </p:txBody>
      </p:sp>
      <p:sp>
        <p:nvSpPr>
          <p:cNvPr id="7" name="Shape 5"/>
          <p:cNvSpPr/>
          <p:nvPr/>
        </p:nvSpPr>
        <p:spPr>
          <a:xfrm>
            <a:off x="896112" y="2103120"/>
            <a:ext cx="731520" cy="731520"/>
          </a:xfrm>
          <a:prstGeom prst="ellipse">
            <a:avLst/>
          </a:prstGeom>
          <a:solidFill>
            <a:srgbClr val="0F8B8D"/>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71677" y="2278685"/>
            <a:ext cx="380390" cy="380390"/>
          </a:xfrm>
          <a:prstGeom prst="rect">
            <a:avLst/>
          </a:prstGeom>
        </p:spPr>
      </p:pic>
      <p:sp>
        <p:nvSpPr>
          <p:cNvPr id="9" name="Text 6"/>
          <p:cNvSpPr/>
          <p:nvPr/>
        </p:nvSpPr>
        <p:spPr>
          <a:xfrm>
            <a:off x="896112" y="3063240"/>
            <a:ext cx="3017520" cy="411480"/>
          </a:xfrm>
          <a:prstGeom prst="rect">
            <a:avLst/>
          </a:prstGeom>
          <a:noFill/>
          <a:ln/>
        </p:spPr>
        <p:txBody>
          <a:bodyPr wrap="square" lIns="0" tIns="0" rIns="0" bIns="0" rtlCol="0" anchor="ctr"/>
          <a:lstStyle/>
          <a:p>
            <a:pPr marL="0" indent="0">
              <a:buNone/>
            </a:pPr>
            <a:r>
              <a:rPr lang="en-US" sz="1850" b="1">
                <a:solidFill>
                  <a:srgbClr val="142F47"/>
                </a:solidFill>
                <a:latin typeface="Cambria" pitchFamily="34" charset="0"/>
                <a:ea typeface="Cambria" pitchFamily="34" charset="-122"/>
                <a:cs typeface="Cambria" pitchFamily="34" charset="-120"/>
              </a:rPr>
              <a:t>Requesters</a:t>
            </a:r>
            <a:endParaRPr lang="en-US" sz="1850"/>
          </a:p>
        </p:txBody>
      </p:sp>
      <p:sp>
        <p:nvSpPr>
          <p:cNvPr id="10" name="Text 7"/>
          <p:cNvSpPr/>
          <p:nvPr/>
        </p:nvSpPr>
        <p:spPr>
          <a:xfrm>
            <a:off x="896112" y="3493008"/>
            <a:ext cx="3017520" cy="347472"/>
          </a:xfrm>
          <a:prstGeom prst="rect">
            <a:avLst/>
          </a:prstGeom>
          <a:noFill/>
          <a:ln/>
        </p:spPr>
        <p:txBody>
          <a:bodyPr wrap="square" lIns="0" tIns="0" rIns="0" bIns="0" rtlCol="0" anchor="ctr"/>
          <a:lstStyle/>
          <a:p>
            <a:pPr marL="0" indent="0">
              <a:buNone/>
            </a:pPr>
            <a:r>
              <a:rPr lang="en-US" sz="1250" b="1" i="1">
                <a:solidFill>
                  <a:srgbClr val="0B6E70"/>
                </a:solidFill>
                <a:latin typeface="Calibri" pitchFamily="34" charset="0"/>
                <a:ea typeface="Calibri" pitchFamily="34" charset="-122"/>
                <a:cs typeface="Calibri" pitchFamily="34" charset="-120"/>
              </a:rPr>
              <a:t>become authors of intent</a:t>
            </a:r>
            <a:endParaRPr lang="en-US" sz="1250"/>
          </a:p>
        </p:txBody>
      </p:sp>
      <p:sp>
        <p:nvSpPr>
          <p:cNvPr id="11" name="Text 8"/>
          <p:cNvSpPr/>
          <p:nvPr/>
        </p:nvSpPr>
        <p:spPr>
          <a:xfrm>
            <a:off x="896112" y="3931920"/>
            <a:ext cx="3017520" cy="1645920"/>
          </a:xfrm>
          <a:prstGeom prst="rect">
            <a:avLst/>
          </a:prstGeom>
          <a:noFill/>
          <a:ln/>
        </p:spPr>
        <p:txBody>
          <a:bodyPr wrap="square" lIns="0" tIns="0" rIns="0" bIns="0" rtlCol="0" anchor="ctr"/>
          <a:lstStyle/>
          <a:p>
            <a:pPr marL="0" indent="0">
              <a:lnSpc>
                <a:spcPct val="116000"/>
              </a:lnSpc>
              <a:buNone/>
            </a:pPr>
            <a:r>
              <a:rPr lang="en-US" sz="1250">
                <a:solidFill>
                  <a:srgbClr val="45586A"/>
                </a:solidFill>
                <a:latin typeface="Calibri" pitchFamily="34" charset="0"/>
                <a:ea typeface="Calibri" pitchFamily="34" charset="-122"/>
                <a:cs typeface="Calibri" pitchFamily="34" charset="-120"/>
              </a:rPr>
              <a:t>You stop describing the app to intermediaries. You express it directly, in a medium that nobody can misread.</a:t>
            </a:r>
            <a:endParaRPr lang="en-US" sz="1250"/>
          </a:p>
        </p:txBody>
      </p:sp>
      <p:sp>
        <p:nvSpPr>
          <p:cNvPr id="12" name="Shape 9"/>
          <p:cNvSpPr/>
          <p:nvPr/>
        </p:nvSpPr>
        <p:spPr>
          <a:xfrm>
            <a:off x="4453128" y="1783080"/>
            <a:ext cx="3566160" cy="3977640"/>
          </a:xfrm>
          <a:prstGeom prst="roundRect">
            <a:avLst>
              <a:gd name="adj" fmla="val 230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3" name="Shape 10"/>
          <p:cNvSpPr/>
          <p:nvPr/>
        </p:nvSpPr>
        <p:spPr>
          <a:xfrm>
            <a:off x="4754880" y="2103120"/>
            <a:ext cx="731520" cy="731520"/>
          </a:xfrm>
          <a:prstGeom prst="ellipse">
            <a:avLst/>
          </a:prstGeom>
          <a:solidFill>
            <a:srgbClr val="0F8B8D"/>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930445" y="2278685"/>
            <a:ext cx="380390" cy="380390"/>
          </a:xfrm>
          <a:prstGeom prst="rect">
            <a:avLst/>
          </a:prstGeom>
        </p:spPr>
      </p:pic>
      <p:sp>
        <p:nvSpPr>
          <p:cNvPr id="15" name="Text 11"/>
          <p:cNvSpPr/>
          <p:nvPr/>
        </p:nvSpPr>
        <p:spPr>
          <a:xfrm>
            <a:off x="4754880" y="3063240"/>
            <a:ext cx="3017520" cy="411480"/>
          </a:xfrm>
          <a:prstGeom prst="rect">
            <a:avLst/>
          </a:prstGeom>
          <a:noFill/>
          <a:ln/>
        </p:spPr>
        <p:txBody>
          <a:bodyPr wrap="square" lIns="0" tIns="0" rIns="0" bIns="0" rtlCol="0" anchor="ctr"/>
          <a:lstStyle/>
          <a:p>
            <a:pPr marL="0" indent="0">
              <a:buNone/>
            </a:pPr>
            <a:r>
              <a:rPr lang="en-US" sz="1850" b="1">
                <a:solidFill>
                  <a:srgbClr val="142F47"/>
                </a:solidFill>
                <a:latin typeface="Cambria" pitchFamily="34" charset="0"/>
                <a:ea typeface="Cambria" pitchFamily="34" charset="-122"/>
                <a:cs typeface="Cambria" pitchFamily="34" charset="-120"/>
              </a:rPr>
              <a:t>Analysts</a:t>
            </a:r>
            <a:endParaRPr lang="en-US" sz="1850"/>
          </a:p>
        </p:txBody>
      </p:sp>
      <p:sp>
        <p:nvSpPr>
          <p:cNvPr id="16" name="Text 12"/>
          <p:cNvSpPr/>
          <p:nvPr/>
        </p:nvSpPr>
        <p:spPr>
          <a:xfrm>
            <a:off x="4754880" y="3493008"/>
            <a:ext cx="3017520" cy="347472"/>
          </a:xfrm>
          <a:prstGeom prst="rect">
            <a:avLst/>
          </a:prstGeom>
          <a:noFill/>
          <a:ln/>
        </p:spPr>
        <p:txBody>
          <a:bodyPr wrap="square" lIns="0" tIns="0" rIns="0" bIns="0" rtlCol="0" anchor="ctr"/>
          <a:lstStyle/>
          <a:p>
            <a:pPr marL="0" indent="0">
              <a:buNone/>
            </a:pPr>
            <a:r>
              <a:rPr lang="en-US" sz="1250" b="1" i="1">
                <a:solidFill>
                  <a:srgbClr val="0B6E70"/>
                </a:solidFill>
                <a:latin typeface="Calibri" pitchFamily="34" charset="0"/>
                <a:ea typeface="Calibri" pitchFamily="34" charset="-122"/>
                <a:cs typeface="Calibri" pitchFamily="34" charset="-120"/>
              </a:rPr>
              <a:t>become curators &amp; editors</a:t>
            </a:r>
            <a:endParaRPr lang="en-US" sz="1250"/>
          </a:p>
        </p:txBody>
      </p:sp>
      <p:sp>
        <p:nvSpPr>
          <p:cNvPr id="17" name="Text 13"/>
          <p:cNvSpPr/>
          <p:nvPr/>
        </p:nvSpPr>
        <p:spPr>
          <a:xfrm>
            <a:off x="4754880" y="3931920"/>
            <a:ext cx="3017520" cy="1645920"/>
          </a:xfrm>
          <a:prstGeom prst="rect">
            <a:avLst/>
          </a:prstGeom>
          <a:noFill/>
          <a:ln/>
        </p:spPr>
        <p:txBody>
          <a:bodyPr wrap="square" lIns="0" tIns="0" rIns="0" bIns="0" rtlCol="0" anchor="ctr"/>
          <a:lstStyle/>
          <a:p>
            <a:pPr marL="0" indent="0">
              <a:lnSpc>
                <a:spcPct val="116000"/>
              </a:lnSpc>
              <a:buNone/>
            </a:pPr>
            <a:r>
              <a:rPr lang="en-US" sz="1250">
                <a:solidFill>
                  <a:srgbClr val="45586A"/>
                </a:solidFill>
                <a:latin typeface="Calibri" pitchFamily="34" charset="0"/>
                <a:ea typeface="Calibri" pitchFamily="34" charset="-122"/>
                <a:cs typeface="Calibri" pitchFamily="34" charset="-120"/>
              </a:rPr>
              <a:t>Less transcription, more judgment: sharpening models, spotting conflicts, connecting them across the portfolio.</a:t>
            </a:r>
            <a:endParaRPr lang="en-US" sz="1250"/>
          </a:p>
        </p:txBody>
      </p:sp>
      <p:sp>
        <p:nvSpPr>
          <p:cNvPr id="18" name="Shape 14"/>
          <p:cNvSpPr/>
          <p:nvPr/>
        </p:nvSpPr>
        <p:spPr>
          <a:xfrm>
            <a:off x="8311896" y="1783080"/>
            <a:ext cx="3566160" cy="3977640"/>
          </a:xfrm>
          <a:prstGeom prst="roundRect">
            <a:avLst>
              <a:gd name="adj" fmla="val 230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9" name="Shape 15"/>
          <p:cNvSpPr/>
          <p:nvPr/>
        </p:nvSpPr>
        <p:spPr>
          <a:xfrm>
            <a:off x="8613648" y="2103120"/>
            <a:ext cx="731520" cy="731520"/>
          </a:xfrm>
          <a:prstGeom prst="ellipse">
            <a:avLst/>
          </a:prstGeom>
          <a:solidFill>
            <a:srgbClr val="0F8B8D"/>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789213" y="2278685"/>
            <a:ext cx="380390" cy="380390"/>
          </a:xfrm>
          <a:prstGeom prst="rect">
            <a:avLst/>
          </a:prstGeom>
        </p:spPr>
      </p:pic>
      <p:sp>
        <p:nvSpPr>
          <p:cNvPr id="21" name="Text 16"/>
          <p:cNvSpPr/>
          <p:nvPr/>
        </p:nvSpPr>
        <p:spPr>
          <a:xfrm>
            <a:off x="8613648" y="3063240"/>
            <a:ext cx="3017520" cy="411480"/>
          </a:xfrm>
          <a:prstGeom prst="rect">
            <a:avLst/>
          </a:prstGeom>
          <a:noFill/>
          <a:ln/>
        </p:spPr>
        <p:txBody>
          <a:bodyPr wrap="square" lIns="0" tIns="0" rIns="0" bIns="0" rtlCol="0" anchor="ctr"/>
          <a:lstStyle/>
          <a:p>
            <a:pPr marL="0" indent="0">
              <a:buNone/>
            </a:pPr>
            <a:r>
              <a:rPr lang="en-US" sz="1850" b="1">
                <a:solidFill>
                  <a:srgbClr val="142F47"/>
                </a:solidFill>
                <a:latin typeface="Cambria" pitchFamily="34" charset="0"/>
                <a:ea typeface="Cambria" pitchFamily="34" charset="-122"/>
                <a:cs typeface="Cambria" pitchFamily="34" charset="-120"/>
              </a:rPr>
              <a:t>Developers</a:t>
            </a:r>
            <a:endParaRPr lang="en-US" sz="1850"/>
          </a:p>
        </p:txBody>
      </p:sp>
      <p:sp>
        <p:nvSpPr>
          <p:cNvPr id="22" name="Text 17"/>
          <p:cNvSpPr/>
          <p:nvPr/>
        </p:nvSpPr>
        <p:spPr>
          <a:xfrm>
            <a:off x="8613648" y="3493008"/>
            <a:ext cx="3017520" cy="347472"/>
          </a:xfrm>
          <a:prstGeom prst="rect">
            <a:avLst/>
          </a:prstGeom>
          <a:noFill/>
          <a:ln/>
        </p:spPr>
        <p:txBody>
          <a:bodyPr wrap="square" lIns="0" tIns="0" rIns="0" bIns="0" rtlCol="0" anchor="ctr"/>
          <a:lstStyle/>
          <a:p>
            <a:pPr marL="0" indent="0">
              <a:buNone/>
            </a:pPr>
            <a:r>
              <a:rPr lang="en-US" sz="1250" b="1" i="1">
                <a:solidFill>
                  <a:srgbClr val="0B6E70"/>
                </a:solidFill>
                <a:latin typeface="Calibri" pitchFamily="34" charset="0"/>
                <a:ea typeface="Calibri" pitchFamily="34" charset="-122"/>
                <a:cs typeface="Calibri" pitchFamily="34" charset="-120"/>
              </a:rPr>
              <a:t>become upsizers</a:t>
            </a:r>
            <a:endParaRPr lang="en-US" sz="1250"/>
          </a:p>
        </p:txBody>
      </p:sp>
      <p:sp>
        <p:nvSpPr>
          <p:cNvPr id="23" name="Text 18"/>
          <p:cNvSpPr/>
          <p:nvPr/>
        </p:nvSpPr>
        <p:spPr>
          <a:xfrm>
            <a:off x="8613648" y="3931920"/>
            <a:ext cx="3017520" cy="1645920"/>
          </a:xfrm>
          <a:prstGeom prst="rect">
            <a:avLst/>
          </a:prstGeom>
          <a:noFill/>
          <a:ln/>
        </p:spPr>
        <p:txBody>
          <a:bodyPr wrap="square" lIns="0" tIns="0" rIns="0" bIns="0" rtlCol="0" anchor="ctr"/>
          <a:lstStyle/>
          <a:p>
            <a:pPr marL="0" indent="0">
              <a:lnSpc>
                <a:spcPct val="116000"/>
              </a:lnSpc>
              <a:buNone/>
            </a:pPr>
            <a:r>
              <a:rPr lang="en-US" sz="1250">
                <a:solidFill>
                  <a:srgbClr val="45586A"/>
                </a:solidFill>
                <a:latin typeface="Calibri" pitchFamily="34" charset="0"/>
                <a:ea typeface="Calibri" pitchFamily="34" charset="-122"/>
                <a:cs typeface="Calibri" pitchFamily="34" charset="-120"/>
              </a:rPr>
              <a:t>No more guessing intent. They spend their skill where engineering genuinely matters: data, security, integration, scale.</a:t>
            </a:r>
            <a:endParaRPr lang="en-US" sz="125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3 · THE FUTURE</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The flow inverts: react first, document never</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27</a:t>
            </a:r>
            <a:endParaRPr lang="en-US" sz="900"/>
          </a:p>
        </p:txBody>
      </p:sp>
      <p:sp>
        <p:nvSpPr>
          <p:cNvPr id="6" name="Text 4"/>
          <p:cNvSpPr/>
          <p:nvPr/>
        </p:nvSpPr>
        <p:spPr>
          <a:xfrm>
            <a:off x="621792" y="1810512"/>
            <a:ext cx="3657600" cy="274320"/>
          </a:xfrm>
          <a:prstGeom prst="rect">
            <a:avLst/>
          </a:prstGeom>
          <a:noFill/>
          <a:ln/>
        </p:spPr>
        <p:txBody>
          <a:bodyPr wrap="square" lIns="0" tIns="0" rIns="0" bIns="0" rtlCol="0" anchor="ctr"/>
          <a:lstStyle/>
          <a:p>
            <a:pPr marL="0" indent="0">
              <a:buNone/>
            </a:pPr>
            <a:r>
              <a:rPr lang="en-US" sz="1100" b="1" kern="0" spc="200">
                <a:solidFill>
                  <a:srgbClr val="7C8B99"/>
                </a:solidFill>
                <a:latin typeface="Calibri" pitchFamily="34" charset="0"/>
                <a:ea typeface="Calibri" pitchFamily="34" charset="-122"/>
                <a:cs typeface="Calibri" pitchFamily="34" charset="-120"/>
              </a:rPr>
              <a:t>THE OLD FLOW</a:t>
            </a:r>
            <a:endParaRPr lang="en-US" sz="1100"/>
          </a:p>
        </p:txBody>
      </p:sp>
      <p:sp>
        <p:nvSpPr>
          <p:cNvPr id="7" name="Shape 5"/>
          <p:cNvSpPr/>
          <p:nvPr/>
        </p:nvSpPr>
        <p:spPr>
          <a:xfrm>
            <a:off x="594360" y="2148840"/>
            <a:ext cx="1874520" cy="777240"/>
          </a:xfrm>
          <a:prstGeom prst="roundRect">
            <a:avLst>
              <a:gd name="adj" fmla="val 10588"/>
            </a:avLst>
          </a:prstGeom>
          <a:solidFill>
            <a:srgbClr val="F5F8F9"/>
          </a:solidFill>
          <a:ln w="12700">
            <a:solidFill>
              <a:srgbClr val="D9E4E7"/>
            </a:solidFill>
            <a:prstDash val="solid"/>
          </a:ln>
        </p:spPr>
        <p:txBody>
          <a:bodyPr/>
          <a:lstStyle/>
          <a:p>
            <a:endParaRPr lang="en-US"/>
          </a:p>
        </p:txBody>
      </p:sp>
      <p:sp>
        <p:nvSpPr>
          <p:cNvPr id="8" name="Text 6"/>
          <p:cNvSpPr/>
          <p:nvPr/>
        </p:nvSpPr>
        <p:spPr>
          <a:xfrm>
            <a:off x="594360" y="2148840"/>
            <a:ext cx="1874520" cy="777240"/>
          </a:xfrm>
          <a:prstGeom prst="rect">
            <a:avLst/>
          </a:prstGeom>
          <a:noFill/>
          <a:ln/>
        </p:spPr>
        <p:txBody>
          <a:bodyPr wrap="square" lIns="0" tIns="0" rIns="0" bIns="0" rtlCol="0" anchor="ctr"/>
          <a:lstStyle/>
          <a:p>
            <a:pPr marL="0" indent="0" algn="ctr">
              <a:buNone/>
            </a:pPr>
            <a:r>
              <a:rPr lang="en-US" sz="1400" b="1">
                <a:solidFill>
                  <a:srgbClr val="5B6C7B"/>
                </a:solidFill>
                <a:latin typeface="Calibri" pitchFamily="34" charset="0"/>
                <a:ea typeface="Calibri" pitchFamily="34" charset="-122"/>
                <a:cs typeface="Calibri" pitchFamily="34" charset="-120"/>
              </a:rPr>
              <a:t>Interview</a:t>
            </a:r>
            <a:endParaRPr lang="en-US" sz="1400"/>
          </a:p>
        </p:txBody>
      </p:sp>
      <p:sp>
        <p:nvSpPr>
          <p:cNvPr id="9" name="Shape 7"/>
          <p:cNvSpPr/>
          <p:nvPr/>
        </p:nvSpPr>
        <p:spPr>
          <a:xfrm>
            <a:off x="2505456" y="2414016"/>
            <a:ext cx="274320" cy="237744"/>
          </a:xfrm>
          <a:prstGeom prst="rightArrow">
            <a:avLst/>
          </a:prstGeom>
          <a:solidFill>
            <a:srgbClr val="B9C6CE"/>
          </a:solidFill>
          <a:ln/>
        </p:spPr>
        <p:txBody>
          <a:bodyPr/>
          <a:lstStyle/>
          <a:p>
            <a:endParaRPr lang="en-US"/>
          </a:p>
        </p:txBody>
      </p:sp>
      <p:sp>
        <p:nvSpPr>
          <p:cNvPr id="10" name="Shape 8"/>
          <p:cNvSpPr/>
          <p:nvPr/>
        </p:nvSpPr>
        <p:spPr>
          <a:xfrm>
            <a:off x="2807208" y="2148840"/>
            <a:ext cx="1874520" cy="777240"/>
          </a:xfrm>
          <a:prstGeom prst="roundRect">
            <a:avLst>
              <a:gd name="adj" fmla="val 10588"/>
            </a:avLst>
          </a:prstGeom>
          <a:solidFill>
            <a:srgbClr val="F5F8F9"/>
          </a:solidFill>
          <a:ln w="12700">
            <a:solidFill>
              <a:srgbClr val="D9E4E7"/>
            </a:solidFill>
            <a:prstDash val="solid"/>
          </a:ln>
        </p:spPr>
        <p:txBody>
          <a:bodyPr/>
          <a:lstStyle/>
          <a:p>
            <a:endParaRPr lang="en-US"/>
          </a:p>
        </p:txBody>
      </p:sp>
      <p:sp>
        <p:nvSpPr>
          <p:cNvPr id="11" name="Text 9"/>
          <p:cNvSpPr/>
          <p:nvPr/>
        </p:nvSpPr>
        <p:spPr>
          <a:xfrm>
            <a:off x="2807208" y="2148840"/>
            <a:ext cx="1874520" cy="777240"/>
          </a:xfrm>
          <a:prstGeom prst="rect">
            <a:avLst/>
          </a:prstGeom>
          <a:noFill/>
          <a:ln/>
        </p:spPr>
        <p:txBody>
          <a:bodyPr wrap="square" lIns="0" tIns="0" rIns="0" bIns="0" rtlCol="0" anchor="ctr"/>
          <a:lstStyle/>
          <a:p>
            <a:pPr marL="0" indent="0" algn="ctr">
              <a:buNone/>
            </a:pPr>
            <a:r>
              <a:rPr lang="en-US" sz="1400" b="1">
                <a:solidFill>
                  <a:srgbClr val="5B6C7B"/>
                </a:solidFill>
                <a:latin typeface="Calibri" pitchFamily="34" charset="0"/>
                <a:ea typeface="Calibri" pitchFamily="34" charset="-122"/>
                <a:cs typeface="Calibri" pitchFamily="34" charset="-120"/>
              </a:rPr>
              <a:t>Document</a:t>
            </a:r>
            <a:endParaRPr lang="en-US" sz="1400"/>
          </a:p>
        </p:txBody>
      </p:sp>
      <p:sp>
        <p:nvSpPr>
          <p:cNvPr id="12" name="Shape 10"/>
          <p:cNvSpPr/>
          <p:nvPr/>
        </p:nvSpPr>
        <p:spPr>
          <a:xfrm>
            <a:off x="4718304" y="2414016"/>
            <a:ext cx="274320" cy="237744"/>
          </a:xfrm>
          <a:prstGeom prst="rightArrow">
            <a:avLst/>
          </a:prstGeom>
          <a:solidFill>
            <a:srgbClr val="B9C6CE"/>
          </a:solidFill>
          <a:ln/>
        </p:spPr>
        <p:txBody>
          <a:bodyPr/>
          <a:lstStyle/>
          <a:p>
            <a:endParaRPr lang="en-US"/>
          </a:p>
        </p:txBody>
      </p:sp>
      <p:sp>
        <p:nvSpPr>
          <p:cNvPr id="13" name="Shape 11"/>
          <p:cNvSpPr/>
          <p:nvPr/>
        </p:nvSpPr>
        <p:spPr>
          <a:xfrm>
            <a:off x="5020056" y="2148840"/>
            <a:ext cx="1874520" cy="777240"/>
          </a:xfrm>
          <a:prstGeom prst="roundRect">
            <a:avLst>
              <a:gd name="adj" fmla="val 10588"/>
            </a:avLst>
          </a:prstGeom>
          <a:solidFill>
            <a:srgbClr val="F5F8F9"/>
          </a:solidFill>
          <a:ln w="12700">
            <a:solidFill>
              <a:srgbClr val="D9E4E7"/>
            </a:solidFill>
            <a:prstDash val="solid"/>
          </a:ln>
        </p:spPr>
        <p:txBody>
          <a:bodyPr/>
          <a:lstStyle/>
          <a:p>
            <a:endParaRPr lang="en-US"/>
          </a:p>
        </p:txBody>
      </p:sp>
      <p:sp>
        <p:nvSpPr>
          <p:cNvPr id="14" name="Text 12"/>
          <p:cNvSpPr/>
          <p:nvPr/>
        </p:nvSpPr>
        <p:spPr>
          <a:xfrm>
            <a:off x="5020056" y="2148840"/>
            <a:ext cx="1874520" cy="777240"/>
          </a:xfrm>
          <a:prstGeom prst="rect">
            <a:avLst/>
          </a:prstGeom>
          <a:noFill/>
          <a:ln/>
        </p:spPr>
        <p:txBody>
          <a:bodyPr wrap="square" lIns="0" tIns="0" rIns="0" bIns="0" rtlCol="0" anchor="ctr"/>
          <a:lstStyle/>
          <a:p>
            <a:pPr marL="0" indent="0" algn="ctr">
              <a:buNone/>
            </a:pPr>
            <a:r>
              <a:rPr lang="en-US" sz="1400" b="1">
                <a:solidFill>
                  <a:srgbClr val="5B6C7B"/>
                </a:solidFill>
                <a:latin typeface="Calibri" pitchFamily="34" charset="0"/>
                <a:ea typeface="Calibri" pitchFamily="34" charset="-122"/>
                <a:cs typeface="Calibri" pitchFamily="34" charset="-120"/>
              </a:rPr>
              <a:t>Mockup</a:t>
            </a:r>
            <a:endParaRPr lang="en-US" sz="1400"/>
          </a:p>
        </p:txBody>
      </p:sp>
      <p:sp>
        <p:nvSpPr>
          <p:cNvPr id="15" name="Shape 13"/>
          <p:cNvSpPr/>
          <p:nvPr/>
        </p:nvSpPr>
        <p:spPr>
          <a:xfrm>
            <a:off x="6931152" y="2414016"/>
            <a:ext cx="274320" cy="237744"/>
          </a:xfrm>
          <a:prstGeom prst="rightArrow">
            <a:avLst/>
          </a:prstGeom>
          <a:solidFill>
            <a:srgbClr val="B9C6CE"/>
          </a:solidFill>
          <a:ln/>
        </p:spPr>
        <p:txBody>
          <a:bodyPr/>
          <a:lstStyle/>
          <a:p>
            <a:endParaRPr lang="en-US"/>
          </a:p>
        </p:txBody>
      </p:sp>
      <p:sp>
        <p:nvSpPr>
          <p:cNvPr id="16" name="Shape 14"/>
          <p:cNvSpPr/>
          <p:nvPr/>
        </p:nvSpPr>
        <p:spPr>
          <a:xfrm>
            <a:off x="7232904" y="2148840"/>
            <a:ext cx="1874520" cy="777240"/>
          </a:xfrm>
          <a:prstGeom prst="roundRect">
            <a:avLst>
              <a:gd name="adj" fmla="val 10588"/>
            </a:avLst>
          </a:prstGeom>
          <a:solidFill>
            <a:srgbClr val="F5F8F9"/>
          </a:solidFill>
          <a:ln w="12700">
            <a:solidFill>
              <a:srgbClr val="D9E4E7"/>
            </a:solidFill>
            <a:prstDash val="solid"/>
          </a:ln>
        </p:spPr>
        <p:txBody>
          <a:bodyPr/>
          <a:lstStyle/>
          <a:p>
            <a:endParaRPr lang="en-US"/>
          </a:p>
        </p:txBody>
      </p:sp>
      <p:sp>
        <p:nvSpPr>
          <p:cNvPr id="17" name="Text 15"/>
          <p:cNvSpPr/>
          <p:nvPr/>
        </p:nvSpPr>
        <p:spPr>
          <a:xfrm>
            <a:off x="7232904" y="2148840"/>
            <a:ext cx="1874520" cy="777240"/>
          </a:xfrm>
          <a:prstGeom prst="rect">
            <a:avLst/>
          </a:prstGeom>
          <a:noFill/>
          <a:ln/>
        </p:spPr>
        <p:txBody>
          <a:bodyPr wrap="square" lIns="0" tIns="0" rIns="0" bIns="0" rtlCol="0" anchor="ctr"/>
          <a:lstStyle/>
          <a:p>
            <a:pPr marL="0" indent="0" algn="ctr">
              <a:buNone/>
            </a:pPr>
            <a:r>
              <a:rPr lang="en-US" sz="1400" b="1">
                <a:solidFill>
                  <a:srgbClr val="5B6C7B"/>
                </a:solidFill>
                <a:latin typeface="Calibri" pitchFamily="34" charset="0"/>
                <a:ea typeface="Calibri" pitchFamily="34" charset="-122"/>
                <a:cs typeface="Calibri" pitchFamily="34" charset="-120"/>
              </a:rPr>
              <a:t>Build</a:t>
            </a:r>
            <a:endParaRPr lang="en-US" sz="1400"/>
          </a:p>
        </p:txBody>
      </p:sp>
      <p:sp>
        <p:nvSpPr>
          <p:cNvPr id="18" name="Shape 16"/>
          <p:cNvSpPr/>
          <p:nvPr/>
        </p:nvSpPr>
        <p:spPr>
          <a:xfrm>
            <a:off x="9144000" y="2414016"/>
            <a:ext cx="274320" cy="237744"/>
          </a:xfrm>
          <a:prstGeom prst="rightArrow">
            <a:avLst/>
          </a:prstGeom>
          <a:solidFill>
            <a:srgbClr val="B9C6CE"/>
          </a:solidFill>
          <a:ln/>
        </p:spPr>
        <p:txBody>
          <a:bodyPr/>
          <a:lstStyle/>
          <a:p>
            <a:endParaRPr lang="en-US"/>
          </a:p>
        </p:txBody>
      </p:sp>
      <p:sp>
        <p:nvSpPr>
          <p:cNvPr id="19" name="Shape 17"/>
          <p:cNvSpPr/>
          <p:nvPr/>
        </p:nvSpPr>
        <p:spPr>
          <a:xfrm>
            <a:off x="9445752" y="2148840"/>
            <a:ext cx="1874520" cy="777240"/>
          </a:xfrm>
          <a:prstGeom prst="roundRect">
            <a:avLst>
              <a:gd name="adj" fmla="val 10588"/>
            </a:avLst>
          </a:prstGeom>
          <a:solidFill>
            <a:srgbClr val="F5F8F9"/>
          </a:solidFill>
          <a:ln w="12700">
            <a:solidFill>
              <a:srgbClr val="D9E4E7"/>
            </a:solidFill>
            <a:prstDash val="solid"/>
          </a:ln>
        </p:spPr>
        <p:txBody>
          <a:bodyPr/>
          <a:lstStyle/>
          <a:p>
            <a:endParaRPr lang="en-US"/>
          </a:p>
        </p:txBody>
      </p:sp>
      <p:sp>
        <p:nvSpPr>
          <p:cNvPr id="20" name="Text 18"/>
          <p:cNvSpPr/>
          <p:nvPr/>
        </p:nvSpPr>
        <p:spPr>
          <a:xfrm>
            <a:off x="9445752" y="2148840"/>
            <a:ext cx="1874520" cy="777240"/>
          </a:xfrm>
          <a:prstGeom prst="rect">
            <a:avLst/>
          </a:prstGeom>
          <a:noFill/>
          <a:ln/>
        </p:spPr>
        <p:txBody>
          <a:bodyPr wrap="square" lIns="0" tIns="0" rIns="0" bIns="0" rtlCol="0" anchor="ctr"/>
          <a:lstStyle/>
          <a:p>
            <a:pPr marL="0" indent="0" algn="ctr">
              <a:buNone/>
            </a:pPr>
            <a:r>
              <a:rPr lang="en-US" sz="1400" b="1">
                <a:solidFill>
                  <a:srgbClr val="8A6420"/>
                </a:solidFill>
                <a:latin typeface="Calibri" pitchFamily="34" charset="0"/>
                <a:ea typeface="Calibri" pitchFamily="34" charset="-122"/>
                <a:cs typeface="Calibri" pitchFamily="34" charset="-120"/>
              </a:rPr>
              <a:t>Surprise</a:t>
            </a:r>
            <a:endParaRPr lang="en-US" sz="1400"/>
          </a:p>
        </p:txBody>
      </p:sp>
      <p:sp>
        <p:nvSpPr>
          <p:cNvPr id="21" name="Text 19"/>
          <p:cNvSpPr/>
          <p:nvPr/>
        </p:nvSpPr>
        <p:spPr>
          <a:xfrm>
            <a:off x="621792" y="3035808"/>
            <a:ext cx="10881360" cy="365760"/>
          </a:xfrm>
          <a:prstGeom prst="rect">
            <a:avLst/>
          </a:prstGeom>
          <a:noFill/>
          <a:ln/>
        </p:spPr>
        <p:txBody>
          <a:bodyPr wrap="square" lIns="0" tIns="0" rIns="0" bIns="0" rtlCol="0" anchor="ctr"/>
          <a:lstStyle/>
          <a:p>
            <a:pPr marL="0" indent="0">
              <a:buNone/>
            </a:pPr>
            <a:r>
              <a:rPr lang="en-US" sz="1200" i="1">
                <a:solidFill>
                  <a:srgbClr val="7C8B99"/>
                </a:solidFill>
                <a:latin typeface="Calibri" pitchFamily="34" charset="0"/>
                <a:ea typeface="Calibri" pitchFamily="34" charset="-122"/>
                <a:cs typeface="Calibri" pitchFamily="34" charset="-120"/>
              </a:rPr>
              <a:t>Weeks of words before anyone sees anything. The feedback arrives at the end, where it costs the most.</a:t>
            </a:r>
            <a:endParaRPr lang="en-US" sz="1200"/>
          </a:p>
        </p:txBody>
      </p:sp>
      <p:sp>
        <p:nvSpPr>
          <p:cNvPr id="22" name="Text 20"/>
          <p:cNvSpPr/>
          <p:nvPr/>
        </p:nvSpPr>
        <p:spPr>
          <a:xfrm>
            <a:off x="621792" y="3749040"/>
            <a:ext cx="4572000" cy="274320"/>
          </a:xfrm>
          <a:prstGeom prst="rect">
            <a:avLst/>
          </a:prstGeom>
          <a:noFill/>
          <a:ln/>
        </p:spPr>
        <p:txBody>
          <a:bodyPr wrap="square" lIns="0" tIns="0" rIns="0" bIns="0" rtlCol="0" anchor="ctr"/>
          <a:lstStyle/>
          <a:p>
            <a:pPr marL="0" indent="0">
              <a:buNone/>
            </a:pPr>
            <a:r>
              <a:rPr lang="en-US" sz="1100" b="1" kern="0" spc="200">
                <a:solidFill>
                  <a:srgbClr val="0B6E70"/>
                </a:solidFill>
                <a:latin typeface="Calibri" pitchFamily="34" charset="0"/>
                <a:ea typeface="Calibri" pitchFamily="34" charset="-122"/>
                <a:cs typeface="Calibri" pitchFamily="34" charset="-120"/>
              </a:rPr>
              <a:t>THE MODEL-FIRST FLOW</a:t>
            </a:r>
            <a:endParaRPr lang="en-US" sz="1100"/>
          </a:p>
        </p:txBody>
      </p:sp>
      <p:sp>
        <p:nvSpPr>
          <p:cNvPr id="23" name="Shape 21"/>
          <p:cNvSpPr/>
          <p:nvPr/>
        </p:nvSpPr>
        <p:spPr>
          <a:xfrm>
            <a:off x="594360" y="4087368"/>
            <a:ext cx="2377440" cy="777240"/>
          </a:xfrm>
          <a:prstGeom prst="roundRect">
            <a:avLst>
              <a:gd name="adj" fmla="val 10588"/>
            </a:avLst>
          </a:prstGeom>
          <a:solidFill>
            <a:srgbClr val="E4F2F2"/>
          </a:solidFill>
          <a:ln w="12700">
            <a:solidFill>
              <a:srgbClr val="CBE4E4"/>
            </a:solidFill>
            <a:prstDash val="solid"/>
          </a:ln>
        </p:spPr>
        <p:txBody>
          <a:bodyPr/>
          <a:lstStyle/>
          <a:p>
            <a:endParaRPr lang="en-US"/>
          </a:p>
        </p:txBody>
      </p:sp>
      <p:sp>
        <p:nvSpPr>
          <p:cNvPr id="24" name="Text 22"/>
          <p:cNvSpPr/>
          <p:nvPr/>
        </p:nvSpPr>
        <p:spPr>
          <a:xfrm>
            <a:off x="594360" y="4087368"/>
            <a:ext cx="2377440" cy="777240"/>
          </a:xfrm>
          <a:prstGeom prst="rect">
            <a:avLst/>
          </a:prstGeom>
          <a:noFill/>
          <a:ln/>
        </p:spPr>
        <p:txBody>
          <a:bodyPr wrap="square" lIns="0" tIns="0" rIns="0" bIns="0" rtlCol="0" anchor="ctr"/>
          <a:lstStyle/>
          <a:p>
            <a:pPr marL="0" indent="0" algn="ctr">
              <a:buNone/>
            </a:pPr>
            <a:r>
              <a:rPr lang="en-US" sz="1450" b="1">
                <a:solidFill>
                  <a:srgbClr val="142F47"/>
                </a:solidFill>
                <a:latin typeface="Calibri" pitchFamily="34" charset="0"/>
                <a:ea typeface="Calibri" pitchFamily="34" charset="-122"/>
                <a:cs typeface="Calibri" pitchFamily="34" charset="-120"/>
              </a:rPr>
              <a:t>Build</a:t>
            </a:r>
            <a:endParaRPr lang="en-US" sz="1450"/>
          </a:p>
        </p:txBody>
      </p:sp>
      <p:sp>
        <p:nvSpPr>
          <p:cNvPr id="25" name="Shape 23"/>
          <p:cNvSpPr/>
          <p:nvPr/>
        </p:nvSpPr>
        <p:spPr>
          <a:xfrm>
            <a:off x="3008376" y="4352544"/>
            <a:ext cx="292608" cy="237744"/>
          </a:xfrm>
          <a:prstGeom prst="rightArrow">
            <a:avLst/>
          </a:prstGeom>
          <a:solidFill>
            <a:srgbClr val="0F8B8D"/>
          </a:solidFill>
          <a:ln/>
        </p:spPr>
        <p:txBody>
          <a:bodyPr/>
          <a:lstStyle/>
          <a:p>
            <a:endParaRPr lang="en-US"/>
          </a:p>
        </p:txBody>
      </p:sp>
      <p:sp>
        <p:nvSpPr>
          <p:cNvPr id="26" name="Shape 24"/>
          <p:cNvSpPr/>
          <p:nvPr/>
        </p:nvSpPr>
        <p:spPr>
          <a:xfrm>
            <a:off x="3392424" y="4087368"/>
            <a:ext cx="2377440" cy="777240"/>
          </a:xfrm>
          <a:prstGeom prst="roundRect">
            <a:avLst>
              <a:gd name="adj" fmla="val 10588"/>
            </a:avLst>
          </a:prstGeom>
          <a:solidFill>
            <a:srgbClr val="E4F2F2"/>
          </a:solidFill>
          <a:ln w="12700">
            <a:solidFill>
              <a:srgbClr val="CBE4E4"/>
            </a:solidFill>
            <a:prstDash val="solid"/>
          </a:ln>
        </p:spPr>
        <p:txBody>
          <a:bodyPr/>
          <a:lstStyle/>
          <a:p>
            <a:endParaRPr lang="en-US"/>
          </a:p>
        </p:txBody>
      </p:sp>
      <p:sp>
        <p:nvSpPr>
          <p:cNvPr id="27" name="Text 25"/>
          <p:cNvSpPr/>
          <p:nvPr/>
        </p:nvSpPr>
        <p:spPr>
          <a:xfrm>
            <a:off x="3392424" y="4087368"/>
            <a:ext cx="2377440" cy="777240"/>
          </a:xfrm>
          <a:prstGeom prst="rect">
            <a:avLst/>
          </a:prstGeom>
          <a:noFill/>
          <a:ln/>
        </p:spPr>
        <p:txBody>
          <a:bodyPr wrap="square" lIns="0" tIns="0" rIns="0" bIns="0" rtlCol="0" anchor="ctr"/>
          <a:lstStyle/>
          <a:p>
            <a:pPr marL="0" indent="0" algn="ctr">
              <a:buNone/>
            </a:pPr>
            <a:r>
              <a:rPr lang="en-US" sz="1450" b="1">
                <a:solidFill>
                  <a:srgbClr val="142F47"/>
                </a:solidFill>
                <a:latin typeface="Calibri" pitchFamily="34" charset="0"/>
                <a:ea typeface="Calibri" pitchFamily="34" charset="-122"/>
                <a:cs typeface="Calibri" pitchFamily="34" charset="-120"/>
              </a:rPr>
              <a:t>React</a:t>
            </a:r>
            <a:endParaRPr lang="en-US" sz="1450"/>
          </a:p>
        </p:txBody>
      </p:sp>
      <p:sp>
        <p:nvSpPr>
          <p:cNvPr id="28" name="Shape 26"/>
          <p:cNvSpPr/>
          <p:nvPr/>
        </p:nvSpPr>
        <p:spPr>
          <a:xfrm>
            <a:off x="5806440" y="4352544"/>
            <a:ext cx="292608" cy="237744"/>
          </a:xfrm>
          <a:prstGeom prst="rightArrow">
            <a:avLst/>
          </a:prstGeom>
          <a:solidFill>
            <a:srgbClr val="0F8B8D"/>
          </a:solidFill>
          <a:ln/>
        </p:spPr>
        <p:txBody>
          <a:bodyPr/>
          <a:lstStyle/>
          <a:p>
            <a:endParaRPr lang="en-US"/>
          </a:p>
        </p:txBody>
      </p:sp>
      <p:sp>
        <p:nvSpPr>
          <p:cNvPr id="29" name="Shape 27"/>
          <p:cNvSpPr/>
          <p:nvPr/>
        </p:nvSpPr>
        <p:spPr>
          <a:xfrm>
            <a:off x="6190488" y="4087368"/>
            <a:ext cx="2377440" cy="777240"/>
          </a:xfrm>
          <a:prstGeom prst="roundRect">
            <a:avLst>
              <a:gd name="adj" fmla="val 10588"/>
            </a:avLst>
          </a:prstGeom>
          <a:solidFill>
            <a:srgbClr val="E4F2F2"/>
          </a:solidFill>
          <a:ln w="12700">
            <a:solidFill>
              <a:srgbClr val="CBE4E4"/>
            </a:solidFill>
            <a:prstDash val="solid"/>
          </a:ln>
        </p:spPr>
        <p:txBody>
          <a:bodyPr/>
          <a:lstStyle/>
          <a:p>
            <a:endParaRPr lang="en-US"/>
          </a:p>
        </p:txBody>
      </p:sp>
      <p:sp>
        <p:nvSpPr>
          <p:cNvPr id="30" name="Text 28"/>
          <p:cNvSpPr/>
          <p:nvPr/>
        </p:nvSpPr>
        <p:spPr>
          <a:xfrm>
            <a:off x="6190488" y="4087368"/>
            <a:ext cx="2377440" cy="777240"/>
          </a:xfrm>
          <a:prstGeom prst="rect">
            <a:avLst/>
          </a:prstGeom>
          <a:noFill/>
          <a:ln/>
        </p:spPr>
        <p:txBody>
          <a:bodyPr wrap="square" lIns="0" tIns="0" rIns="0" bIns="0" rtlCol="0" anchor="ctr"/>
          <a:lstStyle/>
          <a:p>
            <a:pPr marL="0" indent="0" algn="ctr">
              <a:buNone/>
            </a:pPr>
            <a:r>
              <a:rPr lang="en-US" sz="1450" b="1">
                <a:solidFill>
                  <a:srgbClr val="142F47"/>
                </a:solidFill>
                <a:latin typeface="Calibri" pitchFamily="34" charset="0"/>
                <a:ea typeface="Calibri" pitchFamily="34" charset="-122"/>
                <a:cs typeface="Calibri" pitchFamily="34" charset="-120"/>
              </a:rPr>
              <a:t>Refine</a:t>
            </a:r>
            <a:endParaRPr lang="en-US" sz="1450"/>
          </a:p>
        </p:txBody>
      </p:sp>
      <p:sp>
        <p:nvSpPr>
          <p:cNvPr id="31" name="Shape 29"/>
          <p:cNvSpPr/>
          <p:nvPr/>
        </p:nvSpPr>
        <p:spPr>
          <a:xfrm>
            <a:off x="8604504" y="4352544"/>
            <a:ext cx="292608" cy="237744"/>
          </a:xfrm>
          <a:prstGeom prst="rightArrow">
            <a:avLst/>
          </a:prstGeom>
          <a:solidFill>
            <a:srgbClr val="0F8B8D"/>
          </a:solidFill>
          <a:ln/>
        </p:spPr>
        <p:txBody>
          <a:bodyPr/>
          <a:lstStyle/>
          <a:p>
            <a:endParaRPr lang="en-US"/>
          </a:p>
        </p:txBody>
      </p:sp>
      <p:sp>
        <p:nvSpPr>
          <p:cNvPr id="32" name="Shape 30"/>
          <p:cNvSpPr/>
          <p:nvPr/>
        </p:nvSpPr>
        <p:spPr>
          <a:xfrm>
            <a:off x="8988552" y="4087368"/>
            <a:ext cx="2377440" cy="777240"/>
          </a:xfrm>
          <a:prstGeom prst="roundRect">
            <a:avLst>
              <a:gd name="adj" fmla="val 10588"/>
            </a:avLst>
          </a:prstGeom>
          <a:solidFill>
            <a:srgbClr val="E4F2F2"/>
          </a:solidFill>
          <a:ln w="12700">
            <a:solidFill>
              <a:srgbClr val="CBE4E4"/>
            </a:solidFill>
            <a:prstDash val="solid"/>
          </a:ln>
        </p:spPr>
        <p:txBody>
          <a:bodyPr/>
          <a:lstStyle/>
          <a:p>
            <a:endParaRPr lang="en-US"/>
          </a:p>
        </p:txBody>
      </p:sp>
      <p:sp>
        <p:nvSpPr>
          <p:cNvPr id="33" name="Text 31"/>
          <p:cNvSpPr/>
          <p:nvPr/>
        </p:nvSpPr>
        <p:spPr>
          <a:xfrm>
            <a:off x="8988552" y="4087368"/>
            <a:ext cx="2377440" cy="777240"/>
          </a:xfrm>
          <a:prstGeom prst="rect">
            <a:avLst/>
          </a:prstGeom>
          <a:noFill/>
          <a:ln/>
        </p:spPr>
        <p:txBody>
          <a:bodyPr wrap="square" lIns="0" tIns="0" rIns="0" bIns="0" rtlCol="0" anchor="ctr"/>
          <a:lstStyle/>
          <a:p>
            <a:pPr marL="0" indent="0" algn="ctr">
              <a:buNone/>
            </a:pPr>
            <a:r>
              <a:rPr lang="en-US" sz="1450" b="1">
                <a:solidFill>
                  <a:srgbClr val="142F47"/>
                </a:solidFill>
                <a:latin typeface="Calibri" pitchFamily="34" charset="0"/>
                <a:ea typeface="Calibri" pitchFamily="34" charset="-122"/>
                <a:cs typeface="Calibri" pitchFamily="34" charset="-120"/>
              </a:rPr>
              <a:t>Upsize</a:t>
            </a:r>
            <a:endParaRPr lang="en-US" sz="1450"/>
          </a:p>
        </p:txBody>
      </p:sp>
      <p:sp>
        <p:nvSpPr>
          <p:cNvPr id="34" name="Text 32"/>
          <p:cNvSpPr/>
          <p:nvPr/>
        </p:nvSpPr>
        <p:spPr>
          <a:xfrm>
            <a:off x="621792" y="4974336"/>
            <a:ext cx="10881360" cy="365760"/>
          </a:xfrm>
          <a:prstGeom prst="rect">
            <a:avLst/>
          </a:prstGeom>
          <a:noFill/>
          <a:ln/>
        </p:spPr>
        <p:txBody>
          <a:bodyPr wrap="square" lIns="0" tIns="0" rIns="0" bIns="0" rtlCol="0" anchor="ctr"/>
          <a:lstStyle/>
          <a:p>
            <a:pPr marL="0" indent="0">
              <a:buNone/>
            </a:pPr>
            <a:r>
              <a:rPr lang="en-US" sz="1200" i="1">
                <a:solidFill>
                  <a:srgbClr val="0B6E70"/>
                </a:solidFill>
                <a:latin typeface="Calibri" pitchFamily="34" charset="0"/>
                <a:ea typeface="Calibri" pitchFamily="34" charset="-122"/>
                <a:cs typeface="Calibri" pitchFamily="34" charset="-120"/>
              </a:rPr>
              <a:t>Something real on screen in the first hour. The feedback arrives at the start, where it is nearly free.</a:t>
            </a:r>
            <a:endParaRPr lang="en-US" sz="1200"/>
          </a:p>
        </p:txBody>
      </p:sp>
      <p:sp>
        <p:nvSpPr>
          <p:cNvPr id="35" name="Shape 33"/>
          <p:cNvSpPr/>
          <p:nvPr/>
        </p:nvSpPr>
        <p:spPr>
          <a:xfrm>
            <a:off x="2103120" y="5532120"/>
            <a:ext cx="7955280" cy="685800"/>
          </a:xfrm>
          <a:prstGeom prst="roundRect">
            <a:avLst>
              <a:gd name="adj" fmla="val 12000"/>
            </a:avLst>
          </a:prstGeom>
          <a:solidFill>
            <a:srgbClr val="142F47"/>
          </a:solidFill>
          <a:ln/>
        </p:spPr>
        <p:txBody>
          <a:bodyPr/>
          <a:lstStyle/>
          <a:p>
            <a:endParaRPr lang="en-US"/>
          </a:p>
        </p:txBody>
      </p:sp>
      <p:sp>
        <p:nvSpPr>
          <p:cNvPr id="36" name="Text 34"/>
          <p:cNvSpPr/>
          <p:nvPr/>
        </p:nvSpPr>
        <p:spPr>
          <a:xfrm>
            <a:off x="2103120" y="5532120"/>
            <a:ext cx="7955280" cy="685800"/>
          </a:xfrm>
          <a:prstGeom prst="rect">
            <a:avLst/>
          </a:prstGeom>
          <a:noFill/>
          <a:ln/>
        </p:spPr>
        <p:txBody>
          <a:bodyPr wrap="square" lIns="0" tIns="0" rIns="0" bIns="0" rtlCol="0" anchor="ctr"/>
          <a:lstStyle/>
          <a:p>
            <a:pPr marL="0" indent="0" algn="ctr">
              <a:buNone/>
            </a:pPr>
            <a:r>
              <a:rPr lang="en-US" sz="1500" b="1">
                <a:solidFill>
                  <a:srgbClr val="FFFFFF"/>
                </a:solidFill>
                <a:latin typeface="Cambria" pitchFamily="34" charset="0"/>
                <a:ea typeface="Cambria" pitchFamily="34" charset="-122"/>
                <a:cs typeface="Cambria" pitchFamily="34" charset="-120"/>
              </a:rPr>
              <a:t>The meeting becomes a review of a thing, not a debate about words.</a:t>
            </a:r>
            <a:endParaRPr lang="en-US" sz="15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10896"/>
            <a:ext cx="10972800" cy="274320"/>
          </a:xfrm>
          <a:prstGeom prst="rect">
            <a:avLst/>
          </a:prstGeom>
          <a:noFill/>
          <a:ln/>
        </p:spPr>
        <p:txBody>
          <a:bodyPr wrap="square" lIns="0" tIns="0" rIns="0" bIns="0" rtlCol="0" anchor="ctr"/>
          <a:lstStyle/>
          <a:p>
            <a:pPr marL="0" indent="0">
              <a:buNone/>
            </a:pPr>
            <a:r>
              <a:rPr lang="en-US" sz="1200" b="1" kern="0" spc="300">
                <a:solidFill>
                  <a:srgbClr val="0F8B8D"/>
                </a:solidFill>
                <a:latin typeface="Calibri" pitchFamily="34" charset="0"/>
                <a:ea typeface="Calibri" pitchFamily="34" charset="-122"/>
                <a:cs typeface="Calibri" pitchFamily="34" charset="-120"/>
              </a:rPr>
              <a:t>ACT 3 · THE FUTURE</a:t>
            </a:r>
            <a:endParaRPr lang="en-US" sz="1200"/>
          </a:p>
        </p:txBody>
      </p:sp>
      <p:sp>
        <p:nvSpPr>
          <p:cNvPr id="3" name="Text 1"/>
          <p:cNvSpPr/>
          <p:nvPr/>
        </p:nvSpPr>
        <p:spPr>
          <a:xfrm>
            <a:off x="576072" y="566928"/>
            <a:ext cx="11064240" cy="685800"/>
          </a:xfrm>
          <a:prstGeom prst="rect">
            <a:avLst/>
          </a:prstGeom>
          <a:noFill/>
          <a:ln/>
        </p:spPr>
        <p:txBody>
          <a:bodyPr wrap="square" lIns="0" tIns="0" rIns="0" bIns="0" rtlCol="0" anchor="ctr"/>
          <a:lstStyle/>
          <a:p>
            <a:pPr marL="0" indent="0">
              <a:buNone/>
            </a:pPr>
            <a:r>
              <a:rPr lang="en-US" sz="3100" b="1">
                <a:solidFill>
                  <a:srgbClr val="142F47"/>
                </a:solidFill>
                <a:latin typeface="Cambria" pitchFamily="34" charset="0"/>
                <a:ea typeface="Cambria" pitchFamily="34" charset="-122"/>
                <a:cs typeface="Cambria" pitchFamily="34" charset="-120"/>
              </a:rPr>
              <a:t>What does not change: the engineering</a:t>
            </a:r>
            <a:endParaRPr lang="en-US" sz="3100"/>
          </a:p>
        </p:txBody>
      </p:sp>
      <p:sp>
        <p:nvSpPr>
          <p:cNvPr id="4" name="Text 2"/>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5" name="Text 3"/>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28</a:t>
            </a:r>
            <a:endParaRPr lang="en-US" sz="900"/>
          </a:p>
        </p:txBody>
      </p:sp>
      <p:sp>
        <p:nvSpPr>
          <p:cNvPr id="6" name="Shape 4"/>
          <p:cNvSpPr/>
          <p:nvPr/>
        </p:nvSpPr>
        <p:spPr>
          <a:xfrm>
            <a:off x="594360" y="1920240"/>
            <a:ext cx="2048256" cy="2148840"/>
          </a:xfrm>
          <a:prstGeom prst="roundRect">
            <a:avLst>
              <a:gd name="adj" fmla="val 401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7" name="Shape 5"/>
          <p:cNvSpPr/>
          <p:nvPr/>
        </p:nvSpPr>
        <p:spPr>
          <a:xfrm>
            <a:off x="1261872" y="2240280"/>
            <a:ext cx="713232" cy="713232"/>
          </a:xfrm>
          <a:prstGeom prst="ellipse">
            <a:avLst/>
          </a:prstGeom>
          <a:solidFill>
            <a:srgbClr val="142F47"/>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433048" y="2411456"/>
            <a:ext cx="370881" cy="370881"/>
          </a:xfrm>
          <a:prstGeom prst="rect">
            <a:avLst/>
          </a:prstGeom>
        </p:spPr>
      </p:pic>
      <p:sp>
        <p:nvSpPr>
          <p:cNvPr id="9" name="Text 6"/>
          <p:cNvSpPr/>
          <p:nvPr/>
        </p:nvSpPr>
        <p:spPr>
          <a:xfrm>
            <a:off x="658368" y="3200400"/>
            <a:ext cx="1920240" cy="731520"/>
          </a:xfrm>
          <a:prstGeom prst="rect">
            <a:avLst/>
          </a:prstGeom>
          <a:noFill/>
          <a:ln/>
        </p:spPr>
        <p:txBody>
          <a:bodyPr wrap="square" lIns="0" tIns="0" rIns="0" bIns="0" rtlCol="0" anchor="ctr"/>
          <a:lstStyle/>
          <a:p>
            <a:pPr marL="0" indent="0" algn="ctr">
              <a:lnSpc>
                <a:spcPct val="105000"/>
              </a:lnSpc>
              <a:buNone/>
            </a:pPr>
            <a:r>
              <a:rPr lang="en-US" sz="1350" b="1">
                <a:solidFill>
                  <a:srgbClr val="142F47"/>
                </a:solidFill>
                <a:latin typeface="Calibri" pitchFamily="34" charset="0"/>
                <a:ea typeface="Calibri" pitchFamily="34" charset="-122"/>
                <a:cs typeface="Calibri" pitchFamily="34" charset="-120"/>
              </a:rPr>
              <a:t>Security &amp; access</a:t>
            </a:r>
            <a:endParaRPr lang="en-US" sz="1350"/>
          </a:p>
        </p:txBody>
      </p:sp>
      <p:sp>
        <p:nvSpPr>
          <p:cNvPr id="10" name="Shape 7"/>
          <p:cNvSpPr/>
          <p:nvPr/>
        </p:nvSpPr>
        <p:spPr>
          <a:xfrm>
            <a:off x="2830982" y="1920240"/>
            <a:ext cx="2048256" cy="2148840"/>
          </a:xfrm>
          <a:prstGeom prst="roundRect">
            <a:avLst>
              <a:gd name="adj" fmla="val 401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1" name="Shape 8"/>
          <p:cNvSpPr/>
          <p:nvPr/>
        </p:nvSpPr>
        <p:spPr>
          <a:xfrm>
            <a:off x="3498494" y="2240280"/>
            <a:ext cx="713232" cy="713232"/>
          </a:xfrm>
          <a:prstGeom prst="ellipse">
            <a:avLst/>
          </a:prstGeom>
          <a:solidFill>
            <a:srgbClr val="142F47"/>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3669670" y="2411456"/>
            <a:ext cx="370881" cy="370881"/>
          </a:xfrm>
          <a:prstGeom prst="rect">
            <a:avLst/>
          </a:prstGeom>
        </p:spPr>
      </p:pic>
      <p:sp>
        <p:nvSpPr>
          <p:cNvPr id="13" name="Text 9"/>
          <p:cNvSpPr/>
          <p:nvPr/>
        </p:nvSpPr>
        <p:spPr>
          <a:xfrm>
            <a:off x="2894990" y="3200400"/>
            <a:ext cx="1920240" cy="731520"/>
          </a:xfrm>
          <a:prstGeom prst="rect">
            <a:avLst/>
          </a:prstGeom>
          <a:noFill/>
          <a:ln/>
        </p:spPr>
        <p:txBody>
          <a:bodyPr wrap="square" lIns="0" tIns="0" rIns="0" bIns="0" rtlCol="0" anchor="ctr"/>
          <a:lstStyle/>
          <a:p>
            <a:pPr marL="0" indent="0" algn="ctr">
              <a:lnSpc>
                <a:spcPct val="105000"/>
              </a:lnSpc>
              <a:buNone/>
            </a:pPr>
            <a:r>
              <a:rPr lang="en-US" sz="1350" b="1">
                <a:solidFill>
                  <a:srgbClr val="142F47"/>
                </a:solidFill>
                <a:latin typeface="Calibri" pitchFamily="34" charset="0"/>
                <a:ea typeface="Calibri" pitchFamily="34" charset="-122"/>
                <a:cs typeface="Calibri" pitchFamily="34" charset="-120"/>
              </a:rPr>
              <a:t>Data architecture</a:t>
            </a:r>
            <a:endParaRPr lang="en-US" sz="1350"/>
          </a:p>
        </p:txBody>
      </p:sp>
      <p:sp>
        <p:nvSpPr>
          <p:cNvPr id="14" name="Shape 10"/>
          <p:cNvSpPr/>
          <p:nvPr/>
        </p:nvSpPr>
        <p:spPr>
          <a:xfrm>
            <a:off x="5067605" y="1920240"/>
            <a:ext cx="2048256" cy="2148840"/>
          </a:xfrm>
          <a:prstGeom prst="roundRect">
            <a:avLst>
              <a:gd name="adj" fmla="val 401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5" name="Shape 11"/>
          <p:cNvSpPr/>
          <p:nvPr/>
        </p:nvSpPr>
        <p:spPr>
          <a:xfrm>
            <a:off x="5735117" y="2240280"/>
            <a:ext cx="713232" cy="713232"/>
          </a:xfrm>
          <a:prstGeom prst="ellipse">
            <a:avLst/>
          </a:prstGeom>
          <a:solidFill>
            <a:srgbClr val="142F47"/>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5906292" y="2411456"/>
            <a:ext cx="370881" cy="370881"/>
          </a:xfrm>
          <a:prstGeom prst="rect">
            <a:avLst/>
          </a:prstGeom>
        </p:spPr>
      </p:pic>
      <p:sp>
        <p:nvSpPr>
          <p:cNvPr id="17" name="Text 12"/>
          <p:cNvSpPr/>
          <p:nvPr/>
        </p:nvSpPr>
        <p:spPr>
          <a:xfrm>
            <a:off x="5131613" y="3200400"/>
            <a:ext cx="1920240" cy="731520"/>
          </a:xfrm>
          <a:prstGeom prst="rect">
            <a:avLst/>
          </a:prstGeom>
          <a:noFill/>
          <a:ln/>
        </p:spPr>
        <p:txBody>
          <a:bodyPr wrap="square" lIns="0" tIns="0" rIns="0" bIns="0" rtlCol="0" anchor="ctr"/>
          <a:lstStyle/>
          <a:p>
            <a:pPr marL="0" indent="0" algn="ctr">
              <a:lnSpc>
                <a:spcPct val="105000"/>
              </a:lnSpc>
              <a:buNone/>
            </a:pPr>
            <a:r>
              <a:rPr lang="en-US" sz="1350" b="1">
                <a:solidFill>
                  <a:srgbClr val="142F47"/>
                </a:solidFill>
                <a:latin typeface="Calibri" pitchFamily="34" charset="0"/>
                <a:ea typeface="Calibri" pitchFamily="34" charset="-122"/>
                <a:cs typeface="Calibri" pitchFamily="34" charset="-120"/>
              </a:rPr>
              <a:t>Integrations</a:t>
            </a:r>
            <a:endParaRPr lang="en-US" sz="1350"/>
          </a:p>
        </p:txBody>
      </p:sp>
      <p:sp>
        <p:nvSpPr>
          <p:cNvPr id="18" name="Shape 13"/>
          <p:cNvSpPr/>
          <p:nvPr/>
        </p:nvSpPr>
        <p:spPr>
          <a:xfrm>
            <a:off x="7304227" y="1920240"/>
            <a:ext cx="2048256" cy="2148840"/>
          </a:xfrm>
          <a:prstGeom prst="roundRect">
            <a:avLst>
              <a:gd name="adj" fmla="val 401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19" name="Shape 14"/>
          <p:cNvSpPr/>
          <p:nvPr/>
        </p:nvSpPr>
        <p:spPr>
          <a:xfrm>
            <a:off x="7971739" y="2240280"/>
            <a:ext cx="713232" cy="713232"/>
          </a:xfrm>
          <a:prstGeom prst="ellipse">
            <a:avLst/>
          </a:prstGeom>
          <a:solidFill>
            <a:srgbClr val="142F47"/>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8142915" y="2411456"/>
            <a:ext cx="370881" cy="370881"/>
          </a:xfrm>
          <a:prstGeom prst="rect">
            <a:avLst/>
          </a:prstGeom>
        </p:spPr>
      </p:pic>
      <p:sp>
        <p:nvSpPr>
          <p:cNvPr id="21" name="Text 15"/>
          <p:cNvSpPr/>
          <p:nvPr/>
        </p:nvSpPr>
        <p:spPr>
          <a:xfrm>
            <a:off x="7368235" y="3200400"/>
            <a:ext cx="1920240" cy="731520"/>
          </a:xfrm>
          <a:prstGeom prst="rect">
            <a:avLst/>
          </a:prstGeom>
          <a:noFill/>
          <a:ln/>
        </p:spPr>
        <p:txBody>
          <a:bodyPr wrap="square" lIns="0" tIns="0" rIns="0" bIns="0" rtlCol="0" anchor="ctr"/>
          <a:lstStyle/>
          <a:p>
            <a:pPr marL="0" indent="0" algn="ctr">
              <a:lnSpc>
                <a:spcPct val="105000"/>
              </a:lnSpc>
              <a:buNone/>
            </a:pPr>
            <a:r>
              <a:rPr lang="en-US" sz="1350" b="1">
                <a:solidFill>
                  <a:srgbClr val="142F47"/>
                </a:solidFill>
                <a:latin typeface="Calibri" pitchFamily="34" charset="0"/>
                <a:ea typeface="Calibri" pitchFamily="34" charset="-122"/>
                <a:cs typeface="Calibri" pitchFamily="34" charset="-120"/>
              </a:rPr>
              <a:t>Testing &amp; controls</a:t>
            </a:r>
            <a:endParaRPr lang="en-US" sz="1350"/>
          </a:p>
        </p:txBody>
      </p:sp>
      <p:sp>
        <p:nvSpPr>
          <p:cNvPr id="22" name="Shape 16"/>
          <p:cNvSpPr/>
          <p:nvPr/>
        </p:nvSpPr>
        <p:spPr>
          <a:xfrm>
            <a:off x="9540850" y="1920240"/>
            <a:ext cx="2048256" cy="2148840"/>
          </a:xfrm>
          <a:prstGeom prst="roundRect">
            <a:avLst>
              <a:gd name="adj" fmla="val 4018"/>
            </a:avLst>
          </a:prstGeom>
          <a:solidFill>
            <a:srgbClr val="FFFFFF"/>
          </a:solidFill>
          <a:ln w="12700">
            <a:solidFill>
              <a:srgbClr val="D9E4E7"/>
            </a:solidFill>
            <a:prstDash val="solid"/>
          </a:ln>
          <a:effectLst>
            <a:outerShdw blurRad="88900" dist="25400" dir="5400000" algn="bl" rotWithShape="0">
              <a:srgbClr val="9FB1BC">
                <a:alpha val="30000"/>
              </a:srgbClr>
            </a:outerShdw>
          </a:effectLst>
        </p:spPr>
        <p:txBody>
          <a:bodyPr/>
          <a:lstStyle/>
          <a:p>
            <a:endParaRPr lang="en-US"/>
          </a:p>
        </p:txBody>
      </p:sp>
      <p:sp>
        <p:nvSpPr>
          <p:cNvPr id="23" name="Shape 17"/>
          <p:cNvSpPr/>
          <p:nvPr/>
        </p:nvSpPr>
        <p:spPr>
          <a:xfrm>
            <a:off x="10208362" y="2240280"/>
            <a:ext cx="713232" cy="713232"/>
          </a:xfrm>
          <a:prstGeom prst="ellipse">
            <a:avLst/>
          </a:prstGeom>
          <a:solidFill>
            <a:srgbClr val="142F47"/>
          </a:solidFill>
          <a:ln/>
        </p:spPr>
        <p:txBody>
          <a:bodyPr/>
          <a:lstStyle/>
          <a:p>
            <a:endParaRPr lang="en-US"/>
          </a:p>
        </p:txBody>
      </p:sp>
      <p:pic>
        <p:nvPicPr>
          <p:cNvPr id="24" name="Image 4" descr="preencoded.png"/>
          <p:cNvPicPr>
            <a:picLocks noChangeAspect="1"/>
          </p:cNvPicPr>
          <p:nvPr/>
        </p:nvPicPr>
        <p:blipFill>
          <a:blip r:embed="rId7"/>
          <a:stretch>
            <a:fillRect/>
          </a:stretch>
        </p:blipFill>
        <p:spPr>
          <a:xfrm>
            <a:off x="10379537" y="2411456"/>
            <a:ext cx="370881" cy="370881"/>
          </a:xfrm>
          <a:prstGeom prst="rect">
            <a:avLst/>
          </a:prstGeom>
        </p:spPr>
      </p:pic>
      <p:sp>
        <p:nvSpPr>
          <p:cNvPr id="25" name="Text 18"/>
          <p:cNvSpPr/>
          <p:nvPr/>
        </p:nvSpPr>
        <p:spPr>
          <a:xfrm>
            <a:off x="9604858" y="3200400"/>
            <a:ext cx="1920240" cy="731520"/>
          </a:xfrm>
          <a:prstGeom prst="rect">
            <a:avLst/>
          </a:prstGeom>
          <a:noFill/>
          <a:ln/>
        </p:spPr>
        <p:txBody>
          <a:bodyPr wrap="square" lIns="0" tIns="0" rIns="0" bIns="0" rtlCol="0" anchor="ctr"/>
          <a:lstStyle/>
          <a:p>
            <a:pPr marL="0" indent="0" algn="ctr">
              <a:lnSpc>
                <a:spcPct val="105000"/>
              </a:lnSpc>
              <a:buNone/>
            </a:pPr>
            <a:r>
              <a:rPr lang="en-US" sz="1350" b="1">
                <a:solidFill>
                  <a:srgbClr val="142F47"/>
                </a:solidFill>
                <a:latin typeface="Calibri" pitchFamily="34" charset="0"/>
                <a:ea typeface="Calibri" pitchFamily="34" charset="-122"/>
                <a:cs typeface="Calibri" pitchFamily="34" charset="-120"/>
              </a:rPr>
              <a:t>Performance &amp; scale</a:t>
            </a:r>
            <a:endParaRPr lang="en-US" sz="1350"/>
          </a:p>
        </p:txBody>
      </p:sp>
      <p:sp>
        <p:nvSpPr>
          <p:cNvPr id="26" name="Text 19"/>
          <p:cNvSpPr/>
          <p:nvPr/>
        </p:nvSpPr>
        <p:spPr>
          <a:xfrm>
            <a:off x="1280160" y="4572000"/>
            <a:ext cx="9601200" cy="868680"/>
          </a:xfrm>
          <a:prstGeom prst="rect">
            <a:avLst/>
          </a:prstGeom>
          <a:noFill/>
          <a:ln/>
        </p:spPr>
        <p:txBody>
          <a:bodyPr wrap="square" lIns="0" tIns="0" rIns="0" bIns="0" rtlCol="0" anchor="ctr"/>
          <a:lstStyle/>
          <a:p>
            <a:pPr marL="0" indent="0" algn="ctr">
              <a:lnSpc>
                <a:spcPct val="120000"/>
              </a:lnSpc>
              <a:buNone/>
            </a:pPr>
            <a:r>
              <a:rPr lang="en-US" sz="1800">
                <a:solidFill>
                  <a:srgbClr val="20364A"/>
                </a:solidFill>
                <a:latin typeface="Cambria" pitchFamily="34" charset="0"/>
                <a:ea typeface="Cambria" pitchFamily="34" charset="-122"/>
                <a:cs typeface="Cambria" pitchFamily="34" charset="-120"/>
              </a:rPr>
              <a:t>Full engineering rigor, exactly as before. Models change </a:t>
            </a:r>
            <a:r>
              <a:rPr lang="en-US" sz="1800" b="1">
                <a:solidFill>
                  <a:srgbClr val="0B6E70"/>
                </a:solidFill>
                <a:latin typeface="Cambria" pitchFamily="34" charset="0"/>
                <a:ea typeface="Cambria" pitchFamily="34" charset="-122"/>
                <a:cs typeface="Cambria" pitchFamily="34" charset="-120"/>
              </a:rPr>
              <a:t>what flows into</a:t>
            </a:r>
            <a:r>
              <a:rPr lang="en-US" sz="1800">
                <a:solidFill>
                  <a:srgbClr val="20364A"/>
                </a:solidFill>
                <a:latin typeface="Cambria" pitchFamily="34" charset="0"/>
                <a:ea typeface="Cambria" pitchFamily="34" charset="-122"/>
                <a:cs typeface="Cambria" pitchFamily="34" charset="-120"/>
              </a:rPr>
              <a:t> engineering: clearer, earlier, clickable intent. Not the engineering itself.</a:t>
            </a:r>
            <a:endParaRPr lang="en-US" sz="1800"/>
          </a:p>
        </p:txBody>
      </p:sp>
      <p:sp>
        <p:nvSpPr>
          <p:cNvPr id="27" name="Text 20"/>
          <p:cNvSpPr/>
          <p:nvPr/>
        </p:nvSpPr>
        <p:spPr>
          <a:xfrm>
            <a:off x="1280160" y="5532120"/>
            <a:ext cx="9601200" cy="411480"/>
          </a:xfrm>
          <a:prstGeom prst="rect">
            <a:avLst/>
          </a:prstGeom>
          <a:noFill/>
          <a:ln/>
        </p:spPr>
        <p:txBody>
          <a:bodyPr wrap="square" lIns="0" tIns="0" rIns="0" bIns="0" rtlCol="0" anchor="ctr"/>
          <a:lstStyle/>
          <a:p>
            <a:pPr marL="0" indent="0" algn="ctr">
              <a:buNone/>
            </a:pPr>
            <a:r>
              <a:rPr lang="en-US" sz="1400" i="1">
                <a:solidFill>
                  <a:srgbClr val="0B6E70"/>
                </a:solidFill>
                <a:latin typeface="Calibri" pitchFamily="34" charset="0"/>
                <a:ea typeface="Calibri" pitchFamily="34" charset="-122"/>
                <a:cs typeface="Calibri" pitchFamily="34" charset="-120"/>
              </a:rPr>
              <a:t>Every project now starts from a higher floor.</a:t>
            </a:r>
            <a:endParaRPr lang="en-US" sz="1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bg>
      <p:bgPr>
        <a:solidFill>
          <a:srgbClr val="142F47"/>
        </a:solidFill>
        <a:effectLst/>
      </p:bgPr>
    </p:bg>
    <p:spTree>
      <p:nvGrpSpPr>
        <p:cNvPr id="1" name=""/>
        <p:cNvGrpSpPr/>
        <p:nvPr/>
      </p:nvGrpSpPr>
      <p:grpSpPr>
        <a:xfrm>
          <a:off x="0" y="0"/>
          <a:ext cx="0" cy="0"/>
          <a:chOff x="0" y="0"/>
          <a:chExt cx="0" cy="0"/>
        </a:xfrm>
      </p:grpSpPr>
      <p:sp>
        <p:nvSpPr>
          <p:cNvPr id="2" name="Text 0"/>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3" name="Text 1"/>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29</a:t>
            </a:r>
            <a:endParaRPr lang="en-US" sz="900"/>
          </a:p>
        </p:txBody>
      </p:sp>
      <p:sp>
        <p:nvSpPr>
          <p:cNvPr id="4" name="Shape 2"/>
          <p:cNvSpPr/>
          <p:nvPr/>
        </p:nvSpPr>
        <p:spPr>
          <a:xfrm>
            <a:off x="9692640" y="-1920240"/>
            <a:ext cx="4937760" cy="4937760"/>
          </a:xfrm>
          <a:prstGeom prst="ellipse">
            <a:avLst/>
          </a:prstGeom>
          <a:solidFill>
            <a:srgbClr val="0F8B8D">
              <a:alpha val="14000"/>
            </a:srgbClr>
          </a:solidFill>
          <a:ln/>
        </p:spPr>
        <p:txBody>
          <a:bodyPr/>
          <a:lstStyle/>
          <a:p>
            <a:endParaRPr lang="en-US"/>
          </a:p>
        </p:txBody>
      </p:sp>
      <p:sp>
        <p:nvSpPr>
          <p:cNvPr id="5" name="Shape 3"/>
          <p:cNvSpPr/>
          <p:nvPr/>
        </p:nvSpPr>
        <p:spPr>
          <a:xfrm>
            <a:off x="10881360" y="4480560"/>
            <a:ext cx="3291840" cy="3291840"/>
          </a:xfrm>
          <a:prstGeom prst="ellipse">
            <a:avLst/>
          </a:prstGeom>
          <a:solidFill>
            <a:srgbClr val="DFA13F">
              <a:alpha val="10000"/>
            </a:srgbClr>
          </a:solidFill>
          <a:ln/>
        </p:spPr>
        <p:txBody>
          <a:bodyPr/>
          <a:lstStyle/>
          <a:p>
            <a:endParaRPr lang="en-US"/>
          </a:p>
        </p:txBody>
      </p:sp>
      <p:sp>
        <p:nvSpPr>
          <p:cNvPr id="6" name="Shape 4"/>
          <p:cNvSpPr/>
          <p:nvPr/>
        </p:nvSpPr>
        <p:spPr>
          <a:xfrm>
            <a:off x="-1463040" y="4937760"/>
            <a:ext cx="3840480" cy="3840480"/>
          </a:xfrm>
          <a:prstGeom prst="ellipse">
            <a:avLst/>
          </a:prstGeom>
          <a:solidFill>
            <a:srgbClr val="0F8B8D">
              <a:alpha val="10000"/>
            </a:srgbClr>
          </a:solidFill>
          <a:ln/>
        </p:spPr>
        <p:txBody>
          <a:bodyPr/>
          <a:lstStyle/>
          <a:p>
            <a:endParaRPr lang="en-US"/>
          </a:p>
        </p:txBody>
      </p:sp>
      <p:sp>
        <p:nvSpPr>
          <p:cNvPr id="7" name="Text 5"/>
          <p:cNvSpPr/>
          <p:nvPr/>
        </p:nvSpPr>
        <p:spPr>
          <a:xfrm>
            <a:off x="868680" y="1554480"/>
            <a:ext cx="10058400" cy="320040"/>
          </a:xfrm>
          <a:prstGeom prst="rect">
            <a:avLst/>
          </a:prstGeom>
          <a:noFill/>
          <a:ln/>
        </p:spPr>
        <p:txBody>
          <a:bodyPr wrap="square" lIns="0" tIns="0" rIns="0" bIns="0" rtlCol="0" anchor="ctr"/>
          <a:lstStyle/>
          <a:p>
            <a:pPr marL="0" indent="0">
              <a:buNone/>
            </a:pPr>
            <a:r>
              <a:rPr lang="en-US" sz="1300" b="1" kern="0" spc="300">
                <a:solidFill>
                  <a:srgbClr val="DFA13F"/>
                </a:solidFill>
                <a:latin typeface="Calibri" pitchFamily="34" charset="0"/>
                <a:ea typeface="Calibri" pitchFamily="34" charset="-122"/>
                <a:cs typeface="Calibri" pitchFamily="34" charset="-120"/>
              </a:rPr>
              <a:t>IF YOU REMEMBER ONE LINE</a:t>
            </a:r>
            <a:endParaRPr lang="en-US" sz="1300"/>
          </a:p>
        </p:txBody>
      </p:sp>
      <p:sp>
        <p:nvSpPr>
          <p:cNvPr id="8" name="Text 6"/>
          <p:cNvSpPr/>
          <p:nvPr/>
        </p:nvSpPr>
        <p:spPr>
          <a:xfrm>
            <a:off x="822960" y="2057400"/>
            <a:ext cx="10607040" cy="2194560"/>
          </a:xfrm>
          <a:prstGeom prst="rect">
            <a:avLst/>
          </a:prstGeom>
          <a:noFill/>
          <a:ln/>
        </p:spPr>
        <p:txBody>
          <a:bodyPr wrap="square" lIns="0" tIns="0" rIns="0" bIns="0" rtlCol="0" anchor="ctr"/>
          <a:lstStyle/>
          <a:p>
            <a:pPr marL="0" indent="0">
              <a:lnSpc>
                <a:spcPct val="112000"/>
              </a:lnSpc>
              <a:buNone/>
            </a:pPr>
            <a:r>
              <a:rPr lang="en-US" sz="4400" b="1">
                <a:solidFill>
                  <a:srgbClr val="FFFFFF"/>
                </a:solidFill>
                <a:latin typeface="Cambria" pitchFamily="34" charset="0"/>
                <a:ea typeface="Cambria" pitchFamily="34" charset="-122"/>
                <a:cs typeface="Cambria" pitchFamily="34" charset="-120"/>
              </a:rPr>
              <a:t>The best requirements document</a:t>
            </a:r>
            <a:endParaRPr lang="en-US" sz="4400"/>
          </a:p>
          <a:p>
            <a:pPr marL="0" indent="0">
              <a:lnSpc>
                <a:spcPct val="112000"/>
              </a:lnSpc>
              <a:buNone/>
            </a:pPr>
            <a:r>
              <a:rPr lang="en-US" sz="4400" b="1">
                <a:solidFill>
                  <a:srgbClr val="FFFFFF"/>
                </a:solidFill>
                <a:latin typeface="Cambria" pitchFamily="34" charset="0"/>
                <a:ea typeface="Cambria" pitchFamily="34" charset="-122"/>
                <a:cs typeface="Cambria" pitchFamily="34" charset="-120"/>
              </a:rPr>
              <a:t>is a </a:t>
            </a:r>
            <a:endParaRPr lang="en-US" sz="4400"/>
          </a:p>
          <a:p>
            <a:pPr marL="0" indent="0">
              <a:lnSpc>
                <a:spcPct val="112000"/>
              </a:lnSpc>
              <a:buNone/>
            </a:pPr>
            <a:r>
              <a:rPr lang="en-US" sz="4400" b="1">
                <a:solidFill>
                  <a:srgbClr val="7ED4D6"/>
                </a:solidFill>
                <a:latin typeface="Cambria" pitchFamily="34" charset="0"/>
                <a:ea typeface="Cambria" pitchFamily="34" charset="-122"/>
                <a:cs typeface="Cambria" pitchFamily="34" charset="-120"/>
              </a:rPr>
              <a:t>working model</a:t>
            </a:r>
            <a:r>
              <a:rPr lang="en-US" sz="4400" b="1">
                <a:solidFill>
                  <a:srgbClr val="FFFFFF"/>
                </a:solidFill>
                <a:latin typeface="Cambria" pitchFamily="34" charset="0"/>
                <a:ea typeface="Cambria" pitchFamily="34" charset="-122"/>
                <a:cs typeface="Cambria" pitchFamily="34" charset="-120"/>
              </a:rPr>
              <a:t> of the answer.</a:t>
            </a:r>
            <a:endParaRPr lang="en-US" sz="4400"/>
          </a:p>
        </p:txBody>
      </p:sp>
      <p:sp>
        <p:nvSpPr>
          <p:cNvPr id="9" name="Text 7"/>
          <p:cNvSpPr/>
          <p:nvPr/>
        </p:nvSpPr>
        <p:spPr>
          <a:xfrm>
            <a:off x="868680" y="4617720"/>
            <a:ext cx="9875520" cy="1005840"/>
          </a:xfrm>
          <a:prstGeom prst="rect">
            <a:avLst/>
          </a:prstGeom>
          <a:noFill/>
          <a:ln/>
        </p:spPr>
        <p:txBody>
          <a:bodyPr wrap="square" lIns="0" tIns="0" rIns="0" bIns="0" rtlCol="0" anchor="ctr"/>
          <a:lstStyle/>
          <a:p>
            <a:pPr marL="0" indent="0">
              <a:lnSpc>
                <a:spcPct val="130000"/>
              </a:lnSpc>
              <a:buNone/>
            </a:pPr>
            <a:r>
              <a:rPr lang="en-US" sz="1700">
                <a:solidFill>
                  <a:srgbClr val="C7D6DF"/>
                </a:solidFill>
                <a:latin typeface="Calibri" pitchFamily="34" charset="0"/>
                <a:ea typeface="Calibri" pitchFamily="34" charset="-122"/>
                <a:cs typeface="Calibri" pitchFamily="34" charset="-120"/>
              </a:rPr>
              <a:t>The next time you need an app built,</a:t>
            </a:r>
            <a:endParaRPr lang="en-US" sz="1700"/>
          </a:p>
          <a:p>
            <a:pPr marL="0" indent="0">
              <a:lnSpc>
                <a:spcPct val="130000"/>
              </a:lnSpc>
              <a:buNone/>
            </a:pPr>
            <a:r>
              <a:rPr lang="en-US" sz="1700">
                <a:solidFill>
                  <a:srgbClr val="C7D6DF"/>
                </a:solidFill>
                <a:latin typeface="Calibri" pitchFamily="34" charset="0"/>
                <a:ea typeface="Calibri" pitchFamily="34" charset="-122"/>
                <a:cs typeface="Calibri" pitchFamily="34" charset="-120"/>
              </a:rPr>
              <a:t>do not start a document. Start a model.</a:t>
            </a:r>
            <a:endParaRPr lang="en-US" sz="17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0">
    <p:bg>
      <p:bgPr>
        <a:solidFill>
          <a:srgbClr val="142F47"/>
        </a:solidFill>
        <a:effectLst/>
      </p:bgPr>
    </p:bg>
    <p:spTree>
      <p:nvGrpSpPr>
        <p:cNvPr id="1" name=""/>
        <p:cNvGrpSpPr/>
        <p:nvPr/>
      </p:nvGrpSpPr>
      <p:grpSpPr>
        <a:xfrm>
          <a:off x="0" y="0"/>
          <a:ext cx="0" cy="0"/>
          <a:chOff x="0" y="0"/>
          <a:chExt cx="0" cy="0"/>
        </a:xfrm>
      </p:grpSpPr>
      <p:sp>
        <p:nvSpPr>
          <p:cNvPr id="2" name="Text 0"/>
          <p:cNvSpPr/>
          <p:nvPr/>
        </p:nvSpPr>
        <p:spPr>
          <a:xfrm>
            <a:off x="594360" y="6483096"/>
            <a:ext cx="5486400" cy="274320"/>
          </a:xfrm>
          <a:prstGeom prst="rect">
            <a:avLst/>
          </a:prstGeom>
          <a:noFill/>
          <a:ln/>
        </p:spPr>
        <p:txBody>
          <a:bodyPr wrap="square" lIns="0" tIns="0" rIns="0" bIns="0" rtlCol="0" anchor="ctr"/>
          <a:lstStyle/>
          <a:p>
            <a:pPr marL="0" indent="0">
              <a:buNone/>
            </a:pPr>
            <a:r>
              <a:rPr lang="en-US" sz="900">
                <a:solidFill>
                  <a:srgbClr val="7C8B99"/>
                </a:solidFill>
                <a:latin typeface="Calibri" pitchFamily="34" charset="0"/>
                <a:ea typeface="Calibri" pitchFamily="34" charset="-122"/>
                <a:cs typeface="Calibri" pitchFamily="34" charset="-120"/>
              </a:rPr>
              <a:t>Do Not Describe It. Build It.</a:t>
            </a:r>
            <a:endParaRPr lang="en-US" sz="900"/>
          </a:p>
        </p:txBody>
      </p:sp>
      <p:sp>
        <p:nvSpPr>
          <p:cNvPr id="3" name="Text 1"/>
          <p:cNvSpPr/>
          <p:nvPr/>
        </p:nvSpPr>
        <p:spPr>
          <a:xfrm>
            <a:off x="11384280" y="6483096"/>
            <a:ext cx="457200" cy="274320"/>
          </a:xfrm>
          <a:prstGeom prst="rect">
            <a:avLst/>
          </a:prstGeom>
          <a:noFill/>
          <a:ln/>
        </p:spPr>
        <p:txBody>
          <a:bodyPr wrap="square" lIns="0" tIns="0" rIns="0" bIns="0" rtlCol="0" anchor="ctr"/>
          <a:lstStyle/>
          <a:p>
            <a:pPr marL="0" indent="0" algn="r">
              <a:buNone/>
            </a:pPr>
            <a:r>
              <a:rPr lang="en-US" sz="900">
                <a:solidFill>
                  <a:srgbClr val="7C8B99"/>
                </a:solidFill>
                <a:latin typeface="Calibri" pitchFamily="34" charset="0"/>
                <a:ea typeface="Calibri" pitchFamily="34" charset="-122"/>
                <a:cs typeface="Calibri" pitchFamily="34" charset="-120"/>
              </a:rPr>
              <a:t>30</a:t>
            </a:r>
            <a:endParaRPr lang="en-US" sz="900"/>
          </a:p>
        </p:txBody>
      </p:sp>
      <p:sp>
        <p:nvSpPr>
          <p:cNvPr id="4" name="Shape 2"/>
          <p:cNvSpPr/>
          <p:nvPr/>
        </p:nvSpPr>
        <p:spPr>
          <a:xfrm>
            <a:off x="9692640" y="-1920240"/>
            <a:ext cx="4937760" cy="4937760"/>
          </a:xfrm>
          <a:prstGeom prst="ellipse">
            <a:avLst/>
          </a:prstGeom>
          <a:solidFill>
            <a:srgbClr val="0F8B8D">
              <a:alpha val="14000"/>
            </a:srgbClr>
          </a:solidFill>
          <a:ln/>
        </p:spPr>
        <p:txBody>
          <a:bodyPr/>
          <a:lstStyle/>
          <a:p>
            <a:endParaRPr lang="en-US"/>
          </a:p>
        </p:txBody>
      </p:sp>
      <p:sp>
        <p:nvSpPr>
          <p:cNvPr id="5" name="Shape 3"/>
          <p:cNvSpPr/>
          <p:nvPr/>
        </p:nvSpPr>
        <p:spPr>
          <a:xfrm>
            <a:off x="10881360" y="4480560"/>
            <a:ext cx="3291840" cy="3291840"/>
          </a:xfrm>
          <a:prstGeom prst="ellipse">
            <a:avLst/>
          </a:prstGeom>
          <a:solidFill>
            <a:srgbClr val="DFA13F">
              <a:alpha val="10000"/>
            </a:srgbClr>
          </a:solidFill>
          <a:ln/>
        </p:spPr>
        <p:txBody>
          <a:bodyPr/>
          <a:lstStyle/>
          <a:p>
            <a:endParaRPr lang="en-US"/>
          </a:p>
        </p:txBody>
      </p:sp>
      <p:sp>
        <p:nvSpPr>
          <p:cNvPr id="6" name="Shape 4"/>
          <p:cNvSpPr/>
          <p:nvPr/>
        </p:nvSpPr>
        <p:spPr>
          <a:xfrm>
            <a:off x="-1463040" y="4937760"/>
            <a:ext cx="3840480" cy="3840480"/>
          </a:xfrm>
          <a:prstGeom prst="ellipse">
            <a:avLst/>
          </a:prstGeom>
          <a:solidFill>
            <a:srgbClr val="0F8B8D">
              <a:alpha val="10000"/>
            </a:srgbClr>
          </a:solidFill>
          <a:ln/>
        </p:spPr>
        <p:txBody>
          <a:bodyPr/>
          <a:lstStyle/>
          <a:p>
            <a:endParaRPr lang="en-US"/>
          </a:p>
        </p:txBody>
      </p:sp>
      <p:sp>
        <p:nvSpPr>
          <p:cNvPr id="7" name="Text 5"/>
          <p:cNvSpPr/>
          <p:nvPr/>
        </p:nvSpPr>
        <p:spPr>
          <a:xfrm>
            <a:off x="822960" y="2286000"/>
            <a:ext cx="10515600" cy="1097280"/>
          </a:xfrm>
          <a:prstGeom prst="rect">
            <a:avLst/>
          </a:prstGeom>
          <a:noFill/>
          <a:ln/>
        </p:spPr>
        <p:txBody>
          <a:bodyPr wrap="square" lIns="0" tIns="0" rIns="0" bIns="0" rtlCol="0" anchor="ctr"/>
          <a:lstStyle/>
          <a:p>
            <a:pPr marL="0" indent="0">
              <a:buNone/>
            </a:pPr>
            <a:r>
              <a:rPr lang="en-US" sz="5800" b="1">
                <a:solidFill>
                  <a:srgbClr val="FFFFFF"/>
                </a:solidFill>
                <a:latin typeface="Cambria" pitchFamily="34" charset="0"/>
                <a:ea typeface="Cambria" pitchFamily="34" charset="-122"/>
                <a:cs typeface="Cambria" pitchFamily="34" charset="-120"/>
              </a:rPr>
              <a:t>Questions?</a:t>
            </a:r>
            <a:endParaRPr lang="en-US" sz="5800"/>
          </a:p>
        </p:txBody>
      </p:sp>
      <p:sp>
        <p:nvSpPr>
          <p:cNvPr id="8" name="Text 6"/>
          <p:cNvSpPr/>
          <p:nvPr/>
        </p:nvSpPr>
        <p:spPr>
          <a:xfrm>
            <a:off x="868680" y="3474720"/>
            <a:ext cx="7315200" cy="548640"/>
          </a:xfrm>
          <a:prstGeom prst="rect">
            <a:avLst/>
          </a:prstGeom>
          <a:noFill/>
          <a:ln/>
        </p:spPr>
        <p:txBody>
          <a:bodyPr wrap="square" lIns="0" tIns="0" rIns="0" bIns="0" rtlCol="0" anchor="ctr"/>
          <a:lstStyle/>
          <a:p>
            <a:pPr marL="0" indent="0">
              <a:buNone/>
            </a:pPr>
            <a:r>
              <a:rPr lang="en-US" sz="2400" i="1">
                <a:solidFill>
                  <a:srgbClr val="7ED4D6"/>
                </a:solidFill>
                <a:latin typeface="Cambria" pitchFamily="34" charset="0"/>
                <a:ea typeface="Cambria" pitchFamily="34" charset="-122"/>
                <a:cs typeface="Cambria" pitchFamily="34" charset="-120"/>
              </a:rPr>
              <a:t>Thank you.</a:t>
            </a:r>
            <a:endParaRPr lang="en-US" sz="2400"/>
          </a:p>
        </p:txBody>
      </p:sp>
      <p:sp>
        <p:nvSpPr>
          <p:cNvPr id="9" name="Shape 7"/>
          <p:cNvSpPr/>
          <p:nvPr/>
        </p:nvSpPr>
        <p:spPr>
          <a:xfrm>
            <a:off x="868680" y="4343400"/>
            <a:ext cx="4023360" cy="0"/>
          </a:xfrm>
          <a:prstGeom prst="line">
            <a:avLst/>
          </a:prstGeom>
          <a:noFill/>
          <a:ln w="15875">
            <a:solidFill>
              <a:srgbClr val="0F8B8D"/>
            </a:solidFill>
            <a:prstDash val="solid"/>
          </a:ln>
        </p:spPr>
        <p:txBody>
          <a:bodyPr/>
          <a:lstStyle/>
          <a:p>
            <a:endParaRPr lang="en-US"/>
          </a:p>
        </p:txBody>
      </p:sp>
      <p:sp>
        <p:nvSpPr>
          <p:cNvPr id="10" name="Text 8"/>
          <p:cNvSpPr/>
          <p:nvPr/>
        </p:nvSpPr>
        <p:spPr>
          <a:xfrm>
            <a:off x="868680" y="4526280"/>
            <a:ext cx="8686800" cy="731520"/>
          </a:xfrm>
          <a:prstGeom prst="rect">
            <a:avLst/>
          </a:prstGeom>
          <a:noFill/>
          <a:ln/>
        </p:spPr>
        <p:txBody>
          <a:bodyPr wrap="square" lIns="0" tIns="0" rIns="0" bIns="0" rtlCol="0" anchor="ctr"/>
          <a:lstStyle/>
          <a:p>
            <a:pPr marL="0" indent="0">
              <a:lnSpc>
                <a:spcPct val="130000"/>
              </a:lnSpc>
              <a:buNone/>
            </a:pPr>
            <a:r>
              <a:rPr lang="en-US" sz="1300">
                <a:solidFill>
                  <a:srgbClr val="9DB3C0"/>
                </a:solidFill>
                <a:latin typeface="Calibri" pitchFamily="34" charset="0"/>
                <a:ea typeface="Calibri" pitchFamily="34" charset="-122"/>
                <a:cs typeface="Calibri" pitchFamily="34" charset="-120"/>
              </a:rPr>
              <a:t>[Presenter Name]  ·  [email / Teams]</a:t>
            </a:r>
            <a:endParaRPr lang="en-US" sz="1300"/>
          </a:p>
          <a:p>
            <a:pPr marL="0" indent="0">
              <a:lnSpc>
                <a:spcPct val="130000"/>
              </a:lnSpc>
              <a:buNone/>
            </a:pPr>
            <a:r>
              <a:rPr lang="en-US" sz="1300">
                <a:solidFill>
                  <a:srgbClr val="9DB3C0"/>
                </a:solidFill>
                <a:latin typeface="Calibri" pitchFamily="34" charset="0"/>
                <a:ea typeface="Calibri" pitchFamily="34" charset="-122"/>
                <a:cs typeface="Calibri" pitchFamily="34" charset="-120"/>
              </a:rPr>
              <a:t>Tax Data Management &amp; Innovation</a:t>
            </a:r>
            <a:endParaRPr lang="en-US" sz="13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1056aa5-6b4d-4c47-aaac-9426e9d9b737">
      <Terms xmlns="http://schemas.microsoft.com/office/infopath/2007/PartnerControls"/>
    </lcf76f155ced4ddcb4097134ff3c332f>
    <TaxCatchAll xmlns="8e4cac8c-e99d-49dd-8c24-1d4caeb84b2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999CE80F1B44445BB5E9DE12FCAFFBF" ma:contentTypeVersion="18" ma:contentTypeDescription="Create a new document." ma:contentTypeScope="" ma:versionID="774106159c7c134df5bfce6a643ad80a">
  <xsd:schema xmlns:xsd="http://www.w3.org/2001/XMLSchema" xmlns:xs="http://www.w3.org/2001/XMLSchema" xmlns:p="http://schemas.microsoft.com/office/2006/metadata/properties" xmlns:ns2="a1056aa5-6b4d-4c47-aaac-9426e9d9b737" xmlns:ns3="8e4cac8c-e99d-49dd-8c24-1d4caeb84b2c" targetNamespace="http://schemas.microsoft.com/office/2006/metadata/properties" ma:root="true" ma:fieldsID="a859a95caa7e12b5ac7f0eaaf76282f9" ns2:_="" ns3:_="">
    <xsd:import namespace="a1056aa5-6b4d-4c47-aaac-9426e9d9b737"/>
    <xsd:import namespace="8e4cac8c-e99d-49dd-8c24-1d4caeb84b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056aa5-6b4d-4c47-aaac-9426e9d9b7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e4cac8c-e99d-49dd-8c24-1d4caeb84b2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7052aedc-1507-4a22-9d47-87556314de20}" ma:internalName="TaxCatchAll" ma:showField="CatchAllData" ma:web="8e4cac8c-e99d-49dd-8c24-1d4caeb84b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0855719-853A-4DC5-A238-DAEEF35E81A4}">
  <ds:schemaRefs>
    <ds:schemaRef ds:uri="http://schemas.microsoft.com/office/2006/documentManagement/types"/>
    <ds:schemaRef ds:uri="http://www.w3.org/XML/1998/namespace"/>
    <ds:schemaRef ds:uri="http://purl.org/dc/terms/"/>
    <ds:schemaRef ds:uri="http://purl.org/dc/dcmitype/"/>
    <ds:schemaRef ds:uri="a1056aa5-6b4d-4c47-aaac-9426e9d9b737"/>
    <ds:schemaRef ds:uri="8e4cac8c-e99d-49dd-8c24-1d4caeb84b2c"/>
    <ds:schemaRef ds:uri="http://purl.org/dc/elements/1.1/"/>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69BFD6D7-3558-453F-9512-70B35A536527}">
  <ds:schemaRefs>
    <ds:schemaRef ds:uri="8e4cac8c-e99d-49dd-8c24-1d4caeb84b2c"/>
    <ds:schemaRef ds:uri="a1056aa5-6b4d-4c47-aaac-9426e9d9b73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111E3E3-D58F-4D27-A35D-A5DF1CD964DF}">
  <ds:schemaRefs>
    <ds:schemaRef ds:uri="http://schemas.microsoft.com/sharepoint/v3/contenttype/forms"/>
  </ds:schemaRefs>
</ds:datastoreItem>
</file>

<file path=docMetadata/LabelInfo.xml><?xml version="1.0" encoding="utf-8"?>
<clbl:labelList xmlns:clbl="http://schemas.microsoft.com/office/2020/mipLabelMetadata">
  <clbl:label id="{deff24bb-2089-4400-8c8e-f71e680378b2}" enabled="0" method="" siteId="{deff24bb-2089-4400-8c8e-f71e680378b2}" removed="1"/>
</clbl:labelList>
</file>

<file path=docProps/app.xml><?xml version="1.0" encoding="utf-8"?>
<Properties xmlns="http://schemas.openxmlformats.org/officeDocument/2006/extended-properties" xmlns:vt="http://schemas.openxmlformats.org/officeDocument/2006/docPropsVTypes">
  <TotalTime>0</TotalTime>
  <Words>7288</Words>
  <Application>Microsoft Office PowerPoint</Application>
  <PresentationFormat>Widescreen</PresentationFormat>
  <Paragraphs>496</Paragraphs>
  <Slides>33</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TDMI</dc:creator>
  <cp:lastModifiedBy>Sheridan, Jack</cp:lastModifiedBy>
  <cp:revision>2</cp:revision>
  <dcterms:created xsi:type="dcterms:W3CDTF">2026-08-04T17:57:23Z</dcterms:created>
  <dcterms:modified xsi:type="dcterms:W3CDTF">2026-10-02T13:34:26Z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0x010100C999CE80F1B44445BB5E9DE12FCAFFBF</vt:lpwstr>
  </property>
  <property fmtid="{D5CDD505-2E9C-101B-9397-08002B2CF9AE}" pid="3" name="MediaServiceImageTags">
    <vt:lpwstr/>
  </property>
</Properties>
</file>