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5F0FA9D-83C3-BFE7-255B-7091CF15ED67}">
          <p14:sldIdLst>
            <p14:sldId id="256"/>
            <p14:sldId id="257"/>
            <p14:sldId id="258"/>
            <p14:sldId id="259"/>
          </p14:sldIdLst>
        </p14:section>
        <p14:section name="Part 1 · Fabric Foundations &amp; Architecture" id="{35763E7C-0FF1-0D7A-28CA-7A6EF2BCEF0B}">
          <p14:sldIdLst>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00B458-308D-47D4-8405-ECC85C284E27}" v="9" dt="2026-10-07T20:31:58.2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eridan, Jack" userId="d0194f0e-edca-4d51-8263-e3fc5dbdcfa2" providerId="ADAL" clId="{647304D9-8AA5-40A0-A766-8E9CF048A9B0}"/>
    <pc:docChg chg="modSld delSection">
      <pc:chgData name="Sheridan, Jack" userId="d0194f0e-edca-4d51-8263-e3fc5dbdcfa2" providerId="ADAL" clId="{647304D9-8AA5-40A0-A766-8E9CF048A9B0}" dt="2026-10-07T20:31:58.256" v="8" actId="17851"/>
      <pc:docMkLst>
        <pc:docMk/>
      </pc:docMkLst>
      <pc:sldChg chg="modSp mod">
        <pc:chgData name="Sheridan, Jack" userId="d0194f0e-edca-4d51-8263-e3fc5dbdcfa2" providerId="ADAL" clId="{647304D9-8AA5-40A0-A766-8E9CF048A9B0}" dt="2026-10-07T20:31:03.195" v="5" actId="20577"/>
        <pc:sldMkLst>
          <pc:docMk/>
          <pc:sldMk cId="0" sldId="262"/>
        </pc:sldMkLst>
        <pc:spChg chg="mod">
          <ac:chgData name="Sheridan, Jack" userId="d0194f0e-edca-4d51-8263-e3fc5dbdcfa2" providerId="ADAL" clId="{647304D9-8AA5-40A0-A766-8E9CF048A9B0}" dt="2026-10-07T20:30:59.198" v="1" actId="20577"/>
          <ac:spMkLst>
            <pc:docMk/>
            <pc:sldMk cId="0" sldId="262"/>
            <ac:spMk id="1004" creationId="{00000000-0000-0000-0000-000000000000}"/>
          </ac:spMkLst>
        </pc:spChg>
        <pc:spChg chg="mod">
          <ac:chgData name="Sheridan, Jack" userId="d0194f0e-edca-4d51-8263-e3fc5dbdcfa2" providerId="ADAL" clId="{647304D9-8AA5-40A0-A766-8E9CF048A9B0}" dt="2026-10-07T20:31:00.951" v="3" actId="20577"/>
          <ac:spMkLst>
            <pc:docMk/>
            <pc:sldMk cId="0" sldId="262"/>
            <ac:spMk id="1008" creationId="{00000000-0000-0000-0000-000000000000}"/>
          </ac:spMkLst>
        </pc:spChg>
        <pc:spChg chg="mod">
          <ac:chgData name="Sheridan, Jack" userId="d0194f0e-edca-4d51-8263-e3fc5dbdcfa2" providerId="ADAL" clId="{647304D9-8AA5-40A0-A766-8E9CF048A9B0}" dt="2026-10-07T20:31:03.195" v="5" actId="20577"/>
          <ac:spMkLst>
            <pc:docMk/>
            <pc:sldMk cId="0" sldId="262"/>
            <ac:spMk id="10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2445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06 closes Day Three. Module 05 gave the room the mechanics: Git, branching, deployment pipelines and promoting a workspace. This module is the rest of the journey: everything between 'it works in DEV' and 'the business is using it in production and HCL can support it'. Frame it for the whole room: tax professionals will request, test and sign off these applications, and technologists will build them. Leadership's goal for this week is a team that can build and ship applications themselves, and this module is the part that is usually learned the hard way.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six outcomes aloud. The top row covers the path and the first three gates. The bottom row covers the approvals, the long poles and the final gate. Nobody needs to memorise the steps. The aim is that everyone knows where they are on the path, what the next gate checks, and whose clock it runs 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the two modules explicitly so nothing is taught twice. Module 05 covered the mechanics: Git, branches, pull requests, deployment pipelines and promoting between workspaces, plus the lab where attendees shipped their own workflow. Module 06 adds the rules on top of those mechanics. The pipeline from Module 05 is the same one, but now a merge is blocked until the rails pass, DEV is only done when the app answers, and production needs sign-off and closed approvals. If someone asks how to branch or promote, point back to Module 05.</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the companion material leaves off. The business builds a working model, often a single HTML file with invented data, and hands it to the builder together with a short model charter. For the tax professionals in the room: this is what you will hand over. For the technologists: this is what you will receive. The right side is the honest list. The model is not secure, not connected, not performant, holds no real data, and is not production code. Building on top of it is not allowed. It is a precise statement of what the business wants, and the job is to rebuild it properly.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mental model for the whole module. There are three systems. The process is the path: four phases and four gates. Quality control is the set of checks: some run on every change and finish in minutes, others are reviews run by another team that take weeks. Documentation is the record that leadership and planners see. The bottom strip shows where each fact lives. Workfront holds project state: gates, approvals, dates and cost classification. Azure Boards holds the engineering work items and feeds Workfront. Neither system copies the other. One pointer between two systems stays accurate, but two copies of the same fact will drift apart.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to remember. Four phases, each ending in a gate, and every gate tests something you can point at, not an opinion and not a meeting. Phase 0 belongs to the requester, usually the business. The upsize gate is where the builder gets a say. Phases 1 to 3 belong to the builder. The release loop brings the business back in for UAT and sign-off. The gates have names, not numbers, on purpose. Workfront already uses lettered gates for project governance, and reusing the same labels would suggest the two check the same thing. The next slide places the twelve TDMI steps on this frame.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links the TDMI twelve-step list the team already knows to the four gates. Read it column by column. Phase 0 is steps 2 and 3: the UI draft is the model, and the UI review with the business confirms the shape before anything gets locked in. Phase 1 is steps 1 and 4. Infra setup in Azure DevOps can start as soon as the model is accepted, and the dev build is the first deploy. Phase 2 is steps 5 to 7: the test build, the AI engine grounded against real Fabric data, and the full flow confirmed. Phase 3 is UAT, functional sign-off and the move to production. The two amber bars matter most. ESIS, step 10, is not a step you reach at the end. It is raised in phase 1 and runs alongside everything else. The HCL handoff docs, step 12, are written along the way. Those two decide the date.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gate. Before any real build starts, the model charter is tested: are all the open questions closed, and is there an out-of-scope list? For the tax professionals: this is why the builder may send your model back. It is not a rejection of the idea. It means a decision still needs to be made, and the person who owns the process should make it. For the builders: never answer an open question yourself. If you do, your guess becomes the scope, and nobody knows it was a guess. The upsize skill enforces this, which we cover in the toolkit section.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business case for the upsize gate. The charter answers purpose, users, assumptions and scope. Months later, the ESIS integration review asks for purpose, users and data types, and the risk assessment asks for use cases, value, user population and data classification. The user documentation and the UAT test cases ask for the same facts again. If the charter is closed, each of these becomes a copy-and-adapt exercise. If it is not, someone is writing them from memory under deadline, usually in the week before go-live.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Once the model is accepted, the builder's first job is reading, not coding. Four passes. List the screens, because each becomes a route. List the states, including empty, error and loading, because for some states the model is the only place anyone wrote them down. Keep the words: labels and status names are decisions the business already made, so changing one is a change request, not a tidy-up. Read the data for its shape and turn it into test fixtures, but never ship the invented rows. Point back to Day One: this is the same decomposition habit we used on the Alteryx workflows.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gate closes phase 1. The common mistake is treating a green pipeline as done. A pipeline can succeed and still deploy a placeholder, so green only tells you the steps ran. The proof is that you reached the running application in DEV and it answered. Then confirm it is your build: check the image digest and the version the app reports. For the tax professionals: when someone says 'it's deployed', the right follow-up is 'have you seen it answer?'</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Phase 2 is the build loop, where most of the time goes. Four habits. Work items live in Azure Boards and every commit references one. Significant features get their own small model and charter, so the upsize gate applies again in miniature; a bug fix or a new field does not need one. The continuous rails run on every change, which we cover next. The slow gates opened in phase 1 keep moving in the background. The scope gate closes the loop. It maps to steps 5 to 7: the test build is in TEST, the AI engine is grounded against real Fabric data, and the full flow works end to end, including errors and empty states.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 are two kinds of quality work, and they should never be drawn on the same line. On the left are the eight continuous rails. They run automatically on every change and block the merge. That is where Module 05's pull requests pick up the rules. Two of them have no threshold at all: a credential in the code or a row of production data in the repository always blocks. This matters for a tax team, because real taxpayer and entity data must never land in source control. On the right are event gates: slow reviews, each with an owner, each blocking one specific transition. The next two slides cover them.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approvals track, and it ties back to the Day One slide on who owns what. Enterprise Technology owns most of these: the BAPPID record in ServiceNow, the ESIS request, and the TEST and PROD admin consents. Technology Enablement owns the AI intake, which is required for any AI use case. ET&amp;D Messaging owns the email relay, which is easy to forget and needed before go-live for any app that sends notifications. The business owns UAT and sign-off. Three are opened in week one: BAPPID, ESIS and the AI intake. Named owners are still to be confirmed with TDMI, so attendees leave with contacts rather than just team names.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long poles decide the go-live date. ESIS is five sequential reviews: Service Management, Engineering, Security, Legal, then Operations. That is four to eight weeks, and it cannot be hurried at the end. Three other slow reviews belong in phase 1 as well: the risk assessment, email onboarding and the AI review. The AI review is the only one entirely in the build team's hands. On the right is a test for whether something is really a gate: it needs a trigger, an owner, what it blocks, and the artifact it produces. If a row in the register cannot state all four, it is either a rail or a wish. The point for planners and leadership: the date is set by when these were opened, not by how fast the team builds.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final gate. Phase 3 has four moves. Cut the release: versions are bumped together, the tag matches the manifest, and a readiness record is produced; the release-cut skill automates this. Sync the test cases from git into test management. Business users run UAT in TEST, which needs the TEST admin consent first; the process owner signs and the technical owner countersigns. Then promote the same tag to production, only when sign-off is in and every event gate is closed, and verify the running app just as you did at the DEV gate. Use the checklist on the right as the go or no-go conversation.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rule that saves a lot of rework during UAT. Test cases live in git as markdown, and test management is generated from them. Edit the markdown, not the tool. If someone does edit in the tool, which happens during a busy UAT cycle, copy the change back to git before the cycle closes. Never change a case ID or name prefix after it has been published, because the sync treats it as a new case and duplicates everything. For the business testers: if a step is wrong, raise it with the builder. The check that the sync is clean is that running it twice reports nothing changed.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12 is the handoff to HCL for support. It is the step most often left to the end, and that is why it slips. Each gate already produces part of the pack: the closed charter, the evidence that the app ran in DEV, the scan and test results, and the release record with its approvals. If the gates were done properly, the handoff pack is mostly assembly. The exact contents HCL requires should be confirmed with TDMI and Enterprise Technology before the session.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'ready to build' becomes concrete. AI-assisted development at TDMI runs on Claude Code, and every repository carries the canon: a CLAUDE.md index plus rules files that every session loads automatically. It has one version for the whole set. Nobody edits it locally; if a rule doesn't fit, raise it with the owner. The six skills map onto the path: upsize at the upsize gate, repo-setup and canon-sync in phase 1, sql-onboard when the app needs a database, release-cut and qtest-adopt in the release loop. For the tax professionals: you don't need to run these, but knowing they exist explains why builders can move quickly without skipping the standard.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plugin includes a guard: a hook that checks each command before it runs and each file path before a write. A committed settings file covers sessions without the plugin. Two rules ask for confirmation: anything carrying a production identifier, and anything that could make a resource publicly reachable. Both were already rules that needed a human decision, and the guard moves that decision to the moment of action. Four rules block outright. Be honest about the limits. It is a guard against mistakes, not a security boundary, and it says so. Platform security remains with Enterprise Technology, as we said on Day One.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Gate review exercise, about 25 minutes: 15 in pairs and 10 for the debrief. Pair a tax professional with a technologist on purpose. Several situations need both views. Use the app built in the Day Two lab, which gave a workflow inputs, a trigger and an output, so the scenario feels familiar. For each of the six situations, the pair writes three things: which gate or rail applies, whether it passes, holds or goes back, and who acts next. Expect debate on situation 3: the build may be on time, but the date has moved. Answers follow on the next slide; do not show them until most pairs are done.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answers and spend the time on disagreements. 1: send it back; the builder must not decide whether unmapped items block or warn, because that is a tax decision. 2: hold; this is the DEV gate failure described earlier. 3: the most important one. UAT cannot start without TEST consent, and ESIS adds weeks, so the date moves even though the build is on time. 4: the secret scanning rail blocks the merge outright; rotate the credential because it has been exposed. 5: copy the edit back to git before the cycle closes. 6: hold go-live; email relay is a before-go-live item and belonged in phase 1. Situations 1, 3, 4 and 6 could all have been prevented in week one: by closing the charter, opening the slow gates and letting the rails run.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habits describe a team that ships well. Read them as a checklist the room can hold each other to. None of them are about coding skill. They are about order and evidence: close the charter, open the slow gates, keep the rails green, let evidence build up as you go, keep one system of record, and verify what is actually running.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 back to the six outcomes from the start of the module and use these four sentences as the summary. Ask the room: which gate would have caught the most problems on a project you have worked on? For tax professionals the usual answer is the upsize gate, and for technologists it is the long poles. Close on the line in the bar: close the charter, open the slow gates, let the rails run, and the final assessment becomes a report rather than a scramble. Point people to the process-canon repository for the delivery map, the gate register and the skills.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0058400" cy="274320"/>
          </a:xfrm>
          <a:prstGeom prst="rect">
            <a:avLst/>
          </a:prstGeom>
          <a:noFill/>
          <a:ln/>
        </p:spPr>
        <p:txBody>
          <a:bodyPr wrap="square" rtlCol="0"/>
          <a:lstStyle>
            <a:lvl1pPr marL="0" indent="0">
              <a:buNone/>
              <a:defRPr lang="en-US" sz="1100" b="1" kern="0" spc="300" dirty="0">
                <a:solidFill>
                  <a:schemeClr val="accent1"/>
                </a:solidFill>
              </a:defRPr>
            </a:lvl1pPr>
          </a:lstStyle>
          <a:p>
            <a:pPr marL="0" indent="0">
              <a:buNone/>
            </a:pPr>
            <a:endParaRPr lang="en-US" sz="1100"/>
          </a:p>
        </p:txBody>
      </p:sp>
      <p:sp>
        <p:nvSpPr>
          <p:cNvPr id="3" name="Text 0"/>
          <p:cNvSpPr>
            <a:spLocks noGrp="1"/>
          </p:cNvSpPr>
          <p:nvPr>
            <p:ph type="title" idx="101" hasCustomPrompt="1"/>
          </p:nvPr>
        </p:nvSpPr>
        <p:spPr>
          <a:xfrm>
            <a:off x="548640" y="640080"/>
            <a:ext cx="11094415" cy="1005840"/>
          </a:xfrm>
          <a:prstGeom prst="rect">
            <a:avLst/>
          </a:prstGeom>
          <a:noFill/>
          <a:ln/>
        </p:spPr>
        <p:txBody>
          <a:bodyPr wrap="square" rtlCol="0"/>
          <a:lstStyle>
            <a:lvl1pPr marL="0" indent="0">
              <a:buNone/>
              <a:defRPr lang="en-US" sz="3200" b="1" dirty="0">
                <a:solidFill>
                  <a:schemeClr val="tx1"/>
                </a:solidFill>
              </a:defRPr>
            </a:lvl1pPr>
          </a:lstStyle>
          <a:p>
            <a:pPr marL="0" indent="0">
              <a:buNone/>
            </a:pPr>
            <a:endParaRPr lang="en-US" sz="3200"/>
          </a:p>
        </p:txBody>
      </p:sp>
      <p:sp>
        <p:nvSpPr>
          <p:cNvPr id="4" name="Text 0"/>
          <p:cNvSpPr/>
          <p:nvPr/>
        </p:nvSpPr>
        <p:spPr>
          <a:xfrm>
            <a:off x="548640" y="6428232"/>
            <a:ext cx="8229600" cy="256032"/>
          </a:xfrm>
          <a:prstGeom prst="rect">
            <a:avLst/>
          </a:prstGeom>
          <a:noFill/>
          <a:ln/>
        </p:spPr>
        <p:txBody>
          <a:bodyPr wrap="square" lIns="0" tIns="0" rIns="0" bIns="0" rtlCol="0" anchor="ctr"/>
          <a:lstStyle/>
          <a:p>
            <a:pPr marL="0" indent="0">
              <a:buNone/>
            </a:pPr>
            <a:r>
              <a:rPr lang="en-US" sz="1000">
                <a:solidFill>
                  <a:schemeClr val="tx1">
                    <a:alpha val="65000"/>
                  </a:schemeClr>
                </a:solidFill>
              </a:rPr>
              <a:t>KPMG  ·  Disney Tax Data Management &amp; Innovation  ·  Day Three: Shipping to Production</a:t>
            </a:r>
            <a:endParaRPr lang="en-US" sz="100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554480"/>
            <a:ext cx="6858000" cy="320040"/>
          </a:xfrm>
          <a:prstGeom prst="rect">
            <a:avLst/>
          </a:prstGeom>
          <a:noFill/>
          <a:ln/>
        </p:spPr>
        <p:txBody>
          <a:bodyPr wrap="square" rtlCol="0"/>
          <a:lstStyle>
            <a:lvl1pPr marL="0" indent="0">
              <a:buNone/>
              <a:defRPr lang="en-US" sz="1400" b="1" kern="0" spc="400" dirty="0">
                <a:solidFill>
                  <a:schemeClr val="accent2"/>
                </a:solidFill>
              </a:defRPr>
            </a:lvl1pPr>
          </a:lstStyle>
          <a:p>
            <a:pPr marL="0" indent="0">
              <a:buNone/>
            </a:pPr>
            <a:endParaRPr lang="en-US" sz="1400"/>
          </a:p>
        </p:txBody>
      </p:sp>
      <p:sp>
        <p:nvSpPr>
          <p:cNvPr id="3" name="Text 0"/>
          <p:cNvSpPr>
            <a:spLocks noGrp="1"/>
          </p:cNvSpPr>
          <p:nvPr>
            <p:ph type="title" idx="101" hasCustomPrompt="1"/>
          </p:nvPr>
        </p:nvSpPr>
        <p:spPr>
          <a:xfrm>
            <a:off x="731520" y="1965960"/>
            <a:ext cx="6949440" cy="2011680"/>
          </a:xfrm>
          <a:prstGeom prst="rect">
            <a:avLst/>
          </a:prstGeom>
          <a:noFill/>
          <a:ln/>
        </p:spPr>
        <p:txBody>
          <a:bodyPr wrap="square" rtlCol="0"/>
          <a:lstStyle>
            <a:lvl1pPr marL="0" indent="0">
              <a:buNone/>
              <a:defRPr lang="en-US" sz="5000" b="1" dirty="0">
                <a:solidFill>
                  <a:schemeClr val="bg1"/>
                </a:solidFill>
              </a:defRPr>
            </a:lvl1pPr>
          </a:lstStyle>
          <a:p>
            <a:pPr marL="0" indent="0">
              <a:buNone/>
            </a:pPr>
            <a:endParaRPr lang="en-US" sz="5000"/>
          </a:p>
        </p:txBody>
      </p:sp>
      <p:sp>
        <p:nvSpPr>
          <p:cNvPr id="4" name="Text 0"/>
          <p:cNvSpPr>
            <a:spLocks noGrp="1"/>
          </p:cNvSpPr>
          <p:nvPr>
            <p:ph type="body" idx="102" hasCustomPrompt="1"/>
          </p:nvPr>
        </p:nvSpPr>
        <p:spPr>
          <a:xfrm>
            <a:off x="731520" y="4160520"/>
            <a:ext cx="6675120" cy="91440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a:p>
        </p:txBody>
      </p:sp>
      <p:sp>
        <p:nvSpPr>
          <p:cNvPr id="5" name="Text 0"/>
          <p:cNvSpPr/>
          <p:nvPr/>
        </p:nvSpPr>
        <p:spPr>
          <a:xfrm>
            <a:off x="731520" y="6035040"/>
            <a:ext cx="8229600" cy="274320"/>
          </a:xfrm>
          <a:prstGeom prst="rect">
            <a:avLst/>
          </a:prstGeom>
          <a:noFill/>
          <a:ln/>
        </p:spPr>
        <p:txBody>
          <a:bodyPr wrap="square" lIns="0" tIns="0" rIns="0" bIns="0" rtlCol="0" anchor="ctr"/>
          <a:lstStyle/>
          <a:p>
            <a:pPr marL="0" indent="0">
              <a:buNone/>
            </a:pPr>
            <a:r>
              <a:rPr lang="en-US" sz="1200">
                <a:solidFill>
                  <a:schemeClr val="bg1">
                    <a:alpha val="75000"/>
                  </a:schemeClr>
                </a:solidFill>
              </a:rPr>
              <a:t>KPMG  ·  Disney Tax Data Management &amp; Innovation  ·  October 2026</a:t>
            </a:r>
            <a:endParaRPr lang="en-US"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828800"/>
            <a:ext cx="6858000" cy="320040"/>
          </a:xfrm>
          <a:prstGeom prst="rect">
            <a:avLst/>
          </a:prstGeom>
          <a:noFill/>
          <a:ln/>
        </p:spPr>
        <p:txBody>
          <a:bodyPr wrap="square" rtlCol="0"/>
          <a:lstStyle>
            <a:lvl1pPr marL="0" indent="0">
              <a:buNone/>
              <a:defRPr lang="en-US" sz="1400" b="1" kern="0" spc="400" dirty="0">
                <a:solidFill>
                  <a:schemeClr val="bg2"/>
                </a:solidFill>
              </a:defRPr>
            </a:lvl1pPr>
          </a:lstStyle>
          <a:p>
            <a:pPr marL="0" indent="0">
              <a:buNone/>
            </a:pPr>
            <a:endParaRPr lang="en-US" sz="1400"/>
          </a:p>
        </p:txBody>
      </p:sp>
      <p:sp>
        <p:nvSpPr>
          <p:cNvPr id="3" name="Text 0"/>
          <p:cNvSpPr>
            <a:spLocks noGrp="1"/>
          </p:cNvSpPr>
          <p:nvPr>
            <p:ph type="title" idx="101" hasCustomPrompt="1"/>
          </p:nvPr>
        </p:nvSpPr>
        <p:spPr>
          <a:xfrm>
            <a:off x="731520" y="2240280"/>
            <a:ext cx="6766560" cy="1737360"/>
          </a:xfrm>
          <a:prstGeom prst="rect">
            <a:avLst/>
          </a:prstGeom>
          <a:noFill/>
          <a:ln/>
        </p:spPr>
        <p:txBody>
          <a:bodyPr wrap="square" rtlCol="0"/>
          <a:lstStyle>
            <a:lvl1pPr marL="0" indent="0">
              <a:buNone/>
              <a:defRPr lang="en-US" sz="4400" b="1" dirty="0">
                <a:solidFill>
                  <a:schemeClr val="bg1"/>
                </a:solidFill>
              </a:defRPr>
            </a:lvl1pPr>
          </a:lstStyle>
          <a:p>
            <a:pPr marL="0" indent="0">
              <a:buNone/>
            </a:pPr>
            <a:endParaRPr lang="en-US" sz="4400"/>
          </a:p>
        </p:txBody>
      </p:sp>
      <p:sp>
        <p:nvSpPr>
          <p:cNvPr id="4" name="Text 0"/>
          <p:cNvSpPr>
            <a:spLocks noGrp="1"/>
          </p:cNvSpPr>
          <p:nvPr>
            <p:ph type="body" idx="102" hasCustomPrompt="1"/>
          </p:nvPr>
        </p:nvSpPr>
        <p:spPr>
          <a:xfrm>
            <a:off x="731520" y="4069080"/>
            <a:ext cx="6217920" cy="91440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a:p>
        </p:txBody>
      </p:sp>
      <p:sp>
        <p:nvSpPr>
          <p:cNvPr id="5" name="Text 0"/>
          <p:cNvSpPr/>
          <p:nvPr/>
        </p:nvSpPr>
        <p:spPr>
          <a:xfrm>
            <a:off x="548640" y="6428232"/>
            <a:ext cx="8229600" cy="256032"/>
          </a:xfrm>
          <a:prstGeom prst="rect">
            <a:avLst/>
          </a:prstGeom>
          <a:noFill/>
          <a:ln/>
        </p:spPr>
        <p:txBody>
          <a:bodyPr wrap="square" lIns="0" tIns="0" rIns="0" bIns="0" rtlCol="0" anchor="ctr"/>
          <a:lstStyle/>
          <a:p>
            <a:pPr marL="0" indent="0">
              <a:buNone/>
            </a:pPr>
            <a:r>
              <a:rPr lang="en-US" sz="1000">
                <a:solidFill>
                  <a:schemeClr val="bg1">
                    <a:alpha val="65000"/>
                  </a:schemeClr>
                </a:solidFill>
              </a:rPr>
              <a:t>KPMG  ·  Disney Tax Data Management &amp; Innovation  ·  Day Three: Shipping to Production</a:t>
            </a:r>
            <a:endParaRPr lang="en-US" sz="100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0058400" cy="274320"/>
          </a:xfrm>
          <a:prstGeom prst="rect">
            <a:avLst/>
          </a:prstGeom>
          <a:noFill/>
          <a:ln/>
        </p:spPr>
        <p:txBody>
          <a:bodyPr wrap="square" rtlCol="0"/>
          <a:lstStyle>
            <a:lvl1pPr marL="0" indent="0">
              <a:buNone/>
              <a:defRPr lang="en-US" sz="1100" b="1" kern="0" spc="300" dirty="0">
                <a:solidFill>
                  <a:schemeClr val="accent2"/>
                </a:solidFill>
              </a:defRPr>
            </a:lvl1pPr>
          </a:lstStyle>
          <a:p>
            <a:pPr marL="0" indent="0">
              <a:buNone/>
            </a:pPr>
            <a:endParaRPr lang="en-US" sz="1100"/>
          </a:p>
        </p:txBody>
      </p:sp>
      <p:sp>
        <p:nvSpPr>
          <p:cNvPr id="3" name="Text 0"/>
          <p:cNvSpPr>
            <a:spLocks noGrp="1"/>
          </p:cNvSpPr>
          <p:nvPr>
            <p:ph type="title" idx="101" hasCustomPrompt="1"/>
          </p:nvPr>
        </p:nvSpPr>
        <p:spPr>
          <a:xfrm>
            <a:off x="548640" y="640080"/>
            <a:ext cx="11094415" cy="1005840"/>
          </a:xfrm>
          <a:prstGeom prst="rect">
            <a:avLst/>
          </a:prstGeom>
          <a:noFill/>
          <a:ln/>
        </p:spPr>
        <p:txBody>
          <a:bodyPr wrap="square" rtlCol="0"/>
          <a:lstStyle>
            <a:lvl1pPr marL="0" indent="0">
              <a:buNone/>
              <a:defRPr lang="en-US" sz="3200" b="1" dirty="0">
                <a:solidFill>
                  <a:schemeClr val="bg1"/>
                </a:solidFill>
              </a:defRPr>
            </a:lvl1pPr>
          </a:lstStyle>
          <a:p>
            <a:pPr marL="0" indent="0">
              <a:buNone/>
            </a:pPr>
            <a:endParaRPr lang="en-US" sz="3200"/>
          </a:p>
        </p:txBody>
      </p:sp>
      <p:sp>
        <p:nvSpPr>
          <p:cNvPr id="4" name="Text 0"/>
          <p:cNvSpPr/>
          <p:nvPr/>
        </p:nvSpPr>
        <p:spPr>
          <a:xfrm>
            <a:off x="548640" y="6428232"/>
            <a:ext cx="8229600" cy="256032"/>
          </a:xfrm>
          <a:prstGeom prst="rect">
            <a:avLst/>
          </a:prstGeom>
          <a:noFill/>
          <a:ln/>
        </p:spPr>
        <p:txBody>
          <a:bodyPr wrap="square" lIns="0" tIns="0" rIns="0" bIns="0" rtlCol="0" anchor="ctr"/>
          <a:lstStyle/>
          <a:p>
            <a:pPr marL="0" indent="0">
              <a:buNone/>
            </a:pPr>
            <a:r>
              <a:rPr lang="en-US" sz="1000">
                <a:solidFill>
                  <a:schemeClr val="bg1">
                    <a:alpha val="65000"/>
                  </a:schemeClr>
                </a:solidFill>
              </a:rPr>
              <a:t>KPMG  ·  Disney Tax Data Management &amp; Innovation  ·  Day Three: Shipping to Production</a:t>
            </a:r>
            <a:endParaRPr lang="en-US" sz="100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1"/>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DAY THREE · MODULE 06</a:t>
            </a:r>
          </a:p>
        </p:txBody>
      </p:sp>
      <p:sp>
        <p:nvSpPr>
          <p:cNvPr id="3" name="Title 2"/>
          <p:cNvSpPr>
            <a:spLocks noGrp="1"/>
          </p:cNvSpPr>
          <p:nvPr>
            <p:ph type="title" idx="101"/>
          </p:nvPr>
        </p:nvSpPr>
        <p:spPr/>
        <p:txBody>
          <a:bodyPr/>
          <a:lstStyle/>
          <a:p>
            <a:pPr algn="l"/>
            <a:r>
              <a:t>Taking Applications to Production</a:t>
            </a:r>
          </a:p>
        </p:txBody>
      </p:sp>
      <p:sp>
        <p:nvSpPr>
          <p:cNvPr id="4" name="Text Placeholder 3"/>
          <p:cNvSpPr>
            <a:spLocks noGrp="1"/>
          </p:cNvSpPr>
          <p:nvPr>
            <p:ph type="body" idx="102"/>
          </p:nvPr>
        </p:nvSpPr>
        <p:spPr/>
        <p:txBody>
          <a:bodyPr/>
          <a:lstStyle/>
          <a:p>
            <a:pPr algn="l"/>
            <a:r>
              <a:t>Four gates and twelve steps between a working build and a supported production app, and who owns each one.</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a:t>
            </a:fld>
            <a:endParaRPr lang="en-US" b="0"/>
          </a:p>
        </p:txBody>
      </p:sp>
      <p:sp>
        <p:nvSpPr>
          <p:cNvPr id="1000" name="TextBox 999"/>
          <p:cNvSpPr txBox="1"/>
          <p:nvPr/>
        </p:nvSpPr>
        <p:spPr>
          <a:xfrm>
            <a:off x="7498079" y="822960"/>
            <a:ext cx="4206240" cy="2926080"/>
          </a:xfrm>
          <a:prstGeom prst="rect">
            <a:avLst/>
          </a:prstGeom>
          <a:noFill/>
        </p:spPr>
        <p:txBody>
          <a:bodyPr wrap="square" lIns="0" tIns="0" rIns="0" bIns="0" anchor="t">
            <a:spAutoFit/>
          </a:bodyPr>
          <a:lstStyle/>
          <a:p>
            <a:pPr algn="r"/>
            <a:r>
              <a:rPr sz="16000" b="1" i="0">
                <a:solidFill>
                  <a:srgbClr val="2E5CB0"/>
                </a:solidFill>
                <a:latin typeface="+mj-lt"/>
              </a:rPr>
              <a:t>06</a:t>
            </a:r>
          </a:p>
        </p:txBody>
      </p:sp>
      <p:sp>
        <p:nvSpPr>
          <p:cNvPr id="1001" name="TextBox 1000"/>
          <p:cNvSpPr txBox="1"/>
          <p:nvPr/>
        </p:nvSpPr>
        <p:spPr>
          <a:xfrm>
            <a:off x="7680960" y="4023360"/>
            <a:ext cx="3931920" cy="1463040"/>
          </a:xfrm>
          <a:prstGeom prst="rect">
            <a:avLst/>
          </a:prstGeom>
          <a:noFill/>
        </p:spPr>
        <p:txBody>
          <a:bodyPr wrap="square" lIns="0" tIns="0" rIns="0" bIns="0" anchor="t">
            <a:spAutoFit/>
          </a:bodyPr>
          <a:lstStyle/>
          <a:p>
            <a:pPr>
              <a:spcAft>
                <a:spcPts val="600"/>
              </a:spcAft>
            </a:pPr>
            <a:r>
              <a:rPr sz="1500" b="0" i="0">
                <a:solidFill>
                  <a:srgbClr val="FFFFFF"/>
                </a:solidFill>
              </a:rPr>
              <a:t>1   The Paved Path</a:t>
            </a:r>
          </a:p>
          <a:p>
            <a:pPr>
              <a:spcAft>
                <a:spcPts val="600"/>
              </a:spcAft>
            </a:pPr>
            <a:r>
              <a:rPr sz="1500" b="0" i="0">
                <a:solidFill>
                  <a:srgbClr val="FFFFFF"/>
                </a:solidFill>
              </a:rPr>
              <a:t>2   Who you need, and when</a:t>
            </a:r>
          </a:p>
          <a:p>
            <a:pPr>
              <a:spcAft>
                <a:spcPts val="600"/>
              </a:spcAft>
            </a:pPr>
            <a:r>
              <a:rPr sz="1500" b="0" i="0">
                <a:solidFill>
                  <a:srgbClr val="FFFFFF"/>
                </a:solidFill>
              </a:rPr>
              <a:t>3   The long poles</a:t>
            </a:r>
          </a:p>
          <a:p>
            <a:pPr>
              <a:spcAft>
                <a:spcPts val="600"/>
              </a:spcAft>
            </a:pPr>
            <a:r>
              <a:rPr sz="1500" b="0" i="0">
                <a:solidFill>
                  <a:srgbClr val="FFFFFF"/>
                </a:solidFill>
              </a:rPr>
              <a:t>4   UAT through to go-live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MODULE 06 · TODAY</a:t>
            </a:r>
          </a:p>
        </p:txBody>
      </p:sp>
      <p:sp>
        <p:nvSpPr>
          <p:cNvPr id="3" name="Title 2"/>
          <p:cNvSpPr>
            <a:spLocks noGrp="1"/>
          </p:cNvSpPr>
          <p:nvPr>
            <p:ph type="title" idx="101"/>
          </p:nvPr>
        </p:nvSpPr>
        <p:spPr/>
        <p:txBody>
          <a:bodyPr/>
          <a:lstStyle/>
          <a:p>
            <a:pPr algn="l"/>
            <a:r>
              <a:t>By the end of this module you can do six things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a:t>
            </a:fld>
            <a:endParaRPr lang="en-US" b="0"/>
          </a:p>
        </p:txBody>
      </p:sp>
      <p:sp>
        <p:nvSpPr>
          <p:cNvPr id="1000" name="Rounded Rectangle 999"/>
          <p:cNvSpPr/>
          <p:nvPr/>
        </p:nvSpPr>
        <p:spPr>
          <a:xfrm>
            <a:off x="548640" y="1783080"/>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Rounded Rectangle 1000"/>
          <p:cNvSpPr/>
          <p:nvPr/>
        </p:nvSpPr>
        <p:spPr>
          <a:xfrm>
            <a:off x="777240" y="201168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77240" y="2011680"/>
            <a:ext cx="457200" cy="457200"/>
          </a:xfrm>
          <a:prstGeom prst="rect">
            <a:avLst/>
          </a:prstGeom>
          <a:noFill/>
        </p:spPr>
        <p:txBody>
          <a:bodyPr wrap="square" lIns="0" tIns="0" rIns="0" bIns="0" anchor="ctr">
            <a:spAutoFit/>
          </a:bodyPr>
          <a:lstStyle/>
          <a:p>
            <a:pPr algn="ctr"/>
            <a:r>
              <a:rPr sz="2000" b="1" i="0">
                <a:solidFill>
                  <a:srgbClr val="FFFFFF"/>
                </a:solidFill>
                <a:latin typeface="+mj-lt"/>
              </a:rPr>
              <a:t>1</a:t>
            </a:r>
          </a:p>
        </p:txBody>
      </p:sp>
      <p:sp>
        <p:nvSpPr>
          <p:cNvPr id="1003" name="TextBox 1002"/>
          <p:cNvSpPr txBox="1"/>
          <p:nvPr/>
        </p:nvSpPr>
        <p:spPr>
          <a:xfrm>
            <a:off x="1417319" y="2103120"/>
            <a:ext cx="2651760" cy="228600"/>
          </a:xfrm>
          <a:prstGeom prst="rect">
            <a:avLst/>
          </a:prstGeom>
          <a:noFill/>
        </p:spPr>
        <p:txBody>
          <a:bodyPr wrap="square" lIns="0" tIns="0" rIns="0" bIns="0" anchor="t">
            <a:spAutoFit/>
          </a:bodyPr>
          <a:lstStyle/>
          <a:p>
            <a:r>
              <a:rPr sz="950" b="1" i="0" spc="200">
                <a:solidFill>
                  <a:srgbClr val="1E49E2"/>
                </a:solidFill>
              </a:rPr>
              <a:t>THE PAVED PATH</a:t>
            </a:r>
          </a:p>
        </p:txBody>
      </p:sp>
      <p:sp>
        <p:nvSpPr>
          <p:cNvPr id="1004" name="TextBox 1003"/>
          <p:cNvSpPr txBox="1"/>
          <p:nvPr/>
        </p:nvSpPr>
        <p:spPr>
          <a:xfrm>
            <a:off x="777240" y="2606040"/>
            <a:ext cx="3154680" cy="320040"/>
          </a:xfrm>
          <a:prstGeom prst="rect">
            <a:avLst/>
          </a:prstGeom>
          <a:noFill/>
        </p:spPr>
        <p:txBody>
          <a:bodyPr wrap="square" lIns="0" tIns="0" rIns="0" bIns="0" anchor="t">
            <a:spAutoFit/>
          </a:bodyPr>
          <a:lstStyle/>
          <a:p>
            <a:r>
              <a:rPr sz="1700" b="1" i="0">
                <a:solidFill>
                  <a:srgbClr val="0B1F3A"/>
                </a:solidFill>
                <a:latin typeface="+mj-lt"/>
              </a:rPr>
              <a:t>Place any step on the path</a:t>
            </a:r>
          </a:p>
        </p:txBody>
      </p:sp>
      <p:sp>
        <p:nvSpPr>
          <p:cNvPr id="1005" name="TextBox 1004"/>
          <p:cNvSpPr txBox="1"/>
          <p:nvPr/>
        </p:nvSpPr>
        <p:spPr>
          <a:xfrm>
            <a:off x="777240" y="2971800"/>
            <a:ext cx="3154680" cy="594360"/>
          </a:xfrm>
          <a:prstGeom prst="rect">
            <a:avLst/>
          </a:prstGeom>
          <a:noFill/>
        </p:spPr>
        <p:txBody>
          <a:bodyPr wrap="square" lIns="0" tIns="0" rIns="0" bIns="0" anchor="t">
            <a:spAutoFit/>
          </a:bodyPr>
          <a:lstStyle/>
          <a:p>
            <a:r>
              <a:rPr sz="1300" b="0" i="0">
                <a:solidFill>
                  <a:srgbClr val="0B1F3A"/>
                </a:solidFill>
              </a:rPr>
              <a:t>Name the four phases, the gate that closes each, and where the twelve steps fall.</a:t>
            </a:r>
          </a:p>
        </p:txBody>
      </p:sp>
      <p:sp>
        <p:nvSpPr>
          <p:cNvPr id="1006" name="Rounded Rectangle 1005"/>
          <p:cNvSpPr/>
          <p:nvPr/>
        </p:nvSpPr>
        <p:spPr>
          <a:xfrm>
            <a:off x="4297679" y="1783080"/>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ounded Rectangle 1006"/>
          <p:cNvSpPr/>
          <p:nvPr/>
        </p:nvSpPr>
        <p:spPr>
          <a:xfrm>
            <a:off x="4526279" y="201168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4526279" y="2011680"/>
            <a:ext cx="457200" cy="457200"/>
          </a:xfrm>
          <a:prstGeom prst="rect">
            <a:avLst/>
          </a:prstGeom>
          <a:noFill/>
        </p:spPr>
        <p:txBody>
          <a:bodyPr wrap="square" lIns="0" tIns="0" rIns="0" bIns="0" anchor="ctr">
            <a:spAutoFit/>
          </a:bodyPr>
          <a:lstStyle/>
          <a:p>
            <a:pPr algn="ctr"/>
            <a:r>
              <a:rPr sz="2000" b="1" i="0">
                <a:solidFill>
                  <a:srgbClr val="FFFFFF"/>
                </a:solidFill>
                <a:latin typeface="+mj-lt"/>
              </a:rPr>
              <a:t>2</a:t>
            </a:r>
          </a:p>
        </p:txBody>
      </p:sp>
      <p:sp>
        <p:nvSpPr>
          <p:cNvPr id="1009" name="TextBox 1008"/>
          <p:cNvSpPr txBox="1"/>
          <p:nvPr/>
        </p:nvSpPr>
        <p:spPr>
          <a:xfrm>
            <a:off x="5166359" y="2103120"/>
            <a:ext cx="2651760" cy="228600"/>
          </a:xfrm>
          <a:prstGeom prst="rect">
            <a:avLst/>
          </a:prstGeom>
          <a:noFill/>
        </p:spPr>
        <p:txBody>
          <a:bodyPr wrap="square" lIns="0" tIns="0" rIns="0" bIns="0" anchor="t">
            <a:spAutoFit/>
          </a:bodyPr>
          <a:lstStyle/>
          <a:p>
            <a:r>
              <a:rPr sz="950" b="1" i="0" spc="200">
                <a:solidFill>
                  <a:srgbClr val="1E49E2"/>
                </a:solidFill>
              </a:rPr>
              <a:t>THE UPSIZE GATE</a:t>
            </a:r>
          </a:p>
        </p:txBody>
      </p:sp>
      <p:sp>
        <p:nvSpPr>
          <p:cNvPr id="1010" name="TextBox 1009"/>
          <p:cNvSpPr txBox="1"/>
          <p:nvPr/>
        </p:nvSpPr>
        <p:spPr>
          <a:xfrm>
            <a:off x="4526279" y="2606040"/>
            <a:ext cx="3154680" cy="320040"/>
          </a:xfrm>
          <a:prstGeom prst="rect">
            <a:avLst/>
          </a:prstGeom>
          <a:noFill/>
        </p:spPr>
        <p:txBody>
          <a:bodyPr wrap="square" lIns="0" tIns="0" rIns="0" bIns="0" anchor="t">
            <a:spAutoFit/>
          </a:bodyPr>
          <a:lstStyle/>
          <a:p>
            <a:r>
              <a:rPr sz="1700" b="1" i="0">
                <a:solidFill>
                  <a:srgbClr val="0B1F3A"/>
                </a:solidFill>
                <a:latin typeface="+mj-lt"/>
              </a:rPr>
              <a:t>Accept or refuse a model</a:t>
            </a:r>
          </a:p>
        </p:txBody>
      </p:sp>
      <p:sp>
        <p:nvSpPr>
          <p:cNvPr id="1011" name="TextBox 1010"/>
          <p:cNvSpPr txBox="1"/>
          <p:nvPr/>
        </p:nvSpPr>
        <p:spPr>
          <a:xfrm>
            <a:off x="4526279" y="2971800"/>
            <a:ext cx="3154680" cy="594360"/>
          </a:xfrm>
          <a:prstGeom prst="rect">
            <a:avLst/>
          </a:prstGeom>
          <a:noFill/>
        </p:spPr>
        <p:txBody>
          <a:bodyPr wrap="square" lIns="0" tIns="0" rIns="0" bIns="0" anchor="t">
            <a:spAutoFit/>
          </a:bodyPr>
          <a:lstStyle/>
          <a:p>
            <a:r>
              <a:rPr sz="1300" b="0" i="0">
                <a:solidFill>
                  <a:srgbClr val="0B1F3A"/>
                </a:solidFill>
              </a:rPr>
              <a:t>Test a model charter, and send it back when a question is still open.</a:t>
            </a:r>
          </a:p>
        </p:txBody>
      </p:sp>
      <p:sp>
        <p:nvSpPr>
          <p:cNvPr id="1012" name="Rounded Rectangle 1011"/>
          <p:cNvSpPr/>
          <p:nvPr/>
        </p:nvSpPr>
        <p:spPr>
          <a:xfrm>
            <a:off x="8046719" y="1783080"/>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Rounded Rectangle 1012"/>
          <p:cNvSpPr/>
          <p:nvPr/>
        </p:nvSpPr>
        <p:spPr>
          <a:xfrm>
            <a:off x="8275319" y="201168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TextBox 1013"/>
          <p:cNvSpPr txBox="1"/>
          <p:nvPr/>
        </p:nvSpPr>
        <p:spPr>
          <a:xfrm>
            <a:off x="8275319" y="2011680"/>
            <a:ext cx="457200" cy="457200"/>
          </a:xfrm>
          <a:prstGeom prst="rect">
            <a:avLst/>
          </a:prstGeom>
          <a:noFill/>
        </p:spPr>
        <p:txBody>
          <a:bodyPr wrap="square" lIns="0" tIns="0" rIns="0" bIns="0" anchor="ctr">
            <a:spAutoFit/>
          </a:bodyPr>
          <a:lstStyle/>
          <a:p>
            <a:pPr algn="ctr"/>
            <a:r>
              <a:rPr sz="2000" b="1" i="0">
                <a:solidFill>
                  <a:srgbClr val="FFFFFF"/>
                </a:solidFill>
                <a:latin typeface="+mj-lt"/>
              </a:rPr>
              <a:t>3</a:t>
            </a:r>
          </a:p>
        </p:txBody>
      </p:sp>
      <p:sp>
        <p:nvSpPr>
          <p:cNvPr id="1015" name="TextBox 1014"/>
          <p:cNvSpPr txBox="1"/>
          <p:nvPr/>
        </p:nvSpPr>
        <p:spPr>
          <a:xfrm>
            <a:off x="8915399" y="2103120"/>
            <a:ext cx="2651760" cy="228600"/>
          </a:xfrm>
          <a:prstGeom prst="rect">
            <a:avLst/>
          </a:prstGeom>
          <a:noFill/>
        </p:spPr>
        <p:txBody>
          <a:bodyPr wrap="square" lIns="0" tIns="0" rIns="0" bIns="0" anchor="t">
            <a:spAutoFit/>
          </a:bodyPr>
          <a:lstStyle/>
          <a:p>
            <a:r>
              <a:rPr sz="950" b="1" i="0" spc="200">
                <a:solidFill>
                  <a:srgbClr val="1E49E2"/>
                </a:solidFill>
              </a:rPr>
              <a:t>THE DEV AND SCOPE GATES</a:t>
            </a:r>
          </a:p>
        </p:txBody>
      </p:sp>
      <p:sp>
        <p:nvSpPr>
          <p:cNvPr id="1016" name="TextBox 1015"/>
          <p:cNvSpPr txBox="1"/>
          <p:nvPr/>
        </p:nvSpPr>
        <p:spPr>
          <a:xfrm>
            <a:off x="8275319" y="2606040"/>
            <a:ext cx="3154680" cy="320040"/>
          </a:xfrm>
          <a:prstGeom prst="rect">
            <a:avLst/>
          </a:prstGeom>
          <a:noFill/>
        </p:spPr>
        <p:txBody>
          <a:bodyPr wrap="square" lIns="0" tIns="0" rIns="0" bIns="0" anchor="t">
            <a:spAutoFit/>
          </a:bodyPr>
          <a:lstStyle/>
          <a:p>
            <a:r>
              <a:rPr sz="1700" b="1" i="0">
                <a:solidFill>
                  <a:srgbClr val="0B1F3A"/>
                </a:solidFill>
                <a:latin typeface="+mj-lt"/>
              </a:rPr>
              <a:t>Prove it, don't assume it</a:t>
            </a:r>
          </a:p>
        </p:txBody>
      </p:sp>
      <p:sp>
        <p:nvSpPr>
          <p:cNvPr id="1017" name="TextBox 1016"/>
          <p:cNvSpPr txBox="1"/>
          <p:nvPr/>
        </p:nvSpPr>
        <p:spPr>
          <a:xfrm>
            <a:off x="8275319" y="2971800"/>
            <a:ext cx="3154680" cy="594360"/>
          </a:xfrm>
          <a:prstGeom prst="rect">
            <a:avLst/>
          </a:prstGeom>
          <a:noFill/>
        </p:spPr>
        <p:txBody>
          <a:bodyPr wrap="square" lIns="0" tIns="0" rIns="0" bIns="0" anchor="t">
            <a:spAutoFit/>
          </a:bodyPr>
          <a:lstStyle/>
          <a:p>
            <a:r>
              <a:rPr sz="1300" b="0" i="0">
                <a:solidFill>
                  <a:srgbClr val="0B1F3A"/>
                </a:solidFill>
              </a:rPr>
              <a:t>Show that the running app answers, and that every state in the model is built.</a:t>
            </a:r>
          </a:p>
        </p:txBody>
      </p:sp>
      <p:sp>
        <p:nvSpPr>
          <p:cNvPr id="1018" name="Rounded Rectangle 1017"/>
          <p:cNvSpPr/>
          <p:nvPr/>
        </p:nvSpPr>
        <p:spPr>
          <a:xfrm>
            <a:off x="548640" y="3749039"/>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Rounded Rectangle 1018"/>
          <p:cNvSpPr/>
          <p:nvPr/>
        </p:nvSpPr>
        <p:spPr>
          <a:xfrm>
            <a:off x="777240" y="3977639"/>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TextBox 1019"/>
          <p:cNvSpPr txBox="1"/>
          <p:nvPr/>
        </p:nvSpPr>
        <p:spPr>
          <a:xfrm>
            <a:off x="777240" y="3977639"/>
            <a:ext cx="457200" cy="457200"/>
          </a:xfrm>
          <a:prstGeom prst="rect">
            <a:avLst/>
          </a:prstGeom>
          <a:noFill/>
        </p:spPr>
        <p:txBody>
          <a:bodyPr wrap="square" lIns="0" tIns="0" rIns="0" bIns="0" anchor="ctr">
            <a:spAutoFit/>
          </a:bodyPr>
          <a:lstStyle/>
          <a:p>
            <a:pPr algn="ctr"/>
            <a:r>
              <a:rPr sz="2000" b="1" i="0">
                <a:solidFill>
                  <a:srgbClr val="FFFFFF"/>
                </a:solidFill>
                <a:latin typeface="+mj-lt"/>
              </a:rPr>
              <a:t>4</a:t>
            </a:r>
          </a:p>
        </p:txBody>
      </p:sp>
      <p:sp>
        <p:nvSpPr>
          <p:cNvPr id="1021" name="TextBox 1020"/>
          <p:cNvSpPr txBox="1"/>
          <p:nvPr/>
        </p:nvSpPr>
        <p:spPr>
          <a:xfrm>
            <a:off x="1417319" y="4069079"/>
            <a:ext cx="2651760" cy="228600"/>
          </a:xfrm>
          <a:prstGeom prst="rect">
            <a:avLst/>
          </a:prstGeom>
          <a:noFill/>
        </p:spPr>
        <p:txBody>
          <a:bodyPr wrap="square" lIns="0" tIns="0" rIns="0" bIns="0" anchor="t">
            <a:spAutoFit/>
          </a:bodyPr>
          <a:lstStyle/>
          <a:p>
            <a:r>
              <a:rPr sz="950" b="1" i="0" spc="200">
                <a:solidFill>
                  <a:srgbClr val="1E49E2"/>
                </a:solidFill>
              </a:rPr>
              <a:t>WHO YOU NEED</a:t>
            </a:r>
          </a:p>
        </p:txBody>
      </p:sp>
      <p:sp>
        <p:nvSpPr>
          <p:cNvPr id="1022" name="TextBox 1021"/>
          <p:cNvSpPr txBox="1"/>
          <p:nvPr/>
        </p:nvSpPr>
        <p:spPr>
          <a:xfrm>
            <a:off x="777240" y="4572000"/>
            <a:ext cx="3154680" cy="320040"/>
          </a:xfrm>
          <a:prstGeom prst="rect">
            <a:avLst/>
          </a:prstGeom>
          <a:noFill/>
        </p:spPr>
        <p:txBody>
          <a:bodyPr wrap="square" lIns="0" tIns="0" rIns="0" bIns="0" anchor="t">
            <a:spAutoFit/>
          </a:bodyPr>
          <a:lstStyle/>
          <a:p>
            <a:r>
              <a:rPr sz="1700" b="1" i="0">
                <a:solidFill>
                  <a:srgbClr val="0B1F3A"/>
                </a:solidFill>
                <a:latin typeface="+mj-lt"/>
              </a:rPr>
              <a:t>Open the right approvals</a:t>
            </a:r>
          </a:p>
        </p:txBody>
      </p:sp>
      <p:sp>
        <p:nvSpPr>
          <p:cNvPr id="1023" name="TextBox 1022"/>
          <p:cNvSpPr txBox="1"/>
          <p:nvPr/>
        </p:nvSpPr>
        <p:spPr>
          <a:xfrm>
            <a:off x="777240" y="4937759"/>
            <a:ext cx="3154680" cy="594360"/>
          </a:xfrm>
          <a:prstGeom prst="rect">
            <a:avLst/>
          </a:prstGeom>
          <a:noFill/>
        </p:spPr>
        <p:txBody>
          <a:bodyPr wrap="square" lIns="0" tIns="0" rIns="0" bIns="0" anchor="t">
            <a:spAutoFit/>
          </a:bodyPr>
          <a:lstStyle/>
          <a:p>
            <a:r>
              <a:rPr sz="1300" b="0" i="0">
                <a:solidFill>
                  <a:srgbClr val="0B1F3A"/>
                </a:solidFill>
              </a:rPr>
              <a:t>List the approvals each app needs and who owns them.</a:t>
            </a:r>
          </a:p>
        </p:txBody>
      </p:sp>
      <p:sp>
        <p:nvSpPr>
          <p:cNvPr id="1024" name="Rounded Rectangle 1023"/>
          <p:cNvSpPr/>
          <p:nvPr/>
        </p:nvSpPr>
        <p:spPr>
          <a:xfrm>
            <a:off x="4297679" y="3749039"/>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Rounded Rectangle 1024"/>
          <p:cNvSpPr/>
          <p:nvPr/>
        </p:nvSpPr>
        <p:spPr>
          <a:xfrm>
            <a:off x="4526279" y="3977639"/>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TextBox 1025"/>
          <p:cNvSpPr txBox="1"/>
          <p:nvPr/>
        </p:nvSpPr>
        <p:spPr>
          <a:xfrm>
            <a:off x="4526279" y="3977639"/>
            <a:ext cx="457200" cy="457200"/>
          </a:xfrm>
          <a:prstGeom prst="rect">
            <a:avLst/>
          </a:prstGeom>
          <a:noFill/>
        </p:spPr>
        <p:txBody>
          <a:bodyPr wrap="square" lIns="0" tIns="0" rIns="0" bIns="0" anchor="ctr">
            <a:spAutoFit/>
          </a:bodyPr>
          <a:lstStyle/>
          <a:p>
            <a:pPr algn="ctr"/>
            <a:r>
              <a:rPr sz="2000" b="1" i="0">
                <a:solidFill>
                  <a:srgbClr val="FFFFFF"/>
                </a:solidFill>
                <a:latin typeface="+mj-lt"/>
              </a:rPr>
              <a:t>5</a:t>
            </a:r>
          </a:p>
        </p:txBody>
      </p:sp>
      <p:sp>
        <p:nvSpPr>
          <p:cNvPr id="1027" name="TextBox 1026"/>
          <p:cNvSpPr txBox="1"/>
          <p:nvPr/>
        </p:nvSpPr>
        <p:spPr>
          <a:xfrm>
            <a:off x="5166359" y="4069079"/>
            <a:ext cx="2651760" cy="228600"/>
          </a:xfrm>
          <a:prstGeom prst="rect">
            <a:avLst/>
          </a:prstGeom>
          <a:noFill/>
        </p:spPr>
        <p:txBody>
          <a:bodyPr wrap="square" lIns="0" tIns="0" rIns="0" bIns="0" anchor="t">
            <a:spAutoFit/>
          </a:bodyPr>
          <a:lstStyle/>
          <a:p>
            <a:r>
              <a:rPr sz="950" b="1" i="0" spc="200">
                <a:solidFill>
                  <a:srgbClr val="1E49E2"/>
                </a:solidFill>
              </a:rPr>
              <a:t>THE LONG POLES</a:t>
            </a:r>
          </a:p>
        </p:txBody>
      </p:sp>
      <p:sp>
        <p:nvSpPr>
          <p:cNvPr id="1028" name="TextBox 1027"/>
          <p:cNvSpPr txBox="1"/>
          <p:nvPr/>
        </p:nvSpPr>
        <p:spPr>
          <a:xfrm>
            <a:off x="4526279" y="4572000"/>
            <a:ext cx="3154680" cy="320040"/>
          </a:xfrm>
          <a:prstGeom prst="rect">
            <a:avLst/>
          </a:prstGeom>
          <a:noFill/>
        </p:spPr>
        <p:txBody>
          <a:bodyPr wrap="square" lIns="0" tIns="0" rIns="0" bIns="0" anchor="t">
            <a:spAutoFit/>
          </a:bodyPr>
          <a:lstStyle/>
          <a:p>
            <a:r>
              <a:rPr sz="1700" b="1" i="0">
                <a:solidFill>
                  <a:srgbClr val="0B1F3A"/>
                </a:solidFill>
                <a:latin typeface="+mj-lt"/>
              </a:rPr>
              <a:t>Protect the go-live date</a:t>
            </a:r>
          </a:p>
        </p:txBody>
      </p:sp>
      <p:sp>
        <p:nvSpPr>
          <p:cNvPr id="1029" name="TextBox 1028"/>
          <p:cNvSpPr txBox="1"/>
          <p:nvPr/>
        </p:nvSpPr>
        <p:spPr>
          <a:xfrm>
            <a:off x="4526279" y="4937759"/>
            <a:ext cx="3154680" cy="594360"/>
          </a:xfrm>
          <a:prstGeom prst="rect">
            <a:avLst/>
          </a:prstGeom>
          <a:noFill/>
        </p:spPr>
        <p:txBody>
          <a:bodyPr wrap="square" lIns="0" tIns="0" rIns="0" bIns="0" anchor="t">
            <a:spAutoFit/>
          </a:bodyPr>
          <a:lstStyle/>
          <a:p>
            <a:r>
              <a:rPr sz="1300" b="0" i="0">
                <a:solidFill>
                  <a:srgbClr val="0B1F3A"/>
                </a:solidFill>
              </a:rPr>
              <a:t>Explain why ESIS and the other slow reviews have to start in week one.</a:t>
            </a:r>
          </a:p>
        </p:txBody>
      </p:sp>
      <p:sp>
        <p:nvSpPr>
          <p:cNvPr id="1030" name="Rounded Rectangle 1029"/>
          <p:cNvSpPr/>
          <p:nvPr/>
        </p:nvSpPr>
        <p:spPr>
          <a:xfrm>
            <a:off x="8046719" y="3749039"/>
            <a:ext cx="3593592" cy="18288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1" name="Rounded Rectangle 1030"/>
          <p:cNvSpPr/>
          <p:nvPr/>
        </p:nvSpPr>
        <p:spPr>
          <a:xfrm>
            <a:off x="8275319" y="3977639"/>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TextBox 1031"/>
          <p:cNvSpPr txBox="1"/>
          <p:nvPr/>
        </p:nvSpPr>
        <p:spPr>
          <a:xfrm>
            <a:off x="8275319" y="3977639"/>
            <a:ext cx="457200" cy="457200"/>
          </a:xfrm>
          <a:prstGeom prst="rect">
            <a:avLst/>
          </a:prstGeom>
          <a:noFill/>
        </p:spPr>
        <p:txBody>
          <a:bodyPr wrap="square" lIns="0" tIns="0" rIns="0" bIns="0" anchor="ctr">
            <a:spAutoFit/>
          </a:bodyPr>
          <a:lstStyle/>
          <a:p>
            <a:pPr algn="ctr"/>
            <a:r>
              <a:rPr sz="2000" b="1" i="0">
                <a:solidFill>
                  <a:srgbClr val="FFFFFF"/>
                </a:solidFill>
                <a:latin typeface="+mj-lt"/>
              </a:rPr>
              <a:t>6</a:t>
            </a:r>
          </a:p>
        </p:txBody>
      </p:sp>
      <p:sp>
        <p:nvSpPr>
          <p:cNvPr id="1033" name="TextBox 1032"/>
          <p:cNvSpPr txBox="1"/>
          <p:nvPr/>
        </p:nvSpPr>
        <p:spPr>
          <a:xfrm>
            <a:off x="8915399" y="4069079"/>
            <a:ext cx="2651760" cy="228600"/>
          </a:xfrm>
          <a:prstGeom prst="rect">
            <a:avLst/>
          </a:prstGeom>
          <a:noFill/>
        </p:spPr>
        <p:txBody>
          <a:bodyPr wrap="square" lIns="0" tIns="0" rIns="0" bIns="0" anchor="t">
            <a:spAutoFit/>
          </a:bodyPr>
          <a:lstStyle/>
          <a:p>
            <a:r>
              <a:rPr sz="950" b="1" i="0" spc="200">
                <a:solidFill>
                  <a:srgbClr val="1E49E2"/>
                </a:solidFill>
              </a:rPr>
              <a:t>THE GO-LIVE GATE</a:t>
            </a:r>
          </a:p>
        </p:txBody>
      </p:sp>
      <p:sp>
        <p:nvSpPr>
          <p:cNvPr id="1034" name="TextBox 1033"/>
          <p:cNvSpPr txBox="1"/>
          <p:nvPr/>
        </p:nvSpPr>
        <p:spPr>
          <a:xfrm>
            <a:off x="8275319" y="4572000"/>
            <a:ext cx="3154680" cy="320040"/>
          </a:xfrm>
          <a:prstGeom prst="rect">
            <a:avLst/>
          </a:prstGeom>
          <a:noFill/>
        </p:spPr>
        <p:txBody>
          <a:bodyPr wrap="square" lIns="0" tIns="0" rIns="0" bIns="0" anchor="t">
            <a:spAutoFit/>
          </a:bodyPr>
          <a:lstStyle/>
          <a:p>
            <a:r>
              <a:rPr sz="1700" b="1" i="0">
                <a:solidFill>
                  <a:srgbClr val="0B1F3A"/>
                </a:solidFill>
                <a:latin typeface="+mj-lt"/>
              </a:rPr>
              <a:t>Ship and hand off</a:t>
            </a:r>
          </a:p>
        </p:txBody>
      </p:sp>
      <p:sp>
        <p:nvSpPr>
          <p:cNvPr id="1035" name="TextBox 1034"/>
          <p:cNvSpPr txBox="1"/>
          <p:nvPr/>
        </p:nvSpPr>
        <p:spPr>
          <a:xfrm>
            <a:off x="8275319" y="4937759"/>
            <a:ext cx="3154680" cy="594360"/>
          </a:xfrm>
          <a:prstGeom prst="rect">
            <a:avLst/>
          </a:prstGeom>
          <a:noFill/>
        </p:spPr>
        <p:txBody>
          <a:bodyPr wrap="square" lIns="0" tIns="0" rIns="0" bIns="0" anchor="t">
            <a:spAutoFit/>
          </a:bodyPr>
          <a:lstStyle/>
          <a:p>
            <a:r>
              <a:rPr sz="1300" b="0" i="0">
                <a:solidFill>
                  <a:srgbClr val="0B1F3A"/>
                </a:solidFill>
              </a:rPr>
              <a:t>Run UAT in TEST, get sign-off, promote and hand off to HCL.</a:t>
            </a:r>
          </a:p>
        </p:txBody>
      </p:sp>
      <p:sp>
        <p:nvSpPr>
          <p:cNvPr id="1036" name="TextBox 1035"/>
          <p:cNvSpPr txBox="1"/>
          <p:nvPr/>
        </p:nvSpPr>
        <p:spPr>
          <a:xfrm>
            <a:off x="548640" y="5806440"/>
            <a:ext cx="11091672" cy="228600"/>
          </a:xfrm>
          <a:prstGeom prst="rect">
            <a:avLst/>
          </a:prstGeom>
          <a:noFill/>
        </p:spPr>
        <p:txBody>
          <a:bodyPr wrap="square" lIns="0" tIns="0" rIns="0" bIns="0" anchor="t">
            <a:spAutoFit/>
          </a:bodyPr>
          <a:lstStyle/>
          <a:p>
            <a:r>
              <a:rPr sz="1050" b="0" i="1">
                <a:solidFill>
                  <a:srgbClr val="0B1F3A"/>
                </a:solidFill>
              </a:rPr>
              <a:t>Come back to these six in the wrap-up. They are the test of whether the module worked.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MODULE 06 · BEFORE WE START</a:t>
            </a:r>
          </a:p>
        </p:txBody>
      </p:sp>
      <p:sp>
        <p:nvSpPr>
          <p:cNvPr id="3" name="Title 2"/>
          <p:cNvSpPr>
            <a:spLocks noGrp="1"/>
          </p:cNvSpPr>
          <p:nvPr>
            <p:ph type="title" idx="101"/>
          </p:nvPr>
        </p:nvSpPr>
        <p:spPr/>
        <p:txBody>
          <a:bodyPr/>
          <a:lstStyle/>
          <a:p>
            <a:pPr algn="l"/>
            <a:r>
              <a:t>Module 05 is the mechanics. Module 06 adds the gates.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3</a:t>
            </a:fld>
            <a:endParaRPr lang="en-US" b="0"/>
          </a:p>
        </p:txBody>
      </p:sp>
      <p:sp>
        <p:nvSpPr>
          <p:cNvPr id="1000" name="Rounded Rectangle 999"/>
          <p:cNvSpPr/>
          <p:nvPr/>
        </p:nvSpPr>
        <p:spPr>
          <a:xfrm>
            <a:off x="548640" y="1783080"/>
            <a:ext cx="5440680" cy="3611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TextBox 1000"/>
          <p:cNvSpPr txBox="1"/>
          <p:nvPr/>
        </p:nvSpPr>
        <p:spPr>
          <a:xfrm>
            <a:off x="822960" y="1920240"/>
            <a:ext cx="914400" cy="548640"/>
          </a:xfrm>
          <a:prstGeom prst="rect">
            <a:avLst/>
          </a:prstGeom>
          <a:noFill/>
        </p:spPr>
        <p:txBody>
          <a:bodyPr wrap="square" lIns="0" tIns="0" rIns="0" bIns="0" anchor="t">
            <a:spAutoFit/>
          </a:bodyPr>
          <a:lstStyle/>
          <a:p>
            <a:r>
              <a:rPr sz="3600" b="1" i="0">
                <a:solidFill>
                  <a:srgbClr val="1E49E2"/>
                </a:solidFill>
                <a:latin typeface="+mj-lt"/>
              </a:rPr>
              <a:t>05</a:t>
            </a:r>
          </a:p>
        </p:txBody>
      </p:sp>
      <p:sp>
        <p:nvSpPr>
          <p:cNvPr id="1002" name="TextBox 1001"/>
          <p:cNvSpPr txBox="1"/>
          <p:nvPr/>
        </p:nvSpPr>
        <p:spPr>
          <a:xfrm>
            <a:off x="1737360" y="1938528"/>
            <a:ext cx="4023360" cy="365760"/>
          </a:xfrm>
          <a:prstGeom prst="rect">
            <a:avLst/>
          </a:prstGeom>
          <a:noFill/>
        </p:spPr>
        <p:txBody>
          <a:bodyPr wrap="square" lIns="0" tIns="0" rIns="0" bIns="0" anchor="t">
            <a:spAutoFit/>
          </a:bodyPr>
          <a:lstStyle/>
          <a:p>
            <a:r>
              <a:rPr sz="1800" b="1" i="0">
                <a:solidFill>
                  <a:srgbClr val="0B1F3A"/>
                </a:solidFill>
                <a:latin typeface="+mj-lt"/>
              </a:rPr>
              <a:t>DevOps, Governance &amp; Deployment</a:t>
            </a:r>
          </a:p>
        </p:txBody>
      </p:sp>
      <p:sp>
        <p:nvSpPr>
          <p:cNvPr id="1003" name="TextBox 1002"/>
          <p:cNvSpPr txBox="1"/>
          <p:nvPr/>
        </p:nvSpPr>
        <p:spPr>
          <a:xfrm>
            <a:off x="1737360" y="2331720"/>
            <a:ext cx="4069080" cy="457200"/>
          </a:xfrm>
          <a:prstGeom prst="rect">
            <a:avLst/>
          </a:prstGeom>
          <a:noFill/>
        </p:spPr>
        <p:txBody>
          <a:bodyPr wrap="square" lIns="0" tIns="0" rIns="0" bIns="0" anchor="t">
            <a:spAutoFit/>
          </a:bodyPr>
          <a:lstStyle/>
          <a:p>
            <a:r>
              <a:rPr sz="1250" b="0" i="0">
                <a:solidFill>
                  <a:srgbClr val="0B1F3A"/>
                </a:solidFill>
              </a:rPr>
              <a:t>How a change moves through Git and the pipelines.</a:t>
            </a:r>
          </a:p>
        </p:txBody>
      </p:sp>
      <p:sp>
        <p:nvSpPr>
          <p:cNvPr id="1004" name="Rounded Rectangle 1003"/>
          <p:cNvSpPr/>
          <p:nvPr/>
        </p:nvSpPr>
        <p:spPr>
          <a:xfrm>
            <a:off x="822960" y="3054096"/>
            <a:ext cx="45720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TextBox 1004"/>
          <p:cNvSpPr txBox="1"/>
          <p:nvPr/>
        </p:nvSpPr>
        <p:spPr>
          <a:xfrm>
            <a:off x="822960" y="3054096"/>
            <a:ext cx="457200" cy="457200"/>
          </a:xfrm>
          <a:prstGeom prst="rect">
            <a:avLst/>
          </a:prstGeom>
          <a:noFill/>
        </p:spPr>
        <p:txBody>
          <a:bodyPr wrap="square" lIns="0" tIns="0" rIns="0" bIns="0" anchor="ctr">
            <a:spAutoFit/>
          </a:bodyPr>
          <a:lstStyle/>
          <a:p>
            <a:pPr algn="ctr"/>
            <a:r>
              <a:rPr sz="1800" b="1" i="0">
                <a:solidFill>
                  <a:srgbClr val="1E49E2"/>
                </a:solidFill>
                <a:latin typeface="+mj-lt"/>
              </a:rPr>
              <a:t>1</a:t>
            </a:r>
          </a:p>
        </p:txBody>
      </p:sp>
      <p:sp>
        <p:nvSpPr>
          <p:cNvPr id="1006" name="TextBox 1005"/>
          <p:cNvSpPr txBox="1"/>
          <p:nvPr/>
        </p:nvSpPr>
        <p:spPr>
          <a:xfrm>
            <a:off x="1463040" y="3017520"/>
            <a:ext cx="4297680" cy="274320"/>
          </a:xfrm>
          <a:prstGeom prst="rect">
            <a:avLst/>
          </a:prstGeom>
          <a:noFill/>
        </p:spPr>
        <p:txBody>
          <a:bodyPr wrap="square" lIns="0" tIns="0" rIns="0" bIns="0" anchor="t">
            <a:spAutoFit/>
          </a:bodyPr>
          <a:lstStyle/>
          <a:p>
            <a:r>
              <a:rPr sz="1500" b="1" i="0">
                <a:solidFill>
                  <a:srgbClr val="0B1F3A"/>
                </a:solidFill>
              </a:rPr>
              <a:t>Git fundamentals</a:t>
            </a:r>
          </a:p>
        </p:txBody>
      </p:sp>
      <p:sp>
        <p:nvSpPr>
          <p:cNvPr id="1007" name="TextBox 1006"/>
          <p:cNvSpPr txBox="1"/>
          <p:nvPr/>
        </p:nvSpPr>
        <p:spPr>
          <a:xfrm>
            <a:off x="1463040" y="3310127"/>
            <a:ext cx="4297680" cy="365760"/>
          </a:xfrm>
          <a:prstGeom prst="rect">
            <a:avLst/>
          </a:prstGeom>
          <a:noFill/>
        </p:spPr>
        <p:txBody>
          <a:bodyPr wrap="square" lIns="0" tIns="0" rIns="0" bIns="0" anchor="t">
            <a:spAutoFit/>
          </a:bodyPr>
          <a:lstStyle/>
          <a:p>
            <a:r>
              <a:rPr sz="1250" b="0" i="0">
                <a:solidFill>
                  <a:srgbClr val="0B1F3A"/>
                </a:solidFill>
              </a:rPr>
              <a:t>Source control, branches and pull requests</a:t>
            </a:r>
          </a:p>
        </p:txBody>
      </p:sp>
      <p:sp>
        <p:nvSpPr>
          <p:cNvPr id="1008" name="Rounded Rectangle 1007"/>
          <p:cNvSpPr/>
          <p:nvPr/>
        </p:nvSpPr>
        <p:spPr>
          <a:xfrm>
            <a:off x="822960" y="3831335"/>
            <a:ext cx="45720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9" name="TextBox 1008"/>
          <p:cNvSpPr txBox="1"/>
          <p:nvPr/>
        </p:nvSpPr>
        <p:spPr>
          <a:xfrm>
            <a:off x="822960" y="3831335"/>
            <a:ext cx="457200" cy="457200"/>
          </a:xfrm>
          <a:prstGeom prst="rect">
            <a:avLst/>
          </a:prstGeom>
          <a:noFill/>
        </p:spPr>
        <p:txBody>
          <a:bodyPr wrap="square" lIns="0" tIns="0" rIns="0" bIns="0" anchor="ctr">
            <a:spAutoFit/>
          </a:bodyPr>
          <a:lstStyle/>
          <a:p>
            <a:pPr algn="ctr"/>
            <a:r>
              <a:rPr sz="1800" b="1" i="0">
                <a:solidFill>
                  <a:srgbClr val="1E49E2"/>
                </a:solidFill>
                <a:latin typeface="+mj-lt"/>
              </a:rPr>
              <a:t>2</a:t>
            </a:r>
          </a:p>
        </p:txBody>
      </p:sp>
      <p:sp>
        <p:nvSpPr>
          <p:cNvPr id="1010" name="TextBox 1009"/>
          <p:cNvSpPr txBox="1"/>
          <p:nvPr/>
        </p:nvSpPr>
        <p:spPr>
          <a:xfrm>
            <a:off x="1463040" y="3794759"/>
            <a:ext cx="4297680" cy="274320"/>
          </a:xfrm>
          <a:prstGeom prst="rect">
            <a:avLst/>
          </a:prstGeom>
          <a:noFill/>
        </p:spPr>
        <p:txBody>
          <a:bodyPr wrap="square" lIns="0" tIns="0" rIns="0" bIns="0" anchor="t">
            <a:spAutoFit/>
          </a:bodyPr>
          <a:lstStyle/>
          <a:p>
            <a:r>
              <a:rPr sz="1500" b="1" i="0">
                <a:solidFill>
                  <a:srgbClr val="0B1F3A"/>
                </a:solidFill>
              </a:rPr>
              <a:t>Deployment patterns</a:t>
            </a:r>
          </a:p>
        </p:txBody>
      </p:sp>
      <p:sp>
        <p:nvSpPr>
          <p:cNvPr id="1011" name="TextBox 1010"/>
          <p:cNvSpPr txBox="1"/>
          <p:nvPr/>
        </p:nvSpPr>
        <p:spPr>
          <a:xfrm>
            <a:off x="1463040" y="4087368"/>
            <a:ext cx="4297680" cy="365760"/>
          </a:xfrm>
          <a:prstGeom prst="rect">
            <a:avLst/>
          </a:prstGeom>
          <a:noFill/>
        </p:spPr>
        <p:txBody>
          <a:bodyPr wrap="square" lIns="0" tIns="0" rIns="0" bIns="0" anchor="t">
            <a:spAutoFit/>
          </a:bodyPr>
          <a:lstStyle/>
          <a:p>
            <a:r>
              <a:rPr sz="1250" b="0" i="0">
                <a:solidFill>
                  <a:srgbClr val="0B1F3A"/>
                </a:solidFill>
              </a:rPr>
              <a:t>Pipelines, environments, promoting between workspaces</a:t>
            </a:r>
          </a:p>
        </p:txBody>
      </p:sp>
      <p:sp>
        <p:nvSpPr>
          <p:cNvPr id="1012" name="Rounded Rectangle 1011"/>
          <p:cNvSpPr/>
          <p:nvPr/>
        </p:nvSpPr>
        <p:spPr>
          <a:xfrm>
            <a:off x="822960" y="4608576"/>
            <a:ext cx="457200" cy="4572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2960" y="4608576"/>
            <a:ext cx="457200" cy="457200"/>
          </a:xfrm>
          <a:prstGeom prst="rect">
            <a:avLst/>
          </a:prstGeom>
          <a:noFill/>
        </p:spPr>
        <p:txBody>
          <a:bodyPr wrap="square" lIns="0" tIns="0" rIns="0" bIns="0" anchor="ctr">
            <a:spAutoFit/>
          </a:bodyPr>
          <a:lstStyle/>
          <a:p>
            <a:pPr algn="ctr"/>
            <a:r>
              <a:rPr sz="1800" b="1" i="0">
                <a:solidFill>
                  <a:srgbClr val="1E49E2"/>
                </a:solidFill>
                <a:latin typeface="+mj-lt"/>
              </a:rPr>
              <a:t>3</a:t>
            </a:r>
          </a:p>
        </p:txBody>
      </p:sp>
      <p:sp>
        <p:nvSpPr>
          <p:cNvPr id="1014" name="TextBox 1013"/>
          <p:cNvSpPr txBox="1"/>
          <p:nvPr/>
        </p:nvSpPr>
        <p:spPr>
          <a:xfrm>
            <a:off x="1463040" y="4572000"/>
            <a:ext cx="4297680" cy="274320"/>
          </a:xfrm>
          <a:prstGeom prst="rect">
            <a:avLst/>
          </a:prstGeom>
          <a:noFill/>
        </p:spPr>
        <p:txBody>
          <a:bodyPr wrap="square" lIns="0" tIns="0" rIns="0" bIns="0" anchor="t">
            <a:spAutoFit/>
          </a:bodyPr>
          <a:lstStyle/>
          <a:p>
            <a:r>
              <a:rPr sz="1500" b="1" i="0">
                <a:solidFill>
                  <a:srgbClr val="0B1F3A"/>
                </a:solidFill>
              </a:rPr>
              <a:t>Lab: ship what you built</a:t>
            </a:r>
          </a:p>
        </p:txBody>
      </p:sp>
      <p:sp>
        <p:nvSpPr>
          <p:cNvPr id="1015" name="TextBox 1014"/>
          <p:cNvSpPr txBox="1"/>
          <p:nvPr/>
        </p:nvSpPr>
        <p:spPr>
          <a:xfrm>
            <a:off x="1463040" y="4864608"/>
            <a:ext cx="4297680" cy="365760"/>
          </a:xfrm>
          <a:prstGeom prst="rect">
            <a:avLst/>
          </a:prstGeom>
          <a:noFill/>
        </p:spPr>
        <p:txBody>
          <a:bodyPr wrap="square" lIns="0" tIns="0" rIns="0" bIns="0" anchor="t">
            <a:spAutoFit/>
          </a:bodyPr>
          <a:lstStyle/>
          <a:p>
            <a:r>
              <a:rPr sz="1250" b="0" i="0">
                <a:solidFill>
                  <a:srgbClr val="0B1F3A"/>
                </a:solidFill>
              </a:rPr>
              <a:t>The lab workflow under source control, promoted upward</a:t>
            </a:r>
          </a:p>
        </p:txBody>
      </p:sp>
      <p:sp>
        <p:nvSpPr>
          <p:cNvPr id="1016" name="Rounded Rectangle 1015"/>
          <p:cNvSpPr/>
          <p:nvPr/>
        </p:nvSpPr>
        <p:spPr>
          <a:xfrm>
            <a:off x="6126480" y="1783080"/>
            <a:ext cx="5513832" cy="361188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6400800" y="1920240"/>
            <a:ext cx="914400" cy="548640"/>
          </a:xfrm>
          <a:prstGeom prst="rect">
            <a:avLst/>
          </a:prstGeom>
          <a:noFill/>
        </p:spPr>
        <p:txBody>
          <a:bodyPr wrap="square" lIns="0" tIns="0" rIns="0" bIns="0" anchor="t">
            <a:spAutoFit/>
          </a:bodyPr>
          <a:lstStyle/>
          <a:p>
            <a:r>
              <a:rPr sz="3600" b="1" i="0">
                <a:solidFill>
                  <a:srgbClr val="F2A900"/>
                </a:solidFill>
                <a:latin typeface="+mj-lt"/>
              </a:rPr>
              <a:t>06</a:t>
            </a:r>
          </a:p>
        </p:txBody>
      </p:sp>
      <p:sp>
        <p:nvSpPr>
          <p:cNvPr id="1018" name="TextBox 1017"/>
          <p:cNvSpPr txBox="1"/>
          <p:nvPr/>
        </p:nvSpPr>
        <p:spPr>
          <a:xfrm>
            <a:off x="7315200" y="1938528"/>
            <a:ext cx="4114800" cy="365760"/>
          </a:xfrm>
          <a:prstGeom prst="rect">
            <a:avLst/>
          </a:prstGeom>
          <a:noFill/>
        </p:spPr>
        <p:txBody>
          <a:bodyPr wrap="square" lIns="0" tIns="0" rIns="0" bIns="0" anchor="t">
            <a:spAutoFit/>
          </a:bodyPr>
          <a:lstStyle/>
          <a:p>
            <a:r>
              <a:rPr sz="1800" b="1" i="0">
                <a:solidFill>
                  <a:srgbClr val="FFFFFF"/>
                </a:solidFill>
                <a:latin typeface="+mj-lt"/>
              </a:rPr>
              <a:t>Taking Applications to Production</a:t>
            </a:r>
          </a:p>
        </p:txBody>
      </p:sp>
      <p:sp>
        <p:nvSpPr>
          <p:cNvPr id="1019" name="TextBox 1018"/>
          <p:cNvSpPr txBox="1"/>
          <p:nvPr/>
        </p:nvSpPr>
        <p:spPr>
          <a:xfrm>
            <a:off x="7315200" y="2331720"/>
            <a:ext cx="4114800" cy="457200"/>
          </a:xfrm>
          <a:prstGeom prst="rect">
            <a:avLst/>
          </a:prstGeom>
          <a:noFill/>
        </p:spPr>
        <p:txBody>
          <a:bodyPr wrap="square" lIns="0" tIns="0" rIns="0" bIns="0" anchor="t">
            <a:spAutoFit/>
          </a:bodyPr>
          <a:lstStyle/>
          <a:p>
            <a:r>
              <a:rPr sz="1250" b="0" i="0">
                <a:solidFill>
                  <a:srgbClr val="C9D6EC"/>
                </a:solidFill>
              </a:rPr>
              <a:t>When a change is ready to move, and who has to agree.</a:t>
            </a:r>
          </a:p>
        </p:txBody>
      </p:sp>
      <p:sp>
        <p:nvSpPr>
          <p:cNvPr id="1020" name="TextBox 1019"/>
          <p:cNvSpPr txBox="1"/>
          <p:nvPr/>
        </p:nvSpPr>
        <p:spPr>
          <a:xfrm>
            <a:off x="6400800" y="3017520"/>
            <a:ext cx="5029200" cy="2286000"/>
          </a:xfrm>
          <a:prstGeom prst="rect">
            <a:avLst/>
          </a:prstGeom>
          <a:noFill/>
        </p:spPr>
        <p:txBody>
          <a:bodyPr wrap="square" lIns="0" tIns="0" rIns="0" bIns="0">
            <a:spAutoFit/>
          </a:bodyPr>
          <a:lstStyle/>
          <a:p>
            <a:pPr marL="228600" indent="-228600">
              <a:spcAft>
                <a:spcPts val="900"/>
              </a:spcAft>
              <a:buChar char="•"/>
            </a:pPr>
            <a:r>
              <a:rPr sz="1400" b="1">
                <a:solidFill>
                  <a:srgbClr val="FFFFFF"/>
                </a:solidFill>
              </a:rPr>
              <a:t>A branch merges </a:t>
            </a:r>
            <a:r>
              <a:rPr sz="1400" b="0">
                <a:solidFill>
                  <a:srgbClr val="FFFFFF"/>
                </a:solidFill>
              </a:rPr>
              <a:t>only when the continuous rails pass.</a:t>
            </a:r>
          </a:p>
          <a:p>
            <a:pPr marL="228600" indent="-228600">
              <a:spcAft>
                <a:spcPts val="900"/>
              </a:spcAft>
              <a:buChar char="•"/>
            </a:pPr>
            <a:r>
              <a:rPr sz="1400" b="1">
                <a:solidFill>
                  <a:srgbClr val="FFFFFF"/>
                </a:solidFill>
              </a:rPr>
              <a:t>A build is DEV-ready </a:t>
            </a:r>
            <a:r>
              <a:rPr sz="1400" b="0">
                <a:solidFill>
                  <a:srgbClr val="FFFFFF"/>
                </a:solidFill>
              </a:rPr>
              <a:t>only when the running app answers.</a:t>
            </a:r>
          </a:p>
          <a:p>
            <a:pPr marL="228600" indent="-228600">
              <a:spcAft>
                <a:spcPts val="900"/>
              </a:spcAft>
              <a:buChar char="•"/>
            </a:pPr>
            <a:r>
              <a:rPr sz="1400" b="1">
                <a:solidFill>
                  <a:srgbClr val="FFFFFF"/>
                </a:solidFill>
              </a:rPr>
              <a:t>A release goes to PROD </a:t>
            </a:r>
            <a:r>
              <a:rPr sz="1400" b="0">
                <a:solidFill>
                  <a:srgbClr val="FFFFFF"/>
                </a:solidFill>
              </a:rPr>
              <a:t>only after sign-off and every approval is closed.</a:t>
            </a:r>
          </a:p>
          <a:p>
            <a:pPr marL="228600" indent="-228600">
              <a:spcAft>
                <a:spcPts val="900"/>
              </a:spcAft>
              <a:buChar char="•"/>
            </a:pPr>
            <a:r>
              <a:rPr sz="1400" b="1">
                <a:solidFill>
                  <a:srgbClr val="FFFFFF"/>
                </a:solidFill>
              </a:rPr>
              <a:t>The same tag </a:t>
            </a:r>
            <a:r>
              <a:rPr sz="1400" b="0">
                <a:solidFill>
                  <a:srgbClr val="FFFFFF"/>
                </a:solidFill>
              </a:rPr>
              <a:t>that passed TEST is the one that ships.</a:t>
            </a:r>
          </a:p>
        </p:txBody>
      </p:sp>
      <p:sp>
        <p:nvSpPr>
          <p:cNvPr id="1021" name="Rounded Rectangle 1020"/>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TextBox 1021"/>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Module 05 is how you move a change. Module 06 is when you are allowed 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MODULE 06 · THE STARTING POINT</a:t>
            </a:r>
          </a:p>
        </p:txBody>
      </p:sp>
      <p:sp>
        <p:nvSpPr>
          <p:cNvPr id="3" name="Title 2"/>
          <p:cNvSpPr>
            <a:spLocks noGrp="1"/>
          </p:cNvSpPr>
          <p:nvPr>
            <p:ph type="title" idx="101"/>
          </p:nvPr>
        </p:nvSpPr>
        <p:spPr/>
        <p:txBody>
          <a:bodyPr/>
          <a:lstStyle/>
          <a:p>
            <a:pPr algn="l"/>
            <a:r>
              <a:t>A working model is where shipping starts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4</a:t>
            </a:fld>
            <a:endParaRPr lang="en-US" b="0"/>
          </a:p>
        </p:txBody>
      </p:sp>
      <p:sp>
        <p:nvSpPr>
          <p:cNvPr id="1000" name="TextBox 999"/>
          <p:cNvSpPr txBox="1"/>
          <p:nvPr/>
        </p:nvSpPr>
        <p:spPr>
          <a:xfrm>
            <a:off x="548640" y="1783080"/>
            <a:ext cx="4572000" cy="228600"/>
          </a:xfrm>
          <a:prstGeom prst="rect">
            <a:avLst/>
          </a:prstGeom>
          <a:noFill/>
        </p:spPr>
        <p:txBody>
          <a:bodyPr wrap="square" lIns="0" tIns="0" rIns="0" bIns="0" anchor="t">
            <a:spAutoFit/>
          </a:bodyPr>
          <a:lstStyle/>
          <a:p>
            <a:r>
              <a:rPr sz="1000" b="1" i="0" spc="200">
                <a:solidFill>
                  <a:srgbClr val="1E49E2"/>
                </a:solidFill>
              </a:rPr>
              <a:t>WHAT THE BUILDER RECEIVES</a:t>
            </a:r>
          </a:p>
        </p:txBody>
      </p:sp>
      <p:sp>
        <p:nvSpPr>
          <p:cNvPr id="1001" name="Rounded Rectangle 1000"/>
          <p:cNvSpPr/>
          <p:nvPr/>
        </p:nvSpPr>
        <p:spPr>
          <a:xfrm>
            <a:off x="548640" y="2103120"/>
            <a:ext cx="5120640"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ectangle 1001"/>
          <p:cNvSpPr/>
          <p:nvPr/>
        </p:nvSpPr>
        <p:spPr>
          <a:xfrm>
            <a:off x="548640" y="2103120"/>
            <a:ext cx="82296" cy="1005840"/>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822960" y="2212848"/>
            <a:ext cx="1828800" cy="228600"/>
          </a:xfrm>
          <a:prstGeom prst="rect">
            <a:avLst/>
          </a:prstGeom>
          <a:noFill/>
        </p:spPr>
        <p:txBody>
          <a:bodyPr wrap="square" lIns="0" tIns="0" rIns="0" bIns="0" anchor="t">
            <a:spAutoFit/>
          </a:bodyPr>
          <a:lstStyle/>
          <a:p>
            <a:r>
              <a:rPr sz="950" b="1" i="0" spc="200">
                <a:solidFill>
                  <a:srgbClr val="1E49E2"/>
                </a:solidFill>
              </a:rPr>
              <a:t>YOU RECEIVE</a:t>
            </a:r>
          </a:p>
        </p:txBody>
      </p:sp>
      <p:sp>
        <p:nvSpPr>
          <p:cNvPr id="1004" name="TextBox 1003"/>
          <p:cNvSpPr txBox="1"/>
          <p:nvPr/>
        </p:nvSpPr>
        <p:spPr>
          <a:xfrm>
            <a:off x="822960" y="2432303"/>
            <a:ext cx="4663440" cy="274320"/>
          </a:xfrm>
          <a:prstGeom prst="rect">
            <a:avLst/>
          </a:prstGeom>
          <a:noFill/>
        </p:spPr>
        <p:txBody>
          <a:bodyPr wrap="square" lIns="0" tIns="0" rIns="0" bIns="0" anchor="t">
            <a:spAutoFit/>
          </a:bodyPr>
          <a:lstStyle/>
          <a:p>
            <a:r>
              <a:rPr sz="1600" b="1" i="0">
                <a:solidFill>
                  <a:srgbClr val="0B1F3A"/>
                </a:solidFill>
                <a:latin typeface="+mj-lt"/>
              </a:rPr>
              <a:t>A working model</a:t>
            </a:r>
          </a:p>
        </p:txBody>
      </p:sp>
      <p:sp>
        <p:nvSpPr>
          <p:cNvPr id="1005" name="TextBox 1004"/>
          <p:cNvSpPr txBox="1"/>
          <p:nvPr/>
        </p:nvSpPr>
        <p:spPr>
          <a:xfrm>
            <a:off x="822960" y="2724912"/>
            <a:ext cx="4709160" cy="365760"/>
          </a:xfrm>
          <a:prstGeom prst="rect">
            <a:avLst/>
          </a:prstGeom>
          <a:noFill/>
        </p:spPr>
        <p:txBody>
          <a:bodyPr wrap="square" lIns="0" tIns="0" rIns="0" bIns="0" anchor="t">
            <a:spAutoFit/>
          </a:bodyPr>
          <a:lstStyle/>
          <a:p>
            <a:r>
              <a:rPr sz="1200" b="0" i="0">
                <a:solidFill>
                  <a:srgbClr val="0B1F3A"/>
                </a:solidFill>
              </a:rPr>
              <a:t>Usually one HTML file with invented data. Every screen is clickable and every state can be reached.</a:t>
            </a:r>
          </a:p>
        </p:txBody>
      </p:sp>
      <p:sp>
        <p:nvSpPr>
          <p:cNvPr id="1006" name="Rounded Rectangle 1005"/>
          <p:cNvSpPr/>
          <p:nvPr/>
        </p:nvSpPr>
        <p:spPr>
          <a:xfrm>
            <a:off x="548640" y="3218687"/>
            <a:ext cx="5120640"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ectangle 1006"/>
          <p:cNvSpPr/>
          <p:nvPr/>
        </p:nvSpPr>
        <p:spPr>
          <a:xfrm>
            <a:off x="548640" y="3218687"/>
            <a:ext cx="82296" cy="1005840"/>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822960" y="3328415"/>
            <a:ext cx="1828800" cy="228600"/>
          </a:xfrm>
          <a:prstGeom prst="rect">
            <a:avLst/>
          </a:prstGeom>
          <a:noFill/>
        </p:spPr>
        <p:txBody>
          <a:bodyPr wrap="square" lIns="0" tIns="0" rIns="0" bIns="0" anchor="t">
            <a:spAutoFit/>
          </a:bodyPr>
          <a:lstStyle/>
          <a:p>
            <a:r>
              <a:rPr sz="950" b="1" i="0" spc="200">
                <a:solidFill>
                  <a:srgbClr val="1E49E2"/>
                </a:solidFill>
              </a:rPr>
              <a:t>AND</a:t>
            </a:r>
          </a:p>
        </p:txBody>
      </p:sp>
      <p:sp>
        <p:nvSpPr>
          <p:cNvPr id="1009" name="TextBox 1008"/>
          <p:cNvSpPr txBox="1"/>
          <p:nvPr/>
        </p:nvSpPr>
        <p:spPr>
          <a:xfrm>
            <a:off x="822960" y="3547871"/>
            <a:ext cx="4663440" cy="274320"/>
          </a:xfrm>
          <a:prstGeom prst="rect">
            <a:avLst/>
          </a:prstGeom>
          <a:noFill/>
        </p:spPr>
        <p:txBody>
          <a:bodyPr wrap="square" lIns="0" tIns="0" rIns="0" bIns="0" anchor="t">
            <a:spAutoFit/>
          </a:bodyPr>
          <a:lstStyle/>
          <a:p>
            <a:r>
              <a:rPr sz="1600" b="1" i="0">
                <a:solidFill>
                  <a:srgbClr val="0B1F3A"/>
                </a:solidFill>
                <a:latin typeface="+mj-lt"/>
              </a:rPr>
              <a:t>A model charter</a:t>
            </a:r>
          </a:p>
        </p:txBody>
      </p:sp>
      <p:sp>
        <p:nvSpPr>
          <p:cNvPr id="1010" name="TextBox 1009"/>
          <p:cNvSpPr txBox="1"/>
          <p:nvPr/>
        </p:nvSpPr>
        <p:spPr>
          <a:xfrm>
            <a:off x="822960" y="3840479"/>
            <a:ext cx="4709160" cy="365760"/>
          </a:xfrm>
          <a:prstGeom prst="rect">
            <a:avLst/>
          </a:prstGeom>
          <a:noFill/>
        </p:spPr>
        <p:txBody>
          <a:bodyPr wrap="square" lIns="0" tIns="0" rIns="0" bIns="0" anchor="t">
            <a:spAutoFit/>
          </a:bodyPr>
          <a:lstStyle/>
          <a:p>
            <a:r>
              <a:rPr sz="1200" b="0" i="0">
                <a:solidFill>
                  <a:srgbClr val="0B1F3A"/>
                </a:solidFill>
              </a:rPr>
              <a:t>Purpose, users, assumptions, open questions, and what is deliberately out of scope.</a:t>
            </a:r>
          </a:p>
        </p:txBody>
      </p:sp>
      <p:sp>
        <p:nvSpPr>
          <p:cNvPr id="1011" name="Rounded Rectangle 1010"/>
          <p:cNvSpPr/>
          <p:nvPr/>
        </p:nvSpPr>
        <p:spPr>
          <a:xfrm>
            <a:off x="548640" y="4334256"/>
            <a:ext cx="5120640" cy="10058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ectangle 1011"/>
          <p:cNvSpPr/>
          <p:nvPr/>
        </p:nvSpPr>
        <p:spPr>
          <a:xfrm>
            <a:off x="548640" y="4334256"/>
            <a:ext cx="82296" cy="1005840"/>
          </a:xfrm>
          <a:prstGeom prst="rect">
            <a:avLst/>
          </a:prstGeom>
          <a:solidFill>
            <a:srgbClr val="8D9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2960" y="4443984"/>
            <a:ext cx="1828800" cy="228600"/>
          </a:xfrm>
          <a:prstGeom prst="rect">
            <a:avLst/>
          </a:prstGeom>
          <a:noFill/>
        </p:spPr>
        <p:txBody>
          <a:bodyPr wrap="square" lIns="0" tIns="0" rIns="0" bIns="0" anchor="t">
            <a:spAutoFit/>
          </a:bodyPr>
          <a:lstStyle/>
          <a:p>
            <a:r>
              <a:rPr sz="950" b="1" i="0" spc="200">
                <a:solidFill>
                  <a:srgbClr val="8D99A6"/>
                </a:solidFill>
              </a:rPr>
              <a:t>NOT</a:t>
            </a:r>
          </a:p>
        </p:txBody>
      </p:sp>
      <p:sp>
        <p:nvSpPr>
          <p:cNvPr id="1014" name="TextBox 1013"/>
          <p:cNvSpPr txBox="1"/>
          <p:nvPr/>
        </p:nvSpPr>
        <p:spPr>
          <a:xfrm>
            <a:off x="822960" y="4663440"/>
            <a:ext cx="4663440" cy="274320"/>
          </a:xfrm>
          <a:prstGeom prst="rect">
            <a:avLst/>
          </a:prstGeom>
          <a:noFill/>
        </p:spPr>
        <p:txBody>
          <a:bodyPr wrap="square" lIns="0" tIns="0" rIns="0" bIns="0" anchor="t">
            <a:spAutoFit/>
          </a:bodyPr>
          <a:lstStyle/>
          <a:p>
            <a:r>
              <a:rPr sz="1600" b="1" i="0">
                <a:solidFill>
                  <a:srgbClr val="0B1F3A"/>
                </a:solidFill>
                <a:latin typeface="+mj-lt"/>
              </a:rPr>
              <a:t>A specification document</a:t>
            </a:r>
          </a:p>
        </p:txBody>
      </p:sp>
      <p:sp>
        <p:nvSpPr>
          <p:cNvPr id="1015" name="TextBox 1014"/>
          <p:cNvSpPr txBox="1"/>
          <p:nvPr/>
        </p:nvSpPr>
        <p:spPr>
          <a:xfrm>
            <a:off x="822960" y="4956048"/>
            <a:ext cx="4709160" cy="365760"/>
          </a:xfrm>
          <a:prstGeom prst="rect">
            <a:avLst/>
          </a:prstGeom>
          <a:noFill/>
        </p:spPr>
        <p:txBody>
          <a:bodyPr wrap="square" lIns="0" tIns="0" rIns="0" bIns="0" anchor="t">
            <a:spAutoFit/>
          </a:bodyPr>
          <a:lstStyle/>
          <a:p>
            <a:r>
              <a:rPr sz="1200" b="0" i="0">
                <a:solidFill>
                  <a:srgbClr val="0B1F3A"/>
                </a:solidFill>
              </a:rPr>
              <a:t>Nobody writes thirty pages. The model is the requirement, and it is more precise than prose.</a:t>
            </a:r>
          </a:p>
        </p:txBody>
      </p:sp>
      <p:sp>
        <p:nvSpPr>
          <p:cNvPr id="1016" name="TextBox 1015"/>
          <p:cNvSpPr txBox="1"/>
          <p:nvPr/>
        </p:nvSpPr>
        <p:spPr>
          <a:xfrm>
            <a:off x="6035040" y="1783080"/>
            <a:ext cx="5486400" cy="228600"/>
          </a:xfrm>
          <a:prstGeom prst="rect">
            <a:avLst/>
          </a:prstGeom>
          <a:noFill/>
        </p:spPr>
        <p:txBody>
          <a:bodyPr wrap="square" lIns="0" tIns="0" rIns="0" bIns="0" anchor="t">
            <a:spAutoFit/>
          </a:bodyPr>
          <a:lstStyle/>
          <a:p>
            <a:r>
              <a:rPr sz="1000" b="1" i="0" spc="200">
                <a:solidFill>
                  <a:srgbClr val="1E49E2"/>
                </a:solidFill>
              </a:rPr>
              <a:t>WHAT THE MODEL IS NOT</a:t>
            </a:r>
          </a:p>
        </p:txBody>
      </p:sp>
      <p:sp>
        <p:nvSpPr>
          <p:cNvPr id="1017" name="Rounded Rectangle 1016"/>
          <p:cNvSpPr/>
          <p:nvPr/>
        </p:nvSpPr>
        <p:spPr>
          <a:xfrm>
            <a:off x="6035040" y="2103120"/>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TextBox 1017"/>
          <p:cNvSpPr txBox="1"/>
          <p:nvPr/>
        </p:nvSpPr>
        <p:spPr>
          <a:xfrm>
            <a:off x="6217920" y="2240279"/>
            <a:ext cx="2377440" cy="274320"/>
          </a:xfrm>
          <a:prstGeom prst="rect">
            <a:avLst/>
          </a:prstGeom>
          <a:noFill/>
        </p:spPr>
        <p:txBody>
          <a:bodyPr wrap="square" lIns="0" tIns="0" rIns="0" bIns="0" anchor="t">
            <a:spAutoFit/>
          </a:bodyPr>
          <a:lstStyle/>
          <a:p>
            <a:r>
              <a:rPr sz="1400" b="1" i="0">
                <a:solidFill>
                  <a:srgbClr val="0B1F3A"/>
                </a:solidFill>
              </a:rPr>
              <a:t>Not secure</a:t>
            </a:r>
          </a:p>
        </p:txBody>
      </p:sp>
      <p:sp>
        <p:nvSpPr>
          <p:cNvPr id="1019" name="TextBox 1018"/>
          <p:cNvSpPr txBox="1"/>
          <p:nvPr/>
        </p:nvSpPr>
        <p:spPr>
          <a:xfrm>
            <a:off x="6217920" y="2542032"/>
            <a:ext cx="2377440" cy="548640"/>
          </a:xfrm>
          <a:prstGeom prst="rect">
            <a:avLst/>
          </a:prstGeom>
          <a:noFill/>
        </p:spPr>
        <p:txBody>
          <a:bodyPr wrap="square" lIns="0" tIns="0" rIns="0" bIns="0" anchor="t">
            <a:spAutoFit/>
          </a:bodyPr>
          <a:lstStyle/>
          <a:p>
            <a:r>
              <a:rPr sz="1200" b="0" i="0">
                <a:solidFill>
                  <a:srgbClr val="0B1F3A"/>
                </a:solidFill>
              </a:rPr>
              <a:t>The login is fake. No auth, no permissions.</a:t>
            </a:r>
          </a:p>
        </p:txBody>
      </p:sp>
      <p:sp>
        <p:nvSpPr>
          <p:cNvPr id="1020" name="Rounded Rectangle 1019"/>
          <p:cNvSpPr/>
          <p:nvPr/>
        </p:nvSpPr>
        <p:spPr>
          <a:xfrm>
            <a:off x="8869680" y="2103120"/>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TextBox 1020"/>
          <p:cNvSpPr txBox="1"/>
          <p:nvPr/>
        </p:nvSpPr>
        <p:spPr>
          <a:xfrm>
            <a:off x="9052559" y="2240279"/>
            <a:ext cx="2377440" cy="274320"/>
          </a:xfrm>
          <a:prstGeom prst="rect">
            <a:avLst/>
          </a:prstGeom>
          <a:noFill/>
        </p:spPr>
        <p:txBody>
          <a:bodyPr wrap="square" lIns="0" tIns="0" rIns="0" bIns="0" anchor="t">
            <a:spAutoFit/>
          </a:bodyPr>
          <a:lstStyle/>
          <a:p>
            <a:r>
              <a:rPr sz="1400" b="1" i="0">
                <a:solidFill>
                  <a:srgbClr val="0B1F3A"/>
                </a:solidFill>
              </a:rPr>
              <a:t>Not connected</a:t>
            </a:r>
          </a:p>
        </p:txBody>
      </p:sp>
      <p:sp>
        <p:nvSpPr>
          <p:cNvPr id="1022" name="TextBox 1021"/>
          <p:cNvSpPr txBox="1"/>
          <p:nvPr/>
        </p:nvSpPr>
        <p:spPr>
          <a:xfrm>
            <a:off x="9052559" y="2542032"/>
            <a:ext cx="2377440" cy="548640"/>
          </a:xfrm>
          <a:prstGeom prst="rect">
            <a:avLst/>
          </a:prstGeom>
          <a:noFill/>
        </p:spPr>
        <p:txBody>
          <a:bodyPr wrap="square" lIns="0" tIns="0" rIns="0" bIns="0" anchor="t">
            <a:spAutoFit/>
          </a:bodyPr>
          <a:lstStyle/>
          <a:p>
            <a:r>
              <a:rPr sz="1200" b="0" i="0">
                <a:solidFill>
                  <a:srgbClr val="0B1F3A"/>
                </a:solidFill>
              </a:rPr>
              <a:t>Every integration is simulated.</a:t>
            </a:r>
          </a:p>
        </p:txBody>
      </p:sp>
      <p:sp>
        <p:nvSpPr>
          <p:cNvPr id="1023" name="Rounded Rectangle 1022"/>
          <p:cNvSpPr/>
          <p:nvPr/>
        </p:nvSpPr>
        <p:spPr>
          <a:xfrm>
            <a:off x="6035040" y="3218687"/>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TextBox 1023"/>
          <p:cNvSpPr txBox="1"/>
          <p:nvPr/>
        </p:nvSpPr>
        <p:spPr>
          <a:xfrm>
            <a:off x="6217920" y="3355847"/>
            <a:ext cx="2377440" cy="274320"/>
          </a:xfrm>
          <a:prstGeom prst="rect">
            <a:avLst/>
          </a:prstGeom>
          <a:noFill/>
        </p:spPr>
        <p:txBody>
          <a:bodyPr wrap="square" lIns="0" tIns="0" rIns="0" bIns="0" anchor="t">
            <a:spAutoFit/>
          </a:bodyPr>
          <a:lstStyle/>
          <a:p>
            <a:r>
              <a:rPr sz="1400" b="1" i="0">
                <a:solidFill>
                  <a:srgbClr val="0B1F3A"/>
                </a:solidFill>
              </a:rPr>
              <a:t>Not performant</a:t>
            </a:r>
          </a:p>
        </p:txBody>
      </p:sp>
      <p:sp>
        <p:nvSpPr>
          <p:cNvPr id="1025" name="TextBox 1024"/>
          <p:cNvSpPr txBox="1"/>
          <p:nvPr/>
        </p:nvSpPr>
        <p:spPr>
          <a:xfrm>
            <a:off x="6217920" y="3657599"/>
            <a:ext cx="2377440" cy="548640"/>
          </a:xfrm>
          <a:prstGeom prst="rect">
            <a:avLst/>
          </a:prstGeom>
          <a:noFill/>
        </p:spPr>
        <p:txBody>
          <a:bodyPr wrap="square" lIns="0" tIns="0" rIns="0" bIns="0" anchor="t">
            <a:spAutoFit/>
          </a:bodyPr>
          <a:lstStyle/>
          <a:p>
            <a:r>
              <a:rPr sz="1200" b="0" i="0">
                <a:solidFill>
                  <a:srgbClr val="0B1F3A"/>
                </a:solidFill>
              </a:rPr>
              <a:t>Fifty invented rows prove a layout, not a query plan.</a:t>
            </a:r>
          </a:p>
        </p:txBody>
      </p:sp>
      <p:sp>
        <p:nvSpPr>
          <p:cNvPr id="1026" name="Rounded Rectangle 1025"/>
          <p:cNvSpPr/>
          <p:nvPr/>
        </p:nvSpPr>
        <p:spPr>
          <a:xfrm>
            <a:off x="8869680" y="3218687"/>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TextBox 1026"/>
          <p:cNvSpPr txBox="1"/>
          <p:nvPr/>
        </p:nvSpPr>
        <p:spPr>
          <a:xfrm>
            <a:off x="9052559" y="3355847"/>
            <a:ext cx="2377440" cy="274320"/>
          </a:xfrm>
          <a:prstGeom prst="rect">
            <a:avLst/>
          </a:prstGeom>
          <a:noFill/>
        </p:spPr>
        <p:txBody>
          <a:bodyPr wrap="square" lIns="0" tIns="0" rIns="0" bIns="0" anchor="t">
            <a:spAutoFit/>
          </a:bodyPr>
          <a:lstStyle/>
          <a:p>
            <a:r>
              <a:rPr sz="1400" b="1" i="0">
                <a:solidFill>
                  <a:srgbClr val="0B1F3A"/>
                </a:solidFill>
              </a:rPr>
              <a:t>Not real data</a:t>
            </a:r>
          </a:p>
        </p:txBody>
      </p:sp>
      <p:sp>
        <p:nvSpPr>
          <p:cNvPr id="1028" name="TextBox 1027"/>
          <p:cNvSpPr txBox="1"/>
          <p:nvPr/>
        </p:nvSpPr>
        <p:spPr>
          <a:xfrm>
            <a:off x="9052559" y="3657599"/>
            <a:ext cx="2377440" cy="548640"/>
          </a:xfrm>
          <a:prstGeom prst="rect">
            <a:avLst/>
          </a:prstGeom>
          <a:noFill/>
        </p:spPr>
        <p:txBody>
          <a:bodyPr wrap="square" lIns="0" tIns="0" rIns="0" bIns="0" anchor="t">
            <a:spAutoFit/>
          </a:bodyPr>
          <a:lstStyle/>
          <a:p>
            <a:r>
              <a:rPr sz="1200" b="0" i="0">
                <a:solidFill>
                  <a:srgbClr val="0B1F3A"/>
                </a:solidFill>
              </a:rPr>
              <a:t>Nothing from any production system.</a:t>
            </a:r>
          </a:p>
        </p:txBody>
      </p:sp>
      <p:sp>
        <p:nvSpPr>
          <p:cNvPr id="1029" name="Rounded Rectangle 1028"/>
          <p:cNvSpPr/>
          <p:nvPr/>
        </p:nvSpPr>
        <p:spPr>
          <a:xfrm>
            <a:off x="6035040" y="4334256"/>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0" name="TextBox 1029"/>
          <p:cNvSpPr txBox="1"/>
          <p:nvPr/>
        </p:nvSpPr>
        <p:spPr>
          <a:xfrm>
            <a:off x="6217920" y="4471416"/>
            <a:ext cx="2377440" cy="274320"/>
          </a:xfrm>
          <a:prstGeom prst="rect">
            <a:avLst/>
          </a:prstGeom>
          <a:noFill/>
        </p:spPr>
        <p:txBody>
          <a:bodyPr wrap="square" lIns="0" tIns="0" rIns="0" bIns="0" anchor="t">
            <a:spAutoFit/>
          </a:bodyPr>
          <a:lstStyle/>
          <a:p>
            <a:r>
              <a:rPr sz="1400" b="1" i="0">
                <a:solidFill>
                  <a:srgbClr val="0B1F3A"/>
                </a:solidFill>
              </a:rPr>
              <a:t>Not production code</a:t>
            </a:r>
          </a:p>
        </p:txBody>
      </p:sp>
      <p:sp>
        <p:nvSpPr>
          <p:cNvPr id="1031" name="TextBox 1030"/>
          <p:cNvSpPr txBox="1"/>
          <p:nvPr/>
        </p:nvSpPr>
        <p:spPr>
          <a:xfrm>
            <a:off x="6217920" y="4773168"/>
            <a:ext cx="2377440" cy="548640"/>
          </a:xfrm>
          <a:prstGeom prst="rect">
            <a:avLst/>
          </a:prstGeom>
          <a:noFill/>
        </p:spPr>
        <p:txBody>
          <a:bodyPr wrap="square" lIns="0" tIns="0" rIns="0" bIns="0" anchor="t">
            <a:spAutoFit/>
          </a:bodyPr>
          <a:lstStyle/>
          <a:p>
            <a:r>
              <a:rPr sz="1200" b="0" i="0">
                <a:solidFill>
                  <a:srgbClr val="0B1F3A"/>
                </a:solidFill>
              </a:rPr>
              <a:t>You rebuild it properly, on the standard stack.</a:t>
            </a:r>
          </a:p>
        </p:txBody>
      </p:sp>
      <p:sp>
        <p:nvSpPr>
          <p:cNvPr id="1032" name="Rounded Rectangle 1031"/>
          <p:cNvSpPr/>
          <p:nvPr/>
        </p:nvSpPr>
        <p:spPr>
          <a:xfrm>
            <a:off x="8869680" y="4334256"/>
            <a:ext cx="2697480" cy="10058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3" name="TextBox 1032"/>
          <p:cNvSpPr txBox="1"/>
          <p:nvPr/>
        </p:nvSpPr>
        <p:spPr>
          <a:xfrm>
            <a:off x="9052559" y="4471416"/>
            <a:ext cx="2377440" cy="274320"/>
          </a:xfrm>
          <a:prstGeom prst="rect">
            <a:avLst/>
          </a:prstGeom>
          <a:noFill/>
        </p:spPr>
        <p:txBody>
          <a:bodyPr wrap="square" lIns="0" tIns="0" rIns="0" bIns="0" anchor="t">
            <a:spAutoFit/>
          </a:bodyPr>
          <a:lstStyle/>
          <a:p>
            <a:r>
              <a:rPr sz="1400" b="1" i="0">
                <a:solidFill>
                  <a:srgbClr val="0B1F3A"/>
                </a:solidFill>
              </a:rPr>
              <a:t>Not a free pass</a:t>
            </a:r>
          </a:p>
        </p:txBody>
      </p:sp>
      <p:sp>
        <p:nvSpPr>
          <p:cNvPr id="1034" name="TextBox 1033"/>
          <p:cNvSpPr txBox="1"/>
          <p:nvPr/>
        </p:nvSpPr>
        <p:spPr>
          <a:xfrm>
            <a:off x="9052559" y="4773168"/>
            <a:ext cx="2377440" cy="548640"/>
          </a:xfrm>
          <a:prstGeom prst="rect">
            <a:avLst/>
          </a:prstGeom>
          <a:noFill/>
        </p:spPr>
        <p:txBody>
          <a:bodyPr wrap="square" lIns="0" tIns="0" rIns="0" bIns="0" anchor="t">
            <a:spAutoFit/>
          </a:bodyPr>
          <a:lstStyle/>
          <a:p>
            <a:r>
              <a:rPr sz="1200" b="0" i="0">
                <a:solidFill>
                  <a:srgbClr val="0B1F3A"/>
                </a:solidFill>
              </a:rPr>
              <a:t>The model changes the input, not the standard.</a:t>
            </a:r>
          </a:p>
        </p:txBody>
      </p:sp>
      <p:sp>
        <p:nvSpPr>
          <p:cNvPr id="1035" name="Rounded Rectangle 1034"/>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6" name="TextBox 1035"/>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Nothing in the model is code you keep. Everything in it is a decision you honour.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MODULE 06 · THE PAVED PATH</a:t>
            </a:r>
          </a:p>
        </p:txBody>
      </p:sp>
      <p:sp>
        <p:nvSpPr>
          <p:cNvPr id="3" name="Title 2"/>
          <p:cNvSpPr>
            <a:spLocks noGrp="1"/>
          </p:cNvSpPr>
          <p:nvPr>
            <p:ph type="title" idx="101"/>
          </p:nvPr>
        </p:nvSpPr>
        <p:spPr/>
        <p:txBody>
          <a:bodyPr/>
          <a:lstStyle/>
          <a:p>
            <a:pPr algn="l"/>
            <a:r>
              <a:t>Three systems, each on its own clock</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5</a:t>
            </a:fld>
            <a:endParaRPr lang="en-US" b="0"/>
          </a:p>
        </p:txBody>
      </p:sp>
      <p:sp>
        <p:nvSpPr>
          <p:cNvPr id="1000" name="TextBox 999"/>
          <p:cNvSpPr txBox="1"/>
          <p:nvPr/>
        </p:nvSpPr>
        <p:spPr>
          <a:xfrm>
            <a:off x="548640" y="1691640"/>
            <a:ext cx="11064240" cy="457200"/>
          </a:xfrm>
          <a:prstGeom prst="rect">
            <a:avLst/>
          </a:prstGeom>
          <a:noFill/>
        </p:spPr>
        <p:txBody>
          <a:bodyPr wrap="square" lIns="0" tIns="0" rIns="0" bIns="0" anchor="t">
            <a:spAutoFit/>
          </a:bodyPr>
          <a:lstStyle/>
          <a:p>
            <a:r>
              <a:rPr sz="1400" b="0" i="0">
                <a:solidFill>
                  <a:srgbClr val="0B1F3A"/>
                </a:solidFill>
              </a:rPr>
              <a:t>Most delivery processes are drawn as a single line. These three run at different speeds, and treating them as one is how work falls through the gaps.</a:t>
            </a:r>
          </a:p>
        </p:txBody>
      </p:sp>
      <p:sp>
        <p:nvSpPr>
          <p:cNvPr id="1001" name="Rounded Rectangle 1000"/>
          <p:cNvSpPr/>
          <p:nvPr/>
        </p:nvSpPr>
        <p:spPr>
          <a:xfrm>
            <a:off x="548640" y="2331720"/>
            <a:ext cx="3593592" cy="1783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ectangle 1001"/>
          <p:cNvSpPr/>
          <p:nvPr/>
        </p:nvSpPr>
        <p:spPr>
          <a:xfrm>
            <a:off x="548640" y="2331720"/>
            <a:ext cx="3593592" cy="82296"/>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777240" y="2560320"/>
            <a:ext cx="3108960" cy="228600"/>
          </a:xfrm>
          <a:prstGeom prst="rect">
            <a:avLst/>
          </a:prstGeom>
          <a:noFill/>
        </p:spPr>
        <p:txBody>
          <a:bodyPr wrap="square" lIns="0" tIns="0" rIns="0" bIns="0" anchor="t">
            <a:spAutoFit/>
          </a:bodyPr>
          <a:lstStyle/>
          <a:p>
            <a:r>
              <a:rPr sz="950" b="1" i="0" spc="200">
                <a:solidFill>
                  <a:srgbClr val="1E49E2"/>
                </a:solidFill>
              </a:rPr>
              <a:t>PROCESS</a:t>
            </a:r>
          </a:p>
        </p:txBody>
      </p:sp>
      <p:sp>
        <p:nvSpPr>
          <p:cNvPr id="1004" name="TextBox 1003"/>
          <p:cNvSpPr txBox="1"/>
          <p:nvPr/>
        </p:nvSpPr>
        <p:spPr>
          <a:xfrm>
            <a:off x="777240" y="2816352"/>
            <a:ext cx="3154680" cy="320040"/>
          </a:xfrm>
          <a:prstGeom prst="rect">
            <a:avLst/>
          </a:prstGeom>
          <a:noFill/>
        </p:spPr>
        <p:txBody>
          <a:bodyPr wrap="square" lIns="0" tIns="0" rIns="0" bIns="0" anchor="t">
            <a:spAutoFit/>
          </a:bodyPr>
          <a:lstStyle/>
          <a:p>
            <a:r>
              <a:rPr sz="1700" b="1" i="0">
                <a:solidFill>
                  <a:srgbClr val="0B1F3A"/>
                </a:solidFill>
                <a:latin typeface="+mj-lt"/>
              </a:rPr>
              <a:t>The path work travels</a:t>
            </a:r>
          </a:p>
        </p:txBody>
      </p:sp>
      <p:sp>
        <p:nvSpPr>
          <p:cNvPr id="1005" name="TextBox 1004"/>
          <p:cNvSpPr txBox="1"/>
          <p:nvPr/>
        </p:nvSpPr>
        <p:spPr>
          <a:xfrm>
            <a:off x="777240" y="3200400"/>
            <a:ext cx="3154680" cy="822960"/>
          </a:xfrm>
          <a:prstGeom prst="rect">
            <a:avLst/>
          </a:prstGeom>
          <a:noFill/>
        </p:spPr>
        <p:txBody>
          <a:bodyPr wrap="square" lIns="0" tIns="0" rIns="0" bIns="0" anchor="t">
            <a:spAutoFit/>
          </a:bodyPr>
          <a:lstStyle/>
          <a:p>
            <a:r>
              <a:rPr sz="1250" b="0" i="0">
                <a:solidFill>
                  <a:srgbClr val="0B1F3A"/>
                </a:solidFill>
              </a:rPr>
              <a:t>Four phases and four gates, in order. This is the part that looks like a process diagram.</a:t>
            </a:r>
          </a:p>
        </p:txBody>
      </p:sp>
      <p:sp>
        <p:nvSpPr>
          <p:cNvPr id="1006" name="Rounded Rectangle 1005"/>
          <p:cNvSpPr/>
          <p:nvPr/>
        </p:nvSpPr>
        <p:spPr>
          <a:xfrm>
            <a:off x="4297679" y="2331720"/>
            <a:ext cx="3593592" cy="1783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ectangle 1006"/>
          <p:cNvSpPr/>
          <p:nvPr/>
        </p:nvSpPr>
        <p:spPr>
          <a:xfrm>
            <a:off x="4297679" y="2331720"/>
            <a:ext cx="3593592" cy="82296"/>
          </a:xfrm>
          <a:prstGeom prst="rect">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4526279" y="2560320"/>
            <a:ext cx="3108960" cy="228600"/>
          </a:xfrm>
          <a:prstGeom prst="rect">
            <a:avLst/>
          </a:prstGeom>
          <a:noFill/>
        </p:spPr>
        <p:txBody>
          <a:bodyPr wrap="square" lIns="0" tIns="0" rIns="0" bIns="0" anchor="t">
            <a:spAutoFit/>
          </a:bodyPr>
          <a:lstStyle/>
          <a:p>
            <a:r>
              <a:rPr sz="950" b="1" i="0" spc="200">
                <a:solidFill>
                  <a:srgbClr val="00A3A1"/>
                </a:solidFill>
              </a:rPr>
              <a:t>QUALITY CONTROL</a:t>
            </a:r>
          </a:p>
        </p:txBody>
      </p:sp>
      <p:sp>
        <p:nvSpPr>
          <p:cNvPr id="1009" name="TextBox 1008"/>
          <p:cNvSpPr txBox="1"/>
          <p:nvPr/>
        </p:nvSpPr>
        <p:spPr>
          <a:xfrm>
            <a:off x="4526279" y="2816352"/>
            <a:ext cx="3154680" cy="320040"/>
          </a:xfrm>
          <a:prstGeom prst="rect">
            <a:avLst/>
          </a:prstGeom>
          <a:noFill/>
        </p:spPr>
        <p:txBody>
          <a:bodyPr wrap="square" lIns="0" tIns="0" rIns="0" bIns="0" anchor="t">
            <a:spAutoFit/>
          </a:bodyPr>
          <a:lstStyle/>
          <a:p>
            <a:r>
              <a:rPr sz="1700" b="1" i="0">
                <a:solidFill>
                  <a:srgbClr val="0B1F3A"/>
                </a:solidFill>
                <a:latin typeface="+mj-lt"/>
              </a:rPr>
              <a:t>The rails and the slow gates</a:t>
            </a:r>
          </a:p>
        </p:txBody>
      </p:sp>
      <p:sp>
        <p:nvSpPr>
          <p:cNvPr id="1010" name="TextBox 1009"/>
          <p:cNvSpPr txBox="1"/>
          <p:nvPr/>
        </p:nvSpPr>
        <p:spPr>
          <a:xfrm>
            <a:off x="4526279" y="3200400"/>
            <a:ext cx="3154680" cy="822960"/>
          </a:xfrm>
          <a:prstGeom prst="rect">
            <a:avLst/>
          </a:prstGeom>
          <a:noFill/>
        </p:spPr>
        <p:txBody>
          <a:bodyPr wrap="square" lIns="0" tIns="0" rIns="0" bIns="0" anchor="t">
            <a:spAutoFit/>
          </a:bodyPr>
          <a:lstStyle/>
          <a:p>
            <a:r>
              <a:rPr sz="1250" b="0" i="0">
                <a:solidFill>
                  <a:srgbClr val="0B1F3A"/>
                </a:solidFill>
              </a:rPr>
              <a:t>Some checks run on every change. Others run once, on another team's clock, and take weeks.</a:t>
            </a:r>
          </a:p>
        </p:txBody>
      </p:sp>
      <p:sp>
        <p:nvSpPr>
          <p:cNvPr id="1011" name="Rounded Rectangle 1010"/>
          <p:cNvSpPr/>
          <p:nvPr/>
        </p:nvSpPr>
        <p:spPr>
          <a:xfrm>
            <a:off x="8046719" y="2331720"/>
            <a:ext cx="3593592" cy="17830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ectangle 1011"/>
          <p:cNvSpPr/>
          <p:nvPr/>
        </p:nvSpPr>
        <p:spPr>
          <a:xfrm>
            <a:off x="8046719" y="2331720"/>
            <a:ext cx="3593592" cy="82296"/>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75319" y="2560320"/>
            <a:ext cx="3108960" cy="228600"/>
          </a:xfrm>
          <a:prstGeom prst="rect">
            <a:avLst/>
          </a:prstGeom>
          <a:noFill/>
        </p:spPr>
        <p:txBody>
          <a:bodyPr wrap="square" lIns="0" tIns="0" rIns="0" bIns="0" anchor="t">
            <a:spAutoFit/>
          </a:bodyPr>
          <a:lstStyle/>
          <a:p>
            <a:r>
              <a:rPr sz="950" b="1" i="0" spc="200">
                <a:solidFill>
                  <a:srgbClr val="B5651D"/>
                </a:solidFill>
              </a:rPr>
              <a:t>DOCUMENTATION</a:t>
            </a:r>
          </a:p>
        </p:txBody>
      </p:sp>
      <p:sp>
        <p:nvSpPr>
          <p:cNvPr id="1014" name="TextBox 1013"/>
          <p:cNvSpPr txBox="1"/>
          <p:nvPr/>
        </p:nvSpPr>
        <p:spPr>
          <a:xfrm>
            <a:off x="8275319" y="2816352"/>
            <a:ext cx="3154680" cy="320040"/>
          </a:xfrm>
          <a:prstGeom prst="rect">
            <a:avLst/>
          </a:prstGeom>
          <a:noFill/>
        </p:spPr>
        <p:txBody>
          <a:bodyPr wrap="square" lIns="0" tIns="0" rIns="0" bIns="0" anchor="t">
            <a:spAutoFit/>
          </a:bodyPr>
          <a:lstStyle/>
          <a:p>
            <a:r>
              <a:rPr sz="1700" b="1" i="0">
                <a:solidFill>
                  <a:srgbClr val="0B1F3A"/>
                </a:solidFill>
                <a:latin typeface="+mj-lt"/>
              </a:rPr>
              <a:t>The record that flows outward</a:t>
            </a:r>
          </a:p>
        </p:txBody>
      </p:sp>
      <p:sp>
        <p:nvSpPr>
          <p:cNvPr id="1015" name="TextBox 1014"/>
          <p:cNvSpPr txBox="1"/>
          <p:nvPr/>
        </p:nvSpPr>
        <p:spPr>
          <a:xfrm>
            <a:off x="8275319" y="3200400"/>
            <a:ext cx="3154680" cy="822960"/>
          </a:xfrm>
          <a:prstGeom prst="rect">
            <a:avLst/>
          </a:prstGeom>
          <a:noFill/>
        </p:spPr>
        <p:txBody>
          <a:bodyPr wrap="square" lIns="0" tIns="0" rIns="0" bIns="0" anchor="t">
            <a:spAutoFit/>
          </a:bodyPr>
          <a:lstStyle/>
          <a:p>
            <a:r>
              <a:rPr sz="1250" b="0" i="0">
                <a:solidFill>
                  <a:srgbClr val="0B1F3A"/>
                </a:solidFill>
              </a:rPr>
              <a:t>Phase changes and gate outcomes, for the people who plan rather than build.</a:t>
            </a:r>
          </a:p>
        </p:txBody>
      </p:sp>
      <p:sp>
        <p:nvSpPr>
          <p:cNvPr id="1016" name="Rounded Rectangle 1015"/>
          <p:cNvSpPr/>
          <p:nvPr/>
        </p:nvSpPr>
        <p:spPr>
          <a:xfrm>
            <a:off x="548640" y="4297680"/>
            <a:ext cx="5440680" cy="114300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777240" y="4407408"/>
            <a:ext cx="4572000" cy="228600"/>
          </a:xfrm>
          <a:prstGeom prst="rect">
            <a:avLst/>
          </a:prstGeom>
          <a:noFill/>
        </p:spPr>
        <p:txBody>
          <a:bodyPr wrap="square" lIns="0" tIns="0" rIns="0" bIns="0" anchor="t">
            <a:spAutoFit/>
          </a:bodyPr>
          <a:lstStyle/>
          <a:p>
            <a:r>
              <a:rPr sz="950" b="1" i="0" spc="200">
                <a:solidFill>
                  <a:srgbClr val="1E49E2"/>
                </a:solidFill>
              </a:rPr>
              <a:t>WORKFRONT OWNS PROJECT STATE</a:t>
            </a:r>
          </a:p>
        </p:txBody>
      </p:sp>
      <p:sp>
        <p:nvSpPr>
          <p:cNvPr id="1018" name="TextBox 1017"/>
          <p:cNvSpPr txBox="1"/>
          <p:nvPr/>
        </p:nvSpPr>
        <p:spPr>
          <a:xfrm>
            <a:off x="777240" y="4663440"/>
            <a:ext cx="5029200" cy="731520"/>
          </a:xfrm>
          <a:prstGeom prst="rect">
            <a:avLst/>
          </a:prstGeom>
          <a:noFill/>
        </p:spPr>
        <p:txBody>
          <a:bodyPr wrap="square" lIns="0" tIns="0" rIns="0" bIns="0" anchor="t">
            <a:spAutoFit/>
          </a:bodyPr>
          <a:lstStyle/>
          <a:p>
            <a:r>
              <a:rPr sz="1250" b="0" i="0">
                <a:solidFill>
                  <a:srgbClr val="0B1F3A"/>
                </a:solidFill>
              </a:rPr>
              <a:t>Phases, gates, approvals and who signed, dates, cost classification and the evidence index. It answers ‘where does the project stand?’</a:t>
            </a:r>
          </a:p>
        </p:txBody>
      </p:sp>
      <p:sp>
        <p:nvSpPr>
          <p:cNvPr id="1019" name="Rounded Rectangle 1018"/>
          <p:cNvSpPr/>
          <p:nvPr/>
        </p:nvSpPr>
        <p:spPr>
          <a:xfrm>
            <a:off x="6199632" y="4297680"/>
            <a:ext cx="5440680" cy="114300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TextBox 1019"/>
          <p:cNvSpPr txBox="1"/>
          <p:nvPr/>
        </p:nvSpPr>
        <p:spPr>
          <a:xfrm>
            <a:off x="6428232" y="4407408"/>
            <a:ext cx="4572000" cy="228600"/>
          </a:xfrm>
          <a:prstGeom prst="rect">
            <a:avLst/>
          </a:prstGeom>
          <a:noFill/>
        </p:spPr>
        <p:txBody>
          <a:bodyPr wrap="square" lIns="0" tIns="0" rIns="0" bIns="0" anchor="t">
            <a:spAutoFit/>
          </a:bodyPr>
          <a:lstStyle/>
          <a:p>
            <a:r>
              <a:rPr sz="950" b="1" i="0" spc="200">
                <a:solidFill>
                  <a:srgbClr val="1E49E2"/>
                </a:solidFill>
              </a:rPr>
              <a:t>AZURE BOARDS OWNS ENGINEERING DETAIL</a:t>
            </a:r>
          </a:p>
        </p:txBody>
      </p:sp>
      <p:sp>
        <p:nvSpPr>
          <p:cNvPr id="1021" name="TextBox 1020"/>
          <p:cNvSpPr txBox="1"/>
          <p:nvPr/>
        </p:nvSpPr>
        <p:spPr>
          <a:xfrm>
            <a:off x="6428232" y="4663440"/>
            <a:ext cx="5029200" cy="731520"/>
          </a:xfrm>
          <a:prstGeom prst="rect">
            <a:avLst/>
          </a:prstGeom>
          <a:noFill/>
        </p:spPr>
        <p:txBody>
          <a:bodyPr wrap="square" lIns="0" tIns="0" rIns="0" bIns="0" anchor="t">
            <a:spAutoFit/>
          </a:bodyPr>
          <a:lstStyle/>
          <a:p>
            <a:r>
              <a:rPr sz="1250" b="0" i="0">
                <a:solidFill>
                  <a:srgbClr val="0B1F3A"/>
                </a:solidFill>
              </a:rPr>
              <a:t>Work items, bugs and features, referenced as AB#&lt;id&gt; in commits and pull requests. It feeds Workfront and never speaks for it.</a:t>
            </a:r>
          </a:p>
        </p:txBody>
      </p:sp>
      <p:sp>
        <p:nvSpPr>
          <p:cNvPr id="1022" name="Rounded Rectangle 1021"/>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TextBox 1022"/>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A check that runs on every commit and a review that takes six weeks are different things. Plan them separately.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MODULE 06 · THE PAVED PATH</a:t>
            </a:r>
          </a:p>
        </p:txBody>
      </p:sp>
      <p:sp>
        <p:nvSpPr>
          <p:cNvPr id="3" name="Title 2"/>
          <p:cNvSpPr>
            <a:spLocks noGrp="1"/>
          </p:cNvSpPr>
          <p:nvPr>
            <p:ph type="title" idx="101"/>
          </p:nvPr>
        </p:nvSpPr>
        <p:spPr/>
        <p:txBody>
          <a:bodyPr/>
          <a:lstStyle/>
          <a:p>
            <a:pPr algn="l"/>
            <a:r>
              <a:t>Four phases, each closed by a gate you can point at</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6</a:t>
            </a:fld>
            <a:endParaRPr lang="en-US" b="0"/>
          </a:p>
        </p:txBody>
      </p:sp>
      <p:sp>
        <p:nvSpPr>
          <p:cNvPr id="1000" name="Rounded Rectangle 999"/>
          <p:cNvSpPr/>
          <p:nvPr/>
        </p:nvSpPr>
        <p:spPr>
          <a:xfrm>
            <a:off x="548640" y="1783080"/>
            <a:ext cx="2651760"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TextBox 1000"/>
          <p:cNvSpPr txBox="1"/>
          <p:nvPr/>
        </p:nvSpPr>
        <p:spPr>
          <a:xfrm>
            <a:off x="749808" y="1874519"/>
            <a:ext cx="1280160" cy="274320"/>
          </a:xfrm>
          <a:prstGeom prst="rect">
            <a:avLst/>
          </a:prstGeom>
          <a:noFill/>
        </p:spPr>
        <p:txBody>
          <a:bodyPr wrap="square" lIns="0" tIns="0" rIns="0" bIns="0" anchor="t">
            <a:spAutoFit/>
          </a:bodyPr>
          <a:lstStyle/>
          <a:p>
            <a:r>
              <a:rPr sz="1000" b="1" i="0" spc="200">
                <a:solidFill>
                  <a:srgbClr val="1E49E2"/>
                </a:solidFill>
              </a:rPr>
              <a:t>PHASE 0</a:t>
            </a:r>
          </a:p>
        </p:txBody>
      </p:sp>
      <p:sp>
        <p:nvSpPr>
          <p:cNvPr id="1002" name="TextBox 1001"/>
          <p:cNvSpPr txBox="1"/>
          <p:nvPr/>
        </p:nvSpPr>
        <p:spPr>
          <a:xfrm>
            <a:off x="749808" y="2148840"/>
            <a:ext cx="2286000" cy="365760"/>
          </a:xfrm>
          <a:prstGeom prst="rect">
            <a:avLst/>
          </a:prstGeom>
          <a:noFill/>
        </p:spPr>
        <p:txBody>
          <a:bodyPr wrap="square" lIns="0" tIns="0" rIns="0" bIns="0" anchor="t">
            <a:spAutoFit/>
          </a:bodyPr>
          <a:lstStyle/>
          <a:p>
            <a:r>
              <a:rPr sz="2000" b="1" i="0">
                <a:solidFill>
                  <a:srgbClr val="0B1F3A"/>
                </a:solidFill>
                <a:latin typeface="+mj-lt"/>
              </a:rPr>
              <a:t>Model</a:t>
            </a:r>
          </a:p>
        </p:txBody>
      </p:sp>
      <p:sp>
        <p:nvSpPr>
          <p:cNvPr id="1003" name="TextBox 1002"/>
          <p:cNvSpPr txBox="1"/>
          <p:nvPr/>
        </p:nvSpPr>
        <p:spPr>
          <a:xfrm>
            <a:off x="749808" y="2606040"/>
            <a:ext cx="2286000" cy="777240"/>
          </a:xfrm>
          <a:prstGeom prst="rect">
            <a:avLst/>
          </a:prstGeom>
          <a:noFill/>
        </p:spPr>
        <p:txBody>
          <a:bodyPr wrap="square" lIns="0" tIns="0" rIns="0" bIns="0" anchor="t">
            <a:spAutoFit/>
          </a:bodyPr>
          <a:lstStyle/>
          <a:p>
            <a:r>
              <a:rPr sz="1200" b="0" i="0">
                <a:solidFill>
                  <a:srgbClr val="0B1F3A"/>
                </a:solidFill>
              </a:rPr>
              <a:t>The requester builds a working model and writes the model charter.</a:t>
            </a:r>
          </a:p>
        </p:txBody>
      </p:sp>
      <p:sp>
        <p:nvSpPr>
          <p:cNvPr id="1004" name="Rounded Rectangle 1003"/>
          <p:cNvSpPr/>
          <p:nvPr/>
        </p:nvSpPr>
        <p:spPr>
          <a:xfrm>
            <a:off x="749808" y="3401568"/>
            <a:ext cx="105156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TextBox 1004"/>
          <p:cNvSpPr txBox="1"/>
          <p:nvPr/>
        </p:nvSpPr>
        <p:spPr>
          <a:xfrm>
            <a:off x="749808" y="3401568"/>
            <a:ext cx="1051560" cy="274320"/>
          </a:xfrm>
          <a:prstGeom prst="rect">
            <a:avLst/>
          </a:prstGeom>
          <a:noFill/>
        </p:spPr>
        <p:txBody>
          <a:bodyPr wrap="square" lIns="0" tIns="0" rIns="0" bIns="0" anchor="ctr">
            <a:spAutoFit/>
          </a:bodyPr>
          <a:lstStyle/>
          <a:p>
            <a:pPr algn="ctr"/>
            <a:r>
              <a:rPr sz="950" b="1" i="0" spc="200">
                <a:solidFill>
                  <a:srgbClr val="1E49E2"/>
                </a:solidFill>
              </a:rPr>
              <a:t>REQUESTER</a:t>
            </a:r>
          </a:p>
        </p:txBody>
      </p:sp>
      <p:sp>
        <p:nvSpPr>
          <p:cNvPr id="1006" name="Rounded Rectangle 1005"/>
          <p:cNvSpPr/>
          <p:nvPr/>
        </p:nvSpPr>
        <p:spPr>
          <a:xfrm>
            <a:off x="548640" y="3931920"/>
            <a:ext cx="2651760" cy="146304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Diamond 1006"/>
          <p:cNvSpPr/>
          <p:nvPr/>
        </p:nvSpPr>
        <p:spPr>
          <a:xfrm>
            <a:off x="749808" y="406908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1188719" y="4050791"/>
            <a:ext cx="1920240" cy="365760"/>
          </a:xfrm>
          <a:prstGeom prst="rect">
            <a:avLst/>
          </a:prstGeom>
          <a:noFill/>
        </p:spPr>
        <p:txBody>
          <a:bodyPr wrap="square" lIns="0" tIns="0" rIns="0" bIns="0" anchor="ctr">
            <a:spAutoFit/>
          </a:bodyPr>
          <a:lstStyle/>
          <a:p>
            <a:r>
              <a:rPr sz="1600" b="1" i="0">
                <a:solidFill>
                  <a:srgbClr val="FFFFFF"/>
                </a:solidFill>
                <a:latin typeface="+mj-lt"/>
              </a:rPr>
              <a:t>Upsize gate</a:t>
            </a:r>
          </a:p>
        </p:txBody>
      </p:sp>
      <p:sp>
        <p:nvSpPr>
          <p:cNvPr id="1009" name="TextBox 1008"/>
          <p:cNvSpPr txBox="1"/>
          <p:nvPr/>
        </p:nvSpPr>
        <p:spPr>
          <a:xfrm>
            <a:off x="749808" y="4526280"/>
            <a:ext cx="457200" cy="228600"/>
          </a:xfrm>
          <a:prstGeom prst="rect">
            <a:avLst/>
          </a:prstGeom>
          <a:noFill/>
        </p:spPr>
        <p:txBody>
          <a:bodyPr wrap="square" lIns="0" tIns="0" rIns="0" bIns="0" anchor="t">
            <a:spAutoFit/>
          </a:bodyPr>
          <a:lstStyle/>
          <a:p>
            <a:r>
              <a:rPr sz="900" b="1" i="0" spc="200">
                <a:solidFill>
                  <a:srgbClr val="F2A900"/>
                </a:solidFill>
              </a:rPr>
              <a:t>TESTS</a:t>
            </a:r>
          </a:p>
        </p:txBody>
      </p:sp>
      <p:sp>
        <p:nvSpPr>
          <p:cNvPr id="1010" name="TextBox 1009"/>
          <p:cNvSpPr txBox="1"/>
          <p:nvPr/>
        </p:nvSpPr>
        <p:spPr>
          <a:xfrm>
            <a:off x="749808" y="4754880"/>
            <a:ext cx="2286000" cy="594360"/>
          </a:xfrm>
          <a:prstGeom prst="rect">
            <a:avLst/>
          </a:prstGeom>
          <a:noFill/>
        </p:spPr>
        <p:txBody>
          <a:bodyPr wrap="square" lIns="0" tIns="0" rIns="0" bIns="0" anchor="t">
            <a:spAutoFit/>
          </a:bodyPr>
          <a:lstStyle/>
          <a:p>
            <a:r>
              <a:rPr sz="1250" b="0" i="0">
                <a:solidFill>
                  <a:srgbClr val="FFFFFF"/>
                </a:solidFill>
              </a:rPr>
              <a:t>The charter has no open questions</a:t>
            </a:r>
          </a:p>
        </p:txBody>
      </p:sp>
      <p:sp>
        <p:nvSpPr>
          <p:cNvPr id="1011" name="Right Arrow 1010"/>
          <p:cNvSpPr/>
          <p:nvPr/>
        </p:nvSpPr>
        <p:spPr>
          <a:xfrm>
            <a:off x="3218688" y="45262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ounded Rectangle 1011"/>
          <p:cNvSpPr/>
          <p:nvPr/>
        </p:nvSpPr>
        <p:spPr>
          <a:xfrm>
            <a:off x="3364992" y="1783080"/>
            <a:ext cx="2651760"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3566160" y="1874519"/>
            <a:ext cx="1280160" cy="274320"/>
          </a:xfrm>
          <a:prstGeom prst="rect">
            <a:avLst/>
          </a:prstGeom>
          <a:noFill/>
        </p:spPr>
        <p:txBody>
          <a:bodyPr wrap="square" lIns="0" tIns="0" rIns="0" bIns="0" anchor="t">
            <a:spAutoFit/>
          </a:bodyPr>
          <a:lstStyle/>
          <a:p>
            <a:r>
              <a:rPr sz="1000" b="1" i="0" spc="200">
                <a:solidFill>
                  <a:srgbClr val="1E49E2"/>
                </a:solidFill>
              </a:rPr>
              <a:t>PHASE 1</a:t>
            </a:r>
          </a:p>
        </p:txBody>
      </p:sp>
      <p:sp>
        <p:nvSpPr>
          <p:cNvPr id="1014" name="TextBox 1013"/>
          <p:cNvSpPr txBox="1"/>
          <p:nvPr/>
        </p:nvSpPr>
        <p:spPr>
          <a:xfrm>
            <a:off x="3566160" y="2148840"/>
            <a:ext cx="2286000" cy="365760"/>
          </a:xfrm>
          <a:prstGeom prst="rect">
            <a:avLst/>
          </a:prstGeom>
          <a:noFill/>
        </p:spPr>
        <p:txBody>
          <a:bodyPr wrap="square" lIns="0" tIns="0" rIns="0" bIns="0" anchor="t">
            <a:spAutoFit/>
          </a:bodyPr>
          <a:lstStyle/>
          <a:p>
            <a:r>
              <a:rPr sz="2000" b="1" i="0">
                <a:solidFill>
                  <a:srgbClr val="0B1F3A"/>
                </a:solidFill>
                <a:latin typeface="+mj-lt"/>
              </a:rPr>
              <a:t>Upsize</a:t>
            </a:r>
          </a:p>
        </p:txBody>
      </p:sp>
      <p:sp>
        <p:nvSpPr>
          <p:cNvPr id="1015" name="TextBox 1014"/>
          <p:cNvSpPr txBox="1"/>
          <p:nvPr/>
        </p:nvSpPr>
        <p:spPr>
          <a:xfrm>
            <a:off x="3566160" y="2606040"/>
            <a:ext cx="2286000" cy="777240"/>
          </a:xfrm>
          <a:prstGeom prst="rect">
            <a:avLst/>
          </a:prstGeom>
          <a:noFill/>
        </p:spPr>
        <p:txBody>
          <a:bodyPr wrap="square" lIns="0" tIns="0" rIns="0" bIns="0" anchor="t">
            <a:spAutoFit/>
          </a:bodyPr>
          <a:lstStyle/>
          <a:p>
            <a:r>
              <a:rPr sz="1200" b="0" i="0">
                <a:solidFill>
                  <a:srgbClr val="0B1F3A"/>
                </a:solidFill>
              </a:rPr>
              <a:t>The model becomes a real repository on the standard stack, deployed to DEV.</a:t>
            </a:r>
          </a:p>
        </p:txBody>
      </p:sp>
      <p:sp>
        <p:nvSpPr>
          <p:cNvPr id="1016" name="Rounded Rectangle 1015"/>
          <p:cNvSpPr/>
          <p:nvPr/>
        </p:nvSpPr>
        <p:spPr>
          <a:xfrm>
            <a:off x="3566160" y="3401568"/>
            <a:ext cx="105156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3566160" y="3401568"/>
            <a:ext cx="1051560" cy="274320"/>
          </a:xfrm>
          <a:prstGeom prst="rect">
            <a:avLst/>
          </a:prstGeom>
          <a:noFill/>
        </p:spPr>
        <p:txBody>
          <a:bodyPr wrap="square" lIns="0" tIns="0" rIns="0" bIns="0" anchor="ctr">
            <a:spAutoFit/>
          </a:bodyPr>
          <a:lstStyle/>
          <a:p>
            <a:pPr algn="ctr"/>
            <a:r>
              <a:rPr sz="950" b="1" i="0" spc="200">
                <a:solidFill>
                  <a:srgbClr val="1E49E2"/>
                </a:solidFill>
              </a:rPr>
              <a:t>BUILDER</a:t>
            </a:r>
          </a:p>
        </p:txBody>
      </p:sp>
      <p:sp>
        <p:nvSpPr>
          <p:cNvPr id="1018" name="Rounded Rectangle 1017"/>
          <p:cNvSpPr/>
          <p:nvPr/>
        </p:nvSpPr>
        <p:spPr>
          <a:xfrm>
            <a:off x="3364992" y="3931920"/>
            <a:ext cx="2651760" cy="146304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Diamond 1018"/>
          <p:cNvSpPr/>
          <p:nvPr/>
        </p:nvSpPr>
        <p:spPr>
          <a:xfrm>
            <a:off x="3566160" y="406908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TextBox 1019"/>
          <p:cNvSpPr txBox="1"/>
          <p:nvPr/>
        </p:nvSpPr>
        <p:spPr>
          <a:xfrm>
            <a:off x="4005072" y="4050791"/>
            <a:ext cx="1920240" cy="365760"/>
          </a:xfrm>
          <a:prstGeom prst="rect">
            <a:avLst/>
          </a:prstGeom>
          <a:noFill/>
        </p:spPr>
        <p:txBody>
          <a:bodyPr wrap="square" lIns="0" tIns="0" rIns="0" bIns="0" anchor="ctr">
            <a:spAutoFit/>
          </a:bodyPr>
          <a:lstStyle/>
          <a:p>
            <a:r>
              <a:rPr sz="1600" b="1" i="0">
                <a:solidFill>
                  <a:srgbClr val="FFFFFF"/>
                </a:solidFill>
                <a:latin typeface="+mj-lt"/>
              </a:rPr>
              <a:t>DEV gate</a:t>
            </a:r>
          </a:p>
        </p:txBody>
      </p:sp>
      <p:sp>
        <p:nvSpPr>
          <p:cNvPr id="1021" name="TextBox 1020"/>
          <p:cNvSpPr txBox="1"/>
          <p:nvPr/>
        </p:nvSpPr>
        <p:spPr>
          <a:xfrm>
            <a:off x="3566160" y="4526280"/>
            <a:ext cx="457200" cy="228600"/>
          </a:xfrm>
          <a:prstGeom prst="rect">
            <a:avLst/>
          </a:prstGeom>
          <a:noFill/>
        </p:spPr>
        <p:txBody>
          <a:bodyPr wrap="square" lIns="0" tIns="0" rIns="0" bIns="0" anchor="t">
            <a:spAutoFit/>
          </a:bodyPr>
          <a:lstStyle/>
          <a:p>
            <a:r>
              <a:rPr sz="900" b="1" i="0" spc="200">
                <a:solidFill>
                  <a:srgbClr val="F2A900"/>
                </a:solidFill>
              </a:rPr>
              <a:t>TESTS</a:t>
            </a:r>
          </a:p>
        </p:txBody>
      </p:sp>
      <p:sp>
        <p:nvSpPr>
          <p:cNvPr id="1022" name="TextBox 1021"/>
          <p:cNvSpPr txBox="1"/>
          <p:nvPr/>
        </p:nvSpPr>
        <p:spPr>
          <a:xfrm>
            <a:off x="3566160" y="4754880"/>
            <a:ext cx="2286000" cy="594360"/>
          </a:xfrm>
          <a:prstGeom prst="rect">
            <a:avLst/>
          </a:prstGeom>
          <a:noFill/>
        </p:spPr>
        <p:txBody>
          <a:bodyPr wrap="square" lIns="0" tIns="0" rIns="0" bIns="0" anchor="t">
            <a:spAutoFit/>
          </a:bodyPr>
          <a:lstStyle/>
          <a:p>
            <a:r>
              <a:rPr sz="1250" b="0" i="0">
                <a:solidFill>
                  <a:srgbClr val="FFFFFF"/>
                </a:solidFill>
              </a:rPr>
              <a:t>The running app answers a request</a:t>
            </a:r>
          </a:p>
        </p:txBody>
      </p:sp>
      <p:sp>
        <p:nvSpPr>
          <p:cNvPr id="1023" name="Right Arrow 1022"/>
          <p:cNvSpPr/>
          <p:nvPr/>
        </p:nvSpPr>
        <p:spPr>
          <a:xfrm>
            <a:off x="6035040" y="45262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Rounded Rectangle 1023"/>
          <p:cNvSpPr/>
          <p:nvPr/>
        </p:nvSpPr>
        <p:spPr>
          <a:xfrm>
            <a:off x="6181344" y="1783080"/>
            <a:ext cx="2651760"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TextBox 1024"/>
          <p:cNvSpPr txBox="1"/>
          <p:nvPr/>
        </p:nvSpPr>
        <p:spPr>
          <a:xfrm>
            <a:off x="6382512" y="1874519"/>
            <a:ext cx="1280160" cy="274320"/>
          </a:xfrm>
          <a:prstGeom prst="rect">
            <a:avLst/>
          </a:prstGeom>
          <a:noFill/>
        </p:spPr>
        <p:txBody>
          <a:bodyPr wrap="square" lIns="0" tIns="0" rIns="0" bIns="0" anchor="t">
            <a:spAutoFit/>
          </a:bodyPr>
          <a:lstStyle/>
          <a:p>
            <a:r>
              <a:rPr sz="1000" b="1" i="0" spc="200">
                <a:solidFill>
                  <a:srgbClr val="1E49E2"/>
                </a:solidFill>
              </a:rPr>
              <a:t>PHASE 2</a:t>
            </a:r>
          </a:p>
        </p:txBody>
      </p:sp>
      <p:sp>
        <p:nvSpPr>
          <p:cNvPr id="1026" name="TextBox 1025"/>
          <p:cNvSpPr txBox="1"/>
          <p:nvPr/>
        </p:nvSpPr>
        <p:spPr>
          <a:xfrm>
            <a:off x="6382512" y="2148840"/>
            <a:ext cx="2286000" cy="365760"/>
          </a:xfrm>
          <a:prstGeom prst="rect">
            <a:avLst/>
          </a:prstGeom>
          <a:noFill/>
        </p:spPr>
        <p:txBody>
          <a:bodyPr wrap="square" lIns="0" tIns="0" rIns="0" bIns="0" anchor="t">
            <a:spAutoFit/>
          </a:bodyPr>
          <a:lstStyle/>
          <a:p>
            <a:r>
              <a:rPr sz="2000" b="1" i="0">
                <a:solidFill>
                  <a:srgbClr val="0B1F3A"/>
                </a:solidFill>
                <a:latin typeface="+mj-lt"/>
              </a:rPr>
              <a:t>Build loop</a:t>
            </a:r>
          </a:p>
        </p:txBody>
      </p:sp>
      <p:sp>
        <p:nvSpPr>
          <p:cNvPr id="1027" name="TextBox 1026"/>
          <p:cNvSpPr txBox="1"/>
          <p:nvPr/>
        </p:nvSpPr>
        <p:spPr>
          <a:xfrm>
            <a:off x="6382512" y="2606040"/>
            <a:ext cx="2286000" cy="777240"/>
          </a:xfrm>
          <a:prstGeom prst="rect">
            <a:avLst/>
          </a:prstGeom>
          <a:noFill/>
        </p:spPr>
        <p:txBody>
          <a:bodyPr wrap="square" lIns="0" tIns="0" rIns="0" bIns="0" anchor="t">
            <a:spAutoFit/>
          </a:bodyPr>
          <a:lstStyle/>
          <a:p>
            <a:r>
              <a:rPr sz="1200" b="0" i="0">
                <a:solidFill>
                  <a:srgbClr val="0B1F3A"/>
                </a:solidFill>
              </a:rPr>
              <a:t>Features and fixes, with the rails running beside every change.</a:t>
            </a:r>
          </a:p>
        </p:txBody>
      </p:sp>
      <p:sp>
        <p:nvSpPr>
          <p:cNvPr id="1028" name="Rounded Rectangle 1027"/>
          <p:cNvSpPr/>
          <p:nvPr/>
        </p:nvSpPr>
        <p:spPr>
          <a:xfrm>
            <a:off x="6382512" y="3401568"/>
            <a:ext cx="105156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TextBox 1028"/>
          <p:cNvSpPr txBox="1"/>
          <p:nvPr/>
        </p:nvSpPr>
        <p:spPr>
          <a:xfrm>
            <a:off x="6382512" y="3401568"/>
            <a:ext cx="1051560" cy="274320"/>
          </a:xfrm>
          <a:prstGeom prst="rect">
            <a:avLst/>
          </a:prstGeom>
          <a:noFill/>
        </p:spPr>
        <p:txBody>
          <a:bodyPr wrap="square" lIns="0" tIns="0" rIns="0" bIns="0" anchor="ctr">
            <a:spAutoFit/>
          </a:bodyPr>
          <a:lstStyle/>
          <a:p>
            <a:pPr algn="ctr"/>
            <a:r>
              <a:rPr sz="950" b="1" i="0" spc="200">
                <a:solidFill>
                  <a:srgbClr val="1E49E2"/>
                </a:solidFill>
              </a:rPr>
              <a:t>BUILDER</a:t>
            </a:r>
          </a:p>
        </p:txBody>
      </p:sp>
      <p:sp>
        <p:nvSpPr>
          <p:cNvPr id="1030" name="Rounded Rectangle 1029"/>
          <p:cNvSpPr/>
          <p:nvPr/>
        </p:nvSpPr>
        <p:spPr>
          <a:xfrm>
            <a:off x="6181344" y="3931920"/>
            <a:ext cx="2651760" cy="146304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1" name="Diamond 1030"/>
          <p:cNvSpPr/>
          <p:nvPr/>
        </p:nvSpPr>
        <p:spPr>
          <a:xfrm>
            <a:off x="6382512" y="406908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TextBox 1031"/>
          <p:cNvSpPr txBox="1"/>
          <p:nvPr/>
        </p:nvSpPr>
        <p:spPr>
          <a:xfrm>
            <a:off x="6821424" y="4050791"/>
            <a:ext cx="1920240" cy="365760"/>
          </a:xfrm>
          <a:prstGeom prst="rect">
            <a:avLst/>
          </a:prstGeom>
          <a:noFill/>
        </p:spPr>
        <p:txBody>
          <a:bodyPr wrap="square" lIns="0" tIns="0" rIns="0" bIns="0" anchor="ctr">
            <a:spAutoFit/>
          </a:bodyPr>
          <a:lstStyle/>
          <a:p>
            <a:r>
              <a:rPr sz="1600" b="1" i="0">
                <a:solidFill>
                  <a:srgbClr val="FFFFFF"/>
                </a:solidFill>
                <a:latin typeface="+mj-lt"/>
              </a:rPr>
              <a:t>Scope gate</a:t>
            </a:r>
          </a:p>
        </p:txBody>
      </p:sp>
      <p:sp>
        <p:nvSpPr>
          <p:cNvPr id="1033" name="TextBox 1032"/>
          <p:cNvSpPr txBox="1"/>
          <p:nvPr/>
        </p:nvSpPr>
        <p:spPr>
          <a:xfrm>
            <a:off x="6382512" y="4526280"/>
            <a:ext cx="457200" cy="228600"/>
          </a:xfrm>
          <a:prstGeom prst="rect">
            <a:avLst/>
          </a:prstGeom>
          <a:noFill/>
        </p:spPr>
        <p:txBody>
          <a:bodyPr wrap="square" lIns="0" tIns="0" rIns="0" bIns="0" anchor="t">
            <a:spAutoFit/>
          </a:bodyPr>
          <a:lstStyle/>
          <a:p>
            <a:r>
              <a:rPr sz="900" b="1" i="0" spc="200">
                <a:solidFill>
                  <a:srgbClr val="F2A900"/>
                </a:solidFill>
              </a:rPr>
              <a:t>TESTS</a:t>
            </a:r>
          </a:p>
        </p:txBody>
      </p:sp>
      <p:sp>
        <p:nvSpPr>
          <p:cNvPr id="1034" name="TextBox 1033"/>
          <p:cNvSpPr txBox="1"/>
          <p:nvPr/>
        </p:nvSpPr>
        <p:spPr>
          <a:xfrm>
            <a:off x="6382512" y="4754880"/>
            <a:ext cx="2286000" cy="594360"/>
          </a:xfrm>
          <a:prstGeom prst="rect">
            <a:avLst/>
          </a:prstGeom>
          <a:noFill/>
        </p:spPr>
        <p:txBody>
          <a:bodyPr wrap="square" lIns="0" tIns="0" rIns="0" bIns="0" anchor="t">
            <a:spAutoFit/>
          </a:bodyPr>
          <a:lstStyle/>
          <a:p>
            <a:r>
              <a:rPr sz="1250" b="0" i="0">
                <a:solidFill>
                  <a:srgbClr val="FFFFFF"/>
                </a:solidFill>
              </a:rPr>
              <a:t>The full flow works, every state reachable</a:t>
            </a:r>
          </a:p>
        </p:txBody>
      </p:sp>
      <p:sp>
        <p:nvSpPr>
          <p:cNvPr id="1035" name="Right Arrow 1034"/>
          <p:cNvSpPr/>
          <p:nvPr/>
        </p:nvSpPr>
        <p:spPr>
          <a:xfrm>
            <a:off x="8851392" y="45262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6" name="Rounded Rectangle 1035"/>
          <p:cNvSpPr/>
          <p:nvPr/>
        </p:nvSpPr>
        <p:spPr>
          <a:xfrm>
            <a:off x="8997696" y="1783080"/>
            <a:ext cx="2651760" cy="20116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7" name="TextBox 1036"/>
          <p:cNvSpPr txBox="1"/>
          <p:nvPr/>
        </p:nvSpPr>
        <p:spPr>
          <a:xfrm>
            <a:off x="9198864" y="1874519"/>
            <a:ext cx="1280160" cy="274320"/>
          </a:xfrm>
          <a:prstGeom prst="rect">
            <a:avLst/>
          </a:prstGeom>
          <a:noFill/>
        </p:spPr>
        <p:txBody>
          <a:bodyPr wrap="square" lIns="0" tIns="0" rIns="0" bIns="0" anchor="t">
            <a:spAutoFit/>
          </a:bodyPr>
          <a:lstStyle/>
          <a:p>
            <a:r>
              <a:rPr sz="1000" b="1" i="0" spc="200">
                <a:solidFill>
                  <a:srgbClr val="1E49E2"/>
                </a:solidFill>
              </a:rPr>
              <a:t>PHASE 3</a:t>
            </a:r>
          </a:p>
        </p:txBody>
      </p:sp>
      <p:sp>
        <p:nvSpPr>
          <p:cNvPr id="1038" name="TextBox 1037"/>
          <p:cNvSpPr txBox="1"/>
          <p:nvPr/>
        </p:nvSpPr>
        <p:spPr>
          <a:xfrm>
            <a:off x="9198864" y="2148840"/>
            <a:ext cx="2286000" cy="365760"/>
          </a:xfrm>
          <a:prstGeom prst="rect">
            <a:avLst/>
          </a:prstGeom>
          <a:noFill/>
        </p:spPr>
        <p:txBody>
          <a:bodyPr wrap="square" lIns="0" tIns="0" rIns="0" bIns="0" anchor="t">
            <a:spAutoFit/>
          </a:bodyPr>
          <a:lstStyle/>
          <a:p>
            <a:r>
              <a:rPr sz="2000" b="1" i="0">
                <a:solidFill>
                  <a:srgbClr val="0B1F3A"/>
                </a:solidFill>
                <a:latin typeface="+mj-lt"/>
              </a:rPr>
              <a:t>Release loop</a:t>
            </a:r>
          </a:p>
        </p:txBody>
      </p:sp>
      <p:sp>
        <p:nvSpPr>
          <p:cNvPr id="1039" name="TextBox 1038"/>
          <p:cNvSpPr txBox="1"/>
          <p:nvPr/>
        </p:nvSpPr>
        <p:spPr>
          <a:xfrm>
            <a:off x="9198864" y="2606040"/>
            <a:ext cx="2286000" cy="777240"/>
          </a:xfrm>
          <a:prstGeom prst="rect">
            <a:avLst/>
          </a:prstGeom>
          <a:noFill/>
        </p:spPr>
        <p:txBody>
          <a:bodyPr wrap="square" lIns="0" tIns="0" rIns="0" bIns="0" anchor="t">
            <a:spAutoFit/>
          </a:bodyPr>
          <a:lstStyle/>
          <a:p>
            <a:r>
              <a:rPr sz="1200" b="0" i="0">
                <a:solidFill>
                  <a:srgbClr val="0B1F3A"/>
                </a:solidFill>
              </a:rPr>
              <a:t>Cut, test, accept in TEST, promote to production.</a:t>
            </a:r>
          </a:p>
        </p:txBody>
      </p:sp>
      <p:sp>
        <p:nvSpPr>
          <p:cNvPr id="1040" name="Rounded Rectangle 1039"/>
          <p:cNvSpPr/>
          <p:nvPr/>
        </p:nvSpPr>
        <p:spPr>
          <a:xfrm>
            <a:off x="9198864" y="3401568"/>
            <a:ext cx="1737360" cy="2743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1" name="TextBox 1040"/>
          <p:cNvSpPr txBox="1"/>
          <p:nvPr/>
        </p:nvSpPr>
        <p:spPr>
          <a:xfrm>
            <a:off x="9198864" y="3401568"/>
            <a:ext cx="1737360" cy="274320"/>
          </a:xfrm>
          <a:prstGeom prst="rect">
            <a:avLst/>
          </a:prstGeom>
          <a:noFill/>
        </p:spPr>
        <p:txBody>
          <a:bodyPr wrap="square" lIns="0" tIns="0" rIns="0" bIns="0" anchor="ctr">
            <a:spAutoFit/>
          </a:bodyPr>
          <a:lstStyle/>
          <a:p>
            <a:pPr algn="ctr"/>
            <a:r>
              <a:rPr sz="950" b="1" i="0" spc="200">
                <a:solidFill>
                  <a:srgbClr val="1E49E2"/>
                </a:solidFill>
              </a:rPr>
              <a:t>BUILDER + BUSINESS</a:t>
            </a:r>
          </a:p>
        </p:txBody>
      </p:sp>
      <p:sp>
        <p:nvSpPr>
          <p:cNvPr id="1042" name="Rounded Rectangle 1041"/>
          <p:cNvSpPr/>
          <p:nvPr/>
        </p:nvSpPr>
        <p:spPr>
          <a:xfrm>
            <a:off x="8997696" y="3931920"/>
            <a:ext cx="2651760" cy="146304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3" name="Diamond 1042"/>
          <p:cNvSpPr/>
          <p:nvPr/>
        </p:nvSpPr>
        <p:spPr>
          <a:xfrm>
            <a:off x="9198864" y="406908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4" name="TextBox 1043"/>
          <p:cNvSpPr txBox="1"/>
          <p:nvPr/>
        </p:nvSpPr>
        <p:spPr>
          <a:xfrm>
            <a:off x="9637776" y="4050791"/>
            <a:ext cx="1920240" cy="365760"/>
          </a:xfrm>
          <a:prstGeom prst="rect">
            <a:avLst/>
          </a:prstGeom>
          <a:noFill/>
        </p:spPr>
        <p:txBody>
          <a:bodyPr wrap="square" lIns="0" tIns="0" rIns="0" bIns="0" anchor="ctr">
            <a:spAutoFit/>
          </a:bodyPr>
          <a:lstStyle/>
          <a:p>
            <a:r>
              <a:rPr sz="1600" b="1" i="0">
                <a:solidFill>
                  <a:srgbClr val="FFFFFF"/>
                </a:solidFill>
                <a:latin typeface="+mj-lt"/>
              </a:rPr>
              <a:t>Go-live gate</a:t>
            </a:r>
          </a:p>
        </p:txBody>
      </p:sp>
      <p:sp>
        <p:nvSpPr>
          <p:cNvPr id="1045" name="TextBox 1044"/>
          <p:cNvSpPr txBox="1"/>
          <p:nvPr/>
        </p:nvSpPr>
        <p:spPr>
          <a:xfrm>
            <a:off x="9198864" y="4526280"/>
            <a:ext cx="457200" cy="228600"/>
          </a:xfrm>
          <a:prstGeom prst="rect">
            <a:avLst/>
          </a:prstGeom>
          <a:noFill/>
        </p:spPr>
        <p:txBody>
          <a:bodyPr wrap="square" lIns="0" tIns="0" rIns="0" bIns="0" anchor="t">
            <a:spAutoFit/>
          </a:bodyPr>
          <a:lstStyle/>
          <a:p>
            <a:r>
              <a:rPr sz="900" b="1" i="0" spc="200">
                <a:solidFill>
                  <a:srgbClr val="F2A900"/>
                </a:solidFill>
              </a:rPr>
              <a:t>TESTS</a:t>
            </a:r>
          </a:p>
        </p:txBody>
      </p:sp>
      <p:sp>
        <p:nvSpPr>
          <p:cNvPr id="1046" name="TextBox 1045"/>
          <p:cNvSpPr txBox="1"/>
          <p:nvPr/>
        </p:nvSpPr>
        <p:spPr>
          <a:xfrm>
            <a:off x="9198864" y="4754880"/>
            <a:ext cx="2286000" cy="594360"/>
          </a:xfrm>
          <a:prstGeom prst="rect">
            <a:avLst/>
          </a:prstGeom>
          <a:noFill/>
        </p:spPr>
        <p:txBody>
          <a:bodyPr wrap="square" lIns="0" tIns="0" rIns="0" bIns="0" anchor="t">
            <a:spAutoFit/>
          </a:bodyPr>
          <a:lstStyle/>
          <a:p>
            <a:r>
              <a:rPr sz="1250" b="0" i="0">
                <a:solidFill>
                  <a:srgbClr val="FFFFFF"/>
                </a:solidFill>
              </a:rPr>
              <a:t>Signed off, every approval closed, app verified</a:t>
            </a:r>
          </a:p>
        </p:txBody>
      </p:sp>
      <p:sp>
        <p:nvSpPr>
          <p:cNvPr id="1047" name="Rounded Rectangle 1046"/>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8" name="TextBox 1047"/>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No gate is a meeting. Each one tests an artifact or a result that someone can check.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MODULE 06 · THE PAVED PATH</a:t>
            </a:r>
          </a:p>
        </p:txBody>
      </p:sp>
      <p:sp>
        <p:nvSpPr>
          <p:cNvPr id="3" name="Title 2"/>
          <p:cNvSpPr>
            <a:spLocks noGrp="1"/>
          </p:cNvSpPr>
          <p:nvPr>
            <p:ph type="title" idx="101"/>
          </p:nvPr>
        </p:nvSpPr>
        <p:spPr/>
        <p:txBody>
          <a:bodyPr/>
          <a:lstStyle/>
          <a:p>
            <a:pPr algn="l"/>
            <a:r>
              <a:t>The twelve TDMI steps, placed on the four gates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7</a:t>
            </a:fld>
            <a:endParaRPr lang="en-US" b="0"/>
          </a:p>
        </p:txBody>
      </p:sp>
      <p:sp>
        <p:nvSpPr>
          <p:cNvPr id="1000" name="Rounded Rectangle 999"/>
          <p:cNvSpPr/>
          <p:nvPr/>
        </p:nvSpPr>
        <p:spPr>
          <a:xfrm>
            <a:off x="548640" y="1783080"/>
            <a:ext cx="2651760" cy="26974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TextBox 1000"/>
          <p:cNvSpPr txBox="1"/>
          <p:nvPr/>
        </p:nvSpPr>
        <p:spPr>
          <a:xfrm>
            <a:off x="731520" y="1892807"/>
            <a:ext cx="2377440" cy="228600"/>
          </a:xfrm>
          <a:prstGeom prst="rect">
            <a:avLst/>
          </a:prstGeom>
          <a:noFill/>
        </p:spPr>
        <p:txBody>
          <a:bodyPr wrap="square" lIns="0" tIns="0" rIns="0" bIns="0" anchor="t">
            <a:spAutoFit/>
          </a:bodyPr>
          <a:lstStyle/>
          <a:p>
            <a:r>
              <a:rPr sz="900" b="1" i="0" spc="200">
                <a:solidFill>
                  <a:srgbClr val="1E49E2"/>
                </a:solidFill>
              </a:rPr>
              <a:t>PHASE 0 · MODEL</a:t>
            </a:r>
          </a:p>
        </p:txBody>
      </p:sp>
      <p:sp>
        <p:nvSpPr>
          <p:cNvPr id="1002" name="Rounded Rectangle 1001"/>
          <p:cNvSpPr/>
          <p:nvPr/>
        </p:nvSpPr>
        <p:spPr>
          <a:xfrm>
            <a:off x="731520" y="2240280"/>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Rounded Rectangle 1002"/>
          <p:cNvSpPr/>
          <p:nvPr/>
        </p:nvSpPr>
        <p:spPr>
          <a:xfrm>
            <a:off x="804672" y="2313432"/>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4" name="TextBox 1003"/>
          <p:cNvSpPr txBox="1"/>
          <p:nvPr/>
        </p:nvSpPr>
        <p:spPr>
          <a:xfrm>
            <a:off x="804672" y="2385691"/>
            <a:ext cx="329184" cy="184666"/>
          </a:xfrm>
          <a:prstGeom prst="rect">
            <a:avLst/>
          </a:prstGeom>
          <a:noFill/>
        </p:spPr>
        <p:txBody>
          <a:bodyPr wrap="square" lIns="0" tIns="0" rIns="0" bIns="0" anchor="ctr">
            <a:spAutoFit/>
          </a:bodyPr>
          <a:lstStyle/>
          <a:p>
            <a:pPr algn="ctr"/>
            <a:r>
              <a:rPr lang="en-US" sz="1200" b="1">
                <a:solidFill>
                  <a:srgbClr val="FFFFFF"/>
                </a:solidFill>
                <a:latin typeface="+mj-lt"/>
              </a:rPr>
              <a:t>1</a:t>
            </a:r>
            <a:endParaRPr sz="1200" b="1" i="0">
              <a:solidFill>
                <a:srgbClr val="FFFFFF"/>
              </a:solidFill>
              <a:latin typeface="+mj-lt"/>
            </a:endParaRPr>
          </a:p>
        </p:txBody>
      </p:sp>
      <p:sp>
        <p:nvSpPr>
          <p:cNvPr id="1005" name="TextBox 1004"/>
          <p:cNvSpPr txBox="1"/>
          <p:nvPr/>
        </p:nvSpPr>
        <p:spPr>
          <a:xfrm>
            <a:off x="1234440" y="2240280"/>
            <a:ext cx="1737360" cy="475488"/>
          </a:xfrm>
          <a:prstGeom prst="rect">
            <a:avLst/>
          </a:prstGeom>
          <a:noFill/>
        </p:spPr>
        <p:txBody>
          <a:bodyPr wrap="square" lIns="0" tIns="0" rIns="0" bIns="0" anchor="ctr">
            <a:spAutoFit/>
          </a:bodyPr>
          <a:lstStyle/>
          <a:p>
            <a:r>
              <a:rPr sz="1200" b="1" i="0">
                <a:solidFill>
                  <a:srgbClr val="0B1F3A"/>
                </a:solidFill>
              </a:rPr>
              <a:t>UI draft created</a:t>
            </a:r>
          </a:p>
        </p:txBody>
      </p:sp>
      <p:sp>
        <p:nvSpPr>
          <p:cNvPr id="1006" name="Rounded Rectangle 1005"/>
          <p:cNvSpPr/>
          <p:nvPr/>
        </p:nvSpPr>
        <p:spPr>
          <a:xfrm>
            <a:off x="731520" y="2807208"/>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ounded Rectangle 1006"/>
          <p:cNvSpPr/>
          <p:nvPr/>
        </p:nvSpPr>
        <p:spPr>
          <a:xfrm>
            <a:off x="804672" y="2880360"/>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804672" y="2952619"/>
            <a:ext cx="329184" cy="184666"/>
          </a:xfrm>
          <a:prstGeom prst="rect">
            <a:avLst/>
          </a:prstGeom>
          <a:noFill/>
        </p:spPr>
        <p:txBody>
          <a:bodyPr wrap="square" lIns="0" tIns="0" rIns="0" bIns="0" anchor="ctr">
            <a:spAutoFit/>
          </a:bodyPr>
          <a:lstStyle/>
          <a:p>
            <a:pPr algn="ctr"/>
            <a:r>
              <a:rPr lang="en-US" sz="1200" b="1">
                <a:solidFill>
                  <a:srgbClr val="FFFFFF"/>
                </a:solidFill>
                <a:latin typeface="+mj-lt"/>
              </a:rPr>
              <a:t>2</a:t>
            </a:r>
            <a:endParaRPr sz="1200" b="1" i="0">
              <a:solidFill>
                <a:srgbClr val="FFFFFF"/>
              </a:solidFill>
              <a:latin typeface="+mj-lt"/>
            </a:endParaRPr>
          </a:p>
        </p:txBody>
      </p:sp>
      <p:sp>
        <p:nvSpPr>
          <p:cNvPr id="1009" name="TextBox 1008"/>
          <p:cNvSpPr txBox="1"/>
          <p:nvPr/>
        </p:nvSpPr>
        <p:spPr>
          <a:xfrm>
            <a:off x="1234440" y="2807208"/>
            <a:ext cx="1737360" cy="475488"/>
          </a:xfrm>
          <a:prstGeom prst="rect">
            <a:avLst/>
          </a:prstGeom>
          <a:noFill/>
        </p:spPr>
        <p:txBody>
          <a:bodyPr wrap="square" lIns="0" tIns="0" rIns="0" bIns="0" anchor="ctr">
            <a:spAutoFit/>
          </a:bodyPr>
          <a:lstStyle/>
          <a:p>
            <a:r>
              <a:rPr sz="1200" b="1" i="0">
                <a:solidFill>
                  <a:srgbClr val="0B1F3A"/>
                </a:solidFill>
              </a:rPr>
              <a:t>UI review with the business</a:t>
            </a:r>
          </a:p>
        </p:txBody>
      </p:sp>
      <p:sp>
        <p:nvSpPr>
          <p:cNvPr id="1010" name="Rounded Rectangle 1009"/>
          <p:cNvSpPr/>
          <p:nvPr/>
        </p:nvSpPr>
        <p:spPr>
          <a:xfrm>
            <a:off x="731520" y="4023360"/>
            <a:ext cx="2286000" cy="329184"/>
          </a:xfrm>
          <a:prstGeom prst="roundRect">
            <a:avLst>
              <a:gd name="adj" fmla="val 3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Diamond 1010"/>
          <p:cNvSpPr/>
          <p:nvPr/>
        </p:nvSpPr>
        <p:spPr>
          <a:xfrm>
            <a:off x="822959" y="4096512"/>
            <a:ext cx="182880" cy="18288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1097280" y="4023360"/>
            <a:ext cx="1828800" cy="329184"/>
          </a:xfrm>
          <a:prstGeom prst="rect">
            <a:avLst/>
          </a:prstGeom>
          <a:noFill/>
        </p:spPr>
        <p:txBody>
          <a:bodyPr wrap="square" lIns="0" tIns="0" rIns="0" bIns="0" anchor="ctr">
            <a:spAutoFit/>
          </a:bodyPr>
          <a:lstStyle/>
          <a:p>
            <a:r>
              <a:rPr sz="1200" b="1" i="0">
                <a:solidFill>
                  <a:srgbClr val="FFFFFF"/>
                </a:solidFill>
              </a:rPr>
              <a:t>Upsize gate</a:t>
            </a:r>
          </a:p>
        </p:txBody>
      </p:sp>
      <p:sp>
        <p:nvSpPr>
          <p:cNvPr id="1013" name="Rounded Rectangle 1012"/>
          <p:cNvSpPr/>
          <p:nvPr/>
        </p:nvSpPr>
        <p:spPr>
          <a:xfrm>
            <a:off x="3364992" y="1783080"/>
            <a:ext cx="2651760" cy="26974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TextBox 1013"/>
          <p:cNvSpPr txBox="1"/>
          <p:nvPr/>
        </p:nvSpPr>
        <p:spPr>
          <a:xfrm>
            <a:off x="3547872" y="1892807"/>
            <a:ext cx="2377440" cy="228600"/>
          </a:xfrm>
          <a:prstGeom prst="rect">
            <a:avLst/>
          </a:prstGeom>
          <a:noFill/>
        </p:spPr>
        <p:txBody>
          <a:bodyPr wrap="square" lIns="0" tIns="0" rIns="0" bIns="0" anchor="t">
            <a:spAutoFit/>
          </a:bodyPr>
          <a:lstStyle/>
          <a:p>
            <a:r>
              <a:rPr sz="900" b="1" i="0" spc="200">
                <a:solidFill>
                  <a:srgbClr val="1E49E2"/>
                </a:solidFill>
              </a:rPr>
              <a:t>PHASE 1 · UPSIZE</a:t>
            </a:r>
          </a:p>
        </p:txBody>
      </p:sp>
      <p:sp>
        <p:nvSpPr>
          <p:cNvPr id="1015" name="Rounded Rectangle 1014"/>
          <p:cNvSpPr/>
          <p:nvPr/>
        </p:nvSpPr>
        <p:spPr>
          <a:xfrm>
            <a:off x="3547872" y="2240280"/>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Rounded Rectangle 1015"/>
          <p:cNvSpPr/>
          <p:nvPr/>
        </p:nvSpPr>
        <p:spPr>
          <a:xfrm>
            <a:off x="3621024" y="2313432"/>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3621024" y="2385691"/>
            <a:ext cx="329184" cy="184666"/>
          </a:xfrm>
          <a:prstGeom prst="rect">
            <a:avLst/>
          </a:prstGeom>
          <a:noFill/>
        </p:spPr>
        <p:txBody>
          <a:bodyPr wrap="square" lIns="0" tIns="0" rIns="0" bIns="0" anchor="ctr">
            <a:spAutoFit/>
          </a:bodyPr>
          <a:lstStyle/>
          <a:p>
            <a:pPr algn="ctr"/>
            <a:r>
              <a:rPr lang="en-US" sz="1200" b="1">
                <a:solidFill>
                  <a:srgbClr val="FFFFFF"/>
                </a:solidFill>
                <a:latin typeface="+mj-lt"/>
              </a:rPr>
              <a:t>3</a:t>
            </a:r>
            <a:endParaRPr sz="1200" b="1" i="0">
              <a:solidFill>
                <a:srgbClr val="FFFFFF"/>
              </a:solidFill>
              <a:latin typeface="+mj-lt"/>
            </a:endParaRPr>
          </a:p>
        </p:txBody>
      </p:sp>
      <p:sp>
        <p:nvSpPr>
          <p:cNvPr id="1018" name="TextBox 1017"/>
          <p:cNvSpPr txBox="1"/>
          <p:nvPr/>
        </p:nvSpPr>
        <p:spPr>
          <a:xfrm>
            <a:off x="4050791" y="2240280"/>
            <a:ext cx="1737360" cy="475488"/>
          </a:xfrm>
          <a:prstGeom prst="rect">
            <a:avLst/>
          </a:prstGeom>
          <a:noFill/>
        </p:spPr>
        <p:txBody>
          <a:bodyPr wrap="square" lIns="0" tIns="0" rIns="0" bIns="0" anchor="ctr">
            <a:spAutoFit/>
          </a:bodyPr>
          <a:lstStyle/>
          <a:p>
            <a:r>
              <a:rPr sz="1200" b="1" i="0">
                <a:solidFill>
                  <a:srgbClr val="0B1F3A"/>
                </a:solidFill>
              </a:rPr>
              <a:t>Infra setup (ADO)</a:t>
            </a:r>
          </a:p>
        </p:txBody>
      </p:sp>
      <p:sp>
        <p:nvSpPr>
          <p:cNvPr id="1019" name="Rounded Rectangle 1018"/>
          <p:cNvSpPr/>
          <p:nvPr/>
        </p:nvSpPr>
        <p:spPr>
          <a:xfrm>
            <a:off x="3547872" y="2807208"/>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Rounded Rectangle 1019"/>
          <p:cNvSpPr/>
          <p:nvPr/>
        </p:nvSpPr>
        <p:spPr>
          <a:xfrm>
            <a:off x="3621024" y="2880360"/>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TextBox 1020"/>
          <p:cNvSpPr txBox="1"/>
          <p:nvPr/>
        </p:nvSpPr>
        <p:spPr>
          <a:xfrm>
            <a:off x="3621024" y="2880360"/>
            <a:ext cx="329184" cy="329184"/>
          </a:xfrm>
          <a:prstGeom prst="rect">
            <a:avLst/>
          </a:prstGeom>
          <a:noFill/>
        </p:spPr>
        <p:txBody>
          <a:bodyPr wrap="square" lIns="0" tIns="0" rIns="0" bIns="0" anchor="ctr">
            <a:spAutoFit/>
          </a:bodyPr>
          <a:lstStyle/>
          <a:p>
            <a:pPr algn="ctr"/>
            <a:r>
              <a:rPr sz="1200" b="1" i="0">
                <a:solidFill>
                  <a:srgbClr val="FFFFFF"/>
                </a:solidFill>
                <a:latin typeface="+mj-lt"/>
              </a:rPr>
              <a:t>4</a:t>
            </a:r>
          </a:p>
        </p:txBody>
      </p:sp>
      <p:sp>
        <p:nvSpPr>
          <p:cNvPr id="1022" name="TextBox 1021"/>
          <p:cNvSpPr txBox="1"/>
          <p:nvPr/>
        </p:nvSpPr>
        <p:spPr>
          <a:xfrm>
            <a:off x="4050791" y="2807208"/>
            <a:ext cx="1737360" cy="475488"/>
          </a:xfrm>
          <a:prstGeom prst="rect">
            <a:avLst/>
          </a:prstGeom>
          <a:noFill/>
        </p:spPr>
        <p:txBody>
          <a:bodyPr wrap="square" lIns="0" tIns="0" rIns="0" bIns="0" anchor="ctr">
            <a:spAutoFit/>
          </a:bodyPr>
          <a:lstStyle/>
          <a:p>
            <a:r>
              <a:rPr sz="1200" b="1" i="0">
                <a:solidFill>
                  <a:srgbClr val="0B1F3A"/>
                </a:solidFill>
              </a:rPr>
              <a:t>Dev build</a:t>
            </a:r>
          </a:p>
        </p:txBody>
      </p:sp>
      <p:sp>
        <p:nvSpPr>
          <p:cNvPr id="1023" name="Rounded Rectangle 1022"/>
          <p:cNvSpPr/>
          <p:nvPr/>
        </p:nvSpPr>
        <p:spPr>
          <a:xfrm>
            <a:off x="3547872" y="4023360"/>
            <a:ext cx="2286000" cy="329184"/>
          </a:xfrm>
          <a:prstGeom prst="roundRect">
            <a:avLst>
              <a:gd name="adj" fmla="val 3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Diamond 1023"/>
          <p:cNvSpPr/>
          <p:nvPr/>
        </p:nvSpPr>
        <p:spPr>
          <a:xfrm>
            <a:off x="3639312" y="4096512"/>
            <a:ext cx="182880" cy="18288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TextBox 1024"/>
          <p:cNvSpPr txBox="1"/>
          <p:nvPr/>
        </p:nvSpPr>
        <p:spPr>
          <a:xfrm>
            <a:off x="3913632" y="4023360"/>
            <a:ext cx="1828800" cy="329184"/>
          </a:xfrm>
          <a:prstGeom prst="rect">
            <a:avLst/>
          </a:prstGeom>
          <a:noFill/>
        </p:spPr>
        <p:txBody>
          <a:bodyPr wrap="square" lIns="0" tIns="0" rIns="0" bIns="0" anchor="ctr">
            <a:spAutoFit/>
          </a:bodyPr>
          <a:lstStyle/>
          <a:p>
            <a:r>
              <a:rPr sz="1200" b="1" i="0">
                <a:solidFill>
                  <a:srgbClr val="FFFFFF"/>
                </a:solidFill>
              </a:rPr>
              <a:t>DEV gate</a:t>
            </a:r>
          </a:p>
        </p:txBody>
      </p:sp>
      <p:sp>
        <p:nvSpPr>
          <p:cNvPr id="1026" name="Rounded Rectangle 1025"/>
          <p:cNvSpPr/>
          <p:nvPr/>
        </p:nvSpPr>
        <p:spPr>
          <a:xfrm>
            <a:off x="6181344" y="1783080"/>
            <a:ext cx="2651760" cy="26974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TextBox 1026"/>
          <p:cNvSpPr txBox="1"/>
          <p:nvPr/>
        </p:nvSpPr>
        <p:spPr>
          <a:xfrm>
            <a:off x="6364224" y="1892807"/>
            <a:ext cx="2377440" cy="228600"/>
          </a:xfrm>
          <a:prstGeom prst="rect">
            <a:avLst/>
          </a:prstGeom>
          <a:noFill/>
        </p:spPr>
        <p:txBody>
          <a:bodyPr wrap="square" lIns="0" tIns="0" rIns="0" bIns="0" anchor="t">
            <a:spAutoFit/>
          </a:bodyPr>
          <a:lstStyle/>
          <a:p>
            <a:r>
              <a:rPr sz="900" b="1" i="0" spc="200">
                <a:solidFill>
                  <a:srgbClr val="1E49E2"/>
                </a:solidFill>
              </a:rPr>
              <a:t>PHASE 2 · BUILD LOOP</a:t>
            </a:r>
          </a:p>
        </p:txBody>
      </p:sp>
      <p:sp>
        <p:nvSpPr>
          <p:cNvPr id="1028" name="Rounded Rectangle 1027"/>
          <p:cNvSpPr/>
          <p:nvPr/>
        </p:nvSpPr>
        <p:spPr>
          <a:xfrm>
            <a:off x="6364224" y="2240280"/>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Rounded Rectangle 1028"/>
          <p:cNvSpPr/>
          <p:nvPr/>
        </p:nvSpPr>
        <p:spPr>
          <a:xfrm>
            <a:off x="6437376" y="2313432"/>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0" name="TextBox 1029"/>
          <p:cNvSpPr txBox="1"/>
          <p:nvPr/>
        </p:nvSpPr>
        <p:spPr>
          <a:xfrm>
            <a:off x="6437376" y="2313432"/>
            <a:ext cx="329184" cy="329184"/>
          </a:xfrm>
          <a:prstGeom prst="rect">
            <a:avLst/>
          </a:prstGeom>
          <a:noFill/>
        </p:spPr>
        <p:txBody>
          <a:bodyPr wrap="square" lIns="0" tIns="0" rIns="0" bIns="0" anchor="ctr">
            <a:spAutoFit/>
          </a:bodyPr>
          <a:lstStyle/>
          <a:p>
            <a:pPr algn="ctr"/>
            <a:r>
              <a:rPr sz="1200" b="1" i="0">
                <a:solidFill>
                  <a:srgbClr val="FFFFFF"/>
                </a:solidFill>
                <a:latin typeface="+mj-lt"/>
              </a:rPr>
              <a:t>5</a:t>
            </a:r>
          </a:p>
        </p:txBody>
      </p:sp>
      <p:sp>
        <p:nvSpPr>
          <p:cNvPr id="1031" name="TextBox 1030"/>
          <p:cNvSpPr txBox="1"/>
          <p:nvPr/>
        </p:nvSpPr>
        <p:spPr>
          <a:xfrm>
            <a:off x="6867144" y="2240280"/>
            <a:ext cx="1737360" cy="475488"/>
          </a:xfrm>
          <a:prstGeom prst="rect">
            <a:avLst/>
          </a:prstGeom>
          <a:noFill/>
        </p:spPr>
        <p:txBody>
          <a:bodyPr wrap="square" lIns="0" tIns="0" rIns="0" bIns="0" anchor="ctr">
            <a:spAutoFit/>
          </a:bodyPr>
          <a:lstStyle/>
          <a:p>
            <a:r>
              <a:rPr sz="1200" b="1" i="0">
                <a:solidFill>
                  <a:srgbClr val="0B1F3A"/>
                </a:solidFill>
              </a:rPr>
              <a:t>Test build</a:t>
            </a:r>
          </a:p>
        </p:txBody>
      </p:sp>
      <p:sp>
        <p:nvSpPr>
          <p:cNvPr id="1032" name="Rounded Rectangle 1031"/>
          <p:cNvSpPr/>
          <p:nvPr/>
        </p:nvSpPr>
        <p:spPr>
          <a:xfrm>
            <a:off x="6364224" y="2807208"/>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3" name="Rounded Rectangle 1032"/>
          <p:cNvSpPr/>
          <p:nvPr/>
        </p:nvSpPr>
        <p:spPr>
          <a:xfrm>
            <a:off x="6437376" y="2880360"/>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4" name="TextBox 1033"/>
          <p:cNvSpPr txBox="1"/>
          <p:nvPr/>
        </p:nvSpPr>
        <p:spPr>
          <a:xfrm>
            <a:off x="6437376" y="2880360"/>
            <a:ext cx="329184" cy="329184"/>
          </a:xfrm>
          <a:prstGeom prst="rect">
            <a:avLst/>
          </a:prstGeom>
          <a:noFill/>
        </p:spPr>
        <p:txBody>
          <a:bodyPr wrap="square" lIns="0" tIns="0" rIns="0" bIns="0" anchor="ctr">
            <a:spAutoFit/>
          </a:bodyPr>
          <a:lstStyle/>
          <a:p>
            <a:pPr algn="ctr"/>
            <a:r>
              <a:rPr sz="1200" b="1" i="0">
                <a:solidFill>
                  <a:srgbClr val="FFFFFF"/>
                </a:solidFill>
                <a:latin typeface="+mj-lt"/>
              </a:rPr>
              <a:t>6</a:t>
            </a:r>
          </a:p>
        </p:txBody>
      </p:sp>
      <p:sp>
        <p:nvSpPr>
          <p:cNvPr id="1035" name="TextBox 1034"/>
          <p:cNvSpPr txBox="1"/>
          <p:nvPr/>
        </p:nvSpPr>
        <p:spPr>
          <a:xfrm>
            <a:off x="6867144" y="2807208"/>
            <a:ext cx="1737360" cy="475488"/>
          </a:xfrm>
          <a:prstGeom prst="rect">
            <a:avLst/>
          </a:prstGeom>
          <a:noFill/>
        </p:spPr>
        <p:txBody>
          <a:bodyPr wrap="square" lIns="0" tIns="0" rIns="0" bIns="0" anchor="ctr">
            <a:spAutoFit/>
          </a:bodyPr>
          <a:lstStyle/>
          <a:p>
            <a:r>
              <a:rPr sz="1200" b="1" i="0">
                <a:solidFill>
                  <a:srgbClr val="0B1F3A"/>
                </a:solidFill>
              </a:rPr>
              <a:t>AI engine build</a:t>
            </a:r>
          </a:p>
        </p:txBody>
      </p:sp>
      <p:sp>
        <p:nvSpPr>
          <p:cNvPr id="1036" name="Rounded Rectangle 1035"/>
          <p:cNvSpPr/>
          <p:nvPr/>
        </p:nvSpPr>
        <p:spPr>
          <a:xfrm>
            <a:off x="6364224" y="3374136"/>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7" name="Rounded Rectangle 1036"/>
          <p:cNvSpPr/>
          <p:nvPr/>
        </p:nvSpPr>
        <p:spPr>
          <a:xfrm>
            <a:off x="6437376" y="3447288"/>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8" name="TextBox 1037"/>
          <p:cNvSpPr txBox="1"/>
          <p:nvPr/>
        </p:nvSpPr>
        <p:spPr>
          <a:xfrm>
            <a:off x="6437376" y="3447288"/>
            <a:ext cx="329184" cy="329184"/>
          </a:xfrm>
          <a:prstGeom prst="rect">
            <a:avLst/>
          </a:prstGeom>
          <a:noFill/>
        </p:spPr>
        <p:txBody>
          <a:bodyPr wrap="square" lIns="0" tIns="0" rIns="0" bIns="0" anchor="ctr">
            <a:spAutoFit/>
          </a:bodyPr>
          <a:lstStyle/>
          <a:p>
            <a:pPr algn="ctr"/>
            <a:r>
              <a:rPr sz="1200" b="1" i="0">
                <a:solidFill>
                  <a:srgbClr val="FFFFFF"/>
                </a:solidFill>
                <a:latin typeface="+mj-lt"/>
              </a:rPr>
              <a:t>7</a:t>
            </a:r>
          </a:p>
        </p:txBody>
      </p:sp>
      <p:sp>
        <p:nvSpPr>
          <p:cNvPr id="1039" name="TextBox 1038"/>
          <p:cNvSpPr txBox="1"/>
          <p:nvPr/>
        </p:nvSpPr>
        <p:spPr>
          <a:xfrm>
            <a:off x="6867144" y="3374136"/>
            <a:ext cx="1737360" cy="475488"/>
          </a:xfrm>
          <a:prstGeom prst="rect">
            <a:avLst/>
          </a:prstGeom>
          <a:noFill/>
        </p:spPr>
        <p:txBody>
          <a:bodyPr wrap="square" lIns="0" tIns="0" rIns="0" bIns="0" anchor="ctr">
            <a:spAutoFit/>
          </a:bodyPr>
          <a:lstStyle/>
          <a:p>
            <a:r>
              <a:rPr sz="1200" b="1" i="0">
                <a:solidFill>
                  <a:srgbClr val="0B1F3A"/>
                </a:solidFill>
              </a:rPr>
              <a:t>Full flow confirmed</a:t>
            </a:r>
          </a:p>
        </p:txBody>
      </p:sp>
      <p:sp>
        <p:nvSpPr>
          <p:cNvPr id="1040" name="Rounded Rectangle 1039"/>
          <p:cNvSpPr/>
          <p:nvPr/>
        </p:nvSpPr>
        <p:spPr>
          <a:xfrm>
            <a:off x="6364224" y="4023360"/>
            <a:ext cx="2286000" cy="329184"/>
          </a:xfrm>
          <a:prstGeom prst="roundRect">
            <a:avLst>
              <a:gd name="adj" fmla="val 3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1" name="Diamond 1040"/>
          <p:cNvSpPr/>
          <p:nvPr/>
        </p:nvSpPr>
        <p:spPr>
          <a:xfrm>
            <a:off x="6455664" y="4096512"/>
            <a:ext cx="182880" cy="18288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2" name="TextBox 1041"/>
          <p:cNvSpPr txBox="1"/>
          <p:nvPr/>
        </p:nvSpPr>
        <p:spPr>
          <a:xfrm>
            <a:off x="6729983" y="4023360"/>
            <a:ext cx="1828800" cy="329184"/>
          </a:xfrm>
          <a:prstGeom prst="rect">
            <a:avLst/>
          </a:prstGeom>
          <a:noFill/>
        </p:spPr>
        <p:txBody>
          <a:bodyPr wrap="square" lIns="0" tIns="0" rIns="0" bIns="0" anchor="ctr">
            <a:spAutoFit/>
          </a:bodyPr>
          <a:lstStyle/>
          <a:p>
            <a:r>
              <a:rPr sz="1200" b="1" i="0">
                <a:solidFill>
                  <a:srgbClr val="FFFFFF"/>
                </a:solidFill>
              </a:rPr>
              <a:t>Scope gate</a:t>
            </a:r>
          </a:p>
        </p:txBody>
      </p:sp>
      <p:sp>
        <p:nvSpPr>
          <p:cNvPr id="1043" name="Rounded Rectangle 1042"/>
          <p:cNvSpPr/>
          <p:nvPr/>
        </p:nvSpPr>
        <p:spPr>
          <a:xfrm>
            <a:off x="8997696" y="1783080"/>
            <a:ext cx="2651760" cy="26974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4" name="TextBox 1043"/>
          <p:cNvSpPr txBox="1"/>
          <p:nvPr/>
        </p:nvSpPr>
        <p:spPr>
          <a:xfrm>
            <a:off x="9180576" y="1892807"/>
            <a:ext cx="2377440" cy="228600"/>
          </a:xfrm>
          <a:prstGeom prst="rect">
            <a:avLst/>
          </a:prstGeom>
          <a:noFill/>
        </p:spPr>
        <p:txBody>
          <a:bodyPr wrap="square" lIns="0" tIns="0" rIns="0" bIns="0" anchor="t">
            <a:spAutoFit/>
          </a:bodyPr>
          <a:lstStyle/>
          <a:p>
            <a:r>
              <a:rPr sz="900" b="1" i="0" spc="200">
                <a:solidFill>
                  <a:srgbClr val="1E49E2"/>
                </a:solidFill>
              </a:rPr>
              <a:t>PHASE 3 · RELEASE LOOP</a:t>
            </a:r>
          </a:p>
        </p:txBody>
      </p:sp>
      <p:sp>
        <p:nvSpPr>
          <p:cNvPr id="1045" name="Rounded Rectangle 1044"/>
          <p:cNvSpPr/>
          <p:nvPr/>
        </p:nvSpPr>
        <p:spPr>
          <a:xfrm>
            <a:off x="9180576" y="2240280"/>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6" name="Rounded Rectangle 1045"/>
          <p:cNvSpPr/>
          <p:nvPr/>
        </p:nvSpPr>
        <p:spPr>
          <a:xfrm>
            <a:off x="9253728" y="2313432"/>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7" name="TextBox 1046"/>
          <p:cNvSpPr txBox="1"/>
          <p:nvPr/>
        </p:nvSpPr>
        <p:spPr>
          <a:xfrm>
            <a:off x="9253728" y="2313432"/>
            <a:ext cx="329184" cy="329184"/>
          </a:xfrm>
          <a:prstGeom prst="rect">
            <a:avLst/>
          </a:prstGeom>
          <a:noFill/>
        </p:spPr>
        <p:txBody>
          <a:bodyPr wrap="square" lIns="0" tIns="0" rIns="0" bIns="0" anchor="ctr">
            <a:spAutoFit/>
          </a:bodyPr>
          <a:lstStyle/>
          <a:p>
            <a:pPr algn="ctr"/>
            <a:r>
              <a:rPr sz="1200" b="1" i="0">
                <a:solidFill>
                  <a:srgbClr val="FFFFFF"/>
                </a:solidFill>
                <a:latin typeface="+mj-lt"/>
              </a:rPr>
              <a:t>8</a:t>
            </a:r>
          </a:p>
        </p:txBody>
      </p:sp>
      <p:sp>
        <p:nvSpPr>
          <p:cNvPr id="1048" name="TextBox 1047"/>
          <p:cNvSpPr txBox="1"/>
          <p:nvPr/>
        </p:nvSpPr>
        <p:spPr>
          <a:xfrm>
            <a:off x="9683496" y="2240280"/>
            <a:ext cx="1737360" cy="475488"/>
          </a:xfrm>
          <a:prstGeom prst="rect">
            <a:avLst/>
          </a:prstGeom>
          <a:noFill/>
        </p:spPr>
        <p:txBody>
          <a:bodyPr wrap="square" lIns="0" tIns="0" rIns="0" bIns="0" anchor="ctr">
            <a:spAutoFit/>
          </a:bodyPr>
          <a:lstStyle/>
          <a:p>
            <a:r>
              <a:rPr sz="1200" b="1" i="0">
                <a:solidFill>
                  <a:srgbClr val="0B1F3A"/>
                </a:solidFill>
              </a:rPr>
              <a:t>UAT in the TEST environment</a:t>
            </a:r>
          </a:p>
        </p:txBody>
      </p:sp>
      <p:sp>
        <p:nvSpPr>
          <p:cNvPr id="1049" name="Rounded Rectangle 1048"/>
          <p:cNvSpPr/>
          <p:nvPr/>
        </p:nvSpPr>
        <p:spPr>
          <a:xfrm>
            <a:off x="9180576" y="2807208"/>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0" name="Rounded Rectangle 1049"/>
          <p:cNvSpPr/>
          <p:nvPr/>
        </p:nvSpPr>
        <p:spPr>
          <a:xfrm>
            <a:off x="9253728" y="2880360"/>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1" name="TextBox 1050"/>
          <p:cNvSpPr txBox="1"/>
          <p:nvPr/>
        </p:nvSpPr>
        <p:spPr>
          <a:xfrm>
            <a:off x="9253728" y="2880360"/>
            <a:ext cx="329184" cy="329184"/>
          </a:xfrm>
          <a:prstGeom prst="rect">
            <a:avLst/>
          </a:prstGeom>
          <a:noFill/>
        </p:spPr>
        <p:txBody>
          <a:bodyPr wrap="square" lIns="0" tIns="0" rIns="0" bIns="0" anchor="ctr">
            <a:spAutoFit/>
          </a:bodyPr>
          <a:lstStyle/>
          <a:p>
            <a:pPr algn="ctr"/>
            <a:r>
              <a:rPr sz="1200" b="1" i="0">
                <a:solidFill>
                  <a:srgbClr val="FFFFFF"/>
                </a:solidFill>
                <a:latin typeface="+mj-lt"/>
              </a:rPr>
              <a:t>9</a:t>
            </a:r>
          </a:p>
        </p:txBody>
      </p:sp>
      <p:sp>
        <p:nvSpPr>
          <p:cNvPr id="1052" name="TextBox 1051"/>
          <p:cNvSpPr txBox="1"/>
          <p:nvPr/>
        </p:nvSpPr>
        <p:spPr>
          <a:xfrm>
            <a:off x="9683496" y="2807208"/>
            <a:ext cx="1737360" cy="475488"/>
          </a:xfrm>
          <a:prstGeom prst="rect">
            <a:avLst/>
          </a:prstGeom>
          <a:noFill/>
        </p:spPr>
        <p:txBody>
          <a:bodyPr wrap="square" lIns="0" tIns="0" rIns="0" bIns="0" anchor="ctr">
            <a:spAutoFit/>
          </a:bodyPr>
          <a:lstStyle/>
          <a:p>
            <a:r>
              <a:rPr sz="1200" b="1" i="0">
                <a:solidFill>
                  <a:srgbClr val="0B1F3A"/>
                </a:solidFill>
              </a:rPr>
              <a:t>Functional sign-off</a:t>
            </a:r>
          </a:p>
        </p:txBody>
      </p:sp>
      <p:sp>
        <p:nvSpPr>
          <p:cNvPr id="1053" name="Rounded Rectangle 1052"/>
          <p:cNvSpPr/>
          <p:nvPr/>
        </p:nvSpPr>
        <p:spPr>
          <a:xfrm>
            <a:off x="9180576" y="3374136"/>
            <a:ext cx="2286000" cy="4754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4" name="Rounded Rectangle 1053"/>
          <p:cNvSpPr/>
          <p:nvPr/>
        </p:nvSpPr>
        <p:spPr>
          <a:xfrm>
            <a:off x="9253728" y="3447288"/>
            <a:ext cx="329184" cy="329184"/>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5" name="TextBox 1054"/>
          <p:cNvSpPr txBox="1"/>
          <p:nvPr/>
        </p:nvSpPr>
        <p:spPr>
          <a:xfrm>
            <a:off x="9253728" y="3447288"/>
            <a:ext cx="329184" cy="329184"/>
          </a:xfrm>
          <a:prstGeom prst="rect">
            <a:avLst/>
          </a:prstGeom>
          <a:noFill/>
        </p:spPr>
        <p:txBody>
          <a:bodyPr wrap="square" lIns="0" tIns="0" rIns="0" bIns="0" anchor="ctr">
            <a:spAutoFit/>
          </a:bodyPr>
          <a:lstStyle/>
          <a:p>
            <a:pPr algn="ctr"/>
            <a:r>
              <a:rPr sz="1200" b="1" i="0">
                <a:solidFill>
                  <a:srgbClr val="FFFFFF"/>
                </a:solidFill>
                <a:latin typeface="+mj-lt"/>
              </a:rPr>
              <a:t>11</a:t>
            </a:r>
          </a:p>
        </p:txBody>
      </p:sp>
      <p:sp>
        <p:nvSpPr>
          <p:cNvPr id="1056" name="TextBox 1055"/>
          <p:cNvSpPr txBox="1"/>
          <p:nvPr/>
        </p:nvSpPr>
        <p:spPr>
          <a:xfrm>
            <a:off x="9683496" y="3374136"/>
            <a:ext cx="1737360" cy="475488"/>
          </a:xfrm>
          <a:prstGeom prst="rect">
            <a:avLst/>
          </a:prstGeom>
          <a:noFill/>
        </p:spPr>
        <p:txBody>
          <a:bodyPr wrap="square" lIns="0" tIns="0" rIns="0" bIns="0" anchor="ctr">
            <a:spAutoFit/>
          </a:bodyPr>
          <a:lstStyle/>
          <a:p>
            <a:r>
              <a:rPr sz="1200" b="1" i="0">
                <a:solidFill>
                  <a:srgbClr val="0B1F3A"/>
                </a:solidFill>
              </a:rPr>
              <a:t>Moved to production</a:t>
            </a:r>
          </a:p>
        </p:txBody>
      </p:sp>
      <p:sp>
        <p:nvSpPr>
          <p:cNvPr id="1057" name="Rounded Rectangle 1056"/>
          <p:cNvSpPr/>
          <p:nvPr/>
        </p:nvSpPr>
        <p:spPr>
          <a:xfrm>
            <a:off x="9180576" y="4023360"/>
            <a:ext cx="2286000" cy="329184"/>
          </a:xfrm>
          <a:prstGeom prst="roundRect">
            <a:avLst>
              <a:gd name="adj" fmla="val 30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8" name="Diamond 1057"/>
          <p:cNvSpPr/>
          <p:nvPr/>
        </p:nvSpPr>
        <p:spPr>
          <a:xfrm>
            <a:off x="9272016" y="4096512"/>
            <a:ext cx="182880" cy="18288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9" name="TextBox 1058"/>
          <p:cNvSpPr txBox="1"/>
          <p:nvPr/>
        </p:nvSpPr>
        <p:spPr>
          <a:xfrm>
            <a:off x="9546336" y="4023360"/>
            <a:ext cx="1828800" cy="329184"/>
          </a:xfrm>
          <a:prstGeom prst="rect">
            <a:avLst/>
          </a:prstGeom>
          <a:noFill/>
        </p:spPr>
        <p:txBody>
          <a:bodyPr wrap="square" lIns="0" tIns="0" rIns="0" bIns="0" anchor="ctr">
            <a:spAutoFit/>
          </a:bodyPr>
          <a:lstStyle/>
          <a:p>
            <a:r>
              <a:rPr sz="1200" b="1" i="0">
                <a:solidFill>
                  <a:srgbClr val="FFFFFF"/>
                </a:solidFill>
              </a:rPr>
              <a:t>Go-live gate</a:t>
            </a:r>
          </a:p>
        </p:txBody>
      </p:sp>
      <p:sp>
        <p:nvSpPr>
          <p:cNvPr id="1060" name="Rounded Rectangle 1059"/>
          <p:cNvSpPr/>
          <p:nvPr/>
        </p:nvSpPr>
        <p:spPr>
          <a:xfrm>
            <a:off x="3364992" y="4617720"/>
            <a:ext cx="8275320" cy="365760"/>
          </a:xfrm>
          <a:prstGeom prst="roundRect">
            <a:avLst>
              <a:gd name="adj" fmla="val 30000"/>
            </a:avLst>
          </a:prstGeom>
          <a:solidFill>
            <a:srgbClr val="FDF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1" name="Rounded Rectangle 1060"/>
          <p:cNvSpPr/>
          <p:nvPr/>
        </p:nvSpPr>
        <p:spPr>
          <a:xfrm>
            <a:off x="3429000" y="4636008"/>
            <a:ext cx="329184" cy="329184"/>
          </a:xfrm>
          <a:prstGeom prst="roundRect">
            <a:avLst>
              <a:gd name="adj" fmla="val 12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2" name="TextBox 1061"/>
          <p:cNvSpPr txBox="1"/>
          <p:nvPr/>
        </p:nvSpPr>
        <p:spPr>
          <a:xfrm>
            <a:off x="3429000" y="4636008"/>
            <a:ext cx="329184" cy="329184"/>
          </a:xfrm>
          <a:prstGeom prst="rect">
            <a:avLst/>
          </a:prstGeom>
          <a:noFill/>
        </p:spPr>
        <p:txBody>
          <a:bodyPr wrap="square" lIns="0" tIns="0" rIns="0" bIns="0" anchor="ctr">
            <a:spAutoFit/>
          </a:bodyPr>
          <a:lstStyle/>
          <a:p>
            <a:pPr algn="ctr"/>
            <a:r>
              <a:rPr sz="1100" b="1" i="0">
                <a:solidFill>
                  <a:srgbClr val="FFFFFF"/>
                </a:solidFill>
                <a:latin typeface="+mj-lt"/>
              </a:rPr>
              <a:t>10</a:t>
            </a:r>
          </a:p>
        </p:txBody>
      </p:sp>
      <p:sp>
        <p:nvSpPr>
          <p:cNvPr id="1063" name="TextBox 1062"/>
          <p:cNvSpPr txBox="1"/>
          <p:nvPr/>
        </p:nvSpPr>
        <p:spPr>
          <a:xfrm>
            <a:off x="3858768" y="4617720"/>
            <a:ext cx="7680960" cy="365760"/>
          </a:xfrm>
          <a:prstGeom prst="rect">
            <a:avLst/>
          </a:prstGeom>
          <a:noFill/>
        </p:spPr>
        <p:txBody>
          <a:bodyPr wrap="square" lIns="0" tIns="0" rIns="0" bIns="0" anchor="ctr">
            <a:spAutoFit/>
          </a:bodyPr>
          <a:lstStyle/>
          <a:p>
            <a:r>
              <a:rPr sz="1200" b="1" i="0">
                <a:solidFill>
                  <a:srgbClr val="0B1F3A"/>
                </a:solidFill>
              </a:rPr>
              <a:t>ESIS approved.  </a:t>
            </a:r>
            <a:r>
              <a:rPr sz="1200" b="0" i="0">
                <a:solidFill>
                  <a:srgbClr val="0B1F3A"/>
                </a:solidFill>
              </a:rPr>
              <a:t>Raised in phase 1, closes before go-live. Runs on Enterprise Technology's clock.</a:t>
            </a:r>
          </a:p>
        </p:txBody>
      </p:sp>
      <p:sp>
        <p:nvSpPr>
          <p:cNvPr id="1064" name="Rounded Rectangle 1063"/>
          <p:cNvSpPr/>
          <p:nvPr/>
        </p:nvSpPr>
        <p:spPr>
          <a:xfrm>
            <a:off x="3364992" y="5047488"/>
            <a:ext cx="8275320" cy="365760"/>
          </a:xfrm>
          <a:prstGeom prst="roundRect">
            <a:avLst>
              <a:gd name="adj" fmla="val 30000"/>
            </a:avLst>
          </a:prstGeom>
          <a:solidFill>
            <a:srgbClr val="FDF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5" name="Rounded Rectangle 1064"/>
          <p:cNvSpPr/>
          <p:nvPr/>
        </p:nvSpPr>
        <p:spPr>
          <a:xfrm>
            <a:off x="3429000" y="5065776"/>
            <a:ext cx="329184" cy="329184"/>
          </a:xfrm>
          <a:prstGeom prst="roundRect">
            <a:avLst>
              <a:gd name="adj" fmla="val 12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6" name="TextBox 1065"/>
          <p:cNvSpPr txBox="1"/>
          <p:nvPr/>
        </p:nvSpPr>
        <p:spPr>
          <a:xfrm>
            <a:off x="3429000" y="5065776"/>
            <a:ext cx="329184" cy="329184"/>
          </a:xfrm>
          <a:prstGeom prst="rect">
            <a:avLst/>
          </a:prstGeom>
          <a:noFill/>
        </p:spPr>
        <p:txBody>
          <a:bodyPr wrap="square" lIns="0" tIns="0" rIns="0" bIns="0" anchor="ctr">
            <a:spAutoFit/>
          </a:bodyPr>
          <a:lstStyle/>
          <a:p>
            <a:pPr algn="ctr"/>
            <a:r>
              <a:rPr sz="1100" b="1" i="0">
                <a:solidFill>
                  <a:srgbClr val="FFFFFF"/>
                </a:solidFill>
                <a:latin typeface="+mj-lt"/>
              </a:rPr>
              <a:t>12</a:t>
            </a:r>
          </a:p>
        </p:txBody>
      </p:sp>
      <p:sp>
        <p:nvSpPr>
          <p:cNvPr id="1067" name="TextBox 1066"/>
          <p:cNvSpPr txBox="1"/>
          <p:nvPr/>
        </p:nvSpPr>
        <p:spPr>
          <a:xfrm>
            <a:off x="3858768" y="5047488"/>
            <a:ext cx="7680960" cy="365760"/>
          </a:xfrm>
          <a:prstGeom prst="rect">
            <a:avLst/>
          </a:prstGeom>
          <a:noFill/>
        </p:spPr>
        <p:txBody>
          <a:bodyPr wrap="square" lIns="0" tIns="0" rIns="0" bIns="0" anchor="ctr">
            <a:spAutoFit/>
          </a:bodyPr>
          <a:lstStyle/>
          <a:p>
            <a:r>
              <a:rPr sz="1200" b="1" i="0">
                <a:solidFill>
                  <a:srgbClr val="0B1F3A"/>
                </a:solidFill>
              </a:rPr>
              <a:t>Docs for HCL handoff.  </a:t>
            </a:r>
            <a:r>
              <a:rPr sz="1200" b="0" i="0">
                <a:solidFill>
                  <a:srgbClr val="0B1F3A"/>
                </a:solidFill>
              </a:rPr>
              <a:t>Written at every gate, finished at go-live. Never left to the end.</a:t>
            </a:r>
          </a:p>
        </p:txBody>
      </p:sp>
      <p:sp>
        <p:nvSpPr>
          <p:cNvPr id="1068" name="Rounded Rectangle 1067"/>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9" name="TextBox 1068"/>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Steps 1 to 9 run on your clock. Steps 10 and 12 run in parallel, and they decide your go-live date.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GATE 1 · THE UPSIZE GATE</a:t>
            </a:r>
          </a:p>
        </p:txBody>
      </p:sp>
      <p:sp>
        <p:nvSpPr>
          <p:cNvPr id="3" name="Title 2"/>
          <p:cNvSpPr>
            <a:spLocks noGrp="1"/>
          </p:cNvSpPr>
          <p:nvPr>
            <p:ph type="title" idx="101"/>
          </p:nvPr>
        </p:nvSpPr>
        <p:spPr/>
        <p:txBody>
          <a:bodyPr/>
          <a:lstStyle/>
          <a:p>
            <a:pPr algn="l"/>
            <a:r>
              <a:t>You are allowed to refuse the model</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8</a:t>
            </a:fld>
            <a:endParaRPr lang="en-US" b="0"/>
          </a:p>
        </p:txBody>
      </p:sp>
      <p:sp>
        <p:nvSpPr>
          <p:cNvPr id="1000" name="TextBox 999"/>
          <p:cNvSpPr txBox="1"/>
          <p:nvPr/>
        </p:nvSpPr>
        <p:spPr>
          <a:xfrm>
            <a:off x="548640" y="1691640"/>
            <a:ext cx="7315200" cy="548640"/>
          </a:xfrm>
          <a:prstGeom prst="rect">
            <a:avLst/>
          </a:prstGeom>
          <a:noFill/>
        </p:spPr>
        <p:txBody>
          <a:bodyPr wrap="square" lIns="0" tIns="0" rIns="0" bIns="0" anchor="t">
            <a:spAutoFit/>
          </a:bodyPr>
          <a:lstStyle/>
          <a:p>
            <a:r>
              <a:rPr sz="1400" b="0" i="0">
                <a:solidFill>
                  <a:srgbClr val="0B1F3A"/>
                </a:solidFill>
              </a:rPr>
              <a:t>The upsize gate tests an artifact, not an opinion. Every open question in the model charter has an answer, and the out-of-scope list exists.</a:t>
            </a:r>
          </a:p>
        </p:txBody>
      </p:sp>
      <p:sp>
        <p:nvSpPr>
          <p:cNvPr id="1001" name="Rounded Rectangle 1000"/>
          <p:cNvSpPr/>
          <p:nvPr/>
        </p:nvSpPr>
        <p:spPr>
          <a:xfrm>
            <a:off x="548640" y="2377440"/>
            <a:ext cx="7315200" cy="9144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ectangle 1001"/>
          <p:cNvSpPr/>
          <p:nvPr/>
        </p:nvSpPr>
        <p:spPr>
          <a:xfrm>
            <a:off x="548640" y="2377440"/>
            <a:ext cx="82296" cy="914400"/>
          </a:xfrm>
          <a:prstGeom prst="rect">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822960" y="2496312"/>
            <a:ext cx="1828800" cy="228600"/>
          </a:xfrm>
          <a:prstGeom prst="rect">
            <a:avLst/>
          </a:prstGeom>
          <a:noFill/>
        </p:spPr>
        <p:txBody>
          <a:bodyPr wrap="square" lIns="0" tIns="0" rIns="0" bIns="0" anchor="t">
            <a:spAutoFit/>
          </a:bodyPr>
          <a:lstStyle/>
          <a:p>
            <a:r>
              <a:rPr sz="950" b="1" i="0" spc="200">
                <a:solidFill>
                  <a:srgbClr val="0B1F3A"/>
                </a:solidFill>
              </a:rPr>
              <a:t>ACCEPT WHEN</a:t>
            </a:r>
          </a:p>
        </p:txBody>
      </p:sp>
      <p:sp>
        <p:nvSpPr>
          <p:cNvPr id="1004" name="TextBox 1003"/>
          <p:cNvSpPr txBox="1"/>
          <p:nvPr/>
        </p:nvSpPr>
        <p:spPr>
          <a:xfrm>
            <a:off x="822960" y="2743200"/>
            <a:ext cx="2377440" cy="457200"/>
          </a:xfrm>
          <a:prstGeom prst="rect">
            <a:avLst/>
          </a:prstGeom>
          <a:noFill/>
        </p:spPr>
        <p:txBody>
          <a:bodyPr wrap="square" lIns="0" tIns="0" rIns="0" bIns="0" anchor="t">
            <a:spAutoFit/>
          </a:bodyPr>
          <a:lstStyle/>
          <a:p>
            <a:r>
              <a:rPr sz="1500" b="1" i="0">
                <a:solidFill>
                  <a:srgbClr val="0B1F3A"/>
                </a:solidFill>
                <a:latin typeface="+mj-lt"/>
              </a:rPr>
              <a:t>Every question has an answer</a:t>
            </a:r>
          </a:p>
        </p:txBody>
      </p:sp>
      <p:sp>
        <p:nvSpPr>
          <p:cNvPr id="1005" name="TextBox 1004"/>
          <p:cNvSpPr txBox="1"/>
          <p:nvPr/>
        </p:nvSpPr>
        <p:spPr>
          <a:xfrm>
            <a:off x="3383280" y="2377440"/>
            <a:ext cx="4297680" cy="914400"/>
          </a:xfrm>
          <a:prstGeom prst="rect">
            <a:avLst/>
          </a:prstGeom>
          <a:noFill/>
        </p:spPr>
        <p:txBody>
          <a:bodyPr wrap="square" lIns="0" tIns="0" rIns="0" bIns="0" anchor="ctr">
            <a:spAutoFit/>
          </a:bodyPr>
          <a:lstStyle/>
          <a:p>
            <a:r>
              <a:rPr sz="1300" b="0" i="0">
                <a:solidFill>
                  <a:srgbClr val="0B1F3A"/>
                </a:solidFill>
              </a:rPr>
              <a:t>Somebody decided, and the decision is written down in the charter.</a:t>
            </a:r>
          </a:p>
        </p:txBody>
      </p:sp>
      <p:sp>
        <p:nvSpPr>
          <p:cNvPr id="1006" name="Rounded Rectangle 1005"/>
          <p:cNvSpPr/>
          <p:nvPr/>
        </p:nvSpPr>
        <p:spPr>
          <a:xfrm>
            <a:off x="548640" y="3401568"/>
            <a:ext cx="7315200" cy="9144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ectangle 1006"/>
          <p:cNvSpPr/>
          <p:nvPr/>
        </p:nvSpPr>
        <p:spPr>
          <a:xfrm>
            <a:off x="548640" y="3401568"/>
            <a:ext cx="82296" cy="914400"/>
          </a:xfrm>
          <a:prstGeom prst="rect">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822960" y="3520440"/>
            <a:ext cx="1828800" cy="228600"/>
          </a:xfrm>
          <a:prstGeom prst="rect">
            <a:avLst/>
          </a:prstGeom>
          <a:noFill/>
        </p:spPr>
        <p:txBody>
          <a:bodyPr wrap="square" lIns="0" tIns="0" rIns="0" bIns="0" anchor="t">
            <a:spAutoFit/>
          </a:bodyPr>
          <a:lstStyle/>
          <a:p>
            <a:r>
              <a:rPr sz="950" b="1" i="0" spc="200">
                <a:solidFill>
                  <a:srgbClr val="0B1F3A"/>
                </a:solidFill>
              </a:rPr>
              <a:t>REFUSE WHEN</a:t>
            </a:r>
          </a:p>
        </p:txBody>
      </p:sp>
      <p:sp>
        <p:nvSpPr>
          <p:cNvPr id="1009" name="TextBox 1008"/>
          <p:cNvSpPr txBox="1"/>
          <p:nvPr/>
        </p:nvSpPr>
        <p:spPr>
          <a:xfrm>
            <a:off x="822960" y="3767328"/>
            <a:ext cx="2377440" cy="457200"/>
          </a:xfrm>
          <a:prstGeom prst="rect">
            <a:avLst/>
          </a:prstGeom>
          <a:noFill/>
        </p:spPr>
        <p:txBody>
          <a:bodyPr wrap="square" lIns="0" tIns="0" rIns="0" bIns="0" anchor="t">
            <a:spAutoFit/>
          </a:bodyPr>
          <a:lstStyle/>
          <a:p>
            <a:r>
              <a:rPr sz="1500" b="1" i="0">
                <a:solidFill>
                  <a:srgbClr val="0B1F3A"/>
                </a:solidFill>
                <a:latin typeface="+mj-lt"/>
              </a:rPr>
              <a:t>A question is still open</a:t>
            </a:r>
          </a:p>
        </p:txBody>
      </p:sp>
      <p:sp>
        <p:nvSpPr>
          <p:cNvPr id="1010" name="TextBox 1009"/>
          <p:cNvSpPr txBox="1"/>
          <p:nvPr/>
        </p:nvSpPr>
        <p:spPr>
          <a:xfrm>
            <a:off x="3383280" y="3401568"/>
            <a:ext cx="4297680" cy="914400"/>
          </a:xfrm>
          <a:prstGeom prst="rect">
            <a:avLst/>
          </a:prstGeom>
          <a:noFill/>
        </p:spPr>
        <p:txBody>
          <a:bodyPr wrap="square" lIns="0" tIns="0" rIns="0" bIns="0" anchor="ctr">
            <a:spAutoFit/>
          </a:bodyPr>
          <a:lstStyle/>
          <a:p>
            <a:r>
              <a:rPr sz="1300" b="0" i="0">
                <a:solidFill>
                  <a:srgbClr val="0B1F3A"/>
                </a:solidFill>
              </a:rPr>
              <a:t>An open question is a decision nobody made. If you build anyway, you make it yourself.</a:t>
            </a:r>
          </a:p>
        </p:txBody>
      </p:sp>
      <p:sp>
        <p:nvSpPr>
          <p:cNvPr id="1011" name="Rounded Rectangle 1010"/>
          <p:cNvSpPr/>
          <p:nvPr/>
        </p:nvSpPr>
        <p:spPr>
          <a:xfrm>
            <a:off x="548640" y="4425696"/>
            <a:ext cx="7315200" cy="9144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ectangle 1011"/>
          <p:cNvSpPr/>
          <p:nvPr/>
        </p:nvSpPr>
        <p:spPr>
          <a:xfrm>
            <a:off x="548640" y="4425696"/>
            <a:ext cx="82296" cy="914400"/>
          </a:xfrm>
          <a:prstGeom prst="rect">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2960" y="4544568"/>
            <a:ext cx="1828800" cy="228600"/>
          </a:xfrm>
          <a:prstGeom prst="rect">
            <a:avLst/>
          </a:prstGeom>
          <a:noFill/>
        </p:spPr>
        <p:txBody>
          <a:bodyPr wrap="square" lIns="0" tIns="0" rIns="0" bIns="0" anchor="t">
            <a:spAutoFit/>
          </a:bodyPr>
          <a:lstStyle/>
          <a:p>
            <a:r>
              <a:rPr sz="950" b="1" i="0" spc="200">
                <a:solidFill>
                  <a:srgbClr val="0B1F3A"/>
                </a:solidFill>
              </a:rPr>
              <a:t>NEVER</a:t>
            </a:r>
          </a:p>
        </p:txBody>
      </p:sp>
      <p:sp>
        <p:nvSpPr>
          <p:cNvPr id="1014" name="TextBox 1013"/>
          <p:cNvSpPr txBox="1"/>
          <p:nvPr/>
        </p:nvSpPr>
        <p:spPr>
          <a:xfrm>
            <a:off x="822960" y="4791456"/>
            <a:ext cx="2377440" cy="457200"/>
          </a:xfrm>
          <a:prstGeom prst="rect">
            <a:avLst/>
          </a:prstGeom>
          <a:noFill/>
        </p:spPr>
        <p:txBody>
          <a:bodyPr wrap="square" lIns="0" tIns="0" rIns="0" bIns="0" anchor="t">
            <a:spAutoFit/>
          </a:bodyPr>
          <a:lstStyle/>
          <a:p>
            <a:r>
              <a:rPr sz="1500" b="1" i="0">
                <a:solidFill>
                  <a:srgbClr val="0B1F3A"/>
                </a:solidFill>
                <a:latin typeface="+mj-lt"/>
              </a:rPr>
              <a:t>Answer it for them</a:t>
            </a:r>
          </a:p>
        </p:txBody>
      </p:sp>
      <p:sp>
        <p:nvSpPr>
          <p:cNvPr id="1015" name="TextBox 1014"/>
          <p:cNvSpPr txBox="1"/>
          <p:nvPr/>
        </p:nvSpPr>
        <p:spPr>
          <a:xfrm>
            <a:off x="3383280" y="4425696"/>
            <a:ext cx="4297680" cy="914400"/>
          </a:xfrm>
          <a:prstGeom prst="rect">
            <a:avLst/>
          </a:prstGeom>
          <a:noFill/>
        </p:spPr>
        <p:txBody>
          <a:bodyPr wrap="square" lIns="0" tIns="0" rIns="0" bIns="0" anchor="ctr">
            <a:spAutoFit/>
          </a:bodyPr>
          <a:lstStyle/>
          <a:p>
            <a:r>
              <a:rPr sz="1300" b="0" i="0">
                <a:solidFill>
                  <a:srgbClr val="0B1F3A"/>
                </a:solidFill>
              </a:rPr>
              <a:t>Your answer becomes the scope. Send it back. This is the cheapest point in the project to be wrong.</a:t>
            </a:r>
          </a:p>
        </p:txBody>
      </p:sp>
      <p:sp>
        <p:nvSpPr>
          <p:cNvPr id="1016" name="Rounded Rectangle 1015"/>
          <p:cNvSpPr/>
          <p:nvPr/>
        </p:nvSpPr>
        <p:spPr>
          <a:xfrm>
            <a:off x="8092440" y="1783080"/>
            <a:ext cx="3547872" cy="3630168"/>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8321040" y="1938528"/>
            <a:ext cx="3108960" cy="228600"/>
          </a:xfrm>
          <a:prstGeom prst="rect">
            <a:avLst/>
          </a:prstGeom>
          <a:noFill/>
        </p:spPr>
        <p:txBody>
          <a:bodyPr wrap="square" lIns="0" tIns="0" rIns="0" bIns="0" anchor="t">
            <a:spAutoFit/>
          </a:bodyPr>
          <a:lstStyle/>
          <a:p>
            <a:r>
              <a:rPr sz="1000" b="1" i="0" spc="200">
                <a:solidFill>
                  <a:srgbClr val="00A3A1"/>
                </a:solidFill>
              </a:rPr>
              <a:t>ENFORCED BY THE TOOLKIT</a:t>
            </a:r>
          </a:p>
        </p:txBody>
      </p:sp>
      <p:sp>
        <p:nvSpPr>
          <p:cNvPr id="1018" name="TextBox 1017"/>
          <p:cNvSpPr txBox="1"/>
          <p:nvPr/>
        </p:nvSpPr>
        <p:spPr>
          <a:xfrm>
            <a:off x="8321040" y="2286000"/>
            <a:ext cx="3108960" cy="1005840"/>
          </a:xfrm>
          <a:prstGeom prst="rect">
            <a:avLst/>
          </a:prstGeom>
          <a:noFill/>
        </p:spPr>
        <p:txBody>
          <a:bodyPr wrap="square" lIns="0" tIns="0" rIns="0" bIns="0" anchor="t">
            <a:spAutoFit/>
          </a:bodyPr>
          <a:lstStyle/>
          <a:p>
            <a:r>
              <a:rPr sz="1800" b="1" i="0">
                <a:solidFill>
                  <a:srgbClr val="FFFFFF"/>
                </a:solidFill>
                <a:latin typeface="+mj-lt"/>
              </a:rPr>
              <a:t>/tdmi:upsize will not start on an open model charter.</a:t>
            </a:r>
          </a:p>
        </p:txBody>
      </p:sp>
      <p:sp>
        <p:nvSpPr>
          <p:cNvPr id="1019" name="TextBox 1018"/>
          <p:cNvSpPr txBox="1"/>
          <p:nvPr/>
        </p:nvSpPr>
        <p:spPr>
          <a:xfrm>
            <a:off x="8321040" y="3383280"/>
            <a:ext cx="3108960" cy="1280160"/>
          </a:xfrm>
          <a:prstGeom prst="rect">
            <a:avLst/>
          </a:prstGeom>
          <a:noFill/>
        </p:spPr>
        <p:txBody>
          <a:bodyPr wrap="square" lIns="0" tIns="0" rIns="0" bIns="0" anchor="t">
            <a:spAutoFit/>
          </a:bodyPr>
          <a:lstStyle/>
          <a:p>
            <a:r>
              <a:rPr sz="1350" b="0" i="0">
                <a:solidFill>
                  <a:srgbClr val="FFFFFF"/>
                </a:solidFill>
              </a:rPr>
              <a:t>It will not answer an open question for you either. The gate is the minimum for any serious project, so the tool holds the line.</a:t>
            </a:r>
          </a:p>
        </p:txBody>
      </p:sp>
      <p:sp>
        <p:nvSpPr>
          <p:cNvPr id="1020" name="TextBox 1019"/>
          <p:cNvSpPr txBox="1"/>
          <p:nvPr/>
        </p:nvSpPr>
        <p:spPr>
          <a:xfrm>
            <a:off x="8321040" y="4846320"/>
            <a:ext cx="3108960" cy="365760"/>
          </a:xfrm>
          <a:prstGeom prst="rect">
            <a:avLst/>
          </a:prstGeom>
          <a:noFill/>
        </p:spPr>
        <p:txBody>
          <a:bodyPr wrap="square" lIns="0" tIns="0" rIns="0" bIns="0" anchor="t">
            <a:spAutoFit/>
          </a:bodyPr>
          <a:lstStyle/>
          <a:p>
            <a:r>
              <a:rPr sz="1050" b="0" i="1">
                <a:solidFill>
                  <a:srgbClr val="C9D6EC"/>
                </a:solidFill>
              </a:rPr>
              <a:t>Covered in the toolkit section of this module.</a:t>
            </a:r>
          </a:p>
        </p:txBody>
      </p:sp>
      <p:sp>
        <p:nvSpPr>
          <p:cNvPr id="1021" name="Rounded Rectangle 1020"/>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TextBox 1021"/>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The upsize gate is your first and cheapest chance to say no.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GATE 1 · THE UPSIZE GATE</a:t>
            </a:r>
          </a:p>
        </p:txBody>
      </p:sp>
      <p:sp>
        <p:nvSpPr>
          <p:cNvPr id="3" name="Title 2"/>
          <p:cNvSpPr>
            <a:spLocks noGrp="1"/>
          </p:cNvSpPr>
          <p:nvPr>
            <p:ph type="title" idx="101"/>
          </p:nvPr>
        </p:nvSpPr>
        <p:spPr/>
        <p:txBody>
          <a:bodyPr/>
          <a:lstStyle/>
          <a:p>
            <a:pPr algn="l"/>
            <a:r>
              <a:t>Closing the charter once pays off four times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9</a:t>
            </a:fld>
            <a:endParaRPr lang="en-US" b="0"/>
          </a:p>
        </p:txBody>
      </p:sp>
      <p:sp>
        <p:nvSpPr>
          <p:cNvPr id="1000" name="TextBox 999"/>
          <p:cNvSpPr txBox="1"/>
          <p:nvPr/>
        </p:nvSpPr>
        <p:spPr>
          <a:xfrm>
            <a:off x="548640" y="1691640"/>
            <a:ext cx="11064240" cy="457200"/>
          </a:xfrm>
          <a:prstGeom prst="rect">
            <a:avLst/>
          </a:prstGeom>
          <a:noFill/>
        </p:spPr>
        <p:txBody>
          <a:bodyPr wrap="square" lIns="0" tIns="0" rIns="0" bIns="0" anchor="t">
            <a:spAutoFit/>
          </a:bodyPr>
          <a:lstStyle/>
          <a:p>
            <a:r>
              <a:rPr sz="1400" b="0" i="0">
                <a:solidFill>
                  <a:srgbClr val="0B1F3A"/>
                </a:solidFill>
              </a:rPr>
              <a:t>The charter states purpose, users, assumptions and scope. Four later documents ask for exactly those facts, months apart, from different people.</a:t>
            </a:r>
          </a:p>
        </p:txBody>
      </p:sp>
      <p:graphicFrame>
        <p:nvGraphicFramePr>
          <p:cNvPr id="1001" name="Table 1000"/>
          <p:cNvGraphicFramePr>
            <a:graphicFrameLocks noGrp="1"/>
          </p:cNvGraphicFramePr>
          <p:nvPr/>
        </p:nvGraphicFramePr>
        <p:xfrm>
          <a:off x="548640" y="2286000"/>
          <a:ext cx="7498080" cy="2834640"/>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566928">
                <a:tc>
                  <a:txBody>
                    <a:bodyPr/>
                    <a:lstStyle/>
                    <a:p>
                      <a:r>
                        <a:rPr sz="1100" b="1" spc="100">
                          <a:solidFill>
                            <a:srgbClr val="FFFFFF"/>
                          </a:solidFill>
                        </a:rPr>
                        <a:t>LATER ARTIFACT</a:t>
                      </a:r>
                    </a:p>
                  </a:txBody>
                  <a:tcPr marL="109728" marR="109728" anchor="ctr">
                    <a:solidFill>
                      <a:srgbClr val="0B1F3A"/>
                    </a:solidFill>
                  </a:tcPr>
                </a:tc>
                <a:tc>
                  <a:txBody>
                    <a:bodyPr/>
                    <a:lstStyle/>
                    <a:p>
                      <a:r>
                        <a:rPr sz="1100" b="1" spc="100">
                          <a:solidFill>
                            <a:srgbClr val="FFFFFF"/>
                          </a:solidFill>
                        </a:rPr>
                        <a:t>WHAT IT TAKES FROM THE CHARTER</a:t>
                      </a:r>
                    </a:p>
                  </a:txBody>
                  <a:tcPr marL="109728" marR="109728" anchor="ctr">
                    <a:solidFill>
                      <a:srgbClr val="0B1F3A"/>
                    </a:solidFill>
                  </a:tcPr>
                </a:tc>
                <a:tc>
                  <a:txBody>
                    <a:bodyPr/>
                    <a:lstStyle/>
                    <a:p>
                      <a:r>
                        <a:rPr sz="1100" b="1" spc="100">
                          <a:solidFill>
                            <a:srgbClr val="FFFFFF"/>
                          </a:solidFill>
                        </a:rPr>
                        <a:t>GOES TO</a:t>
                      </a:r>
                    </a:p>
                  </a:txBody>
                  <a:tcPr marL="109728" marR="109728" anchor="ctr">
                    <a:solidFill>
                      <a:srgbClr val="0B1F3A"/>
                    </a:solidFill>
                  </a:tcPr>
                </a:tc>
                <a:extLst>
                  <a:ext uri="{0D108BD9-81ED-4DB2-BD59-A6C34878D82A}">
                    <a16:rowId xmlns:a16="http://schemas.microsoft.com/office/drawing/2014/main" val="10000"/>
                  </a:ext>
                </a:extLst>
              </a:tr>
              <a:tr h="566928">
                <a:tc>
                  <a:txBody>
                    <a:bodyPr/>
                    <a:lstStyle/>
                    <a:p>
                      <a:r>
                        <a:rPr sz="1250" b="1">
                          <a:solidFill>
                            <a:srgbClr val="0B1F3A"/>
                          </a:solidFill>
                        </a:rPr>
                        <a:t>Integration review (ESIS)</a:t>
                      </a:r>
                    </a:p>
                  </a:txBody>
                  <a:tcPr marL="109728" marR="109728" anchor="ctr">
                    <a:solidFill>
                      <a:srgbClr val="EEF3FB"/>
                    </a:solidFill>
                  </a:tcPr>
                </a:tc>
                <a:tc>
                  <a:txBody>
                    <a:bodyPr/>
                    <a:lstStyle/>
                    <a:p>
                      <a:r>
                        <a:rPr sz="1250" b="0">
                          <a:solidFill>
                            <a:srgbClr val="0B1F3A"/>
                          </a:solidFill>
                        </a:rPr>
                        <a:t>Purpose, users and data types</a:t>
                      </a:r>
                    </a:p>
                  </a:txBody>
                  <a:tcPr marL="109728" marR="109728" anchor="ctr">
                    <a:solidFill>
                      <a:srgbClr val="EEF3FB"/>
                    </a:solidFill>
                  </a:tcPr>
                </a:tc>
                <a:tc>
                  <a:txBody>
                    <a:bodyPr/>
                    <a:lstStyle/>
                    <a:p>
                      <a:r>
                        <a:rPr sz="1250" b="0">
                          <a:solidFill>
                            <a:srgbClr val="0B1F3A"/>
                          </a:solidFill>
                        </a:rPr>
                        <a:t>ET&amp;D</a:t>
                      </a:r>
                    </a:p>
                  </a:txBody>
                  <a:tcPr marL="109728" marR="109728" anchor="ctr">
                    <a:solidFill>
                      <a:srgbClr val="EEF3FB"/>
                    </a:solidFill>
                  </a:tcPr>
                </a:tc>
                <a:extLst>
                  <a:ext uri="{0D108BD9-81ED-4DB2-BD59-A6C34878D82A}">
                    <a16:rowId xmlns:a16="http://schemas.microsoft.com/office/drawing/2014/main" val="10001"/>
                  </a:ext>
                </a:extLst>
              </a:tr>
              <a:tr h="566928">
                <a:tc>
                  <a:txBody>
                    <a:bodyPr/>
                    <a:lstStyle/>
                    <a:p>
                      <a:r>
                        <a:rPr sz="1250" b="1">
                          <a:solidFill>
                            <a:srgbClr val="0B1F3A"/>
                          </a:solidFill>
                        </a:rPr>
                        <a:t>Risk-assessment intake</a:t>
                      </a:r>
                    </a:p>
                  </a:txBody>
                  <a:tcPr marL="109728" marR="109728" anchor="ctr">
                    <a:solidFill>
                      <a:srgbClr val="FFFFFF"/>
                    </a:solidFill>
                  </a:tcPr>
                </a:tc>
                <a:tc>
                  <a:txBody>
                    <a:bodyPr/>
                    <a:lstStyle/>
                    <a:p>
                      <a:r>
                        <a:rPr sz="1250" b="0">
                          <a:solidFill>
                            <a:srgbClr val="0B1F3A"/>
                          </a:solidFill>
                        </a:rPr>
                        <a:t>Use cases, business value, user population, data classification</a:t>
                      </a:r>
                    </a:p>
                  </a:txBody>
                  <a:tcPr marL="109728" marR="109728" anchor="ctr">
                    <a:solidFill>
                      <a:srgbClr val="FFFFFF"/>
                    </a:solidFill>
                  </a:tcPr>
                </a:tc>
                <a:tc>
                  <a:txBody>
                    <a:bodyPr/>
                    <a:lstStyle/>
                    <a:p>
                      <a:r>
                        <a:rPr sz="1250" b="0">
                          <a:solidFill>
                            <a:srgbClr val="0B1F3A"/>
                          </a:solidFill>
                        </a:rPr>
                        <a:t>GIS</a:t>
                      </a:r>
                    </a:p>
                  </a:txBody>
                  <a:tcPr marL="109728" marR="109728" anchor="ctr">
                    <a:solidFill>
                      <a:srgbClr val="FFFFFF"/>
                    </a:solidFill>
                  </a:tcPr>
                </a:tc>
                <a:extLst>
                  <a:ext uri="{0D108BD9-81ED-4DB2-BD59-A6C34878D82A}">
                    <a16:rowId xmlns:a16="http://schemas.microsoft.com/office/drawing/2014/main" val="10002"/>
                  </a:ext>
                </a:extLst>
              </a:tr>
              <a:tr h="566928">
                <a:tc>
                  <a:txBody>
                    <a:bodyPr/>
                    <a:lstStyle/>
                    <a:p>
                      <a:r>
                        <a:rPr sz="1250" b="1">
                          <a:solidFill>
                            <a:srgbClr val="0B1F3A"/>
                          </a:solidFill>
                        </a:rPr>
                        <a:t>User documentation</a:t>
                      </a:r>
                    </a:p>
                  </a:txBody>
                  <a:tcPr marL="109728" marR="109728" anchor="ctr">
                    <a:solidFill>
                      <a:srgbClr val="EEF3FB"/>
                    </a:solidFill>
                  </a:tcPr>
                </a:tc>
                <a:tc>
                  <a:txBody>
                    <a:bodyPr/>
                    <a:lstStyle/>
                    <a:p>
                      <a:r>
                        <a:rPr sz="1250" b="0">
                          <a:solidFill>
                            <a:srgbClr val="0B1F3A"/>
                          </a:solidFill>
                        </a:rPr>
                        <a:t>What the application does, and who uses it</a:t>
                      </a:r>
                    </a:p>
                  </a:txBody>
                  <a:tcPr marL="109728" marR="109728" anchor="ctr">
                    <a:solidFill>
                      <a:srgbClr val="EEF3FB"/>
                    </a:solidFill>
                  </a:tcPr>
                </a:tc>
                <a:tc>
                  <a:txBody>
                    <a:bodyPr/>
                    <a:lstStyle/>
                    <a:p>
                      <a:r>
                        <a:rPr sz="1250" b="0">
                          <a:solidFill>
                            <a:srgbClr val="0B1F3A"/>
                          </a:solidFill>
                        </a:rPr>
                        <a:t>TDMI</a:t>
                      </a:r>
                    </a:p>
                  </a:txBody>
                  <a:tcPr marL="109728" marR="109728" anchor="ctr">
                    <a:solidFill>
                      <a:srgbClr val="EEF3FB"/>
                    </a:solidFill>
                  </a:tcPr>
                </a:tc>
                <a:extLst>
                  <a:ext uri="{0D108BD9-81ED-4DB2-BD59-A6C34878D82A}">
                    <a16:rowId xmlns:a16="http://schemas.microsoft.com/office/drawing/2014/main" val="10003"/>
                  </a:ext>
                </a:extLst>
              </a:tr>
              <a:tr h="566928">
                <a:tc>
                  <a:txBody>
                    <a:bodyPr/>
                    <a:lstStyle/>
                    <a:p>
                      <a:r>
                        <a:rPr sz="1250" b="1">
                          <a:solidFill>
                            <a:srgbClr val="0B1F3A"/>
                          </a:solidFill>
                        </a:rPr>
                        <a:t>Acceptance test cases</a:t>
                      </a:r>
                    </a:p>
                  </a:txBody>
                  <a:tcPr marL="109728" marR="109728" anchor="ctr">
                    <a:solidFill>
                      <a:srgbClr val="FFFFFF"/>
                    </a:solidFill>
                  </a:tcPr>
                </a:tc>
                <a:tc>
                  <a:txBody>
                    <a:bodyPr/>
                    <a:lstStyle/>
                    <a:p>
                      <a:r>
                        <a:rPr sz="1250" b="0">
                          <a:solidFill>
                            <a:srgbClr val="0B1F3A"/>
                          </a:solidFill>
                        </a:rPr>
                        <a:t>The workflows a user must be able to complete</a:t>
                      </a:r>
                    </a:p>
                  </a:txBody>
                  <a:tcPr marL="109728" marR="109728" anchor="ctr">
                    <a:solidFill>
                      <a:srgbClr val="FFFFFF"/>
                    </a:solidFill>
                  </a:tcPr>
                </a:tc>
                <a:tc>
                  <a:txBody>
                    <a:bodyPr/>
                    <a:lstStyle/>
                    <a:p>
                      <a:r>
                        <a:rPr sz="1250" b="0">
                          <a:solidFill>
                            <a:srgbClr val="0B1F3A"/>
                          </a:solidFill>
                        </a:rPr>
                        <a:t>TDMI</a:t>
                      </a:r>
                    </a:p>
                  </a:txBody>
                  <a:tcPr marL="109728" marR="109728" anchor="ctr">
                    <a:solidFill>
                      <a:srgbClr val="FFFFFF"/>
                    </a:solidFill>
                  </a:tcPr>
                </a:tc>
                <a:extLst>
                  <a:ext uri="{0D108BD9-81ED-4DB2-BD59-A6C34878D82A}">
                    <a16:rowId xmlns:a16="http://schemas.microsoft.com/office/drawing/2014/main" val="10004"/>
                  </a:ext>
                </a:extLst>
              </a:tr>
            </a:tbl>
          </a:graphicData>
        </a:graphic>
      </p:graphicFrame>
      <p:sp>
        <p:nvSpPr>
          <p:cNvPr id="1002" name="Rounded Rectangle 1001"/>
          <p:cNvSpPr/>
          <p:nvPr/>
        </p:nvSpPr>
        <p:spPr>
          <a:xfrm>
            <a:off x="8275320" y="2286000"/>
            <a:ext cx="3364992" cy="28346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8503920" y="2468880"/>
            <a:ext cx="2926080" cy="822960"/>
          </a:xfrm>
          <a:prstGeom prst="rect">
            <a:avLst/>
          </a:prstGeom>
          <a:noFill/>
        </p:spPr>
        <p:txBody>
          <a:bodyPr wrap="square" lIns="0" tIns="0" rIns="0" bIns="0" anchor="t">
            <a:spAutoFit/>
          </a:bodyPr>
          <a:lstStyle/>
          <a:p>
            <a:r>
              <a:rPr sz="6000" b="1" i="0">
                <a:solidFill>
                  <a:srgbClr val="1E49E2"/>
                </a:solidFill>
                <a:latin typeface="+mj-lt"/>
              </a:rPr>
              <a:t>4</a:t>
            </a:r>
          </a:p>
        </p:txBody>
      </p:sp>
      <p:sp>
        <p:nvSpPr>
          <p:cNvPr id="1004" name="TextBox 1003"/>
          <p:cNvSpPr txBox="1"/>
          <p:nvPr/>
        </p:nvSpPr>
        <p:spPr>
          <a:xfrm>
            <a:off x="8503920" y="3383280"/>
            <a:ext cx="2926080" cy="365760"/>
          </a:xfrm>
          <a:prstGeom prst="rect">
            <a:avLst/>
          </a:prstGeom>
          <a:noFill/>
        </p:spPr>
        <p:txBody>
          <a:bodyPr wrap="square" lIns="0" tIns="0" rIns="0" bIns="0" anchor="t">
            <a:spAutoFit/>
          </a:bodyPr>
          <a:lstStyle/>
          <a:p>
            <a:r>
              <a:rPr sz="1500" b="1" i="0">
                <a:solidFill>
                  <a:srgbClr val="0B1F3A"/>
                </a:solidFill>
              </a:rPr>
              <a:t>documents from one charter</a:t>
            </a:r>
          </a:p>
        </p:txBody>
      </p:sp>
      <p:sp>
        <p:nvSpPr>
          <p:cNvPr id="1005" name="TextBox 1004"/>
          <p:cNvSpPr txBox="1"/>
          <p:nvPr/>
        </p:nvSpPr>
        <p:spPr>
          <a:xfrm>
            <a:off x="8503920" y="3794760"/>
            <a:ext cx="2926080" cy="1188720"/>
          </a:xfrm>
          <a:prstGeom prst="rect">
            <a:avLst/>
          </a:prstGeom>
          <a:noFill/>
        </p:spPr>
        <p:txBody>
          <a:bodyPr wrap="square" lIns="0" tIns="0" rIns="0" bIns="0" anchor="t">
            <a:spAutoFit/>
          </a:bodyPr>
          <a:lstStyle/>
          <a:p>
            <a:r>
              <a:rPr sz="1250" b="0" i="0">
                <a:solidFill>
                  <a:srgbClr val="0B1F3A"/>
                </a:solidFill>
              </a:rPr>
              <a:t>Two go to Enterprise Technology and security. Two belong to the build team. All four are produced as you go, not under deadline.</a:t>
            </a:r>
          </a:p>
        </p:txBody>
      </p:sp>
      <p:sp>
        <p:nvSpPr>
          <p:cNvPr id="1006" name="Rounded Rectangle 1005"/>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Close the charter once and four documents become copy work. Skip it and you write all four from memory.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PHASE 1 · UPSIZE</a:t>
            </a:r>
          </a:p>
        </p:txBody>
      </p:sp>
      <p:sp>
        <p:nvSpPr>
          <p:cNvPr id="3" name="Title 2"/>
          <p:cNvSpPr>
            <a:spLocks noGrp="1"/>
          </p:cNvSpPr>
          <p:nvPr>
            <p:ph type="title" idx="101"/>
          </p:nvPr>
        </p:nvSpPr>
        <p:spPr/>
        <p:txBody>
          <a:bodyPr/>
          <a:lstStyle/>
          <a:p>
            <a:pPr algn="l"/>
            <a:r>
              <a:t>The model is a specification. Read it like one.</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10</a:t>
            </a:fld>
            <a:endParaRPr lang="en-US" b="0"/>
          </a:p>
        </p:txBody>
      </p:sp>
      <p:sp>
        <p:nvSpPr>
          <p:cNvPr id="1000" name="Rounded Rectangle 999"/>
          <p:cNvSpPr/>
          <p:nvPr/>
        </p:nvSpPr>
        <p:spPr>
          <a:xfrm>
            <a:off x="548640" y="1783080"/>
            <a:ext cx="2651760" cy="27432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Rounded Rectangle 1000"/>
          <p:cNvSpPr/>
          <p:nvPr/>
        </p:nvSpPr>
        <p:spPr>
          <a:xfrm>
            <a:off x="749808" y="1938528"/>
            <a:ext cx="530352" cy="530352"/>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49808" y="1938528"/>
            <a:ext cx="530352" cy="530352"/>
          </a:xfrm>
          <a:prstGeom prst="rect">
            <a:avLst/>
          </a:prstGeom>
          <a:noFill/>
        </p:spPr>
        <p:txBody>
          <a:bodyPr wrap="square" lIns="0" tIns="0" rIns="0" bIns="0" anchor="ctr">
            <a:spAutoFit/>
          </a:bodyPr>
          <a:lstStyle/>
          <a:p>
            <a:pPr algn="ctr"/>
            <a:r>
              <a:rPr sz="2200" b="1" i="0">
                <a:solidFill>
                  <a:srgbClr val="FFFFFF"/>
                </a:solidFill>
                <a:latin typeface="+mj-lt"/>
              </a:rPr>
              <a:t>1</a:t>
            </a:r>
          </a:p>
        </p:txBody>
      </p:sp>
      <p:sp>
        <p:nvSpPr>
          <p:cNvPr id="1003" name="TextBox 1002"/>
          <p:cNvSpPr txBox="1"/>
          <p:nvPr/>
        </p:nvSpPr>
        <p:spPr>
          <a:xfrm>
            <a:off x="749808" y="2651760"/>
            <a:ext cx="2286000" cy="594360"/>
          </a:xfrm>
          <a:prstGeom prst="rect">
            <a:avLst/>
          </a:prstGeom>
          <a:noFill/>
        </p:spPr>
        <p:txBody>
          <a:bodyPr wrap="square" lIns="0" tIns="0" rIns="0" bIns="0" anchor="t">
            <a:spAutoFit/>
          </a:bodyPr>
          <a:lstStyle/>
          <a:p>
            <a:r>
              <a:rPr sz="1700" b="1" i="0">
                <a:solidFill>
                  <a:srgbClr val="0B1F3A"/>
                </a:solidFill>
                <a:latin typeface="+mj-lt"/>
              </a:rPr>
              <a:t>Enumerate the screens</a:t>
            </a:r>
          </a:p>
        </p:txBody>
      </p:sp>
      <p:sp>
        <p:nvSpPr>
          <p:cNvPr id="1004" name="TextBox 1003"/>
          <p:cNvSpPr txBox="1"/>
          <p:nvPr/>
        </p:nvSpPr>
        <p:spPr>
          <a:xfrm>
            <a:off x="749808" y="3291840"/>
            <a:ext cx="2286000" cy="1188720"/>
          </a:xfrm>
          <a:prstGeom prst="rect">
            <a:avLst/>
          </a:prstGeom>
          <a:noFill/>
        </p:spPr>
        <p:txBody>
          <a:bodyPr wrap="square" lIns="0" tIns="0" rIns="0" bIns="0" anchor="t">
            <a:spAutoFit/>
          </a:bodyPr>
          <a:lstStyle/>
          <a:p>
            <a:r>
              <a:rPr sz="1250" b="0" i="0">
                <a:solidFill>
                  <a:srgbClr val="0B1F3A"/>
                </a:solidFill>
              </a:rPr>
              <a:t>Each screen becomes a route. The model already decided how many there are and what belongs on each.</a:t>
            </a:r>
          </a:p>
        </p:txBody>
      </p:sp>
      <p:sp>
        <p:nvSpPr>
          <p:cNvPr id="1005" name="Rounded Rectangle 1004"/>
          <p:cNvSpPr/>
          <p:nvPr/>
        </p:nvSpPr>
        <p:spPr>
          <a:xfrm>
            <a:off x="3364992" y="1783080"/>
            <a:ext cx="2651760" cy="27432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3566160" y="1938528"/>
            <a:ext cx="530352" cy="530352"/>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3566160" y="1938528"/>
            <a:ext cx="530352" cy="530352"/>
          </a:xfrm>
          <a:prstGeom prst="rect">
            <a:avLst/>
          </a:prstGeom>
          <a:noFill/>
        </p:spPr>
        <p:txBody>
          <a:bodyPr wrap="square" lIns="0" tIns="0" rIns="0" bIns="0" anchor="ctr">
            <a:spAutoFit/>
          </a:bodyPr>
          <a:lstStyle/>
          <a:p>
            <a:pPr algn="ctr"/>
            <a:r>
              <a:rPr sz="2200" b="1" i="0">
                <a:solidFill>
                  <a:srgbClr val="FFFFFF"/>
                </a:solidFill>
                <a:latin typeface="+mj-lt"/>
              </a:rPr>
              <a:t>2</a:t>
            </a:r>
          </a:p>
        </p:txBody>
      </p:sp>
      <p:sp>
        <p:nvSpPr>
          <p:cNvPr id="1008" name="TextBox 1007"/>
          <p:cNvSpPr txBox="1"/>
          <p:nvPr/>
        </p:nvSpPr>
        <p:spPr>
          <a:xfrm>
            <a:off x="3566160" y="2651760"/>
            <a:ext cx="2286000" cy="594360"/>
          </a:xfrm>
          <a:prstGeom prst="rect">
            <a:avLst/>
          </a:prstGeom>
          <a:noFill/>
        </p:spPr>
        <p:txBody>
          <a:bodyPr wrap="square" lIns="0" tIns="0" rIns="0" bIns="0" anchor="t">
            <a:spAutoFit/>
          </a:bodyPr>
          <a:lstStyle/>
          <a:p>
            <a:r>
              <a:rPr sz="1700" b="1" i="0">
                <a:solidFill>
                  <a:srgbClr val="0B1F3A"/>
                </a:solidFill>
                <a:latin typeface="+mj-lt"/>
              </a:rPr>
              <a:t>Enumerate the states</a:t>
            </a:r>
          </a:p>
        </p:txBody>
      </p:sp>
      <p:sp>
        <p:nvSpPr>
          <p:cNvPr id="1009" name="TextBox 1008"/>
          <p:cNvSpPr txBox="1"/>
          <p:nvPr/>
        </p:nvSpPr>
        <p:spPr>
          <a:xfrm>
            <a:off x="3566160" y="3291840"/>
            <a:ext cx="2286000" cy="1188720"/>
          </a:xfrm>
          <a:prstGeom prst="rect">
            <a:avLst/>
          </a:prstGeom>
          <a:noFill/>
        </p:spPr>
        <p:txBody>
          <a:bodyPr wrap="square" lIns="0" tIns="0" rIns="0" bIns="0" anchor="t">
            <a:spAutoFit/>
          </a:bodyPr>
          <a:lstStyle/>
          <a:p>
            <a:r>
              <a:rPr sz="1250" b="0" i="0">
                <a:solidFill>
                  <a:srgbClr val="0B1F3A"/>
                </a:solidFill>
              </a:rPr>
              <a:t>Empty, error, success, loading. Every state the model shows must be built, and some are written down nowhere else.</a:t>
            </a:r>
          </a:p>
        </p:txBody>
      </p:sp>
      <p:sp>
        <p:nvSpPr>
          <p:cNvPr id="1010" name="Rounded Rectangle 1009"/>
          <p:cNvSpPr/>
          <p:nvPr/>
        </p:nvSpPr>
        <p:spPr>
          <a:xfrm>
            <a:off x="6181344" y="1783080"/>
            <a:ext cx="2651760" cy="27432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Rounded Rectangle 1010"/>
          <p:cNvSpPr/>
          <p:nvPr/>
        </p:nvSpPr>
        <p:spPr>
          <a:xfrm>
            <a:off x="6382512" y="1938528"/>
            <a:ext cx="530352" cy="530352"/>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6382512" y="1938528"/>
            <a:ext cx="530352" cy="530352"/>
          </a:xfrm>
          <a:prstGeom prst="rect">
            <a:avLst/>
          </a:prstGeom>
          <a:noFill/>
        </p:spPr>
        <p:txBody>
          <a:bodyPr wrap="square" lIns="0" tIns="0" rIns="0" bIns="0" anchor="ctr">
            <a:spAutoFit/>
          </a:bodyPr>
          <a:lstStyle/>
          <a:p>
            <a:pPr algn="ctr"/>
            <a:r>
              <a:rPr sz="2200" b="1" i="0">
                <a:solidFill>
                  <a:srgbClr val="FFFFFF"/>
                </a:solidFill>
                <a:latin typeface="+mj-lt"/>
              </a:rPr>
              <a:t>3</a:t>
            </a:r>
          </a:p>
        </p:txBody>
      </p:sp>
      <p:sp>
        <p:nvSpPr>
          <p:cNvPr id="1013" name="TextBox 1012"/>
          <p:cNvSpPr txBox="1"/>
          <p:nvPr/>
        </p:nvSpPr>
        <p:spPr>
          <a:xfrm>
            <a:off x="6382512" y="2651760"/>
            <a:ext cx="2286000" cy="594360"/>
          </a:xfrm>
          <a:prstGeom prst="rect">
            <a:avLst/>
          </a:prstGeom>
          <a:noFill/>
        </p:spPr>
        <p:txBody>
          <a:bodyPr wrap="square" lIns="0" tIns="0" rIns="0" bIns="0" anchor="t">
            <a:spAutoFit/>
          </a:bodyPr>
          <a:lstStyle/>
          <a:p>
            <a:r>
              <a:rPr sz="1700" b="1" i="0">
                <a:solidFill>
                  <a:srgbClr val="0B1F3A"/>
                </a:solidFill>
                <a:latin typeface="+mj-lt"/>
              </a:rPr>
              <a:t>Keep the words</a:t>
            </a:r>
          </a:p>
        </p:txBody>
      </p:sp>
      <p:sp>
        <p:nvSpPr>
          <p:cNvPr id="1014" name="TextBox 1013"/>
          <p:cNvSpPr txBox="1"/>
          <p:nvPr/>
        </p:nvSpPr>
        <p:spPr>
          <a:xfrm>
            <a:off x="6382512" y="3291840"/>
            <a:ext cx="2286000" cy="1188720"/>
          </a:xfrm>
          <a:prstGeom prst="rect">
            <a:avLst/>
          </a:prstGeom>
          <a:noFill/>
        </p:spPr>
        <p:txBody>
          <a:bodyPr wrap="square" lIns="0" tIns="0" rIns="0" bIns="0" anchor="t">
            <a:spAutoFit/>
          </a:bodyPr>
          <a:lstStyle/>
          <a:p>
            <a:r>
              <a:rPr sz="1250" b="0" i="0">
                <a:solidFill>
                  <a:srgbClr val="0B1F3A"/>
                </a:solidFill>
              </a:rPr>
              <a:t>Labels, column headings, status names and button text are business decisions. Changing one is a change request.</a:t>
            </a:r>
          </a:p>
        </p:txBody>
      </p:sp>
      <p:sp>
        <p:nvSpPr>
          <p:cNvPr id="1015" name="Rounded Rectangle 1014"/>
          <p:cNvSpPr/>
          <p:nvPr/>
        </p:nvSpPr>
        <p:spPr>
          <a:xfrm>
            <a:off x="8997696" y="1783080"/>
            <a:ext cx="2651760" cy="27432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Rounded Rectangle 1015"/>
          <p:cNvSpPr/>
          <p:nvPr/>
        </p:nvSpPr>
        <p:spPr>
          <a:xfrm>
            <a:off x="9198864" y="1938528"/>
            <a:ext cx="530352" cy="530352"/>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9198864" y="1938528"/>
            <a:ext cx="530352" cy="530352"/>
          </a:xfrm>
          <a:prstGeom prst="rect">
            <a:avLst/>
          </a:prstGeom>
          <a:noFill/>
        </p:spPr>
        <p:txBody>
          <a:bodyPr wrap="square" lIns="0" tIns="0" rIns="0" bIns="0" anchor="ctr">
            <a:spAutoFit/>
          </a:bodyPr>
          <a:lstStyle/>
          <a:p>
            <a:pPr algn="ctr"/>
            <a:r>
              <a:rPr sz="2200" b="1" i="0">
                <a:solidFill>
                  <a:srgbClr val="FFFFFF"/>
                </a:solidFill>
                <a:latin typeface="+mj-lt"/>
              </a:rPr>
              <a:t>4</a:t>
            </a:r>
          </a:p>
        </p:txBody>
      </p:sp>
      <p:sp>
        <p:nvSpPr>
          <p:cNvPr id="1018" name="TextBox 1017"/>
          <p:cNvSpPr txBox="1"/>
          <p:nvPr/>
        </p:nvSpPr>
        <p:spPr>
          <a:xfrm>
            <a:off x="9198864" y="2651760"/>
            <a:ext cx="2286000" cy="594360"/>
          </a:xfrm>
          <a:prstGeom prst="rect">
            <a:avLst/>
          </a:prstGeom>
          <a:noFill/>
        </p:spPr>
        <p:txBody>
          <a:bodyPr wrap="square" lIns="0" tIns="0" rIns="0" bIns="0" anchor="t">
            <a:spAutoFit/>
          </a:bodyPr>
          <a:lstStyle/>
          <a:p>
            <a:r>
              <a:rPr sz="1700" b="1" i="0">
                <a:solidFill>
                  <a:srgbClr val="0B1F3A"/>
                </a:solidFill>
                <a:latin typeface="+mj-lt"/>
              </a:rPr>
              <a:t>Read the data for shape</a:t>
            </a:r>
          </a:p>
        </p:txBody>
      </p:sp>
      <p:sp>
        <p:nvSpPr>
          <p:cNvPr id="1019" name="TextBox 1018"/>
          <p:cNvSpPr txBox="1"/>
          <p:nvPr/>
        </p:nvSpPr>
        <p:spPr>
          <a:xfrm>
            <a:off x="9198864" y="3291840"/>
            <a:ext cx="2286000" cy="1188720"/>
          </a:xfrm>
          <a:prstGeom prst="rect">
            <a:avLst/>
          </a:prstGeom>
          <a:noFill/>
        </p:spPr>
        <p:txBody>
          <a:bodyPr wrap="square" lIns="0" tIns="0" rIns="0" bIns="0" anchor="t">
            <a:spAutoFit/>
          </a:bodyPr>
          <a:lstStyle/>
          <a:p>
            <a:r>
              <a:rPr sz="1250" b="0" i="0">
                <a:solidFill>
                  <a:srgbClr val="0B1F3A"/>
                </a:solidFill>
              </a:rPr>
              <a:t>Field types, formats and lengths become seeds and test fixtures. Never ship a row of the invented data.</a:t>
            </a:r>
          </a:p>
        </p:txBody>
      </p:sp>
      <p:sp>
        <p:nvSpPr>
          <p:cNvPr id="1020" name="Rounded Rectangle 1019"/>
          <p:cNvSpPr/>
          <p:nvPr/>
        </p:nvSpPr>
        <p:spPr>
          <a:xfrm>
            <a:off x="548640" y="4663440"/>
            <a:ext cx="11091672" cy="73152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TextBox 1020"/>
          <p:cNvSpPr txBox="1"/>
          <p:nvPr/>
        </p:nvSpPr>
        <p:spPr>
          <a:xfrm>
            <a:off x="777240" y="4663440"/>
            <a:ext cx="10607040" cy="731520"/>
          </a:xfrm>
          <a:prstGeom prst="rect">
            <a:avLst/>
          </a:prstGeom>
          <a:noFill/>
        </p:spPr>
        <p:txBody>
          <a:bodyPr wrap="square" lIns="0" tIns="0" rIns="0" bIns="0" anchor="ctr">
            <a:spAutoFit/>
          </a:bodyPr>
          <a:lstStyle/>
          <a:p>
            <a:r>
              <a:rPr sz="1300" b="1" i="0">
                <a:solidFill>
                  <a:srgbClr val="0B1F3A"/>
                </a:solidFill>
              </a:rPr>
              <a:t>Same habit as Day One: </a:t>
            </a:r>
            <a:r>
              <a:rPr sz="1300" b="0" i="0">
                <a:solidFill>
                  <a:srgbClr val="0B1F3A"/>
                </a:solidFill>
              </a:rPr>
              <a:t>decompose before you rebuild. Reading the Alteryx workflow for inputs, rules and outputs is the same skill as reading the model for screens, states and words.</a:t>
            </a:r>
          </a:p>
        </p:txBody>
      </p:sp>
      <p:sp>
        <p:nvSpPr>
          <p:cNvPr id="1022" name="Rounded Rectangle 1021"/>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TextBox 1022"/>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The temptation is to open the file and start porting. Read it first.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GATE 2 · THE DEV GATE</a:t>
            </a:r>
          </a:p>
        </p:txBody>
      </p:sp>
      <p:sp>
        <p:nvSpPr>
          <p:cNvPr id="3" name="Title 2"/>
          <p:cNvSpPr>
            <a:spLocks noGrp="1"/>
          </p:cNvSpPr>
          <p:nvPr>
            <p:ph type="title" idx="101"/>
          </p:nvPr>
        </p:nvSpPr>
        <p:spPr/>
        <p:txBody>
          <a:bodyPr/>
          <a:lstStyle/>
          <a:p>
            <a:pPr algn="l"/>
            <a:r>
              <a:t>The DEV gate: the running app answers a request</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11</a:t>
            </a:fld>
            <a:endParaRPr lang="en-US" b="0"/>
          </a:p>
        </p:txBody>
      </p:sp>
      <p:sp>
        <p:nvSpPr>
          <p:cNvPr id="1000" name="TextBox 999"/>
          <p:cNvSpPr txBox="1"/>
          <p:nvPr/>
        </p:nvSpPr>
        <p:spPr>
          <a:xfrm>
            <a:off x="548640" y="1691640"/>
            <a:ext cx="11064240" cy="457200"/>
          </a:xfrm>
          <a:prstGeom prst="rect">
            <a:avLst/>
          </a:prstGeom>
          <a:noFill/>
        </p:spPr>
        <p:txBody>
          <a:bodyPr wrap="square" lIns="0" tIns="0" rIns="0" bIns="0" anchor="t">
            <a:spAutoFit/>
          </a:bodyPr>
          <a:lstStyle/>
          <a:p>
            <a:r>
              <a:rPr sz="1400" b="0" i="0">
                <a:solidFill>
                  <a:srgbClr val="0B1F3A"/>
                </a:solidFill>
              </a:rPr>
              <a:t>A green pipeline is not proof. A deploy stage can succeed while the application never started, and that has happened.</a:t>
            </a:r>
          </a:p>
        </p:txBody>
      </p:sp>
      <p:sp>
        <p:nvSpPr>
          <p:cNvPr id="1001" name="Rounded Rectangle 1000"/>
          <p:cNvSpPr/>
          <p:nvPr/>
        </p:nvSpPr>
        <p:spPr>
          <a:xfrm>
            <a:off x="548640" y="2331720"/>
            <a:ext cx="3593592" cy="21945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ounded Rectangle 1001"/>
          <p:cNvSpPr/>
          <p:nvPr/>
        </p:nvSpPr>
        <p:spPr>
          <a:xfrm>
            <a:off x="777240" y="2542032"/>
            <a:ext cx="1280160" cy="274320"/>
          </a:xfrm>
          <a:prstGeom prst="roundRect">
            <a:avLst>
              <a:gd name="adj" fmla="val 50000"/>
            </a:avLst>
          </a:prstGeom>
          <a:solidFill>
            <a:srgbClr val="8D99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777240" y="2542032"/>
            <a:ext cx="1280160" cy="274320"/>
          </a:xfrm>
          <a:prstGeom prst="rect">
            <a:avLst/>
          </a:prstGeom>
          <a:noFill/>
        </p:spPr>
        <p:txBody>
          <a:bodyPr wrap="square" lIns="0" tIns="0" rIns="0" bIns="0" anchor="ctr">
            <a:spAutoFit/>
          </a:bodyPr>
          <a:lstStyle/>
          <a:p>
            <a:pPr algn="ctr"/>
            <a:r>
              <a:rPr sz="950" b="1" i="0" spc="200">
                <a:solidFill>
                  <a:srgbClr val="FFFFFF"/>
                </a:solidFill>
              </a:rPr>
              <a:t>NOT PROOF</a:t>
            </a:r>
          </a:p>
        </p:txBody>
      </p:sp>
      <p:sp>
        <p:nvSpPr>
          <p:cNvPr id="1004" name="TextBox 1003"/>
          <p:cNvSpPr txBox="1"/>
          <p:nvPr/>
        </p:nvSpPr>
        <p:spPr>
          <a:xfrm>
            <a:off x="777240" y="3017520"/>
            <a:ext cx="3154680" cy="365760"/>
          </a:xfrm>
          <a:prstGeom prst="rect">
            <a:avLst/>
          </a:prstGeom>
          <a:noFill/>
        </p:spPr>
        <p:txBody>
          <a:bodyPr wrap="square" lIns="0" tIns="0" rIns="0" bIns="0" anchor="t">
            <a:spAutoFit/>
          </a:bodyPr>
          <a:lstStyle/>
          <a:p>
            <a:r>
              <a:rPr sz="1900" b="1" i="0">
                <a:solidFill>
                  <a:srgbClr val="0B1F3A"/>
                </a:solidFill>
                <a:latin typeface="+mj-lt"/>
              </a:rPr>
              <a:t>The build passed</a:t>
            </a:r>
          </a:p>
        </p:txBody>
      </p:sp>
      <p:sp>
        <p:nvSpPr>
          <p:cNvPr id="1005" name="TextBox 1004"/>
          <p:cNvSpPr txBox="1"/>
          <p:nvPr/>
        </p:nvSpPr>
        <p:spPr>
          <a:xfrm>
            <a:off x="777240" y="3474720"/>
            <a:ext cx="3154680" cy="1005840"/>
          </a:xfrm>
          <a:prstGeom prst="rect">
            <a:avLst/>
          </a:prstGeom>
          <a:noFill/>
        </p:spPr>
        <p:txBody>
          <a:bodyPr wrap="square" lIns="0" tIns="0" rIns="0" bIns="0" anchor="t">
            <a:spAutoFit/>
          </a:bodyPr>
          <a:lstStyle/>
          <a:p>
            <a:r>
              <a:rPr sz="1350" b="0" i="0">
                <a:solidFill>
                  <a:srgbClr val="0B1F3A"/>
                </a:solidFill>
              </a:rPr>
              <a:t>A deploy stage can succeed and roll out a placeholder image. Green only means the steps ran.</a:t>
            </a:r>
          </a:p>
        </p:txBody>
      </p:sp>
      <p:sp>
        <p:nvSpPr>
          <p:cNvPr id="1006" name="Rounded Rectangle 1005"/>
          <p:cNvSpPr/>
          <p:nvPr/>
        </p:nvSpPr>
        <p:spPr>
          <a:xfrm>
            <a:off x="4297679" y="2331720"/>
            <a:ext cx="3593592" cy="21945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ounded Rectangle 1006"/>
          <p:cNvSpPr/>
          <p:nvPr/>
        </p:nvSpPr>
        <p:spPr>
          <a:xfrm>
            <a:off x="4526279" y="2542032"/>
            <a:ext cx="1280160" cy="274320"/>
          </a:xfrm>
          <a:prstGeom prst="roundRect">
            <a:avLst>
              <a:gd name="adj" fmla="val 50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4526279" y="2542032"/>
            <a:ext cx="1280160" cy="274320"/>
          </a:xfrm>
          <a:prstGeom prst="rect">
            <a:avLst/>
          </a:prstGeom>
          <a:noFill/>
        </p:spPr>
        <p:txBody>
          <a:bodyPr wrap="square" lIns="0" tIns="0" rIns="0" bIns="0" anchor="ctr">
            <a:spAutoFit/>
          </a:bodyPr>
          <a:lstStyle/>
          <a:p>
            <a:pPr algn="ctr"/>
            <a:r>
              <a:rPr sz="950" b="1" i="0" spc="200">
                <a:solidFill>
                  <a:srgbClr val="FFFFFF"/>
                </a:solidFill>
              </a:rPr>
              <a:t>PROOF</a:t>
            </a:r>
          </a:p>
        </p:txBody>
      </p:sp>
      <p:sp>
        <p:nvSpPr>
          <p:cNvPr id="1009" name="TextBox 1008"/>
          <p:cNvSpPr txBox="1"/>
          <p:nvPr/>
        </p:nvSpPr>
        <p:spPr>
          <a:xfrm>
            <a:off x="4526279" y="3017520"/>
            <a:ext cx="3154680" cy="365760"/>
          </a:xfrm>
          <a:prstGeom prst="rect">
            <a:avLst/>
          </a:prstGeom>
          <a:noFill/>
        </p:spPr>
        <p:txBody>
          <a:bodyPr wrap="square" lIns="0" tIns="0" rIns="0" bIns="0" anchor="t">
            <a:spAutoFit/>
          </a:bodyPr>
          <a:lstStyle/>
          <a:p>
            <a:r>
              <a:rPr sz="1900" b="1" i="0">
                <a:solidFill>
                  <a:srgbClr val="0B1F3A"/>
                </a:solidFill>
                <a:latin typeface="+mj-lt"/>
              </a:rPr>
              <a:t>You reached it</a:t>
            </a:r>
          </a:p>
        </p:txBody>
      </p:sp>
      <p:sp>
        <p:nvSpPr>
          <p:cNvPr id="1010" name="TextBox 1009"/>
          <p:cNvSpPr txBox="1"/>
          <p:nvPr/>
        </p:nvSpPr>
        <p:spPr>
          <a:xfrm>
            <a:off x="4526279" y="3474720"/>
            <a:ext cx="3154680" cy="1005840"/>
          </a:xfrm>
          <a:prstGeom prst="rect">
            <a:avLst/>
          </a:prstGeom>
          <a:noFill/>
        </p:spPr>
        <p:txBody>
          <a:bodyPr wrap="square" lIns="0" tIns="0" rIns="0" bIns="0" anchor="t">
            <a:spAutoFit/>
          </a:bodyPr>
          <a:lstStyle/>
          <a:p>
            <a:r>
              <a:rPr sz="1350" b="0" i="0">
                <a:solidFill>
                  <a:srgbClr val="0B1F3A"/>
                </a:solidFill>
              </a:rPr>
              <a:t>The running application answered a request in DEV, and you saw the response.</a:t>
            </a:r>
          </a:p>
        </p:txBody>
      </p:sp>
      <p:sp>
        <p:nvSpPr>
          <p:cNvPr id="1011" name="Rounded Rectangle 1010"/>
          <p:cNvSpPr/>
          <p:nvPr/>
        </p:nvSpPr>
        <p:spPr>
          <a:xfrm>
            <a:off x="8046719" y="2331720"/>
            <a:ext cx="3593592" cy="21945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ounded Rectangle 1011"/>
          <p:cNvSpPr/>
          <p:nvPr/>
        </p:nvSpPr>
        <p:spPr>
          <a:xfrm>
            <a:off x="8275319" y="2542032"/>
            <a:ext cx="1280160" cy="274320"/>
          </a:xfrm>
          <a:prstGeom prst="roundRect">
            <a:avLst>
              <a:gd name="adj" fmla="val 50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75319" y="2542032"/>
            <a:ext cx="1280160" cy="274320"/>
          </a:xfrm>
          <a:prstGeom prst="rect">
            <a:avLst/>
          </a:prstGeom>
          <a:noFill/>
        </p:spPr>
        <p:txBody>
          <a:bodyPr wrap="square" lIns="0" tIns="0" rIns="0" bIns="0" anchor="ctr">
            <a:spAutoFit/>
          </a:bodyPr>
          <a:lstStyle/>
          <a:p>
            <a:pPr algn="ctr"/>
            <a:r>
              <a:rPr sz="950" b="1" i="0" spc="200">
                <a:solidFill>
                  <a:srgbClr val="FFFFFF"/>
                </a:solidFill>
              </a:rPr>
              <a:t>ALSO CHECK</a:t>
            </a:r>
          </a:p>
        </p:txBody>
      </p:sp>
      <p:sp>
        <p:nvSpPr>
          <p:cNvPr id="1014" name="TextBox 1013"/>
          <p:cNvSpPr txBox="1"/>
          <p:nvPr/>
        </p:nvSpPr>
        <p:spPr>
          <a:xfrm>
            <a:off x="8275319" y="3017520"/>
            <a:ext cx="3154680" cy="365760"/>
          </a:xfrm>
          <a:prstGeom prst="rect">
            <a:avLst/>
          </a:prstGeom>
          <a:noFill/>
        </p:spPr>
        <p:txBody>
          <a:bodyPr wrap="square" lIns="0" tIns="0" rIns="0" bIns="0" anchor="t">
            <a:spAutoFit/>
          </a:bodyPr>
          <a:lstStyle/>
          <a:p>
            <a:r>
              <a:rPr sz="1900" b="1" i="0">
                <a:solidFill>
                  <a:srgbClr val="0B1F3A"/>
                </a:solidFill>
                <a:latin typeface="+mj-lt"/>
              </a:rPr>
              <a:t>It is your build</a:t>
            </a:r>
          </a:p>
        </p:txBody>
      </p:sp>
      <p:sp>
        <p:nvSpPr>
          <p:cNvPr id="1015" name="TextBox 1014"/>
          <p:cNvSpPr txBox="1"/>
          <p:nvPr/>
        </p:nvSpPr>
        <p:spPr>
          <a:xfrm>
            <a:off x="8275319" y="3474720"/>
            <a:ext cx="3154680" cy="1005840"/>
          </a:xfrm>
          <a:prstGeom prst="rect">
            <a:avLst/>
          </a:prstGeom>
          <a:noFill/>
        </p:spPr>
        <p:txBody>
          <a:bodyPr wrap="square" lIns="0" tIns="0" rIns="0" bIns="0" anchor="t">
            <a:spAutoFit/>
          </a:bodyPr>
          <a:lstStyle/>
          <a:p>
            <a:r>
              <a:rPr sz="1350" b="0" i="0">
                <a:solidFill>
                  <a:srgbClr val="0B1F3A"/>
                </a:solidFill>
              </a:rPr>
              <a:t>Check the running image digest and the reported version, not the pipeline log.</a:t>
            </a:r>
          </a:p>
        </p:txBody>
      </p:sp>
      <p:sp>
        <p:nvSpPr>
          <p:cNvPr id="1016" name="Rounded Rectangle 1015"/>
          <p:cNvSpPr/>
          <p:nvPr/>
        </p:nvSpPr>
        <p:spPr>
          <a:xfrm>
            <a:off x="548640" y="4663440"/>
            <a:ext cx="11091672" cy="731520"/>
          </a:xfrm>
          <a:prstGeom prst="roundRect">
            <a:avLst>
              <a:gd name="adj" fmla="val 5000"/>
            </a:avLst>
          </a:prstGeom>
          <a:solidFill>
            <a:srgbClr val="FDF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777240" y="4663440"/>
            <a:ext cx="10607040" cy="731520"/>
          </a:xfrm>
          <a:prstGeom prst="rect">
            <a:avLst/>
          </a:prstGeom>
          <a:noFill/>
        </p:spPr>
        <p:txBody>
          <a:bodyPr wrap="square" lIns="0" tIns="0" rIns="0" bIns="0" anchor="ctr">
            <a:spAutoFit/>
          </a:bodyPr>
          <a:lstStyle/>
          <a:p>
            <a:r>
              <a:rPr sz="1300" b="1" i="0">
                <a:solidFill>
                  <a:srgbClr val="0B1F3A"/>
                </a:solidFill>
              </a:rPr>
              <a:t>Step 4 in the TDMI list: </a:t>
            </a:r>
            <a:r>
              <a:rPr sz="1300" b="0" i="0">
                <a:solidFill>
                  <a:srgbClr val="0B1F3A"/>
                </a:solidFill>
              </a:rPr>
              <a:t>first deploy to DEV. It is complete when the running app answers, not when the pipeline shows green.</a:t>
            </a:r>
          </a:p>
        </p:txBody>
      </p:sp>
      <p:sp>
        <p:nvSpPr>
          <p:cNvPr id="1018" name="Rounded Rectangle 1017"/>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TextBox 1018"/>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Every gate in this process tests something you can point at. That is the whole design.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GATE 3 · THE SCOPE GATE</a:t>
            </a:r>
          </a:p>
        </p:txBody>
      </p:sp>
      <p:sp>
        <p:nvSpPr>
          <p:cNvPr id="3" name="Title 2"/>
          <p:cNvSpPr>
            <a:spLocks noGrp="1"/>
          </p:cNvSpPr>
          <p:nvPr>
            <p:ph type="title" idx="101"/>
          </p:nvPr>
        </p:nvSpPr>
        <p:spPr/>
        <p:txBody>
          <a:bodyPr/>
          <a:lstStyle/>
          <a:p>
            <a:pPr algn="l"/>
            <a:r>
              <a:t>The build loop runs until the full flow is confirmed</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12</a:t>
            </a:fld>
            <a:endParaRPr lang="en-US" b="0"/>
          </a:p>
        </p:txBody>
      </p:sp>
      <p:sp>
        <p:nvSpPr>
          <p:cNvPr id="1000" name="Rounded Rectangle 999"/>
          <p:cNvSpPr/>
          <p:nvPr/>
        </p:nvSpPr>
        <p:spPr>
          <a:xfrm>
            <a:off x="548640" y="1783080"/>
            <a:ext cx="6583680" cy="786384"/>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Rounded Rectangle 1000"/>
          <p:cNvSpPr/>
          <p:nvPr/>
        </p:nvSpPr>
        <p:spPr>
          <a:xfrm>
            <a:off x="749808" y="1947672"/>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49808" y="1947672"/>
            <a:ext cx="457200" cy="457200"/>
          </a:xfrm>
          <a:prstGeom prst="rect">
            <a:avLst/>
          </a:prstGeom>
          <a:noFill/>
        </p:spPr>
        <p:txBody>
          <a:bodyPr wrap="square" lIns="0" tIns="0" rIns="0" bIns="0" anchor="ctr">
            <a:spAutoFit/>
          </a:bodyPr>
          <a:lstStyle/>
          <a:p>
            <a:pPr algn="ctr"/>
            <a:r>
              <a:rPr sz="2000" b="1" i="0">
                <a:solidFill>
                  <a:srgbClr val="FFFFFF"/>
                </a:solidFill>
                <a:latin typeface="+mj-lt"/>
              </a:rPr>
              <a:t>1</a:t>
            </a:r>
          </a:p>
        </p:txBody>
      </p:sp>
      <p:sp>
        <p:nvSpPr>
          <p:cNvPr id="1003" name="TextBox 1002"/>
          <p:cNvSpPr txBox="1"/>
          <p:nvPr/>
        </p:nvSpPr>
        <p:spPr>
          <a:xfrm>
            <a:off x="1417320" y="1874519"/>
            <a:ext cx="5577840" cy="274320"/>
          </a:xfrm>
          <a:prstGeom prst="rect">
            <a:avLst/>
          </a:prstGeom>
          <a:noFill/>
        </p:spPr>
        <p:txBody>
          <a:bodyPr wrap="square" lIns="0" tIns="0" rIns="0" bIns="0" anchor="t">
            <a:spAutoFit/>
          </a:bodyPr>
          <a:lstStyle/>
          <a:p>
            <a:r>
              <a:rPr sz="1500" b="1" i="0">
                <a:solidFill>
                  <a:srgbClr val="0B1F3A"/>
                </a:solidFill>
              </a:rPr>
              <a:t>Work items live in Azure Boards</a:t>
            </a:r>
          </a:p>
        </p:txBody>
      </p:sp>
      <p:sp>
        <p:nvSpPr>
          <p:cNvPr id="1004" name="TextBox 1003"/>
          <p:cNvSpPr txBox="1"/>
          <p:nvPr/>
        </p:nvSpPr>
        <p:spPr>
          <a:xfrm>
            <a:off x="1417320" y="2176272"/>
            <a:ext cx="5577840" cy="365760"/>
          </a:xfrm>
          <a:prstGeom prst="rect">
            <a:avLst/>
          </a:prstGeom>
          <a:noFill/>
        </p:spPr>
        <p:txBody>
          <a:bodyPr wrap="square" lIns="0" tIns="0" rIns="0" bIns="0" anchor="t">
            <a:spAutoFit/>
          </a:bodyPr>
          <a:lstStyle/>
          <a:p>
            <a:r>
              <a:rPr sz="1250" b="0" i="0">
                <a:solidFill>
                  <a:srgbClr val="0B1F3A"/>
                </a:solidFill>
              </a:rPr>
              <a:t>Referenced as AB#&lt;id&gt; in every commit and pull request.</a:t>
            </a:r>
          </a:p>
        </p:txBody>
      </p:sp>
      <p:sp>
        <p:nvSpPr>
          <p:cNvPr id="1005" name="Rounded Rectangle 1004"/>
          <p:cNvSpPr/>
          <p:nvPr/>
        </p:nvSpPr>
        <p:spPr>
          <a:xfrm>
            <a:off x="548640" y="2679191"/>
            <a:ext cx="6583680" cy="786384"/>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749808" y="2843784"/>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749808" y="2843784"/>
            <a:ext cx="457200" cy="457200"/>
          </a:xfrm>
          <a:prstGeom prst="rect">
            <a:avLst/>
          </a:prstGeom>
          <a:noFill/>
        </p:spPr>
        <p:txBody>
          <a:bodyPr wrap="square" lIns="0" tIns="0" rIns="0" bIns="0" anchor="ctr">
            <a:spAutoFit/>
          </a:bodyPr>
          <a:lstStyle/>
          <a:p>
            <a:pPr algn="ctr"/>
            <a:r>
              <a:rPr sz="2000" b="1" i="0">
                <a:solidFill>
                  <a:srgbClr val="FFFFFF"/>
                </a:solidFill>
                <a:latin typeface="+mj-lt"/>
              </a:rPr>
              <a:t>2</a:t>
            </a:r>
          </a:p>
        </p:txBody>
      </p:sp>
      <p:sp>
        <p:nvSpPr>
          <p:cNvPr id="1008" name="TextBox 1007"/>
          <p:cNvSpPr txBox="1"/>
          <p:nvPr/>
        </p:nvSpPr>
        <p:spPr>
          <a:xfrm>
            <a:off x="1417320" y="2770632"/>
            <a:ext cx="5577840" cy="274320"/>
          </a:xfrm>
          <a:prstGeom prst="rect">
            <a:avLst/>
          </a:prstGeom>
          <a:noFill/>
        </p:spPr>
        <p:txBody>
          <a:bodyPr wrap="square" lIns="0" tIns="0" rIns="0" bIns="0" anchor="t">
            <a:spAutoFit/>
          </a:bodyPr>
          <a:lstStyle/>
          <a:p>
            <a:r>
              <a:rPr sz="1500" b="1" i="0">
                <a:solidFill>
                  <a:srgbClr val="0B1F3A"/>
                </a:solidFill>
              </a:rPr>
              <a:t>Significant features start as a model</a:t>
            </a:r>
          </a:p>
        </p:txBody>
      </p:sp>
      <p:sp>
        <p:nvSpPr>
          <p:cNvPr id="1009" name="TextBox 1008"/>
          <p:cNvSpPr txBox="1"/>
          <p:nvPr/>
        </p:nvSpPr>
        <p:spPr>
          <a:xfrm>
            <a:off x="1417320" y="3072384"/>
            <a:ext cx="5577840" cy="365760"/>
          </a:xfrm>
          <a:prstGeom prst="rect">
            <a:avLst/>
          </a:prstGeom>
          <a:noFill/>
        </p:spPr>
        <p:txBody>
          <a:bodyPr wrap="square" lIns="0" tIns="0" rIns="0" bIns="0" anchor="t">
            <a:spAutoFit/>
          </a:bodyPr>
          <a:lstStyle/>
          <a:p>
            <a:r>
              <a:rPr sz="1250" b="0" i="0">
                <a:solidFill>
                  <a:srgbClr val="0B1F3A"/>
                </a:solidFill>
              </a:rPr>
              <a:t>New screens or changed logic get their own small model and charter. A bug fix does not.</a:t>
            </a:r>
          </a:p>
        </p:txBody>
      </p:sp>
      <p:sp>
        <p:nvSpPr>
          <p:cNvPr id="1010" name="Rounded Rectangle 1009"/>
          <p:cNvSpPr/>
          <p:nvPr/>
        </p:nvSpPr>
        <p:spPr>
          <a:xfrm>
            <a:off x="548640" y="3575304"/>
            <a:ext cx="6583680" cy="786384"/>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Rounded Rectangle 1010"/>
          <p:cNvSpPr/>
          <p:nvPr/>
        </p:nvSpPr>
        <p:spPr>
          <a:xfrm>
            <a:off x="749808" y="3739896"/>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749808" y="3739896"/>
            <a:ext cx="457200" cy="457200"/>
          </a:xfrm>
          <a:prstGeom prst="rect">
            <a:avLst/>
          </a:prstGeom>
          <a:noFill/>
        </p:spPr>
        <p:txBody>
          <a:bodyPr wrap="square" lIns="0" tIns="0" rIns="0" bIns="0" anchor="ctr">
            <a:spAutoFit/>
          </a:bodyPr>
          <a:lstStyle/>
          <a:p>
            <a:pPr algn="ctr"/>
            <a:r>
              <a:rPr sz="2000" b="1" i="0">
                <a:solidFill>
                  <a:srgbClr val="FFFFFF"/>
                </a:solidFill>
                <a:latin typeface="+mj-lt"/>
              </a:rPr>
              <a:t>3</a:t>
            </a:r>
          </a:p>
        </p:txBody>
      </p:sp>
      <p:sp>
        <p:nvSpPr>
          <p:cNvPr id="1013" name="TextBox 1012"/>
          <p:cNvSpPr txBox="1"/>
          <p:nvPr/>
        </p:nvSpPr>
        <p:spPr>
          <a:xfrm>
            <a:off x="1417320" y="3666744"/>
            <a:ext cx="5577840" cy="274320"/>
          </a:xfrm>
          <a:prstGeom prst="rect">
            <a:avLst/>
          </a:prstGeom>
          <a:noFill/>
        </p:spPr>
        <p:txBody>
          <a:bodyPr wrap="square" lIns="0" tIns="0" rIns="0" bIns="0" anchor="t">
            <a:spAutoFit/>
          </a:bodyPr>
          <a:lstStyle/>
          <a:p>
            <a:r>
              <a:rPr sz="1500" b="1" i="0">
                <a:solidFill>
                  <a:srgbClr val="0B1F3A"/>
                </a:solidFill>
              </a:rPr>
              <a:t>Continuous rails run on every change</a:t>
            </a:r>
          </a:p>
        </p:txBody>
      </p:sp>
      <p:sp>
        <p:nvSpPr>
          <p:cNvPr id="1014" name="TextBox 1013"/>
          <p:cNvSpPr txBox="1"/>
          <p:nvPr/>
        </p:nvSpPr>
        <p:spPr>
          <a:xfrm>
            <a:off x="1417320" y="3968496"/>
            <a:ext cx="5577840" cy="365760"/>
          </a:xfrm>
          <a:prstGeom prst="rect">
            <a:avLst/>
          </a:prstGeom>
          <a:noFill/>
        </p:spPr>
        <p:txBody>
          <a:bodyPr wrap="square" lIns="0" tIns="0" rIns="0" bIns="0" anchor="t">
            <a:spAutoFit/>
          </a:bodyPr>
          <a:lstStyle/>
          <a:p>
            <a:r>
              <a:rPr sz="1250" b="0" i="0">
                <a:solidFill>
                  <a:srgbClr val="0B1F3A"/>
                </a:solidFill>
              </a:rPr>
              <a:t>They block the merge, so a problem shows up while the change is still small.</a:t>
            </a:r>
          </a:p>
        </p:txBody>
      </p:sp>
      <p:sp>
        <p:nvSpPr>
          <p:cNvPr id="1015" name="Rounded Rectangle 1014"/>
          <p:cNvSpPr/>
          <p:nvPr/>
        </p:nvSpPr>
        <p:spPr>
          <a:xfrm>
            <a:off x="548640" y="4471416"/>
            <a:ext cx="6583680" cy="786384"/>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Rounded Rectangle 1015"/>
          <p:cNvSpPr/>
          <p:nvPr/>
        </p:nvSpPr>
        <p:spPr>
          <a:xfrm>
            <a:off x="749808" y="4636007"/>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749808" y="4636007"/>
            <a:ext cx="457200" cy="457200"/>
          </a:xfrm>
          <a:prstGeom prst="rect">
            <a:avLst/>
          </a:prstGeom>
          <a:noFill/>
        </p:spPr>
        <p:txBody>
          <a:bodyPr wrap="square" lIns="0" tIns="0" rIns="0" bIns="0" anchor="ctr">
            <a:spAutoFit/>
          </a:bodyPr>
          <a:lstStyle/>
          <a:p>
            <a:pPr algn="ctr"/>
            <a:r>
              <a:rPr sz="2000" b="1" i="0">
                <a:solidFill>
                  <a:srgbClr val="FFFFFF"/>
                </a:solidFill>
                <a:latin typeface="+mj-lt"/>
              </a:rPr>
              <a:t>4</a:t>
            </a:r>
          </a:p>
        </p:txBody>
      </p:sp>
      <p:sp>
        <p:nvSpPr>
          <p:cNvPr id="1018" name="TextBox 1017"/>
          <p:cNvSpPr txBox="1"/>
          <p:nvPr/>
        </p:nvSpPr>
        <p:spPr>
          <a:xfrm>
            <a:off x="1417320" y="4562855"/>
            <a:ext cx="5577840" cy="274320"/>
          </a:xfrm>
          <a:prstGeom prst="rect">
            <a:avLst/>
          </a:prstGeom>
          <a:noFill/>
        </p:spPr>
        <p:txBody>
          <a:bodyPr wrap="square" lIns="0" tIns="0" rIns="0" bIns="0" anchor="t">
            <a:spAutoFit/>
          </a:bodyPr>
          <a:lstStyle/>
          <a:p>
            <a:r>
              <a:rPr sz="1500" b="1" i="0">
                <a:solidFill>
                  <a:srgbClr val="0B1F3A"/>
                </a:solidFill>
              </a:rPr>
              <a:t>Slow gates opened in phase 1 keep running</a:t>
            </a:r>
          </a:p>
        </p:txBody>
      </p:sp>
      <p:sp>
        <p:nvSpPr>
          <p:cNvPr id="1019" name="TextBox 1018"/>
          <p:cNvSpPr txBox="1"/>
          <p:nvPr/>
        </p:nvSpPr>
        <p:spPr>
          <a:xfrm>
            <a:off x="1417320" y="4864607"/>
            <a:ext cx="5577840" cy="365760"/>
          </a:xfrm>
          <a:prstGeom prst="rect">
            <a:avLst/>
          </a:prstGeom>
          <a:noFill/>
        </p:spPr>
        <p:txBody>
          <a:bodyPr wrap="square" lIns="0" tIns="0" rIns="0" bIns="0" anchor="t">
            <a:spAutoFit/>
          </a:bodyPr>
          <a:lstStyle/>
          <a:p>
            <a:r>
              <a:rPr sz="1250" b="0" i="0">
                <a:solidFill>
                  <a:srgbClr val="0B1F3A"/>
                </a:solidFill>
              </a:rPr>
              <a:t>ESIS and the other reviews progress on their own clocks while you build.</a:t>
            </a:r>
          </a:p>
        </p:txBody>
      </p:sp>
      <p:sp>
        <p:nvSpPr>
          <p:cNvPr id="1020" name="Rounded Rectangle 1019"/>
          <p:cNvSpPr/>
          <p:nvPr/>
        </p:nvSpPr>
        <p:spPr>
          <a:xfrm>
            <a:off x="7360920" y="1783080"/>
            <a:ext cx="4279392" cy="3465576"/>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Diamond 1020"/>
          <p:cNvSpPr/>
          <p:nvPr/>
        </p:nvSpPr>
        <p:spPr>
          <a:xfrm>
            <a:off x="7589520" y="196596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TextBox 1021"/>
          <p:cNvSpPr txBox="1"/>
          <p:nvPr/>
        </p:nvSpPr>
        <p:spPr>
          <a:xfrm>
            <a:off x="8046720" y="1938528"/>
            <a:ext cx="3474720" cy="365760"/>
          </a:xfrm>
          <a:prstGeom prst="rect">
            <a:avLst/>
          </a:prstGeom>
          <a:noFill/>
        </p:spPr>
        <p:txBody>
          <a:bodyPr wrap="square" lIns="0" tIns="0" rIns="0" bIns="0" anchor="ctr">
            <a:spAutoFit/>
          </a:bodyPr>
          <a:lstStyle/>
          <a:p>
            <a:r>
              <a:rPr sz="1800" b="1" i="0">
                <a:solidFill>
                  <a:srgbClr val="FFFFFF"/>
                </a:solidFill>
                <a:latin typeface="+mj-lt"/>
              </a:rPr>
              <a:t>Scope gate tests</a:t>
            </a:r>
          </a:p>
        </p:txBody>
      </p:sp>
      <p:sp>
        <p:nvSpPr>
          <p:cNvPr id="1023" name="TextBox 1022"/>
          <p:cNvSpPr txBox="1"/>
          <p:nvPr/>
        </p:nvSpPr>
        <p:spPr>
          <a:xfrm>
            <a:off x="7589520" y="2514600"/>
            <a:ext cx="3886200" cy="2651760"/>
          </a:xfrm>
          <a:prstGeom prst="rect">
            <a:avLst/>
          </a:prstGeom>
          <a:noFill/>
        </p:spPr>
        <p:txBody>
          <a:bodyPr wrap="square" lIns="0" tIns="0" rIns="0" bIns="0">
            <a:spAutoFit/>
          </a:bodyPr>
          <a:lstStyle/>
          <a:p>
            <a:pPr marL="228600" indent="-228600">
              <a:spcAft>
                <a:spcPts val="800"/>
              </a:spcAft>
              <a:buChar char="•"/>
            </a:pPr>
            <a:r>
              <a:rPr sz="1300" b="0">
                <a:solidFill>
                  <a:srgbClr val="FFFFFF"/>
                </a:solidFill>
              </a:rPr>
              <a:t>Test build promoted into the shared TEST environment (step 5)</a:t>
            </a:r>
          </a:p>
          <a:p>
            <a:pPr marL="228600" indent="-228600">
              <a:spcAft>
                <a:spcPts val="800"/>
              </a:spcAft>
              <a:buChar char="•"/>
            </a:pPr>
            <a:r>
              <a:rPr sz="1300" b="0">
                <a:solidFill>
                  <a:srgbClr val="FFFFFF"/>
                </a:solidFill>
              </a:rPr>
              <a:t>AI engine built and grounded against real Fabric data (step 6)</a:t>
            </a:r>
          </a:p>
          <a:p>
            <a:pPr marL="228600" indent="-228600">
              <a:spcAft>
                <a:spcPts val="800"/>
              </a:spcAft>
              <a:buChar char="•"/>
            </a:pPr>
            <a:r>
              <a:rPr sz="1300" b="0">
                <a:solidFill>
                  <a:srgbClr val="FFFFFF"/>
                </a:solidFill>
              </a:rPr>
              <a:t>Full flow confirmed end to end, every state reachable, not just the happy path (step 7)</a:t>
            </a:r>
          </a:p>
          <a:p>
            <a:pPr marL="228600" indent="-228600">
              <a:spcAft>
                <a:spcPts val="800"/>
              </a:spcAft>
              <a:buChar char="•"/>
            </a:pPr>
            <a:r>
              <a:rPr sz="1300" b="0">
                <a:solidFill>
                  <a:srgbClr val="FFFFFF"/>
                </a:solidFill>
              </a:rPr>
              <a:t>Rails green on the release candidate</a:t>
            </a:r>
          </a:p>
        </p:txBody>
      </p:sp>
      <p:sp>
        <p:nvSpPr>
          <p:cNvPr id="1024" name="Rounded Rectangle 1023"/>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TextBox 1024"/>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Done means every state in the model works, not just the happy path.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GATE 3 · THE RAILS</a:t>
            </a:r>
          </a:p>
        </p:txBody>
      </p:sp>
      <p:sp>
        <p:nvSpPr>
          <p:cNvPr id="3" name="Title 2"/>
          <p:cNvSpPr>
            <a:spLocks noGrp="1"/>
          </p:cNvSpPr>
          <p:nvPr>
            <p:ph type="title" idx="101"/>
          </p:nvPr>
        </p:nvSpPr>
        <p:spPr/>
        <p:txBody>
          <a:bodyPr/>
          <a:lstStyle/>
          <a:p>
            <a:pPr algn="l"/>
            <a:r>
              <a:t>Eight continuous rails block the merge, not the release</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13</a:t>
            </a:fld>
            <a:endParaRPr lang="en-US" b="0"/>
          </a:p>
        </p:txBody>
      </p:sp>
      <p:graphicFrame>
        <p:nvGraphicFramePr>
          <p:cNvPr id="1000" name="Table 999"/>
          <p:cNvGraphicFramePr>
            <a:graphicFrameLocks noGrp="1"/>
          </p:cNvGraphicFramePr>
          <p:nvPr/>
        </p:nvGraphicFramePr>
        <p:xfrm>
          <a:off x="548640" y="1783080"/>
          <a:ext cx="6949440" cy="3621024"/>
        </p:xfrm>
        <a:graphic>
          <a:graphicData uri="http://schemas.openxmlformats.org/drawingml/2006/table">
            <a:tbl>
              <a:tblPr>
                <a:tableStyleId>{2D5ABB26-0587-4C30-8999-92F81FD0307C}</a:tableStyleId>
              </a:tblPr>
              <a:tblGrid>
                <a:gridCol w="30175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402336">
                <a:tc>
                  <a:txBody>
                    <a:bodyPr/>
                    <a:lstStyle/>
                    <a:p>
                      <a:r>
                        <a:rPr sz="1100" b="1" spc="100">
                          <a:solidFill>
                            <a:srgbClr val="FFFFFF"/>
                          </a:solidFill>
                        </a:rPr>
                        <a:t>RAIL</a:t>
                      </a:r>
                    </a:p>
                  </a:txBody>
                  <a:tcPr marL="109728" marR="109728" anchor="ctr">
                    <a:solidFill>
                      <a:srgbClr val="0B1F3A"/>
                    </a:solidFill>
                  </a:tcPr>
                </a:tc>
                <a:tc>
                  <a:txBody>
                    <a:bodyPr/>
                    <a:lstStyle/>
                    <a:p>
                      <a:r>
                        <a:rPr sz="1100" b="1" spc="100">
                          <a:solidFill>
                            <a:srgbClr val="FFFFFF"/>
                          </a:solidFill>
                        </a:rPr>
                        <a:t>WHAT BLOCKS THE MERGE</a:t>
                      </a:r>
                    </a:p>
                  </a:txBody>
                  <a:tcPr marL="109728" marR="109728" anchor="ctr">
                    <a:solidFill>
                      <a:srgbClr val="0B1F3A"/>
                    </a:solidFill>
                  </a:tcPr>
                </a:tc>
                <a:extLst>
                  <a:ext uri="{0D108BD9-81ED-4DB2-BD59-A6C34878D82A}">
                    <a16:rowId xmlns:a16="http://schemas.microsoft.com/office/drawing/2014/main" val="10000"/>
                  </a:ext>
                </a:extLst>
              </a:tr>
              <a:tr h="402336">
                <a:tc>
                  <a:txBody>
                    <a:bodyPr/>
                    <a:lstStyle/>
                    <a:p>
                      <a:r>
                        <a:rPr sz="1250" b="1">
                          <a:solidFill>
                            <a:srgbClr val="0B1F3A"/>
                          </a:solidFill>
                        </a:rPr>
                        <a:t>Unit tests</a:t>
                      </a:r>
                    </a:p>
                  </a:txBody>
                  <a:tcPr marL="109728" marR="109728" anchor="ctr">
                    <a:solidFill>
                      <a:srgbClr val="EEF3FB"/>
                    </a:solidFill>
                  </a:tcPr>
                </a:tc>
                <a:tc>
                  <a:txBody>
                    <a:bodyPr/>
                    <a:lstStyle/>
                    <a:p>
                      <a:r>
                        <a:rPr sz="1250" b="0">
                          <a:solidFill>
                            <a:srgbClr val="0B1F3A"/>
                          </a:solidFill>
                        </a:rPr>
                        <a:t>Any failure</a:t>
                      </a:r>
                    </a:p>
                  </a:txBody>
                  <a:tcPr marL="109728" marR="109728" anchor="ctr">
                    <a:solidFill>
                      <a:srgbClr val="EEF3FB"/>
                    </a:solidFill>
                  </a:tcPr>
                </a:tc>
                <a:extLst>
                  <a:ext uri="{0D108BD9-81ED-4DB2-BD59-A6C34878D82A}">
                    <a16:rowId xmlns:a16="http://schemas.microsoft.com/office/drawing/2014/main" val="10001"/>
                  </a:ext>
                </a:extLst>
              </a:tr>
              <a:tr h="402336">
                <a:tc>
                  <a:txBody>
                    <a:bodyPr/>
                    <a:lstStyle/>
                    <a:p>
                      <a:r>
                        <a:rPr sz="1250" b="1">
                          <a:solidFill>
                            <a:srgbClr val="0B1F3A"/>
                          </a:solidFill>
                        </a:rPr>
                        <a:t>Lint, format and type checks</a:t>
                      </a:r>
                    </a:p>
                  </a:txBody>
                  <a:tcPr marL="109728" marR="109728" anchor="ctr">
                    <a:solidFill>
                      <a:srgbClr val="FFFFFF"/>
                    </a:solidFill>
                  </a:tcPr>
                </a:tc>
                <a:tc>
                  <a:txBody>
                    <a:bodyPr/>
                    <a:lstStyle/>
                    <a:p>
                      <a:r>
                        <a:rPr sz="1250" b="0">
                          <a:solidFill>
                            <a:srgbClr val="0B1F3A"/>
                          </a:solidFill>
                        </a:rPr>
                        <a:t>Any failure</a:t>
                      </a:r>
                    </a:p>
                  </a:txBody>
                  <a:tcPr marL="109728" marR="109728" anchor="ctr">
                    <a:solidFill>
                      <a:srgbClr val="FFFFFF"/>
                    </a:solidFill>
                  </a:tcPr>
                </a:tc>
                <a:extLst>
                  <a:ext uri="{0D108BD9-81ED-4DB2-BD59-A6C34878D82A}">
                    <a16:rowId xmlns:a16="http://schemas.microsoft.com/office/drawing/2014/main" val="10002"/>
                  </a:ext>
                </a:extLst>
              </a:tr>
              <a:tr h="402336">
                <a:tc>
                  <a:txBody>
                    <a:bodyPr/>
                    <a:lstStyle/>
                    <a:p>
                      <a:r>
                        <a:rPr sz="1250" b="1">
                          <a:solidFill>
                            <a:srgbClr val="0B1F3A"/>
                          </a:solidFill>
                        </a:rPr>
                        <a:t>Commit-message conformance</a:t>
                      </a:r>
                    </a:p>
                  </a:txBody>
                  <a:tcPr marL="109728" marR="109728" anchor="ctr">
                    <a:solidFill>
                      <a:srgbClr val="EEF3FB"/>
                    </a:solidFill>
                  </a:tcPr>
                </a:tc>
                <a:tc>
                  <a:txBody>
                    <a:bodyPr/>
                    <a:lstStyle/>
                    <a:p>
                      <a:r>
                        <a:rPr sz="1250" b="0">
                          <a:solidFill>
                            <a:srgbClr val="0B1F3A"/>
                          </a:solidFill>
                        </a:rPr>
                        <a:t>Any commit off Conventional Commits</a:t>
                      </a:r>
                    </a:p>
                  </a:txBody>
                  <a:tcPr marL="109728" marR="109728" anchor="ctr">
                    <a:solidFill>
                      <a:srgbClr val="EEF3FB"/>
                    </a:solidFill>
                  </a:tcPr>
                </a:tc>
                <a:extLst>
                  <a:ext uri="{0D108BD9-81ED-4DB2-BD59-A6C34878D82A}">
                    <a16:rowId xmlns:a16="http://schemas.microsoft.com/office/drawing/2014/main" val="10003"/>
                  </a:ext>
                </a:extLst>
              </a:tr>
              <a:tr h="402336">
                <a:tc>
                  <a:txBody>
                    <a:bodyPr/>
                    <a:lstStyle/>
                    <a:p>
                      <a:r>
                        <a:rPr sz="1250" b="1">
                          <a:solidFill>
                            <a:srgbClr val="0B1F3A"/>
                          </a:solidFill>
                        </a:rPr>
                        <a:t>Static code analysis</a:t>
                      </a:r>
                    </a:p>
                  </a:txBody>
                  <a:tcPr marL="109728" marR="109728" anchor="ctr">
                    <a:solidFill>
                      <a:srgbClr val="FFFFFF"/>
                    </a:solidFill>
                  </a:tcPr>
                </a:tc>
                <a:tc>
                  <a:txBody>
                    <a:bodyPr/>
                    <a:lstStyle/>
                    <a:p>
                      <a:r>
                        <a:rPr sz="1250" b="0">
                          <a:solidFill>
                            <a:srgbClr val="0B1F3A"/>
                          </a:solidFill>
                        </a:rPr>
                        <a:t>A new finding above the agreed severity</a:t>
                      </a:r>
                    </a:p>
                  </a:txBody>
                  <a:tcPr marL="109728" marR="109728" anchor="ctr">
                    <a:solidFill>
                      <a:srgbClr val="FFFFFF"/>
                    </a:solidFill>
                  </a:tcPr>
                </a:tc>
                <a:extLst>
                  <a:ext uri="{0D108BD9-81ED-4DB2-BD59-A6C34878D82A}">
                    <a16:rowId xmlns:a16="http://schemas.microsoft.com/office/drawing/2014/main" val="10004"/>
                  </a:ext>
                </a:extLst>
              </a:tr>
              <a:tr h="402336">
                <a:tc>
                  <a:txBody>
                    <a:bodyPr/>
                    <a:lstStyle/>
                    <a:p>
                      <a:r>
                        <a:rPr sz="1250" b="1">
                          <a:solidFill>
                            <a:srgbClr val="0B1F3A"/>
                          </a:solidFill>
                        </a:rPr>
                        <a:t>Dependency licensing</a:t>
                      </a:r>
                    </a:p>
                  </a:txBody>
                  <a:tcPr marL="109728" marR="109728" anchor="ctr">
                    <a:solidFill>
                      <a:srgbClr val="EEF3FB"/>
                    </a:solidFill>
                  </a:tcPr>
                </a:tc>
                <a:tc>
                  <a:txBody>
                    <a:bodyPr/>
                    <a:lstStyle/>
                    <a:p>
                      <a:r>
                        <a:rPr sz="1250" b="0">
                          <a:solidFill>
                            <a:srgbClr val="0B1F3A"/>
                          </a:solidFill>
                        </a:rPr>
                        <a:t>A copyleft or unreviewed licence</a:t>
                      </a:r>
                    </a:p>
                  </a:txBody>
                  <a:tcPr marL="109728" marR="109728" anchor="ctr">
                    <a:solidFill>
                      <a:srgbClr val="EEF3FB"/>
                    </a:solidFill>
                  </a:tcPr>
                </a:tc>
                <a:extLst>
                  <a:ext uri="{0D108BD9-81ED-4DB2-BD59-A6C34878D82A}">
                    <a16:rowId xmlns:a16="http://schemas.microsoft.com/office/drawing/2014/main" val="10005"/>
                  </a:ext>
                </a:extLst>
              </a:tr>
              <a:tr h="402336">
                <a:tc>
                  <a:txBody>
                    <a:bodyPr/>
                    <a:lstStyle/>
                    <a:p>
                      <a:r>
                        <a:rPr sz="1250" b="1">
                          <a:solidFill>
                            <a:srgbClr val="0B1F3A"/>
                          </a:solidFill>
                        </a:rPr>
                        <a:t>Container image scan</a:t>
                      </a:r>
                    </a:p>
                  </a:txBody>
                  <a:tcPr marL="109728" marR="109728" anchor="ctr">
                    <a:solidFill>
                      <a:srgbClr val="FFFFFF"/>
                    </a:solidFill>
                  </a:tcPr>
                </a:tc>
                <a:tc>
                  <a:txBody>
                    <a:bodyPr/>
                    <a:lstStyle/>
                    <a:p>
                      <a:r>
                        <a:rPr sz="1250" b="0">
                          <a:solidFill>
                            <a:srgbClr val="0B1F3A"/>
                          </a:solidFill>
                        </a:rPr>
                        <a:t>A finding above the agreed severity</a:t>
                      </a:r>
                    </a:p>
                  </a:txBody>
                  <a:tcPr marL="109728" marR="109728" anchor="ctr">
                    <a:solidFill>
                      <a:srgbClr val="FFFFFF"/>
                    </a:solidFill>
                  </a:tcPr>
                </a:tc>
                <a:extLst>
                  <a:ext uri="{0D108BD9-81ED-4DB2-BD59-A6C34878D82A}">
                    <a16:rowId xmlns:a16="http://schemas.microsoft.com/office/drawing/2014/main" val="10006"/>
                  </a:ext>
                </a:extLst>
              </a:tr>
              <a:tr h="402336">
                <a:tc>
                  <a:txBody>
                    <a:bodyPr/>
                    <a:lstStyle/>
                    <a:p>
                      <a:r>
                        <a:rPr sz="1250" b="1">
                          <a:solidFill>
                            <a:srgbClr val="0B1F3A"/>
                          </a:solidFill>
                        </a:rPr>
                        <a:t>Secret scanning</a:t>
                      </a:r>
                    </a:p>
                  </a:txBody>
                  <a:tcPr marL="109728" marR="109728" anchor="ctr">
                    <a:solidFill>
                      <a:srgbClr val="EEF3FB"/>
                    </a:solidFill>
                  </a:tcPr>
                </a:tc>
                <a:tc>
                  <a:txBody>
                    <a:bodyPr/>
                    <a:lstStyle/>
                    <a:p>
                      <a:r>
                        <a:rPr sz="1250" b="0">
                          <a:solidFill>
                            <a:srgbClr val="0B1F3A"/>
                          </a:solidFill>
                        </a:rPr>
                        <a:t>Any credential-shaped string. No threshold</a:t>
                      </a:r>
                    </a:p>
                  </a:txBody>
                  <a:tcPr marL="109728" marR="109728" anchor="ctr">
                    <a:solidFill>
                      <a:srgbClr val="EEF3FB"/>
                    </a:solidFill>
                  </a:tcPr>
                </a:tc>
                <a:extLst>
                  <a:ext uri="{0D108BD9-81ED-4DB2-BD59-A6C34878D82A}">
                    <a16:rowId xmlns:a16="http://schemas.microsoft.com/office/drawing/2014/main" val="10007"/>
                  </a:ext>
                </a:extLst>
              </a:tr>
              <a:tr h="402336">
                <a:tc>
                  <a:txBody>
                    <a:bodyPr/>
                    <a:lstStyle/>
                    <a:p>
                      <a:r>
                        <a:rPr sz="1250" b="1">
                          <a:solidFill>
                            <a:srgbClr val="0B1F3A"/>
                          </a:solidFill>
                        </a:rPr>
                        <a:t>Production-data guard</a:t>
                      </a:r>
                    </a:p>
                  </a:txBody>
                  <a:tcPr marL="109728" marR="109728" anchor="ctr">
                    <a:solidFill>
                      <a:srgbClr val="FFFFFF"/>
                    </a:solidFill>
                  </a:tcPr>
                </a:tc>
                <a:tc>
                  <a:txBody>
                    <a:bodyPr/>
                    <a:lstStyle/>
                    <a:p>
                      <a:r>
                        <a:rPr sz="1250" b="0">
                          <a:solidFill>
                            <a:srgbClr val="0B1F3A"/>
                          </a:solidFill>
                        </a:rPr>
                        <a:t>Any production data in the repo. No threshold</a:t>
                      </a:r>
                    </a:p>
                  </a:txBody>
                  <a:tcPr marL="109728" marR="109728" anchor="ctr">
                    <a:solidFill>
                      <a:srgbClr val="FFFFFF"/>
                    </a:solidFill>
                  </a:tcPr>
                </a:tc>
                <a:extLst>
                  <a:ext uri="{0D108BD9-81ED-4DB2-BD59-A6C34878D82A}">
                    <a16:rowId xmlns:a16="http://schemas.microsoft.com/office/drawing/2014/main" val="10008"/>
                  </a:ext>
                </a:extLst>
              </a:tr>
            </a:tbl>
          </a:graphicData>
        </a:graphic>
      </p:graphicFrame>
      <p:sp>
        <p:nvSpPr>
          <p:cNvPr id="1001" name="Rounded Rectangle 1000"/>
          <p:cNvSpPr/>
          <p:nvPr/>
        </p:nvSpPr>
        <p:spPr>
          <a:xfrm>
            <a:off x="7726679" y="1783080"/>
            <a:ext cx="3913632" cy="17373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955279" y="1920240"/>
            <a:ext cx="3474720" cy="228600"/>
          </a:xfrm>
          <a:prstGeom prst="rect">
            <a:avLst/>
          </a:prstGeom>
          <a:noFill/>
        </p:spPr>
        <p:txBody>
          <a:bodyPr wrap="square" lIns="0" tIns="0" rIns="0" bIns="0" anchor="t">
            <a:spAutoFit/>
          </a:bodyPr>
          <a:lstStyle/>
          <a:p>
            <a:r>
              <a:rPr sz="1000" b="1" i="0" spc="200">
                <a:solidFill>
                  <a:srgbClr val="00A3A1"/>
                </a:solidFill>
              </a:rPr>
              <a:t>CONTINUOUS RAILS</a:t>
            </a:r>
          </a:p>
        </p:txBody>
      </p:sp>
      <p:sp>
        <p:nvSpPr>
          <p:cNvPr id="1003" name="TextBox 1002"/>
          <p:cNvSpPr txBox="1"/>
          <p:nvPr/>
        </p:nvSpPr>
        <p:spPr>
          <a:xfrm>
            <a:off x="7955279" y="2194560"/>
            <a:ext cx="3474720" cy="1280160"/>
          </a:xfrm>
          <a:prstGeom prst="rect">
            <a:avLst/>
          </a:prstGeom>
          <a:noFill/>
        </p:spPr>
        <p:txBody>
          <a:bodyPr wrap="square" lIns="0" tIns="0" rIns="0" bIns="0" anchor="t">
            <a:spAutoFit/>
          </a:bodyPr>
          <a:lstStyle/>
          <a:p>
            <a:r>
              <a:rPr sz="1250" b="0" i="0">
                <a:solidFill>
                  <a:srgbClr val="0B1F3A"/>
                </a:solidFill>
              </a:rPr>
              <a:t>Fast and automated. They run on every change and block the merge. A rail must almost never be wrong, or people switch it off.</a:t>
            </a:r>
          </a:p>
        </p:txBody>
      </p:sp>
      <p:sp>
        <p:nvSpPr>
          <p:cNvPr id="1004" name="Rounded Rectangle 1003"/>
          <p:cNvSpPr/>
          <p:nvPr/>
        </p:nvSpPr>
        <p:spPr>
          <a:xfrm>
            <a:off x="7726679" y="3639312"/>
            <a:ext cx="3913632" cy="1755648"/>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TextBox 1004"/>
          <p:cNvSpPr txBox="1"/>
          <p:nvPr/>
        </p:nvSpPr>
        <p:spPr>
          <a:xfrm>
            <a:off x="7955279" y="3776472"/>
            <a:ext cx="3474720" cy="228600"/>
          </a:xfrm>
          <a:prstGeom prst="rect">
            <a:avLst/>
          </a:prstGeom>
          <a:noFill/>
        </p:spPr>
        <p:txBody>
          <a:bodyPr wrap="square" lIns="0" tIns="0" rIns="0" bIns="0" anchor="t">
            <a:spAutoFit/>
          </a:bodyPr>
          <a:lstStyle/>
          <a:p>
            <a:r>
              <a:rPr sz="1000" b="1" i="0" spc="200">
                <a:solidFill>
                  <a:srgbClr val="B5651D"/>
                </a:solidFill>
              </a:rPr>
              <a:t>EVENT GATES</a:t>
            </a:r>
          </a:p>
        </p:txBody>
      </p:sp>
      <p:sp>
        <p:nvSpPr>
          <p:cNvPr id="1006" name="TextBox 1005"/>
          <p:cNvSpPr txBox="1"/>
          <p:nvPr/>
        </p:nvSpPr>
        <p:spPr>
          <a:xfrm>
            <a:off x="7955279" y="4050791"/>
            <a:ext cx="3474720" cy="1280160"/>
          </a:xfrm>
          <a:prstGeom prst="rect">
            <a:avLst/>
          </a:prstGeom>
          <a:noFill/>
        </p:spPr>
        <p:txBody>
          <a:bodyPr wrap="square" lIns="0" tIns="0" rIns="0" bIns="0" anchor="t">
            <a:spAutoFit/>
          </a:bodyPr>
          <a:lstStyle/>
          <a:p>
            <a:r>
              <a:rPr sz="1250" b="0" i="0">
                <a:solidFill>
                  <a:srgbClr val="0B1F3A"/>
                </a:solidFill>
              </a:rPr>
              <a:t>Slow, with a named owner. Each blocks one named transition. Several take weeks, so none can start at the end.</a:t>
            </a:r>
          </a:p>
        </p:txBody>
      </p:sp>
      <p:sp>
        <p:nvSpPr>
          <p:cNvPr id="1007" name="Rounded Rectangle 1006"/>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Two rails have no threshold. A secret or a production record in the repo is never a severity question.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MODULE 06 · WHO YOU NEED, AND WHEN</a:t>
            </a:r>
          </a:p>
        </p:txBody>
      </p:sp>
      <p:sp>
        <p:nvSpPr>
          <p:cNvPr id="3" name="Title 2"/>
          <p:cNvSpPr>
            <a:spLocks noGrp="1"/>
          </p:cNvSpPr>
          <p:nvPr>
            <p:ph type="title" idx="101"/>
          </p:nvPr>
        </p:nvSpPr>
        <p:spPr/>
        <p:txBody>
          <a:bodyPr/>
          <a:lstStyle/>
          <a:p>
            <a:pPr algn="l"/>
            <a:r>
              <a:t>Every application needs the same approvals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14</a:t>
            </a:fld>
            <a:endParaRPr lang="en-US" b="0"/>
          </a:p>
        </p:txBody>
      </p:sp>
      <p:graphicFrame>
        <p:nvGraphicFramePr>
          <p:cNvPr id="1000" name="Table 999"/>
          <p:cNvGraphicFramePr>
            <a:graphicFrameLocks noGrp="1"/>
          </p:cNvGraphicFramePr>
          <p:nvPr/>
        </p:nvGraphicFramePr>
        <p:xfrm>
          <a:off x="548640" y="1783080"/>
          <a:ext cx="11091672" cy="3657600"/>
        </p:xfrm>
        <a:graphic>
          <a:graphicData uri="http://schemas.openxmlformats.org/drawingml/2006/table">
            <a:tbl>
              <a:tblPr>
                <a:tableStyleId>{2D5ABB26-0587-4C30-8999-92F81FD0307C}</a:tableStyleId>
              </a:tblPr>
              <a:tblGrid>
                <a:gridCol w="23317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61872">
                  <a:extLst>
                    <a:ext uri="{9D8B030D-6E8A-4147-A177-3AD203B41FA5}">
                      <a16:colId xmlns:a16="http://schemas.microsoft.com/office/drawing/2014/main" val="20004"/>
                    </a:ext>
                  </a:extLst>
                </a:gridCol>
              </a:tblGrid>
              <a:tr h="457200">
                <a:tc>
                  <a:txBody>
                    <a:bodyPr/>
                    <a:lstStyle/>
                    <a:p>
                      <a:r>
                        <a:rPr sz="1100" b="1" spc="100">
                          <a:solidFill>
                            <a:srgbClr val="FFFFFF"/>
                          </a:solidFill>
                        </a:rPr>
                        <a:t>APPROVAL</a:t>
                      </a:r>
                    </a:p>
                  </a:txBody>
                  <a:tcPr marL="109728" marR="109728" anchor="ctr">
                    <a:solidFill>
                      <a:srgbClr val="0B1F3A"/>
                    </a:solidFill>
                  </a:tcPr>
                </a:tc>
                <a:tc>
                  <a:txBody>
                    <a:bodyPr/>
                    <a:lstStyle/>
                    <a:p>
                      <a:r>
                        <a:rPr sz="1100" b="1" spc="100">
                          <a:solidFill>
                            <a:srgbClr val="FFFFFF"/>
                          </a:solidFill>
                        </a:rPr>
                        <a:t>TEAM</a:t>
                      </a:r>
                    </a:p>
                  </a:txBody>
                  <a:tcPr marL="109728" marR="109728" anchor="ctr">
                    <a:solidFill>
                      <a:srgbClr val="0B1F3A"/>
                    </a:solidFill>
                  </a:tcPr>
                </a:tc>
                <a:tc>
                  <a:txBody>
                    <a:bodyPr/>
                    <a:lstStyle/>
                    <a:p>
                      <a:r>
                        <a:rPr sz="1100" b="1" spc="100">
                          <a:solidFill>
                            <a:srgbClr val="FFFFFF"/>
                          </a:solidFill>
                        </a:rPr>
                        <a:t>WHAT IT ASKS FOR</a:t>
                      </a:r>
                    </a:p>
                  </a:txBody>
                  <a:tcPr marL="109728" marR="109728" anchor="ctr">
                    <a:solidFill>
                      <a:srgbClr val="0B1F3A"/>
                    </a:solidFill>
                  </a:tcPr>
                </a:tc>
                <a:tc>
                  <a:txBody>
                    <a:bodyPr/>
                    <a:lstStyle/>
                    <a:p>
                      <a:r>
                        <a:rPr sz="1100" b="1" spc="100">
                          <a:solidFill>
                            <a:srgbClr val="FFFFFF"/>
                          </a:solidFill>
                        </a:rPr>
                        <a:t>WHEN</a:t>
                      </a:r>
                    </a:p>
                  </a:txBody>
                  <a:tcPr marL="109728" marR="109728" anchor="ctr">
                    <a:solidFill>
                      <a:srgbClr val="0B1F3A"/>
                    </a:solidFill>
                  </a:tcPr>
                </a:tc>
                <a:tc>
                  <a:txBody>
                    <a:bodyPr/>
                    <a:lstStyle/>
                    <a:p>
                      <a:r>
                        <a:rPr sz="1100" b="1" spc="100">
                          <a:solidFill>
                            <a:srgbClr val="FFFFFF"/>
                          </a:solidFill>
                        </a:rPr>
                        <a:t>NAMED OWNER</a:t>
                      </a:r>
                    </a:p>
                  </a:txBody>
                  <a:tcPr marL="109728" marR="109728" anchor="ctr">
                    <a:solidFill>
                      <a:srgbClr val="0B1F3A"/>
                    </a:solidFill>
                  </a:tcPr>
                </a:tc>
                <a:extLst>
                  <a:ext uri="{0D108BD9-81ED-4DB2-BD59-A6C34878D82A}">
                    <a16:rowId xmlns:a16="http://schemas.microsoft.com/office/drawing/2014/main" val="10000"/>
                  </a:ext>
                </a:extLst>
              </a:tr>
              <a:tr h="457200">
                <a:tc>
                  <a:txBody>
                    <a:bodyPr/>
                    <a:lstStyle/>
                    <a:p>
                      <a:r>
                        <a:rPr sz="1200" b="1">
                          <a:solidFill>
                            <a:srgbClr val="0B1F3A"/>
                          </a:solidFill>
                        </a:rPr>
                        <a:t>Create BAPPID</a:t>
                      </a:r>
                    </a:p>
                  </a:txBody>
                  <a:tcPr marL="109728" marR="109728" anchor="ctr">
                    <a:solidFill>
                      <a:srgbClr val="EEF3FB"/>
                    </a:solidFill>
                  </a:tcPr>
                </a:tc>
                <a:tc>
                  <a:txBody>
                    <a:bodyPr/>
                    <a:lstStyle/>
                    <a:p>
                      <a:r>
                        <a:rPr sz="1200" b="0">
                          <a:solidFill>
                            <a:srgbClr val="0B1F3A"/>
                          </a:solidFill>
                        </a:rPr>
                        <a:t>Enterprise Technology</a:t>
                      </a:r>
                    </a:p>
                  </a:txBody>
                  <a:tcPr marL="109728" marR="109728" anchor="ctr">
                    <a:solidFill>
                      <a:srgbClr val="EEF3FB"/>
                    </a:solidFill>
                  </a:tcPr>
                </a:tc>
                <a:tc>
                  <a:txBody>
                    <a:bodyPr/>
                    <a:lstStyle/>
                    <a:p>
                      <a:r>
                        <a:rPr sz="1200" b="0">
                          <a:solidFill>
                            <a:srgbClr val="0B1F3A"/>
                          </a:solidFill>
                        </a:rPr>
                        <a:t>ServiceNow CMDB record, with a named technical owner</a:t>
                      </a:r>
                    </a:p>
                  </a:txBody>
                  <a:tcPr marL="109728" marR="109728" anchor="ctr">
                    <a:solidFill>
                      <a:srgbClr val="EEF3FB"/>
                    </a:solidFill>
                  </a:tcPr>
                </a:tc>
                <a:tc>
                  <a:txBody>
                    <a:bodyPr/>
                    <a:lstStyle/>
                    <a:p>
                      <a:r>
                        <a:rPr sz="1200" b="0">
                          <a:solidFill>
                            <a:srgbClr val="0B1F3A"/>
                          </a:solidFill>
                        </a:rPr>
                        <a:t>Week one</a:t>
                      </a:r>
                    </a:p>
                  </a:txBody>
                  <a:tcPr marL="109728" marR="109728" anchor="ctr">
                    <a:solidFill>
                      <a:srgbClr val="EEF3FB"/>
                    </a:solidFill>
                  </a:tcPr>
                </a:tc>
                <a:tc>
                  <a:txBody>
                    <a:bodyPr/>
                    <a:lstStyle/>
                    <a:p>
                      <a:r>
                        <a:rPr sz="1200" b="0">
                          <a:solidFill>
                            <a:srgbClr val="0B1F3A"/>
                          </a:solidFill>
                        </a:rPr>
                        <a:t>To be confirmed</a:t>
                      </a:r>
                    </a:p>
                  </a:txBody>
                  <a:tcPr marL="109728" marR="109728" anchor="ctr">
                    <a:solidFill>
                      <a:srgbClr val="EEF3FB"/>
                    </a:solidFill>
                  </a:tcPr>
                </a:tc>
                <a:extLst>
                  <a:ext uri="{0D108BD9-81ED-4DB2-BD59-A6C34878D82A}">
                    <a16:rowId xmlns:a16="http://schemas.microsoft.com/office/drawing/2014/main" val="10001"/>
                  </a:ext>
                </a:extLst>
              </a:tr>
              <a:tr h="457200">
                <a:tc>
                  <a:txBody>
                    <a:bodyPr/>
                    <a:lstStyle/>
                    <a:p>
                      <a:r>
                        <a:rPr sz="1200" b="1">
                          <a:solidFill>
                            <a:srgbClr val="0B1F3A"/>
                          </a:solidFill>
                        </a:rPr>
                        <a:t>Raise ESIS (RITM)</a:t>
                      </a:r>
                    </a:p>
                  </a:txBody>
                  <a:tcPr marL="109728" marR="109728" anchor="ctr">
                    <a:solidFill>
                      <a:srgbClr val="FFFFFF"/>
                    </a:solidFill>
                  </a:tcPr>
                </a:tc>
                <a:tc>
                  <a:txBody>
                    <a:bodyPr/>
                    <a:lstStyle/>
                    <a:p>
                      <a:r>
                        <a:rPr sz="1200" b="0">
                          <a:solidFill>
                            <a:srgbClr val="0B1F3A"/>
                          </a:solidFill>
                        </a:rPr>
                        <a:t>Enterprise Technology</a:t>
                      </a:r>
                    </a:p>
                  </a:txBody>
                  <a:tcPr marL="109728" marR="109728" anchor="ctr">
                    <a:solidFill>
                      <a:srgbClr val="FFFFFF"/>
                    </a:solidFill>
                  </a:tcPr>
                </a:tc>
                <a:tc>
                  <a:txBody>
                    <a:bodyPr/>
                    <a:lstStyle/>
                    <a:p>
                      <a:r>
                        <a:rPr sz="1200" b="0">
                          <a:solidFill>
                            <a:srgbClr val="0B1F3A"/>
                          </a:solidFill>
                        </a:rPr>
                        <a:t>Permissions list, PII and data classification</a:t>
                      </a:r>
                    </a:p>
                  </a:txBody>
                  <a:tcPr marL="109728" marR="109728" anchor="ctr">
                    <a:solidFill>
                      <a:srgbClr val="FFFFFF"/>
                    </a:solidFill>
                  </a:tcPr>
                </a:tc>
                <a:tc>
                  <a:txBody>
                    <a:bodyPr/>
                    <a:lstStyle/>
                    <a:p>
                      <a:r>
                        <a:rPr sz="1200" b="0">
                          <a:solidFill>
                            <a:srgbClr val="0B1F3A"/>
                          </a:solidFill>
                        </a:rPr>
                        <a:t>Week one</a:t>
                      </a:r>
                    </a:p>
                  </a:txBody>
                  <a:tcPr marL="109728" marR="109728" anchor="ctr">
                    <a:solidFill>
                      <a:srgbClr val="FFFFFF"/>
                    </a:solidFill>
                  </a:tcPr>
                </a:tc>
                <a:tc>
                  <a:txBody>
                    <a:bodyPr/>
                    <a:lstStyle/>
                    <a:p>
                      <a:r>
                        <a:rPr sz="1200" b="0">
                          <a:solidFill>
                            <a:srgbClr val="0B1F3A"/>
                          </a:solidFill>
                        </a:rPr>
                        <a:t>To be confirmed</a:t>
                      </a:r>
                    </a:p>
                  </a:txBody>
                  <a:tcPr marL="109728" marR="109728" anchor="ctr">
                    <a:solidFill>
                      <a:srgbClr val="FFFFFF"/>
                    </a:solidFill>
                  </a:tcPr>
                </a:tc>
                <a:extLst>
                  <a:ext uri="{0D108BD9-81ED-4DB2-BD59-A6C34878D82A}">
                    <a16:rowId xmlns:a16="http://schemas.microsoft.com/office/drawing/2014/main" val="10002"/>
                  </a:ext>
                </a:extLst>
              </a:tr>
              <a:tr h="457200">
                <a:tc>
                  <a:txBody>
                    <a:bodyPr/>
                    <a:lstStyle/>
                    <a:p>
                      <a:r>
                        <a:rPr sz="1200" b="1">
                          <a:solidFill>
                            <a:srgbClr val="0B1F3A"/>
                          </a:solidFill>
                        </a:rPr>
                        <a:t>AI intake form</a:t>
                      </a:r>
                    </a:p>
                  </a:txBody>
                  <a:tcPr marL="109728" marR="109728" anchor="ctr">
                    <a:solidFill>
                      <a:srgbClr val="EEF3FB"/>
                    </a:solidFill>
                  </a:tcPr>
                </a:tc>
                <a:tc>
                  <a:txBody>
                    <a:bodyPr/>
                    <a:lstStyle/>
                    <a:p>
                      <a:r>
                        <a:rPr sz="1200" b="0">
                          <a:solidFill>
                            <a:srgbClr val="0B1F3A"/>
                          </a:solidFill>
                        </a:rPr>
                        <a:t>Technology Enablement</a:t>
                      </a:r>
                    </a:p>
                  </a:txBody>
                  <a:tcPr marL="109728" marR="109728" anchor="ctr">
                    <a:solidFill>
                      <a:srgbClr val="EEF3FB"/>
                    </a:solidFill>
                  </a:tcPr>
                </a:tc>
                <a:tc>
                  <a:txBody>
                    <a:bodyPr/>
                    <a:lstStyle/>
                    <a:p>
                      <a:r>
                        <a:rPr sz="1200" b="0">
                          <a:solidFill>
                            <a:srgbClr val="0B1F3A"/>
                          </a:solidFill>
                        </a:rPr>
                        <a:t>Required for any AI use case, through the intake portal</a:t>
                      </a:r>
                    </a:p>
                  </a:txBody>
                  <a:tcPr marL="109728" marR="109728" anchor="ctr">
                    <a:solidFill>
                      <a:srgbClr val="EEF3FB"/>
                    </a:solidFill>
                  </a:tcPr>
                </a:tc>
                <a:tc>
                  <a:txBody>
                    <a:bodyPr/>
                    <a:lstStyle/>
                    <a:p>
                      <a:r>
                        <a:rPr sz="1200" b="0">
                          <a:solidFill>
                            <a:srgbClr val="0B1F3A"/>
                          </a:solidFill>
                        </a:rPr>
                        <a:t>Week one</a:t>
                      </a:r>
                    </a:p>
                  </a:txBody>
                  <a:tcPr marL="109728" marR="109728" anchor="ctr">
                    <a:solidFill>
                      <a:srgbClr val="EEF3FB"/>
                    </a:solidFill>
                  </a:tcPr>
                </a:tc>
                <a:tc>
                  <a:txBody>
                    <a:bodyPr/>
                    <a:lstStyle/>
                    <a:p>
                      <a:r>
                        <a:rPr sz="1200" b="0">
                          <a:solidFill>
                            <a:srgbClr val="0B1F3A"/>
                          </a:solidFill>
                        </a:rPr>
                        <a:t>To be confirmed</a:t>
                      </a:r>
                    </a:p>
                  </a:txBody>
                  <a:tcPr marL="109728" marR="109728" anchor="ctr">
                    <a:solidFill>
                      <a:srgbClr val="EEF3FB"/>
                    </a:solidFill>
                  </a:tcPr>
                </a:tc>
                <a:extLst>
                  <a:ext uri="{0D108BD9-81ED-4DB2-BD59-A6C34878D82A}">
                    <a16:rowId xmlns:a16="http://schemas.microsoft.com/office/drawing/2014/main" val="10003"/>
                  </a:ext>
                </a:extLst>
              </a:tr>
              <a:tr h="457200">
                <a:tc>
                  <a:txBody>
                    <a:bodyPr/>
                    <a:lstStyle/>
                    <a:p>
                      <a:r>
                        <a:rPr sz="1200" b="1">
                          <a:solidFill>
                            <a:srgbClr val="0B1F3A"/>
                          </a:solidFill>
                        </a:rPr>
                        <a:t>TEST admin consent</a:t>
                      </a:r>
                    </a:p>
                  </a:txBody>
                  <a:tcPr marL="109728" marR="109728" anchor="ctr">
                    <a:solidFill>
                      <a:srgbClr val="FFFFFF"/>
                    </a:solidFill>
                  </a:tcPr>
                </a:tc>
                <a:tc>
                  <a:txBody>
                    <a:bodyPr/>
                    <a:lstStyle/>
                    <a:p>
                      <a:r>
                        <a:rPr sz="1200" b="0">
                          <a:solidFill>
                            <a:srgbClr val="0B1F3A"/>
                          </a:solidFill>
                        </a:rPr>
                        <a:t>Enterprise Technology</a:t>
                      </a:r>
                    </a:p>
                  </a:txBody>
                  <a:tcPr marL="109728" marR="109728" anchor="ctr">
                    <a:solidFill>
                      <a:srgbClr val="FFFFFF"/>
                    </a:solidFill>
                  </a:tcPr>
                </a:tc>
                <a:tc>
                  <a:txBody>
                    <a:bodyPr/>
                    <a:lstStyle/>
                    <a:p>
                      <a:r>
                        <a:rPr sz="1200" b="0">
                          <a:solidFill>
                            <a:srgbClr val="0B1F3A"/>
                          </a:solidFill>
                        </a:rPr>
                        <a:t>Delegated scopes. Nothing can be tested without it</a:t>
                      </a:r>
                    </a:p>
                  </a:txBody>
                  <a:tcPr marL="109728" marR="109728" anchor="ctr">
                    <a:solidFill>
                      <a:srgbClr val="FFFFFF"/>
                    </a:solidFill>
                  </a:tcPr>
                </a:tc>
                <a:tc>
                  <a:txBody>
                    <a:bodyPr/>
                    <a:lstStyle/>
                    <a:p>
                      <a:r>
                        <a:rPr sz="1200" b="0">
                          <a:solidFill>
                            <a:srgbClr val="0B1F3A"/>
                          </a:solidFill>
                        </a:rPr>
                        <a:t>Before UAT</a:t>
                      </a:r>
                    </a:p>
                  </a:txBody>
                  <a:tcPr marL="109728" marR="109728" anchor="ctr">
                    <a:solidFill>
                      <a:srgbClr val="FFFFFF"/>
                    </a:solidFill>
                  </a:tcPr>
                </a:tc>
                <a:tc>
                  <a:txBody>
                    <a:bodyPr/>
                    <a:lstStyle/>
                    <a:p>
                      <a:r>
                        <a:rPr sz="1200" b="0">
                          <a:solidFill>
                            <a:srgbClr val="0B1F3A"/>
                          </a:solidFill>
                        </a:rPr>
                        <a:t>To be confirmed</a:t>
                      </a:r>
                    </a:p>
                  </a:txBody>
                  <a:tcPr marL="109728" marR="109728" anchor="ctr">
                    <a:solidFill>
                      <a:srgbClr val="FFFFFF"/>
                    </a:solidFill>
                  </a:tcPr>
                </a:tc>
                <a:extLst>
                  <a:ext uri="{0D108BD9-81ED-4DB2-BD59-A6C34878D82A}">
                    <a16:rowId xmlns:a16="http://schemas.microsoft.com/office/drawing/2014/main" val="10004"/>
                  </a:ext>
                </a:extLst>
              </a:tr>
              <a:tr h="457200">
                <a:tc>
                  <a:txBody>
                    <a:bodyPr/>
                    <a:lstStyle/>
                    <a:p>
                      <a:r>
                        <a:rPr sz="1200" b="1">
                          <a:solidFill>
                            <a:srgbClr val="0B1F3A"/>
                          </a:solidFill>
                        </a:rPr>
                        <a:t>PROD admin consent</a:t>
                      </a:r>
                    </a:p>
                  </a:txBody>
                  <a:tcPr marL="109728" marR="109728" anchor="ctr">
                    <a:solidFill>
                      <a:srgbClr val="EEF3FB"/>
                    </a:solidFill>
                  </a:tcPr>
                </a:tc>
                <a:tc>
                  <a:txBody>
                    <a:bodyPr/>
                    <a:lstStyle/>
                    <a:p>
                      <a:r>
                        <a:rPr sz="1200" b="0">
                          <a:solidFill>
                            <a:srgbClr val="0B1F3A"/>
                          </a:solidFill>
                        </a:rPr>
                        <a:t>Enterprise Technology</a:t>
                      </a:r>
                    </a:p>
                  </a:txBody>
                  <a:tcPr marL="109728" marR="109728" anchor="ctr">
                    <a:solidFill>
                      <a:srgbClr val="EEF3FB"/>
                    </a:solidFill>
                  </a:tcPr>
                </a:tc>
                <a:tc>
                  <a:txBody>
                    <a:bodyPr/>
                    <a:lstStyle/>
                    <a:p>
                      <a:r>
                        <a:rPr sz="1200" b="0">
                          <a:solidFill>
                            <a:srgbClr val="0B1F3A"/>
                          </a:solidFill>
                        </a:rPr>
                        <a:t>Constrained app permissions on the production tenant</a:t>
                      </a:r>
                    </a:p>
                  </a:txBody>
                  <a:tcPr marL="109728" marR="109728" anchor="ctr">
                    <a:solidFill>
                      <a:srgbClr val="EEF3FB"/>
                    </a:solidFill>
                  </a:tcPr>
                </a:tc>
                <a:tc>
                  <a:txBody>
                    <a:bodyPr/>
                    <a:lstStyle/>
                    <a:p>
                      <a:r>
                        <a:rPr sz="1200" b="0">
                          <a:solidFill>
                            <a:srgbClr val="0B1F3A"/>
                          </a:solidFill>
                        </a:rPr>
                        <a:t>Before go-live</a:t>
                      </a:r>
                    </a:p>
                  </a:txBody>
                  <a:tcPr marL="109728" marR="109728" anchor="ctr">
                    <a:solidFill>
                      <a:srgbClr val="EEF3FB"/>
                    </a:solidFill>
                  </a:tcPr>
                </a:tc>
                <a:tc>
                  <a:txBody>
                    <a:bodyPr/>
                    <a:lstStyle/>
                    <a:p>
                      <a:r>
                        <a:rPr sz="1200" b="0">
                          <a:solidFill>
                            <a:srgbClr val="0B1F3A"/>
                          </a:solidFill>
                        </a:rPr>
                        <a:t>To be confirmed</a:t>
                      </a:r>
                    </a:p>
                  </a:txBody>
                  <a:tcPr marL="109728" marR="109728" anchor="ctr">
                    <a:solidFill>
                      <a:srgbClr val="EEF3FB"/>
                    </a:solidFill>
                  </a:tcPr>
                </a:tc>
                <a:extLst>
                  <a:ext uri="{0D108BD9-81ED-4DB2-BD59-A6C34878D82A}">
                    <a16:rowId xmlns:a16="http://schemas.microsoft.com/office/drawing/2014/main" val="10005"/>
                  </a:ext>
                </a:extLst>
              </a:tr>
              <a:tr h="457200">
                <a:tc>
                  <a:txBody>
                    <a:bodyPr/>
                    <a:lstStyle/>
                    <a:p>
                      <a:r>
                        <a:rPr sz="1200" b="1">
                          <a:solidFill>
                            <a:srgbClr val="0B1F3A"/>
                          </a:solidFill>
                        </a:rPr>
                        <a:t>Email relay onboarding</a:t>
                      </a:r>
                    </a:p>
                  </a:txBody>
                  <a:tcPr marL="109728" marR="109728" anchor="ctr">
                    <a:solidFill>
                      <a:srgbClr val="FFFFFF"/>
                    </a:solidFill>
                  </a:tcPr>
                </a:tc>
                <a:tc>
                  <a:txBody>
                    <a:bodyPr/>
                    <a:lstStyle/>
                    <a:p>
                      <a:r>
                        <a:rPr sz="1200" b="0">
                          <a:solidFill>
                            <a:srgbClr val="0B1F3A"/>
                          </a:solidFill>
                        </a:rPr>
                        <a:t>ET&amp;D Messaging</a:t>
                      </a:r>
                    </a:p>
                  </a:txBody>
                  <a:tcPr marL="109728" marR="109728" anchor="ctr">
                    <a:solidFill>
                      <a:srgbClr val="FFFFFF"/>
                    </a:solidFill>
                  </a:tcPr>
                </a:tc>
                <a:tc>
                  <a:txBody>
                    <a:bodyPr/>
                    <a:lstStyle/>
                    <a:p>
                      <a:r>
                        <a:rPr sz="1200" b="0">
                          <a:solidFill>
                            <a:srgbClr val="0B1F3A"/>
                          </a:solidFill>
                        </a:rPr>
                        <a:t>Required for any app that sends email</a:t>
                      </a:r>
                    </a:p>
                  </a:txBody>
                  <a:tcPr marL="109728" marR="109728" anchor="ctr">
                    <a:solidFill>
                      <a:srgbClr val="FFFFFF"/>
                    </a:solidFill>
                  </a:tcPr>
                </a:tc>
                <a:tc>
                  <a:txBody>
                    <a:bodyPr/>
                    <a:lstStyle/>
                    <a:p>
                      <a:r>
                        <a:rPr sz="1200" b="0">
                          <a:solidFill>
                            <a:srgbClr val="0B1F3A"/>
                          </a:solidFill>
                        </a:rPr>
                        <a:t>Before go-live</a:t>
                      </a:r>
                    </a:p>
                  </a:txBody>
                  <a:tcPr marL="109728" marR="109728" anchor="ctr">
                    <a:solidFill>
                      <a:srgbClr val="FFFFFF"/>
                    </a:solidFill>
                  </a:tcPr>
                </a:tc>
                <a:tc>
                  <a:txBody>
                    <a:bodyPr/>
                    <a:lstStyle/>
                    <a:p>
                      <a:r>
                        <a:rPr sz="1200" b="0">
                          <a:solidFill>
                            <a:srgbClr val="0B1F3A"/>
                          </a:solidFill>
                        </a:rPr>
                        <a:t>To be confirmed</a:t>
                      </a:r>
                    </a:p>
                  </a:txBody>
                  <a:tcPr marL="109728" marR="109728" anchor="ctr">
                    <a:solidFill>
                      <a:srgbClr val="FFFFFF"/>
                    </a:solidFill>
                  </a:tcPr>
                </a:tc>
                <a:extLst>
                  <a:ext uri="{0D108BD9-81ED-4DB2-BD59-A6C34878D82A}">
                    <a16:rowId xmlns:a16="http://schemas.microsoft.com/office/drawing/2014/main" val="10006"/>
                  </a:ext>
                </a:extLst>
              </a:tr>
              <a:tr h="457200">
                <a:tc>
                  <a:txBody>
                    <a:bodyPr/>
                    <a:lstStyle/>
                    <a:p>
                      <a:r>
                        <a:rPr sz="1200" b="1">
                          <a:solidFill>
                            <a:srgbClr val="0B1F3A"/>
                          </a:solidFill>
                        </a:rPr>
                        <a:t>UAT and functional sign-off</a:t>
                      </a:r>
                    </a:p>
                  </a:txBody>
                  <a:tcPr marL="109728" marR="109728" anchor="ctr">
                    <a:solidFill>
                      <a:srgbClr val="EEF3FB"/>
                    </a:solidFill>
                  </a:tcPr>
                </a:tc>
                <a:tc>
                  <a:txBody>
                    <a:bodyPr/>
                    <a:lstStyle/>
                    <a:p>
                      <a:r>
                        <a:rPr sz="1200" b="0">
                          <a:solidFill>
                            <a:srgbClr val="0B1F3A"/>
                          </a:solidFill>
                        </a:rPr>
                        <a:t>The business</a:t>
                      </a:r>
                    </a:p>
                  </a:txBody>
                  <a:tcPr marL="109728" marR="109728" anchor="ctr">
                    <a:solidFill>
                      <a:srgbClr val="EEF3FB"/>
                    </a:solidFill>
                  </a:tcPr>
                </a:tc>
                <a:tc>
                  <a:txBody>
                    <a:bodyPr/>
                    <a:lstStyle/>
                    <a:p>
                      <a:r>
                        <a:rPr sz="1200" b="0">
                          <a:solidFill>
                            <a:srgbClr val="0B1F3A"/>
                          </a:solidFill>
                        </a:rPr>
                        <a:t>Users run the manual cycle in TEST. The process owner signs</a:t>
                      </a:r>
                    </a:p>
                  </a:txBody>
                  <a:tcPr marL="109728" marR="109728" anchor="ctr">
                    <a:solidFill>
                      <a:srgbClr val="EEF3FB"/>
                    </a:solidFill>
                  </a:tcPr>
                </a:tc>
                <a:tc>
                  <a:txBody>
                    <a:bodyPr/>
                    <a:lstStyle/>
                    <a:p>
                      <a:r>
                        <a:rPr sz="1200" b="0">
                          <a:solidFill>
                            <a:srgbClr val="0B1F3A"/>
                          </a:solidFill>
                        </a:rPr>
                        <a:t>Before go-live</a:t>
                      </a:r>
                    </a:p>
                  </a:txBody>
                  <a:tcPr marL="109728" marR="109728" anchor="ctr">
                    <a:solidFill>
                      <a:srgbClr val="EEF3FB"/>
                    </a:solidFill>
                  </a:tcPr>
                </a:tc>
                <a:tc>
                  <a:txBody>
                    <a:bodyPr/>
                    <a:lstStyle/>
                    <a:p>
                      <a:r>
                        <a:rPr sz="1200" b="0">
                          <a:solidFill>
                            <a:srgbClr val="0B1F3A"/>
                          </a:solidFill>
                        </a:rPr>
                        <a:t>To be confirmed</a:t>
                      </a:r>
                    </a:p>
                  </a:txBody>
                  <a:tcPr marL="109728" marR="109728" anchor="ctr">
                    <a:solidFill>
                      <a:srgbClr val="EEF3FB"/>
                    </a:solidFill>
                  </a:tcPr>
                </a:tc>
                <a:extLst>
                  <a:ext uri="{0D108BD9-81ED-4DB2-BD59-A6C34878D82A}">
                    <a16:rowId xmlns:a16="http://schemas.microsoft.com/office/drawing/2014/main" val="10007"/>
                  </a:ext>
                </a:extLst>
              </a:tr>
            </a:tbl>
          </a:graphicData>
        </a:graphic>
      </p:graphicFrame>
      <p:sp>
        <p:nvSpPr>
          <p:cNvPr id="1001" name="Rounded Rectangle 1000"/>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Three of these are opened in week one. An approval nobody opened is still open at go-live.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MODULE 06 · THE LONG POLES</a:t>
            </a:r>
          </a:p>
        </p:txBody>
      </p:sp>
      <p:sp>
        <p:nvSpPr>
          <p:cNvPr id="3" name="Title 2"/>
          <p:cNvSpPr>
            <a:spLocks noGrp="1"/>
          </p:cNvSpPr>
          <p:nvPr>
            <p:ph type="title" idx="101"/>
          </p:nvPr>
        </p:nvSpPr>
        <p:spPr/>
        <p:txBody>
          <a:bodyPr/>
          <a:lstStyle/>
          <a:p>
            <a:pPr algn="l"/>
            <a:r>
              <a:t>ESIS is five reviews in sequence, over four to eight weeks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15</a:t>
            </a:fld>
            <a:endParaRPr lang="en-US" b="0"/>
          </a:p>
        </p:txBody>
      </p:sp>
      <p:sp>
        <p:nvSpPr>
          <p:cNvPr id="1000" name="Pentagon 999"/>
          <p:cNvSpPr/>
          <p:nvPr/>
        </p:nvSpPr>
        <p:spPr>
          <a:xfrm>
            <a:off x="548640" y="1783080"/>
            <a:ext cx="2240280" cy="777240"/>
          </a:xfrm>
          <a:prstGeom prst="homePlate">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TextBox 1000"/>
          <p:cNvSpPr txBox="1"/>
          <p:nvPr/>
        </p:nvSpPr>
        <p:spPr>
          <a:xfrm>
            <a:off x="685800" y="1783080"/>
            <a:ext cx="1737360" cy="777240"/>
          </a:xfrm>
          <a:prstGeom prst="rect">
            <a:avLst/>
          </a:prstGeom>
          <a:noFill/>
        </p:spPr>
        <p:txBody>
          <a:bodyPr wrap="square" lIns="0" tIns="0" rIns="0" bIns="0" anchor="ctr">
            <a:spAutoFit/>
          </a:bodyPr>
          <a:lstStyle/>
          <a:p>
            <a:pPr algn="ctr"/>
            <a:r>
              <a:rPr sz="1300" b="1" i="0">
                <a:solidFill>
                  <a:srgbClr val="FFFFFF"/>
                </a:solidFill>
              </a:rPr>
              <a:t>Service Management</a:t>
            </a:r>
          </a:p>
        </p:txBody>
      </p:sp>
      <p:sp>
        <p:nvSpPr>
          <p:cNvPr id="1002" name="Chevron 1001"/>
          <p:cNvSpPr/>
          <p:nvPr/>
        </p:nvSpPr>
        <p:spPr>
          <a:xfrm>
            <a:off x="2761488" y="1783080"/>
            <a:ext cx="2240280" cy="777240"/>
          </a:xfrm>
          <a:prstGeom prst="chevron">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3172968" y="1783080"/>
            <a:ext cx="1737360" cy="777240"/>
          </a:xfrm>
          <a:prstGeom prst="rect">
            <a:avLst/>
          </a:prstGeom>
          <a:noFill/>
        </p:spPr>
        <p:txBody>
          <a:bodyPr wrap="square" lIns="0" tIns="0" rIns="0" bIns="0" anchor="ctr">
            <a:spAutoFit/>
          </a:bodyPr>
          <a:lstStyle/>
          <a:p>
            <a:pPr algn="ctr"/>
            <a:r>
              <a:rPr sz="1300" b="1" i="0">
                <a:solidFill>
                  <a:srgbClr val="FFFFFF"/>
                </a:solidFill>
              </a:rPr>
              <a:t>Engineering</a:t>
            </a:r>
          </a:p>
        </p:txBody>
      </p:sp>
      <p:sp>
        <p:nvSpPr>
          <p:cNvPr id="1004" name="Chevron 1003"/>
          <p:cNvSpPr/>
          <p:nvPr/>
        </p:nvSpPr>
        <p:spPr>
          <a:xfrm>
            <a:off x="4974336" y="1783080"/>
            <a:ext cx="2240280" cy="777240"/>
          </a:xfrm>
          <a:prstGeom prst="chevron">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TextBox 1004"/>
          <p:cNvSpPr txBox="1"/>
          <p:nvPr/>
        </p:nvSpPr>
        <p:spPr>
          <a:xfrm>
            <a:off x="5385816" y="1783080"/>
            <a:ext cx="1737360" cy="777240"/>
          </a:xfrm>
          <a:prstGeom prst="rect">
            <a:avLst/>
          </a:prstGeom>
          <a:noFill/>
        </p:spPr>
        <p:txBody>
          <a:bodyPr wrap="square" lIns="0" tIns="0" rIns="0" bIns="0" anchor="ctr">
            <a:spAutoFit/>
          </a:bodyPr>
          <a:lstStyle/>
          <a:p>
            <a:pPr algn="ctr"/>
            <a:r>
              <a:rPr sz="1300" b="1" i="0">
                <a:solidFill>
                  <a:srgbClr val="FFFFFF"/>
                </a:solidFill>
              </a:rPr>
              <a:t>Security</a:t>
            </a:r>
          </a:p>
        </p:txBody>
      </p:sp>
      <p:sp>
        <p:nvSpPr>
          <p:cNvPr id="1006" name="Chevron 1005"/>
          <p:cNvSpPr/>
          <p:nvPr/>
        </p:nvSpPr>
        <p:spPr>
          <a:xfrm>
            <a:off x="7187183" y="1783080"/>
            <a:ext cx="2240280" cy="777240"/>
          </a:xfrm>
          <a:prstGeom prst="chevron">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7598663" y="1783080"/>
            <a:ext cx="1737360" cy="777240"/>
          </a:xfrm>
          <a:prstGeom prst="rect">
            <a:avLst/>
          </a:prstGeom>
          <a:noFill/>
        </p:spPr>
        <p:txBody>
          <a:bodyPr wrap="square" lIns="0" tIns="0" rIns="0" bIns="0" anchor="ctr">
            <a:spAutoFit/>
          </a:bodyPr>
          <a:lstStyle/>
          <a:p>
            <a:pPr algn="ctr"/>
            <a:r>
              <a:rPr sz="1300" b="1" i="0">
                <a:solidFill>
                  <a:srgbClr val="FFFFFF"/>
                </a:solidFill>
              </a:rPr>
              <a:t>Legal</a:t>
            </a:r>
          </a:p>
        </p:txBody>
      </p:sp>
      <p:sp>
        <p:nvSpPr>
          <p:cNvPr id="1008" name="Chevron 1007"/>
          <p:cNvSpPr/>
          <p:nvPr/>
        </p:nvSpPr>
        <p:spPr>
          <a:xfrm>
            <a:off x="9400032" y="1783080"/>
            <a:ext cx="2240280" cy="777240"/>
          </a:xfrm>
          <a:prstGeom prst="chevron">
            <a:avLst/>
          </a:prstGeom>
          <a:solidFill>
            <a:srgbClr val="0033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9" name="TextBox 1008"/>
          <p:cNvSpPr txBox="1"/>
          <p:nvPr/>
        </p:nvSpPr>
        <p:spPr>
          <a:xfrm>
            <a:off x="9811511" y="1783080"/>
            <a:ext cx="1737360" cy="777240"/>
          </a:xfrm>
          <a:prstGeom prst="rect">
            <a:avLst/>
          </a:prstGeom>
          <a:noFill/>
        </p:spPr>
        <p:txBody>
          <a:bodyPr wrap="square" lIns="0" tIns="0" rIns="0" bIns="0" anchor="ctr">
            <a:spAutoFit/>
          </a:bodyPr>
          <a:lstStyle/>
          <a:p>
            <a:pPr algn="ctr"/>
            <a:r>
              <a:rPr sz="1300" b="1" i="0">
                <a:solidFill>
                  <a:srgbClr val="FFFFFF"/>
                </a:solidFill>
              </a:rPr>
              <a:t>Operations</a:t>
            </a:r>
          </a:p>
        </p:txBody>
      </p:sp>
      <p:sp>
        <p:nvSpPr>
          <p:cNvPr id="1010" name="Rounded Rectangle 1009"/>
          <p:cNvSpPr/>
          <p:nvPr/>
        </p:nvSpPr>
        <p:spPr>
          <a:xfrm>
            <a:off x="548640" y="2743200"/>
            <a:ext cx="3291840" cy="265176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TextBox 1010"/>
          <p:cNvSpPr txBox="1"/>
          <p:nvPr/>
        </p:nvSpPr>
        <p:spPr>
          <a:xfrm>
            <a:off x="777240" y="2880360"/>
            <a:ext cx="2926080" cy="914400"/>
          </a:xfrm>
          <a:prstGeom prst="rect">
            <a:avLst/>
          </a:prstGeom>
          <a:noFill/>
        </p:spPr>
        <p:txBody>
          <a:bodyPr wrap="square" lIns="0" tIns="0" rIns="0" bIns="0" anchor="t">
            <a:spAutoFit/>
          </a:bodyPr>
          <a:lstStyle/>
          <a:p>
            <a:r>
              <a:rPr sz="5400" b="1" i="0">
                <a:solidFill>
                  <a:srgbClr val="F2A900"/>
                </a:solidFill>
                <a:latin typeface="+mj-lt"/>
              </a:rPr>
              <a:t>4–8</a:t>
            </a:r>
          </a:p>
        </p:txBody>
      </p:sp>
      <p:sp>
        <p:nvSpPr>
          <p:cNvPr id="1012" name="TextBox 1011"/>
          <p:cNvSpPr txBox="1"/>
          <p:nvPr/>
        </p:nvSpPr>
        <p:spPr>
          <a:xfrm>
            <a:off x="777240" y="3840480"/>
            <a:ext cx="2926080" cy="365760"/>
          </a:xfrm>
          <a:prstGeom prst="rect">
            <a:avLst/>
          </a:prstGeom>
          <a:noFill/>
        </p:spPr>
        <p:txBody>
          <a:bodyPr wrap="square" lIns="0" tIns="0" rIns="0" bIns="0" anchor="t">
            <a:spAutoFit/>
          </a:bodyPr>
          <a:lstStyle/>
          <a:p>
            <a:r>
              <a:rPr sz="1500" b="1" i="0">
                <a:solidFill>
                  <a:srgbClr val="FFFFFF"/>
                </a:solidFill>
              </a:rPr>
              <a:t>weeks for ESIS approval</a:t>
            </a:r>
          </a:p>
        </p:txBody>
      </p:sp>
      <p:sp>
        <p:nvSpPr>
          <p:cNvPr id="1013" name="TextBox 1012"/>
          <p:cNvSpPr txBox="1"/>
          <p:nvPr/>
        </p:nvSpPr>
        <p:spPr>
          <a:xfrm>
            <a:off x="777240" y="4251960"/>
            <a:ext cx="2926080" cy="1005840"/>
          </a:xfrm>
          <a:prstGeom prst="rect">
            <a:avLst/>
          </a:prstGeom>
          <a:noFill/>
        </p:spPr>
        <p:txBody>
          <a:bodyPr wrap="square" lIns="0" tIns="0" rIns="0" bIns="0" anchor="t">
            <a:spAutoFit/>
          </a:bodyPr>
          <a:lstStyle/>
          <a:p>
            <a:r>
              <a:rPr sz="1250" b="0" i="0">
                <a:solidFill>
                  <a:srgbClr val="FFFFFF"/>
                </a:solidFill>
              </a:rPr>
              <a:t>Each team reviews after the one before it. The time cannot be compressed at the end.</a:t>
            </a:r>
          </a:p>
        </p:txBody>
      </p:sp>
      <p:sp>
        <p:nvSpPr>
          <p:cNvPr id="1014" name="Rounded Rectangle 1013"/>
          <p:cNvSpPr/>
          <p:nvPr/>
        </p:nvSpPr>
        <p:spPr>
          <a:xfrm>
            <a:off x="4023360" y="2743200"/>
            <a:ext cx="3749039" cy="2651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TextBox 1014"/>
          <p:cNvSpPr txBox="1"/>
          <p:nvPr/>
        </p:nvSpPr>
        <p:spPr>
          <a:xfrm>
            <a:off x="4251960" y="2880360"/>
            <a:ext cx="3291840" cy="228600"/>
          </a:xfrm>
          <a:prstGeom prst="rect">
            <a:avLst/>
          </a:prstGeom>
          <a:noFill/>
        </p:spPr>
        <p:txBody>
          <a:bodyPr wrap="square" lIns="0" tIns="0" rIns="0" bIns="0" anchor="t">
            <a:spAutoFit/>
          </a:bodyPr>
          <a:lstStyle/>
          <a:p>
            <a:r>
              <a:rPr sz="1000" b="1" i="0" spc="200">
                <a:solidFill>
                  <a:srgbClr val="1E49E2"/>
                </a:solidFill>
              </a:rPr>
              <a:t>OPEN THESE IN PHASE 1</a:t>
            </a:r>
          </a:p>
        </p:txBody>
      </p:sp>
      <p:sp>
        <p:nvSpPr>
          <p:cNvPr id="1016" name="TextBox 1015"/>
          <p:cNvSpPr txBox="1"/>
          <p:nvPr/>
        </p:nvSpPr>
        <p:spPr>
          <a:xfrm>
            <a:off x="4251960" y="3200400"/>
            <a:ext cx="3383280" cy="2103120"/>
          </a:xfrm>
          <a:prstGeom prst="rect">
            <a:avLst/>
          </a:prstGeom>
          <a:noFill/>
        </p:spPr>
        <p:txBody>
          <a:bodyPr wrap="square" lIns="0" tIns="0" rIns="0" bIns="0">
            <a:spAutoFit/>
          </a:bodyPr>
          <a:lstStyle/>
          <a:p>
            <a:pPr marL="228600" indent="-228600">
              <a:spcAft>
                <a:spcPts val="800"/>
              </a:spcAft>
              <a:buChar char="•"/>
            </a:pPr>
            <a:r>
              <a:rPr sz="1300" b="1">
                <a:solidFill>
                  <a:srgbClr val="0B1F3A"/>
                </a:solidFill>
              </a:rPr>
              <a:t>Integration review (ESIS)</a:t>
            </a:r>
            <a:r>
              <a:rPr sz="1300" b="0">
                <a:solidFill>
                  <a:srgbClr val="0B1F3A"/>
                </a:solidFill>
              </a:rPr>
              <a:t>: outside teams</a:t>
            </a:r>
          </a:p>
          <a:p>
            <a:pPr marL="228600" indent="-228600">
              <a:spcAft>
                <a:spcPts val="800"/>
              </a:spcAft>
              <a:buChar char="•"/>
            </a:pPr>
            <a:r>
              <a:rPr sz="1300" b="1">
                <a:solidFill>
                  <a:srgbClr val="0B1F3A"/>
                </a:solidFill>
              </a:rPr>
              <a:t>Risk assessment</a:t>
            </a:r>
            <a:r>
              <a:rPr sz="1300" b="0">
                <a:solidFill>
                  <a:srgbClr val="0B1F3A"/>
                </a:solidFill>
              </a:rPr>
              <a:t>: outside teams</a:t>
            </a:r>
          </a:p>
          <a:p>
            <a:pPr marL="228600" indent="-228600">
              <a:spcAft>
                <a:spcPts val="800"/>
              </a:spcAft>
              <a:buChar char="•"/>
            </a:pPr>
            <a:r>
              <a:rPr sz="1300" b="1">
                <a:solidFill>
                  <a:srgbClr val="0B1F3A"/>
                </a:solidFill>
              </a:rPr>
              <a:t>Email onboarding</a:t>
            </a:r>
            <a:r>
              <a:rPr sz="1300" b="0">
                <a:solidFill>
                  <a:srgbClr val="0B1F3A"/>
                </a:solidFill>
              </a:rPr>
              <a:t>: outside teams</a:t>
            </a:r>
          </a:p>
          <a:p>
            <a:pPr marL="228600" indent="-228600">
              <a:spcAft>
                <a:spcPts val="800"/>
              </a:spcAft>
              <a:buChar char="•"/>
            </a:pPr>
            <a:r>
              <a:rPr sz="1300" b="1">
                <a:solidFill>
                  <a:srgbClr val="0B1F3A"/>
                </a:solidFill>
              </a:rPr>
              <a:t>AI review</a:t>
            </a:r>
            <a:r>
              <a:rPr sz="1300" b="0">
                <a:solidFill>
                  <a:srgbClr val="0B1F3A"/>
                </a:solidFill>
              </a:rPr>
              <a:t>: yours alone, and nobody else can start it</a:t>
            </a:r>
          </a:p>
        </p:txBody>
      </p:sp>
      <p:sp>
        <p:nvSpPr>
          <p:cNvPr id="1017" name="Rounded Rectangle 1016"/>
          <p:cNvSpPr/>
          <p:nvPr/>
        </p:nvSpPr>
        <p:spPr>
          <a:xfrm>
            <a:off x="7955279" y="2743200"/>
            <a:ext cx="3685032" cy="2651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TextBox 1017"/>
          <p:cNvSpPr txBox="1"/>
          <p:nvPr/>
        </p:nvSpPr>
        <p:spPr>
          <a:xfrm>
            <a:off x="8183879" y="2880360"/>
            <a:ext cx="3291840" cy="228600"/>
          </a:xfrm>
          <a:prstGeom prst="rect">
            <a:avLst/>
          </a:prstGeom>
          <a:noFill/>
        </p:spPr>
        <p:txBody>
          <a:bodyPr wrap="square" lIns="0" tIns="0" rIns="0" bIns="0" anchor="t">
            <a:spAutoFit/>
          </a:bodyPr>
          <a:lstStyle/>
          <a:p>
            <a:r>
              <a:rPr sz="1000" b="1" i="0" spc="200">
                <a:solidFill>
                  <a:srgbClr val="1E49E2"/>
                </a:solidFill>
              </a:rPr>
              <a:t>A GATE STATES FOUR THINGS</a:t>
            </a:r>
          </a:p>
        </p:txBody>
      </p:sp>
      <p:sp>
        <p:nvSpPr>
          <p:cNvPr id="1019" name="Rounded Rectangle 1018"/>
          <p:cNvSpPr/>
          <p:nvPr/>
        </p:nvSpPr>
        <p:spPr>
          <a:xfrm>
            <a:off x="8183879" y="3246120"/>
            <a:ext cx="365760" cy="36576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TextBox 1019"/>
          <p:cNvSpPr txBox="1"/>
          <p:nvPr/>
        </p:nvSpPr>
        <p:spPr>
          <a:xfrm>
            <a:off x="8183879" y="3246120"/>
            <a:ext cx="365760" cy="365760"/>
          </a:xfrm>
          <a:prstGeom prst="rect">
            <a:avLst/>
          </a:prstGeom>
          <a:noFill/>
        </p:spPr>
        <p:txBody>
          <a:bodyPr wrap="square" lIns="0" tIns="0" rIns="0" bIns="0" anchor="ctr">
            <a:spAutoFit/>
          </a:bodyPr>
          <a:lstStyle/>
          <a:p>
            <a:pPr algn="ctr"/>
            <a:r>
              <a:rPr sz="1300" b="1" i="0">
                <a:solidFill>
                  <a:srgbClr val="FFFFFF"/>
                </a:solidFill>
                <a:latin typeface="+mj-lt"/>
              </a:rPr>
              <a:t>1</a:t>
            </a:r>
          </a:p>
        </p:txBody>
      </p:sp>
      <p:sp>
        <p:nvSpPr>
          <p:cNvPr id="1021" name="TextBox 1020"/>
          <p:cNvSpPr txBox="1"/>
          <p:nvPr/>
        </p:nvSpPr>
        <p:spPr>
          <a:xfrm>
            <a:off x="8686800" y="3246120"/>
            <a:ext cx="2834640" cy="365760"/>
          </a:xfrm>
          <a:prstGeom prst="rect">
            <a:avLst/>
          </a:prstGeom>
          <a:noFill/>
        </p:spPr>
        <p:txBody>
          <a:bodyPr wrap="square" lIns="0" tIns="0" rIns="0" bIns="0" anchor="ctr">
            <a:spAutoFit/>
          </a:bodyPr>
          <a:lstStyle/>
          <a:p>
            <a:r>
              <a:rPr sz="1300" b="1" i="0">
                <a:solidFill>
                  <a:srgbClr val="0B1F3A"/>
                </a:solidFill>
              </a:rPr>
              <a:t>Trigger: </a:t>
            </a:r>
            <a:r>
              <a:rPr sz="1300" b="0" i="0">
                <a:solidFill>
                  <a:srgbClr val="0B1F3A"/>
                </a:solidFill>
              </a:rPr>
              <a:t>the event that opens it</a:t>
            </a:r>
          </a:p>
        </p:txBody>
      </p:sp>
      <p:sp>
        <p:nvSpPr>
          <p:cNvPr id="1022" name="Rounded Rectangle 1021"/>
          <p:cNvSpPr/>
          <p:nvPr/>
        </p:nvSpPr>
        <p:spPr>
          <a:xfrm>
            <a:off x="8183879" y="3758183"/>
            <a:ext cx="365760" cy="36576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TextBox 1022"/>
          <p:cNvSpPr txBox="1"/>
          <p:nvPr/>
        </p:nvSpPr>
        <p:spPr>
          <a:xfrm>
            <a:off x="8183879" y="3758183"/>
            <a:ext cx="365760" cy="365760"/>
          </a:xfrm>
          <a:prstGeom prst="rect">
            <a:avLst/>
          </a:prstGeom>
          <a:noFill/>
        </p:spPr>
        <p:txBody>
          <a:bodyPr wrap="square" lIns="0" tIns="0" rIns="0" bIns="0" anchor="ctr">
            <a:spAutoFit/>
          </a:bodyPr>
          <a:lstStyle/>
          <a:p>
            <a:pPr algn="ctr"/>
            <a:r>
              <a:rPr sz="1300" b="1" i="0">
                <a:solidFill>
                  <a:srgbClr val="FFFFFF"/>
                </a:solidFill>
                <a:latin typeface="+mj-lt"/>
              </a:rPr>
              <a:t>2</a:t>
            </a:r>
          </a:p>
        </p:txBody>
      </p:sp>
      <p:sp>
        <p:nvSpPr>
          <p:cNvPr id="1024" name="TextBox 1023"/>
          <p:cNvSpPr txBox="1"/>
          <p:nvPr/>
        </p:nvSpPr>
        <p:spPr>
          <a:xfrm>
            <a:off x="8686800" y="3758183"/>
            <a:ext cx="2834640" cy="365760"/>
          </a:xfrm>
          <a:prstGeom prst="rect">
            <a:avLst/>
          </a:prstGeom>
          <a:noFill/>
        </p:spPr>
        <p:txBody>
          <a:bodyPr wrap="square" lIns="0" tIns="0" rIns="0" bIns="0" anchor="ctr">
            <a:spAutoFit/>
          </a:bodyPr>
          <a:lstStyle/>
          <a:p>
            <a:r>
              <a:rPr sz="1300" b="1" i="0">
                <a:solidFill>
                  <a:srgbClr val="0B1F3A"/>
                </a:solidFill>
              </a:rPr>
              <a:t>Owner: </a:t>
            </a:r>
            <a:r>
              <a:rPr sz="1300" b="0" i="0">
                <a:solidFill>
                  <a:srgbClr val="0B1F3A"/>
                </a:solidFill>
              </a:rPr>
              <a:t>whose clock it runs on</a:t>
            </a:r>
          </a:p>
        </p:txBody>
      </p:sp>
      <p:sp>
        <p:nvSpPr>
          <p:cNvPr id="1025" name="Rounded Rectangle 1024"/>
          <p:cNvSpPr/>
          <p:nvPr/>
        </p:nvSpPr>
        <p:spPr>
          <a:xfrm>
            <a:off x="8183879" y="4270248"/>
            <a:ext cx="365760" cy="36576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TextBox 1025"/>
          <p:cNvSpPr txBox="1"/>
          <p:nvPr/>
        </p:nvSpPr>
        <p:spPr>
          <a:xfrm>
            <a:off x="8183879" y="4270248"/>
            <a:ext cx="365760" cy="365760"/>
          </a:xfrm>
          <a:prstGeom prst="rect">
            <a:avLst/>
          </a:prstGeom>
          <a:noFill/>
        </p:spPr>
        <p:txBody>
          <a:bodyPr wrap="square" lIns="0" tIns="0" rIns="0" bIns="0" anchor="ctr">
            <a:spAutoFit/>
          </a:bodyPr>
          <a:lstStyle/>
          <a:p>
            <a:pPr algn="ctr"/>
            <a:r>
              <a:rPr sz="1300" b="1" i="0">
                <a:solidFill>
                  <a:srgbClr val="FFFFFF"/>
                </a:solidFill>
                <a:latin typeface="+mj-lt"/>
              </a:rPr>
              <a:t>3</a:t>
            </a:r>
          </a:p>
        </p:txBody>
      </p:sp>
      <p:sp>
        <p:nvSpPr>
          <p:cNvPr id="1027" name="TextBox 1026"/>
          <p:cNvSpPr txBox="1"/>
          <p:nvPr/>
        </p:nvSpPr>
        <p:spPr>
          <a:xfrm>
            <a:off x="8686800" y="4270248"/>
            <a:ext cx="2834640" cy="365760"/>
          </a:xfrm>
          <a:prstGeom prst="rect">
            <a:avLst/>
          </a:prstGeom>
          <a:noFill/>
        </p:spPr>
        <p:txBody>
          <a:bodyPr wrap="square" lIns="0" tIns="0" rIns="0" bIns="0" anchor="ctr">
            <a:spAutoFit/>
          </a:bodyPr>
          <a:lstStyle/>
          <a:p>
            <a:r>
              <a:rPr sz="1300" b="1" i="0">
                <a:solidFill>
                  <a:srgbClr val="0B1F3A"/>
                </a:solidFill>
              </a:rPr>
              <a:t>Blocks: </a:t>
            </a:r>
            <a:r>
              <a:rPr sz="1300" b="0" i="0">
                <a:solidFill>
                  <a:srgbClr val="0B1F3A"/>
                </a:solidFill>
              </a:rPr>
              <a:t>one named transition</a:t>
            </a:r>
          </a:p>
        </p:txBody>
      </p:sp>
      <p:sp>
        <p:nvSpPr>
          <p:cNvPr id="1028" name="Rounded Rectangle 1027"/>
          <p:cNvSpPr/>
          <p:nvPr/>
        </p:nvSpPr>
        <p:spPr>
          <a:xfrm>
            <a:off x="8183879" y="4782312"/>
            <a:ext cx="365760" cy="36576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9" name="TextBox 1028"/>
          <p:cNvSpPr txBox="1"/>
          <p:nvPr/>
        </p:nvSpPr>
        <p:spPr>
          <a:xfrm>
            <a:off x="8183879" y="4782312"/>
            <a:ext cx="365760" cy="365760"/>
          </a:xfrm>
          <a:prstGeom prst="rect">
            <a:avLst/>
          </a:prstGeom>
          <a:noFill/>
        </p:spPr>
        <p:txBody>
          <a:bodyPr wrap="square" lIns="0" tIns="0" rIns="0" bIns="0" anchor="ctr">
            <a:spAutoFit/>
          </a:bodyPr>
          <a:lstStyle/>
          <a:p>
            <a:pPr algn="ctr"/>
            <a:r>
              <a:rPr sz="1300" b="1" i="0">
                <a:solidFill>
                  <a:srgbClr val="FFFFFF"/>
                </a:solidFill>
                <a:latin typeface="+mj-lt"/>
              </a:rPr>
              <a:t>4</a:t>
            </a:r>
          </a:p>
        </p:txBody>
      </p:sp>
      <p:sp>
        <p:nvSpPr>
          <p:cNvPr id="1030" name="TextBox 1029"/>
          <p:cNvSpPr txBox="1"/>
          <p:nvPr/>
        </p:nvSpPr>
        <p:spPr>
          <a:xfrm>
            <a:off x="8686800" y="4782312"/>
            <a:ext cx="2834640" cy="365760"/>
          </a:xfrm>
          <a:prstGeom prst="rect">
            <a:avLst/>
          </a:prstGeom>
          <a:noFill/>
        </p:spPr>
        <p:txBody>
          <a:bodyPr wrap="square" lIns="0" tIns="0" rIns="0" bIns="0" anchor="ctr">
            <a:spAutoFit/>
          </a:bodyPr>
          <a:lstStyle/>
          <a:p>
            <a:r>
              <a:rPr sz="1300" b="1" i="0">
                <a:solidFill>
                  <a:srgbClr val="0B1F3A"/>
                </a:solidFill>
              </a:rPr>
              <a:t>Artifact: </a:t>
            </a:r>
            <a:r>
              <a:rPr sz="1300" b="0" i="0">
                <a:solidFill>
                  <a:srgbClr val="0B1F3A"/>
                </a:solidFill>
              </a:rPr>
              <a:t>what exists when it closes</a:t>
            </a:r>
          </a:p>
        </p:txBody>
      </p:sp>
      <p:sp>
        <p:nvSpPr>
          <p:cNvPr id="1031" name="Rounded Rectangle 1030"/>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2" name="TextBox 1031"/>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Opened at the end, every gap becomes a deadline problem. Opened in week one, it is an engineering problem.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GATE 4 · THE GO-LIVE GATE</a:t>
            </a:r>
          </a:p>
        </p:txBody>
      </p:sp>
      <p:sp>
        <p:nvSpPr>
          <p:cNvPr id="3" name="Title 2"/>
          <p:cNvSpPr>
            <a:spLocks noGrp="1"/>
          </p:cNvSpPr>
          <p:nvPr>
            <p:ph type="title" idx="101"/>
          </p:nvPr>
        </p:nvSpPr>
        <p:spPr/>
        <p:txBody>
          <a:bodyPr/>
          <a:lstStyle/>
          <a:p>
            <a:pPr algn="l"/>
            <a:r>
              <a:t>The release loop: from cut release to verified app</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16</a:t>
            </a:fld>
            <a:endParaRPr lang="en-US" b="0"/>
          </a:p>
        </p:txBody>
      </p:sp>
      <p:sp>
        <p:nvSpPr>
          <p:cNvPr id="1000" name="Rounded Rectangle 999"/>
          <p:cNvSpPr/>
          <p:nvPr/>
        </p:nvSpPr>
        <p:spPr>
          <a:xfrm>
            <a:off x="548640" y="1783080"/>
            <a:ext cx="1874519" cy="3611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Rounded Rectangle 1000"/>
          <p:cNvSpPr/>
          <p:nvPr/>
        </p:nvSpPr>
        <p:spPr>
          <a:xfrm>
            <a:off x="731520" y="1938528"/>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31520" y="1938528"/>
            <a:ext cx="457200" cy="457200"/>
          </a:xfrm>
          <a:prstGeom prst="rect">
            <a:avLst/>
          </a:prstGeom>
          <a:noFill/>
        </p:spPr>
        <p:txBody>
          <a:bodyPr wrap="square" lIns="0" tIns="0" rIns="0" bIns="0" anchor="ctr">
            <a:spAutoFit/>
          </a:bodyPr>
          <a:lstStyle/>
          <a:p>
            <a:pPr algn="ctr"/>
            <a:r>
              <a:rPr sz="2000" b="1" i="0">
                <a:solidFill>
                  <a:srgbClr val="FFFFFF"/>
                </a:solidFill>
                <a:latin typeface="+mj-lt"/>
              </a:rPr>
              <a:t>1</a:t>
            </a:r>
          </a:p>
        </p:txBody>
      </p:sp>
      <p:sp>
        <p:nvSpPr>
          <p:cNvPr id="1003" name="TextBox 1002"/>
          <p:cNvSpPr txBox="1"/>
          <p:nvPr/>
        </p:nvSpPr>
        <p:spPr>
          <a:xfrm>
            <a:off x="731520" y="2560320"/>
            <a:ext cx="1554480" cy="594360"/>
          </a:xfrm>
          <a:prstGeom prst="rect">
            <a:avLst/>
          </a:prstGeom>
          <a:noFill/>
        </p:spPr>
        <p:txBody>
          <a:bodyPr wrap="square" lIns="0" tIns="0" rIns="0" bIns="0" anchor="t">
            <a:spAutoFit/>
          </a:bodyPr>
          <a:lstStyle/>
          <a:p>
            <a:r>
              <a:rPr sz="1600" b="1" i="0">
                <a:solidFill>
                  <a:srgbClr val="0B1F3A"/>
                </a:solidFill>
                <a:latin typeface="+mj-lt"/>
              </a:rPr>
              <a:t>Cut the release</a:t>
            </a:r>
          </a:p>
        </p:txBody>
      </p:sp>
      <p:sp>
        <p:nvSpPr>
          <p:cNvPr id="1004" name="TextBox 1003"/>
          <p:cNvSpPr txBox="1"/>
          <p:nvPr/>
        </p:nvSpPr>
        <p:spPr>
          <a:xfrm>
            <a:off x="731520" y="3200400"/>
            <a:ext cx="1554480" cy="2103120"/>
          </a:xfrm>
          <a:prstGeom prst="rect">
            <a:avLst/>
          </a:prstGeom>
          <a:noFill/>
        </p:spPr>
        <p:txBody>
          <a:bodyPr wrap="square" lIns="0" tIns="0" rIns="0" bIns="0" anchor="t">
            <a:spAutoFit/>
          </a:bodyPr>
          <a:lstStyle/>
          <a:p>
            <a:r>
              <a:rPr sz="1200" b="0" i="0">
                <a:solidFill>
                  <a:srgbClr val="0B1F3A"/>
                </a:solidFill>
              </a:rPr>
              <a:t>Lockstep versions, an annotated tag equal to the manifest, and a readiness record. /tdmi:release-cut does this.</a:t>
            </a:r>
          </a:p>
        </p:txBody>
      </p:sp>
      <p:sp>
        <p:nvSpPr>
          <p:cNvPr id="1005" name="Rounded Rectangle 1004"/>
          <p:cNvSpPr/>
          <p:nvPr/>
        </p:nvSpPr>
        <p:spPr>
          <a:xfrm>
            <a:off x="2560320" y="1783080"/>
            <a:ext cx="1874519" cy="3611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2743200" y="1938528"/>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2743200" y="1938528"/>
            <a:ext cx="457200" cy="457200"/>
          </a:xfrm>
          <a:prstGeom prst="rect">
            <a:avLst/>
          </a:prstGeom>
          <a:noFill/>
        </p:spPr>
        <p:txBody>
          <a:bodyPr wrap="square" lIns="0" tIns="0" rIns="0" bIns="0" anchor="ctr">
            <a:spAutoFit/>
          </a:bodyPr>
          <a:lstStyle/>
          <a:p>
            <a:pPr algn="ctr"/>
            <a:r>
              <a:rPr sz="2000" b="1" i="0">
                <a:solidFill>
                  <a:srgbClr val="FFFFFF"/>
                </a:solidFill>
                <a:latin typeface="+mj-lt"/>
              </a:rPr>
              <a:t>2</a:t>
            </a:r>
          </a:p>
        </p:txBody>
      </p:sp>
      <p:sp>
        <p:nvSpPr>
          <p:cNvPr id="1008" name="TextBox 1007"/>
          <p:cNvSpPr txBox="1"/>
          <p:nvPr/>
        </p:nvSpPr>
        <p:spPr>
          <a:xfrm>
            <a:off x="2743200" y="2560320"/>
            <a:ext cx="1554480" cy="594360"/>
          </a:xfrm>
          <a:prstGeom prst="rect">
            <a:avLst/>
          </a:prstGeom>
          <a:noFill/>
        </p:spPr>
        <p:txBody>
          <a:bodyPr wrap="square" lIns="0" tIns="0" rIns="0" bIns="0" anchor="t">
            <a:spAutoFit/>
          </a:bodyPr>
          <a:lstStyle/>
          <a:p>
            <a:r>
              <a:rPr sz="1600" b="1" i="0">
                <a:solidFill>
                  <a:srgbClr val="0B1F3A"/>
                </a:solidFill>
                <a:latin typeface="+mj-lt"/>
              </a:rPr>
              <a:t>Sync the test cases</a:t>
            </a:r>
          </a:p>
        </p:txBody>
      </p:sp>
      <p:sp>
        <p:nvSpPr>
          <p:cNvPr id="1009" name="TextBox 1008"/>
          <p:cNvSpPr txBox="1"/>
          <p:nvPr/>
        </p:nvSpPr>
        <p:spPr>
          <a:xfrm>
            <a:off x="2743200" y="3200400"/>
            <a:ext cx="1554480" cy="2103120"/>
          </a:xfrm>
          <a:prstGeom prst="rect">
            <a:avLst/>
          </a:prstGeom>
          <a:noFill/>
        </p:spPr>
        <p:txBody>
          <a:bodyPr wrap="square" lIns="0" tIns="0" rIns="0" bIns="0" anchor="t">
            <a:spAutoFit/>
          </a:bodyPr>
          <a:lstStyle/>
          <a:p>
            <a:r>
              <a:rPr sz="1200" b="0" i="0">
                <a:solidFill>
                  <a:srgbClr val="0B1F3A"/>
                </a:solidFill>
              </a:rPr>
              <a:t>UAT cases live in git as markdown and sync one way into test management.</a:t>
            </a:r>
          </a:p>
        </p:txBody>
      </p:sp>
      <p:sp>
        <p:nvSpPr>
          <p:cNvPr id="1010" name="Rounded Rectangle 1009"/>
          <p:cNvSpPr/>
          <p:nvPr/>
        </p:nvSpPr>
        <p:spPr>
          <a:xfrm>
            <a:off x="4572000" y="1783080"/>
            <a:ext cx="1874519" cy="3611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Rounded Rectangle 1010"/>
          <p:cNvSpPr/>
          <p:nvPr/>
        </p:nvSpPr>
        <p:spPr>
          <a:xfrm>
            <a:off x="4754880" y="1938528"/>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4754880" y="1938528"/>
            <a:ext cx="457200" cy="457200"/>
          </a:xfrm>
          <a:prstGeom prst="rect">
            <a:avLst/>
          </a:prstGeom>
          <a:noFill/>
        </p:spPr>
        <p:txBody>
          <a:bodyPr wrap="square" lIns="0" tIns="0" rIns="0" bIns="0" anchor="ctr">
            <a:spAutoFit/>
          </a:bodyPr>
          <a:lstStyle/>
          <a:p>
            <a:pPr algn="ctr"/>
            <a:r>
              <a:rPr sz="2000" b="1" i="0">
                <a:solidFill>
                  <a:srgbClr val="FFFFFF"/>
                </a:solidFill>
                <a:latin typeface="+mj-lt"/>
              </a:rPr>
              <a:t>3</a:t>
            </a:r>
          </a:p>
        </p:txBody>
      </p:sp>
      <p:sp>
        <p:nvSpPr>
          <p:cNvPr id="1013" name="TextBox 1012"/>
          <p:cNvSpPr txBox="1"/>
          <p:nvPr/>
        </p:nvSpPr>
        <p:spPr>
          <a:xfrm>
            <a:off x="4754880" y="2560320"/>
            <a:ext cx="1554480" cy="594360"/>
          </a:xfrm>
          <a:prstGeom prst="rect">
            <a:avLst/>
          </a:prstGeom>
          <a:noFill/>
        </p:spPr>
        <p:txBody>
          <a:bodyPr wrap="square" lIns="0" tIns="0" rIns="0" bIns="0" anchor="t">
            <a:spAutoFit/>
          </a:bodyPr>
          <a:lstStyle/>
          <a:p>
            <a:r>
              <a:rPr sz="1600" b="1" i="0">
                <a:solidFill>
                  <a:srgbClr val="0B1F3A"/>
                </a:solidFill>
                <a:latin typeface="+mj-lt"/>
              </a:rPr>
              <a:t>Accept in TEST</a:t>
            </a:r>
          </a:p>
        </p:txBody>
      </p:sp>
      <p:sp>
        <p:nvSpPr>
          <p:cNvPr id="1014" name="TextBox 1013"/>
          <p:cNvSpPr txBox="1"/>
          <p:nvPr/>
        </p:nvSpPr>
        <p:spPr>
          <a:xfrm>
            <a:off x="4754880" y="3200400"/>
            <a:ext cx="1554480" cy="2103120"/>
          </a:xfrm>
          <a:prstGeom prst="rect">
            <a:avLst/>
          </a:prstGeom>
          <a:noFill/>
        </p:spPr>
        <p:txBody>
          <a:bodyPr wrap="square" lIns="0" tIns="0" rIns="0" bIns="0" anchor="t">
            <a:spAutoFit/>
          </a:bodyPr>
          <a:lstStyle/>
          <a:p>
            <a:r>
              <a:rPr sz="1200" b="0" i="0">
                <a:solidFill>
                  <a:srgbClr val="0B1F3A"/>
                </a:solidFill>
              </a:rPr>
              <a:t>Business users run the manual cycle. The process owner signs and the technical owner countersigns.</a:t>
            </a:r>
          </a:p>
        </p:txBody>
      </p:sp>
      <p:sp>
        <p:nvSpPr>
          <p:cNvPr id="1015" name="Rounded Rectangle 1014"/>
          <p:cNvSpPr/>
          <p:nvPr/>
        </p:nvSpPr>
        <p:spPr>
          <a:xfrm>
            <a:off x="6583680" y="1783080"/>
            <a:ext cx="1874519" cy="361188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Rounded Rectangle 1015"/>
          <p:cNvSpPr/>
          <p:nvPr/>
        </p:nvSpPr>
        <p:spPr>
          <a:xfrm>
            <a:off x="6766560" y="1938528"/>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6766560" y="1938528"/>
            <a:ext cx="457200" cy="457200"/>
          </a:xfrm>
          <a:prstGeom prst="rect">
            <a:avLst/>
          </a:prstGeom>
          <a:noFill/>
        </p:spPr>
        <p:txBody>
          <a:bodyPr wrap="square" lIns="0" tIns="0" rIns="0" bIns="0" anchor="ctr">
            <a:spAutoFit/>
          </a:bodyPr>
          <a:lstStyle/>
          <a:p>
            <a:pPr algn="ctr"/>
            <a:r>
              <a:rPr sz="2000" b="1" i="0">
                <a:solidFill>
                  <a:srgbClr val="FFFFFF"/>
                </a:solidFill>
                <a:latin typeface="+mj-lt"/>
              </a:rPr>
              <a:t>4</a:t>
            </a:r>
          </a:p>
        </p:txBody>
      </p:sp>
      <p:sp>
        <p:nvSpPr>
          <p:cNvPr id="1018" name="TextBox 1017"/>
          <p:cNvSpPr txBox="1"/>
          <p:nvPr/>
        </p:nvSpPr>
        <p:spPr>
          <a:xfrm>
            <a:off x="6766560" y="2560320"/>
            <a:ext cx="1554480" cy="594360"/>
          </a:xfrm>
          <a:prstGeom prst="rect">
            <a:avLst/>
          </a:prstGeom>
          <a:noFill/>
        </p:spPr>
        <p:txBody>
          <a:bodyPr wrap="square" lIns="0" tIns="0" rIns="0" bIns="0" anchor="t">
            <a:spAutoFit/>
          </a:bodyPr>
          <a:lstStyle/>
          <a:p>
            <a:r>
              <a:rPr sz="1600" b="1" i="0">
                <a:solidFill>
                  <a:srgbClr val="0B1F3A"/>
                </a:solidFill>
                <a:latin typeface="+mj-lt"/>
              </a:rPr>
              <a:t>Promote to PROD</a:t>
            </a:r>
          </a:p>
        </p:txBody>
      </p:sp>
      <p:sp>
        <p:nvSpPr>
          <p:cNvPr id="1019" name="TextBox 1018"/>
          <p:cNvSpPr txBox="1"/>
          <p:nvPr/>
        </p:nvSpPr>
        <p:spPr>
          <a:xfrm>
            <a:off x="6766560" y="3200400"/>
            <a:ext cx="1554480" cy="2103120"/>
          </a:xfrm>
          <a:prstGeom prst="rect">
            <a:avLst/>
          </a:prstGeom>
          <a:noFill/>
        </p:spPr>
        <p:txBody>
          <a:bodyPr wrap="square" lIns="0" tIns="0" rIns="0" bIns="0" anchor="t">
            <a:spAutoFit/>
          </a:bodyPr>
          <a:lstStyle/>
          <a:p>
            <a:r>
              <a:rPr sz="1200" b="0" i="0">
                <a:solidFill>
                  <a:srgbClr val="0B1F3A"/>
                </a:solidFill>
              </a:rPr>
              <a:t>The same tag, after sign-off, with every event gate closed. Then verify the running app.</a:t>
            </a:r>
          </a:p>
        </p:txBody>
      </p:sp>
      <p:sp>
        <p:nvSpPr>
          <p:cNvPr id="1020" name="Rounded Rectangle 1019"/>
          <p:cNvSpPr/>
          <p:nvPr/>
        </p:nvSpPr>
        <p:spPr>
          <a:xfrm>
            <a:off x="8641080" y="1783080"/>
            <a:ext cx="2999232" cy="361188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Diamond 1020"/>
          <p:cNvSpPr/>
          <p:nvPr/>
        </p:nvSpPr>
        <p:spPr>
          <a:xfrm>
            <a:off x="8869680" y="1965960"/>
            <a:ext cx="329184" cy="329184"/>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TextBox 1021"/>
          <p:cNvSpPr txBox="1"/>
          <p:nvPr/>
        </p:nvSpPr>
        <p:spPr>
          <a:xfrm>
            <a:off x="9281160" y="1938528"/>
            <a:ext cx="2286000" cy="365760"/>
          </a:xfrm>
          <a:prstGeom prst="rect">
            <a:avLst/>
          </a:prstGeom>
          <a:noFill/>
        </p:spPr>
        <p:txBody>
          <a:bodyPr wrap="square" lIns="0" tIns="0" rIns="0" bIns="0" anchor="ctr">
            <a:spAutoFit/>
          </a:bodyPr>
          <a:lstStyle/>
          <a:p>
            <a:r>
              <a:rPr sz="1600" b="1" i="0">
                <a:solidFill>
                  <a:srgbClr val="FFFFFF"/>
                </a:solidFill>
                <a:latin typeface="+mj-lt"/>
              </a:rPr>
              <a:t>Go-live checklist</a:t>
            </a:r>
          </a:p>
        </p:txBody>
      </p:sp>
      <p:sp>
        <p:nvSpPr>
          <p:cNvPr id="1023" name="TextBox 1022"/>
          <p:cNvSpPr txBox="1"/>
          <p:nvPr/>
        </p:nvSpPr>
        <p:spPr>
          <a:xfrm>
            <a:off x="8869680" y="2514600"/>
            <a:ext cx="2606040" cy="2834640"/>
          </a:xfrm>
          <a:prstGeom prst="rect">
            <a:avLst/>
          </a:prstGeom>
          <a:noFill/>
        </p:spPr>
        <p:txBody>
          <a:bodyPr wrap="square" lIns="0" tIns="0" rIns="0" bIns="0">
            <a:spAutoFit/>
          </a:bodyPr>
          <a:lstStyle/>
          <a:p>
            <a:pPr marL="228600" indent="-228600">
              <a:spcAft>
                <a:spcPts val="500"/>
              </a:spcAft>
              <a:buChar char="•"/>
            </a:pPr>
            <a:r>
              <a:rPr sz="1200" b="0">
                <a:solidFill>
                  <a:srgbClr val="FFFFFF"/>
                </a:solidFill>
              </a:rPr>
              <a:t>TEST consent granted before UAT</a:t>
            </a:r>
          </a:p>
          <a:p>
            <a:pPr marL="228600" indent="-228600">
              <a:spcAft>
                <a:spcPts val="500"/>
              </a:spcAft>
              <a:buChar char="•"/>
            </a:pPr>
            <a:r>
              <a:rPr sz="1200" b="0">
                <a:solidFill>
                  <a:srgbClr val="FFFFFF"/>
                </a:solidFill>
              </a:rPr>
              <a:t>Functional sign-off recorded</a:t>
            </a:r>
          </a:p>
          <a:p>
            <a:pPr marL="228600" indent="-228600">
              <a:spcAft>
                <a:spcPts val="500"/>
              </a:spcAft>
              <a:buChar char="•"/>
            </a:pPr>
            <a:r>
              <a:rPr sz="1200" b="0">
                <a:solidFill>
                  <a:srgbClr val="FFFFFF"/>
                </a:solidFill>
              </a:rPr>
              <a:t>ESIS approved</a:t>
            </a:r>
          </a:p>
          <a:p>
            <a:pPr marL="228600" indent="-228600">
              <a:spcAft>
                <a:spcPts val="500"/>
              </a:spcAft>
              <a:buChar char="•"/>
            </a:pPr>
            <a:r>
              <a:rPr sz="1200" b="0">
                <a:solidFill>
                  <a:srgbClr val="FFFFFF"/>
                </a:solidFill>
              </a:rPr>
              <a:t>PROD consent and email relay in place</a:t>
            </a:r>
          </a:p>
          <a:p>
            <a:pPr marL="228600" indent="-228600">
              <a:spcAft>
                <a:spcPts val="500"/>
              </a:spcAft>
              <a:buChar char="•"/>
            </a:pPr>
            <a:r>
              <a:rPr sz="1200" b="0">
                <a:solidFill>
                  <a:srgbClr val="FFFFFF"/>
                </a:solidFill>
              </a:rPr>
              <a:t>Same tag that passed TEST</a:t>
            </a:r>
          </a:p>
          <a:p>
            <a:pPr marL="228600" indent="-228600">
              <a:spcAft>
                <a:spcPts val="500"/>
              </a:spcAft>
              <a:buChar char="•"/>
            </a:pPr>
            <a:r>
              <a:rPr sz="1200" b="0">
                <a:solidFill>
                  <a:srgbClr val="FFFFFF"/>
                </a:solidFill>
              </a:rPr>
              <a:t>Running app verified in PROD</a:t>
            </a:r>
          </a:p>
          <a:p>
            <a:pPr marL="228600" indent="-228600">
              <a:spcAft>
                <a:spcPts val="500"/>
              </a:spcAft>
              <a:buChar char="•"/>
            </a:pPr>
            <a:r>
              <a:rPr sz="1200" b="0">
                <a:solidFill>
                  <a:srgbClr val="FFFFFF"/>
                </a:solidFill>
              </a:rPr>
              <a:t>HCL handoff docs complete</a:t>
            </a:r>
          </a:p>
        </p:txBody>
      </p:sp>
      <p:sp>
        <p:nvSpPr>
          <p:cNvPr id="1024" name="Rounded Rectangle 1023"/>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5" name="TextBox 1024"/>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Verify the running application in production, not the pipeline log.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GATE 4 · UAT</a:t>
            </a:r>
          </a:p>
        </p:txBody>
      </p:sp>
      <p:sp>
        <p:nvSpPr>
          <p:cNvPr id="3" name="Title 2"/>
          <p:cNvSpPr>
            <a:spLocks noGrp="1"/>
          </p:cNvSpPr>
          <p:nvPr>
            <p:ph type="title" idx="101"/>
          </p:nvPr>
        </p:nvSpPr>
        <p:spPr/>
        <p:txBody>
          <a:bodyPr/>
          <a:lstStyle/>
          <a:p>
            <a:pPr algn="l"/>
            <a:r>
              <a:t>Git is the source. Test management is a build output.</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17</a:t>
            </a:fld>
            <a:endParaRPr lang="en-US" b="0"/>
          </a:p>
        </p:txBody>
      </p:sp>
      <p:sp>
        <p:nvSpPr>
          <p:cNvPr id="1000" name="TextBox 999"/>
          <p:cNvSpPr txBox="1"/>
          <p:nvPr/>
        </p:nvSpPr>
        <p:spPr>
          <a:xfrm>
            <a:off x="548640" y="1691640"/>
            <a:ext cx="11064240" cy="457200"/>
          </a:xfrm>
          <a:prstGeom prst="rect">
            <a:avLst/>
          </a:prstGeom>
          <a:noFill/>
        </p:spPr>
        <p:txBody>
          <a:bodyPr wrap="square" lIns="0" tIns="0" rIns="0" bIns="0" anchor="t">
            <a:spAutoFit/>
          </a:bodyPr>
          <a:lstStyle/>
          <a:p>
            <a:r>
              <a:rPr sz="1400" b="0" i="0">
                <a:solidFill>
                  <a:srgbClr val="0B1F3A"/>
                </a:solidFill>
              </a:rPr>
              <a:t>The single most expensive mistake in test management is editing a case directly in the tool.</a:t>
            </a:r>
          </a:p>
        </p:txBody>
      </p:sp>
      <p:sp>
        <p:nvSpPr>
          <p:cNvPr id="1001" name="Rounded Rectangle 1000"/>
          <p:cNvSpPr/>
          <p:nvPr/>
        </p:nvSpPr>
        <p:spPr>
          <a:xfrm>
            <a:off x="548640" y="2331720"/>
            <a:ext cx="3593592" cy="210312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ounded Rectangle 1001"/>
          <p:cNvSpPr/>
          <p:nvPr/>
        </p:nvSpPr>
        <p:spPr>
          <a:xfrm>
            <a:off x="777240" y="2542032"/>
            <a:ext cx="1097280" cy="274320"/>
          </a:xfrm>
          <a:prstGeom prst="roundRect">
            <a:avLst>
              <a:gd name="adj" fmla="val 50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777240" y="2542032"/>
            <a:ext cx="1097280" cy="274320"/>
          </a:xfrm>
          <a:prstGeom prst="rect">
            <a:avLst/>
          </a:prstGeom>
          <a:noFill/>
        </p:spPr>
        <p:txBody>
          <a:bodyPr wrap="square" lIns="0" tIns="0" rIns="0" bIns="0" anchor="ctr">
            <a:spAutoFit/>
          </a:bodyPr>
          <a:lstStyle/>
          <a:p>
            <a:pPr algn="ctr"/>
            <a:r>
              <a:rPr sz="950" b="1" i="0" spc="200">
                <a:solidFill>
                  <a:srgbClr val="FFFFFF"/>
                </a:solidFill>
              </a:rPr>
              <a:t>DO</a:t>
            </a:r>
          </a:p>
        </p:txBody>
      </p:sp>
      <p:sp>
        <p:nvSpPr>
          <p:cNvPr id="1004" name="TextBox 1003"/>
          <p:cNvSpPr txBox="1"/>
          <p:nvPr/>
        </p:nvSpPr>
        <p:spPr>
          <a:xfrm>
            <a:off x="777240" y="3017520"/>
            <a:ext cx="3154680" cy="365760"/>
          </a:xfrm>
          <a:prstGeom prst="rect">
            <a:avLst/>
          </a:prstGeom>
          <a:noFill/>
        </p:spPr>
        <p:txBody>
          <a:bodyPr wrap="square" lIns="0" tIns="0" rIns="0" bIns="0" anchor="t">
            <a:spAutoFit/>
          </a:bodyPr>
          <a:lstStyle/>
          <a:p>
            <a:r>
              <a:rPr sz="1800" b="1" i="0">
                <a:solidFill>
                  <a:srgbClr val="0B1F3A"/>
                </a:solidFill>
                <a:latin typeface="+mj-lt"/>
              </a:rPr>
              <a:t>Edit the markdown</a:t>
            </a:r>
          </a:p>
        </p:txBody>
      </p:sp>
      <p:sp>
        <p:nvSpPr>
          <p:cNvPr id="1005" name="TextBox 1004"/>
          <p:cNvSpPr txBox="1"/>
          <p:nvPr/>
        </p:nvSpPr>
        <p:spPr>
          <a:xfrm>
            <a:off x="777240" y="3474720"/>
            <a:ext cx="3154680" cy="914400"/>
          </a:xfrm>
          <a:prstGeom prst="rect">
            <a:avLst/>
          </a:prstGeom>
          <a:noFill/>
        </p:spPr>
        <p:txBody>
          <a:bodyPr wrap="square" lIns="0" tIns="0" rIns="0" bIns="0" anchor="t">
            <a:spAutoFit/>
          </a:bodyPr>
          <a:lstStyle/>
          <a:p>
            <a:r>
              <a:rPr sz="1300" b="0" i="0">
                <a:solidFill>
                  <a:srgbClr val="0B1F3A"/>
                </a:solidFill>
              </a:rPr>
              <a:t>Test cases and requirements live in git. Change them there, then sync one way.</a:t>
            </a:r>
          </a:p>
        </p:txBody>
      </p:sp>
      <p:sp>
        <p:nvSpPr>
          <p:cNvPr id="1006" name="Rounded Rectangle 1005"/>
          <p:cNvSpPr/>
          <p:nvPr/>
        </p:nvSpPr>
        <p:spPr>
          <a:xfrm>
            <a:off x="4297679" y="2331720"/>
            <a:ext cx="3593592" cy="210312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Rounded Rectangle 1006"/>
          <p:cNvSpPr/>
          <p:nvPr/>
        </p:nvSpPr>
        <p:spPr>
          <a:xfrm>
            <a:off x="4526279" y="2542032"/>
            <a:ext cx="1097280" cy="274320"/>
          </a:xfrm>
          <a:prstGeom prst="roundRect">
            <a:avLst>
              <a:gd name="adj" fmla="val 50000"/>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4526279" y="2542032"/>
            <a:ext cx="1097280" cy="274320"/>
          </a:xfrm>
          <a:prstGeom prst="rect">
            <a:avLst/>
          </a:prstGeom>
          <a:noFill/>
        </p:spPr>
        <p:txBody>
          <a:bodyPr wrap="square" lIns="0" tIns="0" rIns="0" bIns="0" anchor="ctr">
            <a:spAutoFit/>
          </a:bodyPr>
          <a:lstStyle/>
          <a:p>
            <a:pPr algn="ctr"/>
            <a:r>
              <a:rPr sz="950" b="1" i="0" spc="200">
                <a:solidFill>
                  <a:srgbClr val="0B1F3A"/>
                </a:solidFill>
              </a:rPr>
              <a:t>DO NOT</a:t>
            </a:r>
          </a:p>
        </p:txBody>
      </p:sp>
      <p:sp>
        <p:nvSpPr>
          <p:cNvPr id="1009" name="TextBox 1008"/>
          <p:cNvSpPr txBox="1"/>
          <p:nvPr/>
        </p:nvSpPr>
        <p:spPr>
          <a:xfrm>
            <a:off x="4526279" y="3017520"/>
            <a:ext cx="3154680" cy="365760"/>
          </a:xfrm>
          <a:prstGeom prst="rect">
            <a:avLst/>
          </a:prstGeom>
          <a:noFill/>
        </p:spPr>
        <p:txBody>
          <a:bodyPr wrap="square" lIns="0" tIns="0" rIns="0" bIns="0" anchor="t">
            <a:spAutoFit/>
          </a:bodyPr>
          <a:lstStyle/>
          <a:p>
            <a:r>
              <a:rPr sz="1800" b="1" i="0">
                <a:solidFill>
                  <a:srgbClr val="0B1F3A"/>
                </a:solidFill>
                <a:latin typeface="+mj-lt"/>
              </a:rPr>
              <a:t>Edit in the tool</a:t>
            </a:r>
          </a:p>
        </p:txBody>
      </p:sp>
      <p:sp>
        <p:nvSpPr>
          <p:cNvPr id="1010" name="TextBox 1009"/>
          <p:cNvSpPr txBox="1"/>
          <p:nvPr/>
        </p:nvSpPr>
        <p:spPr>
          <a:xfrm>
            <a:off x="4526279" y="3474720"/>
            <a:ext cx="3154680" cy="914400"/>
          </a:xfrm>
          <a:prstGeom prst="rect">
            <a:avLst/>
          </a:prstGeom>
          <a:noFill/>
        </p:spPr>
        <p:txBody>
          <a:bodyPr wrap="square" lIns="0" tIns="0" rIns="0" bIns="0" anchor="t">
            <a:spAutoFit/>
          </a:bodyPr>
          <a:lstStyle/>
          <a:p>
            <a:r>
              <a:rPr sz="1300" b="0" i="0">
                <a:solidFill>
                  <a:srgbClr val="0B1F3A"/>
                </a:solidFill>
              </a:rPr>
              <a:t>An edit in the tool is drift. Copy it back to git before the cycle closes, then sync.</a:t>
            </a:r>
          </a:p>
        </p:txBody>
      </p:sp>
      <p:sp>
        <p:nvSpPr>
          <p:cNvPr id="1011" name="Rounded Rectangle 1010"/>
          <p:cNvSpPr/>
          <p:nvPr/>
        </p:nvSpPr>
        <p:spPr>
          <a:xfrm>
            <a:off x="8046719" y="2331720"/>
            <a:ext cx="3593592" cy="210312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ounded Rectangle 1011"/>
          <p:cNvSpPr/>
          <p:nvPr/>
        </p:nvSpPr>
        <p:spPr>
          <a:xfrm>
            <a:off x="8275319" y="2542032"/>
            <a:ext cx="1097280" cy="274320"/>
          </a:xfrm>
          <a:prstGeom prst="roundRect">
            <a:avLst>
              <a:gd name="adj" fmla="val 50000"/>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TextBox 1012"/>
          <p:cNvSpPr txBox="1"/>
          <p:nvPr/>
        </p:nvSpPr>
        <p:spPr>
          <a:xfrm>
            <a:off x="8275319" y="2542032"/>
            <a:ext cx="1097280" cy="274320"/>
          </a:xfrm>
          <a:prstGeom prst="rect">
            <a:avLst/>
          </a:prstGeom>
          <a:noFill/>
        </p:spPr>
        <p:txBody>
          <a:bodyPr wrap="square" lIns="0" tIns="0" rIns="0" bIns="0" anchor="ctr">
            <a:spAutoFit/>
          </a:bodyPr>
          <a:lstStyle/>
          <a:p>
            <a:pPr algn="ctr"/>
            <a:r>
              <a:rPr sz="950" b="1" i="0" spc="200">
                <a:solidFill>
                  <a:srgbClr val="FFFFFF"/>
                </a:solidFill>
              </a:rPr>
              <a:t>NEVER</a:t>
            </a:r>
          </a:p>
        </p:txBody>
      </p:sp>
      <p:sp>
        <p:nvSpPr>
          <p:cNvPr id="1014" name="TextBox 1013"/>
          <p:cNvSpPr txBox="1"/>
          <p:nvPr/>
        </p:nvSpPr>
        <p:spPr>
          <a:xfrm>
            <a:off x="8275319" y="3017520"/>
            <a:ext cx="3154680" cy="365760"/>
          </a:xfrm>
          <a:prstGeom prst="rect">
            <a:avLst/>
          </a:prstGeom>
          <a:noFill/>
        </p:spPr>
        <p:txBody>
          <a:bodyPr wrap="square" lIns="0" tIns="0" rIns="0" bIns="0" anchor="t">
            <a:spAutoFit/>
          </a:bodyPr>
          <a:lstStyle/>
          <a:p>
            <a:r>
              <a:rPr sz="1800" b="1" i="0">
                <a:solidFill>
                  <a:srgbClr val="0B1F3A"/>
                </a:solidFill>
                <a:latin typeface="+mj-lt"/>
              </a:rPr>
              <a:t>Reformat an identity key</a:t>
            </a:r>
          </a:p>
        </p:txBody>
      </p:sp>
      <p:sp>
        <p:nvSpPr>
          <p:cNvPr id="1015" name="TextBox 1014"/>
          <p:cNvSpPr txBox="1"/>
          <p:nvPr/>
        </p:nvSpPr>
        <p:spPr>
          <a:xfrm>
            <a:off x="8275319" y="3474720"/>
            <a:ext cx="3154680" cy="914400"/>
          </a:xfrm>
          <a:prstGeom prst="rect">
            <a:avLst/>
          </a:prstGeom>
          <a:noFill/>
        </p:spPr>
        <p:txBody>
          <a:bodyPr wrap="square" lIns="0" tIns="0" rIns="0" bIns="0" anchor="t">
            <a:spAutoFit/>
          </a:bodyPr>
          <a:lstStyle/>
          <a:p>
            <a:r>
              <a:rPr sz="1300" b="0" i="0">
                <a:solidFill>
                  <a:srgbClr val="0B1F3A"/>
                </a:solidFill>
              </a:rPr>
              <a:t>Case IDs and name prefixes are permanent after first publish. A reformat duplicates every record.</a:t>
            </a:r>
          </a:p>
        </p:txBody>
      </p:sp>
      <p:sp>
        <p:nvSpPr>
          <p:cNvPr id="1016" name="Rounded Rectangle 1015"/>
          <p:cNvSpPr/>
          <p:nvPr/>
        </p:nvSpPr>
        <p:spPr>
          <a:xfrm>
            <a:off x="548640" y="4617720"/>
            <a:ext cx="11091672" cy="777240"/>
          </a:xfrm>
          <a:prstGeom prst="roundRect">
            <a:avLst>
              <a:gd name="adj" fmla="val 5000"/>
            </a:avLst>
          </a:prstGeom>
          <a:solidFill>
            <a:srgbClr val="FFFFFF"/>
          </a:solidFill>
          <a:ln w="12700">
            <a:solidFill>
              <a:srgbClr val="D5DD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777240" y="4617720"/>
            <a:ext cx="10607040" cy="777240"/>
          </a:xfrm>
          <a:prstGeom prst="rect">
            <a:avLst/>
          </a:prstGeom>
          <a:noFill/>
        </p:spPr>
        <p:txBody>
          <a:bodyPr wrap="square" lIns="0" tIns="0" rIns="0" bIns="0" anchor="ctr">
            <a:spAutoFit/>
          </a:bodyPr>
          <a:lstStyle/>
          <a:p>
            <a:r>
              <a:rPr sz="1300" b="1" i="0">
                <a:solidFill>
                  <a:srgbClr val="0B1F3A"/>
                </a:solidFill>
              </a:rPr>
              <a:t>For tax reviewers: </a:t>
            </a:r>
            <a:r>
              <a:rPr sz="1300" b="0" i="0">
                <a:solidFill>
                  <a:srgbClr val="0B1F3A"/>
                </a:solidFill>
              </a:rPr>
              <a:t>if a test step is wrong, tell the builder rather than fixing it in the tool. The fix belongs in git so the next cycle has it too.</a:t>
            </a:r>
          </a:p>
        </p:txBody>
      </p:sp>
      <p:sp>
        <p:nvSpPr>
          <p:cNvPr id="1018" name="Rounded Rectangle 1017"/>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TextBox 1018"/>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A second sync in a row must report every case unchanged. That is the acceptance test for the sync.</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STEP 12 · HCL HANDOFF</a:t>
            </a:r>
          </a:p>
        </p:txBody>
      </p:sp>
      <p:sp>
        <p:nvSpPr>
          <p:cNvPr id="3" name="Title 2"/>
          <p:cNvSpPr>
            <a:spLocks noGrp="1"/>
          </p:cNvSpPr>
          <p:nvPr>
            <p:ph type="title" idx="101"/>
          </p:nvPr>
        </p:nvSpPr>
        <p:spPr/>
        <p:txBody>
          <a:bodyPr/>
          <a:lstStyle/>
          <a:p>
            <a:pPr algn="l"/>
            <a:r>
              <a:t>The handoff pack is built at every gate, not at the end</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18</a:t>
            </a:fld>
            <a:endParaRPr lang="en-US" b="0"/>
          </a:p>
        </p:txBody>
      </p:sp>
      <p:sp>
        <p:nvSpPr>
          <p:cNvPr id="1000" name="Rounded Rectangle 999"/>
          <p:cNvSpPr/>
          <p:nvPr/>
        </p:nvSpPr>
        <p:spPr>
          <a:xfrm>
            <a:off x="548640" y="1783080"/>
            <a:ext cx="2651760"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Diamond 1000"/>
          <p:cNvSpPr/>
          <p:nvPr/>
        </p:nvSpPr>
        <p:spPr>
          <a:xfrm>
            <a:off x="749808" y="1938528"/>
            <a:ext cx="274320" cy="27432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1115568" y="1965960"/>
            <a:ext cx="2011680" cy="228600"/>
          </a:xfrm>
          <a:prstGeom prst="rect">
            <a:avLst/>
          </a:prstGeom>
          <a:noFill/>
        </p:spPr>
        <p:txBody>
          <a:bodyPr wrap="square" lIns="0" tIns="0" rIns="0" bIns="0" anchor="t">
            <a:spAutoFit/>
          </a:bodyPr>
          <a:lstStyle/>
          <a:p>
            <a:r>
              <a:rPr sz="950" b="1" i="0" spc="200">
                <a:solidFill>
                  <a:srgbClr val="1E49E2"/>
                </a:solidFill>
              </a:rPr>
              <a:t>UPSIZE GATE</a:t>
            </a:r>
          </a:p>
        </p:txBody>
      </p:sp>
      <p:sp>
        <p:nvSpPr>
          <p:cNvPr id="1003" name="TextBox 1002"/>
          <p:cNvSpPr txBox="1"/>
          <p:nvPr/>
        </p:nvSpPr>
        <p:spPr>
          <a:xfrm>
            <a:off x="749808" y="2423160"/>
            <a:ext cx="2286000" cy="640080"/>
          </a:xfrm>
          <a:prstGeom prst="rect">
            <a:avLst/>
          </a:prstGeom>
          <a:noFill/>
        </p:spPr>
        <p:txBody>
          <a:bodyPr wrap="square" lIns="0" tIns="0" rIns="0" bIns="0" anchor="t">
            <a:spAutoFit/>
          </a:bodyPr>
          <a:lstStyle/>
          <a:p>
            <a:r>
              <a:rPr sz="1700" b="1" i="0">
                <a:solidFill>
                  <a:srgbClr val="0B1F3A"/>
                </a:solidFill>
                <a:latin typeface="+mj-lt"/>
              </a:rPr>
              <a:t>Closed model charter</a:t>
            </a:r>
          </a:p>
        </p:txBody>
      </p:sp>
      <p:sp>
        <p:nvSpPr>
          <p:cNvPr id="1004" name="TextBox 1003"/>
          <p:cNvSpPr txBox="1"/>
          <p:nvPr/>
        </p:nvSpPr>
        <p:spPr>
          <a:xfrm>
            <a:off x="749808" y="3108960"/>
            <a:ext cx="2286000" cy="1097280"/>
          </a:xfrm>
          <a:prstGeom prst="rect">
            <a:avLst/>
          </a:prstGeom>
          <a:noFill/>
        </p:spPr>
        <p:txBody>
          <a:bodyPr wrap="square" lIns="0" tIns="0" rIns="0" bIns="0" anchor="t">
            <a:spAutoFit/>
          </a:bodyPr>
          <a:lstStyle/>
          <a:p>
            <a:r>
              <a:rPr sz="1250" b="0" i="0">
                <a:solidFill>
                  <a:srgbClr val="0B1F3A"/>
                </a:solidFill>
              </a:rPr>
              <a:t>Purpose, users and scope, reused in four later documents</a:t>
            </a:r>
          </a:p>
        </p:txBody>
      </p:sp>
      <p:sp>
        <p:nvSpPr>
          <p:cNvPr id="1005" name="Right Arrow 1004"/>
          <p:cNvSpPr/>
          <p:nvPr/>
        </p:nvSpPr>
        <p:spPr>
          <a:xfrm>
            <a:off x="3218688" y="29260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3364992" y="1783080"/>
            <a:ext cx="2651760"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Diamond 1006"/>
          <p:cNvSpPr/>
          <p:nvPr/>
        </p:nvSpPr>
        <p:spPr>
          <a:xfrm>
            <a:off x="3566160" y="1938528"/>
            <a:ext cx="274320" cy="27432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3931920" y="1965960"/>
            <a:ext cx="2011680" cy="228600"/>
          </a:xfrm>
          <a:prstGeom prst="rect">
            <a:avLst/>
          </a:prstGeom>
          <a:noFill/>
        </p:spPr>
        <p:txBody>
          <a:bodyPr wrap="square" lIns="0" tIns="0" rIns="0" bIns="0" anchor="t">
            <a:spAutoFit/>
          </a:bodyPr>
          <a:lstStyle/>
          <a:p>
            <a:r>
              <a:rPr sz="950" b="1" i="0" spc="200">
                <a:solidFill>
                  <a:srgbClr val="1E49E2"/>
                </a:solidFill>
              </a:rPr>
              <a:t>DEV GATE</a:t>
            </a:r>
          </a:p>
        </p:txBody>
      </p:sp>
      <p:sp>
        <p:nvSpPr>
          <p:cNvPr id="1009" name="TextBox 1008"/>
          <p:cNvSpPr txBox="1"/>
          <p:nvPr/>
        </p:nvSpPr>
        <p:spPr>
          <a:xfrm>
            <a:off x="3566160" y="2423160"/>
            <a:ext cx="2286000" cy="640080"/>
          </a:xfrm>
          <a:prstGeom prst="rect">
            <a:avLst/>
          </a:prstGeom>
          <a:noFill/>
        </p:spPr>
        <p:txBody>
          <a:bodyPr wrap="square" lIns="0" tIns="0" rIns="0" bIns="0" anchor="t">
            <a:spAutoFit/>
          </a:bodyPr>
          <a:lstStyle/>
          <a:p>
            <a:r>
              <a:rPr sz="1700" b="1" i="0">
                <a:solidFill>
                  <a:srgbClr val="0B1F3A"/>
                </a:solidFill>
                <a:latin typeface="+mj-lt"/>
              </a:rPr>
              <a:t>Running app evidence</a:t>
            </a:r>
          </a:p>
        </p:txBody>
      </p:sp>
      <p:sp>
        <p:nvSpPr>
          <p:cNvPr id="1010" name="TextBox 1009"/>
          <p:cNvSpPr txBox="1"/>
          <p:nvPr/>
        </p:nvSpPr>
        <p:spPr>
          <a:xfrm>
            <a:off x="3566160" y="3108960"/>
            <a:ext cx="2286000" cy="1097280"/>
          </a:xfrm>
          <a:prstGeom prst="rect">
            <a:avLst/>
          </a:prstGeom>
          <a:noFill/>
        </p:spPr>
        <p:txBody>
          <a:bodyPr wrap="square" lIns="0" tIns="0" rIns="0" bIns="0" anchor="t">
            <a:spAutoFit/>
          </a:bodyPr>
          <a:lstStyle/>
          <a:p>
            <a:r>
              <a:rPr sz="1250" b="0" i="0">
                <a:solidFill>
                  <a:srgbClr val="0B1F3A"/>
                </a:solidFill>
              </a:rPr>
              <a:t>The response, the image digest and the reported version</a:t>
            </a:r>
          </a:p>
        </p:txBody>
      </p:sp>
      <p:sp>
        <p:nvSpPr>
          <p:cNvPr id="1011" name="Right Arrow 1010"/>
          <p:cNvSpPr/>
          <p:nvPr/>
        </p:nvSpPr>
        <p:spPr>
          <a:xfrm>
            <a:off x="6035040" y="29260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Rounded Rectangle 1011"/>
          <p:cNvSpPr/>
          <p:nvPr/>
        </p:nvSpPr>
        <p:spPr>
          <a:xfrm>
            <a:off x="6181344" y="1783080"/>
            <a:ext cx="2651760"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3" name="Diamond 1012"/>
          <p:cNvSpPr/>
          <p:nvPr/>
        </p:nvSpPr>
        <p:spPr>
          <a:xfrm>
            <a:off x="6382512" y="1938528"/>
            <a:ext cx="274320" cy="27432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TextBox 1013"/>
          <p:cNvSpPr txBox="1"/>
          <p:nvPr/>
        </p:nvSpPr>
        <p:spPr>
          <a:xfrm>
            <a:off x="6748272" y="1965960"/>
            <a:ext cx="2011680" cy="228600"/>
          </a:xfrm>
          <a:prstGeom prst="rect">
            <a:avLst/>
          </a:prstGeom>
          <a:noFill/>
        </p:spPr>
        <p:txBody>
          <a:bodyPr wrap="square" lIns="0" tIns="0" rIns="0" bIns="0" anchor="t">
            <a:spAutoFit/>
          </a:bodyPr>
          <a:lstStyle/>
          <a:p>
            <a:r>
              <a:rPr sz="950" b="1" i="0" spc="200">
                <a:solidFill>
                  <a:srgbClr val="1E49E2"/>
                </a:solidFill>
              </a:rPr>
              <a:t>SCOPE GATE</a:t>
            </a:r>
          </a:p>
        </p:txBody>
      </p:sp>
      <p:sp>
        <p:nvSpPr>
          <p:cNvPr id="1015" name="TextBox 1014"/>
          <p:cNvSpPr txBox="1"/>
          <p:nvPr/>
        </p:nvSpPr>
        <p:spPr>
          <a:xfrm>
            <a:off x="6382512" y="2423160"/>
            <a:ext cx="2286000" cy="640080"/>
          </a:xfrm>
          <a:prstGeom prst="rect">
            <a:avLst/>
          </a:prstGeom>
          <a:noFill/>
        </p:spPr>
        <p:txBody>
          <a:bodyPr wrap="square" lIns="0" tIns="0" rIns="0" bIns="0" anchor="t">
            <a:spAutoFit/>
          </a:bodyPr>
          <a:lstStyle/>
          <a:p>
            <a:r>
              <a:rPr sz="1700" b="1" i="0">
                <a:solidFill>
                  <a:srgbClr val="0B1F3A"/>
                </a:solidFill>
                <a:latin typeface="+mj-lt"/>
              </a:rPr>
              <a:t>Rails and test results</a:t>
            </a:r>
          </a:p>
        </p:txBody>
      </p:sp>
      <p:sp>
        <p:nvSpPr>
          <p:cNvPr id="1016" name="TextBox 1015"/>
          <p:cNvSpPr txBox="1"/>
          <p:nvPr/>
        </p:nvSpPr>
        <p:spPr>
          <a:xfrm>
            <a:off x="6382512" y="3108960"/>
            <a:ext cx="2286000" cy="1097280"/>
          </a:xfrm>
          <a:prstGeom prst="rect">
            <a:avLst/>
          </a:prstGeom>
          <a:noFill/>
        </p:spPr>
        <p:txBody>
          <a:bodyPr wrap="square" lIns="0" tIns="0" rIns="0" bIns="0" anchor="t">
            <a:spAutoFit/>
          </a:bodyPr>
          <a:lstStyle/>
          <a:p>
            <a:r>
              <a:rPr sz="1250" b="0" i="0">
                <a:solidFill>
                  <a:srgbClr val="0B1F3A"/>
                </a:solidFill>
              </a:rPr>
              <a:t>Scan output, test cases in git, the confirmed full flow</a:t>
            </a:r>
          </a:p>
        </p:txBody>
      </p:sp>
      <p:sp>
        <p:nvSpPr>
          <p:cNvPr id="1017" name="Right Arrow 1016"/>
          <p:cNvSpPr/>
          <p:nvPr/>
        </p:nvSpPr>
        <p:spPr>
          <a:xfrm>
            <a:off x="8851392" y="2926080"/>
            <a:ext cx="128016" cy="274320"/>
          </a:xfrm>
          <a:prstGeom prst="rightArrow">
            <a:avLst/>
          </a:prstGeom>
          <a:solidFill>
            <a:srgbClr val="8D99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Rounded Rectangle 1017"/>
          <p:cNvSpPr/>
          <p:nvPr/>
        </p:nvSpPr>
        <p:spPr>
          <a:xfrm>
            <a:off x="8997696" y="1783080"/>
            <a:ext cx="2651760" cy="251460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Diamond 1018"/>
          <p:cNvSpPr/>
          <p:nvPr/>
        </p:nvSpPr>
        <p:spPr>
          <a:xfrm>
            <a:off x="9198864" y="1938528"/>
            <a:ext cx="274320" cy="274320"/>
          </a:xfrm>
          <a:prstGeom prst="diamond">
            <a:avLst/>
          </a:prstGeom>
          <a:solidFill>
            <a:srgbClr val="F2A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0" name="TextBox 1019"/>
          <p:cNvSpPr txBox="1"/>
          <p:nvPr/>
        </p:nvSpPr>
        <p:spPr>
          <a:xfrm>
            <a:off x="9564624" y="1965960"/>
            <a:ext cx="2011680" cy="228600"/>
          </a:xfrm>
          <a:prstGeom prst="rect">
            <a:avLst/>
          </a:prstGeom>
          <a:noFill/>
        </p:spPr>
        <p:txBody>
          <a:bodyPr wrap="square" lIns="0" tIns="0" rIns="0" bIns="0" anchor="t">
            <a:spAutoFit/>
          </a:bodyPr>
          <a:lstStyle/>
          <a:p>
            <a:r>
              <a:rPr sz="950" b="1" i="0" spc="200">
                <a:solidFill>
                  <a:srgbClr val="1E49E2"/>
                </a:solidFill>
              </a:rPr>
              <a:t>GO-LIVE GATE</a:t>
            </a:r>
          </a:p>
        </p:txBody>
      </p:sp>
      <p:sp>
        <p:nvSpPr>
          <p:cNvPr id="1021" name="TextBox 1020"/>
          <p:cNvSpPr txBox="1"/>
          <p:nvPr/>
        </p:nvSpPr>
        <p:spPr>
          <a:xfrm>
            <a:off x="9198864" y="2423160"/>
            <a:ext cx="2286000" cy="640080"/>
          </a:xfrm>
          <a:prstGeom prst="rect">
            <a:avLst/>
          </a:prstGeom>
          <a:noFill/>
        </p:spPr>
        <p:txBody>
          <a:bodyPr wrap="square" lIns="0" tIns="0" rIns="0" bIns="0" anchor="t">
            <a:spAutoFit/>
          </a:bodyPr>
          <a:lstStyle/>
          <a:p>
            <a:r>
              <a:rPr sz="1700" b="1" i="0">
                <a:solidFill>
                  <a:srgbClr val="0B1F3A"/>
                </a:solidFill>
                <a:latin typeface="+mj-lt"/>
              </a:rPr>
              <a:t>Release and approvals</a:t>
            </a:r>
          </a:p>
        </p:txBody>
      </p:sp>
      <p:sp>
        <p:nvSpPr>
          <p:cNvPr id="1022" name="TextBox 1021"/>
          <p:cNvSpPr txBox="1"/>
          <p:nvPr/>
        </p:nvSpPr>
        <p:spPr>
          <a:xfrm>
            <a:off x="9198864" y="3108960"/>
            <a:ext cx="2286000" cy="1097280"/>
          </a:xfrm>
          <a:prstGeom prst="rect">
            <a:avLst/>
          </a:prstGeom>
          <a:noFill/>
        </p:spPr>
        <p:txBody>
          <a:bodyPr wrap="square" lIns="0" tIns="0" rIns="0" bIns="0" anchor="t">
            <a:spAutoFit/>
          </a:bodyPr>
          <a:lstStyle/>
          <a:p>
            <a:r>
              <a:rPr sz="1250" b="0" i="0">
                <a:solidFill>
                  <a:srgbClr val="0B1F3A"/>
                </a:solidFill>
              </a:rPr>
              <a:t>Readiness record, UAT sign-off, ESIS approval and user documentation</a:t>
            </a:r>
          </a:p>
        </p:txBody>
      </p:sp>
      <p:sp>
        <p:nvSpPr>
          <p:cNvPr id="1023" name="Rounded Rectangle 1022"/>
          <p:cNvSpPr/>
          <p:nvPr/>
        </p:nvSpPr>
        <p:spPr>
          <a:xfrm>
            <a:off x="548640" y="4462272"/>
            <a:ext cx="11091672" cy="96012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4" name="TextBox 1023"/>
          <p:cNvSpPr txBox="1"/>
          <p:nvPr/>
        </p:nvSpPr>
        <p:spPr>
          <a:xfrm>
            <a:off x="777240" y="4462272"/>
            <a:ext cx="2194560" cy="960120"/>
          </a:xfrm>
          <a:prstGeom prst="rect">
            <a:avLst/>
          </a:prstGeom>
          <a:noFill/>
        </p:spPr>
        <p:txBody>
          <a:bodyPr wrap="square" lIns="0" tIns="0" rIns="0" bIns="0" anchor="ctr">
            <a:spAutoFit/>
          </a:bodyPr>
          <a:lstStyle/>
          <a:p>
            <a:r>
              <a:rPr sz="1800" b="1" i="0">
                <a:solidFill>
                  <a:srgbClr val="F2A900"/>
                </a:solidFill>
                <a:latin typeface="+mj-lt"/>
              </a:rPr>
              <a:t>HCL handoff</a:t>
            </a:r>
          </a:p>
        </p:txBody>
      </p:sp>
      <p:sp>
        <p:nvSpPr>
          <p:cNvPr id="1025" name="TextBox 1024"/>
          <p:cNvSpPr txBox="1"/>
          <p:nvPr/>
        </p:nvSpPr>
        <p:spPr>
          <a:xfrm>
            <a:off x="2926080" y="4462272"/>
            <a:ext cx="8503920" cy="960120"/>
          </a:xfrm>
          <a:prstGeom prst="rect">
            <a:avLst/>
          </a:prstGeom>
          <a:noFill/>
        </p:spPr>
        <p:txBody>
          <a:bodyPr wrap="square" lIns="0" tIns="0" rIns="0" bIns="0" anchor="ctr">
            <a:spAutoFit/>
          </a:bodyPr>
          <a:lstStyle/>
          <a:p>
            <a:r>
              <a:rPr sz="1350" b="0" i="0">
                <a:solidFill>
                  <a:srgbClr val="FFFFFF"/>
                </a:solidFill>
              </a:rPr>
              <a:t>Support takes over an application with its evidence already in place. The final pack is assembled from what each gate produced. Nothing is written from memory.</a:t>
            </a:r>
          </a:p>
        </p:txBody>
      </p:sp>
      <p:sp>
        <p:nvSpPr>
          <p:cNvPr id="1026" name="Rounded Rectangle 1025"/>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TextBox 1026"/>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Evidence is produced along the way, not written afterwards. It exists before anyone asks for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MODULE 06 · THE TOOLKIT</a:t>
            </a:r>
          </a:p>
        </p:txBody>
      </p:sp>
      <p:sp>
        <p:nvSpPr>
          <p:cNvPr id="3" name="Title 2"/>
          <p:cNvSpPr>
            <a:spLocks noGrp="1"/>
          </p:cNvSpPr>
          <p:nvPr>
            <p:ph type="title" idx="101"/>
          </p:nvPr>
        </p:nvSpPr>
        <p:spPr/>
        <p:txBody>
          <a:bodyPr/>
          <a:lstStyle/>
          <a:p>
            <a:pPr algn="l"/>
            <a:r>
              <a:t>One rule set in every repo, and six skills to apply it</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19</a:t>
            </a:fld>
            <a:endParaRPr lang="en-US" b="0"/>
          </a:p>
        </p:txBody>
      </p:sp>
      <p:sp>
        <p:nvSpPr>
          <p:cNvPr id="1000" name="Rounded Rectangle 999"/>
          <p:cNvSpPr/>
          <p:nvPr/>
        </p:nvSpPr>
        <p:spPr>
          <a:xfrm>
            <a:off x="548640" y="1783080"/>
            <a:ext cx="4206240" cy="3611880"/>
          </a:xfrm>
          <a:prstGeom prst="roundRect">
            <a:avLst>
              <a:gd name="adj" fmla="val 5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TextBox 1000"/>
          <p:cNvSpPr txBox="1"/>
          <p:nvPr/>
        </p:nvSpPr>
        <p:spPr>
          <a:xfrm>
            <a:off x="777240" y="1938528"/>
            <a:ext cx="3657600" cy="228600"/>
          </a:xfrm>
          <a:prstGeom prst="rect">
            <a:avLst/>
          </a:prstGeom>
          <a:noFill/>
        </p:spPr>
        <p:txBody>
          <a:bodyPr wrap="square" lIns="0" tIns="0" rIns="0" bIns="0" anchor="t">
            <a:spAutoFit/>
          </a:bodyPr>
          <a:lstStyle/>
          <a:p>
            <a:r>
              <a:rPr sz="1000" b="1" i="0" spc="200">
                <a:solidFill>
                  <a:srgbClr val="00A3A1"/>
                </a:solidFill>
              </a:rPr>
              <a:t>THE CANON</a:t>
            </a:r>
          </a:p>
        </p:txBody>
      </p:sp>
      <p:sp>
        <p:nvSpPr>
          <p:cNvPr id="1002" name="TextBox 1001"/>
          <p:cNvSpPr txBox="1"/>
          <p:nvPr/>
        </p:nvSpPr>
        <p:spPr>
          <a:xfrm>
            <a:off x="777240" y="2240280"/>
            <a:ext cx="3749039" cy="822960"/>
          </a:xfrm>
          <a:prstGeom prst="rect">
            <a:avLst/>
          </a:prstGeom>
          <a:noFill/>
        </p:spPr>
        <p:txBody>
          <a:bodyPr wrap="square" lIns="0" tIns="0" rIns="0" bIns="0" anchor="t">
            <a:spAutoFit/>
          </a:bodyPr>
          <a:lstStyle/>
          <a:p>
            <a:r>
              <a:rPr sz="1600" b="1" i="0">
                <a:solidFill>
                  <a:srgbClr val="FFFFFF"/>
                </a:solidFill>
                <a:latin typeface="+mj-lt"/>
              </a:rPr>
              <a:t>A CLAUDE.md index plus rules files, at the root of every repository.</a:t>
            </a:r>
          </a:p>
        </p:txBody>
      </p:sp>
      <p:sp>
        <p:nvSpPr>
          <p:cNvPr id="1003" name="TextBox 1002"/>
          <p:cNvSpPr txBox="1"/>
          <p:nvPr/>
        </p:nvSpPr>
        <p:spPr>
          <a:xfrm>
            <a:off x="777240" y="3154680"/>
            <a:ext cx="3749039" cy="2194560"/>
          </a:xfrm>
          <a:prstGeom prst="rect">
            <a:avLst/>
          </a:prstGeom>
          <a:noFill/>
        </p:spPr>
        <p:txBody>
          <a:bodyPr wrap="square" lIns="0" tIns="0" rIns="0" bIns="0">
            <a:spAutoFit/>
          </a:bodyPr>
          <a:lstStyle/>
          <a:p>
            <a:pPr marL="228600" indent="-228600">
              <a:spcAft>
                <a:spcPts val="700"/>
              </a:spcAft>
              <a:buChar char="•"/>
            </a:pPr>
            <a:r>
              <a:rPr sz="1250" b="1">
                <a:solidFill>
                  <a:srgbClr val="FFFFFF"/>
                </a:solidFill>
              </a:rPr>
              <a:t>Loaded automatically </a:t>
            </a:r>
            <a:r>
              <a:rPr sz="1250" b="0">
                <a:solidFill>
                  <a:srgbClr val="FFFFFF"/>
                </a:solidFill>
              </a:rPr>
              <a:t>by every Claude Code session</a:t>
            </a:r>
          </a:p>
          <a:p>
            <a:pPr marL="228600" indent="-228600">
              <a:spcAft>
                <a:spcPts val="700"/>
              </a:spcAft>
              <a:buChar char="•"/>
            </a:pPr>
            <a:r>
              <a:rPr sz="1250" b="1">
                <a:solidFill>
                  <a:srgbClr val="FFFFFF"/>
                </a:solidFill>
              </a:rPr>
              <a:t>Versioned as a whole. </a:t>
            </a:r>
            <a:r>
              <a:rPr sz="1250" b="0">
                <a:solidFill>
                  <a:srgbClr val="FFFFFF"/>
                </a:solidFill>
              </a:rPr>
              <a:t>One version, in the index's first line</a:t>
            </a:r>
          </a:p>
          <a:p>
            <a:pPr marL="228600" indent="-228600">
              <a:spcAft>
                <a:spcPts val="700"/>
              </a:spcAft>
              <a:buChar char="•"/>
            </a:pPr>
            <a:r>
              <a:rPr sz="1250" b="1">
                <a:solidFill>
                  <a:srgbClr val="FFFFFF"/>
                </a:solidFill>
              </a:rPr>
              <a:t>Never edit it locally. </a:t>
            </a:r>
            <a:r>
              <a:rPr sz="1250" b="0">
                <a:solidFill>
                  <a:srgbClr val="FFFFFF"/>
                </a:solidFill>
              </a:rPr>
              <a:t>Flag a conflict to the owner</a:t>
            </a:r>
          </a:p>
          <a:p>
            <a:pPr marL="228600" indent="-228600">
              <a:spcAft>
                <a:spcPts val="700"/>
              </a:spcAft>
              <a:buChar char="•"/>
            </a:pPr>
            <a:r>
              <a:rPr sz="1250" b="1">
                <a:solidFill>
                  <a:srgbClr val="FFFFFF"/>
                </a:solidFill>
              </a:rPr>
              <a:t>If your repo disagrees, </a:t>
            </a:r>
            <a:r>
              <a:rPr sz="1250" b="0">
                <a:solidFill>
                  <a:srgbClr val="FFFFFF"/>
                </a:solidFill>
              </a:rPr>
              <a:t>your repo is out of date. Sync it</a:t>
            </a:r>
          </a:p>
        </p:txBody>
      </p:sp>
      <p:graphicFrame>
        <p:nvGraphicFramePr>
          <p:cNvPr id="1004" name="Table 1003"/>
          <p:cNvGraphicFramePr>
            <a:graphicFrameLocks noGrp="1"/>
          </p:cNvGraphicFramePr>
          <p:nvPr/>
        </p:nvGraphicFramePr>
        <p:xfrm>
          <a:off x="4983480" y="1783080"/>
          <a:ext cx="6656832" cy="3584448"/>
        </p:xfrm>
        <a:graphic>
          <a:graphicData uri="http://schemas.openxmlformats.org/drawingml/2006/table">
            <a:tbl>
              <a:tblPr>
                <a:tableStyleId>{2D5ABB26-0587-4C30-8999-92F81FD0307C}</a:tableStyleId>
              </a:tblPr>
              <a:tblGrid>
                <a:gridCol w="2148840">
                  <a:extLst>
                    <a:ext uri="{9D8B030D-6E8A-4147-A177-3AD203B41FA5}">
                      <a16:colId xmlns:a16="http://schemas.microsoft.com/office/drawing/2014/main" val="20000"/>
                    </a:ext>
                  </a:extLst>
                </a:gridCol>
                <a:gridCol w="4507992">
                  <a:extLst>
                    <a:ext uri="{9D8B030D-6E8A-4147-A177-3AD203B41FA5}">
                      <a16:colId xmlns:a16="http://schemas.microsoft.com/office/drawing/2014/main" val="20001"/>
                    </a:ext>
                  </a:extLst>
                </a:gridCol>
              </a:tblGrid>
              <a:tr h="512064">
                <a:tc>
                  <a:txBody>
                    <a:bodyPr/>
                    <a:lstStyle/>
                    <a:p>
                      <a:r>
                        <a:rPr sz="1100" b="1" spc="100">
                          <a:solidFill>
                            <a:srgbClr val="FFFFFF"/>
                          </a:solidFill>
                        </a:rPr>
                        <a:t>SKILL</a:t>
                      </a:r>
                    </a:p>
                  </a:txBody>
                  <a:tcPr marL="109728" marR="109728" anchor="ctr">
                    <a:solidFill>
                      <a:srgbClr val="0B1F3A"/>
                    </a:solidFill>
                  </a:tcPr>
                </a:tc>
                <a:tc>
                  <a:txBody>
                    <a:bodyPr/>
                    <a:lstStyle/>
                    <a:p>
                      <a:r>
                        <a:rPr sz="1100" b="1" spc="100">
                          <a:solidFill>
                            <a:srgbClr val="FFFFFF"/>
                          </a:solidFill>
                        </a:rPr>
                        <a:t>WHEN YOU REACH FOR IT</a:t>
                      </a:r>
                    </a:p>
                  </a:txBody>
                  <a:tcPr marL="109728" marR="109728" anchor="ctr">
                    <a:solidFill>
                      <a:srgbClr val="0B1F3A"/>
                    </a:solidFill>
                  </a:tcPr>
                </a:tc>
                <a:extLst>
                  <a:ext uri="{0D108BD9-81ED-4DB2-BD59-A6C34878D82A}">
                    <a16:rowId xmlns:a16="http://schemas.microsoft.com/office/drawing/2014/main" val="10000"/>
                  </a:ext>
                </a:extLst>
              </a:tr>
              <a:tr h="512064">
                <a:tc>
                  <a:txBody>
                    <a:bodyPr/>
                    <a:lstStyle/>
                    <a:p>
                      <a:r>
                        <a:rPr sz="1200" b="1">
                          <a:solidFill>
                            <a:srgbClr val="0B1F3A"/>
                          </a:solidFill>
                        </a:rPr>
                        <a:t>/tdmi:upsize</a:t>
                      </a:r>
                    </a:p>
                  </a:txBody>
                  <a:tcPr marL="109728" marR="109728" anchor="ctr">
                    <a:solidFill>
                      <a:srgbClr val="EEF3FB"/>
                    </a:solidFill>
                  </a:tcPr>
                </a:tc>
                <a:tc>
                  <a:txBody>
                    <a:bodyPr/>
                    <a:lstStyle/>
                    <a:p>
                      <a:r>
                        <a:rPr sz="1200" b="0">
                          <a:solidFill>
                            <a:srgbClr val="0B1F3A"/>
                          </a:solidFill>
                        </a:rPr>
                        <a:t>A model was accepted and the real build is starting</a:t>
                      </a:r>
                    </a:p>
                  </a:txBody>
                  <a:tcPr marL="109728" marR="109728" anchor="ctr">
                    <a:solidFill>
                      <a:srgbClr val="EEF3FB"/>
                    </a:solidFill>
                  </a:tcPr>
                </a:tc>
                <a:extLst>
                  <a:ext uri="{0D108BD9-81ED-4DB2-BD59-A6C34878D82A}">
                    <a16:rowId xmlns:a16="http://schemas.microsoft.com/office/drawing/2014/main" val="10001"/>
                  </a:ext>
                </a:extLst>
              </a:tr>
              <a:tr h="512064">
                <a:tc>
                  <a:txBody>
                    <a:bodyPr/>
                    <a:lstStyle/>
                    <a:p>
                      <a:r>
                        <a:rPr sz="1200" b="1">
                          <a:solidFill>
                            <a:srgbClr val="0B1F3A"/>
                          </a:solidFill>
                        </a:rPr>
                        <a:t>/tdmi:repo-setup</a:t>
                      </a:r>
                    </a:p>
                  </a:txBody>
                  <a:tcPr marL="109728" marR="109728" anchor="ctr">
                    <a:solidFill>
                      <a:srgbClr val="FFFFFF"/>
                    </a:solidFill>
                  </a:tcPr>
                </a:tc>
                <a:tc>
                  <a:txBody>
                    <a:bodyPr/>
                    <a:lstStyle/>
                    <a:p>
                      <a:r>
                        <a:rPr sz="1200" b="0">
                          <a:solidFill>
                            <a:srgbClr val="0B1F3A"/>
                          </a:solidFill>
                        </a:rPr>
                        <a:t>A repo, new or existing, needs bringing up to the standard</a:t>
                      </a:r>
                    </a:p>
                  </a:txBody>
                  <a:tcPr marL="109728" marR="109728" anchor="ctr">
                    <a:solidFill>
                      <a:srgbClr val="FFFFFF"/>
                    </a:solidFill>
                  </a:tcPr>
                </a:tc>
                <a:extLst>
                  <a:ext uri="{0D108BD9-81ED-4DB2-BD59-A6C34878D82A}">
                    <a16:rowId xmlns:a16="http://schemas.microsoft.com/office/drawing/2014/main" val="10002"/>
                  </a:ext>
                </a:extLst>
              </a:tr>
              <a:tr h="512064">
                <a:tc>
                  <a:txBody>
                    <a:bodyPr/>
                    <a:lstStyle/>
                    <a:p>
                      <a:r>
                        <a:rPr sz="1200" b="1">
                          <a:solidFill>
                            <a:srgbClr val="0B1F3A"/>
                          </a:solidFill>
                        </a:rPr>
                        <a:t>/tdmi:canon-sync</a:t>
                      </a:r>
                    </a:p>
                  </a:txBody>
                  <a:tcPr marL="109728" marR="109728" anchor="ctr">
                    <a:solidFill>
                      <a:srgbClr val="EEF3FB"/>
                    </a:solidFill>
                  </a:tcPr>
                </a:tc>
                <a:tc>
                  <a:txBody>
                    <a:bodyPr/>
                    <a:lstStyle/>
                    <a:p>
                      <a:r>
                        <a:rPr sz="1200" b="0">
                          <a:solidFill>
                            <a:srgbClr val="0B1F3A"/>
                          </a:solidFill>
                        </a:rPr>
                        <a:t>The rules set is missing or out of date</a:t>
                      </a:r>
                    </a:p>
                  </a:txBody>
                  <a:tcPr marL="109728" marR="109728" anchor="ctr">
                    <a:solidFill>
                      <a:srgbClr val="EEF3FB"/>
                    </a:solidFill>
                  </a:tcPr>
                </a:tc>
                <a:extLst>
                  <a:ext uri="{0D108BD9-81ED-4DB2-BD59-A6C34878D82A}">
                    <a16:rowId xmlns:a16="http://schemas.microsoft.com/office/drawing/2014/main" val="10003"/>
                  </a:ext>
                </a:extLst>
              </a:tr>
              <a:tr h="512064">
                <a:tc>
                  <a:txBody>
                    <a:bodyPr/>
                    <a:lstStyle/>
                    <a:p>
                      <a:r>
                        <a:rPr sz="1200" b="1">
                          <a:solidFill>
                            <a:srgbClr val="0B1F3A"/>
                          </a:solidFill>
                        </a:rPr>
                        <a:t>/tdmi:sql-onboard</a:t>
                      </a:r>
                    </a:p>
                  </a:txBody>
                  <a:tcPr marL="109728" marR="109728" anchor="ctr">
                    <a:solidFill>
                      <a:srgbClr val="FFFFFF"/>
                    </a:solidFill>
                  </a:tcPr>
                </a:tc>
                <a:tc>
                  <a:txBody>
                    <a:bodyPr/>
                    <a:lstStyle/>
                    <a:p>
                      <a:r>
                        <a:rPr sz="1200" b="0">
                          <a:solidFill>
                            <a:srgbClr val="0B1F3A"/>
                          </a:solidFill>
                        </a:rPr>
                        <a:t>The app needs a database on a shared server</a:t>
                      </a:r>
                    </a:p>
                  </a:txBody>
                  <a:tcPr marL="109728" marR="109728" anchor="ctr">
                    <a:solidFill>
                      <a:srgbClr val="FFFFFF"/>
                    </a:solidFill>
                  </a:tcPr>
                </a:tc>
                <a:extLst>
                  <a:ext uri="{0D108BD9-81ED-4DB2-BD59-A6C34878D82A}">
                    <a16:rowId xmlns:a16="http://schemas.microsoft.com/office/drawing/2014/main" val="10004"/>
                  </a:ext>
                </a:extLst>
              </a:tr>
              <a:tr h="512064">
                <a:tc>
                  <a:txBody>
                    <a:bodyPr/>
                    <a:lstStyle/>
                    <a:p>
                      <a:r>
                        <a:rPr sz="1200" b="1">
                          <a:solidFill>
                            <a:srgbClr val="0B1F3A"/>
                          </a:solidFill>
                        </a:rPr>
                        <a:t>/tdmi:release-cut</a:t>
                      </a:r>
                    </a:p>
                  </a:txBody>
                  <a:tcPr marL="109728" marR="109728" anchor="ctr">
                    <a:solidFill>
                      <a:srgbClr val="EEF3FB"/>
                    </a:solidFill>
                  </a:tcPr>
                </a:tc>
                <a:tc>
                  <a:txBody>
                    <a:bodyPr/>
                    <a:lstStyle/>
                    <a:p>
                      <a:r>
                        <a:rPr sz="1200" b="0">
                          <a:solidFill>
                            <a:srgbClr val="0B1F3A"/>
                          </a:solidFill>
                        </a:rPr>
                        <a:t>You are cutting a release across a repo pair</a:t>
                      </a:r>
                    </a:p>
                  </a:txBody>
                  <a:tcPr marL="109728" marR="109728" anchor="ctr">
                    <a:solidFill>
                      <a:srgbClr val="EEF3FB"/>
                    </a:solidFill>
                  </a:tcPr>
                </a:tc>
                <a:extLst>
                  <a:ext uri="{0D108BD9-81ED-4DB2-BD59-A6C34878D82A}">
                    <a16:rowId xmlns:a16="http://schemas.microsoft.com/office/drawing/2014/main" val="10005"/>
                  </a:ext>
                </a:extLst>
              </a:tr>
              <a:tr h="512064">
                <a:tc>
                  <a:txBody>
                    <a:bodyPr/>
                    <a:lstStyle/>
                    <a:p>
                      <a:r>
                        <a:rPr sz="1200" b="1">
                          <a:solidFill>
                            <a:srgbClr val="0B1F3A"/>
                          </a:solidFill>
                        </a:rPr>
                        <a:t>/tdmi:qtest-adopt</a:t>
                      </a:r>
                    </a:p>
                  </a:txBody>
                  <a:tcPr marL="109728" marR="109728" anchor="ctr">
                    <a:solidFill>
                      <a:srgbClr val="FFFFFF"/>
                    </a:solidFill>
                  </a:tcPr>
                </a:tc>
                <a:tc>
                  <a:txBody>
                    <a:bodyPr/>
                    <a:lstStyle/>
                    <a:p>
                      <a:r>
                        <a:rPr sz="1200" b="0">
                          <a:solidFill>
                            <a:srgbClr val="0B1F3A"/>
                          </a:solidFill>
                        </a:rPr>
                        <a:t>The repo is adopting test management for the first time</a:t>
                      </a:r>
                    </a:p>
                  </a:txBody>
                  <a:tcPr marL="109728" marR="109728" anchor="ctr">
                    <a:solidFill>
                      <a:srgbClr val="FFFFFF"/>
                    </a:solidFill>
                  </a:tcPr>
                </a:tc>
                <a:extLst>
                  <a:ext uri="{0D108BD9-81ED-4DB2-BD59-A6C34878D82A}">
                    <a16:rowId xmlns:a16="http://schemas.microsoft.com/office/drawing/2014/main" val="10006"/>
                  </a:ext>
                </a:extLst>
              </a:tr>
            </a:tbl>
          </a:graphicData>
        </a:graphic>
      </p:graphicFrame>
      <p:sp>
        <p:nvSpPr>
          <p:cNvPr id="1005" name="Rounded Rectangle 1004"/>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TextBox 1005"/>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Install the plugin once from the marketplace, then keep it updated. Stale copies are the problem it exists to fix.</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MODULE 06 · THE TOOLKIT</a:t>
            </a:r>
          </a:p>
        </p:txBody>
      </p:sp>
      <p:sp>
        <p:nvSpPr>
          <p:cNvPr id="3" name="Title 2"/>
          <p:cNvSpPr>
            <a:spLocks noGrp="1"/>
          </p:cNvSpPr>
          <p:nvPr>
            <p:ph type="title" idx="101"/>
          </p:nvPr>
        </p:nvSpPr>
        <p:spPr/>
        <p:txBody>
          <a:bodyPr/>
          <a:lstStyle/>
          <a:p>
            <a:pPr algn="l"/>
            <a:r>
              <a:t>The guard checks every command before it runs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20</a:t>
            </a:fld>
            <a:endParaRPr lang="en-US" b="0"/>
          </a:p>
        </p:txBody>
      </p:sp>
      <p:graphicFrame>
        <p:nvGraphicFramePr>
          <p:cNvPr id="1000" name="Table 999"/>
          <p:cNvGraphicFramePr>
            <a:graphicFrameLocks noGrp="1"/>
          </p:cNvGraphicFramePr>
          <p:nvPr/>
        </p:nvGraphicFramePr>
        <p:xfrm>
          <a:off x="548640" y="1783080"/>
          <a:ext cx="6766560" cy="3520440"/>
        </p:xfrm>
        <a:graphic>
          <a:graphicData uri="http://schemas.openxmlformats.org/drawingml/2006/table">
            <a:tbl>
              <a:tblPr>
                <a:tableStyleId>{2D5ABB26-0587-4C30-8999-92F81FD0307C}</a:tableStyleId>
              </a:tblPr>
              <a:tblGrid>
                <a:gridCol w="45720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502920">
                <a:tc>
                  <a:txBody>
                    <a:bodyPr/>
                    <a:lstStyle/>
                    <a:p>
                      <a:r>
                        <a:rPr sz="1100" b="1" spc="100">
                          <a:solidFill>
                            <a:srgbClr val="FFFFFF"/>
                          </a:solidFill>
                        </a:rPr>
                        <a:t>RULE</a:t>
                      </a:r>
                    </a:p>
                  </a:txBody>
                  <a:tcPr marL="109728" marR="109728" anchor="ctr">
                    <a:solidFill>
                      <a:srgbClr val="0B1F3A"/>
                    </a:solidFill>
                  </a:tcPr>
                </a:tc>
                <a:tc>
                  <a:txBody>
                    <a:bodyPr/>
                    <a:lstStyle/>
                    <a:p>
                      <a:r>
                        <a:rPr sz="1100" b="1" spc="100">
                          <a:solidFill>
                            <a:srgbClr val="FFFFFF"/>
                          </a:solidFill>
                        </a:rPr>
                        <a:t>ACTION</a:t>
                      </a:r>
                    </a:p>
                  </a:txBody>
                  <a:tcPr marL="109728" marR="109728" anchor="ctr">
                    <a:solidFill>
                      <a:srgbClr val="0B1F3A"/>
                    </a:solidFill>
                  </a:tcPr>
                </a:tc>
                <a:extLst>
                  <a:ext uri="{0D108BD9-81ED-4DB2-BD59-A6C34878D82A}">
                    <a16:rowId xmlns:a16="http://schemas.microsoft.com/office/drawing/2014/main" val="10000"/>
                  </a:ext>
                </a:extLst>
              </a:tr>
              <a:tr h="502920">
                <a:tc>
                  <a:txBody>
                    <a:bodyPr/>
                    <a:lstStyle/>
                    <a:p>
                      <a:r>
                        <a:rPr sz="1250" b="1">
                          <a:solidFill>
                            <a:srgbClr val="0B1F3A"/>
                          </a:solidFill>
                        </a:rPr>
                        <a:t>A command carrying a PROD identifier</a:t>
                      </a:r>
                    </a:p>
                  </a:txBody>
                  <a:tcPr marL="109728" marR="109728" anchor="ctr">
                    <a:solidFill>
                      <a:srgbClr val="EEF3FB"/>
                    </a:solidFill>
                  </a:tcPr>
                </a:tc>
                <a:tc>
                  <a:txBody>
                    <a:bodyPr/>
                    <a:lstStyle/>
                    <a:p>
                      <a:r>
                        <a:rPr sz="1250" b="0">
                          <a:solidFill>
                            <a:srgbClr val="0B1F3A"/>
                          </a:solidFill>
                        </a:rPr>
                        <a:t>Ask</a:t>
                      </a:r>
                    </a:p>
                  </a:txBody>
                  <a:tcPr marL="109728" marR="109728" anchor="ctr">
                    <a:solidFill>
                      <a:srgbClr val="EEF3FB"/>
                    </a:solidFill>
                  </a:tcPr>
                </a:tc>
                <a:extLst>
                  <a:ext uri="{0D108BD9-81ED-4DB2-BD59-A6C34878D82A}">
                    <a16:rowId xmlns:a16="http://schemas.microsoft.com/office/drawing/2014/main" val="10001"/>
                  </a:ext>
                </a:extLst>
              </a:tr>
              <a:tr h="502920">
                <a:tc>
                  <a:txBody>
                    <a:bodyPr/>
                    <a:lstStyle/>
                    <a:p>
                      <a:r>
                        <a:rPr sz="1250" b="1">
                          <a:solidFill>
                            <a:srgbClr val="0B1F3A"/>
                          </a:solidFill>
                        </a:rPr>
                        <a:t>A command that could make a resource reachable anonymously</a:t>
                      </a:r>
                    </a:p>
                  </a:txBody>
                  <a:tcPr marL="109728" marR="109728" anchor="ctr">
                    <a:solidFill>
                      <a:srgbClr val="FFFFFF"/>
                    </a:solidFill>
                  </a:tcPr>
                </a:tc>
                <a:tc>
                  <a:txBody>
                    <a:bodyPr/>
                    <a:lstStyle/>
                    <a:p>
                      <a:r>
                        <a:rPr sz="1250" b="0">
                          <a:solidFill>
                            <a:srgbClr val="0B1F3A"/>
                          </a:solidFill>
                        </a:rPr>
                        <a:t>Ask</a:t>
                      </a:r>
                    </a:p>
                  </a:txBody>
                  <a:tcPr marL="109728" marR="109728" anchor="ctr">
                    <a:solidFill>
                      <a:srgbClr val="FFFFFF"/>
                    </a:solidFill>
                  </a:tcPr>
                </a:tc>
                <a:extLst>
                  <a:ext uri="{0D108BD9-81ED-4DB2-BD59-A6C34878D82A}">
                    <a16:rowId xmlns:a16="http://schemas.microsoft.com/office/drawing/2014/main" val="10002"/>
                  </a:ext>
                </a:extLst>
              </a:tr>
              <a:tr h="502920">
                <a:tc>
                  <a:txBody>
                    <a:bodyPr/>
                    <a:lstStyle/>
                    <a:p>
                      <a:r>
                        <a:rPr sz="1250" b="1">
                          <a:solidFill>
                            <a:srgbClr val="0B1F3A"/>
                          </a:solidFill>
                        </a:rPr>
                        <a:t>An offensive security-testing tool</a:t>
                      </a:r>
                    </a:p>
                  </a:txBody>
                  <a:tcPr marL="109728" marR="109728" anchor="ctr">
                    <a:solidFill>
                      <a:srgbClr val="EEF3FB"/>
                    </a:solidFill>
                  </a:tcPr>
                </a:tc>
                <a:tc>
                  <a:txBody>
                    <a:bodyPr/>
                    <a:lstStyle/>
                    <a:p>
                      <a:r>
                        <a:rPr sz="1250" b="0">
                          <a:solidFill>
                            <a:srgbClr val="0B1F3A"/>
                          </a:solidFill>
                        </a:rPr>
                        <a:t>Block</a:t>
                      </a:r>
                    </a:p>
                  </a:txBody>
                  <a:tcPr marL="109728" marR="109728" anchor="ctr">
                    <a:solidFill>
                      <a:srgbClr val="EEF3FB"/>
                    </a:solidFill>
                  </a:tcPr>
                </a:tc>
                <a:extLst>
                  <a:ext uri="{0D108BD9-81ED-4DB2-BD59-A6C34878D82A}">
                    <a16:rowId xmlns:a16="http://schemas.microsoft.com/office/drawing/2014/main" val="10003"/>
                  </a:ext>
                </a:extLst>
              </a:tr>
              <a:tr h="502920">
                <a:tc>
                  <a:txBody>
                    <a:bodyPr/>
                    <a:lstStyle/>
                    <a:p>
                      <a:r>
                        <a:rPr sz="1250" b="1">
                          <a:solidFill>
                            <a:srgbClr val="0B1F3A"/>
                          </a:solidFill>
                        </a:rPr>
                        <a:t>pip install</a:t>
                      </a:r>
                    </a:p>
                  </a:txBody>
                  <a:tcPr marL="109728" marR="109728" anchor="ctr">
                    <a:solidFill>
                      <a:srgbClr val="FFFFFF"/>
                    </a:solidFill>
                  </a:tcPr>
                </a:tc>
                <a:tc>
                  <a:txBody>
                    <a:bodyPr/>
                    <a:lstStyle/>
                    <a:p>
                      <a:r>
                        <a:rPr sz="1250" b="0">
                          <a:solidFill>
                            <a:srgbClr val="0B1F3A"/>
                          </a:solidFill>
                        </a:rPr>
                        <a:t>Block, and suggest uv</a:t>
                      </a:r>
                    </a:p>
                  </a:txBody>
                  <a:tcPr marL="109728" marR="109728" anchor="ctr">
                    <a:solidFill>
                      <a:srgbClr val="FFFFFF"/>
                    </a:solidFill>
                  </a:tcPr>
                </a:tc>
                <a:extLst>
                  <a:ext uri="{0D108BD9-81ED-4DB2-BD59-A6C34878D82A}">
                    <a16:rowId xmlns:a16="http://schemas.microsoft.com/office/drawing/2014/main" val="10004"/>
                  </a:ext>
                </a:extLst>
              </a:tr>
              <a:tr h="502920">
                <a:tc>
                  <a:txBody>
                    <a:bodyPr/>
                    <a:lstStyle/>
                    <a:p>
                      <a:r>
                        <a:rPr sz="1250" b="1">
                          <a:solidFill>
                            <a:srgbClr val="0B1F3A"/>
                          </a:solidFill>
                        </a:rPr>
                        <a:t>A write to the org rules set outside the canon repository</a:t>
                      </a:r>
                    </a:p>
                  </a:txBody>
                  <a:tcPr marL="109728" marR="109728" anchor="ctr">
                    <a:solidFill>
                      <a:srgbClr val="EEF3FB"/>
                    </a:solidFill>
                  </a:tcPr>
                </a:tc>
                <a:tc>
                  <a:txBody>
                    <a:bodyPr/>
                    <a:lstStyle/>
                    <a:p>
                      <a:r>
                        <a:rPr sz="1250" b="0">
                          <a:solidFill>
                            <a:srgbClr val="0B1F3A"/>
                          </a:solidFill>
                        </a:rPr>
                        <a:t>Block</a:t>
                      </a:r>
                    </a:p>
                  </a:txBody>
                  <a:tcPr marL="109728" marR="109728" anchor="ctr">
                    <a:solidFill>
                      <a:srgbClr val="EEF3FB"/>
                    </a:solidFill>
                  </a:tcPr>
                </a:tc>
                <a:extLst>
                  <a:ext uri="{0D108BD9-81ED-4DB2-BD59-A6C34878D82A}">
                    <a16:rowId xmlns:a16="http://schemas.microsoft.com/office/drawing/2014/main" val="10005"/>
                  </a:ext>
                </a:extLst>
              </a:tr>
              <a:tr h="502920">
                <a:tc>
                  <a:txBody>
                    <a:bodyPr/>
                    <a:lstStyle/>
                    <a:p>
                      <a:r>
                        <a:rPr sz="1250" b="1">
                          <a:solidFill>
                            <a:srgbClr val="0B1F3A"/>
                          </a:solidFill>
                        </a:rPr>
                        <a:t>A force push to a protected branch</a:t>
                      </a:r>
                    </a:p>
                  </a:txBody>
                  <a:tcPr marL="109728" marR="109728" anchor="ctr">
                    <a:solidFill>
                      <a:srgbClr val="FFFFFF"/>
                    </a:solidFill>
                  </a:tcPr>
                </a:tc>
                <a:tc>
                  <a:txBody>
                    <a:bodyPr/>
                    <a:lstStyle/>
                    <a:p>
                      <a:r>
                        <a:rPr sz="1250" b="0">
                          <a:solidFill>
                            <a:srgbClr val="0B1F3A"/>
                          </a:solidFill>
                        </a:rPr>
                        <a:t>Block</a:t>
                      </a:r>
                    </a:p>
                  </a:txBody>
                  <a:tcPr marL="109728" marR="109728" anchor="ctr">
                    <a:solidFill>
                      <a:srgbClr val="FFFFFF"/>
                    </a:solidFill>
                  </a:tcPr>
                </a:tc>
                <a:extLst>
                  <a:ext uri="{0D108BD9-81ED-4DB2-BD59-A6C34878D82A}">
                    <a16:rowId xmlns:a16="http://schemas.microsoft.com/office/drawing/2014/main" val="10006"/>
                  </a:ext>
                </a:extLst>
              </a:tr>
            </a:tbl>
          </a:graphicData>
        </a:graphic>
      </p:graphicFrame>
      <p:sp>
        <p:nvSpPr>
          <p:cNvPr id="1001" name="Rounded Rectangle 1000"/>
          <p:cNvSpPr/>
          <p:nvPr/>
        </p:nvSpPr>
        <p:spPr>
          <a:xfrm>
            <a:off x="7543800" y="1783080"/>
            <a:ext cx="4096512" cy="16916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772400" y="1920240"/>
            <a:ext cx="3657600" cy="228600"/>
          </a:xfrm>
          <a:prstGeom prst="rect">
            <a:avLst/>
          </a:prstGeom>
          <a:noFill/>
        </p:spPr>
        <p:txBody>
          <a:bodyPr wrap="square" lIns="0" tIns="0" rIns="0" bIns="0" anchor="t">
            <a:spAutoFit/>
          </a:bodyPr>
          <a:lstStyle/>
          <a:p>
            <a:r>
              <a:rPr sz="1000" b="1" i="0" spc="200">
                <a:solidFill>
                  <a:srgbClr val="00A3A1"/>
                </a:solidFill>
              </a:rPr>
              <a:t>WHAT IT IS</a:t>
            </a:r>
          </a:p>
        </p:txBody>
      </p:sp>
      <p:sp>
        <p:nvSpPr>
          <p:cNvPr id="1003" name="TextBox 1002"/>
          <p:cNvSpPr txBox="1"/>
          <p:nvPr/>
        </p:nvSpPr>
        <p:spPr>
          <a:xfrm>
            <a:off x="7772400" y="2194560"/>
            <a:ext cx="3657600" cy="1234440"/>
          </a:xfrm>
          <a:prstGeom prst="rect">
            <a:avLst/>
          </a:prstGeom>
          <a:noFill/>
        </p:spPr>
        <p:txBody>
          <a:bodyPr wrap="square" lIns="0" tIns="0" rIns="0" bIns="0" anchor="t">
            <a:spAutoFit/>
          </a:bodyPr>
          <a:lstStyle/>
          <a:p>
            <a:r>
              <a:rPr sz="1300" b="0" i="0">
                <a:solidFill>
                  <a:srgbClr val="0B1F3A"/>
                </a:solidFill>
              </a:rPr>
              <a:t>A guard against mistakes. It catches the tired 6pm command that would have touched production.</a:t>
            </a:r>
          </a:p>
        </p:txBody>
      </p:sp>
      <p:sp>
        <p:nvSpPr>
          <p:cNvPr id="1004" name="Rounded Rectangle 1003"/>
          <p:cNvSpPr/>
          <p:nvPr/>
        </p:nvSpPr>
        <p:spPr>
          <a:xfrm>
            <a:off x="7543800" y="3611880"/>
            <a:ext cx="4096512" cy="1783080"/>
          </a:xfrm>
          <a:prstGeom prst="roundRect">
            <a:avLst>
              <a:gd name="adj" fmla="val 5000"/>
            </a:avLst>
          </a:prstGeom>
          <a:solidFill>
            <a:srgbClr val="FDF3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5" name="TextBox 1004"/>
          <p:cNvSpPr txBox="1"/>
          <p:nvPr/>
        </p:nvSpPr>
        <p:spPr>
          <a:xfrm>
            <a:off x="7772400" y="3749039"/>
            <a:ext cx="3657600" cy="228600"/>
          </a:xfrm>
          <a:prstGeom prst="rect">
            <a:avLst/>
          </a:prstGeom>
          <a:noFill/>
        </p:spPr>
        <p:txBody>
          <a:bodyPr wrap="square" lIns="0" tIns="0" rIns="0" bIns="0" anchor="t">
            <a:spAutoFit/>
          </a:bodyPr>
          <a:lstStyle/>
          <a:p>
            <a:r>
              <a:rPr sz="1000" b="1" i="0" spc="200">
                <a:solidFill>
                  <a:srgbClr val="B5651D"/>
                </a:solidFill>
              </a:rPr>
              <a:t>WHAT IT IS NOT</a:t>
            </a:r>
          </a:p>
        </p:txBody>
      </p:sp>
      <p:sp>
        <p:nvSpPr>
          <p:cNvPr id="1006" name="TextBox 1005"/>
          <p:cNvSpPr txBox="1"/>
          <p:nvPr/>
        </p:nvSpPr>
        <p:spPr>
          <a:xfrm>
            <a:off x="7772400" y="4023360"/>
            <a:ext cx="3657600" cy="1325880"/>
          </a:xfrm>
          <a:prstGeom prst="rect">
            <a:avLst/>
          </a:prstGeom>
          <a:noFill/>
        </p:spPr>
        <p:txBody>
          <a:bodyPr wrap="square" lIns="0" tIns="0" rIns="0" bIns="0" anchor="t">
            <a:spAutoFit/>
          </a:bodyPr>
          <a:lstStyle/>
          <a:p>
            <a:r>
              <a:rPr sz="1300" b="0" i="0">
                <a:solidFill>
                  <a:srgbClr val="0B1F3A"/>
                </a:solidFill>
              </a:rPr>
              <a:t>A security boundary. The plugin can be disabled, and a hook reads a command string; it cannot prove intent. Platform security stays with Enterprise Technology.</a:t>
            </a:r>
          </a:p>
        </p:txBody>
      </p:sp>
      <p:sp>
        <p:nvSpPr>
          <p:cNvPr id="1007" name="Rounded Rectangle 1006"/>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8" name="TextBox 1007"/>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A control trusted beyond its reach is worse than none, because everyone stops looking.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EXERCISE · MODULE 06</a:t>
            </a:r>
          </a:p>
        </p:txBody>
      </p:sp>
      <p:sp>
        <p:nvSpPr>
          <p:cNvPr id="3" name="Title 2"/>
          <p:cNvSpPr>
            <a:spLocks noGrp="1"/>
          </p:cNvSpPr>
          <p:nvPr>
            <p:ph type="title" idx="101"/>
          </p:nvPr>
        </p:nvSpPr>
        <p:spPr/>
        <p:txBody>
          <a:bodyPr/>
          <a:lstStyle/>
          <a:p>
            <a:pPr algn="l"/>
            <a:r>
              <a:t>Exercise: run the gate review</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21</a:t>
            </a:fld>
            <a:endParaRPr lang="en-US" b="0"/>
          </a:p>
        </p:txBody>
      </p:sp>
      <p:sp>
        <p:nvSpPr>
          <p:cNvPr id="1000" name="TextBox 999"/>
          <p:cNvSpPr txBox="1"/>
          <p:nvPr/>
        </p:nvSpPr>
        <p:spPr>
          <a:xfrm>
            <a:off x="548640" y="1645920"/>
            <a:ext cx="11064240" cy="365760"/>
          </a:xfrm>
          <a:prstGeom prst="rect">
            <a:avLst/>
          </a:prstGeom>
          <a:noFill/>
        </p:spPr>
        <p:txBody>
          <a:bodyPr wrap="square" lIns="0" tIns="0" rIns="0" bIns="0" anchor="t">
            <a:spAutoFit/>
          </a:bodyPr>
          <a:lstStyle/>
          <a:p>
            <a:r>
              <a:rPr sz="1300" b="1" i="0">
                <a:solidFill>
                  <a:srgbClr val="0B1F3A"/>
                </a:solidFill>
              </a:rPr>
              <a:t>HANDS-ON · 25 MIN    </a:t>
            </a:r>
            <a:r>
              <a:rPr sz="1300" b="0" i="0">
                <a:solidFill>
                  <a:srgbClr val="0B1F3A"/>
                </a:solidFill>
              </a:rPr>
              <a:t>The Day Two lab app is heading to production. For each situation, name the gate or rail, and decide: pass, hold or send back. Who acts next?</a:t>
            </a:r>
          </a:p>
        </p:txBody>
      </p:sp>
      <p:sp>
        <p:nvSpPr>
          <p:cNvPr id="1001" name="Rounded Rectangle 1000"/>
          <p:cNvSpPr/>
          <p:nvPr/>
        </p:nvSpPr>
        <p:spPr>
          <a:xfrm>
            <a:off x="548640" y="214884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Rounded Rectangle 1001"/>
          <p:cNvSpPr/>
          <p:nvPr/>
        </p:nvSpPr>
        <p:spPr>
          <a:xfrm>
            <a:off x="749808" y="233172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3" name="TextBox 1002"/>
          <p:cNvSpPr txBox="1"/>
          <p:nvPr/>
        </p:nvSpPr>
        <p:spPr>
          <a:xfrm>
            <a:off x="749808" y="2331720"/>
            <a:ext cx="457200" cy="457200"/>
          </a:xfrm>
          <a:prstGeom prst="rect">
            <a:avLst/>
          </a:prstGeom>
          <a:noFill/>
        </p:spPr>
        <p:txBody>
          <a:bodyPr wrap="square" lIns="0" tIns="0" rIns="0" bIns="0" anchor="ctr">
            <a:spAutoFit/>
          </a:bodyPr>
          <a:lstStyle/>
          <a:p>
            <a:pPr algn="ctr"/>
            <a:r>
              <a:rPr sz="2000" b="1" i="0">
                <a:solidFill>
                  <a:srgbClr val="FFFFFF"/>
                </a:solidFill>
                <a:latin typeface="+mj-lt"/>
              </a:rPr>
              <a:t>1</a:t>
            </a:r>
          </a:p>
        </p:txBody>
      </p:sp>
      <p:sp>
        <p:nvSpPr>
          <p:cNvPr id="1004" name="TextBox 1003"/>
          <p:cNvSpPr txBox="1"/>
          <p:nvPr/>
        </p:nvSpPr>
        <p:spPr>
          <a:xfrm>
            <a:off x="1371600" y="2313432"/>
            <a:ext cx="2606040" cy="1280160"/>
          </a:xfrm>
          <a:prstGeom prst="rect">
            <a:avLst/>
          </a:prstGeom>
          <a:noFill/>
        </p:spPr>
        <p:txBody>
          <a:bodyPr wrap="square" lIns="0" tIns="0" rIns="0" bIns="0" anchor="t">
            <a:spAutoFit/>
          </a:bodyPr>
          <a:lstStyle/>
          <a:p>
            <a:r>
              <a:rPr sz="1250" b="0" i="0">
                <a:solidFill>
                  <a:srgbClr val="0B1F3A"/>
                </a:solidFill>
              </a:rPr>
              <a:t>The model charter still lists one open question: should unmapped ad units block the run or only warn?</a:t>
            </a:r>
          </a:p>
        </p:txBody>
      </p:sp>
      <p:sp>
        <p:nvSpPr>
          <p:cNvPr id="1005" name="Rounded Rectangle 1004"/>
          <p:cNvSpPr/>
          <p:nvPr/>
        </p:nvSpPr>
        <p:spPr>
          <a:xfrm>
            <a:off x="4297679" y="214884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4498847" y="233172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4498847" y="2331720"/>
            <a:ext cx="457200" cy="457200"/>
          </a:xfrm>
          <a:prstGeom prst="rect">
            <a:avLst/>
          </a:prstGeom>
          <a:noFill/>
        </p:spPr>
        <p:txBody>
          <a:bodyPr wrap="square" lIns="0" tIns="0" rIns="0" bIns="0" anchor="ctr">
            <a:spAutoFit/>
          </a:bodyPr>
          <a:lstStyle/>
          <a:p>
            <a:pPr algn="ctr"/>
            <a:r>
              <a:rPr sz="2000" b="1" i="0">
                <a:solidFill>
                  <a:srgbClr val="FFFFFF"/>
                </a:solidFill>
                <a:latin typeface="+mj-lt"/>
              </a:rPr>
              <a:t>2</a:t>
            </a:r>
          </a:p>
        </p:txBody>
      </p:sp>
      <p:sp>
        <p:nvSpPr>
          <p:cNvPr id="1008" name="TextBox 1007"/>
          <p:cNvSpPr txBox="1"/>
          <p:nvPr/>
        </p:nvSpPr>
        <p:spPr>
          <a:xfrm>
            <a:off x="5120640" y="2313432"/>
            <a:ext cx="2606040" cy="1280160"/>
          </a:xfrm>
          <a:prstGeom prst="rect">
            <a:avLst/>
          </a:prstGeom>
          <a:noFill/>
        </p:spPr>
        <p:txBody>
          <a:bodyPr wrap="square" lIns="0" tIns="0" rIns="0" bIns="0" anchor="t">
            <a:spAutoFit/>
          </a:bodyPr>
          <a:lstStyle/>
          <a:p>
            <a:r>
              <a:rPr sz="1250" b="0" i="0">
                <a:solidFill>
                  <a:srgbClr val="0B1F3A"/>
                </a:solidFill>
              </a:rPr>
              <a:t>The DEV pipeline is green, but the app URL returns a default placeholder page.</a:t>
            </a:r>
          </a:p>
        </p:txBody>
      </p:sp>
      <p:sp>
        <p:nvSpPr>
          <p:cNvPr id="1009" name="Rounded Rectangle 1008"/>
          <p:cNvSpPr/>
          <p:nvPr/>
        </p:nvSpPr>
        <p:spPr>
          <a:xfrm>
            <a:off x="8046719" y="214884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0" name="Rounded Rectangle 1009"/>
          <p:cNvSpPr/>
          <p:nvPr/>
        </p:nvSpPr>
        <p:spPr>
          <a:xfrm>
            <a:off x="8247888" y="233172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TextBox 1010"/>
          <p:cNvSpPr txBox="1"/>
          <p:nvPr/>
        </p:nvSpPr>
        <p:spPr>
          <a:xfrm>
            <a:off x="8247888" y="2331720"/>
            <a:ext cx="457200" cy="457200"/>
          </a:xfrm>
          <a:prstGeom prst="rect">
            <a:avLst/>
          </a:prstGeom>
          <a:noFill/>
        </p:spPr>
        <p:txBody>
          <a:bodyPr wrap="square" lIns="0" tIns="0" rIns="0" bIns="0" anchor="ctr">
            <a:spAutoFit/>
          </a:bodyPr>
          <a:lstStyle/>
          <a:p>
            <a:pPr algn="ctr"/>
            <a:r>
              <a:rPr sz="2000" b="1" i="0">
                <a:solidFill>
                  <a:srgbClr val="FFFFFF"/>
                </a:solidFill>
                <a:latin typeface="+mj-lt"/>
              </a:rPr>
              <a:t>3</a:t>
            </a:r>
          </a:p>
        </p:txBody>
      </p:sp>
      <p:sp>
        <p:nvSpPr>
          <p:cNvPr id="1012" name="TextBox 1011"/>
          <p:cNvSpPr txBox="1"/>
          <p:nvPr/>
        </p:nvSpPr>
        <p:spPr>
          <a:xfrm>
            <a:off x="8869680" y="2313432"/>
            <a:ext cx="2606040" cy="1280160"/>
          </a:xfrm>
          <a:prstGeom prst="rect">
            <a:avLst/>
          </a:prstGeom>
          <a:noFill/>
        </p:spPr>
        <p:txBody>
          <a:bodyPr wrap="square" lIns="0" tIns="0" rIns="0" bIns="0" anchor="t">
            <a:spAutoFit/>
          </a:bodyPr>
          <a:lstStyle/>
          <a:p>
            <a:r>
              <a:rPr sz="1250" b="0" i="0">
                <a:solidFill>
                  <a:srgbClr val="0B1F3A"/>
                </a:solidFill>
              </a:rPr>
              <a:t>It is week six and UAT starts Monday. Nobody has raised ESIS or requested TEST consent.</a:t>
            </a:r>
          </a:p>
        </p:txBody>
      </p:sp>
      <p:sp>
        <p:nvSpPr>
          <p:cNvPr id="1013" name="Rounded Rectangle 1012"/>
          <p:cNvSpPr/>
          <p:nvPr/>
        </p:nvSpPr>
        <p:spPr>
          <a:xfrm>
            <a:off x="548640" y="379476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4" name="Rounded Rectangle 1013"/>
          <p:cNvSpPr/>
          <p:nvPr/>
        </p:nvSpPr>
        <p:spPr>
          <a:xfrm>
            <a:off x="749808" y="397764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5" name="TextBox 1014"/>
          <p:cNvSpPr txBox="1"/>
          <p:nvPr/>
        </p:nvSpPr>
        <p:spPr>
          <a:xfrm>
            <a:off x="749808" y="3977640"/>
            <a:ext cx="457200" cy="457200"/>
          </a:xfrm>
          <a:prstGeom prst="rect">
            <a:avLst/>
          </a:prstGeom>
          <a:noFill/>
        </p:spPr>
        <p:txBody>
          <a:bodyPr wrap="square" lIns="0" tIns="0" rIns="0" bIns="0" anchor="ctr">
            <a:spAutoFit/>
          </a:bodyPr>
          <a:lstStyle/>
          <a:p>
            <a:pPr algn="ctr"/>
            <a:r>
              <a:rPr sz="2000" b="1" i="0">
                <a:solidFill>
                  <a:srgbClr val="FFFFFF"/>
                </a:solidFill>
                <a:latin typeface="+mj-lt"/>
              </a:rPr>
              <a:t>4</a:t>
            </a:r>
          </a:p>
        </p:txBody>
      </p:sp>
      <p:sp>
        <p:nvSpPr>
          <p:cNvPr id="1016" name="TextBox 1015"/>
          <p:cNvSpPr txBox="1"/>
          <p:nvPr/>
        </p:nvSpPr>
        <p:spPr>
          <a:xfrm>
            <a:off x="1371600" y="3959352"/>
            <a:ext cx="2606040" cy="1280160"/>
          </a:xfrm>
          <a:prstGeom prst="rect">
            <a:avLst/>
          </a:prstGeom>
          <a:noFill/>
        </p:spPr>
        <p:txBody>
          <a:bodyPr wrap="square" lIns="0" tIns="0" rIns="0" bIns="0" anchor="t">
            <a:spAutoFit/>
          </a:bodyPr>
          <a:lstStyle/>
          <a:p>
            <a:r>
              <a:rPr sz="1250" b="0" i="0">
                <a:solidFill>
                  <a:srgbClr val="0B1F3A"/>
                </a:solidFill>
              </a:rPr>
              <a:t>A notebook in the pull request contains a hardcoded connection string with a password.</a:t>
            </a:r>
          </a:p>
        </p:txBody>
      </p:sp>
      <p:sp>
        <p:nvSpPr>
          <p:cNvPr id="1017" name="Rounded Rectangle 1016"/>
          <p:cNvSpPr/>
          <p:nvPr/>
        </p:nvSpPr>
        <p:spPr>
          <a:xfrm>
            <a:off x="4297679" y="379476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8" name="Rounded Rectangle 1017"/>
          <p:cNvSpPr/>
          <p:nvPr/>
        </p:nvSpPr>
        <p:spPr>
          <a:xfrm>
            <a:off x="4498847" y="397764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9" name="TextBox 1018"/>
          <p:cNvSpPr txBox="1"/>
          <p:nvPr/>
        </p:nvSpPr>
        <p:spPr>
          <a:xfrm>
            <a:off x="4498847" y="3977640"/>
            <a:ext cx="457200" cy="457200"/>
          </a:xfrm>
          <a:prstGeom prst="rect">
            <a:avLst/>
          </a:prstGeom>
          <a:noFill/>
        </p:spPr>
        <p:txBody>
          <a:bodyPr wrap="square" lIns="0" tIns="0" rIns="0" bIns="0" anchor="ctr">
            <a:spAutoFit/>
          </a:bodyPr>
          <a:lstStyle/>
          <a:p>
            <a:pPr algn="ctr"/>
            <a:r>
              <a:rPr sz="2000" b="1" i="0">
                <a:solidFill>
                  <a:srgbClr val="FFFFFF"/>
                </a:solidFill>
                <a:latin typeface="+mj-lt"/>
              </a:rPr>
              <a:t>5</a:t>
            </a:r>
          </a:p>
        </p:txBody>
      </p:sp>
      <p:sp>
        <p:nvSpPr>
          <p:cNvPr id="1020" name="TextBox 1019"/>
          <p:cNvSpPr txBox="1"/>
          <p:nvPr/>
        </p:nvSpPr>
        <p:spPr>
          <a:xfrm>
            <a:off x="5120640" y="3959352"/>
            <a:ext cx="2606040" cy="1280160"/>
          </a:xfrm>
          <a:prstGeom prst="rect">
            <a:avLst/>
          </a:prstGeom>
          <a:noFill/>
        </p:spPr>
        <p:txBody>
          <a:bodyPr wrap="square" lIns="0" tIns="0" rIns="0" bIns="0" anchor="t">
            <a:spAutoFit/>
          </a:bodyPr>
          <a:lstStyle/>
          <a:p>
            <a:r>
              <a:rPr sz="1250" b="0" i="0">
                <a:solidFill>
                  <a:srgbClr val="0B1F3A"/>
                </a:solidFill>
              </a:rPr>
              <a:t>During UAT, a tester corrected a step's wording directly in the test management tool.</a:t>
            </a:r>
          </a:p>
        </p:txBody>
      </p:sp>
      <p:sp>
        <p:nvSpPr>
          <p:cNvPr id="1021" name="Rounded Rectangle 1020"/>
          <p:cNvSpPr/>
          <p:nvPr/>
        </p:nvSpPr>
        <p:spPr>
          <a:xfrm>
            <a:off x="8046719" y="3794760"/>
            <a:ext cx="3593592" cy="150876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Rounded Rectangle 1021"/>
          <p:cNvSpPr/>
          <p:nvPr/>
        </p:nvSpPr>
        <p:spPr>
          <a:xfrm>
            <a:off x="8247888" y="397764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3" name="TextBox 1022"/>
          <p:cNvSpPr txBox="1"/>
          <p:nvPr/>
        </p:nvSpPr>
        <p:spPr>
          <a:xfrm>
            <a:off x="8247888" y="3977640"/>
            <a:ext cx="457200" cy="457200"/>
          </a:xfrm>
          <a:prstGeom prst="rect">
            <a:avLst/>
          </a:prstGeom>
          <a:noFill/>
        </p:spPr>
        <p:txBody>
          <a:bodyPr wrap="square" lIns="0" tIns="0" rIns="0" bIns="0" anchor="ctr">
            <a:spAutoFit/>
          </a:bodyPr>
          <a:lstStyle/>
          <a:p>
            <a:pPr algn="ctr"/>
            <a:r>
              <a:rPr sz="2000" b="1" i="0">
                <a:solidFill>
                  <a:srgbClr val="FFFFFF"/>
                </a:solidFill>
                <a:latin typeface="+mj-lt"/>
              </a:rPr>
              <a:t>6</a:t>
            </a:r>
          </a:p>
        </p:txBody>
      </p:sp>
      <p:sp>
        <p:nvSpPr>
          <p:cNvPr id="1024" name="TextBox 1023"/>
          <p:cNvSpPr txBox="1"/>
          <p:nvPr/>
        </p:nvSpPr>
        <p:spPr>
          <a:xfrm>
            <a:off x="8869680" y="3959352"/>
            <a:ext cx="2606040" cy="1280160"/>
          </a:xfrm>
          <a:prstGeom prst="rect">
            <a:avLst/>
          </a:prstGeom>
          <a:noFill/>
        </p:spPr>
        <p:txBody>
          <a:bodyPr wrap="square" lIns="0" tIns="0" rIns="0" bIns="0" anchor="t">
            <a:spAutoFit/>
          </a:bodyPr>
          <a:lstStyle/>
          <a:p>
            <a:r>
              <a:rPr sz="1250" b="0" i="0">
                <a:solidFill>
                  <a:srgbClr val="0B1F3A"/>
                </a:solidFill>
              </a:rPr>
              <a:t>UAT is signed off and ESIS is approved. The app emails a summary to users, and email relay was never onboarded.</a:t>
            </a:r>
          </a:p>
        </p:txBody>
      </p:sp>
      <p:sp>
        <p:nvSpPr>
          <p:cNvPr id="1025" name="Rounded Rectangle 1024"/>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TextBox 1025"/>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Work in mixed pairs: one tax professional and one technologist. Be ready to defend one call.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EXERCISE · MODULE 06</a:t>
            </a:r>
          </a:p>
        </p:txBody>
      </p:sp>
      <p:sp>
        <p:nvSpPr>
          <p:cNvPr id="3" name="Title 2"/>
          <p:cNvSpPr>
            <a:spLocks noGrp="1"/>
          </p:cNvSpPr>
          <p:nvPr>
            <p:ph type="title" idx="101"/>
          </p:nvPr>
        </p:nvSpPr>
        <p:spPr/>
        <p:txBody>
          <a:bodyPr/>
          <a:lstStyle/>
          <a:p>
            <a:pPr algn="l"/>
            <a:r>
              <a:t>Exercise: answers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22</a:t>
            </a:fld>
            <a:endParaRPr lang="en-US" b="0"/>
          </a:p>
        </p:txBody>
      </p:sp>
      <p:graphicFrame>
        <p:nvGraphicFramePr>
          <p:cNvPr id="1000" name="Table 999"/>
          <p:cNvGraphicFramePr>
            <a:graphicFrameLocks noGrp="1"/>
          </p:cNvGraphicFramePr>
          <p:nvPr/>
        </p:nvGraphicFramePr>
        <p:xfrm>
          <a:off x="548640" y="1783080"/>
          <a:ext cx="11091671" cy="3840480"/>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4050791">
                  <a:extLst>
                    <a:ext uri="{9D8B030D-6E8A-4147-A177-3AD203B41FA5}">
                      <a16:colId xmlns:a16="http://schemas.microsoft.com/office/drawing/2014/main" val="20003"/>
                    </a:ext>
                  </a:extLst>
                </a:gridCol>
                <a:gridCol w="3108960">
                  <a:extLst>
                    <a:ext uri="{9D8B030D-6E8A-4147-A177-3AD203B41FA5}">
                      <a16:colId xmlns:a16="http://schemas.microsoft.com/office/drawing/2014/main" val="20004"/>
                    </a:ext>
                  </a:extLst>
                </a:gridCol>
              </a:tblGrid>
              <a:tr h="548640">
                <a:tc>
                  <a:txBody>
                    <a:bodyPr/>
                    <a:lstStyle/>
                    <a:p>
                      <a:r>
                        <a:rPr sz="1100" b="1" spc="100">
                          <a:solidFill>
                            <a:srgbClr val="FFFFFF"/>
                          </a:solidFill>
                        </a:rPr>
                        <a:t>#</a:t>
                      </a:r>
                    </a:p>
                  </a:txBody>
                  <a:tcPr marL="109728" marR="109728" anchor="ctr">
                    <a:solidFill>
                      <a:srgbClr val="0B1F3A"/>
                    </a:solidFill>
                  </a:tcPr>
                </a:tc>
                <a:tc>
                  <a:txBody>
                    <a:bodyPr/>
                    <a:lstStyle/>
                    <a:p>
                      <a:r>
                        <a:rPr sz="1100" b="1" spc="100">
                          <a:solidFill>
                            <a:srgbClr val="FFFFFF"/>
                          </a:solidFill>
                        </a:rPr>
                        <a:t>GATE OR RAIL</a:t>
                      </a:r>
                    </a:p>
                  </a:txBody>
                  <a:tcPr marL="109728" marR="109728" anchor="ctr">
                    <a:solidFill>
                      <a:srgbClr val="0B1F3A"/>
                    </a:solidFill>
                  </a:tcPr>
                </a:tc>
                <a:tc>
                  <a:txBody>
                    <a:bodyPr/>
                    <a:lstStyle/>
                    <a:p>
                      <a:r>
                        <a:rPr sz="1100" b="1" spc="100">
                          <a:solidFill>
                            <a:srgbClr val="FFFFFF"/>
                          </a:solidFill>
                        </a:rPr>
                        <a:t>CALL</a:t>
                      </a:r>
                    </a:p>
                  </a:txBody>
                  <a:tcPr marL="109728" marR="109728" anchor="ctr">
                    <a:solidFill>
                      <a:srgbClr val="0B1F3A"/>
                    </a:solidFill>
                  </a:tcPr>
                </a:tc>
                <a:tc>
                  <a:txBody>
                    <a:bodyPr/>
                    <a:lstStyle/>
                    <a:p>
                      <a:r>
                        <a:rPr sz="1100" b="1" spc="100">
                          <a:solidFill>
                            <a:srgbClr val="FFFFFF"/>
                          </a:solidFill>
                        </a:rPr>
                        <a:t>WHY</a:t>
                      </a:r>
                    </a:p>
                  </a:txBody>
                  <a:tcPr marL="109728" marR="109728" anchor="ctr">
                    <a:solidFill>
                      <a:srgbClr val="0B1F3A"/>
                    </a:solidFill>
                  </a:tcPr>
                </a:tc>
                <a:tc>
                  <a:txBody>
                    <a:bodyPr/>
                    <a:lstStyle/>
                    <a:p>
                      <a:r>
                        <a:rPr sz="1100" b="1" spc="100">
                          <a:solidFill>
                            <a:srgbClr val="FFFFFF"/>
                          </a:solidFill>
                        </a:rPr>
                        <a:t>WHO ACTS NEXT</a:t>
                      </a:r>
                    </a:p>
                  </a:txBody>
                  <a:tcPr marL="109728" marR="109728" anchor="ctr">
                    <a:solidFill>
                      <a:srgbClr val="0B1F3A"/>
                    </a:solidFill>
                  </a:tcPr>
                </a:tc>
                <a:extLst>
                  <a:ext uri="{0D108BD9-81ED-4DB2-BD59-A6C34878D82A}">
                    <a16:rowId xmlns:a16="http://schemas.microsoft.com/office/drawing/2014/main" val="10000"/>
                  </a:ext>
                </a:extLst>
              </a:tr>
              <a:tr h="548640">
                <a:tc>
                  <a:txBody>
                    <a:bodyPr/>
                    <a:lstStyle/>
                    <a:p>
                      <a:r>
                        <a:rPr sz="1150" b="1">
                          <a:solidFill>
                            <a:srgbClr val="0B1F3A"/>
                          </a:solidFill>
                        </a:rPr>
                        <a:t>1</a:t>
                      </a:r>
                    </a:p>
                  </a:txBody>
                  <a:tcPr marL="109728" marR="109728" anchor="ctr">
                    <a:solidFill>
                      <a:srgbClr val="EEF3FB"/>
                    </a:solidFill>
                  </a:tcPr>
                </a:tc>
                <a:tc>
                  <a:txBody>
                    <a:bodyPr/>
                    <a:lstStyle/>
                    <a:p>
                      <a:r>
                        <a:rPr sz="1150" b="0">
                          <a:solidFill>
                            <a:srgbClr val="0B1F3A"/>
                          </a:solidFill>
                        </a:rPr>
                        <a:t>Upsize gate</a:t>
                      </a:r>
                    </a:p>
                  </a:txBody>
                  <a:tcPr marL="109728" marR="109728" anchor="ctr">
                    <a:solidFill>
                      <a:srgbClr val="EEF3FB"/>
                    </a:solidFill>
                  </a:tcPr>
                </a:tc>
                <a:tc>
                  <a:txBody>
                    <a:bodyPr/>
                    <a:lstStyle/>
                    <a:p>
                      <a:r>
                        <a:rPr sz="1150" b="0">
                          <a:solidFill>
                            <a:srgbClr val="0B1F3A"/>
                          </a:solidFill>
                        </a:rPr>
                        <a:t>Send back</a:t>
                      </a:r>
                    </a:p>
                  </a:txBody>
                  <a:tcPr marL="109728" marR="109728" anchor="ctr">
                    <a:solidFill>
                      <a:srgbClr val="EEF3FB"/>
                    </a:solidFill>
                  </a:tcPr>
                </a:tc>
                <a:tc>
                  <a:txBody>
                    <a:bodyPr/>
                    <a:lstStyle/>
                    <a:p>
                      <a:r>
                        <a:rPr sz="1150" b="0">
                          <a:solidFill>
                            <a:srgbClr val="0B1F3A"/>
                          </a:solidFill>
                        </a:rPr>
                        <a:t>An open question is a decision nobody made. Don't answer it yourself</a:t>
                      </a:r>
                    </a:p>
                  </a:txBody>
                  <a:tcPr marL="109728" marR="109728" anchor="ctr">
                    <a:solidFill>
                      <a:srgbClr val="EEF3FB"/>
                    </a:solidFill>
                  </a:tcPr>
                </a:tc>
                <a:tc>
                  <a:txBody>
                    <a:bodyPr/>
                    <a:lstStyle/>
                    <a:p>
                      <a:r>
                        <a:rPr sz="1150" b="0">
                          <a:solidFill>
                            <a:srgbClr val="0B1F3A"/>
                          </a:solidFill>
                        </a:rPr>
                        <a:t>The requester and process owner decide and update the charter</a:t>
                      </a:r>
                    </a:p>
                  </a:txBody>
                  <a:tcPr marL="109728" marR="109728" anchor="ctr">
                    <a:solidFill>
                      <a:srgbClr val="EEF3FB"/>
                    </a:solidFill>
                  </a:tcPr>
                </a:tc>
                <a:extLst>
                  <a:ext uri="{0D108BD9-81ED-4DB2-BD59-A6C34878D82A}">
                    <a16:rowId xmlns:a16="http://schemas.microsoft.com/office/drawing/2014/main" val="10001"/>
                  </a:ext>
                </a:extLst>
              </a:tr>
              <a:tr h="548640">
                <a:tc>
                  <a:txBody>
                    <a:bodyPr/>
                    <a:lstStyle/>
                    <a:p>
                      <a:r>
                        <a:rPr sz="1150" b="1">
                          <a:solidFill>
                            <a:srgbClr val="0B1F3A"/>
                          </a:solidFill>
                        </a:rPr>
                        <a:t>2</a:t>
                      </a:r>
                    </a:p>
                  </a:txBody>
                  <a:tcPr marL="109728" marR="109728" anchor="ctr">
                    <a:solidFill>
                      <a:srgbClr val="FFFFFF"/>
                    </a:solidFill>
                  </a:tcPr>
                </a:tc>
                <a:tc>
                  <a:txBody>
                    <a:bodyPr/>
                    <a:lstStyle/>
                    <a:p>
                      <a:r>
                        <a:rPr sz="1150" b="0">
                          <a:solidFill>
                            <a:srgbClr val="0B1F3A"/>
                          </a:solidFill>
                        </a:rPr>
                        <a:t>DEV gate</a:t>
                      </a:r>
                    </a:p>
                  </a:txBody>
                  <a:tcPr marL="109728" marR="109728" anchor="ctr">
                    <a:solidFill>
                      <a:srgbClr val="FFFFFF"/>
                    </a:solidFill>
                  </a:tcPr>
                </a:tc>
                <a:tc>
                  <a:txBody>
                    <a:bodyPr/>
                    <a:lstStyle/>
                    <a:p>
                      <a:r>
                        <a:rPr sz="1150" b="0">
                          <a:solidFill>
                            <a:srgbClr val="0B1F3A"/>
                          </a:solidFill>
                        </a:rPr>
                        <a:t>Hold</a:t>
                      </a:r>
                    </a:p>
                  </a:txBody>
                  <a:tcPr marL="109728" marR="109728" anchor="ctr">
                    <a:solidFill>
                      <a:srgbClr val="FFFFFF"/>
                    </a:solidFill>
                  </a:tcPr>
                </a:tc>
                <a:tc>
                  <a:txBody>
                    <a:bodyPr/>
                    <a:lstStyle/>
                    <a:p>
                      <a:r>
                        <a:rPr sz="1150" b="0">
                          <a:solidFill>
                            <a:srgbClr val="0B1F3A"/>
                          </a:solidFill>
                        </a:rPr>
                        <a:t>Green means the steps ran. Proof is the running app answering</a:t>
                      </a:r>
                    </a:p>
                  </a:txBody>
                  <a:tcPr marL="109728" marR="109728" anchor="ctr">
                    <a:solidFill>
                      <a:srgbClr val="FFFFFF"/>
                    </a:solidFill>
                  </a:tcPr>
                </a:tc>
                <a:tc>
                  <a:txBody>
                    <a:bodyPr/>
                    <a:lstStyle/>
                    <a:p>
                      <a:r>
                        <a:rPr sz="1150" b="0">
                          <a:solidFill>
                            <a:srgbClr val="0B1F3A"/>
                          </a:solidFill>
                        </a:rPr>
                        <a:t>The builder checks the image digest and version, then redeploys</a:t>
                      </a:r>
                    </a:p>
                  </a:txBody>
                  <a:tcPr marL="109728" marR="109728" anchor="ctr">
                    <a:solidFill>
                      <a:srgbClr val="FFFFFF"/>
                    </a:solidFill>
                  </a:tcPr>
                </a:tc>
                <a:extLst>
                  <a:ext uri="{0D108BD9-81ED-4DB2-BD59-A6C34878D82A}">
                    <a16:rowId xmlns:a16="http://schemas.microsoft.com/office/drawing/2014/main" val="10002"/>
                  </a:ext>
                </a:extLst>
              </a:tr>
              <a:tr h="548640">
                <a:tc>
                  <a:txBody>
                    <a:bodyPr/>
                    <a:lstStyle/>
                    <a:p>
                      <a:r>
                        <a:rPr sz="1150" b="1">
                          <a:solidFill>
                            <a:srgbClr val="0B1F3A"/>
                          </a:solidFill>
                        </a:rPr>
                        <a:t>3</a:t>
                      </a:r>
                    </a:p>
                  </a:txBody>
                  <a:tcPr marL="109728" marR="109728" anchor="ctr">
                    <a:solidFill>
                      <a:srgbClr val="EEF3FB"/>
                    </a:solidFill>
                  </a:tcPr>
                </a:tc>
                <a:tc>
                  <a:txBody>
                    <a:bodyPr/>
                    <a:lstStyle/>
                    <a:p>
                      <a:r>
                        <a:rPr sz="1150" b="0">
                          <a:solidFill>
                            <a:srgbClr val="0B1F3A"/>
                          </a:solidFill>
                        </a:rPr>
                        <a:t>Long poles</a:t>
                      </a:r>
                    </a:p>
                  </a:txBody>
                  <a:tcPr marL="109728" marR="109728" anchor="ctr">
                    <a:solidFill>
                      <a:srgbClr val="EEF3FB"/>
                    </a:solidFill>
                  </a:tcPr>
                </a:tc>
                <a:tc>
                  <a:txBody>
                    <a:bodyPr/>
                    <a:lstStyle/>
                    <a:p>
                      <a:r>
                        <a:rPr sz="1150" b="0">
                          <a:solidFill>
                            <a:srgbClr val="0B1F3A"/>
                          </a:solidFill>
                        </a:rPr>
                        <a:t>Hold UAT</a:t>
                      </a:r>
                    </a:p>
                  </a:txBody>
                  <a:tcPr marL="109728" marR="109728" anchor="ctr">
                    <a:solidFill>
                      <a:srgbClr val="EEF3FB"/>
                    </a:solidFill>
                  </a:tcPr>
                </a:tc>
                <a:tc>
                  <a:txBody>
                    <a:bodyPr/>
                    <a:lstStyle/>
                    <a:p>
                      <a:r>
                        <a:rPr sz="1150" b="0">
                          <a:solidFill>
                            <a:srgbClr val="0B1F3A"/>
                          </a:solidFill>
                        </a:rPr>
                        <a:t>No TEST consent means no UAT. ESIS adds four to eight weeks</a:t>
                      </a:r>
                    </a:p>
                  </a:txBody>
                  <a:tcPr marL="109728" marR="109728" anchor="ctr">
                    <a:solidFill>
                      <a:srgbClr val="EEF3FB"/>
                    </a:solidFill>
                  </a:tcPr>
                </a:tc>
                <a:tc>
                  <a:txBody>
                    <a:bodyPr/>
                    <a:lstStyle/>
                    <a:p>
                      <a:r>
                        <a:rPr sz="1150" b="0">
                          <a:solidFill>
                            <a:srgbClr val="0B1F3A"/>
                          </a:solidFill>
                        </a:rPr>
                        <a:t>The builder raises ESIS and consent today, and the go-live date is re-planned</a:t>
                      </a:r>
                    </a:p>
                  </a:txBody>
                  <a:tcPr marL="109728" marR="109728" anchor="ctr">
                    <a:solidFill>
                      <a:srgbClr val="EEF3FB"/>
                    </a:solidFill>
                  </a:tcPr>
                </a:tc>
                <a:extLst>
                  <a:ext uri="{0D108BD9-81ED-4DB2-BD59-A6C34878D82A}">
                    <a16:rowId xmlns:a16="http://schemas.microsoft.com/office/drawing/2014/main" val="10003"/>
                  </a:ext>
                </a:extLst>
              </a:tr>
              <a:tr h="548640">
                <a:tc>
                  <a:txBody>
                    <a:bodyPr/>
                    <a:lstStyle/>
                    <a:p>
                      <a:r>
                        <a:rPr sz="1150" b="1">
                          <a:solidFill>
                            <a:srgbClr val="0B1F3A"/>
                          </a:solidFill>
                        </a:rPr>
                        <a:t>4</a:t>
                      </a:r>
                    </a:p>
                  </a:txBody>
                  <a:tcPr marL="109728" marR="109728" anchor="ctr">
                    <a:solidFill>
                      <a:srgbClr val="FFFFFF"/>
                    </a:solidFill>
                  </a:tcPr>
                </a:tc>
                <a:tc>
                  <a:txBody>
                    <a:bodyPr/>
                    <a:lstStyle/>
                    <a:p>
                      <a:r>
                        <a:rPr sz="1150" b="0">
                          <a:solidFill>
                            <a:srgbClr val="0B1F3A"/>
                          </a:solidFill>
                        </a:rPr>
                        <a:t>Secret scanning rail</a:t>
                      </a:r>
                    </a:p>
                  </a:txBody>
                  <a:tcPr marL="109728" marR="109728" anchor="ctr">
                    <a:solidFill>
                      <a:srgbClr val="FFFFFF"/>
                    </a:solidFill>
                  </a:tcPr>
                </a:tc>
                <a:tc>
                  <a:txBody>
                    <a:bodyPr/>
                    <a:lstStyle/>
                    <a:p>
                      <a:r>
                        <a:rPr sz="1150" b="0">
                          <a:solidFill>
                            <a:srgbClr val="0B1F3A"/>
                          </a:solidFill>
                        </a:rPr>
                        <a:t>Blocked</a:t>
                      </a:r>
                    </a:p>
                  </a:txBody>
                  <a:tcPr marL="109728" marR="109728" anchor="ctr">
                    <a:solidFill>
                      <a:srgbClr val="FFFFFF"/>
                    </a:solidFill>
                  </a:tcPr>
                </a:tc>
                <a:tc>
                  <a:txBody>
                    <a:bodyPr/>
                    <a:lstStyle/>
                    <a:p>
                      <a:r>
                        <a:rPr sz="1150" b="0">
                          <a:solidFill>
                            <a:srgbClr val="0B1F3A"/>
                          </a:solidFill>
                        </a:rPr>
                        <a:t>No threshold. A secret is never a severity question</a:t>
                      </a:r>
                    </a:p>
                  </a:txBody>
                  <a:tcPr marL="109728" marR="109728" anchor="ctr">
                    <a:solidFill>
                      <a:srgbClr val="FFFFFF"/>
                    </a:solidFill>
                  </a:tcPr>
                </a:tc>
                <a:tc>
                  <a:txBody>
                    <a:bodyPr/>
                    <a:lstStyle/>
                    <a:p>
                      <a:r>
                        <a:rPr sz="1150" b="0">
                          <a:solidFill>
                            <a:srgbClr val="0B1F3A"/>
                          </a:solidFill>
                        </a:rPr>
                        <a:t>The builder removes it, uses a managed secret and rotates the password</a:t>
                      </a:r>
                    </a:p>
                  </a:txBody>
                  <a:tcPr marL="109728" marR="109728" anchor="ctr">
                    <a:solidFill>
                      <a:srgbClr val="FFFFFF"/>
                    </a:solidFill>
                  </a:tcPr>
                </a:tc>
                <a:extLst>
                  <a:ext uri="{0D108BD9-81ED-4DB2-BD59-A6C34878D82A}">
                    <a16:rowId xmlns:a16="http://schemas.microsoft.com/office/drawing/2014/main" val="10004"/>
                  </a:ext>
                </a:extLst>
              </a:tr>
              <a:tr h="548640">
                <a:tc>
                  <a:txBody>
                    <a:bodyPr/>
                    <a:lstStyle/>
                    <a:p>
                      <a:r>
                        <a:rPr sz="1150" b="1">
                          <a:solidFill>
                            <a:srgbClr val="0B1F3A"/>
                          </a:solidFill>
                        </a:rPr>
                        <a:t>5</a:t>
                      </a:r>
                    </a:p>
                  </a:txBody>
                  <a:tcPr marL="109728" marR="109728" anchor="ctr">
                    <a:solidFill>
                      <a:srgbClr val="EEF3FB"/>
                    </a:solidFill>
                  </a:tcPr>
                </a:tc>
                <a:tc>
                  <a:txBody>
                    <a:bodyPr/>
                    <a:lstStyle/>
                    <a:p>
                      <a:r>
                        <a:rPr sz="1150" b="0">
                          <a:solidFill>
                            <a:srgbClr val="0B1F3A"/>
                          </a:solidFill>
                        </a:rPr>
                        <a:t>Go-live gate (UAT)</a:t>
                      </a:r>
                    </a:p>
                  </a:txBody>
                  <a:tcPr marL="109728" marR="109728" anchor="ctr">
                    <a:solidFill>
                      <a:srgbClr val="EEF3FB"/>
                    </a:solidFill>
                  </a:tcPr>
                </a:tc>
                <a:tc>
                  <a:txBody>
                    <a:bodyPr/>
                    <a:lstStyle/>
                    <a:p>
                      <a:r>
                        <a:rPr sz="1150" b="0">
                          <a:solidFill>
                            <a:srgbClr val="0B1F3A"/>
                          </a:solidFill>
                        </a:rPr>
                        <a:t>Fix before close</a:t>
                      </a:r>
                    </a:p>
                  </a:txBody>
                  <a:tcPr marL="109728" marR="109728" anchor="ctr">
                    <a:solidFill>
                      <a:srgbClr val="EEF3FB"/>
                    </a:solidFill>
                  </a:tcPr>
                </a:tc>
                <a:tc>
                  <a:txBody>
                    <a:bodyPr/>
                    <a:lstStyle/>
                    <a:p>
                      <a:r>
                        <a:rPr sz="1150" b="0">
                          <a:solidFill>
                            <a:srgbClr val="0B1F3A"/>
                          </a:solidFill>
                        </a:rPr>
                        <a:t>An edit in the tool is drift. Git is the source</a:t>
                      </a:r>
                    </a:p>
                  </a:txBody>
                  <a:tcPr marL="109728" marR="109728" anchor="ctr">
                    <a:solidFill>
                      <a:srgbClr val="EEF3FB"/>
                    </a:solidFill>
                  </a:tcPr>
                </a:tc>
                <a:tc>
                  <a:txBody>
                    <a:bodyPr/>
                    <a:lstStyle/>
                    <a:p>
                      <a:r>
                        <a:rPr sz="1150" b="0">
                          <a:solidFill>
                            <a:srgbClr val="0B1F3A"/>
                          </a:solidFill>
                        </a:rPr>
                        <a:t>The builder copies the change back to git, then re-syncs</a:t>
                      </a:r>
                    </a:p>
                  </a:txBody>
                  <a:tcPr marL="109728" marR="109728" anchor="ctr">
                    <a:solidFill>
                      <a:srgbClr val="EEF3FB"/>
                    </a:solidFill>
                  </a:tcPr>
                </a:tc>
                <a:extLst>
                  <a:ext uri="{0D108BD9-81ED-4DB2-BD59-A6C34878D82A}">
                    <a16:rowId xmlns:a16="http://schemas.microsoft.com/office/drawing/2014/main" val="10005"/>
                  </a:ext>
                </a:extLst>
              </a:tr>
              <a:tr h="548640">
                <a:tc>
                  <a:txBody>
                    <a:bodyPr/>
                    <a:lstStyle/>
                    <a:p>
                      <a:r>
                        <a:rPr sz="1150" b="1">
                          <a:solidFill>
                            <a:srgbClr val="0B1F3A"/>
                          </a:solidFill>
                        </a:rPr>
                        <a:t>6</a:t>
                      </a:r>
                    </a:p>
                  </a:txBody>
                  <a:tcPr marL="109728" marR="109728" anchor="ctr">
                    <a:solidFill>
                      <a:srgbClr val="FFFFFF"/>
                    </a:solidFill>
                  </a:tcPr>
                </a:tc>
                <a:tc>
                  <a:txBody>
                    <a:bodyPr/>
                    <a:lstStyle/>
                    <a:p>
                      <a:r>
                        <a:rPr sz="1150" b="0">
                          <a:solidFill>
                            <a:srgbClr val="0B1F3A"/>
                          </a:solidFill>
                        </a:rPr>
                        <a:t>Go-live gate</a:t>
                      </a:r>
                    </a:p>
                  </a:txBody>
                  <a:tcPr marL="109728" marR="109728" anchor="ctr">
                    <a:solidFill>
                      <a:srgbClr val="FFFFFF"/>
                    </a:solidFill>
                  </a:tcPr>
                </a:tc>
                <a:tc>
                  <a:txBody>
                    <a:bodyPr/>
                    <a:lstStyle/>
                    <a:p>
                      <a:r>
                        <a:rPr sz="1150" b="0">
                          <a:solidFill>
                            <a:srgbClr val="0B1F3A"/>
                          </a:solidFill>
                        </a:rPr>
                        <a:t>Hold</a:t>
                      </a:r>
                    </a:p>
                  </a:txBody>
                  <a:tcPr marL="109728" marR="109728" anchor="ctr">
                    <a:solidFill>
                      <a:srgbClr val="FFFFFF"/>
                    </a:solidFill>
                  </a:tcPr>
                </a:tc>
                <a:tc>
                  <a:txBody>
                    <a:bodyPr/>
                    <a:lstStyle/>
                    <a:p>
                      <a:r>
                        <a:rPr sz="1150" b="0">
                          <a:solidFill>
                            <a:srgbClr val="0B1F3A"/>
                          </a:solidFill>
                        </a:rPr>
                        <a:t>Email relay is required before go-live, not after</a:t>
                      </a:r>
                    </a:p>
                  </a:txBody>
                  <a:tcPr marL="109728" marR="109728" anchor="ctr">
                    <a:solidFill>
                      <a:srgbClr val="FFFFFF"/>
                    </a:solidFill>
                  </a:tcPr>
                </a:tc>
                <a:tc>
                  <a:txBody>
                    <a:bodyPr/>
                    <a:lstStyle/>
                    <a:p>
                      <a:r>
                        <a:rPr sz="1150" b="0">
                          <a:solidFill>
                            <a:srgbClr val="0B1F3A"/>
                          </a:solidFill>
                        </a:rPr>
                        <a:t>The builder opens ET&amp;D Messaging onboarding. Should have been phase 1</a:t>
                      </a:r>
                    </a:p>
                  </a:txBody>
                  <a:tcPr marL="109728" marR="109728" anchor="ctr">
                    <a:solidFill>
                      <a:srgbClr val="FFFFFF"/>
                    </a:solidFill>
                  </a:tcPr>
                </a:tc>
                <a:extLst>
                  <a:ext uri="{0D108BD9-81ED-4DB2-BD59-A6C34878D82A}">
                    <a16:rowId xmlns:a16="http://schemas.microsoft.com/office/drawing/2014/main" val="10006"/>
                  </a:ext>
                </a:extLst>
              </a:tr>
            </a:tbl>
          </a:graphicData>
        </a:graphic>
      </p:graphicFrame>
      <p:sp>
        <p:nvSpPr>
          <p:cNvPr id="1001" name="Rounded Rectangle 1000"/>
          <p:cNvSpPr/>
          <p:nvPr/>
        </p:nvSpPr>
        <p:spPr>
          <a:xfrm>
            <a:off x="548640" y="5596128"/>
            <a:ext cx="11091672" cy="50292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822960" y="5596128"/>
            <a:ext cx="10607040" cy="502920"/>
          </a:xfrm>
          <a:prstGeom prst="rect">
            <a:avLst/>
          </a:prstGeom>
          <a:noFill/>
        </p:spPr>
        <p:txBody>
          <a:bodyPr wrap="square" lIns="0" tIns="0" rIns="0" bIns="0" anchor="ctr">
            <a:spAutoFit/>
          </a:bodyPr>
          <a:lstStyle/>
          <a:p>
            <a:r>
              <a:rPr sz="1600" b="0" i="1">
                <a:solidFill>
                  <a:srgbClr val="FFFFFF"/>
                </a:solidFill>
              </a:rPr>
              <a:t>Four of the six were avoidable in week one. That is the lesson of this module.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MODULE 06 · THE STANDARD</a:t>
            </a:r>
          </a:p>
        </p:txBody>
      </p:sp>
      <p:sp>
        <p:nvSpPr>
          <p:cNvPr id="3" name="Title 2"/>
          <p:cNvSpPr>
            <a:spLocks noGrp="1"/>
          </p:cNvSpPr>
          <p:nvPr>
            <p:ph type="title" idx="101"/>
          </p:nvPr>
        </p:nvSpPr>
        <p:spPr/>
        <p:txBody>
          <a:bodyPr/>
          <a:lstStyle/>
          <a:p>
            <a:pPr algn="l"/>
            <a:r>
              <a:t>What good looks like</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23</a:t>
            </a:fld>
            <a:endParaRPr lang="en-US" b="0"/>
          </a:p>
        </p:txBody>
      </p:sp>
      <p:sp>
        <p:nvSpPr>
          <p:cNvPr id="1000" name="Rounded Rectangle 999"/>
          <p:cNvSpPr/>
          <p:nvPr/>
        </p:nvSpPr>
        <p:spPr>
          <a:xfrm>
            <a:off x="548640" y="1783080"/>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Oval 1000"/>
          <p:cNvSpPr/>
          <p:nvPr/>
        </p:nvSpPr>
        <p:spPr>
          <a:xfrm>
            <a:off x="777240" y="2057400"/>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77240" y="2057400"/>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03" name="TextBox 1002"/>
          <p:cNvSpPr txBox="1"/>
          <p:nvPr/>
        </p:nvSpPr>
        <p:spPr>
          <a:xfrm>
            <a:off x="1508760" y="1938528"/>
            <a:ext cx="4389120" cy="320040"/>
          </a:xfrm>
          <a:prstGeom prst="rect">
            <a:avLst/>
          </a:prstGeom>
          <a:noFill/>
        </p:spPr>
        <p:txBody>
          <a:bodyPr wrap="square" lIns="0" tIns="0" rIns="0" bIns="0" anchor="t">
            <a:spAutoFit/>
          </a:bodyPr>
          <a:lstStyle/>
          <a:p>
            <a:r>
              <a:rPr sz="1600" b="1" i="0">
                <a:solidFill>
                  <a:srgbClr val="0B1F3A"/>
                </a:solidFill>
                <a:latin typeface="+mj-lt"/>
              </a:rPr>
              <a:t>Charter closed first</a:t>
            </a:r>
          </a:p>
        </p:txBody>
      </p:sp>
      <p:sp>
        <p:nvSpPr>
          <p:cNvPr id="1004" name="TextBox 1003"/>
          <p:cNvSpPr txBox="1"/>
          <p:nvPr/>
        </p:nvSpPr>
        <p:spPr>
          <a:xfrm>
            <a:off x="1508760" y="2286000"/>
            <a:ext cx="4389120" cy="502920"/>
          </a:xfrm>
          <a:prstGeom prst="rect">
            <a:avLst/>
          </a:prstGeom>
          <a:noFill/>
        </p:spPr>
        <p:txBody>
          <a:bodyPr wrap="square" lIns="0" tIns="0" rIns="0" bIns="0" anchor="t">
            <a:spAutoFit/>
          </a:bodyPr>
          <a:lstStyle/>
          <a:p>
            <a:r>
              <a:rPr sz="1250" b="0" i="0">
                <a:solidFill>
                  <a:srgbClr val="0B1F3A"/>
                </a:solidFill>
              </a:rPr>
              <a:t>You sent back an open question instead of answering it yourself.</a:t>
            </a:r>
          </a:p>
        </p:txBody>
      </p:sp>
      <p:sp>
        <p:nvSpPr>
          <p:cNvPr id="1005" name="Rounded Rectangle 1004"/>
          <p:cNvSpPr/>
          <p:nvPr/>
        </p:nvSpPr>
        <p:spPr>
          <a:xfrm>
            <a:off x="6153912" y="1783080"/>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Oval 1005"/>
          <p:cNvSpPr/>
          <p:nvPr/>
        </p:nvSpPr>
        <p:spPr>
          <a:xfrm>
            <a:off x="6382512" y="2057400"/>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6382512" y="2057400"/>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08" name="TextBox 1007"/>
          <p:cNvSpPr txBox="1"/>
          <p:nvPr/>
        </p:nvSpPr>
        <p:spPr>
          <a:xfrm>
            <a:off x="7114031" y="1938528"/>
            <a:ext cx="4389120" cy="320040"/>
          </a:xfrm>
          <a:prstGeom prst="rect">
            <a:avLst/>
          </a:prstGeom>
          <a:noFill/>
        </p:spPr>
        <p:txBody>
          <a:bodyPr wrap="square" lIns="0" tIns="0" rIns="0" bIns="0" anchor="t">
            <a:spAutoFit/>
          </a:bodyPr>
          <a:lstStyle/>
          <a:p>
            <a:r>
              <a:rPr sz="1600" b="1" i="0">
                <a:solidFill>
                  <a:srgbClr val="0B1F3A"/>
                </a:solidFill>
                <a:latin typeface="+mj-lt"/>
              </a:rPr>
              <a:t>Slow gates opened early</a:t>
            </a:r>
          </a:p>
        </p:txBody>
      </p:sp>
      <p:sp>
        <p:nvSpPr>
          <p:cNvPr id="1009" name="TextBox 1008"/>
          <p:cNvSpPr txBox="1"/>
          <p:nvPr/>
        </p:nvSpPr>
        <p:spPr>
          <a:xfrm>
            <a:off x="7114031" y="2286000"/>
            <a:ext cx="4389120" cy="502920"/>
          </a:xfrm>
          <a:prstGeom prst="rect">
            <a:avLst/>
          </a:prstGeom>
          <a:noFill/>
        </p:spPr>
        <p:txBody>
          <a:bodyPr wrap="square" lIns="0" tIns="0" rIns="0" bIns="0" anchor="t">
            <a:spAutoFit/>
          </a:bodyPr>
          <a:lstStyle/>
          <a:p>
            <a:r>
              <a:rPr sz="1250" b="0" i="0">
                <a:solidFill>
                  <a:srgbClr val="0B1F3A"/>
                </a:solidFill>
              </a:rPr>
              <a:t>Nothing waits on a six-week review that started last week.</a:t>
            </a:r>
          </a:p>
        </p:txBody>
      </p:sp>
      <p:sp>
        <p:nvSpPr>
          <p:cNvPr id="1010" name="Rounded Rectangle 1009"/>
          <p:cNvSpPr/>
          <p:nvPr/>
        </p:nvSpPr>
        <p:spPr>
          <a:xfrm>
            <a:off x="548640" y="2990088"/>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Oval 1010"/>
          <p:cNvSpPr/>
          <p:nvPr/>
        </p:nvSpPr>
        <p:spPr>
          <a:xfrm>
            <a:off x="777240" y="3264408"/>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777240" y="3264408"/>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13" name="TextBox 1012"/>
          <p:cNvSpPr txBox="1"/>
          <p:nvPr/>
        </p:nvSpPr>
        <p:spPr>
          <a:xfrm>
            <a:off x="1508760" y="3145536"/>
            <a:ext cx="4389120" cy="320040"/>
          </a:xfrm>
          <a:prstGeom prst="rect">
            <a:avLst/>
          </a:prstGeom>
          <a:noFill/>
        </p:spPr>
        <p:txBody>
          <a:bodyPr wrap="square" lIns="0" tIns="0" rIns="0" bIns="0" anchor="t">
            <a:spAutoFit/>
          </a:bodyPr>
          <a:lstStyle/>
          <a:p>
            <a:r>
              <a:rPr sz="1600" b="1" i="0">
                <a:solidFill>
                  <a:srgbClr val="0B1F3A"/>
                </a:solidFill>
                <a:latin typeface="+mj-lt"/>
              </a:rPr>
              <a:t>Rails green on every change</a:t>
            </a:r>
          </a:p>
        </p:txBody>
      </p:sp>
      <p:sp>
        <p:nvSpPr>
          <p:cNvPr id="1014" name="TextBox 1013"/>
          <p:cNvSpPr txBox="1"/>
          <p:nvPr/>
        </p:nvSpPr>
        <p:spPr>
          <a:xfrm>
            <a:off x="1508760" y="3493008"/>
            <a:ext cx="4389120" cy="502920"/>
          </a:xfrm>
          <a:prstGeom prst="rect">
            <a:avLst/>
          </a:prstGeom>
          <a:noFill/>
        </p:spPr>
        <p:txBody>
          <a:bodyPr wrap="square" lIns="0" tIns="0" rIns="0" bIns="0" anchor="t">
            <a:spAutoFit/>
          </a:bodyPr>
          <a:lstStyle/>
          <a:p>
            <a:r>
              <a:rPr sz="1250" b="0" i="0">
                <a:solidFill>
                  <a:srgbClr val="0B1F3A"/>
                </a:solidFill>
              </a:rPr>
              <a:t>A habit with every merge, not a scramble before release.</a:t>
            </a:r>
          </a:p>
        </p:txBody>
      </p:sp>
      <p:sp>
        <p:nvSpPr>
          <p:cNvPr id="1015" name="Rounded Rectangle 1014"/>
          <p:cNvSpPr/>
          <p:nvPr/>
        </p:nvSpPr>
        <p:spPr>
          <a:xfrm>
            <a:off x="6153912" y="2990088"/>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Oval 1015"/>
          <p:cNvSpPr/>
          <p:nvPr/>
        </p:nvSpPr>
        <p:spPr>
          <a:xfrm>
            <a:off x="6382512" y="3264408"/>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6382512" y="3264408"/>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18" name="TextBox 1017"/>
          <p:cNvSpPr txBox="1"/>
          <p:nvPr/>
        </p:nvSpPr>
        <p:spPr>
          <a:xfrm>
            <a:off x="7114031" y="3145536"/>
            <a:ext cx="4389120" cy="320040"/>
          </a:xfrm>
          <a:prstGeom prst="rect">
            <a:avLst/>
          </a:prstGeom>
          <a:noFill/>
        </p:spPr>
        <p:txBody>
          <a:bodyPr wrap="square" lIns="0" tIns="0" rIns="0" bIns="0" anchor="t">
            <a:spAutoFit/>
          </a:bodyPr>
          <a:lstStyle/>
          <a:p>
            <a:r>
              <a:rPr sz="1600" b="1" i="0">
                <a:solidFill>
                  <a:srgbClr val="0B1F3A"/>
                </a:solidFill>
                <a:latin typeface="+mj-lt"/>
              </a:rPr>
              <a:t>Evidence produced, not written</a:t>
            </a:r>
          </a:p>
        </p:txBody>
      </p:sp>
      <p:sp>
        <p:nvSpPr>
          <p:cNvPr id="1019" name="TextBox 1018"/>
          <p:cNvSpPr txBox="1"/>
          <p:nvPr/>
        </p:nvSpPr>
        <p:spPr>
          <a:xfrm>
            <a:off x="7114031" y="3493008"/>
            <a:ext cx="4389120" cy="502920"/>
          </a:xfrm>
          <a:prstGeom prst="rect">
            <a:avLst/>
          </a:prstGeom>
          <a:noFill/>
        </p:spPr>
        <p:txBody>
          <a:bodyPr wrap="square" lIns="0" tIns="0" rIns="0" bIns="0" anchor="t">
            <a:spAutoFit/>
          </a:bodyPr>
          <a:lstStyle/>
          <a:p>
            <a:r>
              <a:rPr sz="1250" b="0" i="0">
                <a:solidFill>
                  <a:srgbClr val="0B1F3A"/>
                </a:solidFill>
              </a:rPr>
              <a:t>The diagram, the scan and the readiness record exist before anyone asks.</a:t>
            </a:r>
          </a:p>
        </p:txBody>
      </p:sp>
      <p:sp>
        <p:nvSpPr>
          <p:cNvPr id="1020" name="Rounded Rectangle 1019"/>
          <p:cNvSpPr/>
          <p:nvPr/>
        </p:nvSpPr>
        <p:spPr>
          <a:xfrm>
            <a:off x="548640" y="4197096"/>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Oval 1020"/>
          <p:cNvSpPr/>
          <p:nvPr/>
        </p:nvSpPr>
        <p:spPr>
          <a:xfrm>
            <a:off x="777240" y="4471416"/>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2" name="TextBox 1021"/>
          <p:cNvSpPr txBox="1"/>
          <p:nvPr/>
        </p:nvSpPr>
        <p:spPr>
          <a:xfrm>
            <a:off x="777240" y="4471416"/>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23" name="TextBox 1022"/>
          <p:cNvSpPr txBox="1"/>
          <p:nvPr/>
        </p:nvSpPr>
        <p:spPr>
          <a:xfrm>
            <a:off x="1508760" y="4352544"/>
            <a:ext cx="4389120" cy="320040"/>
          </a:xfrm>
          <a:prstGeom prst="rect">
            <a:avLst/>
          </a:prstGeom>
          <a:noFill/>
        </p:spPr>
        <p:txBody>
          <a:bodyPr wrap="square" lIns="0" tIns="0" rIns="0" bIns="0" anchor="t">
            <a:spAutoFit/>
          </a:bodyPr>
          <a:lstStyle/>
          <a:p>
            <a:r>
              <a:rPr sz="1600" b="1" i="0">
                <a:solidFill>
                  <a:srgbClr val="0B1F3A"/>
                </a:solidFill>
                <a:latin typeface="+mj-lt"/>
              </a:rPr>
              <a:t>One system of record</a:t>
            </a:r>
          </a:p>
        </p:txBody>
      </p:sp>
      <p:sp>
        <p:nvSpPr>
          <p:cNvPr id="1024" name="TextBox 1023"/>
          <p:cNvSpPr txBox="1"/>
          <p:nvPr/>
        </p:nvSpPr>
        <p:spPr>
          <a:xfrm>
            <a:off x="1508760" y="4700016"/>
            <a:ext cx="4389120" cy="502920"/>
          </a:xfrm>
          <a:prstGeom prst="rect">
            <a:avLst/>
          </a:prstGeom>
          <a:noFill/>
        </p:spPr>
        <p:txBody>
          <a:bodyPr wrap="square" lIns="0" tIns="0" rIns="0" bIns="0" anchor="t">
            <a:spAutoFit/>
          </a:bodyPr>
          <a:lstStyle/>
          <a:p>
            <a:r>
              <a:rPr sz="1250" b="0" i="0">
                <a:solidFill>
                  <a:srgbClr val="0B1F3A"/>
                </a:solidFill>
              </a:rPr>
              <a:t>Workfront owns project state. Boards owns engineering detail and feeds it.</a:t>
            </a:r>
          </a:p>
        </p:txBody>
      </p:sp>
      <p:sp>
        <p:nvSpPr>
          <p:cNvPr id="1025" name="Rounded Rectangle 1024"/>
          <p:cNvSpPr/>
          <p:nvPr/>
        </p:nvSpPr>
        <p:spPr>
          <a:xfrm>
            <a:off x="6153912" y="4197096"/>
            <a:ext cx="5486400" cy="1078992"/>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6" name="Oval 1025"/>
          <p:cNvSpPr/>
          <p:nvPr/>
        </p:nvSpPr>
        <p:spPr>
          <a:xfrm>
            <a:off x="6382512" y="4471416"/>
            <a:ext cx="502920" cy="502920"/>
          </a:xfrm>
          <a:prstGeom prst="ellipse">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7" name="TextBox 1026"/>
          <p:cNvSpPr txBox="1"/>
          <p:nvPr/>
        </p:nvSpPr>
        <p:spPr>
          <a:xfrm>
            <a:off x="6382512" y="4471416"/>
            <a:ext cx="502920" cy="502920"/>
          </a:xfrm>
          <a:prstGeom prst="rect">
            <a:avLst/>
          </a:prstGeom>
          <a:noFill/>
        </p:spPr>
        <p:txBody>
          <a:bodyPr wrap="square" lIns="0" tIns="0" rIns="0" bIns="0" anchor="ctr">
            <a:spAutoFit/>
          </a:bodyPr>
          <a:lstStyle/>
          <a:p>
            <a:pPr algn="ctr"/>
            <a:r>
              <a:rPr sz="2000" b="1" i="0">
                <a:solidFill>
                  <a:srgbClr val="FFFFFF"/>
                </a:solidFill>
              </a:rPr>
              <a:t>✓</a:t>
            </a:r>
          </a:p>
        </p:txBody>
      </p:sp>
      <p:sp>
        <p:nvSpPr>
          <p:cNvPr id="1028" name="TextBox 1027"/>
          <p:cNvSpPr txBox="1"/>
          <p:nvPr/>
        </p:nvSpPr>
        <p:spPr>
          <a:xfrm>
            <a:off x="7114031" y="4352544"/>
            <a:ext cx="4389120" cy="320040"/>
          </a:xfrm>
          <a:prstGeom prst="rect">
            <a:avLst/>
          </a:prstGeom>
          <a:noFill/>
        </p:spPr>
        <p:txBody>
          <a:bodyPr wrap="square" lIns="0" tIns="0" rIns="0" bIns="0" anchor="t">
            <a:spAutoFit/>
          </a:bodyPr>
          <a:lstStyle/>
          <a:p>
            <a:r>
              <a:rPr sz="1600" b="1" i="0">
                <a:solidFill>
                  <a:srgbClr val="0B1F3A"/>
                </a:solidFill>
                <a:latin typeface="+mj-lt"/>
              </a:rPr>
              <a:t>You verified the running app</a:t>
            </a:r>
          </a:p>
        </p:txBody>
      </p:sp>
      <p:sp>
        <p:nvSpPr>
          <p:cNvPr id="1029" name="TextBox 1028"/>
          <p:cNvSpPr txBox="1"/>
          <p:nvPr/>
        </p:nvSpPr>
        <p:spPr>
          <a:xfrm>
            <a:off x="7114031" y="4700016"/>
            <a:ext cx="4389120" cy="502920"/>
          </a:xfrm>
          <a:prstGeom prst="rect">
            <a:avLst/>
          </a:prstGeom>
          <a:noFill/>
        </p:spPr>
        <p:txBody>
          <a:bodyPr wrap="square" lIns="0" tIns="0" rIns="0" bIns="0" anchor="t">
            <a:spAutoFit/>
          </a:bodyPr>
          <a:lstStyle/>
          <a:p>
            <a:r>
              <a:rPr sz="1250" b="0" i="0">
                <a:solidFill>
                  <a:srgbClr val="0B1F3A"/>
                </a:solidFill>
              </a:rPr>
              <a:t>Not the pipeline log. The response.</a:t>
            </a:r>
          </a:p>
        </p:txBody>
      </p:sp>
      <p:sp>
        <p:nvSpPr>
          <p:cNvPr id="1030" name="TextBox 1029"/>
          <p:cNvSpPr txBox="1"/>
          <p:nvPr/>
        </p:nvSpPr>
        <p:spPr>
          <a:xfrm>
            <a:off x="548640" y="5486400"/>
            <a:ext cx="11091672" cy="228600"/>
          </a:xfrm>
          <a:prstGeom prst="rect">
            <a:avLst/>
          </a:prstGeom>
          <a:noFill/>
        </p:spPr>
        <p:txBody>
          <a:bodyPr wrap="square" lIns="0" tIns="0" rIns="0" bIns="0" anchor="t">
            <a:spAutoFit/>
          </a:bodyPr>
          <a:lstStyle/>
          <a:p>
            <a:r>
              <a:rPr sz="1050" b="0" i="1">
                <a:solidFill>
                  <a:srgbClr val="0B1F3A"/>
                </a:solidFill>
              </a:rPr>
              <a:t>Hold each project to these six at every gate review.</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0"/>
          </p:nvPr>
        </p:nvSpPr>
        <p:spPr/>
        <p:txBody>
          <a:bodyPr/>
          <a:lstStyle/>
          <a:p>
            <a:pPr algn="l"/>
            <a:r>
              <a:t>WRAP-UP</a:t>
            </a:r>
          </a:p>
        </p:txBody>
      </p:sp>
      <p:sp>
        <p:nvSpPr>
          <p:cNvPr id="3" name="Title 2"/>
          <p:cNvSpPr>
            <a:spLocks noGrp="1"/>
          </p:cNvSpPr>
          <p:nvPr>
            <p:ph type="title" idx="101"/>
          </p:nvPr>
        </p:nvSpPr>
        <p:spPr/>
        <p:txBody>
          <a:bodyPr/>
          <a:lstStyle/>
          <a:p>
            <a:pPr algn="l"/>
            <a:r>
              <a:t>Module 06 in four gates</a:t>
            </a:r>
          </a:p>
        </p:txBody>
      </p:sp>
      <p:sp>
        <p:nvSpPr>
          <p:cNvPr id="999" name="Slide Number Placeholder 0"/>
          <p:cNvSpPr>
            <a:spLocks noGrp="1"/>
          </p:cNvSpPr>
          <p:nvPr>
            <p:ph type="sldNum" sz="quarter" idx="4294967295"/>
          </p:nvPr>
        </p:nvSpPr>
        <p:spPr>
          <a:xfrm>
            <a:off x="11094415" y="6400800"/>
            <a:ext cx="548640" cy="274320"/>
          </a:xfrm>
          <a:prstGeom prst="rect">
            <a:avLst/>
          </a:prstGeom>
        </p:spPr>
        <p:txBody>
          <a:bodyPr/>
          <a:lstStyle>
            <a:lvl1pPr>
              <a:defRPr sz="1000">
                <a:solidFill>
                  <a:schemeClr val="tx1"/>
                </a:solidFill>
              </a:defRPr>
            </a:lvl1pPr>
          </a:lstStyle>
          <a:p>
            <a:pPr algn="r"/>
            <a:fld id="{F7021451-1387-4CA6-816F-3879F97B5CBC}" type="slidenum">
              <a:rPr lang="en-US" b="0"/>
              <a:t>24</a:t>
            </a:fld>
            <a:endParaRPr lang="en-US" b="0"/>
          </a:p>
        </p:txBody>
      </p:sp>
      <p:sp>
        <p:nvSpPr>
          <p:cNvPr id="1000" name="Rounded Rectangle 999"/>
          <p:cNvSpPr/>
          <p:nvPr/>
        </p:nvSpPr>
        <p:spPr>
          <a:xfrm>
            <a:off x="548640" y="1783080"/>
            <a:ext cx="5486400" cy="14630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1" name="Rounded Rectangle 1000"/>
          <p:cNvSpPr/>
          <p:nvPr/>
        </p:nvSpPr>
        <p:spPr>
          <a:xfrm>
            <a:off x="777240" y="201168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2" name="TextBox 1001"/>
          <p:cNvSpPr txBox="1"/>
          <p:nvPr/>
        </p:nvSpPr>
        <p:spPr>
          <a:xfrm>
            <a:off x="777240" y="2011680"/>
            <a:ext cx="457200" cy="457200"/>
          </a:xfrm>
          <a:prstGeom prst="rect">
            <a:avLst/>
          </a:prstGeom>
          <a:noFill/>
        </p:spPr>
        <p:txBody>
          <a:bodyPr wrap="square" lIns="0" tIns="0" rIns="0" bIns="0" anchor="ctr">
            <a:spAutoFit/>
          </a:bodyPr>
          <a:lstStyle/>
          <a:p>
            <a:pPr algn="ctr"/>
            <a:r>
              <a:rPr sz="2000" b="1" i="0">
                <a:solidFill>
                  <a:srgbClr val="FFFFFF"/>
                </a:solidFill>
                <a:latin typeface="+mj-lt"/>
              </a:rPr>
              <a:t>1</a:t>
            </a:r>
          </a:p>
        </p:txBody>
      </p:sp>
      <p:sp>
        <p:nvSpPr>
          <p:cNvPr id="1003" name="TextBox 1002"/>
          <p:cNvSpPr txBox="1"/>
          <p:nvPr/>
        </p:nvSpPr>
        <p:spPr>
          <a:xfrm>
            <a:off x="1417319" y="2112264"/>
            <a:ext cx="4114800" cy="228600"/>
          </a:xfrm>
          <a:prstGeom prst="rect">
            <a:avLst/>
          </a:prstGeom>
          <a:noFill/>
        </p:spPr>
        <p:txBody>
          <a:bodyPr wrap="square" lIns="0" tIns="0" rIns="0" bIns="0" anchor="t">
            <a:spAutoFit/>
          </a:bodyPr>
          <a:lstStyle/>
          <a:p>
            <a:r>
              <a:rPr sz="1000" b="1" i="0" spc="200">
                <a:solidFill>
                  <a:srgbClr val="1E49E2"/>
                </a:solidFill>
              </a:rPr>
              <a:t>UPSIZE GATE</a:t>
            </a:r>
          </a:p>
        </p:txBody>
      </p:sp>
      <p:sp>
        <p:nvSpPr>
          <p:cNvPr id="1004" name="TextBox 1003"/>
          <p:cNvSpPr txBox="1"/>
          <p:nvPr/>
        </p:nvSpPr>
        <p:spPr>
          <a:xfrm>
            <a:off x="777240" y="2606040"/>
            <a:ext cx="5029200" cy="594360"/>
          </a:xfrm>
          <a:prstGeom prst="rect">
            <a:avLst/>
          </a:prstGeom>
          <a:noFill/>
        </p:spPr>
        <p:txBody>
          <a:bodyPr wrap="square" lIns="0" tIns="0" rIns="0" bIns="0" anchor="t">
            <a:spAutoFit/>
          </a:bodyPr>
          <a:lstStyle/>
          <a:p>
            <a:r>
              <a:rPr sz="1500" b="0" i="0">
                <a:solidFill>
                  <a:srgbClr val="0B1F3A"/>
                </a:solidFill>
              </a:rPr>
              <a:t>Accept a model only when its charter has no open questions. Never answer one yourself.</a:t>
            </a:r>
          </a:p>
        </p:txBody>
      </p:sp>
      <p:sp>
        <p:nvSpPr>
          <p:cNvPr id="1005" name="Rounded Rectangle 1004"/>
          <p:cNvSpPr/>
          <p:nvPr/>
        </p:nvSpPr>
        <p:spPr>
          <a:xfrm>
            <a:off x="6153912" y="1783080"/>
            <a:ext cx="5486400" cy="14630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6" name="Rounded Rectangle 1005"/>
          <p:cNvSpPr/>
          <p:nvPr/>
        </p:nvSpPr>
        <p:spPr>
          <a:xfrm>
            <a:off x="6382512" y="2011680"/>
            <a:ext cx="457200" cy="457200"/>
          </a:xfrm>
          <a:prstGeom prst="roundRect">
            <a:avLst>
              <a:gd name="adj" fmla="val 12000"/>
            </a:avLst>
          </a:prstGeom>
          <a:solidFill>
            <a:srgbClr val="1E4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7" name="TextBox 1006"/>
          <p:cNvSpPr txBox="1"/>
          <p:nvPr/>
        </p:nvSpPr>
        <p:spPr>
          <a:xfrm>
            <a:off x="6382512" y="2011680"/>
            <a:ext cx="457200" cy="457200"/>
          </a:xfrm>
          <a:prstGeom prst="rect">
            <a:avLst/>
          </a:prstGeom>
          <a:noFill/>
        </p:spPr>
        <p:txBody>
          <a:bodyPr wrap="square" lIns="0" tIns="0" rIns="0" bIns="0" anchor="ctr">
            <a:spAutoFit/>
          </a:bodyPr>
          <a:lstStyle/>
          <a:p>
            <a:pPr algn="ctr"/>
            <a:r>
              <a:rPr sz="2000" b="1" i="0">
                <a:solidFill>
                  <a:srgbClr val="FFFFFF"/>
                </a:solidFill>
                <a:latin typeface="+mj-lt"/>
              </a:rPr>
              <a:t>2</a:t>
            </a:r>
          </a:p>
        </p:txBody>
      </p:sp>
      <p:sp>
        <p:nvSpPr>
          <p:cNvPr id="1008" name="TextBox 1007"/>
          <p:cNvSpPr txBox="1"/>
          <p:nvPr/>
        </p:nvSpPr>
        <p:spPr>
          <a:xfrm>
            <a:off x="7022592" y="2112264"/>
            <a:ext cx="4114800" cy="228600"/>
          </a:xfrm>
          <a:prstGeom prst="rect">
            <a:avLst/>
          </a:prstGeom>
          <a:noFill/>
        </p:spPr>
        <p:txBody>
          <a:bodyPr wrap="square" lIns="0" tIns="0" rIns="0" bIns="0" anchor="t">
            <a:spAutoFit/>
          </a:bodyPr>
          <a:lstStyle/>
          <a:p>
            <a:r>
              <a:rPr sz="1000" b="1" i="0" spc="200">
                <a:solidFill>
                  <a:srgbClr val="1E49E2"/>
                </a:solidFill>
              </a:rPr>
              <a:t>DEV GATE</a:t>
            </a:r>
          </a:p>
        </p:txBody>
      </p:sp>
      <p:sp>
        <p:nvSpPr>
          <p:cNvPr id="1009" name="TextBox 1008"/>
          <p:cNvSpPr txBox="1"/>
          <p:nvPr/>
        </p:nvSpPr>
        <p:spPr>
          <a:xfrm>
            <a:off x="6382512" y="2606040"/>
            <a:ext cx="5029200" cy="594360"/>
          </a:xfrm>
          <a:prstGeom prst="rect">
            <a:avLst/>
          </a:prstGeom>
          <a:noFill/>
        </p:spPr>
        <p:txBody>
          <a:bodyPr wrap="square" lIns="0" tIns="0" rIns="0" bIns="0" anchor="t">
            <a:spAutoFit/>
          </a:bodyPr>
          <a:lstStyle/>
          <a:p>
            <a:r>
              <a:rPr sz="1500" b="0" i="0">
                <a:solidFill>
                  <a:srgbClr val="0B1F3A"/>
                </a:solidFill>
              </a:rPr>
              <a:t>DEV is done when the running app answers, not when the pipeline is green.</a:t>
            </a:r>
          </a:p>
        </p:txBody>
      </p:sp>
      <p:sp>
        <p:nvSpPr>
          <p:cNvPr id="1010" name="Rounded Rectangle 1009"/>
          <p:cNvSpPr/>
          <p:nvPr/>
        </p:nvSpPr>
        <p:spPr>
          <a:xfrm>
            <a:off x="548640" y="3383280"/>
            <a:ext cx="5486400" cy="14630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1" name="Rounded Rectangle 1010"/>
          <p:cNvSpPr/>
          <p:nvPr/>
        </p:nvSpPr>
        <p:spPr>
          <a:xfrm>
            <a:off x="777240" y="3611880"/>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2" name="TextBox 1011"/>
          <p:cNvSpPr txBox="1"/>
          <p:nvPr/>
        </p:nvSpPr>
        <p:spPr>
          <a:xfrm>
            <a:off x="777240" y="3611880"/>
            <a:ext cx="457200" cy="457200"/>
          </a:xfrm>
          <a:prstGeom prst="rect">
            <a:avLst/>
          </a:prstGeom>
          <a:noFill/>
        </p:spPr>
        <p:txBody>
          <a:bodyPr wrap="square" lIns="0" tIns="0" rIns="0" bIns="0" anchor="ctr">
            <a:spAutoFit/>
          </a:bodyPr>
          <a:lstStyle/>
          <a:p>
            <a:pPr algn="ctr"/>
            <a:r>
              <a:rPr sz="2000" b="1" i="0">
                <a:solidFill>
                  <a:srgbClr val="FFFFFF"/>
                </a:solidFill>
                <a:latin typeface="+mj-lt"/>
              </a:rPr>
              <a:t>3</a:t>
            </a:r>
          </a:p>
        </p:txBody>
      </p:sp>
      <p:sp>
        <p:nvSpPr>
          <p:cNvPr id="1013" name="TextBox 1012"/>
          <p:cNvSpPr txBox="1"/>
          <p:nvPr/>
        </p:nvSpPr>
        <p:spPr>
          <a:xfrm>
            <a:off x="1417319" y="3712464"/>
            <a:ext cx="4114800" cy="228600"/>
          </a:xfrm>
          <a:prstGeom prst="rect">
            <a:avLst/>
          </a:prstGeom>
          <a:noFill/>
        </p:spPr>
        <p:txBody>
          <a:bodyPr wrap="square" lIns="0" tIns="0" rIns="0" bIns="0" anchor="t">
            <a:spAutoFit/>
          </a:bodyPr>
          <a:lstStyle/>
          <a:p>
            <a:r>
              <a:rPr sz="1000" b="1" i="0" spc="200">
                <a:solidFill>
                  <a:srgbClr val="1E49E2"/>
                </a:solidFill>
              </a:rPr>
              <a:t>SCOPE GATE</a:t>
            </a:r>
          </a:p>
        </p:txBody>
      </p:sp>
      <p:sp>
        <p:nvSpPr>
          <p:cNvPr id="1014" name="TextBox 1013"/>
          <p:cNvSpPr txBox="1"/>
          <p:nvPr/>
        </p:nvSpPr>
        <p:spPr>
          <a:xfrm>
            <a:off x="777240" y="4206240"/>
            <a:ext cx="5029200" cy="594360"/>
          </a:xfrm>
          <a:prstGeom prst="rect">
            <a:avLst/>
          </a:prstGeom>
          <a:noFill/>
        </p:spPr>
        <p:txBody>
          <a:bodyPr wrap="square" lIns="0" tIns="0" rIns="0" bIns="0" anchor="t">
            <a:spAutoFit/>
          </a:bodyPr>
          <a:lstStyle/>
          <a:p>
            <a:r>
              <a:rPr sz="1500" b="0" i="0">
                <a:solidFill>
                  <a:srgbClr val="0B1F3A"/>
                </a:solidFill>
              </a:rPr>
              <a:t>The full flow works, every state is reachable, and the rails are green.</a:t>
            </a:r>
          </a:p>
        </p:txBody>
      </p:sp>
      <p:sp>
        <p:nvSpPr>
          <p:cNvPr id="1015" name="Rounded Rectangle 1014"/>
          <p:cNvSpPr/>
          <p:nvPr/>
        </p:nvSpPr>
        <p:spPr>
          <a:xfrm>
            <a:off x="6153912" y="3383280"/>
            <a:ext cx="5486400" cy="1463040"/>
          </a:xfrm>
          <a:prstGeom prst="roundRect">
            <a:avLst>
              <a:gd name="adj" fmla="val 5000"/>
            </a:avLst>
          </a:prstGeom>
          <a:solidFill>
            <a:srgbClr val="EE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6" name="Rounded Rectangle 1015"/>
          <p:cNvSpPr/>
          <p:nvPr/>
        </p:nvSpPr>
        <p:spPr>
          <a:xfrm>
            <a:off x="6382512" y="3611880"/>
            <a:ext cx="457200" cy="457200"/>
          </a:xfrm>
          <a:prstGeom prst="roundRect">
            <a:avLst>
              <a:gd name="adj" fmla="val 12000"/>
            </a:avLst>
          </a:prstGeom>
          <a:solidFill>
            <a:srgbClr val="00A3A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7" name="TextBox 1016"/>
          <p:cNvSpPr txBox="1"/>
          <p:nvPr/>
        </p:nvSpPr>
        <p:spPr>
          <a:xfrm>
            <a:off x="6382512" y="3611880"/>
            <a:ext cx="457200" cy="457200"/>
          </a:xfrm>
          <a:prstGeom prst="rect">
            <a:avLst/>
          </a:prstGeom>
          <a:noFill/>
        </p:spPr>
        <p:txBody>
          <a:bodyPr wrap="square" lIns="0" tIns="0" rIns="0" bIns="0" anchor="ctr">
            <a:spAutoFit/>
          </a:bodyPr>
          <a:lstStyle/>
          <a:p>
            <a:pPr algn="ctr"/>
            <a:r>
              <a:rPr sz="2000" b="1" i="0">
                <a:solidFill>
                  <a:srgbClr val="FFFFFF"/>
                </a:solidFill>
                <a:latin typeface="+mj-lt"/>
              </a:rPr>
              <a:t>4</a:t>
            </a:r>
          </a:p>
        </p:txBody>
      </p:sp>
      <p:sp>
        <p:nvSpPr>
          <p:cNvPr id="1018" name="TextBox 1017"/>
          <p:cNvSpPr txBox="1"/>
          <p:nvPr/>
        </p:nvSpPr>
        <p:spPr>
          <a:xfrm>
            <a:off x="7022592" y="3712464"/>
            <a:ext cx="4114800" cy="228600"/>
          </a:xfrm>
          <a:prstGeom prst="rect">
            <a:avLst/>
          </a:prstGeom>
          <a:noFill/>
        </p:spPr>
        <p:txBody>
          <a:bodyPr wrap="square" lIns="0" tIns="0" rIns="0" bIns="0" anchor="t">
            <a:spAutoFit/>
          </a:bodyPr>
          <a:lstStyle/>
          <a:p>
            <a:r>
              <a:rPr sz="1000" b="1" i="0" spc="200">
                <a:solidFill>
                  <a:srgbClr val="1E49E2"/>
                </a:solidFill>
              </a:rPr>
              <a:t>GO-LIVE GATE</a:t>
            </a:r>
          </a:p>
        </p:txBody>
      </p:sp>
      <p:sp>
        <p:nvSpPr>
          <p:cNvPr id="1019" name="TextBox 1018"/>
          <p:cNvSpPr txBox="1"/>
          <p:nvPr/>
        </p:nvSpPr>
        <p:spPr>
          <a:xfrm>
            <a:off x="6382512" y="4206240"/>
            <a:ext cx="5029200" cy="594360"/>
          </a:xfrm>
          <a:prstGeom prst="rect">
            <a:avLst/>
          </a:prstGeom>
          <a:noFill/>
        </p:spPr>
        <p:txBody>
          <a:bodyPr wrap="square" lIns="0" tIns="0" rIns="0" bIns="0" anchor="t">
            <a:spAutoFit/>
          </a:bodyPr>
          <a:lstStyle/>
          <a:p>
            <a:r>
              <a:rPr sz="1500" b="0" i="0">
                <a:solidFill>
                  <a:srgbClr val="0B1F3A"/>
                </a:solidFill>
              </a:rPr>
              <a:t>Signed off, every approval closed, same tag promoted, running app verified.</a:t>
            </a:r>
          </a:p>
        </p:txBody>
      </p:sp>
      <p:sp>
        <p:nvSpPr>
          <p:cNvPr id="1020" name="Rounded Rectangle 1019"/>
          <p:cNvSpPr/>
          <p:nvPr/>
        </p:nvSpPr>
        <p:spPr>
          <a:xfrm>
            <a:off x="548640" y="5120640"/>
            <a:ext cx="11091672" cy="548640"/>
          </a:xfrm>
          <a:prstGeom prst="roundRect">
            <a:avLst>
              <a:gd name="adj" fmla="val 1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1" name="TextBox 1020"/>
          <p:cNvSpPr txBox="1"/>
          <p:nvPr/>
        </p:nvSpPr>
        <p:spPr>
          <a:xfrm>
            <a:off x="822960" y="5120640"/>
            <a:ext cx="10607040" cy="548640"/>
          </a:xfrm>
          <a:prstGeom prst="rect">
            <a:avLst/>
          </a:prstGeom>
          <a:noFill/>
        </p:spPr>
        <p:txBody>
          <a:bodyPr wrap="square" lIns="0" tIns="0" rIns="0" bIns="0" anchor="ctr">
            <a:spAutoFit/>
          </a:bodyPr>
          <a:lstStyle/>
          <a:p>
            <a:r>
              <a:rPr sz="1600" b="0" i="1">
                <a:solidFill>
                  <a:srgbClr val="FFFFFF"/>
                </a:solidFill>
              </a:rPr>
              <a:t>The artifact you produce along the way is the one you never have to write under deadline.</a:t>
            </a:r>
          </a:p>
        </p:txBody>
      </p:sp>
      <p:sp>
        <p:nvSpPr>
          <p:cNvPr id="1022" name="TextBox 1021"/>
          <p:cNvSpPr txBox="1"/>
          <p:nvPr/>
        </p:nvSpPr>
        <p:spPr>
          <a:xfrm>
            <a:off x="548640" y="5806440"/>
            <a:ext cx="11091672" cy="228600"/>
          </a:xfrm>
          <a:prstGeom prst="rect">
            <a:avLst/>
          </a:prstGeom>
          <a:noFill/>
        </p:spPr>
        <p:txBody>
          <a:bodyPr wrap="square" lIns="0" tIns="0" rIns="0" bIns="0" anchor="t">
            <a:spAutoFit/>
          </a:bodyPr>
          <a:lstStyle/>
          <a:p>
            <a:r>
              <a:rPr sz="1050" b="0" i="1">
                <a:solidFill>
                  <a:srgbClr val="0B1F3A"/>
                </a:solidFill>
              </a:rPr>
              <a:t>The delivery map, the gate register and every skill are in the process-canon repository. Named owners to be confirmed with TDMI.</a:t>
            </a:r>
          </a:p>
        </p:txBody>
      </p:sp>
    </p:spTree>
  </p:cSld>
  <p:clrMapOvr>
    <a:masterClrMapping/>
  </p:clrMapOvr>
</p:sld>
</file>

<file path=ppt/theme/theme1.xml><?xml version="1.0" encoding="utf-8"?>
<a:theme xmlns:a="http://schemas.openxmlformats.org/drawingml/2006/main" name="TDMI Fabric Training">
  <a:themeElements>
    <a:clrScheme name="TDMI Fabric Training">
      <a:dk1>
        <a:srgbClr val="0B1F3A"/>
      </a:dk1>
      <a:lt1>
        <a:srgbClr val="FFFFFF"/>
      </a:lt1>
      <a:dk2>
        <a:srgbClr val="00338D"/>
      </a:dk2>
      <a:lt2>
        <a:srgbClr val="EEF3FB"/>
      </a:lt2>
      <a:accent1>
        <a:srgbClr val="1E49E2"/>
      </a:accent1>
      <a:accent2>
        <a:srgbClr val="00A3A1"/>
      </a:accent2>
      <a:accent3>
        <a:srgbClr val="F2A900"/>
      </a:accent3>
      <a:accent4>
        <a:srgbClr val="B5651D"/>
      </a:accent4>
      <a:accent5>
        <a:srgbClr val="8D99A6"/>
      </a:accent5>
      <a:accent6>
        <a:srgbClr val="C9A227"/>
      </a:accent6>
      <a:hlink>
        <a:srgbClr val="1E49E2"/>
      </a:hlink>
      <a:folHlink>
        <a:srgbClr val="6B3FA0"/>
      </a:folHlink>
    </a:clrScheme>
    <a:fontScheme name="TDMI Fabric Trai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1056aa5-6b4d-4c47-aaac-9426e9d9b737">
      <Terms xmlns="http://schemas.microsoft.com/office/infopath/2007/PartnerControls"/>
    </lcf76f155ced4ddcb4097134ff3c332f>
    <TaxCatchAll xmlns="8e4cac8c-e99d-49dd-8c24-1d4caeb84b2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999CE80F1B44445BB5E9DE12FCAFFBF" ma:contentTypeVersion="18" ma:contentTypeDescription="Create a new document." ma:contentTypeScope="" ma:versionID="774106159c7c134df5bfce6a643ad80a">
  <xsd:schema xmlns:xsd="http://www.w3.org/2001/XMLSchema" xmlns:xs="http://www.w3.org/2001/XMLSchema" xmlns:p="http://schemas.microsoft.com/office/2006/metadata/properties" xmlns:ns2="a1056aa5-6b4d-4c47-aaac-9426e9d9b737" xmlns:ns3="8e4cac8c-e99d-49dd-8c24-1d4caeb84b2c" targetNamespace="http://schemas.microsoft.com/office/2006/metadata/properties" ma:root="true" ma:fieldsID="a859a95caa7e12b5ac7f0eaaf76282f9" ns2:_="" ns3:_="">
    <xsd:import namespace="a1056aa5-6b4d-4c47-aaac-9426e9d9b737"/>
    <xsd:import namespace="8e4cac8c-e99d-49dd-8c24-1d4caeb84b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056aa5-6b4d-4c47-aaac-9426e9d9b7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e4cac8c-e99d-49dd-8c24-1d4caeb84b2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7052aedc-1507-4a22-9d47-87556314de20}" ma:internalName="TaxCatchAll" ma:showField="CatchAllData" ma:web="8e4cac8c-e99d-49dd-8c24-1d4caeb84b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02323C-E81F-44C3-BE99-F5BDAE902789}">
  <ds:schemaRefs>
    <ds:schemaRef ds:uri="http://schemas.microsoft.com/sharepoint/v3/contenttype/forms"/>
  </ds:schemaRefs>
</ds:datastoreItem>
</file>

<file path=customXml/itemProps2.xml><?xml version="1.0" encoding="utf-8"?>
<ds:datastoreItem xmlns:ds="http://schemas.openxmlformats.org/officeDocument/2006/customXml" ds:itemID="{A0777841-DFAC-4C78-B8B5-E659AE9BFA3D}">
  <ds:schemaRefs>
    <ds:schemaRef ds:uri="8e4cac8c-e99d-49dd-8c24-1d4caeb84b2c"/>
    <ds:schemaRef ds:uri="a1056aa5-6b4d-4c47-aaac-9426e9d9b73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B0FA7D4-0754-4A9D-A493-E97B078E44C3}">
  <ds:schemaRefs>
    <ds:schemaRef ds:uri="8e4cac8c-e99d-49dd-8c24-1d4caeb84b2c"/>
    <ds:schemaRef ds:uri="a1056aa5-6b4d-4c47-aaac-9426e9d9b73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24</Slides>
  <Notes>24</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TDMI Fabric Training</vt:lpstr>
      <vt:lpstr>Taking Applications to Production</vt:lpstr>
      <vt:lpstr>By the end of this module you can do six things</vt:lpstr>
      <vt:lpstr>Module 05 is the mechanics. Module 06 adds the gates.</vt:lpstr>
      <vt:lpstr>A working model is where shipping starts</vt:lpstr>
      <vt:lpstr>Three systems, each on its own clock</vt:lpstr>
      <vt:lpstr>Four phases, each closed by a gate you can point at</vt:lpstr>
      <vt:lpstr>The twelve TDMI steps, placed on the four gates</vt:lpstr>
      <vt:lpstr>You are allowed to refuse the model</vt:lpstr>
      <vt:lpstr>Closing the charter once pays off four times</vt:lpstr>
      <vt:lpstr>The model is a specification. Read it like one.</vt:lpstr>
      <vt:lpstr>The DEV gate: the running app answers a request</vt:lpstr>
      <vt:lpstr>The build loop runs until the full flow is confirmed</vt:lpstr>
      <vt:lpstr>Eight continuous rails block the merge, not the release</vt:lpstr>
      <vt:lpstr>Every application needs the same approvals</vt:lpstr>
      <vt:lpstr>ESIS is five reviews in sequence, over four to eight weeks</vt:lpstr>
      <vt:lpstr>The release loop: from cut release to verified app</vt:lpstr>
      <vt:lpstr>Git is the source. Test management is a build output.</vt:lpstr>
      <vt:lpstr>The handoff pack is built at every gate, not at the end</vt:lpstr>
      <vt:lpstr>One rule set in every repo, and six skills to apply it</vt:lpstr>
      <vt:lpstr>The guard checks every command before it runs</vt:lpstr>
      <vt:lpstr>Exercise: run the gate review</vt:lpstr>
      <vt:lpstr>Exercise: answers</vt:lpstr>
      <vt:lpstr>What good looks like</vt:lpstr>
      <vt:lpstr>Module 06 in four gates</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Fabric &amp; DevOps Enablement: Day One, Foundations</dc:title>
  <dc:subject>Disney Tax Data Management &amp; Innovation: Fabric training, Day One</dc:subject>
  <dc:creator>Sheridan, Jack</dc:creator>
  <cp:revision>1</cp:revision>
  <dcterms:created xsi:type="dcterms:W3CDTF">2026-10-06T18:46:18Z</dcterms:created>
  <dcterms:modified xsi:type="dcterms:W3CDTF">2026-10-07T20:32:35Z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0x010100C999CE80F1B44445BB5E9DE12FCAFFBF</vt:lpwstr>
  </property>
  <property fmtid="{D5CDD505-2E9C-101B-9397-08002B2CF9AE}" pid="3" name="MediaServiceImageTags">
    <vt:lpwstr/>
  </property>
</Properties>
</file>