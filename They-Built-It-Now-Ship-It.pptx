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256" r:id="rId5"/>
    <p:sldId id="257" r:id="rId6"/>
    <p:sldId id="258" r:id="rId7"/>
    <p:sldId id="259" r:id="rId8"/>
    <p:sldId id="284"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CFDCC5-4660-4A97-B8A6-934DC756386F}" v="3" dt="2026-10-02T13:33:23.9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8"/>
    <p:restoredTop sz="94610"/>
  </p:normalViewPr>
  <p:slideViewPr>
    <p:cSldViewPr snapToGrid="0" snapToObjects="1">
      <p:cViewPr varScale="1">
        <p:scale>
          <a:sx n="60" d="100"/>
          <a:sy n="60" d="100"/>
        </p:scale>
        <p:origin x="64" y="6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441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F47"/>
        </a:solidFill>
        <a:effectLst/>
      </p:bgPr>
    </p:bg>
    <p:spTree>
      <p:nvGrpSpPr>
        <p:cNvPr id="1" name=""/>
        <p:cNvGrpSpPr/>
        <p:nvPr/>
      </p:nvGrpSpPr>
      <p:grpSpPr>
        <a:xfrm>
          <a:off x="0" y="0"/>
          <a:ext cx="0" cy="0"/>
          <a:chOff x="0" y="0"/>
          <a:chExt cx="0" cy="0"/>
        </a:xfrm>
      </p:grpSpPr>
      <p:sp>
        <p:nvSpPr>
          <p:cNvPr id="2" name="Text 0"/>
          <p:cNvSpPr txBox="1"/>
          <p:nvPr/>
        </p:nvSpPr>
        <p:spPr>
          <a:xfrm>
            <a:off x="822960" y="2057400"/>
            <a:ext cx="10058400" cy="274320"/>
          </a:xfrm>
          <a:prstGeom prst="rect">
            <a:avLst/>
          </a:prstGeom>
          <a:noFill/>
          <a:ln/>
        </p:spPr>
        <p:txBody>
          <a:bodyPr wrap="square" lIns="0" tIns="0" rIns="0" bIns="0" rtlCol="0" anchor="ctr"/>
          <a:lstStyle/>
          <a:p>
            <a:pPr marL="0" indent="0">
              <a:buNone/>
            </a:pPr>
            <a:r>
              <a:rPr lang="en-US" sz="1100" b="1" kern="0" spc="250" dirty="0">
                <a:solidFill>
                  <a:srgbClr val="0F8B8D"/>
                </a:solidFill>
                <a:latin typeface="Calibri" pitchFamily="34" charset="0"/>
                <a:ea typeface="Calibri" pitchFamily="34" charset="-122"/>
                <a:cs typeface="Calibri" pitchFamily="34" charset="-120"/>
              </a:rPr>
              <a:t>TRAINING · TDMI ENGINEERING</a:t>
            </a:r>
            <a:endParaRPr lang="en-US" sz="1100" dirty="0"/>
          </a:p>
        </p:txBody>
      </p:sp>
      <p:sp>
        <p:nvSpPr>
          <p:cNvPr id="3" name="Text 1"/>
          <p:cNvSpPr txBox="1"/>
          <p:nvPr/>
        </p:nvSpPr>
        <p:spPr>
          <a:xfrm>
            <a:off x="786384" y="2468880"/>
            <a:ext cx="10058400" cy="86868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They Built It.</a:t>
            </a:r>
            <a:endParaRPr lang="en-US" sz="5400" dirty="0"/>
          </a:p>
        </p:txBody>
      </p:sp>
      <p:sp>
        <p:nvSpPr>
          <p:cNvPr id="4" name="Text 2"/>
          <p:cNvSpPr txBox="1"/>
          <p:nvPr/>
        </p:nvSpPr>
        <p:spPr>
          <a:xfrm>
            <a:off x="786384" y="3291840"/>
            <a:ext cx="10058400" cy="868680"/>
          </a:xfrm>
          <a:prstGeom prst="rect">
            <a:avLst/>
          </a:prstGeom>
          <a:noFill/>
          <a:ln/>
        </p:spPr>
        <p:txBody>
          <a:bodyPr wrap="square" lIns="0" tIns="0" rIns="0" bIns="0" rtlCol="0" anchor="ctr"/>
          <a:lstStyle/>
          <a:p>
            <a:pPr marL="0" indent="0">
              <a:buNone/>
            </a:pPr>
            <a:r>
              <a:rPr lang="en-US" sz="5400" b="1" dirty="0">
                <a:solidFill>
                  <a:srgbClr val="0F8B8D"/>
                </a:solidFill>
                <a:latin typeface="Calibri" pitchFamily="34" charset="0"/>
                <a:ea typeface="Calibri" pitchFamily="34" charset="-122"/>
                <a:cs typeface="Calibri" pitchFamily="34" charset="-120"/>
              </a:rPr>
              <a:t>Now Ship It.</a:t>
            </a:r>
            <a:endParaRPr lang="en-US" sz="5400" dirty="0"/>
          </a:p>
        </p:txBody>
      </p:sp>
      <p:sp>
        <p:nvSpPr>
          <p:cNvPr id="5" name="Text 3"/>
          <p:cNvSpPr txBox="1"/>
          <p:nvPr/>
        </p:nvSpPr>
        <p:spPr>
          <a:xfrm>
            <a:off x="822960" y="4343400"/>
            <a:ext cx="10058400" cy="365760"/>
          </a:xfrm>
          <a:prstGeom prst="rect">
            <a:avLst/>
          </a:prstGeom>
          <a:noFill/>
          <a:ln/>
        </p:spPr>
        <p:txBody>
          <a:bodyPr wrap="square" lIns="0" tIns="0" rIns="0" bIns="0" rtlCol="0" anchor="ctr"/>
          <a:lstStyle/>
          <a:p>
            <a:pPr marL="0" indent="0">
              <a:buNone/>
            </a:pPr>
            <a:r>
              <a:rPr lang="en-US" sz="1600" dirty="0">
                <a:solidFill>
                  <a:srgbClr val="9FB1BC"/>
                </a:solidFill>
                <a:latin typeface="Calibri" pitchFamily="34" charset="0"/>
                <a:ea typeface="Calibri" pitchFamily="34" charset="-122"/>
                <a:cs typeface="Calibri" pitchFamily="34" charset="-120"/>
              </a:rPr>
              <a:t>The path from a working model to production, and what you own along the way.</a:t>
            </a:r>
            <a:endParaRPr lang="en-US" sz="1600" dirty="0"/>
          </a:p>
        </p:txBody>
      </p:sp>
      <p:sp>
        <p:nvSpPr>
          <p:cNvPr id="6" name="Text 4"/>
          <p:cNvSpPr txBox="1"/>
          <p:nvPr/>
        </p:nvSpPr>
        <p:spPr>
          <a:xfrm>
            <a:off x="822960" y="6035040"/>
            <a:ext cx="7315200" cy="274320"/>
          </a:xfrm>
          <a:prstGeom prst="rect">
            <a:avLst/>
          </a:prstGeom>
          <a:noFill/>
          <a:ln/>
        </p:spPr>
        <p:txBody>
          <a:bodyPr wrap="square" lIns="0" tIns="0" rIns="0" bIns="0" rtlCol="0" anchor="ctr"/>
          <a:lstStyle/>
          <a:p>
            <a:pPr marL="0" indent="0">
              <a:buNone/>
            </a:pPr>
            <a:r>
              <a:rPr lang="en-US" sz="1100" dirty="0">
                <a:solidFill>
                  <a:srgbClr val="7C8B99"/>
                </a:solidFill>
                <a:latin typeface="Calibri" pitchFamily="34" charset="0"/>
                <a:ea typeface="Calibri" pitchFamily="34" charset="-122"/>
                <a:cs typeface="Calibri" pitchFamily="34" charset="-120"/>
              </a:rPr>
              <a:t>Tax Data Management &amp; Innovation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WHERE WE LEFT OFF</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A model lands on your desk. Now what?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companion deck taught the business to stop writing documents and start building working models. It ends the moment a model is handed to you. This deck starts there.</a:t>
            </a:r>
            <a:endParaRPr lang="en-US" sz="1600" dirty="0"/>
          </a:p>
        </p:txBody>
      </p:sp>
      <p:sp>
        <p:nvSpPr>
          <p:cNvPr id="7" name="Shape 5"/>
          <p:cNvSpPr/>
          <p:nvPr/>
        </p:nvSpPr>
        <p:spPr>
          <a:xfrm>
            <a:off x="594360"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YOU RECEIVE</a:t>
            </a:r>
            <a:endParaRPr lang="en-US" sz="900" dirty="0"/>
          </a:p>
        </p:txBody>
      </p:sp>
      <p:sp>
        <p:nvSpPr>
          <p:cNvPr id="9" name="Text 7"/>
          <p:cNvSpPr txBox="1"/>
          <p:nvPr/>
        </p:nvSpPr>
        <p:spPr>
          <a:xfrm>
            <a:off x="886968"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 working model</a:t>
            </a:r>
            <a:endParaRPr lang="en-US" sz="1800" dirty="0"/>
          </a:p>
        </p:txBody>
      </p:sp>
      <p:sp>
        <p:nvSpPr>
          <p:cNvPr id="10" name="Text 8"/>
          <p:cNvSpPr txBox="1"/>
          <p:nvPr/>
        </p:nvSpPr>
        <p:spPr>
          <a:xfrm>
            <a:off x="886968"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One HTML file. Fabricated data. Every screen clickable, every state reachable.</a:t>
            </a:r>
            <a:endParaRPr lang="en-US" sz="1350" dirty="0"/>
          </a:p>
        </p:txBody>
      </p:sp>
      <p:sp>
        <p:nvSpPr>
          <p:cNvPr id="11" name="Shape 9"/>
          <p:cNvSpPr/>
          <p:nvPr/>
        </p:nvSpPr>
        <p:spPr>
          <a:xfrm>
            <a:off x="4352544"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4645152"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AND</a:t>
            </a:r>
            <a:endParaRPr lang="en-US" sz="900" dirty="0"/>
          </a:p>
        </p:txBody>
      </p:sp>
      <p:sp>
        <p:nvSpPr>
          <p:cNvPr id="13" name="Text 11"/>
          <p:cNvSpPr txBox="1"/>
          <p:nvPr/>
        </p:nvSpPr>
        <p:spPr>
          <a:xfrm>
            <a:off x="4645152"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 model charter</a:t>
            </a:r>
            <a:endParaRPr lang="en-US" sz="1800" dirty="0"/>
          </a:p>
        </p:txBody>
      </p:sp>
      <p:sp>
        <p:nvSpPr>
          <p:cNvPr id="14" name="Text 12"/>
          <p:cNvSpPr txBox="1"/>
          <p:nvPr/>
        </p:nvSpPr>
        <p:spPr>
          <a:xfrm>
            <a:off x="4645152"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Purpose, users, assumptions, open questions, and what is deliberately out of scope.</a:t>
            </a:r>
            <a:endParaRPr lang="en-US" sz="1350" dirty="0"/>
          </a:p>
        </p:txBody>
      </p:sp>
      <p:sp>
        <p:nvSpPr>
          <p:cNvPr id="15" name="Shape 13"/>
          <p:cNvSpPr/>
          <p:nvPr/>
        </p:nvSpPr>
        <p:spPr>
          <a:xfrm>
            <a:off x="8110728"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403336"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NOT</a:t>
            </a:r>
            <a:endParaRPr lang="en-US" sz="900" dirty="0"/>
          </a:p>
        </p:txBody>
      </p:sp>
      <p:sp>
        <p:nvSpPr>
          <p:cNvPr id="17" name="Text 15"/>
          <p:cNvSpPr txBox="1"/>
          <p:nvPr/>
        </p:nvSpPr>
        <p:spPr>
          <a:xfrm>
            <a:off x="8403336"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 specification</a:t>
            </a:r>
            <a:endParaRPr lang="en-US" sz="1800" dirty="0"/>
          </a:p>
        </p:txBody>
      </p:sp>
      <p:sp>
        <p:nvSpPr>
          <p:cNvPr id="18" name="Text 16"/>
          <p:cNvSpPr txBox="1"/>
          <p:nvPr/>
        </p:nvSpPr>
        <p:spPr>
          <a:xfrm>
            <a:off x="8403336"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Nobody wrote thirty pages. The model is the requirement, and it is more precise than prose.</a:t>
            </a:r>
            <a:endParaRPr lang="en-US" sz="1350" dirty="0"/>
          </a:p>
        </p:txBody>
      </p:sp>
      <p:sp>
        <p:nvSpPr>
          <p:cNvPr id="19" name="Shape 17"/>
          <p:cNvSpPr/>
          <p:nvPr/>
        </p:nvSpPr>
        <p:spPr>
          <a:xfrm>
            <a:off x="594360" y="49377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377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Your job title in that deck is upsizer. This deck is what upsizing actually involves.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TODAY</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Three acts, and one mental model</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94360" y="2011680"/>
            <a:ext cx="512064" cy="512064"/>
          </a:xfrm>
          <a:prstGeom prst="ellipse">
            <a:avLst/>
          </a:prstGeom>
          <a:solidFill>
            <a:srgbClr val="0F8B8D"/>
          </a:solidFill>
          <a:ln w="12700">
            <a:solidFill>
              <a:srgbClr val="0F8B8D"/>
            </a:solidFill>
            <a:prstDash val="solid"/>
          </a:ln>
        </p:spPr>
        <p:txBody>
          <a:bodyPr/>
          <a:lstStyle/>
          <a:p>
            <a:endParaRPr lang="en-US"/>
          </a:p>
        </p:txBody>
      </p:sp>
      <p:sp>
        <p:nvSpPr>
          <p:cNvPr id="7" name="Text 5"/>
          <p:cNvSpPr txBox="1"/>
          <p:nvPr/>
        </p:nvSpPr>
        <p:spPr>
          <a:xfrm>
            <a:off x="594360" y="201168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325880" y="1993392"/>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The Path</a:t>
            </a:r>
            <a:endParaRPr lang="en-US" sz="1800" dirty="0"/>
          </a:p>
        </p:txBody>
      </p:sp>
      <p:sp>
        <p:nvSpPr>
          <p:cNvPr id="9" name="Text 7"/>
          <p:cNvSpPr txBox="1"/>
          <p:nvPr/>
        </p:nvSpPr>
        <p:spPr>
          <a:xfrm>
            <a:off x="1325880" y="2304288"/>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Four phases and four gates, one at the end of each.  It takes you from </a:t>
            </a:r>
            <a:r>
              <a:rPr lang="en-US" sz="1350" dirty="0" err="1">
                <a:solidFill>
                  <a:srgbClr val="45586A"/>
                </a:solidFill>
                <a:latin typeface="Calibri" pitchFamily="34" charset="0"/>
                <a:ea typeface="Calibri" pitchFamily="34" charset="-122"/>
                <a:cs typeface="Calibri" pitchFamily="34" charset="-120"/>
              </a:rPr>
              <a:t>model.html</a:t>
            </a:r>
            <a:r>
              <a:rPr lang="en-US" sz="1350" dirty="0">
                <a:solidFill>
                  <a:srgbClr val="45586A"/>
                </a:solidFill>
                <a:latin typeface="Calibri" pitchFamily="34" charset="0"/>
                <a:ea typeface="Calibri" pitchFamily="34" charset="-122"/>
                <a:cs typeface="Calibri" pitchFamily="34" charset="-120"/>
              </a:rPr>
              <a:t> to production release.  It also describes what you must have from the user to start.</a:t>
            </a:r>
            <a:endParaRPr lang="en-US" sz="1350" dirty="0"/>
          </a:p>
        </p:txBody>
      </p:sp>
      <p:sp>
        <p:nvSpPr>
          <p:cNvPr id="10" name="Shape 8"/>
          <p:cNvSpPr/>
          <p:nvPr/>
        </p:nvSpPr>
        <p:spPr>
          <a:xfrm>
            <a:off x="594360" y="2852928"/>
            <a:ext cx="512064" cy="512064"/>
          </a:xfrm>
          <a:prstGeom prst="ellipse">
            <a:avLst/>
          </a:prstGeom>
          <a:solidFill>
            <a:srgbClr val="0F8B8D"/>
          </a:solidFill>
          <a:ln w="12700">
            <a:solidFill>
              <a:srgbClr val="0F8B8D"/>
            </a:solidFill>
            <a:prstDash val="solid"/>
          </a:ln>
        </p:spPr>
        <p:txBody>
          <a:bodyPr/>
          <a:lstStyle/>
          <a:p>
            <a:endParaRPr lang="en-US"/>
          </a:p>
        </p:txBody>
      </p:sp>
      <p:sp>
        <p:nvSpPr>
          <p:cNvPr id="11" name="Text 9"/>
          <p:cNvSpPr txBox="1"/>
          <p:nvPr/>
        </p:nvSpPr>
        <p:spPr>
          <a:xfrm>
            <a:off x="594360" y="28529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325880" y="2834640"/>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The Loop(s)</a:t>
            </a:r>
            <a:endParaRPr lang="en-US" sz="1800" dirty="0"/>
          </a:p>
        </p:txBody>
      </p:sp>
      <p:sp>
        <p:nvSpPr>
          <p:cNvPr id="13" name="Text 11"/>
          <p:cNvSpPr txBox="1"/>
          <p:nvPr/>
        </p:nvSpPr>
        <p:spPr>
          <a:xfrm>
            <a:off x="1325880" y="3145536"/>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The build loop, the quality guardrails (or just “rails”) that run beside it, and the obligations that run on somebody else’s clock.  Thinking of the development cycle in feature loops and release loops helps us make it repeatable and predictable.</a:t>
            </a:r>
            <a:endParaRPr lang="en-US" sz="1350" dirty="0"/>
          </a:p>
        </p:txBody>
      </p:sp>
      <p:sp>
        <p:nvSpPr>
          <p:cNvPr id="14" name="Shape 12"/>
          <p:cNvSpPr/>
          <p:nvPr/>
        </p:nvSpPr>
        <p:spPr>
          <a:xfrm>
            <a:off x="594360" y="3694176"/>
            <a:ext cx="512064" cy="512064"/>
          </a:xfrm>
          <a:prstGeom prst="ellipse">
            <a:avLst/>
          </a:prstGeom>
          <a:solidFill>
            <a:srgbClr val="0F8B8D"/>
          </a:solidFill>
          <a:ln w="12700">
            <a:solidFill>
              <a:srgbClr val="0F8B8D"/>
            </a:solidFill>
            <a:prstDash val="solid"/>
          </a:ln>
        </p:spPr>
        <p:txBody>
          <a:bodyPr/>
          <a:lstStyle/>
          <a:p>
            <a:endParaRPr lang="en-US"/>
          </a:p>
        </p:txBody>
      </p:sp>
      <p:sp>
        <p:nvSpPr>
          <p:cNvPr id="15" name="Text 13"/>
          <p:cNvSpPr txBox="1"/>
          <p:nvPr/>
        </p:nvSpPr>
        <p:spPr>
          <a:xfrm>
            <a:off x="594360" y="369417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325880" y="3675888"/>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The Tools</a:t>
            </a:r>
            <a:endParaRPr lang="en-US" sz="1800" dirty="0"/>
          </a:p>
        </p:txBody>
      </p:sp>
      <p:sp>
        <p:nvSpPr>
          <p:cNvPr id="17" name="Text 15"/>
          <p:cNvSpPr txBox="1"/>
          <p:nvPr/>
        </p:nvSpPr>
        <p:spPr>
          <a:xfrm>
            <a:off x="1325880" y="3986784"/>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The canon, the skills, and the guards in the form of testing, static analysis, and rigorous methodology. What is automated, what is enforced, and what is still on you.</a:t>
            </a:r>
            <a:endParaRPr lang="en-US" sz="1350" dirty="0"/>
          </a:p>
        </p:txBody>
      </p:sp>
      <p:sp>
        <p:nvSpPr>
          <p:cNvPr id="18" name="Shape 16"/>
          <p:cNvSpPr/>
          <p:nvPr/>
        </p:nvSpPr>
        <p:spPr>
          <a:xfrm>
            <a:off x="594360" y="512064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19" name="Text 17"/>
          <p:cNvSpPr txBox="1"/>
          <p:nvPr/>
        </p:nvSpPr>
        <p:spPr>
          <a:xfrm>
            <a:off x="960120" y="512064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If you remember one thing today, make it the next slide.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PATH</a:t>
            </a:r>
            <a:endParaRPr lang="en-US" sz="900" dirty="0"/>
          </a:p>
        </p:txBody>
      </p:sp>
      <p:sp>
        <p:nvSpPr>
          <p:cNvPr id="3" name="Text 1"/>
          <p:cNvSpPr txBox="1"/>
          <p:nvPr/>
        </p:nvSpPr>
        <p:spPr>
          <a:xfrm>
            <a:off x="576072" y="566928"/>
            <a:ext cx="11064240" cy="941832"/>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Three Separate Systems Integrated (Process, Quality Control, Documentation)</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Most delivery processes fail because they are drawn as a single line. These three run on different clocks, and treating them as one is what makes work fall between them.</a:t>
            </a:r>
            <a:endParaRPr lang="en-US" sz="1600" dirty="0"/>
          </a:p>
        </p:txBody>
      </p:sp>
      <p:sp>
        <p:nvSpPr>
          <p:cNvPr id="7" name="Shape 5"/>
          <p:cNvSpPr/>
          <p:nvPr/>
        </p:nvSpPr>
        <p:spPr>
          <a:xfrm>
            <a:off x="594360"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Process (“THE SPINE”)</a:t>
            </a:r>
            <a:endParaRPr lang="en-US" sz="900" dirty="0"/>
          </a:p>
        </p:txBody>
      </p:sp>
      <p:sp>
        <p:nvSpPr>
          <p:cNvPr id="9" name="Text 7"/>
          <p:cNvSpPr txBox="1"/>
          <p:nvPr/>
        </p:nvSpPr>
        <p:spPr>
          <a:xfrm>
            <a:off x="886968"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The path work travels</a:t>
            </a:r>
            <a:endParaRPr lang="en-US" sz="1800" dirty="0"/>
          </a:p>
        </p:txBody>
      </p:sp>
      <p:sp>
        <p:nvSpPr>
          <p:cNvPr id="10" name="Text 8"/>
          <p:cNvSpPr txBox="1"/>
          <p:nvPr/>
        </p:nvSpPr>
        <p:spPr>
          <a:xfrm>
            <a:off x="886968"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Four phases, four gates. Linear. This is the part that looks like a process diagram.</a:t>
            </a:r>
            <a:endParaRPr lang="en-US" sz="1350" dirty="0"/>
          </a:p>
        </p:txBody>
      </p:sp>
      <p:sp>
        <p:nvSpPr>
          <p:cNvPr id="11" name="Shape 9"/>
          <p:cNvSpPr/>
          <p:nvPr/>
        </p:nvSpPr>
        <p:spPr>
          <a:xfrm>
            <a:off x="4352544" y="2331720"/>
            <a:ext cx="3483864" cy="2286000"/>
          </a:xfrm>
          <a:prstGeom prst="roundRect">
            <a:avLst>
              <a:gd name="adj" fmla="val 2400"/>
            </a:avLst>
          </a:prstGeom>
          <a:solidFill>
            <a:srgbClr val="D9E4E7"/>
          </a:solidFill>
          <a:ln w="12700">
            <a:solidFill>
              <a:srgbClr val="D9E4E7"/>
            </a:solidFill>
            <a:prstDash val="solid"/>
          </a:ln>
        </p:spPr>
        <p:txBody>
          <a:bodyPr/>
          <a:lstStyle/>
          <a:p>
            <a:endParaRPr lang="en-US"/>
          </a:p>
        </p:txBody>
      </p:sp>
      <p:sp>
        <p:nvSpPr>
          <p:cNvPr id="12" name="Text 10"/>
          <p:cNvSpPr txBox="1"/>
          <p:nvPr/>
        </p:nvSpPr>
        <p:spPr>
          <a:xfrm>
            <a:off x="4645152"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Quality Control (“THE RAILS”)</a:t>
            </a:r>
            <a:endParaRPr lang="en-US" sz="900" dirty="0"/>
          </a:p>
        </p:txBody>
      </p:sp>
      <p:sp>
        <p:nvSpPr>
          <p:cNvPr id="13" name="Text 11"/>
          <p:cNvSpPr txBox="1"/>
          <p:nvPr/>
        </p:nvSpPr>
        <p:spPr>
          <a:xfrm>
            <a:off x="4645152"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Quality obligations</a:t>
            </a:r>
            <a:endParaRPr lang="en-US" sz="1800" dirty="0"/>
          </a:p>
        </p:txBody>
      </p:sp>
      <p:sp>
        <p:nvSpPr>
          <p:cNvPr id="14" name="Text 12"/>
          <p:cNvSpPr txBox="1"/>
          <p:nvPr/>
        </p:nvSpPr>
        <p:spPr>
          <a:xfrm>
            <a:off x="4645152"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Some run on every change. Some run once, on another team’s clock, and take weeks.</a:t>
            </a:r>
            <a:endParaRPr lang="en-US" sz="1350" dirty="0"/>
          </a:p>
        </p:txBody>
      </p:sp>
      <p:sp>
        <p:nvSpPr>
          <p:cNvPr id="15" name="Shape 13"/>
          <p:cNvSpPr/>
          <p:nvPr/>
        </p:nvSpPr>
        <p:spPr>
          <a:xfrm>
            <a:off x="8110728" y="2331720"/>
            <a:ext cx="3483864" cy="2286000"/>
          </a:xfrm>
          <a:prstGeom prst="roundRect">
            <a:avLst>
              <a:gd name="adj" fmla="val 2400"/>
            </a:avLst>
          </a:prstGeom>
          <a:solidFill>
            <a:srgbClr val="CBE4E4"/>
          </a:solidFill>
          <a:ln w="12700">
            <a:solidFill>
              <a:srgbClr val="CBE4E4"/>
            </a:solidFill>
            <a:prstDash val="solid"/>
          </a:ln>
        </p:spPr>
        <p:txBody>
          <a:bodyPr/>
          <a:lstStyle/>
          <a:p>
            <a:endParaRPr lang="en-US"/>
          </a:p>
        </p:txBody>
      </p:sp>
      <p:sp>
        <p:nvSpPr>
          <p:cNvPr id="16" name="Text 14"/>
          <p:cNvSpPr txBox="1"/>
          <p:nvPr/>
        </p:nvSpPr>
        <p:spPr>
          <a:xfrm>
            <a:off x="8403336"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Documentation (“THE RECORD”)</a:t>
            </a:r>
            <a:endParaRPr lang="en-US" sz="900" dirty="0"/>
          </a:p>
        </p:txBody>
      </p:sp>
      <p:sp>
        <p:nvSpPr>
          <p:cNvPr id="17" name="Text 15"/>
          <p:cNvSpPr txBox="1"/>
          <p:nvPr/>
        </p:nvSpPr>
        <p:spPr>
          <a:xfrm>
            <a:off x="8403336"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What flows outward</a:t>
            </a:r>
            <a:endParaRPr lang="en-US" sz="1800" dirty="0"/>
          </a:p>
        </p:txBody>
      </p:sp>
      <p:sp>
        <p:nvSpPr>
          <p:cNvPr id="18" name="Text 16"/>
          <p:cNvSpPr txBox="1"/>
          <p:nvPr/>
        </p:nvSpPr>
        <p:spPr>
          <a:xfrm>
            <a:off x="8403336"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Phase transitions and gate outcomes, for the people who plan rather than build.</a:t>
            </a:r>
            <a:endParaRPr lang="en-US" sz="1350" dirty="0"/>
          </a:p>
        </p:txBody>
      </p:sp>
      <p:sp>
        <p:nvSpPr>
          <p:cNvPr id="19" name="Shape 17"/>
          <p:cNvSpPr/>
          <p:nvPr/>
        </p:nvSpPr>
        <p:spPr>
          <a:xfrm>
            <a:off x="594360" y="49377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377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 check that runs per commit and an assessment that takes six weeks are not the same kind of thing. Stop drawing them on the same line.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PATH</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Your work runs inside a project. The project lives in Workfront.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594360" y="1481328"/>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Before any of the engineering detail, get the frame right. Workfront is where the project stands. Everything you do feeds it.</a:t>
            </a:r>
            <a:endParaRPr lang="en-US" sz="1600" dirty="0"/>
          </a:p>
        </p:txBody>
      </p:sp>
      <p:sp>
        <p:nvSpPr>
          <p:cNvPr id="7" name="Shape 5"/>
          <p:cNvSpPr/>
          <p:nvPr/>
        </p:nvSpPr>
        <p:spPr>
          <a:xfrm>
            <a:off x="594360" y="2286000"/>
            <a:ext cx="5362956" cy="2240280"/>
          </a:xfrm>
          <a:prstGeom prst="roundRect">
            <a:avLst>
              <a:gd name="adj" fmla="val 2449"/>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2374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WORKFRONT OWNS</a:t>
            </a:r>
            <a:endParaRPr lang="en-US" sz="900" dirty="0"/>
          </a:p>
        </p:txBody>
      </p:sp>
      <p:sp>
        <p:nvSpPr>
          <p:cNvPr id="9" name="Text 7"/>
          <p:cNvSpPr txBox="1"/>
          <p:nvPr/>
        </p:nvSpPr>
        <p:spPr>
          <a:xfrm>
            <a:off x="886968" y="281635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Project state</a:t>
            </a:r>
            <a:endParaRPr lang="en-US" sz="1800" dirty="0"/>
          </a:p>
        </p:txBody>
      </p:sp>
      <p:sp>
        <p:nvSpPr>
          <p:cNvPr id="10" name="Text 8"/>
          <p:cNvSpPr txBox="1"/>
          <p:nvPr/>
        </p:nvSpPr>
        <p:spPr>
          <a:xfrm>
            <a:off x="886968" y="3310128"/>
            <a:ext cx="4777740" cy="96012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Phases and gates. Approvals and who signed. Dates. Cost classification. The index of every piece of evidence produced.</a:t>
            </a:r>
            <a:endParaRPr lang="en-US" sz="1350" dirty="0"/>
          </a:p>
        </p:txBody>
      </p:sp>
      <p:sp>
        <p:nvSpPr>
          <p:cNvPr id="11" name="Shape 9"/>
          <p:cNvSpPr/>
          <p:nvPr/>
        </p:nvSpPr>
        <p:spPr>
          <a:xfrm>
            <a:off x="6231636" y="2286000"/>
            <a:ext cx="5362956" cy="2240280"/>
          </a:xfrm>
          <a:prstGeom prst="roundRect">
            <a:avLst>
              <a:gd name="adj" fmla="val 2449"/>
            </a:avLst>
          </a:prstGeom>
          <a:solidFill>
            <a:srgbClr val="D9E4E7"/>
          </a:solidFill>
          <a:ln w="12700">
            <a:solidFill>
              <a:srgbClr val="D9E4E7"/>
            </a:solidFill>
            <a:prstDash val="solid"/>
          </a:ln>
        </p:spPr>
        <p:txBody>
          <a:bodyPr/>
          <a:lstStyle/>
          <a:p>
            <a:endParaRPr lang="en-US"/>
          </a:p>
        </p:txBody>
      </p:sp>
      <p:sp>
        <p:nvSpPr>
          <p:cNvPr id="12" name="Text 10"/>
          <p:cNvSpPr txBox="1"/>
          <p:nvPr/>
        </p:nvSpPr>
        <p:spPr>
          <a:xfrm>
            <a:off x="6524244" y="252374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BOARDS OWNS</a:t>
            </a:r>
            <a:endParaRPr lang="en-US" sz="900" dirty="0"/>
          </a:p>
        </p:txBody>
      </p:sp>
      <p:sp>
        <p:nvSpPr>
          <p:cNvPr id="13" name="Text 11"/>
          <p:cNvSpPr txBox="1"/>
          <p:nvPr/>
        </p:nvSpPr>
        <p:spPr>
          <a:xfrm>
            <a:off x="6524244" y="281635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Engineering detail</a:t>
            </a:r>
            <a:endParaRPr lang="en-US" sz="1800" dirty="0"/>
          </a:p>
        </p:txBody>
      </p:sp>
      <p:sp>
        <p:nvSpPr>
          <p:cNvPr id="14" name="Text 12"/>
          <p:cNvSpPr txBox="1"/>
          <p:nvPr/>
        </p:nvSpPr>
        <p:spPr>
          <a:xfrm>
            <a:off x="6524244" y="3310128"/>
            <a:ext cx="4777740" cy="96012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Work items, bugs, and features. What you pick up each morning. It feeds the project record upward, and it never speaks for it.</a:t>
            </a:r>
            <a:endParaRPr lang="en-US" sz="1350" dirty="0"/>
          </a:p>
        </p:txBody>
      </p:sp>
      <p:sp>
        <p:nvSpPr>
          <p:cNvPr id="15" name="Shape 13"/>
          <p:cNvSpPr/>
          <p:nvPr/>
        </p:nvSpPr>
        <p:spPr>
          <a:xfrm>
            <a:off x="594360" y="4800600"/>
            <a:ext cx="11000232" cy="777240"/>
          </a:xfrm>
          <a:prstGeom prst="roundRect">
            <a:avLst>
              <a:gd name="adj" fmla="val 7059"/>
            </a:avLst>
          </a:prstGeom>
          <a:solidFill>
            <a:srgbClr val="142F47"/>
          </a:solidFill>
          <a:ln w="12700">
            <a:solidFill>
              <a:srgbClr val="142F47"/>
            </a:solidFill>
            <a:prstDash val="solid"/>
          </a:ln>
        </p:spPr>
        <p:txBody>
          <a:bodyPr/>
          <a:lstStyle/>
          <a:p>
            <a:endParaRPr lang="en-US"/>
          </a:p>
        </p:txBody>
      </p:sp>
      <p:sp>
        <p:nvSpPr>
          <p:cNvPr id="16" name="Text 14"/>
          <p:cNvSpPr txBox="1"/>
          <p:nvPr/>
        </p:nvSpPr>
        <p:spPr>
          <a:xfrm>
            <a:off x="960120" y="4800600"/>
            <a:ext cx="10268712" cy="77724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 work item is not the truth about where the project stands. It is the truth about what you are building.</a:t>
            </a:r>
            <a:endParaRPr lang="en-US" sz="1600" dirty="0"/>
          </a:p>
        </p:txBody>
      </p:sp>
      <p:sp>
        <p:nvSpPr>
          <p:cNvPr id="17" name="Text 15"/>
          <p:cNvSpPr txBox="1"/>
          <p:nvPr/>
        </p:nvSpPr>
        <p:spPr>
          <a:xfrm>
            <a:off x="594360" y="580644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Neither reaches into the other. Workfront holds no code, no commits, no test results. Boards holds no gate approval and no cost classification.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PATH</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The engineering spine, and the gates that name it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6</a:t>
            </a:r>
            <a:endParaRPr lang="en-US" sz="900" dirty="0"/>
          </a:p>
        </p:txBody>
      </p:sp>
      <p:sp>
        <p:nvSpPr>
          <p:cNvPr id="6" name="Text 4"/>
          <p:cNvSpPr txBox="1"/>
          <p:nvPr/>
        </p:nvSpPr>
        <p:spPr>
          <a:xfrm>
            <a:off x="594360" y="1481328"/>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Four phases. Four gates. Each gate tests something you can point at, and none of them is a meeting.</a:t>
            </a:r>
            <a:endParaRPr lang="en-US" sz="1600" dirty="0"/>
          </a:p>
        </p:txBody>
      </p:sp>
      <p:sp>
        <p:nvSpPr>
          <p:cNvPr id="7" name="Text 5"/>
          <p:cNvSpPr txBox="1"/>
          <p:nvPr/>
        </p:nvSpPr>
        <p:spPr>
          <a:xfrm>
            <a:off x="594360" y="2240280"/>
            <a:ext cx="2377440"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PHASE</a:t>
            </a:r>
            <a:endParaRPr lang="en-US" sz="900" dirty="0"/>
          </a:p>
        </p:txBody>
      </p:sp>
      <p:sp>
        <p:nvSpPr>
          <p:cNvPr id="8" name="Text 6"/>
          <p:cNvSpPr txBox="1"/>
          <p:nvPr/>
        </p:nvSpPr>
        <p:spPr>
          <a:xfrm>
            <a:off x="2971800" y="2240280"/>
            <a:ext cx="5394960"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WHAT HAPPENS</a:t>
            </a:r>
            <a:endParaRPr lang="en-US" sz="900" dirty="0"/>
          </a:p>
        </p:txBody>
      </p:sp>
      <p:sp>
        <p:nvSpPr>
          <p:cNvPr id="9" name="Text 7"/>
          <p:cNvSpPr txBox="1"/>
          <p:nvPr/>
        </p:nvSpPr>
        <p:spPr>
          <a:xfrm>
            <a:off x="8366760" y="2240280"/>
            <a:ext cx="3227832"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THE GATE OUT OF IT</a:t>
            </a:r>
            <a:endParaRPr lang="en-US" sz="900" dirty="0"/>
          </a:p>
        </p:txBody>
      </p:sp>
      <p:sp>
        <p:nvSpPr>
          <p:cNvPr id="10" name="Shape 8"/>
          <p:cNvSpPr/>
          <p:nvPr/>
        </p:nvSpPr>
        <p:spPr>
          <a:xfrm>
            <a:off x="594360" y="2560320"/>
            <a:ext cx="11000232" cy="457200"/>
          </a:xfrm>
          <a:prstGeom prst="rect">
            <a:avLst/>
          </a:prstGeom>
          <a:solidFill>
            <a:srgbClr val="E4F2F2"/>
          </a:solidFill>
          <a:ln w="12700">
            <a:solidFill>
              <a:srgbClr val="E4F2F2"/>
            </a:solidFill>
            <a:prstDash val="solid"/>
          </a:ln>
        </p:spPr>
        <p:txBody>
          <a:bodyPr/>
          <a:lstStyle/>
          <a:p>
            <a:endParaRPr/>
          </a:p>
        </p:txBody>
      </p:sp>
      <p:sp>
        <p:nvSpPr>
          <p:cNvPr id="11" name="Text 9"/>
          <p:cNvSpPr txBox="1"/>
          <p:nvPr/>
        </p:nvSpPr>
        <p:spPr>
          <a:xfrm>
            <a:off x="704088" y="2624328"/>
            <a:ext cx="2157984" cy="329184"/>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0 · Model</a:t>
            </a:r>
            <a:endParaRPr lang="en-US" sz="1200" dirty="0"/>
          </a:p>
        </p:txBody>
      </p:sp>
      <p:sp>
        <p:nvSpPr>
          <p:cNvPr id="12" name="Text 10"/>
          <p:cNvSpPr txBox="1"/>
          <p:nvPr/>
        </p:nvSpPr>
        <p:spPr>
          <a:xfrm>
            <a:off x="3081528" y="2624328"/>
            <a:ext cx="5175504"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 working model and its model charter</a:t>
            </a:r>
            <a:endParaRPr lang="en-US" sz="1200" dirty="0"/>
          </a:p>
        </p:txBody>
      </p:sp>
      <p:sp>
        <p:nvSpPr>
          <p:cNvPr id="13" name="Text 11"/>
          <p:cNvSpPr txBox="1"/>
          <p:nvPr/>
        </p:nvSpPr>
        <p:spPr>
          <a:xfrm>
            <a:off x="8476488" y="2624328"/>
            <a:ext cx="3008376"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upsize gate</a:t>
            </a:r>
            <a:endParaRPr lang="en-US" sz="1200" dirty="0"/>
          </a:p>
        </p:txBody>
      </p:sp>
      <p:sp>
        <p:nvSpPr>
          <p:cNvPr id="14" name="Shape 12"/>
          <p:cNvSpPr/>
          <p:nvPr/>
        </p:nvSpPr>
        <p:spPr>
          <a:xfrm>
            <a:off x="594360" y="3072384"/>
            <a:ext cx="11000232" cy="457200"/>
          </a:xfrm>
          <a:prstGeom prst="rect">
            <a:avLst/>
          </a:prstGeom>
          <a:solidFill>
            <a:srgbClr val="FFFFFF"/>
          </a:solidFill>
          <a:ln w="12700">
            <a:solidFill>
              <a:srgbClr val="FFFFFF"/>
            </a:solidFill>
            <a:prstDash val="solid"/>
          </a:ln>
        </p:spPr>
        <p:txBody>
          <a:bodyPr/>
          <a:lstStyle/>
          <a:p>
            <a:endParaRPr/>
          </a:p>
        </p:txBody>
      </p:sp>
      <p:sp>
        <p:nvSpPr>
          <p:cNvPr id="15" name="Text 13"/>
          <p:cNvSpPr txBox="1"/>
          <p:nvPr/>
        </p:nvSpPr>
        <p:spPr>
          <a:xfrm>
            <a:off x="704088" y="3136392"/>
            <a:ext cx="2157984" cy="329184"/>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1 · Upsize</a:t>
            </a:r>
            <a:endParaRPr lang="en-US" sz="1200" dirty="0"/>
          </a:p>
        </p:txBody>
      </p:sp>
      <p:sp>
        <p:nvSpPr>
          <p:cNvPr id="16" name="Text 14"/>
          <p:cNvSpPr txBox="1"/>
          <p:nvPr/>
        </p:nvSpPr>
        <p:spPr>
          <a:xfrm>
            <a:off x="3081528" y="3136392"/>
            <a:ext cx="5175504"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model becomes a real repository on the standard stack</a:t>
            </a:r>
            <a:endParaRPr lang="en-US" sz="1200" dirty="0"/>
          </a:p>
        </p:txBody>
      </p:sp>
      <p:sp>
        <p:nvSpPr>
          <p:cNvPr id="17" name="Text 15"/>
          <p:cNvSpPr txBox="1"/>
          <p:nvPr/>
        </p:nvSpPr>
        <p:spPr>
          <a:xfrm>
            <a:off x="8476488" y="3136392"/>
            <a:ext cx="3008376"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DEV gate</a:t>
            </a:r>
            <a:endParaRPr lang="en-US" sz="1200" dirty="0"/>
          </a:p>
        </p:txBody>
      </p:sp>
      <p:sp>
        <p:nvSpPr>
          <p:cNvPr id="18" name="Shape 16"/>
          <p:cNvSpPr/>
          <p:nvPr/>
        </p:nvSpPr>
        <p:spPr>
          <a:xfrm>
            <a:off x="594360" y="3584448"/>
            <a:ext cx="11000232" cy="457200"/>
          </a:xfrm>
          <a:prstGeom prst="rect">
            <a:avLst/>
          </a:prstGeom>
          <a:solidFill>
            <a:srgbClr val="E4F2F2"/>
          </a:solidFill>
          <a:ln w="12700">
            <a:solidFill>
              <a:srgbClr val="E4F2F2"/>
            </a:solidFill>
            <a:prstDash val="solid"/>
          </a:ln>
        </p:spPr>
        <p:txBody>
          <a:bodyPr/>
          <a:lstStyle/>
          <a:p>
            <a:endParaRPr/>
          </a:p>
        </p:txBody>
      </p:sp>
      <p:sp>
        <p:nvSpPr>
          <p:cNvPr id="19" name="Text 17"/>
          <p:cNvSpPr txBox="1"/>
          <p:nvPr/>
        </p:nvSpPr>
        <p:spPr>
          <a:xfrm>
            <a:off x="704088" y="3648456"/>
            <a:ext cx="2157984" cy="329184"/>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2 · Build loop</a:t>
            </a:r>
            <a:endParaRPr lang="en-US" sz="1200" dirty="0"/>
          </a:p>
        </p:txBody>
      </p:sp>
      <p:sp>
        <p:nvSpPr>
          <p:cNvPr id="20" name="Text 18"/>
          <p:cNvSpPr txBox="1"/>
          <p:nvPr/>
        </p:nvSpPr>
        <p:spPr>
          <a:xfrm>
            <a:off x="3081528" y="3648456"/>
            <a:ext cx="5175504"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Features and fixes, with the rails running beside them</a:t>
            </a:r>
            <a:endParaRPr lang="en-US" sz="1200" dirty="0"/>
          </a:p>
        </p:txBody>
      </p:sp>
      <p:sp>
        <p:nvSpPr>
          <p:cNvPr id="21" name="Text 19"/>
          <p:cNvSpPr txBox="1"/>
          <p:nvPr/>
        </p:nvSpPr>
        <p:spPr>
          <a:xfrm>
            <a:off x="8476488" y="3648456"/>
            <a:ext cx="3008376"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scope gate</a:t>
            </a:r>
            <a:endParaRPr lang="en-US" sz="1200" dirty="0"/>
          </a:p>
        </p:txBody>
      </p:sp>
      <p:sp>
        <p:nvSpPr>
          <p:cNvPr id="22" name="Shape 20"/>
          <p:cNvSpPr/>
          <p:nvPr/>
        </p:nvSpPr>
        <p:spPr>
          <a:xfrm>
            <a:off x="594360" y="4096512"/>
            <a:ext cx="11000232" cy="457200"/>
          </a:xfrm>
          <a:prstGeom prst="rect">
            <a:avLst/>
          </a:prstGeom>
          <a:solidFill>
            <a:srgbClr val="FFFFFF"/>
          </a:solidFill>
          <a:ln w="12700">
            <a:solidFill>
              <a:srgbClr val="FFFFFF"/>
            </a:solidFill>
            <a:prstDash val="solid"/>
          </a:ln>
        </p:spPr>
        <p:txBody>
          <a:bodyPr/>
          <a:lstStyle/>
          <a:p>
            <a:endParaRPr/>
          </a:p>
        </p:txBody>
      </p:sp>
      <p:sp>
        <p:nvSpPr>
          <p:cNvPr id="23" name="Text 21"/>
          <p:cNvSpPr txBox="1"/>
          <p:nvPr/>
        </p:nvSpPr>
        <p:spPr>
          <a:xfrm>
            <a:off x="704088" y="4160520"/>
            <a:ext cx="2157984" cy="329184"/>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3 · Release loop</a:t>
            </a:r>
            <a:endParaRPr lang="en-US" sz="1200" dirty="0"/>
          </a:p>
        </p:txBody>
      </p:sp>
      <p:sp>
        <p:nvSpPr>
          <p:cNvPr id="24" name="Text 22"/>
          <p:cNvSpPr txBox="1"/>
          <p:nvPr/>
        </p:nvSpPr>
        <p:spPr>
          <a:xfrm>
            <a:off x="3081528" y="4160520"/>
            <a:ext cx="5175504"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Cut, test, accept in TEST, promote to production</a:t>
            </a:r>
            <a:endParaRPr lang="en-US" sz="1200" dirty="0"/>
          </a:p>
        </p:txBody>
      </p:sp>
      <p:sp>
        <p:nvSpPr>
          <p:cNvPr id="25" name="Text 23"/>
          <p:cNvSpPr txBox="1"/>
          <p:nvPr/>
        </p:nvSpPr>
        <p:spPr>
          <a:xfrm>
            <a:off x="8476488" y="4160520"/>
            <a:ext cx="3008376" cy="329184"/>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go-live gate</a:t>
            </a:r>
            <a:endParaRPr lang="en-US" sz="1200" dirty="0"/>
          </a:p>
        </p:txBody>
      </p:sp>
      <p:sp>
        <p:nvSpPr>
          <p:cNvPr id="26" name="Shape 24"/>
          <p:cNvSpPr/>
          <p:nvPr/>
        </p:nvSpPr>
        <p:spPr>
          <a:xfrm>
            <a:off x="594360" y="4892040"/>
            <a:ext cx="11000232" cy="777240"/>
          </a:xfrm>
          <a:prstGeom prst="roundRect">
            <a:avLst>
              <a:gd name="adj" fmla="val 7059"/>
            </a:avLst>
          </a:prstGeom>
          <a:solidFill>
            <a:srgbClr val="142F47"/>
          </a:solidFill>
          <a:ln w="12700">
            <a:solidFill>
              <a:srgbClr val="142F47"/>
            </a:solidFill>
            <a:prstDash val="solid"/>
          </a:ln>
        </p:spPr>
        <p:txBody>
          <a:bodyPr/>
          <a:lstStyle/>
          <a:p>
            <a:endParaRPr/>
          </a:p>
        </p:txBody>
      </p:sp>
      <p:sp>
        <p:nvSpPr>
          <p:cNvPr id="27" name="Text 25"/>
          <p:cNvSpPr txBox="1"/>
          <p:nvPr/>
        </p:nvSpPr>
        <p:spPr>
          <a:xfrm>
            <a:off x="960120" y="4892040"/>
            <a:ext cx="10268712" cy="77724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These gates carry names, not numbers. Workfront owns the lettered gates, and a shared identifier would claim the two test the same thing.</a:t>
            </a:r>
            <a:endParaRPr lang="en-US" sz="1600" dirty="0"/>
          </a:p>
        </p:txBody>
      </p:sp>
      <p:sp>
        <p:nvSpPr>
          <p:cNvPr id="28" name="Text 26"/>
          <p:cNvSpPr txBox="1"/>
          <p:nvPr/>
        </p:nvSpPr>
        <p:spPr>
          <a:xfrm>
            <a:off x="594360" y="589788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You own phases 1 through 3. Phase 0 belongs to the requester, and the upsize gate is where you get a say in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UPSIZE GATE</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You are allowed to refuse the model</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upsize gate tests an artifact, not an opinion. The model charter must have no unanswered open questions, and its out-of-scope list must exist.</a:t>
            </a:r>
            <a:endParaRPr lang="en-US" sz="1600" dirty="0"/>
          </a:p>
        </p:txBody>
      </p:sp>
      <p:sp>
        <p:nvSpPr>
          <p:cNvPr id="7" name="Shape 5"/>
          <p:cNvSpPr/>
          <p:nvPr/>
        </p:nvSpPr>
        <p:spPr>
          <a:xfrm>
            <a:off x="594360"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ACCEPT WHEN</a:t>
            </a:r>
            <a:endParaRPr lang="en-US" sz="900" dirty="0"/>
          </a:p>
        </p:txBody>
      </p:sp>
      <p:sp>
        <p:nvSpPr>
          <p:cNvPr id="9" name="Text 7"/>
          <p:cNvSpPr txBox="1"/>
          <p:nvPr/>
        </p:nvSpPr>
        <p:spPr>
          <a:xfrm>
            <a:off x="886968"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Every question has an answer</a:t>
            </a:r>
            <a:endParaRPr lang="en-US" sz="1800" dirty="0"/>
          </a:p>
        </p:txBody>
      </p:sp>
      <p:sp>
        <p:nvSpPr>
          <p:cNvPr id="10" name="Text 8"/>
          <p:cNvSpPr txBox="1"/>
          <p:nvPr/>
        </p:nvSpPr>
        <p:spPr>
          <a:xfrm>
            <a:off x="886968"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model charter’s open questions are closed. Somebody decided, and the decision is written down.</a:t>
            </a:r>
            <a:endParaRPr lang="en-US" sz="1350" dirty="0"/>
          </a:p>
        </p:txBody>
      </p:sp>
      <p:sp>
        <p:nvSpPr>
          <p:cNvPr id="11" name="Shape 9"/>
          <p:cNvSpPr/>
          <p:nvPr/>
        </p:nvSpPr>
        <p:spPr>
          <a:xfrm>
            <a:off x="4352544"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4645152"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REFUSE WHEN</a:t>
            </a:r>
            <a:endParaRPr lang="en-US" sz="900" dirty="0"/>
          </a:p>
        </p:txBody>
      </p:sp>
      <p:sp>
        <p:nvSpPr>
          <p:cNvPr id="13" name="Text 11"/>
          <p:cNvSpPr txBox="1"/>
          <p:nvPr/>
        </p:nvSpPr>
        <p:spPr>
          <a:xfrm>
            <a:off x="4645152"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 question is still open</a:t>
            </a:r>
            <a:endParaRPr lang="en-US" sz="1800" dirty="0"/>
          </a:p>
        </p:txBody>
      </p:sp>
      <p:sp>
        <p:nvSpPr>
          <p:cNvPr id="14" name="Text 12"/>
          <p:cNvSpPr txBox="1"/>
          <p:nvPr/>
        </p:nvSpPr>
        <p:spPr>
          <a:xfrm>
            <a:off x="4645152"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An open question is a decision nobody made. If you build anyway, you make it yourself, silently.</a:t>
            </a:r>
            <a:endParaRPr lang="en-US" sz="1350" dirty="0"/>
          </a:p>
        </p:txBody>
      </p:sp>
      <p:sp>
        <p:nvSpPr>
          <p:cNvPr id="15" name="Shape 13"/>
          <p:cNvSpPr/>
          <p:nvPr/>
        </p:nvSpPr>
        <p:spPr>
          <a:xfrm>
            <a:off x="8110728"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403336"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NEVER</a:t>
            </a:r>
            <a:endParaRPr lang="en-US" sz="900" dirty="0"/>
          </a:p>
        </p:txBody>
      </p:sp>
      <p:sp>
        <p:nvSpPr>
          <p:cNvPr id="17" name="Text 15"/>
          <p:cNvSpPr txBox="1"/>
          <p:nvPr/>
        </p:nvSpPr>
        <p:spPr>
          <a:xfrm>
            <a:off x="8403336"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Answer it for them</a:t>
            </a:r>
            <a:endParaRPr lang="en-US" sz="1800" dirty="0"/>
          </a:p>
        </p:txBody>
      </p:sp>
      <p:sp>
        <p:nvSpPr>
          <p:cNvPr id="18" name="Text 16"/>
          <p:cNvSpPr txBox="1"/>
          <p:nvPr/>
        </p:nvSpPr>
        <p:spPr>
          <a:xfrm>
            <a:off x="8403336"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Your answer becomes the scope. Send it back. This is the cheapest moment to be wrong all project.</a:t>
            </a:r>
            <a:endParaRPr lang="en-US" sz="1350" dirty="0"/>
          </a:p>
        </p:txBody>
      </p:sp>
      <p:sp>
        <p:nvSpPr>
          <p:cNvPr id="19" name="Shape 17"/>
          <p:cNvSpPr/>
          <p:nvPr/>
        </p:nvSpPr>
        <p:spPr>
          <a:xfrm>
            <a:off x="594360" y="49377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377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 skill enforces this. /tdmi:upsize refuses to start on an open model charter, and it will not answer one on your behalf. It is a basic minimum for a serious project.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UPSIZE GATE</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Why closing the model charter pays four times</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8</a:t>
            </a:r>
            <a:endParaRPr lang="en-US" sz="900" dirty="0"/>
          </a:p>
        </p:txBody>
      </p:sp>
      <p:sp>
        <p:nvSpPr>
          <p:cNvPr id="6" name="Text 4"/>
          <p:cNvSpPr txBox="1"/>
          <p:nvPr/>
        </p:nvSpPr>
        <p:spPr>
          <a:xfrm>
            <a:off x="594360" y="146304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model charter states purpose, users, assumptions, and scope. Four later artifacts ask for exactly those facts, months apart, from different people. Two go to ET&amp;D and GIS. Two are ours. We produce all four as we go, not under deadline.</a:t>
            </a:r>
            <a:endParaRPr lang="en-US" sz="1600" dirty="0"/>
          </a:p>
        </p:txBody>
      </p:sp>
      <p:sp>
        <p:nvSpPr>
          <p:cNvPr id="7" name="Text 5"/>
          <p:cNvSpPr txBox="1"/>
          <p:nvPr/>
        </p:nvSpPr>
        <p:spPr>
          <a:xfrm>
            <a:off x="594360" y="2377440"/>
            <a:ext cx="3840480"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LATER ARTIFACT</a:t>
            </a:r>
            <a:endParaRPr lang="en-US" sz="900" dirty="0"/>
          </a:p>
        </p:txBody>
      </p:sp>
      <p:sp>
        <p:nvSpPr>
          <p:cNvPr id="8" name="Text 6"/>
          <p:cNvSpPr txBox="1"/>
          <p:nvPr/>
        </p:nvSpPr>
        <p:spPr>
          <a:xfrm>
            <a:off x="4434840" y="2377440"/>
            <a:ext cx="7159752"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WHAT IT TAKES FROM THE MODEL CHARTER</a:t>
            </a:r>
            <a:endParaRPr lang="en-US" sz="900" dirty="0"/>
          </a:p>
        </p:txBody>
      </p:sp>
      <p:sp>
        <p:nvSpPr>
          <p:cNvPr id="9" name="Shape 7"/>
          <p:cNvSpPr/>
          <p:nvPr/>
        </p:nvSpPr>
        <p:spPr>
          <a:xfrm>
            <a:off x="594360" y="2697480"/>
            <a:ext cx="11000232" cy="420624"/>
          </a:xfrm>
          <a:prstGeom prst="rect">
            <a:avLst/>
          </a:prstGeom>
          <a:solidFill>
            <a:srgbClr val="E4F2F2"/>
          </a:solidFill>
          <a:ln w="12700">
            <a:solidFill>
              <a:srgbClr val="E4F2F2"/>
            </a:solidFill>
            <a:prstDash val="solid"/>
          </a:ln>
        </p:spPr>
        <p:txBody>
          <a:bodyPr/>
          <a:lstStyle/>
          <a:p>
            <a:endParaRPr lang="en-US"/>
          </a:p>
        </p:txBody>
      </p:sp>
      <p:sp>
        <p:nvSpPr>
          <p:cNvPr id="10" name="Text 8"/>
          <p:cNvSpPr txBox="1"/>
          <p:nvPr/>
        </p:nvSpPr>
        <p:spPr>
          <a:xfrm>
            <a:off x="704088" y="2761488"/>
            <a:ext cx="36210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Integration review record</a:t>
            </a:r>
            <a:endParaRPr lang="en-US" sz="1200" dirty="0"/>
          </a:p>
        </p:txBody>
      </p:sp>
      <p:sp>
        <p:nvSpPr>
          <p:cNvPr id="11" name="Text 9"/>
          <p:cNvSpPr txBox="1"/>
          <p:nvPr/>
        </p:nvSpPr>
        <p:spPr>
          <a:xfrm>
            <a:off x="4544568" y="2761488"/>
            <a:ext cx="69402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Purpose, users, and data types</a:t>
            </a:r>
            <a:endParaRPr lang="en-US" sz="1200" dirty="0"/>
          </a:p>
        </p:txBody>
      </p:sp>
      <p:sp>
        <p:nvSpPr>
          <p:cNvPr id="12" name="Shape 10"/>
          <p:cNvSpPr/>
          <p:nvPr/>
        </p:nvSpPr>
        <p:spPr>
          <a:xfrm>
            <a:off x="594360" y="3172968"/>
            <a:ext cx="11000232" cy="420624"/>
          </a:xfrm>
          <a:prstGeom prst="rect">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704088" y="3236976"/>
            <a:ext cx="36210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Risk-assessment intake</a:t>
            </a:r>
            <a:endParaRPr lang="en-US" sz="1200" dirty="0"/>
          </a:p>
        </p:txBody>
      </p:sp>
      <p:sp>
        <p:nvSpPr>
          <p:cNvPr id="14" name="Text 12"/>
          <p:cNvSpPr txBox="1"/>
          <p:nvPr/>
        </p:nvSpPr>
        <p:spPr>
          <a:xfrm>
            <a:off x="4544568" y="3236976"/>
            <a:ext cx="69402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Use cases, business value, user population, data classification</a:t>
            </a:r>
            <a:endParaRPr lang="en-US" sz="1200" dirty="0"/>
          </a:p>
        </p:txBody>
      </p:sp>
      <p:sp>
        <p:nvSpPr>
          <p:cNvPr id="15" name="Shape 13"/>
          <p:cNvSpPr/>
          <p:nvPr/>
        </p:nvSpPr>
        <p:spPr>
          <a:xfrm>
            <a:off x="594360" y="3648456"/>
            <a:ext cx="11000232" cy="420624"/>
          </a:xfrm>
          <a:prstGeom prst="rect">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704088" y="3712464"/>
            <a:ext cx="36210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User documentation</a:t>
            </a:r>
            <a:endParaRPr lang="en-US" sz="1200" dirty="0"/>
          </a:p>
        </p:txBody>
      </p:sp>
      <p:sp>
        <p:nvSpPr>
          <p:cNvPr id="17" name="Text 15"/>
          <p:cNvSpPr txBox="1"/>
          <p:nvPr/>
        </p:nvSpPr>
        <p:spPr>
          <a:xfrm>
            <a:off x="4544568" y="3712464"/>
            <a:ext cx="69402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What the application does, and who uses it</a:t>
            </a:r>
            <a:endParaRPr lang="en-US" sz="1200" dirty="0"/>
          </a:p>
        </p:txBody>
      </p:sp>
      <p:sp>
        <p:nvSpPr>
          <p:cNvPr id="18" name="Shape 16"/>
          <p:cNvSpPr/>
          <p:nvPr/>
        </p:nvSpPr>
        <p:spPr>
          <a:xfrm>
            <a:off x="594360" y="4123944"/>
            <a:ext cx="11000232" cy="420624"/>
          </a:xfrm>
          <a:prstGeom prst="rect">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704088" y="4187952"/>
            <a:ext cx="36210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Acceptance test cases</a:t>
            </a:r>
            <a:endParaRPr lang="en-US" sz="1200" dirty="0"/>
          </a:p>
        </p:txBody>
      </p:sp>
      <p:sp>
        <p:nvSpPr>
          <p:cNvPr id="20" name="Text 18"/>
          <p:cNvSpPr txBox="1"/>
          <p:nvPr/>
        </p:nvSpPr>
        <p:spPr>
          <a:xfrm>
            <a:off x="4544568" y="4187952"/>
            <a:ext cx="69402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workflows a user must be able to complete</a:t>
            </a:r>
            <a:endParaRPr lang="en-US" sz="1200" dirty="0"/>
          </a:p>
        </p:txBody>
      </p:sp>
      <p:sp>
        <p:nvSpPr>
          <p:cNvPr id="21" name="Shape 19"/>
          <p:cNvSpPr/>
          <p:nvPr/>
        </p:nvSpPr>
        <p:spPr>
          <a:xfrm>
            <a:off x="594360" y="502920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2" name="Text 20"/>
          <p:cNvSpPr txBox="1"/>
          <p:nvPr/>
        </p:nvSpPr>
        <p:spPr>
          <a:xfrm>
            <a:off x="960120" y="502920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Close it once and four documents become transcription. Skip it and you write all four from memory, under deadline.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PHASE 1</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The model is a specification. Read it like one.</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9</a:t>
            </a:r>
            <a:endParaRPr lang="en-US" sz="900" dirty="0"/>
          </a:p>
        </p:txBody>
      </p:sp>
      <p:sp>
        <p:nvSpPr>
          <p:cNvPr id="6" name="Text 4"/>
          <p:cNvSpPr txBox="1"/>
          <p:nvPr/>
        </p:nvSpPr>
        <p:spPr>
          <a:xfrm>
            <a:off x="594360" y="1481328"/>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temptation is to open the file and start porting. Open it and start reading instead. Everything you need is stated in it, and some of it is stated nowhere else.</a:t>
            </a:r>
            <a:endParaRPr lang="en-US" sz="1600" dirty="0"/>
          </a:p>
        </p:txBody>
      </p:sp>
      <p:sp>
        <p:nvSpPr>
          <p:cNvPr id="7" name="Shape 5"/>
          <p:cNvSpPr/>
          <p:nvPr/>
        </p:nvSpPr>
        <p:spPr>
          <a:xfrm>
            <a:off x="594360" y="2286000"/>
            <a:ext cx="512064" cy="512064"/>
          </a:xfrm>
          <a:prstGeom prst="ellipse">
            <a:avLst/>
          </a:prstGeom>
          <a:solidFill>
            <a:srgbClr val="0F8B8D"/>
          </a:solidFill>
          <a:ln w="12700">
            <a:solidFill>
              <a:srgbClr val="0F8B8D"/>
            </a:solidFill>
            <a:prstDash val="solid"/>
          </a:ln>
        </p:spPr>
        <p:txBody>
          <a:bodyPr/>
          <a:lstStyle/>
          <a:p>
            <a:endParaRPr lang="en-US"/>
          </a:p>
        </p:txBody>
      </p:sp>
      <p:sp>
        <p:nvSpPr>
          <p:cNvPr id="8" name="Text 6"/>
          <p:cNvSpPr txBox="1"/>
          <p:nvPr/>
        </p:nvSpPr>
        <p:spPr>
          <a:xfrm>
            <a:off x="594360" y="228600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325880" y="2267712"/>
            <a:ext cx="42062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Enumerate the screens</a:t>
            </a:r>
            <a:endParaRPr lang="en-US" sz="1800" dirty="0"/>
          </a:p>
        </p:txBody>
      </p:sp>
      <p:sp>
        <p:nvSpPr>
          <p:cNvPr id="10" name="Text 8"/>
          <p:cNvSpPr txBox="1"/>
          <p:nvPr/>
        </p:nvSpPr>
        <p:spPr>
          <a:xfrm>
            <a:off x="1325880" y="2578608"/>
            <a:ext cx="10241280" cy="475488"/>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Each one becomes a route. The model already decided how many there are, and what belongs on each.</a:t>
            </a:r>
            <a:endParaRPr lang="en-US" sz="1350" dirty="0"/>
          </a:p>
        </p:txBody>
      </p:sp>
      <p:sp>
        <p:nvSpPr>
          <p:cNvPr id="11" name="Shape 9"/>
          <p:cNvSpPr/>
          <p:nvPr/>
        </p:nvSpPr>
        <p:spPr>
          <a:xfrm>
            <a:off x="594360" y="3145536"/>
            <a:ext cx="512064" cy="512064"/>
          </a:xfrm>
          <a:prstGeom prst="ellipse">
            <a:avLst/>
          </a:prstGeom>
          <a:solidFill>
            <a:srgbClr val="0F8B8D"/>
          </a:solidFill>
          <a:ln w="12700">
            <a:solidFill>
              <a:srgbClr val="0F8B8D"/>
            </a:solidFill>
            <a:prstDash val="solid"/>
          </a:ln>
        </p:spPr>
        <p:txBody>
          <a:bodyPr/>
          <a:lstStyle/>
          <a:p>
            <a:endParaRPr lang="en-US"/>
          </a:p>
        </p:txBody>
      </p:sp>
      <p:sp>
        <p:nvSpPr>
          <p:cNvPr id="12" name="Text 10"/>
          <p:cNvSpPr txBox="1"/>
          <p:nvPr/>
        </p:nvSpPr>
        <p:spPr>
          <a:xfrm>
            <a:off x="594360" y="314553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325880" y="3127248"/>
            <a:ext cx="42062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Enumerate the states</a:t>
            </a:r>
            <a:endParaRPr lang="en-US" sz="1800" dirty="0"/>
          </a:p>
        </p:txBody>
      </p:sp>
      <p:sp>
        <p:nvSpPr>
          <p:cNvPr id="14" name="Text 12"/>
          <p:cNvSpPr txBox="1"/>
          <p:nvPr/>
        </p:nvSpPr>
        <p:spPr>
          <a:xfrm>
            <a:off x="1325880" y="3438144"/>
            <a:ext cx="10241280" cy="475488"/>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Empty, error, success, loading. Every state the model demonstrates is a state you must implement. For some states, the model is the only place anyone wrote it down.</a:t>
            </a:r>
            <a:endParaRPr lang="en-US" sz="1350" dirty="0"/>
          </a:p>
        </p:txBody>
      </p:sp>
      <p:sp>
        <p:nvSpPr>
          <p:cNvPr id="15" name="Shape 13"/>
          <p:cNvSpPr/>
          <p:nvPr/>
        </p:nvSpPr>
        <p:spPr>
          <a:xfrm>
            <a:off x="594360" y="4005072"/>
            <a:ext cx="512064" cy="512064"/>
          </a:xfrm>
          <a:prstGeom prst="ellipse">
            <a:avLst/>
          </a:prstGeom>
          <a:solidFill>
            <a:srgbClr val="0F8B8D"/>
          </a:solidFill>
          <a:ln w="12700">
            <a:solidFill>
              <a:srgbClr val="0F8B8D"/>
            </a:solidFill>
            <a:prstDash val="solid"/>
          </a:ln>
        </p:spPr>
        <p:txBody>
          <a:bodyPr/>
          <a:lstStyle/>
          <a:p>
            <a:endParaRPr lang="en-US"/>
          </a:p>
        </p:txBody>
      </p:sp>
      <p:sp>
        <p:nvSpPr>
          <p:cNvPr id="16" name="Text 14"/>
          <p:cNvSpPr txBox="1"/>
          <p:nvPr/>
        </p:nvSpPr>
        <p:spPr>
          <a:xfrm>
            <a:off x="594360" y="400507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325880" y="3986784"/>
            <a:ext cx="42062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Keep the words</a:t>
            </a:r>
            <a:endParaRPr lang="en-US" sz="1800" dirty="0"/>
          </a:p>
        </p:txBody>
      </p:sp>
      <p:sp>
        <p:nvSpPr>
          <p:cNvPr id="18" name="Text 16"/>
          <p:cNvSpPr txBox="1"/>
          <p:nvPr/>
        </p:nvSpPr>
        <p:spPr>
          <a:xfrm>
            <a:off x="1325880" y="4297680"/>
            <a:ext cx="10241280" cy="475488"/>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Labels, column headings, status names, button text. Those are decisions the business already made. Changing one in the rebuild is a change request, not a refactor.</a:t>
            </a:r>
            <a:endParaRPr lang="en-US" sz="1350" dirty="0"/>
          </a:p>
        </p:txBody>
      </p:sp>
      <p:sp>
        <p:nvSpPr>
          <p:cNvPr id="19" name="Shape 17"/>
          <p:cNvSpPr/>
          <p:nvPr/>
        </p:nvSpPr>
        <p:spPr>
          <a:xfrm>
            <a:off x="594360" y="4864608"/>
            <a:ext cx="512064" cy="512064"/>
          </a:xfrm>
          <a:prstGeom prst="ellipse">
            <a:avLst/>
          </a:prstGeom>
          <a:solidFill>
            <a:srgbClr val="0F8B8D"/>
          </a:solidFill>
          <a:ln w="12700">
            <a:solidFill>
              <a:srgbClr val="0F8B8D"/>
            </a:solidFill>
            <a:prstDash val="solid"/>
          </a:ln>
        </p:spPr>
        <p:txBody>
          <a:bodyPr/>
          <a:lstStyle/>
          <a:p>
            <a:endParaRPr lang="en-US"/>
          </a:p>
        </p:txBody>
      </p:sp>
      <p:sp>
        <p:nvSpPr>
          <p:cNvPr id="20" name="Text 18"/>
          <p:cNvSpPr txBox="1"/>
          <p:nvPr/>
        </p:nvSpPr>
        <p:spPr>
          <a:xfrm>
            <a:off x="594360" y="48646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325880" y="4846320"/>
            <a:ext cx="42062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Read the data for shape, not content</a:t>
            </a:r>
            <a:endParaRPr lang="en-US" sz="1800" dirty="0"/>
          </a:p>
        </p:txBody>
      </p:sp>
      <p:sp>
        <p:nvSpPr>
          <p:cNvPr id="22" name="Text 20"/>
          <p:cNvSpPr txBox="1"/>
          <p:nvPr/>
        </p:nvSpPr>
        <p:spPr>
          <a:xfrm>
            <a:off x="1325880" y="5157216"/>
            <a:ext cx="10241280" cy="475488"/>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Field types, formats, lengths, and how a long value behaves in the layout. Turn it into seeds and test fixtures. Never ship a row of it.</a:t>
            </a:r>
            <a:endParaRPr lang="en-US" sz="1350" dirty="0"/>
          </a:p>
        </p:txBody>
      </p:sp>
      <p:sp>
        <p:nvSpPr>
          <p:cNvPr id="23" name="Shape 21"/>
          <p:cNvSpPr/>
          <p:nvPr/>
        </p:nvSpPr>
        <p:spPr>
          <a:xfrm>
            <a:off x="594360" y="5779008"/>
            <a:ext cx="11000232" cy="566928"/>
          </a:xfrm>
          <a:prstGeom prst="roundRect">
            <a:avLst>
              <a:gd name="adj" fmla="val 9677"/>
            </a:avLst>
          </a:prstGeom>
          <a:solidFill>
            <a:srgbClr val="142F47"/>
          </a:solidFill>
          <a:ln w="12700">
            <a:solidFill>
              <a:srgbClr val="142F47"/>
            </a:solidFill>
            <a:prstDash val="solid"/>
          </a:ln>
        </p:spPr>
        <p:txBody>
          <a:bodyPr/>
          <a:lstStyle/>
          <a:p>
            <a:endParaRPr lang="en-US"/>
          </a:p>
        </p:txBody>
      </p:sp>
      <p:sp>
        <p:nvSpPr>
          <p:cNvPr id="24" name="Text 22"/>
          <p:cNvSpPr txBox="1"/>
          <p:nvPr/>
        </p:nvSpPr>
        <p:spPr>
          <a:xfrm>
            <a:off x="960120" y="5779008"/>
            <a:ext cx="10268712" cy="566928"/>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Nothing in the file is code you keep. Everything in the file is a decision you honour.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HONEST SLIDE</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What the model is not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94360" y="146304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companion deck is blunt about this, and you should hold them to it.</a:t>
            </a:r>
            <a:endParaRPr lang="en-US" sz="1600" dirty="0"/>
          </a:p>
        </p:txBody>
      </p:sp>
      <p:sp>
        <p:nvSpPr>
          <p:cNvPr id="7" name="Shape 5"/>
          <p:cNvSpPr/>
          <p:nvPr/>
        </p:nvSpPr>
        <p:spPr>
          <a:xfrm>
            <a:off x="594360" y="214884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42316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Not secure</a:t>
            </a:r>
            <a:endParaRPr lang="en-US" sz="1800" dirty="0"/>
          </a:p>
        </p:txBody>
      </p:sp>
      <p:sp>
        <p:nvSpPr>
          <p:cNvPr id="9" name="Text 7"/>
          <p:cNvSpPr txBox="1"/>
          <p:nvPr/>
        </p:nvSpPr>
        <p:spPr>
          <a:xfrm>
            <a:off x="886968" y="293522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login is fake. No auth, no permissions, no protection.</a:t>
            </a:r>
            <a:endParaRPr lang="en-US" sz="1350" dirty="0"/>
          </a:p>
        </p:txBody>
      </p:sp>
      <p:sp>
        <p:nvSpPr>
          <p:cNvPr id="10" name="Shape 8"/>
          <p:cNvSpPr/>
          <p:nvPr/>
        </p:nvSpPr>
        <p:spPr>
          <a:xfrm>
            <a:off x="4352544" y="214884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1" name="Text 9"/>
          <p:cNvSpPr txBox="1"/>
          <p:nvPr/>
        </p:nvSpPr>
        <p:spPr>
          <a:xfrm>
            <a:off x="4645152" y="242316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Not connected</a:t>
            </a:r>
            <a:endParaRPr lang="en-US" sz="1800" dirty="0"/>
          </a:p>
        </p:txBody>
      </p:sp>
      <p:sp>
        <p:nvSpPr>
          <p:cNvPr id="12" name="Text 10"/>
          <p:cNvSpPr txBox="1"/>
          <p:nvPr/>
        </p:nvSpPr>
        <p:spPr>
          <a:xfrm>
            <a:off x="4645152" y="293522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Every integration is simulated. No APIs, no email, no upstream systems.</a:t>
            </a:r>
            <a:endParaRPr lang="en-US" sz="1350" dirty="0"/>
          </a:p>
        </p:txBody>
      </p:sp>
      <p:sp>
        <p:nvSpPr>
          <p:cNvPr id="13" name="Shape 11"/>
          <p:cNvSpPr/>
          <p:nvPr/>
        </p:nvSpPr>
        <p:spPr>
          <a:xfrm>
            <a:off x="8110728" y="214884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4" name="Text 12"/>
          <p:cNvSpPr txBox="1"/>
          <p:nvPr/>
        </p:nvSpPr>
        <p:spPr>
          <a:xfrm>
            <a:off x="8403336" y="242316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Not performant</a:t>
            </a:r>
            <a:endParaRPr lang="en-US" sz="1800" dirty="0"/>
          </a:p>
        </p:txBody>
      </p:sp>
      <p:sp>
        <p:nvSpPr>
          <p:cNvPr id="15" name="Text 13"/>
          <p:cNvSpPr txBox="1"/>
          <p:nvPr/>
        </p:nvSpPr>
        <p:spPr>
          <a:xfrm>
            <a:off x="8403336" y="293522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Fifty fabricated rows prove a layout, not a query plan.</a:t>
            </a:r>
            <a:endParaRPr lang="en-US" sz="1350" dirty="0"/>
          </a:p>
        </p:txBody>
      </p:sp>
      <p:sp>
        <p:nvSpPr>
          <p:cNvPr id="16" name="Shape 14"/>
          <p:cNvSpPr/>
          <p:nvPr/>
        </p:nvSpPr>
        <p:spPr>
          <a:xfrm>
            <a:off x="594360" y="406908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7" name="Text 15"/>
          <p:cNvSpPr txBox="1"/>
          <p:nvPr/>
        </p:nvSpPr>
        <p:spPr>
          <a:xfrm>
            <a:off x="886968" y="434340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Not real data</a:t>
            </a:r>
            <a:endParaRPr lang="en-US" sz="1800" dirty="0"/>
          </a:p>
        </p:txBody>
      </p:sp>
      <p:sp>
        <p:nvSpPr>
          <p:cNvPr id="18" name="Text 16"/>
          <p:cNvSpPr txBox="1"/>
          <p:nvPr/>
        </p:nvSpPr>
        <p:spPr>
          <a:xfrm>
            <a:off x="886968" y="485546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Fabricated rows only. Nothing from any production system.</a:t>
            </a:r>
            <a:endParaRPr lang="en-US" sz="1350" dirty="0"/>
          </a:p>
        </p:txBody>
      </p:sp>
      <p:sp>
        <p:nvSpPr>
          <p:cNvPr id="19" name="Shape 17"/>
          <p:cNvSpPr/>
          <p:nvPr/>
        </p:nvSpPr>
        <p:spPr>
          <a:xfrm>
            <a:off x="4352544" y="406908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20" name="Text 18"/>
          <p:cNvSpPr txBox="1"/>
          <p:nvPr/>
        </p:nvSpPr>
        <p:spPr>
          <a:xfrm>
            <a:off x="4645152" y="434340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Not production code</a:t>
            </a:r>
            <a:endParaRPr lang="en-US" sz="1800" dirty="0"/>
          </a:p>
        </p:txBody>
      </p:sp>
      <p:sp>
        <p:nvSpPr>
          <p:cNvPr id="21" name="Text 19"/>
          <p:cNvSpPr txBox="1"/>
          <p:nvPr/>
        </p:nvSpPr>
        <p:spPr>
          <a:xfrm>
            <a:off x="4645152" y="485546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You rebuild it properly, on the real stack. That is the job.</a:t>
            </a:r>
            <a:endParaRPr lang="en-US" sz="1350" dirty="0"/>
          </a:p>
        </p:txBody>
      </p:sp>
      <p:sp>
        <p:nvSpPr>
          <p:cNvPr id="22" name="Shape 20"/>
          <p:cNvSpPr/>
          <p:nvPr/>
        </p:nvSpPr>
        <p:spPr>
          <a:xfrm>
            <a:off x="8110728" y="406908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23" name="Text 21"/>
          <p:cNvSpPr txBox="1"/>
          <p:nvPr/>
        </p:nvSpPr>
        <p:spPr>
          <a:xfrm>
            <a:off x="8403336" y="434340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Not a free pass</a:t>
            </a:r>
            <a:endParaRPr lang="en-US" sz="1800" dirty="0"/>
          </a:p>
        </p:txBody>
      </p:sp>
      <p:sp>
        <p:nvSpPr>
          <p:cNvPr id="24" name="Text 22"/>
          <p:cNvSpPr txBox="1"/>
          <p:nvPr/>
        </p:nvSpPr>
        <p:spPr>
          <a:xfrm>
            <a:off x="8403336" y="485546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Full engineering rigor still applies. The model changes the input, not the standard.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1 · THE DEV GATE</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It answers a request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594360" y="155448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DEV gate is not a green pipeline. A pipeline can go green while the application never started, and that has happened.</a:t>
            </a:r>
            <a:endParaRPr lang="en-US" sz="1600" dirty="0"/>
          </a:p>
        </p:txBody>
      </p:sp>
      <p:sp>
        <p:nvSpPr>
          <p:cNvPr id="7" name="Shape 5"/>
          <p:cNvSpPr/>
          <p:nvPr/>
        </p:nvSpPr>
        <p:spPr>
          <a:xfrm>
            <a:off x="594360" y="237744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61518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NOT PROOF</a:t>
            </a:r>
            <a:endParaRPr lang="en-US" sz="900" dirty="0"/>
          </a:p>
        </p:txBody>
      </p:sp>
      <p:sp>
        <p:nvSpPr>
          <p:cNvPr id="9" name="Text 7"/>
          <p:cNvSpPr txBox="1"/>
          <p:nvPr/>
        </p:nvSpPr>
        <p:spPr>
          <a:xfrm>
            <a:off x="886968" y="290779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The build passed</a:t>
            </a:r>
            <a:endParaRPr lang="en-US" sz="1800" dirty="0"/>
          </a:p>
        </p:txBody>
      </p:sp>
      <p:sp>
        <p:nvSpPr>
          <p:cNvPr id="10" name="Text 8"/>
          <p:cNvSpPr txBox="1"/>
          <p:nvPr/>
        </p:nvSpPr>
        <p:spPr>
          <a:xfrm>
            <a:off x="886968" y="340156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A deploy stage can succeed and roll a placeholder image. Green means the steps ran.</a:t>
            </a:r>
            <a:endParaRPr lang="en-US" sz="1350" dirty="0"/>
          </a:p>
        </p:txBody>
      </p:sp>
      <p:sp>
        <p:nvSpPr>
          <p:cNvPr id="11" name="Shape 9"/>
          <p:cNvSpPr/>
          <p:nvPr/>
        </p:nvSpPr>
        <p:spPr>
          <a:xfrm>
            <a:off x="4352544" y="237744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4645152" y="261518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PROOF</a:t>
            </a:r>
            <a:endParaRPr lang="en-US" sz="900" dirty="0"/>
          </a:p>
        </p:txBody>
      </p:sp>
      <p:sp>
        <p:nvSpPr>
          <p:cNvPr id="13" name="Text 11"/>
          <p:cNvSpPr txBox="1"/>
          <p:nvPr/>
        </p:nvSpPr>
        <p:spPr>
          <a:xfrm>
            <a:off x="4645152" y="290779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You reached it</a:t>
            </a:r>
            <a:endParaRPr lang="en-US" sz="1800" dirty="0"/>
          </a:p>
        </p:txBody>
      </p:sp>
      <p:sp>
        <p:nvSpPr>
          <p:cNvPr id="14" name="Text 12"/>
          <p:cNvSpPr txBox="1"/>
          <p:nvPr/>
        </p:nvSpPr>
        <p:spPr>
          <a:xfrm>
            <a:off x="4645152" y="340156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running application answered a request in DEV. You saw the response.</a:t>
            </a:r>
            <a:endParaRPr lang="en-US" sz="1350" dirty="0"/>
          </a:p>
        </p:txBody>
      </p:sp>
      <p:sp>
        <p:nvSpPr>
          <p:cNvPr id="15" name="Shape 13"/>
          <p:cNvSpPr/>
          <p:nvPr/>
        </p:nvSpPr>
        <p:spPr>
          <a:xfrm>
            <a:off x="8110728" y="237744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403336" y="261518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ALSO CHECK</a:t>
            </a:r>
            <a:endParaRPr lang="en-US" sz="900" dirty="0"/>
          </a:p>
        </p:txBody>
      </p:sp>
      <p:sp>
        <p:nvSpPr>
          <p:cNvPr id="17" name="Text 15"/>
          <p:cNvSpPr txBox="1"/>
          <p:nvPr/>
        </p:nvSpPr>
        <p:spPr>
          <a:xfrm>
            <a:off x="8403336" y="290779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It is your image</a:t>
            </a:r>
            <a:endParaRPr lang="en-US" sz="1800" dirty="0"/>
          </a:p>
        </p:txBody>
      </p:sp>
      <p:sp>
        <p:nvSpPr>
          <p:cNvPr id="18" name="Text 16"/>
          <p:cNvSpPr txBox="1"/>
          <p:nvPr/>
        </p:nvSpPr>
        <p:spPr>
          <a:xfrm>
            <a:off x="8403336" y="340156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Verify the running digest and the reported version. Not the pipeline log.</a:t>
            </a:r>
            <a:endParaRPr lang="en-US" sz="1350" dirty="0"/>
          </a:p>
        </p:txBody>
      </p:sp>
      <p:sp>
        <p:nvSpPr>
          <p:cNvPr id="19" name="Shape 17"/>
          <p:cNvSpPr/>
          <p:nvPr/>
        </p:nvSpPr>
        <p:spPr>
          <a:xfrm>
            <a:off x="594360" y="498348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8348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Every gate in this process tests a thing you can point at. That is the whole design.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42F47"/>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9FB1BC"/>
                </a:solidFill>
                <a:latin typeface="Calibri" pitchFamily="34" charset="0"/>
                <a:ea typeface="Calibri" pitchFamily="34" charset="-122"/>
                <a:cs typeface="Calibri" pitchFamily="34" charset="-120"/>
              </a:rPr>
              <a:t>ACT 2</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The Loop</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7C8B99"/>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7C8B99"/>
                </a:solidFill>
                <a:latin typeface="Calibri" pitchFamily="34" charset="0"/>
                <a:ea typeface="Calibri" pitchFamily="34" charset="-122"/>
                <a:cs typeface="Calibri" pitchFamily="34" charset="-120"/>
              </a:rPr>
              <a:t>12</a:t>
            </a:r>
            <a:endParaRPr lang="en-US" sz="900" dirty="0"/>
          </a:p>
        </p:txBody>
      </p:sp>
      <p:sp>
        <p:nvSpPr>
          <p:cNvPr id="6" name="Text 4"/>
          <p:cNvSpPr txBox="1"/>
          <p:nvPr/>
        </p:nvSpPr>
        <p:spPr>
          <a:xfrm>
            <a:off x="603504" y="1600200"/>
            <a:ext cx="10058400" cy="457200"/>
          </a:xfrm>
          <a:prstGeom prst="rect">
            <a:avLst/>
          </a:prstGeom>
          <a:noFill/>
          <a:ln/>
        </p:spPr>
        <p:txBody>
          <a:bodyPr wrap="square" lIns="0" tIns="0" rIns="0" bIns="0" rtlCol="0" anchor="ctr"/>
          <a:lstStyle/>
          <a:p>
            <a:pPr marL="0" indent="0">
              <a:buNone/>
            </a:pPr>
            <a:r>
              <a:rPr lang="en-US" sz="1600" dirty="0">
                <a:solidFill>
                  <a:srgbClr val="9FB1BC"/>
                </a:solidFill>
                <a:latin typeface="Calibri" pitchFamily="34" charset="0"/>
                <a:ea typeface="Calibri" pitchFamily="34" charset="-122"/>
                <a:cs typeface="Calibri" pitchFamily="34" charset="-120"/>
              </a:rPr>
              <a:t>The build loop, the rails beside it, and the obligations that start on day one.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PHASE 2</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The build loop</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94360" y="1828800"/>
            <a:ext cx="512064" cy="512064"/>
          </a:xfrm>
          <a:prstGeom prst="ellipse">
            <a:avLst/>
          </a:prstGeom>
          <a:solidFill>
            <a:srgbClr val="0F8B8D"/>
          </a:solidFill>
          <a:ln w="12700">
            <a:solidFill>
              <a:srgbClr val="0F8B8D"/>
            </a:solidFill>
            <a:prstDash val="solid"/>
          </a:ln>
        </p:spPr>
        <p:txBody>
          <a:bodyPr/>
          <a:lstStyle/>
          <a:p>
            <a:endParaRPr lang="en-US"/>
          </a:p>
        </p:txBody>
      </p:sp>
      <p:sp>
        <p:nvSpPr>
          <p:cNvPr id="7" name="Text 5"/>
          <p:cNvSpPr txBox="1"/>
          <p:nvPr/>
        </p:nvSpPr>
        <p:spPr>
          <a:xfrm>
            <a:off x="594360" y="182880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325880" y="1810512"/>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Work items live in Azure Boards</a:t>
            </a:r>
            <a:endParaRPr lang="en-US" sz="1800" dirty="0"/>
          </a:p>
        </p:txBody>
      </p:sp>
      <p:sp>
        <p:nvSpPr>
          <p:cNvPr id="9" name="Text 7"/>
          <p:cNvSpPr txBox="1"/>
          <p:nvPr/>
        </p:nvSpPr>
        <p:spPr>
          <a:xfrm>
            <a:off x="1325880" y="2121408"/>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Engineering detail lives here, referenced as AB#&lt;id&gt; in commits and pull requests. It feeds the project record in Workfront, and it never speaks for it.</a:t>
            </a:r>
            <a:endParaRPr lang="en-US" sz="1350" dirty="0"/>
          </a:p>
        </p:txBody>
      </p:sp>
      <p:sp>
        <p:nvSpPr>
          <p:cNvPr id="10" name="Shape 8"/>
          <p:cNvSpPr/>
          <p:nvPr/>
        </p:nvSpPr>
        <p:spPr>
          <a:xfrm>
            <a:off x="594360" y="2670048"/>
            <a:ext cx="512064" cy="512064"/>
          </a:xfrm>
          <a:prstGeom prst="ellipse">
            <a:avLst/>
          </a:prstGeom>
          <a:solidFill>
            <a:srgbClr val="0F8B8D"/>
          </a:solidFill>
          <a:ln w="12700">
            <a:solidFill>
              <a:srgbClr val="0F8B8D"/>
            </a:solidFill>
            <a:prstDash val="solid"/>
          </a:ln>
        </p:spPr>
        <p:txBody>
          <a:bodyPr/>
          <a:lstStyle/>
          <a:p>
            <a:endParaRPr lang="en-US"/>
          </a:p>
        </p:txBody>
      </p:sp>
      <p:sp>
        <p:nvSpPr>
          <p:cNvPr id="11" name="Text 9"/>
          <p:cNvSpPr txBox="1"/>
          <p:nvPr/>
        </p:nvSpPr>
        <p:spPr>
          <a:xfrm>
            <a:off x="594360" y="26700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325880" y="2651760"/>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Significant features start as a model</a:t>
            </a:r>
            <a:endParaRPr lang="en-US" sz="1800" dirty="0"/>
          </a:p>
        </p:txBody>
      </p:sp>
      <p:sp>
        <p:nvSpPr>
          <p:cNvPr id="13" name="Text 11"/>
          <p:cNvSpPr txBox="1"/>
          <p:nvPr/>
        </p:nvSpPr>
        <p:spPr>
          <a:xfrm>
            <a:off x="1325880" y="2962656"/>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A feature that adds screens or changes logic gets its own small model and model charter. A bug fix or a field addition does not. The developer decides what is significant tactically.</a:t>
            </a:r>
            <a:endParaRPr lang="en-US" sz="1350" dirty="0"/>
          </a:p>
        </p:txBody>
      </p:sp>
      <p:sp>
        <p:nvSpPr>
          <p:cNvPr id="14" name="Shape 12"/>
          <p:cNvSpPr/>
          <p:nvPr/>
        </p:nvSpPr>
        <p:spPr>
          <a:xfrm>
            <a:off x="594360" y="3511296"/>
            <a:ext cx="512064" cy="512064"/>
          </a:xfrm>
          <a:prstGeom prst="ellipse">
            <a:avLst/>
          </a:prstGeom>
          <a:solidFill>
            <a:srgbClr val="0F8B8D"/>
          </a:solidFill>
          <a:ln w="12700">
            <a:solidFill>
              <a:srgbClr val="0F8B8D"/>
            </a:solidFill>
            <a:prstDash val="solid"/>
          </a:ln>
        </p:spPr>
        <p:txBody>
          <a:bodyPr/>
          <a:lstStyle/>
          <a:p>
            <a:endParaRPr lang="en-US"/>
          </a:p>
        </p:txBody>
      </p:sp>
      <p:sp>
        <p:nvSpPr>
          <p:cNvPr id="15" name="Text 13"/>
          <p:cNvSpPr txBox="1"/>
          <p:nvPr/>
        </p:nvSpPr>
        <p:spPr>
          <a:xfrm>
            <a:off x="594360" y="351129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325880" y="3493008"/>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Continuous rails run on every change</a:t>
            </a:r>
            <a:endParaRPr lang="en-US" sz="1800" dirty="0"/>
          </a:p>
        </p:txBody>
      </p:sp>
      <p:sp>
        <p:nvSpPr>
          <p:cNvPr id="17" name="Text 15"/>
          <p:cNvSpPr txBox="1"/>
          <p:nvPr/>
        </p:nvSpPr>
        <p:spPr>
          <a:xfrm>
            <a:off x="1325880" y="3803904"/>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Eight of them. They block the merge, not the release, so a problem surfaces while the change is still small.</a:t>
            </a:r>
            <a:endParaRPr lang="en-US" sz="1350" dirty="0"/>
          </a:p>
        </p:txBody>
      </p:sp>
      <p:sp>
        <p:nvSpPr>
          <p:cNvPr id="18" name="Shape 16"/>
          <p:cNvSpPr/>
          <p:nvPr/>
        </p:nvSpPr>
        <p:spPr>
          <a:xfrm>
            <a:off x="594360" y="4352544"/>
            <a:ext cx="512064" cy="512064"/>
          </a:xfrm>
          <a:prstGeom prst="ellipse">
            <a:avLst/>
          </a:prstGeom>
          <a:solidFill>
            <a:srgbClr val="0F8B8D"/>
          </a:solidFill>
          <a:ln w="12700">
            <a:solidFill>
              <a:srgbClr val="0F8B8D"/>
            </a:solidFill>
            <a:prstDash val="solid"/>
          </a:ln>
        </p:spPr>
        <p:txBody>
          <a:bodyPr/>
          <a:lstStyle/>
          <a:p>
            <a:endParaRPr lang="en-US"/>
          </a:p>
        </p:txBody>
      </p:sp>
      <p:sp>
        <p:nvSpPr>
          <p:cNvPr id="19" name="Text 17"/>
          <p:cNvSpPr txBox="1"/>
          <p:nvPr/>
        </p:nvSpPr>
        <p:spPr>
          <a:xfrm>
            <a:off x="594360" y="435254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325880" y="4334256"/>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Slow gates opened back in phase 1 keep running</a:t>
            </a:r>
            <a:endParaRPr lang="en-US" sz="1800" dirty="0"/>
          </a:p>
        </p:txBody>
      </p:sp>
      <p:sp>
        <p:nvSpPr>
          <p:cNvPr id="21" name="Text 19"/>
          <p:cNvSpPr txBox="1"/>
          <p:nvPr/>
        </p:nvSpPr>
        <p:spPr>
          <a:xfrm>
            <a:off x="1325880" y="4645152"/>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Some run on another team’s clock. Four produce an artifact you write yourself, and nobody else can start those for you.</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PHASE 2</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Feed the record. Do not mirror it.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594360" y="1481328"/>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Three systems want to know about a piece of work. Each owns one thing, and the arrows only run one way.</a:t>
            </a:r>
            <a:endParaRPr lang="en-US" sz="1600" dirty="0"/>
          </a:p>
        </p:txBody>
      </p:sp>
      <p:sp>
        <p:nvSpPr>
          <p:cNvPr id="7" name="Shape 5"/>
          <p:cNvSpPr/>
          <p:nvPr/>
        </p:nvSpPr>
        <p:spPr>
          <a:xfrm>
            <a:off x="594360" y="2286000"/>
            <a:ext cx="3483864" cy="2286000"/>
          </a:xfrm>
          <a:prstGeom prst="roundRect">
            <a:avLst>
              <a:gd name="adj" fmla="val 2400"/>
            </a:avLst>
          </a:prstGeom>
          <a:solidFill>
            <a:srgbClr val="E4F2F2"/>
          </a:solidFill>
          <a:ln w="12700">
            <a:solidFill>
              <a:srgbClr val="E4F2F2"/>
            </a:solidFill>
            <a:prstDash val="solid"/>
          </a:ln>
        </p:spPr>
        <p:txBody>
          <a:bodyPr/>
          <a:lstStyle/>
          <a:p>
            <a:endParaRPr/>
          </a:p>
        </p:txBody>
      </p:sp>
      <p:sp>
        <p:nvSpPr>
          <p:cNvPr id="8" name="Text 6"/>
          <p:cNvSpPr txBox="1"/>
          <p:nvPr/>
        </p:nvSpPr>
        <p:spPr>
          <a:xfrm>
            <a:off x="886968" y="252374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SYSTEM OF RECORD</a:t>
            </a:r>
            <a:endParaRPr lang="en-US" sz="900" dirty="0"/>
          </a:p>
        </p:txBody>
      </p:sp>
      <p:sp>
        <p:nvSpPr>
          <p:cNvPr id="9" name="Text 7"/>
          <p:cNvSpPr txBox="1"/>
          <p:nvPr/>
        </p:nvSpPr>
        <p:spPr>
          <a:xfrm>
            <a:off x="886968" y="281635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Workfront</a:t>
            </a:r>
            <a:endParaRPr lang="en-US" sz="1800" dirty="0"/>
          </a:p>
        </p:txBody>
      </p:sp>
      <p:sp>
        <p:nvSpPr>
          <p:cNvPr id="10" name="Text 8"/>
          <p:cNvSpPr txBox="1"/>
          <p:nvPr/>
        </p:nvSpPr>
        <p:spPr>
          <a:xfrm>
            <a:off x="886968" y="331012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Project state. Gates, approvals, dates, cost classification, and the evidence index. When somebody asks where the project stands, this answers.</a:t>
            </a:r>
            <a:endParaRPr lang="en-US" sz="1350" dirty="0"/>
          </a:p>
        </p:txBody>
      </p:sp>
      <p:sp>
        <p:nvSpPr>
          <p:cNvPr id="11" name="Shape 9"/>
          <p:cNvSpPr/>
          <p:nvPr/>
        </p:nvSpPr>
        <p:spPr>
          <a:xfrm>
            <a:off x="4352544" y="2286000"/>
            <a:ext cx="3483864" cy="2286000"/>
          </a:xfrm>
          <a:prstGeom prst="roundRect">
            <a:avLst>
              <a:gd name="adj" fmla="val 2400"/>
            </a:avLst>
          </a:prstGeom>
          <a:solidFill>
            <a:srgbClr val="D9E4E7"/>
          </a:solidFill>
          <a:ln w="12700">
            <a:solidFill>
              <a:srgbClr val="D9E4E7"/>
            </a:solidFill>
            <a:prstDash val="solid"/>
          </a:ln>
        </p:spPr>
        <p:txBody>
          <a:bodyPr/>
          <a:lstStyle/>
          <a:p>
            <a:endParaRPr/>
          </a:p>
        </p:txBody>
      </p:sp>
      <p:sp>
        <p:nvSpPr>
          <p:cNvPr id="12" name="Text 10"/>
          <p:cNvSpPr txBox="1"/>
          <p:nvPr/>
        </p:nvSpPr>
        <p:spPr>
          <a:xfrm>
            <a:off x="4645152" y="252374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FEEDS IT</a:t>
            </a:r>
            <a:endParaRPr lang="en-US" sz="900" dirty="0"/>
          </a:p>
        </p:txBody>
      </p:sp>
      <p:sp>
        <p:nvSpPr>
          <p:cNvPr id="13" name="Text 11"/>
          <p:cNvSpPr txBox="1"/>
          <p:nvPr/>
        </p:nvSpPr>
        <p:spPr>
          <a:xfrm>
            <a:off x="4645152" y="281635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Azure Boards</a:t>
            </a:r>
            <a:endParaRPr lang="en-US" sz="1800" dirty="0"/>
          </a:p>
        </p:txBody>
      </p:sp>
      <p:sp>
        <p:nvSpPr>
          <p:cNvPr id="14" name="Text 12"/>
          <p:cNvSpPr txBox="1"/>
          <p:nvPr/>
        </p:nvSpPr>
        <p:spPr>
          <a:xfrm>
            <a:off x="4645152" y="331012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Engineering detail. Work items, bugs, and features, referenced as AB#&lt;id&gt; in commits and pull requests.</a:t>
            </a:r>
            <a:endParaRPr lang="en-US" sz="1350" dirty="0"/>
          </a:p>
        </p:txBody>
      </p:sp>
      <p:sp>
        <p:nvSpPr>
          <p:cNvPr id="15" name="Shape 13"/>
          <p:cNvSpPr/>
          <p:nvPr/>
        </p:nvSpPr>
        <p:spPr>
          <a:xfrm>
            <a:off x="8110728" y="2286000"/>
            <a:ext cx="3483864" cy="2286000"/>
          </a:xfrm>
          <a:prstGeom prst="roundRect">
            <a:avLst>
              <a:gd name="adj" fmla="val 2400"/>
            </a:avLst>
          </a:prstGeom>
          <a:solidFill>
            <a:srgbClr val="CBE4E4"/>
          </a:solidFill>
          <a:ln w="12700">
            <a:solidFill>
              <a:srgbClr val="CBE4E4"/>
            </a:solidFill>
            <a:prstDash val="solid"/>
          </a:ln>
        </p:spPr>
        <p:txBody>
          <a:bodyPr/>
          <a:lstStyle/>
          <a:p>
            <a:endParaRPr lang="en-US"/>
          </a:p>
        </p:txBody>
      </p:sp>
      <p:sp>
        <p:nvSpPr>
          <p:cNvPr id="16" name="Text 14"/>
          <p:cNvSpPr txBox="1"/>
          <p:nvPr/>
        </p:nvSpPr>
        <p:spPr>
          <a:xfrm>
            <a:off x="8403336" y="252374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FEEDS IT</a:t>
            </a:r>
            <a:endParaRPr lang="en-US" sz="900" dirty="0"/>
          </a:p>
        </p:txBody>
      </p:sp>
      <p:sp>
        <p:nvSpPr>
          <p:cNvPr id="17" name="Text 15"/>
          <p:cNvSpPr txBox="1"/>
          <p:nvPr/>
        </p:nvSpPr>
        <p:spPr>
          <a:xfrm>
            <a:off x="8403336" y="281635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Test management</a:t>
            </a:r>
            <a:endParaRPr lang="en-US" sz="1800" dirty="0"/>
          </a:p>
        </p:txBody>
      </p:sp>
      <p:sp>
        <p:nvSpPr>
          <p:cNvPr id="18" name="Text 16"/>
          <p:cNvSpPr txBox="1"/>
          <p:nvPr/>
        </p:nvSpPr>
        <p:spPr>
          <a:xfrm>
            <a:off x="8403336" y="331012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Execution history. A failed case links to its work item. The cases themselves live in git, because git is the source.</a:t>
            </a:r>
            <a:endParaRPr lang="en-US" sz="1350" dirty="0"/>
          </a:p>
        </p:txBody>
      </p:sp>
      <p:sp>
        <p:nvSpPr>
          <p:cNvPr id="19" name="Shape 17"/>
          <p:cNvSpPr/>
          <p:nvPr/>
        </p:nvSpPr>
        <p:spPr>
          <a:xfrm>
            <a:off x="594360" y="4846320"/>
            <a:ext cx="11000232" cy="777240"/>
          </a:xfrm>
          <a:prstGeom prst="roundRect">
            <a:avLst>
              <a:gd name="adj" fmla="val 7059"/>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846320"/>
            <a:ext cx="10268712" cy="77724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One pointer between two systems cannot drift. Two copies of the same fact always will.</a:t>
            </a:r>
            <a:endParaRPr lang="en-US" sz="1600" dirty="0"/>
          </a:p>
        </p:txBody>
      </p:sp>
      <p:sp>
        <p:nvSpPr>
          <p:cNvPr id="21" name="Text 19"/>
          <p:cNvSpPr txBox="1"/>
          <p:nvPr/>
        </p:nvSpPr>
        <p:spPr>
          <a:xfrm>
            <a:off x="594360" y="58521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A work item may carry a reference to a Workfront task, whether that task already exists or somebody creates it for a dated commitment.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THE RAILS</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Two kinds of quality work</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94360" y="1645920"/>
            <a:ext cx="5362956" cy="3017520"/>
          </a:xfrm>
          <a:prstGeom prst="roundRect">
            <a:avLst>
              <a:gd name="adj" fmla="val 1818"/>
            </a:avLst>
          </a:prstGeom>
          <a:solidFill>
            <a:srgbClr val="E4F2F2"/>
          </a:solidFill>
          <a:ln w="12700">
            <a:solidFill>
              <a:srgbClr val="E4F2F2"/>
            </a:solidFill>
            <a:prstDash val="solid"/>
          </a:ln>
        </p:spPr>
        <p:txBody>
          <a:bodyPr/>
          <a:lstStyle/>
          <a:p>
            <a:endParaRPr lang="en-US"/>
          </a:p>
        </p:txBody>
      </p:sp>
      <p:sp>
        <p:nvSpPr>
          <p:cNvPr id="7" name="Text 5"/>
          <p:cNvSpPr txBox="1"/>
          <p:nvPr/>
        </p:nvSpPr>
        <p:spPr>
          <a:xfrm>
            <a:off x="886968" y="188366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CONTINUOUS RAILS</a:t>
            </a:r>
            <a:endParaRPr lang="en-US" sz="900" dirty="0"/>
          </a:p>
        </p:txBody>
      </p:sp>
      <p:sp>
        <p:nvSpPr>
          <p:cNvPr id="8" name="Text 6"/>
          <p:cNvSpPr txBox="1"/>
          <p:nvPr/>
        </p:nvSpPr>
        <p:spPr>
          <a:xfrm>
            <a:off x="886968" y="217627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Run on every change</a:t>
            </a:r>
            <a:endParaRPr lang="en-US" sz="1800" dirty="0"/>
          </a:p>
        </p:txBody>
      </p:sp>
      <p:sp>
        <p:nvSpPr>
          <p:cNvPr id="9" name="Text 7"/>
          <p:cNvSpPr txBox="1"/>
          <p:nvPr/>
        </p:nvSpPr>
        <p:spPr>
          <a:xfrm>
            <a:off x="886968" y="2670048"/>
            <a:ext cx="4777740" cy="173736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Fast. Automated. They block the merge.</a:t>
            </a:r>
            <a:endParaRPr lang="en-US" sz="1350" dirty="0"/>
          </a:p>
          <a:p>
            <a:pPr marL="0" indent="0">
              <a:lnSpc>
                <a:spcPct val="115000"/>
              </a:lnSpc>
              <a:buNone/>
            </a:pPr>
            <a:endParaRPr lang="en-US" sz="1350" dirty="0"/>
          </a:p>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A rail must almost never be wrong, because a rail that cries wolf gets switched off, and a switched-off rail enforces nothing.</a:t>
            </a:r>
            <a:endParaRPr lang="en-US" sz="1350" dirty="0"/>
          </a:p>
        </p:txBody>
      </p:sp>
      <p:sp>
        <p:nvSpPr>
          <p:cNvPr id="10" name="Shape 8"/>
          <p:cNvSpPr/>
          <p:nvPr/>
        </p:nvSpPr>
        <p:spPr>
          <a:xfrm>
            <a:off x="6231636" y="1645920"/>
            <a:ext cx="5362956" cy="3017520"/>
          </a:xfrm>
          <a:prstGeom prst="roundRect">
            <a:avLst>
              <a:gd name="adj" fmla="val 1818"/>
            </a:avLst>
          </a:prstGeom>
          <a:solidFill>
            <a:srgbClr val="E4F2F2"/>
          </a:solidFill>
          <a:ln w="12700">
            <a:solidFill>
              <a:srgbClr val="E4F2F2"/>
            </a:solidFill>
            <a:prstDash val="solid"/>
          </a:ln>
        </p:spPr>
        <p:txBody>
          <a:bodyPr/>
          <a:lstStyle/>
          <a:p>
            <a:endParaRPr lang="en-US"/>
          </a:p>
        </p:txBody>
      </p:sp>
      <p:sp>
        <p:nvSpPr>
          <p:cNvPr id="11" name="Text 9"/>
          <p:cNvSpPr txBox="1"/>
          <p:nvPr/>
        </p:nvSpPr>
        <p:spPr>
          <a:xfrm>
            <a:off x="6524244" y="188366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EVENT GATES</a:t>
            </a:r>
            <a:endParaRPr lang="en-US" sz="900" dirty="0"/>
          </a:p>
        </p:txBody>
      </p:sp>
      <p:sp>
        <p:nvSpPr>
          <p:cNvPr id="12" name="Text 10"/>
          <p:cNvSpPr txBox="1"/>
          <p:nvPr/>
        </p:nvSpPr>
        <p:spPr>
          <a:xfrm>
            <a:off x="6524244" y="217627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Run on a trigger</a:t>
            </a:r>
            <a:endParaRPr lang="en-US" sz="1800" dirty="0"/>
          </a:p>
        </p:txBody>
      </p:sp>
      <p:sp>
        <p:nvSpPr>
          <p:cNvPr id="13" name="Text 11"/>
          <p:cNvSpPr txBox="1"/>
          <p:nvPr/>
        </p:nvSpPr>
        <p:spPr>
          <a:xfrm>
            <a:off x="6524244" y="2670048"/>
            <a:ext cx="4777740" cy="173736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Slow. Each one names an owner, and some of those owners are you. They block one named transition.</a:t>
            </a:r>
            <a:endParaRPr lang="en-US" sz="1350" dirty="0"/>
          </a:p>
          <a:p>
            <a:pPr marL="0" indent="0">
              <a:lnSpc>
                <a:spcPct val="115000"/>
              </a:lnSpc>
              <a:buNone/>
            </a:pPr>
            <a:endParaRPr lang="en-US" sz="1350" dirty="0"/>
          </a:p>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Several take weeks. None of them can start at the end.</a:t>
            </a:r>
            <a:endParaRPr lang="en-US" sz="1350" dirty="0"/>
          </a:p>
        </p:txBody>
      </p:sp>
      <p:sp>
        <p:nvSpPr>
          <p:cNvPr id="14" name="Shape 12"/>
          <p:cNvSpPr/>
          <p:nvPr/>
        </p:nvSpPr>
        <p:spPr>
          <a:xfrm>
            <a:off x="594360" y="498348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15" name="Text 13"/>
          <p:cNvSpPr txBox="1"/>
          <p:nvPr/>
        </p:nvSpPr>
        <p:spPr>
          <a:xfrm>
            <a:off x="960120" y="498348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 question is never continuous or event-driven. The question is what it blocks, and when.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THE RAILS</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The eight continuous rails</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16</a:t>
            </a:r>
            <a:endParaRPr lang="en-US" sz="900" dirty="0"/>
          </a:p>
        </p:txBody>
      </p:sp>
      <p:sp>
        <p:nvSpPr>
          <p:cNvPr id="6" name="Text 4"/>
          <p:cNvSpPr txBox="1"/>
          <p:nvPr/>
        </p:nvSpPr>
        <p:spPr>
          <a:xfrm>
            <a:off x="594360" y="1737360"/>
            <a:ext cx="4754880"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RAIL</a:t>
            </a:r>
            <a:endParaRPr lang="en-US" sz="900" dirty="0"/>
          </a:p>
        </p:txBody>
      </p:sp>
      <p:sp>
        <p:nvSpPr>
          <p:cNvPr id="7" name="Text 5"/>
          <p:cNvSpPr txBox="1"/>
          <p:nvPr/>
        </p:nvSpPr>
        <p:spPr>
          <a:xfrm>
            <a:off x="5349240" y="1737360"/>
            <a:ext cx="6245352"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WHAT BLOCKS THE MERGE</a:t>
            </a:r>
            <a:endParaRPr lang="en-US" sz="900" dirty="0"/>
          </a:p>
        </p:txBody>
      </p:sp>
      <p:sp>
        <p:nvSpPr>
          <p:cNvPr id="8" name="Shape 6"/>
          <p:cNvSpPr/>
          <p:nvPr/>
        </p:nvSpPr>
        <p:spPr>
          <a:xfrm>
            <a:off x="594360" y="2057400"/>
            <a:ext cx="11000232" cy="365760"/>
          </a:xfrm>
          <a:prstGeom prst="rect">
            <a:avLst/>
          </a:prstGeom>
          <a:solidFill>
            <a:srgbClr val="E4F2F2"/>
          </a:solidFill>
          <a:ln w="12700">
            <a:solidFill>
              <a:srgbClr val="E4F2F2"/>
            </a:solidFill>
            <a:prstDash val="solid"/>
          </a:ln>
        </p:spPr>
        <p:txBody>
          <a:bodyPr/>
          <a:lstStyle/>
          <a:p>
            <a:endParaRPr lang="en-US"/>
          </a:p>
        </p:txBody>
      </p:sp>
      <p:sp>
        <p:nvSpPr>
          <p:cNvPr id="9" name="Text 7"/>
          <p:cNvSpPr txBox="1"/>
          <p:nvPr/>
        </p:nvSpPr>
        <p:spPr>
          <a:xfrm>
            <a:off x="704088" y="2121408"/>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Unit tests</a:t>
            </a:r>
            <a:endParaRPr lang="en-US" sz="1200" dirty="0"/>
          </a:p>
        </p:txBody>
      </p:sp>
      <p:sp>
        <p:nvSpPr>
          <p:cNvPr id="10" name="Text 8"/>
          <p:cNvSpPr txBox="1"/>
          <p:nvPr/>
        </p:nvSpPr>
        <p:spPr>
          <a:xfrm>
            <a:off x="5458968" y="2121408"/>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Any failure</a:t>
            </a:r>
            <a:endParaRPr lang="en-US" sz="1200" dirty="0"/>
          </a:p>
        </p:txBody>
      </p:sp>
      <p:sp>
        <p:nvSpPr>
          <p:cNvPr id="11" name="Shape 9"/>
          <p:cNvSpPr/>
          <p:nvPr/>
        </p:nvSpPr>
        <p:spPr>
          <a:xfrm>
            <a:off x="594360" y="2478024"/>
            <a:ext cx="11000232" cy="365760"/>
          </a:xfrm>
          <a:prstGeom prst="rect">
            <a:avLst/>
          </a:prstGeom>
          <a:solidFill>
            <a:srgbClr val="FFFFFF"/>
          </a:solidFill>
          <a:ln w="12700">
            <a:solidFill>
              <a:srgbClr val="FFFFFF"/>
            </a:solidFill>
            <a:prstDash val="solid"/>
          </a:ln>
        </p:spPr>
        <p:txBody>
          <a:bodyPr/>
          <a:lstStyle/>
          <a:p>
            <a:endParaRPr lang="en-US"/>
          </a:p>
        </p:txBody>
      </p:sp>
      <p:sp>
        <p:nvSpPr>
          <p:cNvPr id="12" name="Text 10"/>
          <p:cNvSpPr txBox="1"/>
          <p:nvPr/>
        </p:nvSpPr>
        <p:spPr>
          <a:xfrm>
            <a:off x="704088" y="2542032"/>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Lint, format, and type checks</a:t>
            </a:r>
            <a:endParaRPr lang="en-US" sz="1200" dirty="0"/>
          </a:p>
        </p:txBody>
      </p:sp>
      <p:sp>
        <p:nvSpPr>
          <p:cNvPr id="13" name="Text 11"/>
          <p:cNvSpPr txBox="1"/>
          <p:nvPr/>
        </p:nvSpPr>
        <p:spPr>
          <a:xfrm>
            <a:off x="5458968" y="2542032"/>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Any failure</a:t>
            </a:r>
            <a:endParaRPr lang="en-US" sz="1200" dirty="0"/>
          </a:p>
        </p:txBody>
      </p:sp>
      <p:sp>
        <p:nvSpPr>
          <p:cNvPr id="14" name="Shape 12"/>
          <p:cNvSpPr/>
          <p:nvPr/>
        </p:nvSpPr>
        <p:spPr>
          <a:xfrm>
            <a:off x="594360" y="2898648"/>
            <a:ext cx="11000232" cy="365760"/>
          </a:xfrm>
          <a:prstGeom prst="rect">
            <a:avLst/>
          </a:prstGeom>
          <a:solidFill>
            <a:srgbClr val="E4F2F2"/>
          </a:solidFill>
          <a:ln w="12700">
            <a:solidFill>
              <a:srgbClr val="E4F2F2"/>
            </a:solidFill>
            <a:prstDash val="solid"/>
          </a:ln>
        </p:spPr>
        <p:txBody>
          <a:bodyPr/>
          <a:lstStyle/>
          <a:p>
            <a:endParaRPr lang="en-US"/>
          </a:p>
        </p:txBody>
      </p:sp>
      <p:sp>
        <p:nvSpPr>
          <p:cNvPr id="15" name="Text 13"/>
          <p:cNvSpPr txBox="1"/>
          <p:nvPr/>
        </p:nvSpPr>
        <p:spPr>
          <a:xfrm>
            <a:off x="704088" y="2962656"/>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Commit-message conformance</a:t>
            </a:r>
            <a:endParaRPr lang="en-US" sz="1200" dirty="0"/>
          </a:p>
        </p:txBody>
      </p:sp>
      <p:sp>
        <p:nvSpPr>
          <p:cNvPr id="16" name="Text 14"/>
          <p:cNvSpPr txBox="1"/>
          <p:nvPr/>
        </p:nvSpPr>
        <p:spPr>
          <a:xfrm>
            <a:off x="5458968" y="2962656"/>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Any commit off Conventional Commits</a:t>
            </a:r>
            <a:endParaRPr lang="en-US" sz="1200" dirty="0"/>
          </a:p>
        </p:txBody>
      </p:sp>
      <p:sp>
        <p:nvSpPr>
          <p:cNvPr id="17" name="Shape 15"/>
          <p:cNvSpPr/>
          <p:nvPr/>
        </p:nvSpPr>
        <p:spPr>
          <a:xfrm>
            <a:off x="594360" y="3319272"/>
            <a:ext cx="11000232" cy="365760"/>
          </a:xfrm>
          <a:prstGeom prst="rect">
            <a:avLst/>
          </a:prstGeom>
          <a:solidFill>
            <a:srgbClr val="FFFFFF"/>
          </a:solidFill>
          <a:ln w="12700">
            <a:solidFill>
              <a:srgbClr val="FFFFFF"/>
            </a:solidFill>
            <a:prstDash val="solid"/>
          </a:ln>
        </p:spPr>
        <p:txBody>
          <a:bodyPr/>
          <a:lstStyle/>
          <a:p>
            <a:endParaRPr lang="en-US"/>
          </a:p>
        </p:txBody>
      </p:sp>
      <p:sp>
        <p:nvSpPr>
          <p:cNvPr id="18" name="Text 16"/>
          <p:cNvSpPr txBox="1"/>
          <p:nvPr/>
        </p:nvSpPr>
        <p:spPr>
          <a:xfrm>
            <a:off x="704088" y="3383280"/>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Static code analysis</a:t>
            </a:r>
            <a:endParaRPr lang="en-US" sz="1200" dirty="0"/>
          </a:p>
        </p:txBody>
      </p:sp>
      <p:sp>
        <p:nvSpPr>
          <p:cNvPr id="19" name="Text 17"/>
          <p:cNvSpPr txBox="1"/>
          <p:nvPr/>
        </p:nvSpPr>
        <p:spPr>
          <a:xfrm>
            <a:off x="5458968" y="3383280"/>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 new finding above the agreed severity</a:t>
            </a:r>
            <a:endParaRPr lang="en-US" sz="1200" dirty="0"/>
          </a:p>
        </p:txBody>
      </p:sp>
      <p:sp>
        <p:nvSpPr>
          <p:cNvPr id="20" name="Shape 18"/>
          <p:cNvSpPr/>
          <p:nvPr/>
        </p:nvSpPr>
        <p:spPr>
          <a:xfrm>
            <a:off x="594360" y="3739896"/>
            <a:ext cx="11000232" cy="365760"/>
          </a:xfrm>
          <a:prstGeom prst="rect">
            <a:avLst/>
          </a:prstGeom>
          <a:solidFill>
            <a:srgbClr val="E4F2F2"/>
          </a:solidFill>
          <a:ln w="12700">
            <a:solidFill>
              <a:srgbClr val="E4F2F2"/>
            </a:solidFill>
            <a:prstDash val="solid"/>
          </a:ln>
        </p:spPr>
        <p:txBody>
          <a:bodyPr/>
          <a:lstStyle/>
          <a:p>
            <a:endParaRPr lang="en-US"/>
          </a:p>
        </p:txBody>
      </p:sp>
      <p:sp>
        <p:nvSpPr>
          <p:cNvPr id="21" name="Text 19"/>
          <p:cNvSpPr txBox="1"/>
          <p:nvPr/>
        </p:nvSpPr>
        <p:spPr>
          <a:xfrm>
            <a:off x="704088" y="3803904"/>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Dependency licensing</a:t>
            </a:r>
            <a:endParaRPr lang="en-US" sz="1200" dirty="0"/>
          </a:p>
        </p:txBody>
      </p:sp>
      <p:sp>
        <p:nvSpPr>
          <p:cNvPr id="22" name="Text 20"/>
          <p:cNvSpPr txBox="1"/>
          <p:nvPr/>
        </p:nvSpPr>
        <p:spPr>
          <a:xfrm>
            <a:off x="5458968" y="3803904"/>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 copyleft or unreviewed license</a:t>
            </a:r>
            <a:endParaRPr lang="en-US" sz="1200" dirty="0"/>
          </a:p>
        </p:txBody>
      </p:sp>
      <p:sp>
        <p:nvSpPr>
          <p:cNvPr id="23" name="Shape 21"/>
          <p:cNvSpPr/>
          <p:nvPr/>
        </p:nvSpPr>
        <p:spPr>
          <a:xfrm>
            <a:off x="594360" y="4160520"/>
            <a:ext cx="11000232" cy="365760"/>
          </a:xfrm>
          <a:prstGeom prst="rect">
            <a:avLst/>
          </a:prstGeom>
          <a:solidFill>
            <a:srgbClr val="FFFFFF"/>
          </a:solidFill>
          <a:ln w="12700">
            <a:solidFill>
              <a:srgbClr val="FFFFFF"/>
            </a:solidFill>
            <a:prstDash val="solid"/>
          </a:ln>
        </p:spPr>
        <p:txBody>
          <a:bodyPr/>
          <a:lstStyle/>
          <a:p>
            <a:endParaRPr lang="en-US"/>
          </a:p>
        </p:txBody>
      </p:sp>
      <p:sp>
        <p:nvSpPr>
          <p:cNvPr id="24" name="Text 22"/>
          <p:cNvSpPr txBox="1"/>
          <p:nvPr/>
        </p:nvSpPr>
        <p:spPr>
          <a:xfrm>
            <a:off x="704088" y="4224528"/>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Container image scan</a:t>
            </a:r>
            <a:endParaRPr lang="en-US" sz="1200" dirty="0"/>
          </a:p>
        </p:txBody>
      </p:sp>
      <p:sp>
        <p:nvSpPr>
          <p:cNvPr id="25" name="Text 23"/>
          <p:cNvSpPr txBox="1"/>
          <p:nvPr/>
        </p:nvSpPr>
        <p:spPr>
          <a:xfrm>
            <a:off x="5458968" y="4224528"/>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 finding above the agreed severity</a:t>
            </a:r>
            <a:endParaRPr lang="en-US" sz="1200" dirty="0"/>
          </a:p>
        </p:txBody>
      </p:sp>
      <p:sp>
        <p:nvSpPr>
          <p:cNvPr id="26" name="Shape 24"/>
          <p:cNvSpPr/>
          <p:nvPr/>
        </p:nvSpPr>
        <p:spPr>
          <a:xfrm>
            <a:off x="594360" y="4581144"/>
            <a:ext cx="11000232" cy="365760"/>
          </a:xfrm>
          <a:prstGeom prst="rect">
            <a:avLst/>
          </a:prstGeom>
          <a:solidFill>
            <a:srgbClr val="E4F2F2"/>
          </a:solidFill>
          <a:ln w="12700">
            <a:solidFill>
              <a:srgbClr val="E4F2F2"/>
            </a:solidFill>
            <a:prstDash val="solid"/>
          </a:ln>
        </p:spPr>
        <p:txBody>
          <a:bodyPr/>
          <a:lstStyle/>
          <a:p>
            <a:endParaRPr lang="en-US"/>
          </a:p>
        </p:txBody>
      </p:sp>
      <p:sp>
        <p:nvSpPr>
          <p:cNvPr id="27" name="Text 25"/>
          <p:cNvSpPr txBox="1"/>
          <p:nvPr/>
        </p:nvSpPr>
        <p:spPr>
          <a:xfrm>
            <a:off x="704088" y="4645152"/>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Secret scanning</a:t>
            </a:r>
            <a:endParaRPr lang="en-US" sz="1200" dirty="0"/>
          </a:p>
        </p:txBody>
      </p:sp>
      <p:sp>
        <p:nvSpPr>
          <p:cNvPr id="28" name="Text 26"/>
          <p:cNvSpPr txBox="1"/>
          <p:nvPr/>
        </p:nvSpPr>
        <p:spPr>
          <a:xfrm>
            <a:off x="5458968" y="4645152"/>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Any credential-shaped string. No threshold.</a:t>
            </a:r>
            <a:endParaRPr lang="en-US" sz="1200" dirty="0"/>
          </a:p>
        </p:txBody>
      </p:sp>
      <p:sp>
        <p:nvSpPr>
          <p:cNvPr id="29" name="Shape 27"/>
          <p:cNvSpPr/>
          <p:nvPr/>
        </p:nvSpPr>
        <p:spPr>
          <a:xfrm>
            <a:off x="594360" y="5001768"/>
            <a:ext cx="11000232" cy="365760"/>
          </a:xfrm>
          <a:prstGeom prst="rect">
            <a:avLst/>
          </a:prstGeom>
          <a:solidFill>
            <a:srgbClr val="FFFFFF"/>
          </a:solidFill>
          <a:ln w="12700">
            <a:solidFill>
              <a:srgbClr val="FFFFFF"/>
            </a:solidFill>
            <a:prstDash val="solid"/>
          </a:ln>
        </p:spPr>
        <p:txBody>
          <a:bodyPr/>
          <a:lstStyle/>
          <a:p>
            <a:endParaRPr lang="en-US"/>
          </a:p>
        </p:txBody>
      </p:sp>
      <p:sp>
        <p:nvSpPr>
          <p:cNvPr id="30" name="Text 28"/>
          <p:cNvSpPr txBox="1"/>
          <p:nvPr/>
        </p:nvSpPr>
        <p:spPr>
          <a:xfrm>
            <a:off x="704088" y="5065776"/>
            <a:ext cx="453542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Production-data guard</a:t>
            </a:r>
            <a:endParaRPr lang="en-US" sz="1200" dirty="0"/>
          </a:p>
        </p:txBody>
      </p:sp>
      <p:sp>
        <p:nvSpPr>
          <p:cNvPr id="31" name="Text 29"/>
          <p:cNvSpPr txBox="1"/>
          <p:nvPr/>
        </p:nvSpPr>
        <p:spPr>
          <a:xfrm>
            <a:off x="5458968" y="5065776"/>
            <a:ext cx="602589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Any production data in the repo. No threshold.</a:t>
            </a:r>
            <a:endParaRPr lang="en-US" sz="1200" dirty="0"/>
          </a:p>
        </p:txBody>
      </p:sp>
      <p:sp>
        <p:nvSpPr>
          <p:cNvPr id="32" name="Shape 30"/>
          <p:cNvSpPr/>
          <p:nvPr/>
        </p:nvSpPr>
        <p:spPr>
          <a:xfrm>
            <a:off x="594360" y="553212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33" name="Text 31"/>
          <p:cNvSpPr txBox="1"/>
          <p:nvPr/>
        </p:nvSpPr>
        <p:spPr>
          <a:xfrm>
            <a:off x="960120" y="553212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Two rails have no threshold and never will. A secret and a production record are not severity questions.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THE RAILS</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A gate states four things, or it is not a gate</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17</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This is the test that keeps the register honest. A row that cannot state all four is either a rail or a wish.</a:t>
            </a:r>
            <a:endParaRPr lang="en-US" sz="1600" dirty="0"/>
          </a:p>
        </p:txBody>
      </p:sp>
      <p:sp>
        <p:nvSpPr>
          <p:cNvPr id="7" name="Shape 5"/>
          <p:cNvSpPr/>
          <p:nvPr/>
        </p:nvSpPr>
        <p:spPr>
          <a:xfrm>
            <a:off x="594360" y="2331720"/>
            <a:ext cx="2544318" cy="2103120"/>
          </a:xfrm>
          <a:prstGeom prst="roundRect">
            <a:avLst>
              <a:gd name="adj" fmla="val 2609"/>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1959102"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ONE</a:t>
            </a:r>
            <a:endParaRPr lang="en-US" sz="900" dirty="0"/>
          </a:p>
        </p:txBody>
      </p:sp>
      <p:sp>
        <p:nvSpPr>
          <p:cNvPr id="9" name="Text 7"/>
          <p:cNvSpPr txBox="1"/>
          <p:nvPr/>
        </p:nvSpPr>
        <p:spPr>
          <a:xfrm>
            <a:off x="886968" y="2862072"/>
            <a:ext cx="1959102"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Its trigger</a:t>
            </a:r>
            <a:endParaRPr lang="en-US" sz="1800" dirty="0"/>
          </a:p>
        </p:txBody>
      </p:sp>
      <p:sp>
        <p:nvSpPr>
          <p:cNvPr id="10" name="Text 8"/>
          <p:cNvSpPr txBox="1"/>
          <p:nvPr/>
        </p:nvSpPr>
        <p:spPr>
          <a:xfrm>
            <a:off x="886968" y="3355848"/>
            <a:ext cx="1959102" cy="82296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What event opens it. Not a date, an event.</a:t>
            </a:r>
            <a:endParaRPr lang="en-US" sz="1350" dirty="0"/>
          </a:p>
        </p:txBody>
      </p:sp>
      <p:sp>
        <p:nvSpPr>
          <p:cNvPr id="11" name="Shape 9"/>
          <p:cNvSpPr/>
          <p:nvPr/>
        </p:nvSpPr>
        <p:spPr>
          <a:xfrm>
            <a:off x="3412998" y="2331720"/>
            <a:ext cx="2544318" cy="2103120"/>
          </a:xfrm>
          <a:prstGeom prst="roundRect">
            <a:avLst>
              <a:gd name="adj" fmla="val 2609"/>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3705606" y="2569464"/>
            <a:ext cx="1959102"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TWO</a:t>
            </a:r>
            <a:endParaRPr lang="en-US" sz="900" dirty="0"/>
          </a:p>
        </p:txBody>
      </p:sp>
      <p:sp>
        <p:nvSpPr>
          <p:cNvPr id="13" name="Text 11"/>
          <p:cNvSpPr txBox="1"/>
          <p:nvPr/>
        </p:nvSpPr>
        <p:spPr>
          <a:xfrm>
            <a:off x="3705606" y="2862072"/>
            <a:ext cx="1959102"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Its owner</a:t>
            </a:r>
            <a:endParaRPr lang="en-US" sz="1800" dirty="0"/>
          </a:p>
        </p:txBody>
      </p:sp>
      <p:sp>
        <p:nvSpPr>
          <p:cNvPr id="14" name="Text 12"/>
          <p:cNvSpPr txBox="1"/>
          <p:nvPr/>
        </p:nvSpPr>
        <p:spPr>
          <a:xfrm>
            <a:off x="3705606" y="3355848"/>
            <a:ext cx="1959102" cy="82296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person or team whose clock it runs on.</a:t>
            </a:r>
            <a:endParaRPr lang="en-US" sz="1350" dirty="0"/>
          </a:p>
        </p:txBody>
      </p:sp>
      <p:sp>
        <p:nvSpPr>
          <p:cNvPr id="15" name="Shape 13"/>
          <p:cNvSpPr/>
          <p:nvPr/>
        </p:nvSpPr>
        <p:spPr>
          <a:xfrm>
            <a:off x="6231636" y="2331720"/>
            <a:ext cx="2544318" cy="2103120"/>
          </a:xfrm>
          <a:prstGeom prst="roundRect">
            <a:avLst>
              <a:gd name="adj" fmla="val 2609"/>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6524244" y="2569464"/>
            <a:ext cx="1959102"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THREE</a:t>
            </a:r>
            <a:endParaRPr lang="en-US" sz="900" dirty="0"/>
          </a:p>
        </p:txBody>
      </p:sp>
      <p:sp>
        <p:nvSpPr>
          <p:cNvPr id="17" name="Text 15"/>
          <p:cNvSpPr txBox="1"/>
          <p:nvPr/>
        </p:nvSpPr>
        <p:spPr>
          <a:xfrm>
            <a:off x="6524244" y="2862072"/>
            <a:ext cx="1959102"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What it blocks</a:t>
            </a:r>
            <a:endParaRPr lang="en-US" sz="1800" dirty="0"/>
          </a:p>
        </p:txBody>
      </p:sp>
      <p:sp>
        <p:nvSpPr>
          <p:cNvPr id="18" name="Text 16"/>
          <p:cNvSpPr txBox="1"/>
          <p:nvPr/>
        </p:nvSpPr>
        <p:spPr>
          <a:xfrm>
            <a:off x="6524244" y="3355848"/>
            <a:ext cx="1959102" cy="82296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One named transition. Five of twelve block go-live. Read the register.</a:t>
            </a:r>
            <a:endParaRPr lang="en-US" sz="1350" dirty="0"/>
          </a:p>
        </p:txBody>
      </p:sp>
      <p:sp>
        <p:nvSpPr>
          <p:cNvPr id="19" name="Shape 17"/>
          <p:cNvSpPr/>
          <p:nvPr/>
        </p:nvSpPr>
        <p:spPr>
          <a:xfrm>
            <a:off x="9050274" y="2331720"/>
            <a:ext cx="2544318" cy="2103120"/>
          </a:xfrm>
          <a:prstGeom prst="roundRect">
            <a:avLst>
              <a:gd name="adj" fmla="val 2609"/>
            </a:avLst>
          </a:prstGeom>
          <a:solidFill>
            <a:srgbClr val="E4F2F2"/>
          </a:solidFill>
          <a:ln w="12700">
            <a:solidFill>
              <a:srgbClr val="E4F2F2"/>
            </a:solidFill>
            <a:prstDash val="solid"/>
          </a:ln>
        </p:spPr>
        <p:txBody>
          <a:bodyPr/>
          <a:lstStyle/>
          <a:p>
            <a:endParaRPr lang="en-US"/>
          </a:p>
        </p:txBody>
      </p:sp>
      <p:sp>
        <p:nvSpPr>
          <p:cNvPr id="20" name="Text 18"/>
          <p:cNvSpPr txBox="1"/>
          <p:nvPr/>
        </p:nvSpPr>
        <p:spPr>
          <a:xfrm>
            <a:off x="9342882" y="2569464"/>
            <a:ext cx="1959102"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FOUR</a:t>
            </a:r>
            <a:endParaRPr lang="en-US" sz="900" dirty="0"/>
          </a:p>
        </p:txBody>
      </p:sp>
      <p:sp>
        <p:nvSpPr>
          <p:cNvPr id="21" name="Text 19"/>
          <p:cNvSpPr txBox="1"/>
          <p:nvPr/>
        </p:nvSpPr>
        <p:spPr>
          <a:xfrm>
            <a:off x="9342882" y="2862072"/>
            <a:ext cx="1959102"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Its artifact</a:t>
            </a:r>
            <a:endParaRPr lang="en-US" sz="1800" dirty="0"/>
          </a:p>
        </p:txBody>
      </p:sp>
      <p:sp>
        <p:nvSpPr>
          <p:cNvPr id="22" name="Text 20"/>
          <p:cNvSpPr txBox="1"/>
          <p:nvPr/>
        </p:nvSpPr>
        <p:spPr>
          <a:xfrm>
            <a:off x="9342882" y="3355848"/>
            <a:ext cx="1959102" cy="82296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thing that exists when it closes.</a:t>
            </a:r>
            <a:endParaRPr lang="en-US" sz="1350" dirty="0"/>
          </a:p>
        </p:txBody>
      </p:sp>
      <p:sp>
        <p:nvSpPr>
          <p:cNvPr id="23" name="Shape 21"/>
          <p:cNvSpPr/>
          <p:nvPr/>
        </p:nvSpPr>
        <p:spPr>
          <a:xfrm>
            <a:off x="594360" y="480060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4" name="Text 22"/>
          <p:cNvSpPr txBox="1"/>
          <p:nvPr/>
        </p:nvSpPr>
        <p:spPr>
          <a:xfrm>
            <a:off x="960120" y="480060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 register lives in the delivery map. Read it once before your first project, not during your first assessment.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THE RAILS</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Start the slow gates on day one</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18</a:t>
            </a:r>
            <a:endParaRPr lang="en-US" sz="900" dirty="0"/>
          </a:p>
        </p:txBody>
      </p:sp>
      <p:sp>
        <p:nvSpPr>
          <p:cNvPr id="6" name="Text 4"/>
          <p:cNvSpPr txBox="1"/>
          <p:nvPr/>
        </p:nvSpPr>
        <p:spPr>
          <a:xfrm>
            <a:off x="594360" y="155448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integration review takes four to eight weeks, because five teams review it in sequence. It is not the only slow one.</a:t>
            </a:r>
            <a:endParaRPr lang="en-US" sz="1600" dirty="0"/>
          </a:p>
        </p:txBody>
      </p:sp>
      <p:sp>
        <p:nvSpPr>
          <p:cNvPr id="7" name="Shape 5"/>
          <p:cNvSpPr/>
          <p:nvPr/>
        </p:nvSpPr>
        <p:spPr>
          <a:xfrm>
            <a:off x="594360" y="2377440"/>
            <a:ext cx="5362956"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61518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OPEN IN PHASE 1</a:t>
            </a:r>
            <a:endParaRPr lang="en-US" sz="900" dirty="0"/>
          </a:p>
        </p:txBody>
      </p:sp>
      <p:sp>
        <p:nvSpPr>
          <p:cNvPr id="9" name="Text 7"/>
          <p:cNvSpPr txBox="1"/>
          <p:nvPr/>
        </p:nvSpPr>
        <p:spPr>
          <a:xfrm>
            <a:off x="886968" y="290779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The slow ones</a:t>
            </a:r>
            <a:endParaRPr lang="en-US" sz="1800" dirty="0"/>
          </a:p>
        </p:txBody>
      </p:sp>
      <p:sp>
        <p:nvSpPr>
          <p:cNvPr id="10" name="Text 8"/>
          <p:cNvSpPr txBox="1"/>
          <p:nvPr/>
        </p:nvSpPr>
        <p:spPr>
          <a:xfrm>
            <a:off x="886968" y="3401568"/>
            <a:ext cx="4777740"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Integration review. Risk assessment. Email onboarding. AI review.</a:t>
            </a:r>
            <a:endParaRPr lang="en-US" sz="1350" dirty="0"/>
          </a:p>
          <a:p>
            <a:pPr marL="0" indent="0">
              <a:lnSpc>
                <a:spcPct val="115000"/>
              </a:lnSpc>
              <a:buNone/>
            </a:pPr>
            <a:endParaRPr lang="en-US" sz="1350" dirty="0"/>
          </a:p>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Only the AI review is entirely yours. The other three wait on outside teams, and none can be hurried at the end.</a:t>
            </a:r>
            <a:endParaRPr lang="en-US" sz="1350" dirty="0"/>
          </a:p>
        </p:txBody>
      </p:sp>
      <p:sp>
        <p:nvSpPr>
          <p:cNvPr id="11" name="Shape 9"/>
          <p:cNvSpPr/>
          <p:nvPr/>
        </p:nvSpPr>
        <p:spPr>
          <a:xfrm>
            <a:off x="6231636" y="2377440"/>
            <a:ext cx="5362956"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6524244" y="261518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THE FAILURE</a:t>
            </a:r>
            <a:endParaRPr lang="en-US" sz="900" dirty="0"/>
          </a:p>
        </p:txBody>
      </p:sp>
      <p:sp>
        <p:nvSpPr>
          <p:cNvPr id="13" name="Text 11"/>
          <p:cNvSpPr txBox="1"/>
          <p:nvPr/>
        </p:nvSpPr>
        <p:spPr>
          <a:xfrm>
            <a:off x="6524244" y="290779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Opening them at the end</a:t>
            </a:r>
            <a:endParaRPr lang="en-US" sz="1800" dirty="0"/>
          </a:p>
        </p:txBody>
      </p:sp>
      <p:sp>
        <p:nvSpPr>
          <p:cNvPr id="14" name="Text 12"/>
          <p:cNvSpPr txBox="1"/>
          <p:nvPr/>
        </p:nvSpPr>
        <p:spPr>
          <a:xfrm>
            <a:off x="6524244" y="3401568"/>
            <a:ext cx="4777740"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Every gap becomes a deadline problem instead of an engineering problem.</a:t>
            </a:r>
            <a:endParaRPr lang="en-US" sz="1350" dirty="0"/>
          </a:p>
          <a:p>
            <a:pPr marL="0" indent="0">
              <a:lnSpc>
                <a:spcPct val="115000"/>
              </a:lnSpc>
              <a:buNone/>
            </a:pPr>
            <a:endParaRPr lang="en-US" sz="1350" dirty="0"/>
          </a:p>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work does not get shorter. It just arrives when you have no room.</a:t>
            </a:r>
            <a:endParaRPr lang="en-US" sz="1350" dirty="0"/>
          </a:p>
        </p:txBody>
      </p:sp>
      <p:sp>
        <p:nvSpPr>
          <p:cNvPr id="15" name="Shape 13"/>
          <p:cNvSpPr/>
          <p:nvPr/>
        </p:nvSpPr>
        <p:spPr>
          <a:xfrm>
            <a:off x="594360" y="498348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16" name="Text 14"/>
          <p:cNvSpPr txBox="1"/>
          <p:nvPr/>
        </p:nvSpPr>
        <p:spPr>
          <a:xfrm>
            <a:off x="960120" y="498348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 gate nobody opened is still open at go-live. Nothing about it being forgotten makes it optional.</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PHASE 3</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The release loop</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94360" y="1828800"/>
            <a:ext cx="512064" cy="512064"/>
          </a:xfrm>
          <a:prstGeom prst="ellipse">
            <a:avLst/>
          </a:prstGeom>
          <a:solidFill>
            <a:srgbClr val="0F8B8D"/>
          </a:solidFill>
          <a:ln w="12700">
            <a:solidFill>
              <a:srgbClr val="0F8B8D"/>
            </a:solidFill>
            <a:prstDash val="solid"/>
          </a:ln>
        </p:spPr>
        <p:txBody>
          <a:bodyPr/>
          <a:lstStyle/>
          <a:p>
            <a:endParaRPr lang="en-US"/>
          </a:p>
        </p:txBody>
      </p:sp>
      <p:sp>
        <p:nvSpPr>
          <p:cNvPr id="7" name="Text 5"/>
          <p:cNvSpPr txBox="1"/>
          <p:nvPr/>
        </p:nvSpPr>
        <p:spPr>
          <a:xfrm>
            <a:off x="594360" y="182880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325880" y="1810512"/>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Cut the release</a:t>
            </a:r>
            <a:endParaRPr lang="en-US" sz="1800" dirty="0"/>
          </a:p>
        </p:txBody>
      </p:sp>
      <p:sp>
        <p:nvSpPr>
          <p:cNvPr id="9" name="Text 7"/>
          <p:cNvSpPr txBox="1"/>
          <p:nvPr/>
        </p:nvSpPr>
        <p:spPr>
          <a:xfrm>
            <a:off x="1325880" y="2121408"/>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Lockstep versions across the repo pair, a bump pull request, an annotated tag equal to the manifest, and a readiness record. /tdmi:release-cut does this.</a:t>
            </a:r>
            <a:endParaRPr lang="en-US" sz="1350" dirty="0"/>
          </a:p>
        </p:txBody>
      </p:sp>
      <p:sp>
        <p:nvSpPr>
          <p:cNvPr id="10" name="Shape 8"/>
          <p:cNvSpPr/>
          <p:nvPr/>
        </p:nvSpPr>
        <p:spPr>
          <a:xfrm>
            <a:off x="594360" y="2670048"/>
            <a:ext cx="512064" cy="512064"/>
          </a:xfrm>
          <a:prstGeom prst="ellipse">
            <a:avLst/>
          </a:prstGeom>
          <a:solidFill>
            <a:srgbClr val="0F8B8D"/>
          </a:solidFill>
          <a:ln w="12700">
            <a:solidFill>
              <a:srgbClr val="0F8B8D"/>
            </a:solidFill>
            <a:prstDash val="solid"/>
          </a:ln>
        </p:spPr>
        <p:txBody>
          <a:bodyPr/>
          <a:lstStyle/>
          <a:p>
            <a:endParaRPr lang="en-US"/>
          </a:p>
        </p:txBody>
      </p:sp>
      <p:sp>
        <p:nvSpPr>
          <p:cNvPr id="11" name="Text 9"/>
          <p:cNvSpPr txBox="1"/>
          <p:nvPr/>
        </p:nvSpPr>
        <p:spPr>
          <a:xfrm>
            <a:off x="594360" y="26700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325880" y="2651760"/>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Sync the test cases</a:t>
            </a:r>
            <a:endParaRPr lang="en-US" sz="1800" dirty="0"/>
          </a:p>
        </p:txBody>
      </p:sp>
      <p:sp>
        <p:nvSpPr>
          <p:cNvPr id="13" name="Text 11"/>
          <p:cNvSpPr txBox="1"/>
          <p:nvPr/>
        </p:nvSpPr>
        <p:spPr>
          <a:xfrm>
            <a:off x="1325880" y="2962656"/>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UAT cases live in git as markdown and sync one way into test management. Git is the source. Test management is a build output.</a:t>
            </a:r>
            <a:endParaRPr lang="en-US" sz="1350" dirty="0"/>
          </a:p>
        </p:txBody>
      </p:sp>
      <p:sp>
        <p:nvSpPr>
          <p:cNvPr id="14" name="Shape 12"/>
          <p:cNvSpPr/>
          <p:nvPr/>
        </p:nvSpPr>
        <p:spPr>
          <a:xfrm>
            <a:off x="594360" y="3511296"/>
            <a:ext cx="512064" cy="512064"/>
          </a:xfrm>
          <a:prstGeom prst="ellipse">
            <a:avLst/>
          </a:prstGeom>
          <a:solidFill>
            <a:srgbClr val="0F8B8D"/>
          </a:solidFill>
          <a:ln w="12700">
            <a:solidFill>
              <a:srgbClr val="0F8B8D"/>
            </a:solidFill>
            <a:prstDash val="solid"/>
          </a:ln>
        </p:spPr>
        <p:txBody>
          <a:bodyPr/>
          <a:lstStyle/>
          <a:p>
            <a:endParaRPr lang="en-US"/>
          </a:p>
        </p:txBody>
      </p:sp>
      <p:sp>
        <p:nvSpPr>
          <p:cNvPr id="15" name="Text 13"/>
          <p:cNvSpPr txBox="1"/>
          <p:nvPr/>
        </p:nvSpPr>
        <p:spPr>
          <a:xfrm>
            <a:off x="594360" y="351129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325880" y="3493008"/>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Accept in TEST</a:t>
            </a:r>
            <a:endParaRPr lang="en-US" sz="1800" dirty="0"/>
          </a:p>
        </p:txBody>
      </p:sp>
      <p:sp>
        <p:nvSpPr>
          <p:cNvPr id="17" name="Text 15"/>
          <p:cNvSpPr txBox="1"/>
          <p:nvPr/>
        </p:nvSpPr>
        <p:spPr>
          <a:xfrm>
            <a:off x="1325880" y="3803904"/>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Business users run the manual cycle against the TEST build. The business process owner signs, and the technical owner countersigns.</a:t>
            </a:r>
            <a:endParaRPr lang="en-US" sz="1350" dirty="0"/>
          </a:p>
        </p:txBody>
      </p:sp>
      <p:sp>
        <p:nvSpPr>
          <p:cNvPr id="18" name="Shape 16"/>
          <p:cNvSpPr/>
          <p:nvPr/>
        </p:nvSpPr>
        <p:spPr>
          <a:xfrm>
            <a:off x="594360" y="4352544"/>
            <a:ext cx="512064" cy="512064"/>
          </a:xfrm>
          <a:prstGeom prst="ellipse">
            <a:avLst/>
          </a:prstGeom>
          <a:solidFill>
            <a:srgbClr val="0F8B8D"/>
          </a:solidFill>
          <a:ln w="12700">
            <a:solidFill>
              <a:srgbClr val="0F8B8D"/>
            </a:solidFill>
            <a:prstDash val="solid"/>
          </a:ln>
        </p:spPr>
        <p:txBody>
          <a:bodyPr/>
          <a:lstStyle/>
          <a:p>
            <a:endParaRPr lang="en-US"/>
          </a:p>
        </p:txBody>
      </p:sp>
      <p:sp>
        <p:nvSpPr>
          <p:cNvPr id="19" name="Text 17"/>
          <p:cNvSpPr txBox="1"/>
          <p:nvPr/>
        </p:nvSpPr>
        <p:spPr>
          <a:xfrm>
            <a:off x="594360" y="435254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325880" y="4334256"/>
            <a:ext cx="3749040" cy="310896"/>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Promote to PROD</a:t>
            </a:r>
            <a:endParaRPr lang="en-US" sz="1800" dirty="0"/>
          </a:p>
        </p:txBody>
      </p:sp>
      <p:sp>
        <p:nvSpPr>
          <p:cNvPr id="21" name="Text 19"/>
          <p:cNvSpPr txBox="1"/>
          <p:nvPr/>
        </p:nvSpPr>
        <p:spPr>
          <a:xfrm>
            <a:off x="1325880" y="4645152"/>
            <a:ext cx="10241280" cy="457200"/>
          </a:xfrm>
          <a:prstGeom prst="rect">
            <a:avLst/>
          </a:prstGeom>
          <a:noFill/>
          <a:ln/>
        </p:spPr>
        <p:txBody>
          <a:bodyPr wrap="square" lIns="0" tIns="0" rIns="0" bIns="0" rtlCol="0" anchor="ctr"/>
          <a:lstStyle/>
          <a:p>
            <a:pPr marL="0" indent="0">
              <a:lnSpc>
                <a:spcPct val="110000"/>
              </a:lnSpc>
              <a:buNone/>
            </a:pPr>
            <a:r>
              <a:rPr lang="en-US" sz="1350" dirty="0">
                <a:solidFill>
                  <a:srgbClr val="45586A"/>
                </a:solidFill>
                <a:latin typeface="Calibri" pitchFamily="34" charset="0"/>
                <a:ea typeface="Calibri" pitchFamily="34" charset="-122"/>
                <a:cs typeface="Calibri" pitchFamily="34" charset="-120"/>
              </a:rPr>
              <a:t>Same tag, after sign-off, with every governing event gate closed. Then verify the running application, not the pipeline.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2 · PHASE 3</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Git is the source. Test management is a build output.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20</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single most expensive mistake in test management is editing a case in the tool.</a:t>
            </a:r>
            <a:endParaRPr lang="en-US" sz="1600" dirty="0"/>
          </a:p>
        </p:txBody>
      </p:sp>
      <p:sp>
        <p:nvSpPr>
          <p:cNvPr id="7" name="Shape 5"/>
          <p:cNvSpPr/>
          <p:nvPr/>
        </p:nvSpPr>
        <p:spPr>
          <a:xfrm>
            <a:off x="594360"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DO</a:t>
            </a:r>
            <a:endParaRPr lang="en-US" sz="900" dirty="0"/>
          </a:p>
        </p:txBody>
      </p:sp>
      <p:sp>
        <p:nvSpPr>
          <p:cNvPr id="9" name="Text 7"/>
          <p:cNvSpPr txBox="1"/>
          <p:nvPr/>
        </p:nvSpPr>
        <p:spPr>
          <a:xfrm>
            <a:off x="886968"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Edit the markdown</a:t>
            </a:r>
            <a:endParaRPr lang="en-US" sz="1800" dirty="0"/>
          </a:p>
        </p:txBody>
      </p:sp>
      <p:sp>
        <p:nvSpPr>
          <p:cNvPr id="10" name="Text 8"/>
          <p:cNvSpPr txBox="1"/>
          <p:nvPr/>
        </p:nvSpPr>
        <p:spPr>
          <a:xfrm>
            <a:off x="886968"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Cases and requirements live in git. Change them there, then sync one way.</a:t>
            </a:r>
            <a:endParaRPr lang="en-US" sz="1350" dirty="0"/>
          </a:p>
        </p:txBody>
      </p:sp>
      <p:sp>
        <p:nvSpPr>
          <p:cNvPr id="11" name="Shape 9"/>
          <p:cNvSpPr/>
          <p:nvPr/>
        </p:nvSpPr>
        <p:spPr>
          <a:xfrm>
            <a:off x="4352544"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4645152"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DO NOT</a:t>
            </a:r>
            <a:endParaRPr lang="en-US" sz="900" dirty="0"/>
          </a:p>
        </p:txBody>
      </p:sp>
      <p:sp>
        <p:nvSpPr>
          <p:cNvPr id="13" name="Text 11"/>
          <p:cNvSpPr txBox="1"/>
          <p:nvPr/>
        </p:nvSpPr>
        <p:spPr>
          <a:xfrm>
            <a:off x="4645152"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Edit in the tool</a:t>
            </a:r>
            <a:endParaRPr lang="en-US" sz="1800" dirty="0"/>
          </a:p>
        </p:txBody>
      </p:sp>
      <p:sp>
        <p:nvSpPr>
          <p:cNvPr id="14" name="Text 12"/>
          <p:cNvSpPr txBox="1"/>
          <p:nvPr/>
        </p:nvSpPr>
        <p:spPr>
          <a:xfrm>
            <a:off x="4645152"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A tool-side edit is drift. Backport it to git before the cycle closes, then apply.</a:t>
            </a:r>
            <a:endParaRPr lang="en-US" sz="1350" dirty="0"/>
          </a:p>
        </p:txBody>
      </p:sp>
      <p:sp>
        <p:nvSpPr>
          <p:cNvPr id="15" name="Shape 13"/>
          <p:cNvSpPr/>
          <p:nvPr/>
        </p:nvSpPr>
        <p:spPr>
          <a:xfrm>
            <a:off x="8110728"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403336"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NEVER</a:t>
            </a:r>
            <a:endParaRPr lang="en-US" sz="900" dirty="0"/>
          </a:p>
        </p:txBody>
      </p:sp>
      <p:sp>
        <p:nvSpPr>
          <p:cNvPr id="17" name="Text 15"/>
          <p:cNvSpPr txBox="1"/>
          <p:nvPr/>
        </p:nvSpPr>
        <p:spPr>
          <a:xfrm>
            <a:off x="8403336"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Reformat an identity key</a:t>
            </a:r>
            <a:endParaRPr lang="en-US" sz="1800" dirty="0"/>
          </a:p>
        </p:txBody>
      </p:sp>
      <p:sp>
        <p:nvSpPr>
          <p:cNvPr id="18" name="Text 16"/>
          <p:cNvSpPr txBox="1"/>
          <p:nvPr/>
        </p:nvSpPr>
        <p:spPr>
          <a:xfrm>
            <a:off x="8403336"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Case ids and name prefixes are permanent after first publish. A reformat duplicates every record.</a:t>
            </a:r>
            <a:endParaRPr lang="en-US" sz="1350" dirty="0"/>
          </a:p>
        </p:txBody>
      </p:sp>
      <p:sp>
        <p:nvSpPr>
          <p:cNvPr id="19" name="Shape 17"/>
          <p:cNvSpPr/>
          <p:nvPr/>
        </p:nvSpPr>
        <p:spPr>
          <a:xfrm>
            <a:off x="594360" y="49377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377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 second consecutive apply must report all-unchanged. That is the acceptance test, and it is not optional.</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42F47"/>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9FB1BC"/>
                </a:solidFill>
                <a:latin typeface="Calibri" pitchFamily="34" charset="0"/>
                <a:ea typeface="Calibri" pitchFamily="34" charset="-122"/>
                <a:cs typeface="Calibri" pitchFamily="34" charset="-120"/>
              </a:rPr>
              <a:t>ACT 3</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The Tools</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7C8B99"/>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7C8B99"/>
                </a:solidFill>
                <a:latin typeface="Calibri" pitchFamily="34" charset="0"/>
                <a:ea typeface="Calibri" pitchFamily="34" charset="-122"/>
                <a:cs typeface="Calibri" pitchFamily="34" charset="-120"/>
              </a:rPr>
              <a:t>21</a:t>
            </a:r>
            <a:endParaRPr lang="en-US" sz="900" dirty="0"/>
          </a:p>
        </p:txBody>
      </p:sp>
      <p:sp>
        <p:nvSpPr>
          <p:cNvPr id="6" name="Text 4"/>
          <p:cNvSpPr txBox="1"/>
          <p:nvPr/>
        </p:nvSpPr>
        <p:spPr>
          <a:xfrm>
            <a:off x="603504" y="1600200"/>
            <a:ext cx="10058400" cy="457200"/>
          </a:xfrm>
          <a:prstGeom prst="rect">
            <a:avLst/>
          </a:prstGeom>
          <a:noFill/>
          <a:ln/>
        </p:spPr>
        <p:txBody>
          <a:bodyPr wrap="square" lIns="0" tIns="0" rIns="0" bIns="0" rtlCol="0" anchor="ctr"/>
          <a:lstStyle/>
          <a:p>
            <a:pPr marL="0" indent="0">
              <a:buNone/>
            </a:pPr>
            <a:r>
              <a:rPr lang="en-US" sz="1600" dirty="0">
                <a:solidFill>
                  <a:srgbClr val="9FB1BC"/>
                </a:solidFill>
                <a:latin typeface="Calibri" pitchFamily="34" charset="0"/>
                <a:ea typeface="Calibri" pitchFamily="34" charset="-122"/>
                <a:cs typeface="Calibri" pitchFamily="34" charset="-120"/>
              </a:rPr>
              <a:t>What is written down, what is automated, and what is actually enforced.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3 · THE CANON</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One versioned set, in every repo</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22</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A CLAUDE.md index plus rules files, committed at the root of every repository, loaded automatically by every session.</a:t>
            </a:r>
            <a:endParaRPr lang="en-US" sz="1600" dirty="0"/>
          </a:p>
        </p:txBody>
      </p:sp>
      <p:sp>
        <p:nvSpPr>
          <p:cNvPr id="7" name="Shape 5"/>
          <p:cNvSpPr/>
          <p:nvPr/>
        </p:nvSpPr>
        <p:spPr>
          <a:xfrm>
            <a:off x="594360"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IT IS</a:t>
            </a:r>
            <a:endParaRPr lang="en-US" sz="900" dirty="0"/>
          </a:p>
        </p:txBody>
      </p:sp>
      <p:sp>
        <p:nvSpPr>
          <p:cNvPr id="9" name="Text 7"/>
          <p:cNvSpPr txBox="1"/>
          <p:nvPr/>
        </p:nvSpPr>
        <p:spPr>
          <a:xfrm>
            <a:off x="886968"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Versioned as a whole</a:t>
            </a:r>
            <a:endParaRPr lang="en-US" sz="1800" dirty="0"/>
          </a:p>
        </p:txBody>
      </p:sp>
      <p:sp>
        <p:nvSpPr>
          <p:cNvPr id="10" name="Text 8"/>
          <p:cNvSpPr txBox="1"/>
          <p:nvPr/>
        </p:nvSpPr>
        <p:spPr>
          <a:xfrm>
            <a:off x="886968"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One version for the set. It lives in the index’s first line and nowhere else.</a:t>
            </a:r>
            <a:endParaRPr lang="en-US" sz="1350" dirty="0"/>
          </a:p>
        </p:txBody>
      </p:sp>
      <p:sp>
        <p:nvSpPr>
          <p:cNvPr id="11" name="Shape 9"/>
          <p:cNvSpPr/>
          <p:nvPr/>
        </p:nvSpPr>
        <p:spPr>
          <a:xfrm>
            <a:off x="4352544"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4645152"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YOU</a:t>
            </a:r>
            <a:endParaRPr lang="en-US" sz="900" dirty="0"/>
          </a:p>
        </p:txBody>
      </p:sp>
      <p:sp>
        <p:nvSpPr>
          <p:cNvPr id="13" name="Text 11"/>
          <p:cNvSpPr txBox="1"/>
          <p:nvPr/>
        </p:nvSpPr>
        <p:spPr>
          <a:xfrm>
            <a:off x="4645152"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Never edit org content</a:t>
            </a:r>
            <a:endParaRPr lang="en-US" sz="1800" dirty="0"/>
          </a:p>
        </p:txBody>
      </p:sp>
      <p:sp>
        <p:nvSpPr>
          <p:cNvPr id="14" name="Text 12"/>
          <p:cNvSpPr txBox="1"/>
          <p:nvPr/>
        </p:nvSpPr>
        <p:spPr>
          <a:xfrm>
            <a:off x="4645152"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Your repo holds a copy, not the master. Flag a conflict to the owner instead of fixing it locally.</a:t>
            </a:r>
            <a:endParaRPr lang="en-US" sz="1350" dirty="0"/>
          </a:p>
        </p:txBody>
      </p:sp>
      <p:sp>
        <p:nvSpPr>
          <p:cNvPr id="15" name="Shape 13"/>
          <p:cNvSpPr/>
          <p:nvPr/>
        </p:nvSpPr>
        <p:spPr>
          <a:xfrm>
            <a:off x="8110728"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403336"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WHEN IT DRIFTS</a:t>
            </a:r>
            <a:endParaRPr lang="en-US" sz="900" dirty="0"/>
          </a:p>
        </p:txBody>
      </p:sp>
      <p:sp>
        <p:nvSpPr>
          <p:cNvPr id="17" name="Text 15"/>
          <p:cNvSpPr txBox="1"/>
          <p:nvPr/>
        </p:nvSpPr>
        <p:spPr>
          <a:xfrm>
            <a:off x="8403336"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Sync it</a:t>
            </a:r>
            <a:endParaRPr lang="en-US" sz="1800" dirty="0"/>
          </a:p>
        </p:txBody>
      </p:sp>
      <p:sp>
        <p:nvSpPr>
          <p:cNvPr id="18" name="Text 16"/>
          <p:cNvSpPr txBox="1"/>
          <p:nvPr/>
        </p:nvSpPr>
        <p:spPr>
          <a:xfrm>
            <a:off x="8403336"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/tdmi:canon-sync installs or upgrades the set, and preserves your repo-specific facts.</a:t>
            </a:r>
            <a:endParaRPr lang="en-US" sz="1350" dirty="0"/>
          </a:p>
        </p:txBody>
      </p:sp>
      <p:sp>
        <p:nvSpPr>
          <p:cNvPr id="19" name="Shape 17"/>
          <p:cNvSpPr/>
          <p:nvPr/>
        </p:nvSpPr>
        <p:spPr>
          <a:xfrm>
            <a:off x="594360" y="49377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377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If your repo disagrees with the canon, your repo is stale. That is the rule, and it is what makes one version meaningful.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3 · THE PLUGIN</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Six skills. Reach for the right one.</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23</a:t>
            </a:r>
            <a:endParaRPr lang="en-US" sz="900" dirty="0"/>
          </a:p>
        </p:txBody>
      </p:sp>
      <p:sp>
        <p:nvSpPr>
          <p:cNvPr id="6" name="Text 4"/>
          <p:cNvSpPr txBox="1"/>
          <p:nvPr/>
        </p:nvSpPr>
        <p:spPr>
          <a:xfrm>
            <a:off x="594360" y="1783080"/>
            <a:ext cx="3017520"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SKILL</a:t>
            </a:r>
            <a:endParaRPr lang="en-US" sz="900" dirty="0"/>
          </a:p>
        </p:txBody>
      </p:sp>
      <p:sp>
        <p:nvSpPr>
          <p:cNvPr id="7" name="Text 5"/>
          <p:cNvSpPr txBox="1"/>
          <p:nvPr/>
        </p:nvSpPr>
        <p:spPr>
          <a:xfrm>
            <a:off x="3611880" y="1783080"/>
            <a:ext cx="7982712"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WHEN YOU REACH FOR IT</a:t>
            </a:r>
            <a:endParaRPr lang="en-US" sz="900" dirty="0"/>
          </a:p>
        </p:txBody>
      </p:sp>
      <p:sp>
        <p:nvSpPr>
          <p:cNvPr id="8" name="Shape 6"/>
          <p:cNvSpPr/>
          <p:nvPr/>
        </p:nvSpPr>
        <p:spPr>
          <a:xfrm>
            <a:off x="594360" y="2103120"/>
            <a:ext cx="11000232" cy="420624"/>
          </a:xfrm>
          <a:prstGeom prst="rect">
            <a:avLst/>
          </a:prstGeom>
          <a:solidFill>
            <a:srgbClr val="E4F2F2"/>
          </a:solidFill>
          <a:ln w="12700">
            <a:solidFill>
              <a:srgbClr val="E4F2F2"/>
            </a:solidFill>
            <a:prstDash val="solid"/>
          </a:ln>
        </p:spPr>
        <p:txBody>
          <a:bodyPr/>
          <a:lstStyle/>
          <a:p>
            <a:endParaRPr lang="en-US"/>
          </a:p>
        </p:txBody>
      </p:sp>
      <p:sp>
        <p:nvSpPr>
          <p:cNvPr id="9" name="Text 7"/>
          <p:cNvSpPr txBox="1"/>
          <p:nvPr/>
        </p:nvSpPr>
        <p:spPr>
          <a:xfrm>
            <a:off x="704088" y="2167128"/>
            <a:ext cx="279806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/tdmi:upsize</a:t>
            </a:r>
            <a:endParaRPr lang="en-US" sz="1200" dirty="0"/>
          </a:p>
        </p:txBody>
      </p:sp>
      <p:sp>
        <p:nvSpPr>
          <p:cNvPr id="10" name="Text 8"/>
          <p:cNvSpPr txBox="1"/>
          <p:nvPr/>
        </p:nvSpPr>
        <p:spPr>
          <a:xfrm>
            <a:off x="3721608" y="2167128"/>
            <a:ext cx="776325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 model was accepted and you are starting the real build</a:t>
            </a:r>
            <a:endParaRPr lang="en-US" sz="1200" dirty="0"/>
          </a:p>
        </p:txBody>
      </p:sp>
      <p:sp>
        <p:nvSpPr>
          <p:cNvPr id="11" name="Shape 9"/>
          <p:cNvSpPr/>
          <p:nvPr/>
        </p:nvSpPr>
        <p:spPr>
          <a:xfrm>
            <a:off x="594360" y="2578608"/>
            <a:ext cx="11000232" cy="420624"/>
          </a:xfrm>
          <a:prstGeom prst="rect">
            <a:avLst/>
          </a:prstGeom>
          <a:solidFill>
            <a:srgbClr val="FFFFFF"/>
          </a:solidFill>
          <a:ln w="12700">
            <a:solidFill>
              <a:srgbClr val="FFFFFF"/>
            </a:solidFill>
            <a:prstDash val="solid"/>
          </a:ln>
        </p:spPr>
        <p:txBody>
          <a:bodyPr/>
          <a:lstStyle/>
          <a:p>
            <a:endParaRPr lang="en-US"/>
          </a:p>
        </p:txBody>
      </p:sp>
      <p:sp>
        <p:nvSpPr>
          <p:cNvPr id="12" name="Text 10"/>
          <p:cNvSpPr txBox="1"/>
          <p:nvPr/>
        </p:nvSpPr>
        <p:spPr>
          <a:xfrm>
            <a:off x="704088" y="2642616"/>
            <a:ext cx="279806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/tdmi:repo-setup</a:t>
            </a:r>
            <a:endParaRPr lang="en-US" sz="1200" dirty="0"/>
          </a:p>
        </p:txBody>
      </p:sp>
      <p:sp>
        <p:nvSpPr>
          <p:cNvPr id="13" name="Text 11"/>
          <p:cNvSpPr txBox="1"/>
          <p:nvPr/>
        </p:nvSpPr>
        <p:spPr>
          <a:xfrm>
            <a:off x="3721608" y="2642616"/>
            <a:ext cx="776325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 repo needs bringing to the standard, new or existing</a:t>
            </a:r>
            <a:endParaRPr lang="en-US" sz="1200" dirty="0"/>
          </a:p>
        </p:txBody>
      </p:sp>
      <p:sp>
        <p:nvSpPr>
          <p:cNvPr id="14" name="Shape 12"/>
          <p:cNvSpPr/>
          <p:nvPr/>
        </p:nvSpPr>
        <p:spPr>
          <a:xfrm>
            <a:off x="594360" y="3054096"/>
            <a:ext cx="11000232" cy="420624"/>
          </a:xfrm>
          <a:prstGeom prst="rect">
            <a:avLst/>
          </a:prstGeom>
          <a:solidFill>
            <a:srgbClr val="E4F2F2"/>
          </a:solidFill>
          <a:ln w="12700">
            <a:solidFill>
              <a:srgbClr val="E4F2F2"/>
            </a:solidFill>
            <a:prstDash val="solid"/>
          </a:ln>
        </p:spPr>
        <p:txBody>
          <a:bodyPr/>
          <a:lstStyle/>
          <a:p>
            <a:endParaRPr lang="en-US"/>
          </a:p>
        </p:txBody>
      </p:sp>
      <p:sp>
        <p:nvSpPr>
          <p:cNvPr id="15" name="Text 13"/>
          <p:cNvSpPr txBox="1"/>
          <p:nvPr/>
        </p:nvSpPr>
        <p:spPr>
          <a:xfrm>
            <a:off x="704088" y="3118104"/>
            <a:ext cx="279806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/tdmi:canon-sync</a:t>
            </a:r>
            <a:endParaRPr lang="en-US" sz="1200" dirty="0"/>
          </a:p>
        </p:txBody>
      </p:sp>
      <p:sp>
        <p:nvSpPr>
          <p:cNvPr id="16" name="Text 14"/>
          <p:cNvSpPr txBox="1"/>
          <p:nvPr/>
        </p:nvSpPr>
        <p:spPr>
          <a:xfrm>
            <a:off x="3721608" y="3118104"/>
            <a:ext cx="776325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rules set is missing or behind</a:t>
            </a:r>
            <a:endParaRPr lang="en-US" sz="1200" dirty="0"/>
          </a:p>
        </p:txBody>
      </p:sp>
      <p:sp>
        <p:nvSpPr>
          <p:cNvPr id="17" name="Shape 15"/>
          <p:cNvSpPr/>
          <p:nvPr/>
        </p:nvSpPr>
        <p:spPr>
          <a:xfrm>
            <a:off x="594360" y="3529584"/>
            <a:ext cx="11000232" cy="420624"/>
          </a:xfrm>
          <a:prstGeom prst="rect">
            <a:avLst/>
          </a:prstGeom>
          <a:solidFill>
            <a:srgbClr val="FFFFFF"/>
          </a:solidFill>
          <a:ln w="12700">
            <a:solidFill>
              <a:srgbClr val="FFFFFF"/>
            </a:solidFill>
            <a:prstDash val="solid"/>
          </a:ln>
        </p:spPr>
        <p:txBody>
          <a:bodyPr/>
          <a:lstStyle/>
          <a:p>
            <a:endParaRPr lang="en-US"/>
          </a:p>
        </p:txBody>
      </p:sp>
      <p:sp>
        <p:nvSpPr>
          <p:cNvPr id="18" name="Text 16"/>
          <p:cNvSpPr txBox="1"/>
          <p:nvPr/>
        </p:nvSpPr>
        <p:spPr>
          <a:xfrm>
            <a:off x="704088" y="3593592"/>
            <a:ext cx="279806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/tdmi:sql-onboard</a:t>
            </a:r>
            <a:endParaRPr lang="en-US" sz="1200" dirty="0"/>
          </a:p>
        </p:txBody>
      </p:sp>
      <p:sp>
        <p:nvSpPr>
          <p:cNvPr id="19" name="Text 17"/>
          <p:cNvSpPr txBox="1"/>
          <p:nvPr/>
        </p:nvSpPr>
        <p:spPr>
          <a:xfrm>
            <a:off x="3721608" y="3593592"/>
            <a:ext cx="776325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app needs a database on a shared server</a:t>
            </a:r>
            <a:endParaRPr lang="en-US" sz="1200" dirty="0"/>
          </a:p>
        </p:txBody>
      </p:sp>
      <p:sp>
        <p:nvSpPr>
          <p:cNvPr id="20" name="Shape 18"/>
          <p:cNvSpPr/>
          <p:nvPr/>
        </p:nvSpPr>
        <p:spPr>
          <a:xfrm>
            <a:off x="594360" y="4005072"/>
            <a:ext cx="11000232" cy="420624"/>
          </a:xfrm>
          <a:prstGeom prst="rect">
            <a:avLst/>
          </a:prstGeom>
          <a:solidFill>
            <a:srgbClr val="E4F2F2"/>
          </a:solidFill>
          <a:ln w="12700">
            <a:solidFill>
              <a:srgbClr val="E4F2F2"/>
            </a:solidFill>
            <a:prstDash val="solid"/>
          </a:ln>
        </p:spPr>
        <p:txBody>
          <a:bodyPr/>
          <a:lstStyle/>
          <a:p>
            <a:endParaRPr lang="en-US"/>
          </a:p>
        </p:txBody>
      </p:sp>
      <p:sp>
        <p:nvSpPr>
          <p:cNvPr id="21" name="Text 19"/>
          <p:cNvSpPr txBox="1"/>
          <p:nvPr/>
        </p:nvSpPr>
        <p:spPr>
          <a:xfrm>
            <a:off x="704088" y="4069080"/>
            <a:ext cx="279806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/tdmi:release-cut</a:t>
            </a:r>
            <a:endParaRPr lang="en-US" sz="1200" dirty="0"/>
          </a:p>
        </p:txBody>
      </p:sp>
      <p:sp>
        <p:nvSpPr>
          <p:cNvPr id="22" name="Text 20"/>
          <p:cNvSpPr txBox="1"/>
          <p:nvPr/>
        </p:nvSpPr>
        <p:spPr>
          <a:xfrm>
            <a:off x="3721608" y="4069080"/>
            <a:ext cx="776325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You are cutting a release across a repo pair</a:t>
            </a:r>
            <a:endParaRPr lang="en-US" sz="1200" dirty="0"/>
          </a:p>
        </p:txBody>
      </p:sp>
      <p:sp>
        <p:nvSpPr>
          <p:cNvPr id="23" name="Shape 21"/>
          <p:cNvSpPr/>
          <p:nvPr/>
        </p:nvSpPr>
        <p:spPr>
          <a:xfrm>
            <a:off x="594360" y="4480560"/>
            <a:ext cx="11000232" cy="420624"/>
          </a:xfrm>
          <a:prstGeom prst="rect">
            <a:avLst/>
          </a:prstGeom>
          <a:solidFill>
            <a:srgbClr val="FFFFFF"/>
          </a:solidFill>
          <a:ln w="12700">
            <a:solidFill>
              <a:srgbClr val="FFFFFF"/>
            </a:solidFill>
            <a:prstDash val="solid"/>
          </a:ln>
        </p:spPr>
        <p:txBody>
          <a:bodyPr/>
          <a:lstStyle/>
          <a:p>
            <a:endParaRPr lang="en-US"/>
          </a:p>
        </p:txBody>
      </p:sp>
      <p:sp>
        <p:nvSpPr>
          <p:cNvPr id="24" name="Text 22"/>
          <p:cNvSpPr txBox="1"/>
          <p:nvPr/>
        </p:nvSpPr>
        <p:spPr>
          <a:xfrm>
            <a:off x="704088" y="4544568"/>
            <a:ext cx="279806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/tdmi:qtest-adopt</a:t>
            </a:r>
            <a:endParaRPr lang="en-US" sz="1200" dirty="0"/>
          </a:p>
        </p:txBody>
      </p:sp>
      <p:sp>
        <p:nvSpPr>
          <p:cNvPr id="25" name="Text 23"/>
          <p:cNvSpPr txBox="1"/>
          <p:nvPr/>
        </p:nvSpPr>
        <p:spPr>
          <a:xfrm>
            <a:off x="3721608" y="4544568"/>
            <a:ext cx="776325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The repo is adopting test management for the first time</a:t>
            </a:r>
            <a:endParaRPr lang="en-US" sz="1200" dirty="0"/>
          </a:p>
        </p:txBody>
      </p:sp>
      <p:sp>
        <p:nvSpPr>
          <p:cNvPr id="26" name="Shape 24"/>
          <p:cNvSpPr/>
          <p:nvPr/>
        </p:nvSpPr>
        <p:spPr>
          <a:xfrm>
            <a:off x="594360" y="512064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7" name="Text 25"/>
          <p:cNvSpPr txBox="1"/>
          <p:nvPr/>
        </p:nvSpPr>
        <p:spPr>
          <a:xfrm>
            <a:off x="960120" y="512064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Install once from the marketplace, then update it. Stale distribution is the defect the plugin exists to fix.</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3 · THE GUARD</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Six rules, watching every session that carries the plugin</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24</a:t>
            </a:r>
            <a:endParaRPr lang="en-US" sz="900" dirty="0"/>
          </a:p>
        </p:txBody>
      </p:sp>
      <p:sp>
        <p:nvSpPr>
          <p:cNvPr id="6" name="Text 4"/>
          <p:cNvSpPr txBox="1"/>
          <p:nvPr/>
        </p:nvSpPr>
        <p:spPr>
          <a:xfrm>
            <a:off x="594360" y="146304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 plugin carries a hook. It inspects a command before it runs, and a file path before a write. A committed settings file backstops a session without the plugin.</a:t>
            </a:r>
            <a:endParaRPr lang="en-US" sz="1600" dirty="0"/>
          </a:p>
        </p:txBody>
      </p:sp>
      <p:sp>
        <p:nvSpPr>
          <p:cNvPr id="7" name="Text 5"/>
          <p:cNvSpPr txBox="1"/>
          <p:nvPr/>
        </p:nvSpPr>
        <p:spPr>
          <a:xfrm>
            <a:off x="594360" y="2148840"/>
            <a:ext cx="8686800"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RULE</a:t>
            </a:r>
            <a:endParaRPr lang="en-US" sz="900" dirty="0"/>
          </a:p>
        </p:txBody>
      </p:sp>
      <p:sp>
        <p:nvSpPr>
          <p:cNvPr id="8" name="Text 6"/>
          <p:cNvSpPr txBox="1"/>
          <p:nvPr/>
        </p:nvSpPr>
        <p:spPr>
          <a:xfrm>
            <a:off x="9281160" y="2148840"/>
            <a:ext cx="2313432" cy="274320"/>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ACTION</a:t>
            </a:r>
            <a:endParaRPr lang="en-US" sz="900" dirty="0"/>
          </a:p>
        </p:txBody>
      </p:sp>
      <p:sp>
        <p:nvSpPr>
          <p:cNvPr id="9" name="Shape 7"/>
          <p:cNvSpPr/>
          <p:nvPr/>
        </p:nvSpPr>
        <p:spPr>
          <a:xfrm>
            <a:off x="594360" y="2468880"/>
            <a:ext cx="11000232" cy="420624"/>
          </a:xfrm>
          <a:prstGeom prst="rect">
            <a:avLst/>
          </a:prstGeom>
          <a:solidFill>
            <a:srgbClr val="E4F2F2"/>
          </a:solidFill>
          <a:ln w="12700">
            <a:solidFill>
              <a:srgbClr val="E4F2F2"/>
            </a:solidFill>
            <a:prstDash val="solid"/>
          </a:ln>
        </p:spPr>
        <p:txBody>
          <a:bodyPr/>
          <a:lstStyle/>
          <a:p>
            <a:endParaRPr lang="en-US"/>
          </a:p>
        </p:txBody>
      </p:sp>
      <p:sp>
        <p:nvSpPr>
          <p:cNvPr id="10" name="Text 8"/>
          <p:cNvSpPr txBox="1"/>
          <p:nvPr/>
        </p:nvSpPr>
        <p:spPr>
          <a:xfrm>
            <a:off x="704088" y="2532888"/>
            <a:ext cx="846734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A command carrying a PROD identifier</a:t>
            </a:r>
            <a:endParaRPr lang="en-US" sz="1200" dirty="0"/>
          </a:p>
        </p:txBody>
      </p:sp>
      <p:sp>
        <p:nvSpPr>
          <p:cNvPr id="11" name="Text 9"/>
          <p:cNvSpPr txBox="1"/>
          <p:nvPr/>
        </p:nvSpPr>
        <p:spPr>
          <a:xfrm>
            <a:off x="9390888" y="2532888"/>
            <a:ext cx="209397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Ask</a:t>
            </a:r>
            <a:endParaRPr lang="en-US" sz="1200" dirty="0"/>
          </a:p>
        </p:txBody>
      </p:sp>
      <p:sp>
        <p:nvSpPr>
          <p:cNvPr id="12" name="Shape 10"/>
          <p:cNvSpPr/>
          <p:nvPr/>
        </p:nvSpPr>
        <p:spPr>
          <a:xfrm>
            <a:off x="594360" y="2944368"/>
            <a:ext cx="11000232" cy="420624"/>
          </a:xfrm>
          <a:prstGeom prst="rect">
            <a:avLst/>
          </a:prstGeom>
          <a:solidFill>
            <a:srgbClr val="FFFFFF"/>
          </a:solidFill>
          <a:ln w="12700">
            <a:solidFill>
              <a:srgbClr val="FFFFFF"/>
            </a:solidFill>
            <a:prstDash val="solid"/>
          </a:ln>
        </p:spPr>
        <p:txBody>
          <a:bodyPr/>
          <a:lstStyle/>
          <a:p>
            <a:endParaRPr lang="en-US"/>
          </a:p>
        </p:txBody>
      </p:sp>
      <p:sp>
        <p:nvSpPr>
          <p:cNvPr id="13" name="Text 11"/>
          <p:cNvSpPr txBox="1"/>
          <p:nvPr/>
        </p:nvSpPr>
        <p:spPr>
          <a:xfrm>
            <a:off x="704088" y="3008376"/>
            <a:ext cx="846734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A command that can make a resource anonymously reachable</a:t>
            </a:r>
            <a:endParaRPr lang="en-US" sz="1200" dirty="0"/>
          </a:p>
        </p:txBody>
      </p:sp>
      <p:sp>
        <p:nvSpPr>
          <p:cNvPr id="14" name="Text 12"/>
          <p:cNvSpPr txBox="1"/>
          <p:nvPr/>
        </p:nvSpPr>
        <p:spPr>
          <a:xfrm>
            <a:off x="9390888" y="3008376"/>
            <a:ext cx="209397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Ask</a:t>
            </a:r>
            <a:endParaRPr lang="en-US" sz="1200" dirty="0"/>
          </a:p>
        </p:txBody>
      </p:sp>
      <p:sp>
        <p:nvSpPr>
          <p:cNvPr id="15" name="Shape 13"/>
          <p:cNvSpPr/>
          <p:nvPr/>
        </p:nvSpPr>
        <p:spPr>
          <a:xfrm>
            <a:off x="594360" y="3419856"/>
            <a:ext cx="11000232" cy="420624"/>
          </a:xfrm>
          <a:prstGeom prst="rect">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704088" y="3483864"/>
            <a:ext cx="846734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An offensive security-testing tool</a:t>
            </a:r>
            <a:endParaRPr lang="en-US" sz="1200" dirty="0"/>
          </a:p>
        </p:txBody>
      </p:sp>
      <p:sp>
        <p:nvSpPr>
          <p:cNvPr id="17" name="Text 15"/>
          <p:cNvSpPr txBox="1"/>
          <p:nvPr/>
        </p:nvSpPr>
        <p:spPr>
          <a:xfrm>
            <a:off x="9390888" y="3483864"/>
            <a:ext cx="209397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Block</a:t>
            </a:r>
            <a:endParaRPr lang="en-US" sz="1200" dirty="0"/>
          </a:p>
        </p:txBody>
      </p:sp>
      <p:sp>
        <p:nvSpPr>
          <p:cNvPr id="18" name="Shape 16"/>
          <p:cNvSpPr/>
          <p:nvPr/>
        </p:nvSpPr>
        <p:spPr>
          <a:xfrm>
            <a:off x="594360" y="3895344"/>
            <a:ext cx="11000232" cy="420624"/>
          </a:xfrm>
          <a:prstGeom prst="rect">
            <a:avLst/>
          </a:prstGeom>
          <a:solidFill>
            <a:srgbClr val="FFFFFF"/>
          </a:solidFill>
          <a:ln w="12700">
            <a:solidFill>
              <a:srgbClr val="FFFFFF"/>
            </a:solidFill>
            <a:prstDash val="solid"/>
          </a:ln>
        </p:spPr>
        <p:txBody>
          <a:bodyPr/>
          <a:lstStyle/>
          <a:p>
            <a:endParaRPr lang="en-US"/>
          </a:p>
        </p:txBody>
      </p:sp>
      <p:sp>
        <p:nvSpPr>
          <p:cNvPr id="19" name="Text 17"/>
          <p:cNvSpPr txBox="1"/>
          <p:nvPr/>
        </p:nvSpPr>
        <p:spPr>
          <a:xfrm>
            <a:off x="704088" y="3959352"/>
            <a:ext cx="846734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pip install</a:t>
            </a:r>
            <a:endParaRPr lang="en-US" sz="1200" dirty="0"/>
          </a:p>
        </p:txBody>
      </p:sp>
      <p:sp>
        <p:nvSpPr>
          <p:cNvPr id="20" name="Text 18"/>
          <p:cNvSpPr txBox="1"/>
          <p:nvPr/>
        </p:nvSpPr>
        <p:spPr>
          <a:xfrm>
            <a:off x="9390888" y="3959352"/>
            <a:ext cx="209397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Block, and name uv</a:t>
            </a:r>
            <a:endParaRPr lang="en-US" sz="1200" dirty="0"/>
          </a:p>
        </p:txBody>
      </p:sp>
      <p:sp>
        <p:nvSpPr>
          <p:cNvPr id="21" name="Shape 19"/>
          <p:cNvSpPr/>
          <p:nvPr/>
        </p:nvSpPr>
        <p:spPr>
          <a:xfrm>
            <a:off x="594360" y="4370832"/>
            <a:ext cx="11000232" cy="420624"/>
          </a:xfrm>
          <a:prstGeom prst="rect">
            <a:avLst/>
          </a:prstGeom>
          <a:solidFill>
            <a:srgbClr val="E4F2F2"/>
          </a:solidFill>
          <a:ln w="12700">
            <a:solidFill>
              <a:srgbClr val="E4F2F2"/>
            </a:solidFill>
            <a:prstDash val="solid"/>
          </a:ln>
        </p:spPr>
        <p:txBody>
          <a:bodyPr/>
          <a:lstStyle/>
          <a:p>
            <a:endParaRPr lang="en-US"/>
          </a:p>
        </p:txBody>
      </p:sp>
      <p:sp>
        <p:nvSpPr>
          <p:cNvPr id="22" name="Text 20"/>
          <p:cNvSpPr txBox="1"/>
          <p:nvPr/>
        </p:nvSpPr>
        <p:spPr>
          <a:xfrm>
            <a:off x="704088" y="4434840"/>
            <a:ext cx="846734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A write to the org rules set outside the canon repository</a:t>
            </a:r>
            <a:endParaRPr lang="en-US" sz="1200" dirty="0"/>
          </a:p>
        </p:txBody>
      </p:sp>
      <p:sp>
        <p:nvSpPr>
          <p:cNvPr id="23" name="Text 21"/>
          <p:cNvSpPr txBox="1"/>
          <p:nvPr/>
        </p:nvSpPr>
        <p:spPr>
          <a:xfrm>
            <a:off x="9390888" y="4434840"/>
            <a:ext cx="209397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Block</a:t>
            </a:r>
            <a:endParaRPr lang="en-US" sz="1200" dirty="0"/>
          </a:p>
        </p:txBody>
      </p:sp>
      <p:sp>
        <p:nvSpPr>
          <p:cNvPr id="24" name="Shape 22"/>
          <p:cNvSpPr/>
          <p:nvPr/>
        </p:nvSpPr>
        <p:spPr>
          <a:xfrm>
            <a:off x="594360" y="4846320"/>
            <a:ext cx="11000232" cy="420624"/>
          </a:xfrm>
          <a:prstGeom prst="rect">
            <a:avLst/>
          </a:prstGeom>
          <a:solidFill>
            <a:srgbClr val="FFFFFF"/>
          </a:solidFill>
          <a:ln w="12700">
            <a:solidFill>
              <a:srgbClr val="FFFFFF"/>
            </a:solidFill>
            <a:prstDash val="solid"/>
          </a:ln>
        </p:spPr>
        <p:txBody>
          <a:bodyPr/>
          <a:lstStyle/>
          <a:p>
            <a:endParaRPr lang="en-US"/>
          </a:p>
        </p:txBody>
      </p:sp>
      <p:sp>
        <p:nvSpPr>
          <p:cNvPr id="25" name="Text 23"/>
          <p:cNvSpPr txBox="1"/>
          <p:nvPr/>
        </p:nvSpPr>
        <p:spPr>
          <a:xfrm>
            <a:off x="704088" y="4910328"/>
            <a:ext cx="8467344" cy="274320"/>
          </a:xfrm>
          <a:prstGeom prst="rect">
            <a:avLst/>
          </a:prstGeom>
          <a:noFill/>
          <a:ln/>
        </p:spPr>
        <p:txBody>
          <a:bodyPr wrap="square" lIns="0" tIns="0" rIns="0" bIns="0" rtlCol="0" anchor="ctr"/>
          <a:lstStyle/>
          <a:p>
            <a:pPr marL="0" indent="0">
              <a:buNone/>
            </a:pPr>
            <a:r>
              <a:rPr lang="en-US" sz="1200" b="1" dirty="0">
                <a:solidFill>
                  <a:srgbClr val="142F47"/>
                </a:solidFill>
                <a:latin typeface="Calibri" pitchFamily="34" charset="0"/>
                <a:ea typeface="Calibri" pitchFamily="34" charset="-122"/>
                <a:cs typeface="Calibri" pitchFamily="34" charset="-120"/>
              </a:rPr>
              <a:t>A force push targeting a protected branch</a:t>
            </a:r>
            <a:endParaRPr lang="en-US" sz="1200" dirty="0"/>
          </a:p>
        </p:txBody>
      </p:sp>
      <p:sp>
        <p:nvSpPr>
          <p:cNvPr id="26" name="Text 24"/>
          <p:cNvSpPr txBox="1"/>
          <p:nvPr/>
        </p:nvSpPr>
        <p:spPr>
          <a:xfrm>
            <a:off x="9390888" y="4910328"/>
            <a:ext cx="2093976" cy="274320"/>
          </a:xfrm>
          <a:prstGeom prst="rect">
            <a:avLst/>
          </a:prstGeom>
          <a:noFill/>
          <a:ln/>
        </p:spPr>
        <p:txBody>
          <a:bodyPr wrap="square" lIns="0" tIns="0" rIns="0" bIns="0" rtlCol="0" anchor="ctr"/>
          <a:lstStyle/>
          <a:p>
            <a:pPr marL="0" indent="0">
              <a:buNone/>
            </a:pPr>
            <a:r>
              <a:rPr lang="en-US" sz="1200" dirty="0">
                <a:solidFill>
                  <a:srgbClr val="45586A"/>
                </a:solidFill>
                <a:latin typeface="Calibri" pitchFamily="34" charset="0"/>
                <a:ea typeface="Calibri" pitchFamily="34" charset="-122"/>
                <a:cs typeface="Calibri" pitchFamily="34" charset="-120"/>
              </a:rPr>
              <a:t>Block</a:t>
            </a:r>
            <a:endParaRPr lang="en-US" sz="1200" dirty="0"/>
          </a:p>
        </p:txBody>
      </p:sp>
      <p:sp>
        <p:nvSpPr>
          <p:cNvPr id="27" name="Shape 25"/>
          <p:cNvSpPr/>
          <p:nvPr/>
        </p:nvSpPr>
        <p:spPr>
          <a:xfrm>
            <a:off x="594360" y="53949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8" name="Text 26"/>
          <p:cNvSpPr txBox="1"/>
          <p:nvPr/>
        </p:nvSpPr>
        <p:spPr>
          <a:xfrm>
            <a:off x="960120" y="53949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The two asks implement rules that already required a human decision. They move the obligation to the moment of action.</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3 · THE HONEST SLIDE</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What the guard is not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94360" y="1645920"/>
            <a:ext cx="5362956"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7" name="Text 5"/>
          <p:cNvSpPr txBox="1"/>
          <p:nvPr/>
        </p:nvSpPr>
        <p:spPr>
          <a:xfrm>
            <a:off x="886968" y="188366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IT IS NOT</a:t>
            </a:r>
            <a:endParaRPr lang="en-US" sz="900" dirty="0"/>
          </a:p>
        </p:txBody>
      </p:sp>
      <p:sp>
        <p:nvSpPr>
          <p:cNvPr id="8" name="Text 6"/>
          <p:cNvSpPr txBox="1"/>
          <p:nvPr/>
        </p:nvSpPr>
        <p:spPr>
          <a:xfrm>
            <a:off x="886968" y="217627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 security boundary</a:t>
            </a:r>
            <a:endParaRPr lang="en-US" sz="1800" dirty="0"/>
          </a:p>
        </p:txBody>
      </p:sp>
      <p:sp>
        <p:nvSpPr>
          <p:cNvPr id="9" name="Text 7"/>
          <p:cNvSpPr txBox="1"/>
          <p:nvPr/>
        </p:nvSpPr>
        <p:spPr>
          <a:xfrm>
            <a:off x="886968" y="2670048"/>
            <a:ext cx="4777740"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You can disable the plugin. A hook reads a command string. It cannot prove intent, and a determined actor walks around it.</a:t>
            </a:r>
            <a:endParaRPr lang="en-US" sz="1350" dirty="0"/>
          </a:p>
        </p:txBody>
      </p:sp>
      <p:sp>
        <p:nvSpPr>
          <p:cNvPr id="10" name="Shape 8"/>
          <p:cNvSpPr/>
          <p:nvPr/>
        </p:nvSpPr>
        <p:spPr>
          <a:xfrm>
            <a:off x="6231636" y="1645920"/>
            <a:ext cx="5362956"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1" name="Text 9"/>
          <p:cNvSpPr txBox="1"/>
          <p:nvPr/>
        </p:nvSpPr>
        <p:spPr>
          <a:xfrm>
            <a:off x="6524244" y="1883664"/>
            <a:ext cx="4777740"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IT IS</a:t>
            </a:r>
            <a:endParaRPr lang="en-US" sz="900" dirty="0"/>
          </a:p>
        </p:txBody>
      </p:sp>
      <p:sp>
        <p:nvSpPr>
          <p:cNvPr id="12" name="Text 10"/>
          <p:cNvSpPr txBox="1"/>
          <p:nvPr/>
        </p:nvSpPr>
        <p:spPr>
          <a:xfrm>
            <a:off x="6524244" y="2176272"/>
            <a:ext cx="4777740"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A guard against mistakes</a:t>
            </a:r>
            <a:endParaRPr lang="en-US" sz="1800" dirty="0"/>
          </a:p>
        </p:txBody>
      </p:sp>
      <p:sp>
        <p:nvSpPr>
          <p:cNvPr id="13" name="Text 11"/>
          <p:cNvSpPr txBox="1"/>
          <p:nvPr/>
        </p:nvSpPr>
        <p:spPr>
          <a:xfrm>
            <a:off x="6524244" y="2670048"/>
            <a:ext cx="4777740"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It catches the tired 6pm command that would have touched production. That is worth having, and it is all it claims.</a:t>
            </a:r>
            <a:endParaRPr lang="en-US" sz="1350" dirty="0"/>
          </a:p>
        </p:txBody>
      </p:sp>
      <p:sp>
        <p:nvSpPr>
          <p:cNvPr id="14" name="Shape 12"/>
          <p:cNvSpPr/>
          <p:nvPr/>
        </p:nvSpPr>
        <p:spPr>
          <a:xfrm>
            <a:off x="594360" y="420624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15" name="Text 13"/>
          <p:cNvSpPr txBox="1"/>
          <p:nvPr/>
        </p:nvSpPr>
        <p:spPr>
          <a:xfrm>
            <a:off x="960120" y="420624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 control trusted beyond its reach is worse than no control, because everyone stops looking. Say what a thing does and no more.</a:t>
            </a:r>
            <a:endParaRPr lang="en-US" sz="1600" dirty="0"/>
          </a:p>
        </p:txBody>
      </p:sp>
      <p:sp>
        <p:nvSpPr>
          <p:cNvPr id="16" name="Text 14"/>
          <p:cNvSpPr txBox="1"/>
          <p:nvPr/>
        </p:nvSpPr>
        <p:spPr>
          <a:xfrm>
            <a:off x="594360" y="534924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Precision is the other half. A guard that fires on legitimate work trains the bypass, and a bypassed guard enforces nothing. Every rule matches a literal the canon publishes, or a binary name in command position. None of them guess.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3 · NAMES</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Three things called checkpoint</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594360" y="1508760"/>
            <a:ext cx="11000232" cy="548640"/>
          </a:xfrm>
          <a:prstGeom prst="rect">
            <a:avLst/>
          </a:prstGeom>
          <a:noFill/>
          <a:ln/>
        </p:spPr>
        <p:txBody>
          <a:bodyPr wrap="square" lIns="0" tIns="0" rIns="0" bIns="0" rtlCol="0" anchor="ctr"/>
          <a:lstStyle/>
          <a:p>
            <a:pPr marL="0" indent="0">
              <a:lnSpc>
                <a:spcPct val="120000"/>
              </a:lnSpc>
              <a:buNone/>
            </a:pPr>
            <a:r>
              <a:rPr lang="en-US" sz="1600" dirty="0">
                <a:solidFill>
                  <a:srgbClr val="45586A"/>
                </a:solidFill>
                <a:latin typeface="Calibri" pitchFamily="34" charset="0"/>
                <a:ea typeface="Calibri" pitchFamily="34" charset="-122"/>
                <a:cs typeface="Calibri" pitchFamily="34" charset="-120"/>
              </a:rPr>
              <a:t>They were all called checkpoint until recently. One name for one thing.</a:t>
            </a:r>
            <a:endParaRPr lang="en-US" sz="1600" dirty="0"/>
          </a:p>
        </p:txBody>
      </p:sp>
      <p:sp>
        <p:nvSpPr>
          <p:cNvPr id="7" name="Shape 5"/>
          <p:cNvSpPr/>
          <p:nvPr/>
        </p:nvSpPr>
        <p:spPr>
          <a:xfrm>
            <a:off x="594360"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8" name="Text 6"/>
          <p:cNvSpPr txBox="1"/>
          <p:nvPr/>
        </p:nvSpPr>
        <p:spPr>
          <a:xfrm>
            <a:off x="886968"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IN THE MODEL</a:t>
            </a:r>
            <a:endParaRPr lang="en-US" sz="900" dirty="0"/>
          </a:p>
        </p:txBody>
      </p:sp>
      <p:sp>
        <p:nvSpPr>
          <p:cNvPr id="9" name="Text 7"/>
          <p:cNvSpPr txBox="1"/>
          <p:nvPr/>
        </p:nvSpPr>
        <p:spPr>
          <a:xfrm>
            <a:off x="886968"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Model version</a:t>
            </a:r>
            <a:endParaRPr lang="en-US" sz="1800" dirty="0"/>
          </a:p>
        </p:txBody>
      </p:sp>
      <p:sp>
        <p:nvSpPr>
          <p:cNvPr id="10" name="Text 8"/>
          <p:cNvSpPr txBox="1"/>
          <p:nvPr/>
        </p:nvSpPr>
        <p:spPr>
          <a:xfrm>
            <a:off x="886968"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model-v1, model-v2. A numbered copy. An undo point while building.</a:t>
            </a:r>
            <a:endParaRPr lang="en-US" sz="1350" dirty="0"/>
          </a:p>
        </p:txBody>
      </p:sp>
      <p:sp>
        <p:nvSpPr>
          <p:cNvPr id="11" name="Shape 9"/>
          <p:cNvSpPr/>
          <p:nvPr/>
        </p:nvSpPr>
        <p:spPr>
          <a:xfrm>
            <a:off x="4352544"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2" name="Text 10"/>
          <p:cNvSpPr txBox="1"/>
          <p:nvPr/>
        </p:nvSpPr>
        <p:spPr>
          <a:xfrm>
            <a:off x="4645152"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IN A SESSION</a:t>
            </a:r>
            <a:endParaRPr lang="en-US" sz="900" dirty="0"/>
          </a:p>
        </p:txBody>
      </p:sp>
      <p:sp>
        <p:nvSpPr>
          <p:cNvPr id="13" name="Text 11"/>
          <p:cNvSpPr txBox="1"/>
          <p:nvPr/>
        </p:nvSpPr>
        <p:spPr>
          <a:xfrm>
            <a:off x="4645152"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Session checkpoint</a:t>
            </a:r>
            <a:endParaRPr lang="en-US" sz="1800" dirty="0"/>
          </a:p>
        </p:txBody>
      </p:sp>
      <p:sp>
        <p:nvSpPr>
          <p:cNvPr id="14" name="Text 12"/>
          <p:cNvSpPr txBox="1"/>
          <p:nvPr/>
        </p:nvSpPr>
        <p:spPr>
          <a:xfrm>
            <a:off x="4645152"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Persisted session state. It answers what a session decided and where it got to.</a:t>
            </a:r>
            <a:endParaRPr lang="en-US" sz="1350" dirty="0"/>
          </a:p>
        </p:txBody>
      </p:sp>
      <p:sp>
        <p:nvSpPr>
          <p:cNvPr id="15" name="Shape 13"/>
          <p:cNvSpPr/>
          <p:nvPr/>
        </p:nvSpPr>
        <p:spPr>
          <a:xfrm>
            <a:off x="8110728" y="2331720"/>
            <a:ext cx="3483864" cy="2286000"/>
          </a:xfrm>
          <a:prstGeom prst="roundRect">
            <a:avLst>
              <a:gd name="adj" fmla="val 2400"/>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403336" y="2569464"/>
            <a:ext cx="2898648" cy="237744"/>
          </a:xfrm>
          <a:prstGeom prst="rect">
            <a:avLst/>
          </a:prstGeom>
          <a:noFill/>
          <a:ln/>
        </p:spPr>
        <p:txBody>
          <a:bodyPr wrap="square" lIns="0" tIns="0" rIns="0" bIns="0" rtlCol="0" anchor="ctr"/>
          <a:lstStyle/>
          <a:p>
            <a:pPr marL="0" indent="0">
              <a:buNone/>
            </a:pPr>
            <a:r>
              <a:rPr lang="en-US" sz="900" b="1" kern="0" spc="150" dirty="0">
                <a:solidFill>
                  <a:srgbClr val="0B6E70"/>
                </a:solidFill>
                <a:latin typeface="Calibri" pitchFamily="34" charset="0"/>
                <a:ea typeface="Calibri" pitchFamily="34" charset="-122"/>
                <a:cs typeface="Calibri" pitchFamily="34" charset="-120"/>
              </a:rPr>
              <a:t>OUTWARD</a:t>
            </a:r>
            <a:endParaRPr lang="en-US" sz="900" dirty="0"/>
          </a:p>
        </p:txBody>
      </p:sp>
      <p:sp>
        <p:nvSpPr>
          <p:cNvPr id="17" name="Text 15"/>
          <p:cNvSpPr txBox="1"/>
          <p:nvPr/>
        </p:nvSpPr>
        <p:spPr>
          <a:xfrm>
            <a:off x="8403336" y="2862072"/>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Gate event</a:t>
            </a:r>
            <a:endParaRPr lang="en-US" sz="1800" dirty="0"/>
          </a:p>
        </p:txBody>
      </p:sp>
      <p:sp>
        <p:nvSpPr>
          <p:cNvPr id="18" name="Text 16"/>
          <p:cNvSpPr txBox="1"/>
          <p:nvPr/>
        </p:nvSpPr>
        <p:spPr>
          <a:xfrm>
            <a:off x="8403336" y="3355848"/>
            <a:ext cx="2898648" cy="1005840"/>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A phase transition or a gate outcome. This is the one the planning office sees.</a:t>
            </a:r>
            <a:endParaRPr lang="en-US" sz="1350" dirty="0"/>
          </a:p>
        </p:txBody>
      </p:sp>
      <p:sp>
        <p:nvSpPr>
          <p:cNvPr id="19" name="Shape 17"/>
          <p:cNvSpPr/>
          <p:nvPr/>
        </p:nvSpPr>
        <p:spPr>
          <a:xfrm>
            <a:off x="594360" y="4937760"/>
            <a:ext cx="11000232" cy="868680"/>
          </a:xfrm>
          <a:prstGeom prst="roundRect">
            <a:avLst>
              <a:gd name="adj" fmla="val 6316"/>
            </a:avLst>
          </a:prstGeom>
          <a:solidFill>
            <a:srgbClr val="142F47"/>
          </a:solidFill>
          <a:ln w="12700">
            <a:solidFill>
              <a:srgbClr val="142F47"/>
            </a:solidFill>
            <a:prstDash val="solid"/>
          </a:ln>
        </p:spPr>
        <p:txBody>
          <a:bodyPr/>
          <a:lstStyle/>
          <a:p>
            <a:endParaRPr lang="en-US"/>
          </a:p>
        </p:txBody>
      </p:sp>
      <p:sp>
        <p:nvSpPr>
          <p:cNvPr id="20" name="Text 18"/>
          <p:cNvSpPr txBox="1"/>
          <p:nvPr/>
        </p:nvSpPr>
        <p:spPr>
          <a:xfrm>
            <a:off x="960120" y="4937760"/>
            <a:ext cx="10268712" cy="86868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If you find a fourth meaning in the wild, that is a defect worth reporting.</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0F8B8D"/>
                </a:solidFill>
                <a:latin typeface="Calibri" pitchFamily="34" charset="0"/>
                <a:ea typeface="Calibri" pitchFamily="34" charset="-122"/>
                <a:cs typeface="Calibri" pitchFamily="34" charset="-120"/>
              </a:rPr>
              <a:t>ACT 3 · THE STANDARD</a:t>
            </a:r>
            <a:endParaRPr lang="en-US" sz="900" dirty="0"/>
          </a:p>
        </p:txBody>
      </p:sp>
      <p:sp>
        <p:nvSpPr>
          <p:cNvPr id="3" name="Text 1"/>
          <p:cNvSpPr txBox="1"/>
          <p:nvPr/>
        </p:nvSpPr>
        <p:spPr>
          <a:xfrm>
            <a:off x="576072" y="566928"/>
            <a:ext cx="11064240" cy="777240"/>
          </a:xfrm>
          <a:prstGeom prst="rect">
            <a:avLst/>
          </a:prstGeom>
          <a:noFill/>
          <a:ln/>
        </p:spPr>
        <p:txBody>
          <a:bodyPr wrap="square" lIns="0" tIns="0" rIns="0" bIns="0" rtlCol="0" anchor="ctr"/>
          <a:lstStyle/>
          <a:p>
            <a:pPr marL="0" indent="0">
              <a:buNone/>
            </a:pPr>
            <a:r>
              <a:rPr lang="en-US" sz="3100" b="1" dirty="0">
                <a:solidFill>
                  <a:srgbClr val="142F47"/>
                </a:solidFill>
                <a:latin typeface="Calibri" pitchFamily="34" charset="0"/>
                <a:ea typeface="Calibri" pitchFamily="34" charset="-122"/>
                <a:cs typeface="Calibri" pitchFamily="34" charset="-120"/>
              </a:rPr>
              <a:t>What good looks like</a:t>
            </a:r>
            <a:endParaRPr lang="en-US" sz="3100" dirty="0"/>
          </a:p>
        </p:txBody>
      </p:sp>
      <p:sp>
        <p:nvSpPr>
          <p:cNvPr id="4" name="Text 2"/>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9FB1BC"/>
                </a:solidFill>
                <a:latin typeface="Calibri" pitchFamily="34" charset="0"/>
                <a:ea typeface="Calibri" pitchFamily="34" charset="-122"/>
                <a:cs typeface="Calibri" pitchFamily="34" charset="-120"/>
              </a:rPr>
              <a:t>They Built It. Now Ship It.</a:t>
            </a:r>
            <a:endParaRPr lang="en-US" sz="900" dirty="0"/>
          </a:p>
        </p:txBody>
      </p:sp>
      <p:sp>
        <p:nvSpPr>
          <p:cNvPr id="5" name="Text 3"/>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9FB1BC"/>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94360" y="201168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7" name="Text 5"/>
          <p:cNvSpPr txBox="1"/>
          <p:nvPr/>
        </p:nvSpPr>
        <p:spPr>
          <a:xfrm>
            <a:off x="886968" y="228600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Model charter closed first</a:t>
            </a:r>
            <a:endParaRPr lang="en-US" sz="1800" dirty="0"/>
          </a:p>
        </p:txBody>
      </p:sp>
      <p:sp>
        <p:nvSpPr>
          <p:cNvPr id="8" name="Text 6"/>
          <p:cNvSpPr txBox="1"/>
          <p:nvPr/>
        </p:nvSpPr>
        <p:spPr>
          <a:xfrm>
            <a:off x="886968" y="279806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You refused an open question rather than answering it yourself.</a:t>
            </a:r>
            <a:endParaRPr lang="en-US" sz="1350" dirty="0"/>
          </a:p>
        </p:txBody>
      </p:sp>
      <p:sp>
        <p:nvSpPr>
          <p:cNvPr id="9" name="Shape 7"/>
          <p:cNvSpPr/>
          <p:nvPr/>
        </p:nvSpPr>
        <p:spPr>
          <a:xfrm>
            <a:off x="4352544" y="201168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0" name="Text 8"/>
          <p:cNvSpPr txBox="1"/>
          <p:nvPr/>
        </p:nvSpPr>
        <p:spPr>
          <a:xfrm>
            <a:off x="4645152" y="228600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Slow gates opened early</a:t>
            </a:r>
            <a:endParaRPr lang="en-US" sz="1800" dirty="0"/>
          </a:p>
        </p:txBody>
      </p:sp>
      <p:sp>
        <p:nvSpPr>
          <p:cNvPr id="11" name="Text 9"/>
          <p:cNvSpPr txBox="1"/>
          <p:nvPr/>
        </p:nvSpPr>
        <p:spPr>
          <a:xfrm>
            <a:off x="4645152" y="279806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Nothing waits on a six-week review that started last week.</a:t>
            </a:r>
            <a:endParaRPr lang="en-US" sz="1350" dirty="0"/>
          </a:p>
        </p:txBody>
      </p:sp>
      <p:sp>
        <p:nvSpPr>
          <p:cNvPr id="12" name="Shape 10"/>
          <p:cNvSpPr/>
          <p:nvPr/>
        </p:nvSpPr>
        <p:spPr>
          <a:xfrm>
            <a:off x="8110728" y="201168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3" name="Text 11"/>
          <p:cNvSpPr txBox="1"/>
          <p:nvPr/>
        </p:nvSpPr>
        <p:spPr>
          <a:xfrm>
            <a:off x="8403336" y="228600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Rails green on every change</a:t>
            </a:r>
            <a:endParaRPr lang="en-US" sz="1800" dirty="0"/>
          </a:p>
        </p:txBody>
      </p:sp>
      <p:sp>
        <p:nvSpPr>
          <p:cNvPr id="14" name="Text 12"/>
          <p:cNvSpPr txBox="1"/>
          <p:nvPr/>
        </p:nvSpPr>
        <p:spPr>
          <a:xfrm>
            <a:off x="8403336" y="279806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Not a pre-release scramble. A merge-by-merge habit.</a:t>
            </a:r>
            <a:endParaRPr lang="en-US" sz="1350" dirty="0"/>
          </a:p>
        </p:txBody>
      </p:sp>
      <p:sp>
        <p:nvSpPr>
          <p:cNvPr id="15" name="Shape 13"/>
          <p:cNvSpPr/>
          <p:nvPr/>
        </p:nvSpPr>
        <p:spPr>
          <a:xfrm>
            <a:off x="594360" y="393192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6" name="Text 14"/>
          <p:cNvSpPr txBox="1"/>
          <p:nvPr/>
        </p:nvSpPr>
        <p:spPr>
          <a:xfrm>
            <a:off x="886968" y="420624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Evidence emitted, not written</a:t>
            </a:r>
            <a:endParaRPr lang="en-US" sz="1800" dirty="0"/>
          </a:p>
        </p:txBody>
      </p:sp>
      <p:sp>
        <p:nvSpPr>
          <p:cNvPr id="17" name="Text 15"/>
          <p:cNvSpPr txBox="1"/>
          <p:nvPr/>
        </p:nvSpPr>
        <p:spPr>
          <a:xfrm>
            <a:off x="886968" y="471830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The diagram, the scan, the readiness record all exist before anyone asks.</a:t>
            </a:r>
            <a:endParaRPr lang="en-US" sz="1350" dirty="0"/>
          </a:p>
        </p:txBody>
      </p:sp>
      <p:sp>
        <p:nvSpPr>
          <p:cNvPr id="18" name="Shape 16"/>
          <p:cNvSpPr/>
          <p:nvPr/>
        </p:nvSpPr>
        <p:spPr>
          <a:xfrm>
            <a:off x="4352544" y="393192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19" name="Text 17"/>
          <p:cNvSpPr txBox="1"/>
          <p:nvPr/>
        </p:nvSpPr>
        <p:spPr>
          <a:xfrm>
            <a:off x="4645152" y="420624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One system of record</a:t>
            </a:r>
            <a:endParaRPr lang="en-US" sz="1800" dirty="0"/>
          </a:p>
        </p:txBody>
      </p:sp>
      <p:sp>
        <p:nvSpPr>
          <p:cNvPr id="20" name="Text 18"/>
          <p:cNvSpPr txBox="1"/>
          <p:nvPr/>
        </p:nvSpPr>
        <p:spPr>
          <a:xfrm>
            <a:off x="4645152" y="471830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Workfront owns project state. Boards owns engineering detail and feeds it.</a:t>
            </a:r>
            <a:endParaRPr lang="en-US" sz="1350" dirty="0"/>
          </a:p>
        </p:txBody>
      </p:sp>
      <p:sp>
        <p:nvSpPr>
          <p:cNvPr id="21" name="Shape 19"/>
          <p:cNvSpPr/>
          <p:nvPr/>
        </p:nvSpPr>
        <p:spPr>
          <a:xfrm>
            <a:off x="8110728" y="3931920"/>
            <a:ext cx="3483864" cy="1691640"/>
          </a:xfrm>
          <a:prstGeom prst="roundRect">
            <a:avLst>
              <a:gd name="adj" fmla="val 3243"/>
            </a:avLst>
          </a:prstGeom>
          <a:solidFill>
            <a:srgbClr val="E4F2F2"/>
          </a:solidFill>
          <a:ln w="12700">
            <a:solidFill>
              <a:srgbClr val="E4F2F2"/>
            </a:solidFill>
            <a:prstDash val="solid"/>
          </a:ln>
        </p:spPr>
        <p:txBody>
          <a:bodyPr/>
          <a:lstStyle/>
          <a:p>
            <a:endParaRPr lang="en-US"/>
          </a:p>
        </p:txBody>
      </p:sp>
      <p:sp>
        <p:nvSpPr>
          <p:cNvPr id="22" name="Text 20"/>
          <p:cNvSpPr txBox="1"/>
          <p:nvPr/>
        </p:nvSpPr>
        <p:spPr>
          <a:xfrm>
            <a:off x="8403336" y="4206240"/>
            <a:ext cx="2898648" cy="457200"/>
          </a:xfrm>
          <a:prstGeom prst="rect">
            <a:avLst/>
          </a:prstGeom>
          <a:noFill/>
          <a:ln/>
        </p:spPr>
        <p:txBody>
          <a:bodyPr wrap="square" lIns="0" tIns="0" rIns="0" bIns="0" rtlCol="0" anchor="ctr"/>
          <a:lstStyle/>
          <a:p>
            <a:pPr marL="0" indent="0">
              <a:buNone/>
            </a:pPr>
            <a:r>
              <a:rPr lang="en-US" sz="1800" b="1" dirty="0">
                <a:solidFill>
                  <a:srgbClr val="142F47"/>
                </a:solidFill>
                <a:latin typeface="Calibri" pitchFamily="34" charset="0"/>
                <a:ea typeface="Calibri" pitchFamily="34" charset="-122"/>
                <a:cs typeface="Calibri" pitchFamily="34" charset="-120"/>
              </a:rPr>
              <a:t>You verified the running app</a:t>
            </a:r>
            <a:endParaRPr lang="en-US" sz="1800" dirty="0"/>
          </a:p>
        </p:txBody>
      </p:sp>
      <p:sp>
        <p:nvSpPr>
          <p:cNvPr id="23" name="Text 21"/>
          <p:cNvSpPr txBox="1"/>
          <p:nvPr/>
        </p:nvSpPr>
        <p:spPr>
          <a:xfrm>
            <a:off x="8403336" y="4718304"/>
            <a:ext cx="2898648" cy="630936"/>
          </a:xfrm>
          <a:prstGeom prst="rect">
            <a:avLst/>
          </a:prstGeom>
          <a:noFill/>
          <a:ln/>
        </p:spPr>
        <p:txBody>
          <a:bodyPr wrap="square" lIns="0" tIns="0" rIns="0" bIns="0" rtlCol="0" anchor="ctr"/>
          <a:lstStyle/>
          <a:p>
            <a:pPr marL="0" indent="0">
              <a:lnSpc>
                <a:spcPct val="115000"/>
              </a:lnSpc>
              <a:buNone/>
            </a:pPr>
            <a:r>
              <a:rPr lang="en-US" sz="1350" dirty="0">
                <a:solidFill>
                  <a:srgbClr val="45586A"/>
                </a:solidFill>
                <a:latin typeface="Calibri" pitchFamily="34" charset="0"/>
                <a:ea typeface="Calibri" pitchFamily="34" charset="-122"/>
                <a:cs typeface="Calibri" pitchFamily="34" charset="-120"/>
              </a:rPr>
              <a:t>Not the pipeline log. The response.</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42F47"/>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10972800" cy="274320"/>
          </a:xfrm>
          <a:prstGeom prst="rect">
            <a:avLst/>
          </a:prstGeom>
          <a:noFill/>
          <a:ln/>
        </p:spPr>
        <p:txBody>
          <a:bodyPr wrap="square" lIns="0" tIns="0" rIns="0" bIns="0" rtlCol="0" anchor="ctr"/>
          <a:lstStyle/>
          <a:p>
            <a:pPr marL="0" indent="0">
              <a:buNone/>
            </a:pPr>
            <a:r>
              <a:rPr lang="en-US" sz="900" b="1" kern="0" spc="200" dirty="0">
                <a:solidFill>
                  <a:srgbClr val="9FB1BC"/>
                </a:solidFill>
                <a:latin typeface="Calibri" pitchFamily="34" charset="0"/>
                <a:ea typeface="Calibri" pitchFamily="34" charset="-122"/>
                <a:cs typeface="Calibri" pitchFamily="34" charset="-120"/>
              </a:rPr>
              <a:t>IF YOU REMEMBER ONE LINE</a:t>
            </a:r>
            <a:endParaRPr lang="en-US" sz="900" dirty="0"/>
          </a:p>
        </p:txBody>
      </p:sp>
      <p:sp>
        <p:nvSpPr>
          <p:cNvPr id="3" name="Text 1"/>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7C8B99"/>
                </a:solidFill>
                <a:latin typeface="Calibri" pitchFamily="34" charset="0"/>
                <a:ea typeface="Calibri" pitchFamily="34" charset="-122"/>
                <a:cs typeface="Calibri" pitchFamily="34" charset="-120"/>
              </a:rPr>
              <a:t>They Built It. Now Ship It.</a:t>
            </a:r>
            <a:endParaRPr lang="en-US" sz="900" dirty="0"/>
          </a:p>
        </p:txBody>
      </p:sp>
      <p:sp>
        <p:nvSpPr>
          <p:cNvPr id="4" name="Text 2"/>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7C8B99"/>
                </a:solidFill>
                <a:latin typeface="Calibri" pitchFamily="34" charset="0"/>
                <a:ea typeface="Calibri" pitchFamily="34" charset="-122"/>
                <a:cs typeface="Calibri" pitchFamily="34" charset="-120"/>
              </a:rPr>
              <a:t>28</a:t>
            </a:r>
            <a:endParaRPr lang="en-US" sz="900" dirty="0"/>
          </a:p>
        </p:txBody>
      </p:sp>
      <p:sp>
        <p:nvSpPr>
          <p:cNvPr id="5" name="Text 3"/>
          <p:cNvSpPr txBox="1"/>
          <p:nvPr/>
        </p:nvSpPr>
        <p:spPr>
          <a:xfrm>
            <a:off x="786384" y="2331720"/>
            <a:ext cx="1060704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artifact you emit along the way</a:t>
            </a:r>
            <a:endParaRPr lang="en-US" sz="4000" dirty="0"/>
          </a:p>
        </p:txBody>
      </p:sp>
      <p:sp>
        <p:nvSpPr>
          <p:cNvPr id="6" name="Text 4"/>
          <p:cNvSpPr txBox="1"/>
          <p:nvPr/>
        </p:nvSpPr>
        <p:spPr>
          <a:xfrm>
            <a:off x="786384" y="3063240"/>
            <a:ext cx="10607040" cy="731520"/>
          </a:xfrm>
          <a:prstGeom prst="rect">
            <a:avLst/>
          </a:prstGeom>
          <a:noFill/>
          <a:ln/>
        </p:spPr>
        <p:txBody>
          <a:bodyPr wrap="square" lIns="0" tIns="0" rIns="0" bIns="0" rtlCol="0" anchor="ctr"/>
          <a:lstStyle/>
          <a:p>
            <a:pPr marL="0" indent="0">
              <a:buNone/>
            </a:pPr>
            <a:r>
              <a:rPr lang="en-US" sz="4000" b="1" dirty="0">
                <a:solidFill>
                  <a:srgbClr val="0F8B8D"/>
                </a:solidFill>
                <a:latin typeface="Calibri" pitchFamily="34" charset="0"/>
                <a:ea typeface="Calibri" pitchFamily="34" charset="-122"/>
                <a:cs typeface="Calibri" pitchFamily="34" charset="-120"/>
              </a:rPr>
              <a:t>is the one you never write under deadline.</a:t>
            </a:r>
            <a:endParaRPr lang="en-US" sz="4000" dirty="0"/>
          </a:p>
        </p:txBody>
      </p:sp>
      <p:sp>
        <p:nvSpPr>
          <p:cNvPr id="7" name="Text 5"/>
          <p:cNvSpPr txBox="1"/>
          <p:nvPr/>
        </p:nvSpPr>
        <p:spPr>
          <a:xfrm>
            <a:off x="822960" y="4206240"/>
            <a:ext cx="10058400" cy="548640"/>
          </a:xfrm>
          <a:prstGeom prst="rect">
            <a:avLst/>
          </a:prstGeom>
          <a:noFill/>
          <a:ln/>
        </p:spPr>
        <p:txBody>
          <a:bodyPr wrap="square" lIns="0" tIns="0" rIns="0" bIns="0" rtlCol="0" anchor="ctr"/>
          <a:lstStyle/>
          <a:p>
            <a:pPr marL="0" indent="0">
              <a:buNone/>
            </a:pPr>
            <a:r>
              <a:rPr lang="en-US" sz="1600" dirty="0">
                <a:solidFill>
                  <a:srgbClr val="9FB1BC"/>
                </a:solidFill>
                <a:latin typeface="Calibri" pitchFamily="34" charset="0"/>
                <a:ea typeface="Calibri" pitchFamily="34" charset="-122"/>
                <a:cs typeface="Calibri" pitchFamily="34" charset="-120"/>
              </a:rPr>
              <a:t>Close the model charter. Open the slow gates. Let the rails run. The assessment becomes a report instead of a scramble.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142F47"/>
        </a:solidFill>
        <a:effectLst/>
      </p:bgPr>
    </p:bg>
    <p:spTree>
      <p:nvGrpSpPr>
        <p:cNvPr id="1" name=""/>
        <p:cNvGrpSpPr/>
        <p:nvPr/>
      </p:nvGrpSpPr>
      <p:grpSpPr>
        <a:xfrm>
          <a:off x="0" y="0"/>
          <a:ext cx="0" cy="0"/>
          <a:chOff x="0" y="0"/>
          <a:chExt cx="0" cy="0"/>
        </a:xfrm>
      </p:grpSpPr>
      <p:sp>
        <p:nvSpPr>
          <p:cNvPr id="2" name="Text 0"/>
          <p:cNvSpPr txBox="1"/>
          <p:nvPr/>
        </p:nvSpPr>
        <p:spPr>
          <a:xfrm>
            <a:off x="594360" y="6483096"/>
            <a:ext cx="5486400" cy="274320"/>
          </a:xfrm>
          <a:prstGeom prst="rect">
            <a:avLst/>
          </a:prstGeom>
          <a:noFill/>
          <a:ln/>
        </p:spPr>
        <p:txBody>
          <a:bodyPr wrap="square" lIns="0" tIns="0" rIns="0" bIns="0" rtlCol="0" anchor="ctr"/>
          <a:lstStyle/>
          <a:p>
            <a:pPr marL="0" indent="0">
              <a:buNone/>
            </a:pPr>
            <a:r>
              <a:rPr lang="en-US" sz="900" dirty="0">
                <a:solidFill>
                  <a:srgbClr val="7C8B99"/>
                </a:solidFill>
                <a:latin typeface="Calibri" pitchFamily="34" charset="0"/>
                <a:ea typeface="Calibri" pitchFamily="34" charset="-122"/>
                <a:cs typeface="Calibri" pitchFamily="34" charset="-120"/>
              </a:rPr>
              <a:t>They Built It. Now Ship It.</a:t>
            </a:r>
            <a:endParaRPr lang="en-US" sz="900" dirty="0"/>
          </a:p>
        </p:txBody>
      </p:sp>
      <p:sp>
        <p:nvSpPr>
          <p:cNvPr id="3" name="Text 1"/>
          <p:cNvSpPr txBox="1"/>
          <p:nvPr/>
        </p:nvSpPr>
        <p:spPr>
          <a:xfrm>
            <a:off x="11384280" y="6483096"/>
            <a:ext cx="457200" cy="274320"/>
          </a:xfrm>
          <a:prstGeom prst="rect">
            <a:avLst/>
          </a:prstGeom>
          <a:noFill/>
          <a:ln/>
        </p:spPr>
        <p:txBody>
          <a:bodyPr wrap="square" lIns="0" tIns="0" rIns="0" bIns="0" rtlCol="0" anchor="ctr"/>
          <a:lstStyle/>
          <a:p>
            <a:pPr marL="0" indent="0" algn="r">
              <a:buNone/>
            </a:pPr>
            <a:r>
              <a:rPr lang="en-US" sz="900" dirty="0">
                <a:solidFill>
                  <a:srgbClr val="7C8B99"/>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786384" y="265176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Questions?</a:t>
            </a:r>
            <a:endParaRPr lang="en-US" sz="4800" dirty="0"/>
          </a:p>
        </p:txBody>
      </p:sp>
      <p:sp>
        <p:nvSpPr>
          <p:cNvPr id="5" name="Text 3"/>
          <p:cNvSpPr txBox="1"/>
          <p:nvPr/>
        </p:nvSpPr>
        <p:spPr>
          <a:xfrm>
            <a:off x="822960" y="3657600"/>
            <a:ext cx="10058400" cy="365760"/>
          </a:xfrm>
          <a:prstGeom prst="rect">
            <a:avLst/>
          </a:prstGeom>
          <a:noFill/>
          <a:ln/>
        </p:spPr>
        <p:txBody>
          <a:bodyPr wrap="square" lIns="0" tIns="0" rIns="0" bIns="0" rtlCol="0" anchor="ctr"/>
          <a:lstStyle/>
          <a:p>
            <a:pPr marL="0" indent="0">
              <a:buNone/>
            </a:pPr>
            <a:r>
              <a:rPr lang="en-US" sz="1600" dirty="0">
                <a:solidFill>
                  <a:srgbClr val="9FB1BC"/>
                </a:solidFill>
                <a:latin typeface="Calibri" pitchFamily="34" charset="0"/>
                <a:ea typeface="Calibri" pitchFamily="34" charset="-122"/>
                <a:cs typeface="Calibri" pitchFamily="34" charset="-120"/>
              </a:rPr>
              <a:t>The delivery map, the gate register, and every skill are in process-canon.</a:t>
            </a:r>
            <a:endParaRPr lang="en-US" sz="1600" dirty="0"/>
          </a:p>
        </p:txBody>
      </p:sp>
      <p:sp>
        <p:nvSpPr>
          <p:cNvPr id="6" name="Text 4"/>
          <p:cNvSpPr txBox="1"/>
          <p:nvPr/>
        </p:nvSpPr>
        <p:spPr>
          <a:xfrm>
            <a:off x="822960" y="6035040"/>
            <a:ext cx="7315200" cy="274320"/>
          </a:xfrm>
          <a:prstGeom prst="rect">
            <a:avLst/>
          </a:prstGeom>
          <a:noFill/>
          <a:ln/>
        </p:spPr>
        <p:txBody>
          <a:bodyPr wrap="square" lIns="0" tIns="0" rIns="0" bIns="0" rtlCol="0" anchor="ctr"/>
          <a:lstStyle/>
          <a:p>
            <a:pPr marL="0" indent="0">
              <a:buNone/>
            </a:pPr>
            <a:r>
              <a:rPr lang="en-US" sz="1100" dirty="0">
                <a:solidFill>
                  <a:srgbClr val="7C8B99"/>
                </a:solidFill>
                <a:latin typeface="Calibri" pitchFamily="34" charset="0"/>
                <a:ea typeface="Calibri" pitchFamily="34" charset="-122"/>
                <a:cs typeface="Calibri" pitchFamily="34" charset="-120"/>
              </a:rPr>
              <a:t>Tax Data Management &amp; Innovation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Props1.xml><?xml version="1.0" encoding="utf-8"?>
<ds:datastoreItem xmlns:ds="http://schemas.openxmlformats.org/officeDocument/2006/customXml" ds:itemID="{B8FF151B-E067-4C51-B9AB-4E2289AB9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056aa5-6b4d-4c47-aaac-9426e9d9b737"/>
    <ds:schemaRef ds:uri="8e4cac8c-e99d-49dd-8c24-1d4caeb84b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840ECC-77DB-482C-BD66-DB40A7EA2D2B}">
  <ds:schemaRefs>
    <ds:schemaRef ds:uri="http://schemas.microsoft.com/sharepoint/v3/contenttype/forms"/>
  </ds:schemaRefs>
</ds:datastoreItem>
</file>

<file path=customXml/itemProps3.xml><?xml version="1.0" encoding="utf-8"?>
<ds:datastoreItem xmlns:ds="http://schemas.openxmlformats.org/officeDocument/2006/customXml" ds:itemID="{6590738E-80BF-4D7F-AA93-807B780348C7}">
  <ds:schemaRefs>
    <ds:schemaRef ds:uri="http://schemas.microsoft.com/office/2006/documentManagement/types"/>
    <ds:schemaRef ds:uri="http://purl.org/dc/terms/"/>
    <ds:schemaRef ds:uri="a1056aa5-6b4d-4c47-aaac-9426e9d9b737"/>
    <ds:schemaRef ds:uri="http://schemas.microsoft.com/office/2006/metadata/properties"/>
    <ds:schemaRef ds:uri="http://purl.org/dc/elements/1.1/"/>
    <ds:schemaRef ds:uri="http://purl.org/dc/dcmitype/"/>
    <ds:schemaRef ds:uri="http://www.w3.org/XML/1998/namespace"/>
    <ds:schemaRef ds:uri="http://schemas.microsoft.com/office/infopath/2007/PartnerControls"/>
    <ds:schemaRef ds:uri="8e4cac8c-e99d-49dd-8c24-1d4caeb84b2c"/>
    <ds:schemaRef ds:uri="http://schemas.openxmlformats.org/package/2006/metadata/core-properties"/>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otalTime>20</TotalTime>
  <Words>3693</Words>
  <Application>Microsoft Office PowerPoint</Application>
  <PresentationFormat>Widescreen</PresentationFormat>
  <Paragraphs>446</Paragraphs>
  <Slides>29</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They Built It. Now Ship It.</dc:title>
  <dc:subject>PptxGenJS Presentation</dc:subject>
  <dc:creator>TDMI</dc:creator>
  <cp:lastModifiedBy>Sheridan, Jack</cp:lastModifiedBy>
  <cp:revision>5</cp:revision>
  <dcterms:created xsi:type="dcterms:W3CDTF">2026-08-26T23:23:25Z</dcterms:created>
  <dcterms:modified xsi:type="dcterms:W3CDTF">2026-10-02T13:33:24Z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0x010100C999CE80F1B44445BB5E9DE12FCAFFBF</vt:lpwstr>
  </property>
  <property fmtid="{D5CDD505-2E9C-101B-9397-08002B2CF9AE}" pid="3" name="MediaServiceImageTags">
    <vt:lpwstr/>
  </property>
</Properties>
</file>